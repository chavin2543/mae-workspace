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u="none">
                <a:solidFill>
                  <a:srgbClr val="202020"/>
                </a:solidFill>
                <a:latin typeface="Arial"/>
              </a:rPr>
              <a:t>Thailand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84280" cy="1905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137160"/>
            <a:ext cx="1188720" cy="109728"/>
          </a:xfrm>
          <a:prstGeom prst="rect">
            <a:avLst/>
          </a:prstGeom>
          <a:solidFill>
            <a:srgbClr val="A51931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0" y="246888"/>
            <a:ext cx="1188720" cy="109728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356616"/>
            <a:ext cx="1188720" cy="219456"/>
          </a:xfrm>
          <a:prstGeom prst="rect">
            <a:avLst/>
          </a:prstGeom>
          <a:solidFill>
            <a:srgbClr val="2D2A4A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76072"/>
            <a:ext cx="1188720" cy="109728"/>
          </a:xfrm>
          <a:prstGeom prst="rect">
            <a:avLst/>
          </a:prstGeom>
          <a:solidFill>
            <a:srgbClr val="FFFFFF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0" y="685800"/>
            <a:ext cx="1188720" cy="109728"/>
          </a:xfrm>
          <a:prstGeom prst="rect">
            <a:avLst/>
          </a:prstGeom>
          <a:solidFill>
            <a:srgbClr val="A51931"/>
          </a:solidFill>
          <a:ln w="31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u="sng">
                <a:solidFill>
                  <a:srgbClr val="202020"/>
                </a:solidFill>
                <a:latin typeface="Arial"/>
              </a:rPr>
              <a:t>Serviced Apartments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06060"/>
                </a:solidFill>
                <a:latin typeface="Arial"/>
              </a:rPr>
              <a:t>Performance summary — Q2 2026 (Apr-Jun)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202020"/>
                </a:solidFill>
                <a:latin typeface="Arial"/>
              </a:rPr>
              <a:t>Overview</a:t>
            </a:r>
          </a:p>
          <a:p>
            <a:pPr algn="l"/>
            <a:r>
              <a:rPr sz="1200" b="0" u="none">
                <a:solidFill>
                  <a:srgbClr val="202020"/>
                </a:solidFill>
                <a:latin typeface="Arial"/>
              </a:rPr>
              <a:t>•  Tourist arrivals YTD below LY (-2.3%, Jan–May); Q2 softened after the high season</a:t>
            </a:r>
          </a:p>
          <a:p>
            <a:pPr algn="l"/>
            <a:r>
              <a:rPr sz="1200" b="0" u="none">
                <a:solidFill>
                  <a:srgbClr val="202020"/>
                </a:solidFill>
                <a:latin typeface="Arial"/>
              </a:rPr>
              <a:t>•  </a:t>
            </a:r>
            <a:r>
              <a:rPr sz="1200" b="1" u="none">
                <a:solidFill>
                  <a:srgbClr val="202020"/>
                </a:solidFill>
                <a:latin typeface="Arial"/>
              </a:rPr>
              <a:t>Middle East conflict</a:t>
            </a:r>
            <a:r>
              <a:rPr sz="1200" b="0" u="none">
                <a:solidFill>
                  <a:srgbClr val="202020"/>
                </a:solidFill>
                <a:latin typeface="Arial"/>
              </a:rPr>
              <a:t> still the key disruptor (-25% YTD arrivals) &gt;&gt; rate pressure</a:t>
            </a:r>
          </a:p>
          <a:p>
            <a:pPr algn="l"/>
            <a:r>
              <a:rPr sz="1200" b="0" u="none">
                <a:solidFill>
                  <a:srgbClr val="202020"/>
                </a:solidFill>
                <a:latin typeface="Arial"/>
              </a:rPr>
              <a:t>•  Chinese arrivals YTD +18% vs last year — recovery continues</a:t>
            </a:r>
          </a:p>
          <a:p>
            <a:pPr algn="l"/>
            <a:r>
              <a:rPr sz="1200" b="0" u="none">
                <a:solidFill>
                  <a:srgbClr val="202020"/>
                </a:solidFill>
                <a:latin typeface="Arial"/>
              </a:rPr>
              <a:t>•  Q2 volume &amp; rate both under plan: portfolio OCC 67.5% (budget 72.5%), ADR THB 2,858 (-3.0% vs budget); April was the soft spot (AES &amp; Lyf, not the market)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3246120"/>
          <a:ext cx="11292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417320"/>
                <a:gridCol w="1600200"/>
                <a:gridCol w="1783080"/>
                <a:gridCol w="3886200"/>
              </a:tblGrid>
              <a:tr h="60350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Average Daily</a:t>
                      </a:r>
                    </a:p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 (ADR)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Occupants</a:t>
                      </a:r>
                    </a:p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Nationality YTD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Somerset Rama 9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76.0%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THB 2,781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Short stay 86%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Chinese 49.7%</a:t>
                      </a:r>
                    </a:p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Taiwan 9.0%  Thai 5.8%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Ascott Embassy Sathorn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60.7%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THB 3,315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Short stay 79%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Chinese 37.1%</a:t>
                      </a:r>
                    </a:p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Japan 7.2%  Finland 5.8%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Lyf Sukhumvit 8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64.7%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THB 1,220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Short stay 99%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Chinese 21.5%</a:t>
                      </a:r>
                    </a:p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SEA 27.0%  Taiwan 5.5%</a:t>
                      </a:r>
                    </a:p>
                  </a:txBody>
                  <a:tcPr>
                    <a:solidFill>
                      <a:srgbClr val="DCE9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Somerset Pattaya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65.6%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THB 3,471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Short stay 96%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Chinese 24.1%</a:t>
                      </a:r>
                    </a:p>
                    <a:p>
                      <a:pPr>
                        <a:defRPr sz="1300" b="0">
                          <a:solidFill>
                            <a:srgbClr val="202020"/>
                          </a:solidFill>
                          <a:latin typeface="Arial"/>
                        </a:defRPr>
                      </a:pPr>
                      <a:r>
                        <a:t>India 8.7%  Thai 8.4%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949440" y="6355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u="none">
                <a:solidFill>
                  <a:srgbClr val="202020"/>
                </a:solidFill>
                <a:latin typeface="Arial"/>
              </a:rPr>
              <a:t>MITSUI FUDOSAN (ASIA)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