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266" r:id="rId16"/>
    <p:sldId id="269" r:id="rId17"/>
    <p:sldId id="303" r:id="rId18"/>
    <p:sldId id="305" r:id="rId19"/>
    <p:sldId id="267" r:id="rId20"/>
    <p:sldId id="308" r:id="rId21"/>
    <p:sldId id="265" r:id="rId22"/>
    <p:sldId id="268" r:id="rId23"/>
    <p:sldId id="270" r:id="rId24"/>
    <p:sldId id="272" r:id="rId25"/>
    <p:sldId id="271" r:id="rId26"/>
    <p:sldId id="273" r:id="rId27"/>
    <p:sldId id="275" r:id="rId28"/>
    <p:sldId id="276" r:id="rId29"/>
    <p:sldId id="277" r:id="rId30"/>
    <p:sldId id="278" r:id="rId31"/>
    <p:sldId id="279" r:id="rId32"/>
    <p:sldId id="274" r:id="rId33"/>
    <p:sldId id="280" r:id="rId34"/>
    <p:sldId id="282" r:id="rId35"/>
    <p:sldId id="283" r:id="rId36"/>
    <p:sldId id="284" r:id="rId37"/>
    <p:sldId id="285" r:id="rId38"/>
    <p:sldId id="286" r:id="rId39"/>
    <p:sldId id="281" r:id="rId40"/>
    <p:sldId id="287" r:id="rId41"/>
    <p:sldId id="289" r:id="rId42"/>
    <p:sldId id="290" r:id="rId43"/>
    <p:sldId id="291" r:id="rId44"/>
    <p:sldId id="292" r:id="rId45"/>
    <p:sldId id="293" r:id="rId46"/>
    <p:sldId id="288" r:id="rId47"/>
    <p:sldId id="294" r:id="rId48"/>
    <p:sldId id="296" r:id="rId49"/>
    <p:sldId id="297" r:id="rId50"/>
    <p:sldId id="298" r:id="rId51"/>
    <p:sldId id="299" r:id="rId52"/>
    <p:sldId id="300" r:id="rId53"/>
    <p:sldId id="295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65" d="100"/>
          <a:sy n="65" d="100"/>
        </p:scale>
        <p:origin x="2316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(53,845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(53,845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854-4B4A-86A2-2B732C9F1C0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854-4B4A-86A2-2B732C9F1C0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854-4B4A-86A2-2B732C9F1C0D}"/>
              </c:ext>
            </c:extLst>
          </c:dPt>
          <c:dPt>
            <c:idx val="3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854-4B4A-86A2-2B732C9F1C0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854-4B4A-86A2-2B732C9F1C0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854-4B4A-86A2-2B732C9F1C0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854-4B4A-86A2-2B732C9F1C0D}"/>
              </c:ext>
            </c:extLst>
          </c:dPt>
          <c:dPt>
            <c:idx val="7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854-4B4A-86A2-2B732C9F1C0D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854-4B4A-86A2-2B732C9F1C0D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854-4B4A-86A2-2B732C9F1C0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854-4B4A-86A2-2B732C9F1C0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854-4B4A-86A2-2B732C9F1C0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854-4B4A-86A2-2B732C9F1C0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854-4B4A-86A2-2B732C9F1C0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854-4B4A-86A2-2B732C9F1C0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854-4B4A-86A2-2B732C9F1C0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854-4B4A-86A2-2B732C9F1C0D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854-4B4A-86A2-2B732C9F1C0D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854-4B4A-86A2-2B732C9F1C0D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854-4B4A-86A2-2B732C9F1C0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Korea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India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2863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1455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854-4B4A-86A2-2B732C9F1C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(56,227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(56,227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04D-4E9A-B8A7-135446A19AA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04D-4E9A-B8A7-135446A19AA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04D-4E9A-B8A7-135446A19AA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04D-4E9A-B8A7-135446A19AA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04D-4E9A-B8A7-135446A19AA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04D-4E9A-B8A7-135446A19AA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04D-4E9A-B8A7-135446A19AA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04D-4E9A-B8A7-135446A19AA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04D-4E9A-B8A7-135446A19AA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04D-4E9A-B8A7-135446A19AA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04D-4E9A-B8A7-135446A19AA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04D-4E9A-B8A7-135446A19AA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4D-4E9A-B8A7-135446A19AA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4D-4E9A-B8A7-135446A19AA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04D-4E9A-B8A7-135446A19AA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04D-4E9A-B8A7-135446A19AA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04D-4E9A-B8A7-135446A19AA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04D-4E9A-B8A7-135446A19AA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04D-4E9A-B8A7-135446A19AA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04D-4E9A-B8A7-135446A19AA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04D-4E9A-B8A7-135446A19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(33,413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(33,413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0CB-4FE8-8405-8F7ACABA4BD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0CB-4FE8-8405-8F7ACABA4BDB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0CB-4FE8-8405-8F7ACABA4BDB}"/>
              </c:ext>
            </c:extLst>
          </c:dPt>
          <c:dPt>
            <c:idx val="3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0CB-4FE8-8405-8F7ACABA4BDB}"/>
              </c:ext>
            </c:extLst>
          </c:dPt>
          <c:dPt>
            <c:idx val="4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0CB-4FE8-8405-8F7ACABA4BDB}"/>
              </c:ext>
            </c:extLst>
          </c:dPt>
          <c:dPt>
            <c:idx val="5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0CB-4FE8-8405-8F7ACABA4BDB}"/>
              </c:ext>
            </c:extLst>
          </c:dPt>
          <c:dPt>
            <c:idx val="6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0CB-4FE8-8405-8F7ACABA4BDB}"/>
              </c:ext>
            </c:extLst>
          </c:dPt>
          <c:dPt>
            <c:idx val="7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0CB-4FE8-8405-8F7ACABA4BDB}"/>
              </c:ext>
            </c:extLst>
          </c:dPt>
          <c:dPt>
            <c:idx val="8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0CB-4FE8-8405-8F7ACABA4BDB}"/>
              </c:ext>
            </c:extLst>
          </c:dPt>
          <c:dPt>
            <c:idx val="9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0CB-4FE8-8405-8F7ACABA4BD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0CB-4FE8-8405-8F7ACABA4BD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0CB-4FE8-8405-8F7ACABA4BD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0CB-4FE8-8405-8F7ACABA4BD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0CB-4FE8-8405-8F7ACABA4BD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0CB-4FE8-8405-8F7ACABA4BD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0CB-4FE8-8405-8F7ACABA4BD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0CB-4FE8-8405-8F7ACABA4BD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0CB-4FE8-8405-8F7ACABA4BD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0CB-4FE8-8405-8F7ACABA4BD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0CB-4FE8-8405-8F7ACABA4BD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Singapore</c:v>
                </c:pt>
                <c:pt idx="3">
                  <c:v>Korea</c:v>
                </c:pt>
                <c:pt idx="4">
                  <c:v>Qatar</c:v>
                </c:pt>
                <c:pt idx="5">
                  <c:v>USA</c:v>
                </c:pt>
                <c:pt idx="6">
                  <c:v>Australia</c:v>
                </c:pt>
                <c:pt idx="7">
                  <c:v>Germany</c:v>
                </c:pt>
                <c:pt idx="8">
                  <c:v>Hong Kong</c:v>
                </c:pt>
                <c:pt idx="9">
                  <c:v>Thailand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2263</c:v>
                </c:pt>
                <c:pt idx="3">
                  <c:v>2214</c:v>
                </c:pt>
                <c:pt idx="4">
                  <c:v>1173</c:v>
                </c:pt>
                <c:pt idx="5">
                  <c:v>2078</c:v>
                </c:pt>
                <c:pt idx="6">
                  <c:v>1740</c:v>
                </c:pt>
                <c:pt idx="7">
                  <c:v>1536</c:v>
                </c:pt>
                <c:pt idx="8">
                  <c:v>1241</c:v>
                </c:pt>
                <c:pt idx="9">
                  <c:v>1524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0CB-4FE8-8405-8F7ACABA4B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(35,943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(35,943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8DF-498B-BB5B-BC01AA448DF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8DF-498B-BB5B-BC01AA448DF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8DF-498B-BB5B-BC01AA448DF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8DF-498B-BB5B-BC01AA448DF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8DF-498B-BB5B-BC01AA448DF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8DF-498B-BB5B-BC01AA448DF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8DF-498B-BB5B-BC01AA448DF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8DF-498B-BB5B-BC01AA448DF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8DF-498B-BB5B-BC01AA448DF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8DF-498B-BB5B-BC01AA448DF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8DF-498B-BB5B-BC01AA448DF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8DF-498B-BB5B-BC01AA448DF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8DF-498B-BB5B-BC01AA448DF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8DF-498B-BB5B-BC01AA448DF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8DF-498B-BB5B-BC01AA448DF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8DF-498B-BB5B-BC01AA448DF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8DF-498B-BB5B-BC01AA448DF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8DF-498B-BB5B-BC01AA448DF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8DF-498B-BB5B-BC01AA448DF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8DF-498B-BB5B-BC01AA448DF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8DF-498B-BB5B-BC01AA448D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(18,610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(18,610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292-41FC-8A7E-79F1562EBA5F}"/>
              </c:ext>
            </c:extLst>
          </c:dPt>
          <c:dPt>
            <c:idx val="1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292-41FC-8A7E-79F1562EBA5F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292-41FC-8A7E-79F1562EBA5F}"/>
              </c:ext>
            </c:extLst>
          </c:dPt>
          <c:dPt>
            <c:idx val="3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292-41FC-8A7E-79F1562EBA5F}"/>
              </c:ext>
            </c:extLst>
          </c:dPt>
          <c:dPt>
            <c:idx val="4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292-41FC-8A7E-79F1562EBA5F}"/>
              </c:ext>
            </c:extLst>
          </c:dPt>
          <c:dPt>
            <c:idx val="5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292-41FC-8A7E-79F1562EBA5F}"/>
              </c:ext>
            </c:extLst>
          </c:dPt>
          <c:dPt>
            <c:idx val="6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292-41FC-8A7E-79F1562EBA5F}"/>
              </c:ext>
            </c:extLst>
          </c:dPt>
          <c:dPt>
            <c:idx val="7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292-41FC-8A7E-79F1562EBA5F}"/>
              </c:ext>
            </c:extLst>
          </c:dPt>
          <c:dPt>
            <c:idx val="8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0292-41FC-8A7E-79F1562EBA5F}"/>
              </c:ext>
            </c:extLst>
          </c:dPt>
          <c:dPt>
            <c:idx val="9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0292-41FC-8A7E-79F1562EBA5F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292-41FC-8A7E-79F1562EBA5F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292-41FC-8A7E-79F1562EBA5F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292-41FC-8A7E-79F1562EBA5F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292-41FC-8A7E-79F1562EBA5F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292-41FC-8A7E-79F1562EBA5F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292-41FC-8A7E-79F1562EBA5F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292-41FC-8A7E-79F1562EBA5F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292-41FC-8A7E-79F1562EBA5F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0292-41FC-8A7E-79F1562EBA5F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0292-41FC-8A7E-79F1562EBA5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Singapore</c:v>
                </c:pt>
                <c:pt idx="2">
                  <c:v>Malaysia</c:v>
                </c:pt>
                <c:pt idx="3">
                  <c:v>USA</c:v>
                </c:pt>
                <c:pt idx="4">
                  <c:v>Thailand</c:v>
                </c:pt>
                <c:pt idx="5">
                  <c:v>Indonesia</c:v>
                </c:pt>
                <c:pt idx="6">
                  <c:v>Taiwan</c:v>
                </c:pt>
                <c:pt idx="7">
                  <c:v>UK</c:v>
                </c:pt>
                <c:pt idx="8">
                  <c:v>Japan</c:v>
                </c:pt>
                <c:pt idx="9">
                  <c:v>Philippines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2762</c:v>
                </c:pt>
                <c:pt idx="2">
                  <c:v>2138</c:v>
                </c:pt>
                <c:pt idx="3">
                  <c:v>1999</c:v>
                </c:pt>
                <c:pt idx="4">
                  <c:v>1873</c:v>
                </c:pt>
                <c:pt idx="5">
                  <c:v>1017</c:v>
                </c:pt>
                <c:pt idx="6">
                  <c:v>1200</c:v>
                </c:pt>
                <c:pt idx="7">
                  <c:v>1201</c:v>
                </c:pt>
                <c:pt idx="8">
                  <c:v>926</c:v>
                </c:pt>
                <c:pt idx="9">
                  <c:v>852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0292-41FC-8A7E-79F1562EBA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(20,459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(20,459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C6F-4E40-ACB1-DD19A7B8BA4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C6F-4E40-ACB1-DD19A7B8BA4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C6F-4E40-ACB1-DD19A7B8BA4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C6F-4E40-ACB1-DD19A7B8BA4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C6F-4E40-ACB1-DD19A7B8BA4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C6F-4E40-ACB1-DD19A7B8BA4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C6F-4E40-ACB1-DD19A7B8BA4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C6F-4E40-ACB1-DD19A7B8BA4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C6F-4E40-ACB1-DD19A7B8BA4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AC6F-4E40-ACB1-DD19A7B8BA4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C6F-4E40-ACB1-DD19A7B8BA4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C6F-4E40-ACB1-DD19A7B8BA4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C6F-4E40-ACB1-DD19A7B8BA4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C6F-4E40-ACB1-DD19A7B8BA4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C6F-4E40-ACB1-DD19A7B8BA4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AC6F-4E40-ACB1-DD19A7B8BA4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C6F-4E40-ACB1-DD19A7B8BA4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C6F-4E40-ACB1-DD19A7B8BA4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C6F-4E40-ACB1-DD19A7B8BA4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AC6F-4E40-ACB1-DD19A7B8BA4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AC6F-4E40-ACB1-DD19A7B8BA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(32,088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(32,088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F52-40E1-B98F-12976C9A66D2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F52-40E1-B98F-12976C9A66D2}"/>
              </c:ext>
            </c:extLst>
          </c:dPt>
          <c:dPt>
            <c:idx val="2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F52-40E1-B98F-12976C9A66D2}"/>
              </c:ext>
            </c:extLst>
          </c:dPt>
          <c:dPt>
            <c:idx val="3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F52-40E1-B98F-12976C9A66D2}"/>
              </c:ext>
            </c:extLst>
          </c:dPt>
          <c:dPt>
            <c:idx val="4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F52-40E1-B98F-12976C9A66D2}"/>
              </c:ext>
            </c:extLst>
          </c:dPt>
          <c:dPt>
            <c:idx val="5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F52-40E1-B98F-12976C9A66D2}"/>
              </c:ext>
            </c:extLst>
          </c:dPt>
          <c:dPt>
            <c:idx val="6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2F52-40E1-B98F-12976C9A66D2}"/>
              </c:ext>
            </c:extLst>
          </c:dPt>
          <c:dPt>
            <c:idx val="7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2F52-40E1-B98F-12976C9A66D2}"/>
              </c:ext>
            </c:extLst>
          </c:dPt>
          <c:dPt>
            <c:idx val="8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2F52-40E1-B98F-12976C9A66D2}"/>
              </c:ext>
            </c:extLst>
          </c:dPt>
          <c:dPt>
            <c:idx val="9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2F52-40E1-B98F-12976C9A66D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52-40E1-B98F-12976C9A66D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52-40E1-B98F-12976C9A66D2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52-40E1-B98F-12976C9A66D2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52-40E1-B98F-12976C9A66D2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52-40E1-B98F-12976C9A66D2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52-40E1-B98F-12976C9A66D2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52-40E1-B98F-12976C9A66D2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F52-40E1-B98F-12976C9A66D2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F52-40E1-B98F-12976C9A66D2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F52-40E1-B98F-12976C9A66D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United States</c:v>
                </c:pt>
                <c:pt idx="3">
                  <c:v>Thailand</c:v>
                </c:pt>
                <c:pt idx="4">
                  <c:v>Israel</c:v>
                </c:pt>
                <c:pt idx="5">
                  <c:v>Taiwan</c:v>
                </c:pt>
                <c:pt idx="6">
                  <c:v>Republic of Korea</c:v>
                </c:pt>
                <c:pt idx="7">
                  <c:v>Russia</c:v>
                </c:pt>
                <c:pt idx="8">
                  <c:v>Japan</c:v>
                </c:pt>
                <c:pt idx="9">
                  <c:v>Australia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3346</c:v>
                </c:pt>
                <c:pt idx="3">
                  <c:v>2963</c:v>
                </c:pt>
                <c:pt idx="4">
                  <c:v>2509</c:v>
                </c:pt>
                <c:pt idx="5">
                  <c:v>2369</c:v>
                </c:pt>
                <c:pt idx="6">
                  <c:v>2040</c:v>
                </c:pt>
                <c:pt idx="7">
                  <c:v>2030</c:v>
                </c:pt>
                <c:pt idx="8">
                  <c:v>1663</c:v>
                </c:pt>
                <c:pt idx="9">
                  <c:v>1310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2F52-40E1-B98F-12976C9A66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(33,282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(33,282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175-473F-98C1-EEA717B74CC3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175-473F-98C1-EEA717B74CC3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175-473F-98C1-EEA717B74CC3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175-473F-98C1-EEA717B74CC3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175-473F-98C1-EEA717B74CC3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B175-473F-98C1-EEA717B74CC3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B175-473F-98C1-EEA717B74CC3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B175-473F-98C1-EEA717B74CC3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B175-473F-98C1-EEA717B74CC3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B175-473F-98C1-EEA717B74CC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175-473F-98C1-EEA717B74CC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175-473F-98C1-EEA717B74CC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175-473F-98C1-EEA717B74CC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175-473F-98C1-EEA717B74CC3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175-473F-98C1-EEA717B74CC3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175-473F-98C1-EEA717B74CC3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175-473F-98C1-EEA717B74CC3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B175-473F-98C1-EEA717B74CC3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B175-473F-98C1-EEA717B74CC3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B175-473F-98C1-EEA717B74C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B175-473F-98C1-EEA717B74C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0.xml"/><Relationship Id="rId4" Type="http://schemas.openxmlformats.org/officeDocument/2006/relationships/chart" Target="../charts/chart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37.xml"/><Relationship Id="rId4" Type="http://schemas.openxmlformats.org/officeDocument/2006/relationships/chart" Target="../charts/chart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4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chart" Target="../charts/chart44.xml"/><Relationship Id="rId4" Type="http://schemas.openxmlformats.org/officeDocument/2006/relationships/chart" Target="../charts/chart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-1.1%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4956" y="1441570"/>
          <a:ext cx="1076208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89004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2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2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9004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3608296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  <a:endParaRPr lang="en-US" sz="1100" baseline="0" dirty="0">
              <a:solidFill>
                <a:schemeClr val="tx1"/>
              </a:solidFill>
            </a:endParaRPr>
          </a:p>
          <a:p>
            <a:pPr algn="l"/>
            <a:r>
              <a:rPr lang="en-US" sz="1100" baseline="0" dirty="0">
                <a:solidFill>
                  <a:schemeClr val="tx1"/>
                </a:solidFill>
              </a:rPr>
              <a:t>Overall BKK: RevPAR grew by +2% YoY (driven by +3% Occupancy, despite a -1% drop in ADR).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rgbClr val="2E7D32"/>
                </a:solidFill>
              </a:rPr>
              <a:t>+4.8%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ADR -3.3% </a:t>
            </a:r>
            <a:r>
              <a:rPr lang="en-US" dirty="0">
                <a:solidFill>
                  <a:sysClr val="windowText" lastClr="000000"/>
                </a:solidFill>
              </a:rPr>
              <a:t>turning </a:t>
            </a:r>
            <a:r>
              <a:rPr lang="en-US" dirty="0" err="1">
                <a:solidFill>
                  <a:sysClr val="windowText" lastClr="000000"/>
                </a:solidFill>
              </a:rPr>
              <a:t>revpar</a:t>
            </a:r>
            <a:r>
              <a:rPr lang="en-US" dirty="0">
                <a:solidFill>
                  <a:sysClr val="windowText" lastClr="000000"/>
                </a:solidFill>
              </a:rPr>
              <a:t> 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+1.3%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 Occ is +1.4%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is very lower than last year around -19%,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</a:t>
            </a:r>
            <a:r>
              <a:rPr lang="en-US" sz="1100" b="1" baseline="0" dirty="0">
                <a:solidFill>
                  <a:srgbClr val="00B050"/>
                </a:solidFill>
              </a:rPr>
              <a:t>m</a:t>
            </a:r>
            <a:r>
              <a:rPr lang="en-US" sz="1100" b="0" baseline="0" dirty="0">
                <a:solidFill>
                  <a:srgbClr val="00B050"/>
                </a:solidFill>
              </a:rPr>
              <a:t>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SR9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 The key driver come from the corporate booking. And the supply in the </a:t>
            </a:r>
            <a:r>
              <a:rPr lang="en-US" dirty="0">
                <a:solidFill>
                  <a:srgbClr val="00B050"/>
                </a:solidFill>
              </a:rPr>
              <a:t>area </a:t>
            </a:r>
            <a:r>
              <a:rPr lang="en-US" sz="1100" b="0" baseline="0" dirty="0">
                <a:solidFill>
                  <a:srgbClr val="00B050"/>
                </a:solidFill>
              </a:rPr>
              <a:t>like jubilee is under renovation.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>
                <a:solidFill>
                  <a:srgbClr val="2E7D32"/>
                </a:solidFill>
              </a:rPr>
              <a:t>+3.8%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ADR -5.85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market &gt;&gt; Occ is down around -5% and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LY,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but ADR is lower than the market around change (Gm said that </a:t>
            </a:r>
            <a:r>
              <a:rPr lang="en-US" sz="1100" b="0" baseline="0" dirty="0" err="1">
                <a:solidFill>
                  <a:srgbClr val="00B050"/>
                </a:solidFill>
              </a:rPr>
              <a:t>bc</a:t>
            </a:r>
            <a:r>
              <a:rPr lang="en-US" sz="1100" b="0" baseline="0" dirty="0">
                <a:solidFill>
                  <a:srgbClr val="00B050"/>
                </a:solidFill>
              </a:rPr>
              <a:t> one of them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like COMO doesn't drop the rate down so make the ADR average index remain same to last year). AES is align with the market which has a soft market.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-1.1%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Nana market &gt;&gt; 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 vs LY</a:t>
            </a:r>
          </a:p>
          <a:p>
            <a:r>
              <a:rPr lang="en-US" dirty="0">
                <a:solidFill>
                  <a:srgbClr val="FF0000"/>
                </a:solidFill>
              </a:rPr>
              <a:t>Overall, LS8 performed worse than the market. The market achieved better occupancy +3.7% than last year along with a 1.2% increase in RevPAR, but LS8's occupancy dropped by 1.1% compared to 2025. Also, while the market's ADR dropped by about 2.3%, LS8's ADR dropped by 5%.</a:t>
            </a:r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521208" y="1563624"/>
          <a:ext cx="110916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265823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· 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2186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22,373,138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19,185,691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83,692,230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27,132,061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1,998,780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Leisure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3,118,250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177,312,810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568696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(47% of segment revenue · ฿83,692,230).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18,083,934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32,812,405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65,733,302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17,371,829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26,804,161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5,287,593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547,029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166,640,253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(39% of segment revenue · ฿65,733,302).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6605310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464119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1,232,538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170,093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26,128,979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6,203,603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58,539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38,106,441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(69% of segment revenue · ฿26,128,979).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27099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9177921" y="3496909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C469CD-4CE3-10EB-A71A-F44B269CC01E}"/>
              </a:ext>
            </a:extLst>
          </p:cNvPr>
          <p:cNvSpPr txBox="1"/>
          <p:nvPr/>
        </p:nvSpPr>
        <p:spPr>
          <a:xfrm>
            <a:off x="8165592" y="5431750"/>
            <a:ext cx="3746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Rev align GOP</a:t>
            </a:r>
          </a:p>
          <a:p>
            <a:r>
              <a:rPr lang="en-US" dirty="0" err="1"/>
              <a:t>Jv</a:t>
            </a:r>
            <a:r>
              <a:rPr lang="en-US" dirty="0"/>
              <a:t> expense &gt; Prop tax</a:t>
            </a:r>
          </a:p>
          <a:p>
            <a:r>
              <a:rPr lang="en-US" dirty="0"/>
              <a:t>Loss carry forward 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926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6,707,183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6,264,944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52,818,680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28,161,766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53,999,377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 Grp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122,697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153,494,786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57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Wholesale (35% of segment revenue · ฿53,999,377).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AB92E-5A8A-F38D-E8BB-9A78A70F4654}"/>
              </a:ext>
            </a:extLst>
          </p:cNvPr>
          <p:cNvSpPr txBox="1"/>
          <p:nvPr/>
        </p:nvSpPr>
        <p:spPr>
          <a:xfrm>
            <a:off x="8504903" y="5730719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Pay lesser interest.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13800</TotalTime>
  <Words>10216</Words>
  <Application>Microsoft Office PowerPoint</Application>
  <PresentationFormat>Widescreen</PresentationFormat>
  <Paragraphs>3525</Paragraphs>
  <Slides>51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6</cp:revision>
  <dcterms:created xsi:type="dcterms:W3CDTF">2026-07-24T09:01:49Z</dcterms:created>
  <dcterms:modified xsi:type="dcterms:W3CDTF">2026-08-03T01:08:56Z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