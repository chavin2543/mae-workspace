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0"/>
  </p:notesMasterIdLst>
  <p:sldIdLst>
    <p:sldId id="256" r:id="rId5"/>
    <p:sldId id="258" r:id="rId6"/>
    <p:sldId id="259" r:id="rId7"/>
    <p:sldId id="261" r:id="rId8"/>
    <p:sldId id="263" r:id="rId9"/>
    <p:sldId id="302" r:id="rId10"/>
    <p:sldId id="304" r:id="rId11"/>
    <p:sldId id="266" r:id="rId12"/>
    <p:sldId id="303" r:id="rId13"/>
    <p:sldId id="305" r:id="rId14"/>
    <p:sldId id="267" r:id="rId15"/>
    <p:sldId id="270" r:id="rId16"/>
    <p:sldId id="272" r:id="rId17"/>
    <p:sldId id="271" r:id="rId18"/>
    <p:sldId id="273" r:id="rId19"/>
    <p:sldId id="275" r:id="rId20"/>
    <p:sldId id="278" r:id="rId21"/>
    <p:sldId id="276" r:id="rId22"/>
    <p:sldId id="274" r:id="rId23"/>
    <p:sldId id="280" r:id="rId24"/>
    <p:sldId id="282" r:id="rId25"/>
    <p:sldId id="308" r:id="rId26"/>
    <p:sldId id="283" r:id="rId27"/>
    <p:sldId id="281" r:id="rId28"/>
    <p:sldId id="287" r:id="rId29"/>
    <p:sldId id="289" r:id="rId30"/>
    <p:sldId id="292" r:id="rId31"/>
    <p:sldId id="290" r:id="rId32"/>
    <p:sldId id="288" r:id="rId33"/>
    <p:sldId id="294" r:id="rId34"/>
    <p:sldId id="296" r:id="rId35"/>
    <p:sldId id="299" r:id="rId36"/>
    <p:sldId id="297" r:id="rId37"/>
    <p:sldId id="295" r:id="rId38"/>
    <p:sldId id="307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409C20-A998-4A5C-B625-CA10EEA2B52C}" v="50" dt="2026-08-19T01:55:04.009"/>
  </p1510:revLst>
</p1510:revInfo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6247" autoAdjust="0"/>
  </p:normalViewPr>
  <p:slideViewPr>
    <p:cSldViewPr snapToGrid="0">
      <p:cViewPr varScale="1">
        <p:scale>
          <a:sx n="64" d="100"/>
          <a:sy n="64" d="100"/>
        </p:scale>
        <p:origin x="96" y="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22A-41DB-B165-89D079F54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22A-41DB-B165-89D079F54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22A-41DB-B165-89D079F54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3"/>
              <c:layout>
                <c:manualLayout>
                  <c:x val="1.4064697609001406E-2"/>
                  <c:y val="-1.63398692810457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484-4D39-8ECA-6620D640AD9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2"/>
              <c:layout>
                <c:manualLayout>
                  <c:x val="-6.4462452698835405E-17"/>
                  <c:y val="-1.63398692810457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D49-452B-84B8-37BC5ED0BA6E}"/>
                </c:ext>
              </c:extLst>
            </c:dLbl>
            <c:dLbl>
              <c:idx val="3"/>
              <c:layout>
                <c:manualLayout>
                  <c:x val="0"/>
                  <c:y val="-3.267973856209150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D49-452B-84B8-37BC5ED0BA6E}"/>
                </c:ext>
              </c:extLst>
            </c:dLbl>
            <c:dLbl>
              <c:idx val="4"/>
              <c:layout>
                <c:manualLayout>
                  <c:x val="-1.2892490539767081E-16"/>
                  <c:y val="-1.63398692810458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D49-452B-84B8-37BC5ED0BA6E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79.13</c:v>
                </c:pt>
                <c:pt idx="1">
                  <c:v>73.86</c:v>
                </c:pt>
                <c:pt idx="2">
                  <c:v>68.069999999999993</c:v>
                </c:pt>
                <c:pt idx="3">
                  <c:v>63.24</c:v>
                </c:pt>
                <c:pt idx="4">
                  <c:v>58.23</c:v>
                </c:pt>
                <c:pt idx="5">
                  <c:v>53.87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74.349999999999994</c:v>
                </c:pt>
                <c:pt idx="1">
                  <c:v>74.62</c:v>
                </c:pt>
                <c:pt idx="2">
                  <c:v>69.349999999999994</c:v>
                </c:pt>
                <c:pt idx="3">
                  <c:v>63.76</c:v>
                </c:pt>
                <c:pt idx="4">
                  <c:v>53.65</c:v>
                </c:pt>
                <c:pt idx="5">
                  <c:v>51.55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3952.41</c:v>
                </c:pt>
                <c:pt idx="1">
                  <c:v>3536.96</c:v>
                </c:pt>
                <c:pt idx="2">
                  <c:v>3302.88</c:v>
                </c:pt>
                <c:pt idx="3">
                  <c:v>3505.45</c:v>
                </c:pt>
                <c:pt idx="4">
                  <c:v>3251.06</c:v>
                </c:pt>
                <c:pt idx="5">
                  <c:v>3010.59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3734.91</c:v>
                </c:pt>
                <c:pt idx="1">
                  <c:v>3933.56</c:v>
                </c:pt>
                <c:pt idx="2">
                  <c:v>3342.78</c:v>
                </c:pt>
                <c:pt idx="3">
                  <c:v>3511.78</c:v>
                </c:pt>
                <c:pt idx="4">
                  <c:v>3116.64</c:v>
                </c:pt>
                <c:pt idx="5">
                  <c:v>2908.52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3127.51</c:v>
                </c:pt>
                <c:pt idx="1">
                  <c:v>2612.2600000000002</c:v>
                </c:pt>
                <c:pt idx="2">
                  <c:v>2248.3200000000002</c:v>
                </c:pt>
                <c:pt idx="3">
                  <c:v>2217</c:v>
                </c:pt>
                <c:pt idx="4">
                  <c:v>1893.05</c:v>
                </c:pt>
                <c:pt idx="5">
                  <c:v>1621.68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2776.79</c:v>
                </c:pt>
                <c:pt idx="1">
                  <c:v>2935.37</c:v>
                </c:pt>
                <c:pt idx="2">
                  <c:v>2318.34</c:v>
                </c:pt>
                <c:pt idx="3">
                  <c:v>2239.14</c:v>
                </c:pt>
                <c:pt idx="4">
                  <c:v>1671.95</c:v>
                </c:pt>
                <c:pt idx="5">
                  <c:v>1499.42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2735.54</c:v>
                </c:pt>
                <c:pt idx="1">
                  <c:v>2987.66</c:v>
                </c:pt>
                <c:pt idx="2">
                  <c:v>2269.2</c:v>
                </c:pt>
                <c:pt idx="3">
                  <c:v>2094.18</c:v>
                </c:pt>
                <c:pt idx="4">
                  <c:v>1843.84</c:v>
                </c:pt>
                <c:pt idx="5">
                  <c:v>1859.66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2837.13</c:v>
                </c:pt>
                <c:pt idx="1">
                  <c:v>2935.61</c:v>
                </c:pt>
                <c:pt idx="2">
                  <c:v>2199.43</c:v>
                </c:pt>
                <c:pt idx="3">
                  <c:v>2345.0</c:v>
                </c:pt>
                <c:pt idx="4">
                  <c:v>2061.46</c:v>
                </c:pt>
                <c:pt idx="5">
                  <c:v>2018.95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3064.43</c:v>
                </c:pt>
                <c:pt idx="1">
                  <c:v>2798.16</c:v>
                </c:pt>
                <c:pt idx="2">
                  <c:v>2047.74</c:v>
                </c:pt>
                <c:pt idx="3">
                  <c:v>2135.14</c:v>
                </c:pt>
                <c:pt idx="4">
                  <c:v>1959.26</c:v>
                </c:pt>
                <c:pt idx="5">
                  <c:v>1854.45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55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1153</c:v>
                </c:pt>
                <c:pt idx="8">
                  <c:v>2214</c:v>
                </c:pt>
                <c:pt idx="9">
                  <c:v>1426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740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403-4B99-ABE6-54DA220BB5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403-4B99-ABE6-54DA220BB51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In this year, Number of arrival drop around -3.2% with the estimation data or around -500k ppl in first h1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down in the </a:t>
            </a:r>
            <a:r>
              <a:rPr lang="en-US" dirty="0" err="1"/>
              <a:t>nationaliy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We can see the recover from </a:t>
            </a:r>
            <a:r>
              <a:rPr lang="en-US" dirty="0" err="1"/>
              <a:t>china</a:t>
            </a:r>
            <a:r>
              <a:rPr lang="en-US" dirty="0"/>
              <a:t> around +14.8% compare to last year.</a:t>
            </a:r>
          </a:p>
          <a:p>
            <a:pPr marL="171450" indent="-171450">
              <a:buFontTx/>
              <a:buChar char="-"/>
            </a:pPr>
            <a:r>
              <a:rPr lang="en-US" dirty="0"/>
              <a:t>For </a:t>
            </a:r>
            <a:r>
              <a:rPr lang="en-US" dirty="0" err="1"/>
              <a:t>india</a:t>
            </a:r>
            <a:r>
              <a:rPr lang="en-US" dirty="0"/>
              <a:t>, which may not a really our major group of guest but it is quite interesting growth. We can see the continue growth in India</a:t>
            </a:r>
            <a:r>
              <a:rPr lang="th-TH" dirty="0"/>
              <a:t> </a:t>
            </a:r>
            <a:r>
              <a:rPr lang="en-US" dirty="0"/>
              <a:t>in past 3 years.</a:t>
            </a:r>
          </a:p>
          <a:p>
            <a:pPr marL="171450" indent="-171450">
              <a:buFontTx/>
              <a:buChar char="-"/>
            </a:pPr>
            <a:endParaRPr lang="th-T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Middle east may not the major top nationality in </a:t>
            </a:r>
            <a:r>
              <a:rPr lang="en-US" dirty="0" err="1"/>
              <a:t>arraivel</a:t>
            </a:r>
            <a:r>
              <a:rPr lang="en-US" dirty="0"/>
              <a:t> of Thailand but this arrival can effected our ADR spending power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After middle east religion war, the number of middle east got lower </a:t>
            </a:r>
            <a:r>
              <a:rPr lang="en-US" dirty="0" err="1"/>
              <a:t>accumtilate</a:t>
            </a:r>
            <a:r>
              <a:rPr lang="en-US" dirty="0"/>
              <a:t> -30% from Feb. Even in June that we may can see the coming back of ME, but it cannot reach the same as </a:t>
            </a:r>
            <a:r>
              <a:rPr lang="en-US" dirty="0" err="1"/>
              <a:t>ly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For the long </a:t>
            </a:r>
            <a:r>
              <a:rPr lang="en-US" dirty="0" err="1"/>
              <a:t>hual</a:t>
            </a:r>
            <a:r>
              <a:rPr lang="en-US" dirty="0"/>
              <a:t> and EU that tensing to have more </a:t>
            </a:r>
            <a:r>
              <a:rPr lang="en-US" dirty="0" err="1"/>
              <a:t>spendn</a:t>
            </a:r>
            <a:r>
              <a:rPr lang="en-US" dirty="0"/>
              <a:t> </a:t>
            </a:r>
            <a:r>
              <a:rPr lang="en-US" dirty="0" err="1"/>
              <a:t>pwer</a:t>
            </a:r>
            <a:r>
              <a:rPr lang="en-US" dirty="0"/>
              <a:t>, also arrival decrease -1.2%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Moving to Bangkok area.</a:t>
            </a:r>
          </a:p>
          <a:p>
            <a:r>
              <a:rPr lang="en-US" dirty="0"/>
              <a:t>Even the number Thailand arrival is decrease but in term of Bangkok tourist arrival. The number of total arrival is increase by 3.3% which domestic +6.2% but foreigner quite similar to last year.</a:t>
            </a:r>
          </a:p>
          <a:p>
            <a:r>
              <a:rPr lang="en-US" dirty="0"/>
              <a:t>The number of </a:t>
            </a:r>
            <a:r>
              <a:rPr lang="en-US" dirty="0" err="1"/>
              <a:t>thai</a:t>
            </a:r>
            <a:r>
              <a:rPr lang="en-US" dirty="0"/>
              <a:t> ppl visitor is more than foreigner can be another factor that the price on hotel could be sensitive to our domestic </a:t>
            </a:r>
            <a:r>
              <a:rPr lang="en-US" dirty="0" err="1"/>
              <a:t>travaler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8055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Moving to Bangkok hotel STR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 to last year due to growth on the arrival, so we can see the Occ that got higher this H1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Compare to Class segment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Price war</a:t>
            </a:r>
          </a:p>
          <a:p>
            <a:r>
              <a:rPr lang="en-US" dirty="0"/>
              <a:t>Luxury plus ADR</a:t>
            </a:r>
          </a:p>
          <a:p>
            <a:r>
              <a:rPr lang="en-US" dirty="0"/>
              <a:t>Segment </a:t>
            </a:r>
            <a:r>
              <a:rPr lang="th-TH" dirty="0"/>
              <a:t>ที่ต่ำลง ยิ่งแข่ง </a:t>
            </a:r>
            <a:r>
              <a:rPr lang="en-US" dirty="0"/>
              <a:t>Price -&gt; </a:t>
            </a:r>
            <a:r>
              <a:rPr lang="th-TH" dirty="0"/>
              <a:t>ปัญหา</a:t>
            </a:r>
            <a:r>
              <a:rPr lang="en-US" dirty="0"/>
              <a:t> </a:t>
            </a:r>
            <a:r>
              <a:rPr lang="en-US" dirty="0" err="1"/>
              <a:t>Adr</a:t>
            </a:r>
            <a:r>
              <a:rPr lang="en-US" dirty="0"/>
              <a:t> </a:t>
            </a:r>
          </a:p>
          <a:p>
            <a:r>
              <a:rPr lang="en-US" dirty="0"/>
              <a:t>Due to we may rely on the Domestic demand as priority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Moving to Pattaya area.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- The arrival is lower</a:t>
            </a:r>
            <a:r>
              <a:rPr lang="th-TH" dirty="0"/>
              <a:t> </a:t>
            </a:r>
            <a:r>
              <a:rPr lang="en-US" dirty="0"/>
              <a:t>-2.7% mostly come from international arrival -5.4%</a:t>
            </a:r>
          </a:p>
        </p:txBody>
      </p:sp>
    </p:spTree>
    <p:extLst>
      <p:ext uri="{BB962C8B-B14F-4D97-AF65-F5344CB8AC3E}">
        <p14:creationId xmlns:p14="http://schemas.microsoft.com/office/powerpoint/2010/main" val="6973069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 the demand </a:t>
            </a: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(arrivals −2.7%) → market gave up occupancy (−2.6%) but held rate</a:t>
            </a:r>
          </a:p>
          <a:p>
            <a:r>
              <a:rPr lang="en-US" dirty="0"/>
              <a:t>Look at the segment </a:t>
            </a: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Upscale &amp; Upper Midscale which is very near to SP</a:t>
            </a:r>
            <a:endParaRPr lang="en-US" dirty="0"/>
          </a:p>
          <a:p>
            <a:r>
              <a:rPr lang="en-US" dirty="0"/>
              <a:t>We can see that the ADR drop -2% in first half year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Portfolio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" i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MOTS Korea H12026−22.7%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/>
              <a:buChar char="•"/>
            </a:pPr>
            <a:r>
              <a:rPr lang="en-US" dirty="0"/>
              <a:t>DTA write off will reflect Q2 and Q4</a:t>
            </a:r>
          </a:p>
          <a:p>
            <a:pPr marL="171450" indent="-171450">
              <a:buFont typeface="Arial"/>
              <a:buChar char="•"/>
            </a:pPr>
            <a:r>
              <a:rPr lang="en-US" dirty="0" err="1"/>
              <a:t>Npat</a:t>
            </a:r>
            <a:r>
              <a:rPr lang="en-US" dirty="0"/>
              <a:t> will effect next 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29252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chart" Target="../charts/chart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16.16M</a:t>
            </a:r>
            <a:endParaRPr lang="en-US" sz="240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vs 2025 (16.69M)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MOTS. June 2026 lost 4 days to a system error; "+Jun est." adds the pro-rated estimate (June ≈ 2.12M, H1 ≈ 16.16M = −3.2% vs 2025) from the workbook audit sheet.</a:t>
            </a:r>
            <a:endParaRPr lang="en-US" sz="105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0E574B-D851-0770-1155-49CA203A1272}"/>
              </a:ext>
            </a:extLst>
          </p:cNvPr>
          <p:cNvSpPr/>
          <p:nvPr/>
        </p:nvSpPr>
        <p:spPr>
          <a:xfrm>
            <a:off x="4326505" y="2601108"/>
            <a:ext cx="144454" cy="246222"/>
          </a:xfrm>
          <a:prstGeom prst="rect">
            <a:avLst/>
          </a:prstGeom>
          <a:solidFill>
            <a:srgbClr val="1E2761">
              <a:alpha val="30196"/>
            </a:srgb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9297B-A31C-4886-062D-DEB7734F8EFE}"/>
              </a:ext>
            </a:extLst>
          </p:cNvPr>
          <p:cNvSpPr txBox="1"/>
          <p:nvPr/>
        </p:nvSpPr>
        <p:spPr>
          <a:xfrm>
            <a:off x="4082489" y="2436116"/>
            <a:ext cx="1394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**Missing 4 days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8823B-49F8-4CF8-9266-A59B431BC122}"/>
              </a:ext>
            </a:extLst>
          </p:cNvPr>
          <p:cNvSpPr txBox="1"/>
          <p:nvPr/>
        </p:nvSpPr>
        <p:spPr>
          <a:xfrm>
            <a:off x="1742898" y="4297513"/>
            <a:ext cx="5380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**CNY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530198-3EC4-CD79-A189-649DBADE152B}"/>
              </a:ext>
            </a:extLst>
          </p:cNvPr>
          <p:cNvSpPr txBox="1"/>
          <p:nvPr/>
        </p:nvSpPr>
        <p:spPr>
          <a:xfrm>
            <a:off x="8464060" y="2361492"/>
            <a:ext cx="10944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>
                <a:solidFill>
                  <a:srgbClr val="26292E"/>
                </a:solidFill>
                <a:latin typeface="Calibri"/>
              </a:rPr>
              <a:t>(Estimate + actual)</a:t>
            </a:r>
            <a:endParaRPr lang="en-US"/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48640" y="4572000"/>
          <a:ext cx="7406640" cy="15233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574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3,713,172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3,600,922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3,478,687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3,216,929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2,736,598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3,056,697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3,035,296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3,352,302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2,982,721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2,757,128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2,633,464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2,740,372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3,709,102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3,119,445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2,720,457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2,547,116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2,266,574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2,322,775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3,277,908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3,263,802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2,775,199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2,368,895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2,346,845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1,841,551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26 +Jun est.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2,124,867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16,157,516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74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26 (Est.) vs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673683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673683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6949774"/>
              </p:ext>
            </p:extLst>
          </p:nvPr>
        </p:nvGraphicFramePr>
        <p:xfrm>
          <a:off x="548640" y="4466798"/>
          <a:ext cx="5349240" cy="1129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1051871"/>
              </p:ext>
            </p:extLst>
          </p:nvPr>
        </p:nvGraphicFramePr>
        <p:xfrm>
          <a:off x="6291072" y="4466798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4E25DBC-C75C-A38C-282A-6E36E013E6BD}"/>
              </a:ext>
            </a:extLst>
          </p:cNvPr>
          <p:cNvSpPr/>
          <p:nvPr/>
        </p:nvSpPr>
        <p:spPr>
          <a:xfrm rot="16200000">
            <a:off x="10665671" y="1091532"/>
            <a:ext cx="201573" cy="152939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C4911-6CFD-051C-79B0-C66503D77E6B}"/>
              </a:ext>
            </a:extLst>
          </p:cNvPr>
          <p:cNvSpPr txBox="1"/>
          <p:nvPr/>
        </p:nvSpPr>
        <p:spPr>
          <a:xfrm>
            <a:off x="10171692" y="1434722"/>
            <a:ext cx="11895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/>
              <a:t>60 days free</a:t>
            </a:r>
          </a:p>
          <a:p>
            <a:pPr algn="ctr"/>
            <a:r>
              <a:rPr lang="en-US" sz="1100"/>
              <a:t>Visa cancellation</a:t>
            </a:r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A562E0FA-9704-8132-4444-81CCA9392039}"/>
              </a:ext>
            </a:extLst>
          </p:cNvPr>
          <p:cNvSpPr/>
          <p:nvPr/>
        </p:nvSpPr>
        <p:spPr>
          <a:xfrm>
            <a:off x="2298305" y="2648380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C0792-EC48-F0A8-C0CB-13257F1617C5}"/>
              </a:ext>
            </a:extLst>
          </p:cNvPr>
          <p:cNvSpPr txBox="1"/>
          <p:nvPr/>
        </p:nvSpPr>
        <p:spPr>
          <a:xfrm>
            <a:off x="2360519" y="2601468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A065445-756C-C8A8-A2BF-4AEA75A407AB}"/>
              </a:ext>
            </a:extLst>
          </p:cNvPr>
          <p:cNvSpPr/>
          <p:nvPr/>
        </p:nvSpPr>
        <p:spPr>
          <a:xfrm>
            <a:off x="548640" y="5948003"/>
            <a:ext cx="11198601" cy="7334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is recovering vs 2025 (+14.8%), but is still only ~46% of pre-COVID.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India is the strongest growth market — +24% in January and a record H1.</a:t>
            </a:r>
          </a:p>
          <a:p>
            <a:r>
              <a:rPr sz="1100" dirty="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854971644"/>
              </p:ext>
            </p:extLst>
          </p:nvPr>
        </p:nvGraphicFramePr>
        <p:xfrm>
          <a:off x="548640" y="1755646"/>
          <a:ext cx="5349240" cy="2798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39" name="TextBox 938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256271"/>
              </p:ext>
            </p:extLst>
          </p:nvPr>
        </p:nvGraphicFramePr>
        <p:xfrm>
          <a:off x="6291072" y="1755647"/>
          <a:ext cx="5349240" cy="279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614853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844BE5D-A0BA-0358-7619-84635144C752}"/>
              </a:ext>
            </a:extLst>
          </p:cNvPr>
          <p:cNvSpPr txBox="1"/>
          <p:nvPr/>
        </p:nvSpPr>
        <p:spPr>
          <a:xfrm>
            <a:off x="2744270" y="3223812"/>
            <a:ext cx="7541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**ME War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112495-5200-8E74-A52E-1171004B053A}"/>
              </a:ext>
            </a:extLst>
          </p:cNvPr>
          <p:cNvSpPr txBox="1"/>
          <p:nvPr/>
        </p:nvSpPr>
        <p:spPr>
          <a:xfrm>
            <a:off x="3623129" y="2535244"/>
            <a:ext cx="7541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/>
              <a:t>**Fuel Most effected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6D3D91A-0DB6-6E24-99FE-A520BE05185E}"/>
              </a:ext>
            </a:extLst>
          </p:cNvPr>
          <p:cNvSpPr/>
          <p:nvPr/>
        </p:nvSpPr>
        <p:spPr>
          <a:xfrm rot="16200000">
            <a:off x="4158251" y="582832"/>
            <a:ext cx="233078" cy="290874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7237A0-6123-FB7D-6AC5-4DB03ACBE352}"/>
              </a:ext>
            </a:extLst>
          </p:cNvPr>
          <p:cNvSpPr/>
          <p:nvPr/>
        </p:nvSpPr>
        <p:spPr>
          <a:xfrm>
            <a:off x="548639" y="5907461"/>
            <a:ext cx="11198601" cy="77399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the regional war effect.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Long-haul held up but showed no growth vs 2025: a strong Jan–Feb offset a softer April (higher airfares from rerouting).</a:t>
            </a:r>
          </a:p>
          <a:p>
            <a:r>
              <a:rPr sz="1200" dirty="0">
                <a:latin typeface="Calibri"/>
              </a:rPr>
              <a:t>***June carries the MOTS 4-day data-loss gap.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79443"/>
              </p:ext>
            </p:extLst>
          </p:nvPr>
        </p:nvGraphicFramePr>
        <p:xfrm>
          <a:off x="548640" y="1323594"/>
          <a:ext cx="11094720" cy="255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840180"/>
              </p:ext>
            </p:extLst>
          </p:nvPr>
        </p:nvGraphicFramePr>
        <p:xfrm>
          <a:off x="563880" y="3973560"/>
          <a:ext cx="11064240" cy="1820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044607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6B4C631-256A-E482-091B-E208689D6F7D}"/>
              </a:ext>
            </a:extLst>
          </p:cNvPr>
          <p:cNvSpPr/>
          <p:nvPr/>
        </p:nvSpPr>
        <p:spPr>
          <a:xfrm>
            <a:off x="563880" y="5907461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though total arrivals are −3%, international arrivals in Bangkok are similar to LY (−0.1%) — the overall drop came from Phuket and Pattaya, not Bangkok.</a:t>
            </a:r>
          </a:p>
          <a:p>
            <a:r>
              <a:rPr lang="en-US" sz="1200" dirty="0"/>
              <a:t>***June carries the MOTS 4-day data-loss gap.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951800409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13813365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125956722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</a:t>
            </a:r>
            <a:r>
              <a:rPr lang="en-US" sz="1250" b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ADR −1.4%   </a:t>
            </a:r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+0.9%</a:t>
            </a:r>
            <a:endParaRPr lang="en-US" sz="125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1682"/>
              </p:ext>
            </p:extLst>
          </p:nvPr>
        </p:nvGraphicFramePr>
        <p:xfrm>
          <a:off x="548639" y="4343400"/>
          <a:ext cx="11091672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8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Right Brace 17">
            <a:extLst>
              <a:ext uri="{FF2B5EF4-FFF2-40B4-BE49-F238E27FC236}">
                <a16:creationId xmlns:a16="http://schemas.microsoft.com/office/drawing/2014/main" id="{1FDBC196-F69E-4BD1-1768-7DEF4F940DBC}"/>
              </a:ext>
            </a:extLst>
          </p:cNvPr>
          <p:cNvSpPr/>
          <p:nvPr/>
        </p:nvSpPr>
        <p:spPr>
          <a:xfrm rot="16200000" flipH="1">
            <a:off x="10873917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0757AD-A561-E33B-C7BE-DCC2514B2BF7}"/>
              </a:ext>
            </a:extLst>
          </p:cNvPr>
          <p:cNvSpPr txBox="1"/>
          <p:nvPr/>
        </p:nvSpPr>
        <p:spPr>
          <a:xfrm>
            <a:off x="10511839" y="3619678"/>
            <a:ext cx="83687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3F6D5320-6995-BFC8-23C9-8B0E1FB06C50}"/>
              </a:ext>
            </a:extLst>
          </p:cNvPr>
          <p:cNvSpPr/>
          <p:nvPr/>
        </p:nvSpPr>
        <p:spPr>
          <a:xfrm rot="16200000" flipH="1">
            <a:off x="7086844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2F9CDA-50EF-802D-0A4E-61D3366A8F99}"/>
              </a:ext>
            </a:extLst>
          </p:cNvPr>
          <p:cNvSpPr txBox="1"/>
          <p:nvPr/>
        </p:nvSpPr>
        <p:spPr>
          <a:xfrm>
            <a:off x="6724766" y="3619678"/>
            <a:ext cx="83687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FA69062-879C-BF76-A32C-5DAF0B241F01}"/>
              </a:ext>
            </a:extLst>
          </p:cNvPr>
          <p:cNvSpPr/>
          <p:nvPr/>
        </p:nvSpPr>
        <p:spPr>
          <a:xfrm rot="16200000" flipH="1">
            <a:off x="3178391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B07932-8C4E-8A97-584D-52A5F0DC674A}"/>
              </a:ext>
            </a:extLst>
          </p:cNvPr>
          <p:cNvSpPr txBox="1"/>
          <p:nvPr/>
        </p:nvSpPr>
        <p:spPr>
          <a:xfrm>
            <a:off x="2816313" y="3631584"/>
            <a:ext cx="1122627" cy="2308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Q2 Soft Market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815B0B-BC00-C025-DD96-B1438FFEF390}"/>
              </a:ext>
            </a:extLst>
          </p:cNvPr>
          <p:cNvSpPr/>
          <p:nvPr/>
        </p:nvSpPr>
        <p:spPr>
          <a:xfrm>
            <a:off x="548639" y="5699282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Bangkok hotel market runs Occ +2.3%, ADR −1.3% → RevPAR +0.9%; the rise in visitors explains the higher occupancy.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By class, Luxury is the only one holding rate (+1.1%)</a:t>
            </a:r>
            <a:endParaRPr lang="en-US" sz="1200" dirty="0">
              <a:solidFill>
                <a:schemeClr val="tx1"/>
              </a:solidFill>
              <a:latin typeface="Calibri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Every class below it cut price — and the lower the tier, the deeper the ADR cut.</a:t>
            </a:r>
            <a:endParaRPr lang="en-US" sz="1200" dirty="0">
              <a:solidFill>
                <a:schemeClr val="tx1"/>
              </a:solidFill>
              <a:latin typeface="Calibri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407F377-B864-8A75-9010-6B3D75EB0330}"/>
              </a:ext>
            </a:extLst>
          </p:cNvPr>
          <p:cNvCxnSpPr/>
          <p:nvPr/>
        </p:nvCxnSpPr>
        <p:spPr>
          <a:xfrm>
            <a:off x="441789" y="4849402"/>
            <a:ext cx="0" cy="6827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50CA16F-327B-15B2-0F7D-EDD0D9EF3335}"/>
              </a:ext>
            </a:extLst>
          </p:cNvPr>
          <p:cNvSpPr txBox="1"/>
          <p:nvPr/>
        </p:nvSpPr>
        <p:spPr>
          <a:xfrm rot="16200000">
            <a:off x="-234940" y="5075345"/>
            <a:ext cx="1122627" cy="2308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900"/>
              <a:t>Our portfolio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/>
          </a:p>
          <a:p>
            <a:pPr marL="0" indent="0">
              <a:buNone/>
            </a:pPr>
            <a:endParaRPr lang="en-US" sz="400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1364258"/>
              </p:ext>
            </p:extLst>
          </p:nvPr>
        </p:nvGraphicFramePr>
        <p:xfrm>
          <a:off x="548640" y="1600200"/>
          <a:ext cx="11064240" cy="222535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459513"/>
              </p:ext>
            </p:extLst>
          </p:nvPr>
        </p:nvGraphicFramePr>
        <p:xfrm>
          <a:off x="548640" y="3895639"/>
          <a:ext cx="110642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995997"/>
                  </a:ext>
                </a:extLst>
              </a:tr>
              <a:tr h="213793">
                <a:tc>
                  <a:txBody>
                    <a:bodyPr/>
                    <a:lstStyle/>
                    <a:p>
                      <a:r>
                        <a:rPr lang="en-US" sz="1050" b="1">
                          <a:solidFill>
                            <a:srgbClr val="26292E"/>
                          </a:solidFill>
                          <a:latin typeface="Calibri"/>
                        </a:rPr>
                        <a:t>- </a:t>
                      </a:r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B82EA17F-8A49-A763-07C3-906307D99AB6}"/>
              </a:ext>
            </a:extLst>
          </p:cNvPr>
          <p:cNvSpPr/>
          <p:nvPr/>
        </p:nvSpPr>
        <p:spPr>
          <a:xfrm>
            <a:off x="548639" y="5797296"/>
            <a:ext cx="11198601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Pattaya area, arrivals are −2.7% vs LY — mostly from foreigners (−5.4% vs LY).</a:t>
            </a:r>
          </a:p>
          <a:p>
            <a:r>
              <a:rPr lang="en-US" sz="1200" dirty="0"/>
              <a:t>***June carries the MOTS 4-day data-loss gap.</a:t>
            </a:r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submarket (CoStar Standard Monthly, YTD Jun 2026 report) · Jan–Jun monthly,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47986545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3264171204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35785145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50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(CoStar Pattaya submarket):   </a:t>
            </a:r>
            <a:r>
              <a:rPr lang="en-US" sz="1250" b="1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−2.6%   ·   ADR −0.1%   ·   RevPAR −2.6%</a:t>
            </a:r>
            <a:endParaRPr lang="en-US" sz="1250">
              <a:solidFill>
                <a:srgbClr val="FF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7E8D0-2F35-D50E-D759-648928A5822D}"/>
              </a:ext>
            </a:extLst>
          </p:cNvPr>
          <p:cNvSpPr txBox="1"/>
          <p:nvPr/>
        </p:nvSpPr>
        <p:spPr>
          <a:xfrm>
            <a:off x="2879188" y="2404048"/>
            <a:ext cx="1237957" cy="43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graphicFrame>
        <p:nvGraphicFramePr>
          <p:cNvPr id="23" name="Table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4240872"/>
              </p:ext>
            </p:extLst>
          </p:nvPr>
        </p:nvGraphicFramePr>
        <p:xfrm>
          <a:off x="564330" y="4423054"/>
          <a:ext cx="11075982" cy="4754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355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61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1453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 &amp; 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67.4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65.3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2,655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2,601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1,789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1,700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 marL="36576" marR="36576" marT="7315" marB="7315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90D37C43-8759-22CB-9FD5-32DB5D8AB134}"/>
              </a:ext>
            </a:extLst>
          </p:cNvPr>
          <p:cNvSpPr/>
          <p:nvPr/>
        </p:nvSpPr>
        <p:spPr>
          <a:xfrm>
            <a:off x="546774" y="5084938"/>
            <a:ext cx="11130970" cy="71235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down (arrivals −2.7%) → market gave up occupancy (−2.6%) but held rate (ADR −0.1% = flat; Jan/Feb swing = CNY timing, May–Jun ADR −3~4%).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Upscale &amp; Upper Midscale set — closest to SP — lost both (Occ −3.0%, ADR −2.0%, RevPAR −5.0%)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(1,358 keys) · YTD = Jan–Jun 2026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07502558"/>
              </p:ext>
            </p:extLst>
          </p:nvPr>
        </p:nvGraphicFramePr>
        <p:xfrm>
          <a:off x="548640" y="1354637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44720"/>
              </p:ext>
            </p:extLst>
          </p:nvPr>
        </p:nvGraphicFramePr>
        <p:xfrm>
          <a:off x="548640" y="3672641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2,393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83200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92344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14290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75.7%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60010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24018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3316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55107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฿3,024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00827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364835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3979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7" name="Text 14"/>
          <p:cNvSpPr/>
          <p:nvPr/>
        </p:nvSpPr>
        <p:spPr>
          <a:xfrm>
            <a:off x="8238744" y="395925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฿2,290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41645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/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BCA2C0C0-B180-A464-73A7-7ACEBEA2149C}"/>
              </a:ext>
            </a:extLst>
          </p:cNvPr>
          <p:cNvSpPr/>
          <p:nvPr/>
        </p:nvSpPr>
        <p:spPr>
          <a:xfrm>
            <a:off x="2360519" y="1742118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FF3C47-0C50-2E6D-D1ED-988ECAD046E8}"/>
              </a:ext>
            </a:extLst>
          </p:cNvPr>
          <p:cNvSpPr txBox="1"/>
          <p:nvPr/>
        </p:nvSpPr>
        <p:spPr>
          <a:xfrm>
            <a:off x="2422733" y="1695206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4AF44B-EB10-22B1-7043-DDD0D6353B66}"/>
              </a:ext>
            </a:extLst>
          </p:cNvPr>
          <p:cNvSpPr/>
          <p:nvPr/>
        </p:nvSpPr>
        <p:spPr>
          <a:xfrm>
            <a:off x="8092440" y="5056532"/>
            <a:ext cx="3520440" cy="12618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05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(−1.0%). Vs last year, RevPAR is broadly flat.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050" dirty="0">
                <a:solidFill>
                  <a:schemeClr val="tx1"/>
                </a:solidFill>
                <a:latin typeface="Calibri"/>
              </a:rPr>
              <a:t>April was our softest month — driven by AES (−16% RevPAR vs budget, after the Dubai group moved out) and LYF (occupancy 50% vs the 83% budgeted).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09361"/>
              </p:ext>
            </p:extLst>
          </p:nvPr>
        </p:nvGraphicFramePr>
        <p:xfrm>
          <a:off x="6126480" y="1438321"/>
          <a:ext cx="5742426" cy="2014728"/>
        </p:xfrm>
        <a:graphic>
          <a:graphicData uri="http://schemas.openxmlformats.org/drawingml/2006/table">
            <a:tbl>
              <a:tblPr/>
              <a:tblGrid>
                <a:gridCol w="9230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63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9299">
                  <a:extLst>
                    <a:ext uri="{9D8B030D-6E8A-4147-A177-3AD203B41FA5}">
                      <a16:colId xmlns:a16="http://schemas.microsoft.com/office/drawing/2014/main" val="990001"/>
                    </a:ext>
                  </a:extLst>
                </a:gridCol>
                <a:gridCol w="5933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8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04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7688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644.7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−62.8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−263.9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−296.6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−269.4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−285.3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−30.1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+0.7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−187.1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−182.4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13632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913632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620FEF-C0EB-9128-141C-3B45B3343636}"/>
              </a:ext>
            </a:extLst>
          </p:cNvPr>
          <p:cNvSpPr/>
          <p:nvPr/>
        </p:nvSpPr>
        <p:spPr>
          <a:xfrm>
            <a:off x="6126480" y="5230367"/>
            <a:ext cx="5541264" cy="89362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budget: revenue is −9.7% below MF budget (฿581.9M vs ฿644.7M) and EBIT −11.0% — but NPAT is on plan (+฿0.2M): cost control and lower interest expense (loan repayment) offset the rate shortfall.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050" dirty="0">
                <a:solidFill>
                  <a:schemeClr val="tx1"/>
                </a:solidFill>
                <a:latin typeface="Calibri"/>
              </a:rPr>
              <a:t>Vs LY: revenue −1.4% and EBIT −2.6% (−฿3.9M); NPAT swings from −฿12.6M last year to +฿7.9M.</a:t>
            </a:r>
            <a:r>
              <a:rPr lang="en-US" sz="1050" dirty="0">
                <a:solidFill>
                  <a:schemeClr val="tx1"/>
                </a:solidFill>
                <a:latin typeface="Calibri"/>
              </a:rPr>
              <a:t> </a:t>
            </a:r>
            <a:r>
              <a:rPr lang="en-US" sz="105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(loan repayment in beginning of 2025 every properties exp. AES)</a:t>
            </a:r>
            <a:endParaRPr sz="1050" dirty="0">
              <a:solidFill>
                <a:schemeClr val="tx1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445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789618102"/>
              </p:ext>
            </p:extLst>
          </p:nvPr>
        </p:nvGraphicFramePr>
        <p:xfrm>
          <a:off x="548640" y="117957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6322424"/>
              </p:ext>
            </p:extLst>
          </p:nvPr>
        </p:nvGraphicFramePr>
        <p:xfrm>
          <a:off x="548640" y="3081528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r>
                        <a:rPr lang="th-TH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(Inc. BF)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79738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88882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10828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56548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+0.9%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 vs LY 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0556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29700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51645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297365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13739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05179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3924635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381835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1315661"/>
              </p:ext>
            </p:extLst>
          </p:nvPr>
        </p:nvGraphicFramePr>
        <p:xfrm>
          <a:off x="548640" y="5532391"/>
          <a:ext cx="7223759" cy="5209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7075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8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Ratchada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80DD613A-C645-1434-3717-58318C756372}"/>
              </a:ext>
            </a:extLst>
          </p:cNvPr>
          <p:cNvSpPr/>
          <p:nvPr/>
        </p:nvSpPr>
        <p:spPr>
          <a:xfrm>
            <a:off x="8092441" y="5009397"/>
            <a:ext cx="3547872" cy="116489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budget: SR9 runs close to budget for H1 — February outperformed strongly (CNY), May–Jun slightly behind on ADR.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Vs last year, occupancy is +4.8% better, turning RevPAR +1.3% above LY</a:t>
            </a:r>
            <a:r>
              <a:rPr lang="en-US" sz="1200" dirty="0">
                <a:solidFill>
                  <a:schemeClr val="tx1"/>
                </a:solidFill>
                <a:latin typeface="Calibri"/>
              </a:rPr>
              <a:t> even the lower ADR.</a:t>
            </a:r>
            <a:endParaRPr sz="1200" dirty="0">
              <a:solidFill>
                <a:schemeClr val="tx1"/>
              </a:solidFill>
              <a:latin typeface="Calibri"/>
            </a:endParaRPr>
          </a:p>
        </p:txBody>
      </p:sp>
      <p:sp>
        <p:nvSpPr>
          <p:cNvPr id="24" name="Star: 5 Points 23">
            <a:extLst>
              <a:ext uri="{FF2B5EF4-FFF2-40B4-BE49-F238E27FC236}">
                <a16:creationId xmlns:a16="http://schemas.microsoft.com/office/drawing/2014/main" id="{085E149A-219E-048A-BD83-F583723633F8}"/>
              </a:ext>
            </a:extLst>
          </p:cNvPr>
          <p:cNvSpPr/>
          <p:nvPr/>
        </p:nvSpPr>
        <p:spPr>
          <a:xfrm>
            <a:off x="2360519" y="161131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261BB2-B5CD-CA2C-CAD1-13190E89BC94}"/>
              </a:ext>
            </a:extLst>
          </p:cNvPr>
          <p:cNvSpPr txBox="1"/>
          <p:nvPr/>
        </p:nvSpPr>
        <p:spPr>
          <a:xfrm>
            <a:off x="2422733" y="156440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5914B7-5C3F-3890-0638-4319C6F84451}"/>
              </a:ext>
            </a:extLst>
          </p:cNvPr>
          <p:cNvSpPr/>
          <p:nvPr/>
        </p:nvSpPr>
        <p:spPr>
          <a:xfrm>
            <a:off x="548640" y="605332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Jubilee Hotel is under renovation 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730325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623560" y="5376672"/>
            <a:ext cx="6144768" cy="6586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gainers are all Asian: China (+1,792 RN), India (+1,219) and Thailand (+762).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Biggest decline: Korea (−757 RN) — in line with the national arrival trends.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1E0F99A-07E6-9F3C-B60A-8D2F5720F178}"/>
              </a:ext>
            </a:extLst>
          </p:cNvPr>
          <p:cNvSpPr txBox="1"/>
          <p:nvPr/>
        </p:nvSpPr>
        <p:spPr>
          <a:xfrm>
            <a:off x="9902953" y="4902032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949071" y="5668280"/>
            <a:ext cx="10290810" cy="106051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Around 30% of this property’s mix is corporate booking.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</a:rPr>
              <a:t>Online bookings also grew this year — and some corporate business is now mixed into OTA, since B2B channels book through the OTA as well.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</a:rPr>
              <a:t>ASR bookings grew too, but without any growth in ADR.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0255576"/>
              </p:ext>
            </p:extLst>
          </p:nvPr>
        </p:nvGraphicFramePr>
        <p:xfrm>
          <a:off x="548640" y="4142232"/>
          <a:ext cx="10290810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8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+30%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+26%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827511013"/>
              </p:ext>
            </p:extLst>
          </p:nvPr>
        </p:nvGraphicFramePr>
        <p:xfrm>
          <a:off x="548640" y="1560576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928554"/>
              </p:ext>
            </p:extLst>
          </p:nvPr>
        </p:nvGraphicFramePr>
        <p:xfrm>
          <a:off x="548640" y="379476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44.3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35.2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32.7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32.6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214.0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33822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-0.3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-3.9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-4.3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-4.9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-12.6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4022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5298128"/>
              </p:ext>
            </p:extLst>
          </p:nvPr>
        </p:nvGraphicFramePr>
        <p:xfrm>
          <a:off x="6094476" y="1441279"/>
          <a:ext cx="5545829" cy="2014728"/>
        </p:xfrm>
        <a:graphic>
          <a:graphicData uri="http://schemas.openxmlformats.org/drawingml/2006/table">
            <a:tbl>
              <a:tblPr/>
              <a:tblGrid>
                <a:gridCol w="8879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54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25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255">
                  <a:extLst>
                    <a:ext uri="{9D8B030D-6E8A-4147-A177-3AD203B41FA5}">
                      <a16:colId xmlns:a16="http://schemas.microsoft.com/office/drawing/2014/main" val="990002"/>
                    </a:ext>
                  </a:extLst>
                </a:gridCol>
                <a:gridCol w="5708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66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911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49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−84.3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−59.0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−61.9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−56.7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−59.3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43884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643884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099041" y="4960620"/>
            <a:ext cx="5541264" cy="122529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sz="1050" dirty="0">
                <a:solidFill>
                  <a:schemeClr val="tx1"/>
                </a:solidFill>
              </a:rPr>
              <a:t>Vs budget: revenue fell short; OPEX was managed −8.7% better, but GOP still missed on the revenue shortfall. EBIT is −11.3% below budget, while NPAT is +฿6.2M better — the MF projection assumed a DTA write-off in Q1–Q2 that has not been booked yet.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Vs LY: revenue is +0.6% better, but OPEX is also +0.6% higher, so GOP is similar to LY. EBIT comes in below LY (−฿1.7M, −3.2%). NPAT, however, beats LY — last year’s H1 carried a write-off.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393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662619336"/>
              </p:ext>
            </p:extLst>
          </p:nvPr>
        </p:nvGraphicFramePr>
        <p:xfrm>
          <a:off x="548640" y="145040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079832"/>
              </p:ext>
            </p:extLst>
          </p:nvPr>
        </p:nvGraphicFramePr>
        <p:xfrm>
          <a:off x="548640" y="337979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10605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19749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41695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87415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+3.8%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51423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60567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82513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28233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392241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01385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23330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69050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04667"/>
              </p:ext>
            </p:extLst>
          </p:nvPr>
        </p:nvGraphicFramePr>
        <p:xfrm>
          <a:off x="548640" y="5722435"/>
          <a:ext cx="7254240" cy="43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5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Sathorn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042657A-38F5-05E9-69C0-CC8F0E5684DA}"/>
              </a:ext>
            </a:extLst>
          </p:cNvPr>
          <p:cNvSpPr/>
          <p:nvPr/>
        </p:nvSpPr>
        <p:spPr>
          <a:xfrm>
            <a:off x="8002653" y="5330586"/>
            <a:ext cx="3700014" cy="1182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last year, AES did well on occupancy (+3.8%) but could not yield ADR, turning RevPAR −2.2% below LY.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latin typeface="Calibri"/>
              </a:rPr>
              <a:t>Vs the MF budget: occupancy fell −1.7% short and ADR −4.4%, so RevPAR lands −6.0% below budget.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D852618-9757-829B-F4B2-86B28B79343D}"/>
              </a:ext>
            </a:extLst>
          </p:cNvPr>
          <p:cNvSpPr/>
          <p:nvPr/>
        </p:nvSpPr>
        <p:spPr>
          <a:xfrm>
            <a:off x="2360519" y="232663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DB09A-B544-49E2-864F-2528EDEBF468}"/>
              </a:ext>
            </a:extLst>
          </p:cNvPr>
          <p:cNvSpPr txBox="1"/>
          <p:nvPr/>
        </p:nvSpPr>
        <p:spPr>
          <a:xfrm>
            <a:off x="2422733" y="227972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449107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8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24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58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4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+2,867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+5213%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4,730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-2,326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-49%</a:t>
                      </a:r>
                      <a:endParaRPr lang="en-US" sz="85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4,387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4,407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-1,043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31,893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+4,050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37B99E0-1A5C-40A8-3BAC-0D81FAEFE87E}"/>
              </a:ext>
            </a:extLst>
          </p:cNvPr>
          <p:cNvSpPr/>
          <p:nvPr/>
        </p:nvSpPr>
        <p:spPr>
          <a:xfrm>
            <a:off x="5623560" y="4839513"/>
            <a:ext cx="6144768" cy="95778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three: China, Japan and Finland — AES is diversifying its guest mix into new nationalities.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Biggest H1 gain: Finland (+2,867 RN, from just 55 last year); biggest decline: Korea (−910 RN).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3BDAA7-0CA8-D415-B5EB-F239636C9D48}"/>
              </a:ext>
            </a:extLst>
          </p:cNvPr>
          <p:cNvSpPr txBox="1"/>
          <p:nvPr/>
        </p:nvSpPr>
        <p:spPr>
          <a:xfrm>
            <a:off x="9800316" y="1128135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183636"/>
              </p:ext>
            </p:extLst>
          </p:nvPr>
        </p:nvGraphicFramePr>
        <p:xfrm>
          <a:off x="606668" y="4169663"/>
          <a:ext cx="11033643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672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210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5067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121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2,506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-2.0%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2,572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-26.2%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328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5651FEDD-6C98-3066-EAC5-4EFD49D4CA2F}"/>
              </a:ext>
            </a:extLst>
          </p:cNvPr>
          <p:cNvSpPr/>
          <p:nvPr/>
        </p:nvSpPr>
        <p:spPr>
          <a:xfrm>
            <a:off x="599049" y="5695293"/>
            <a:ext cx="11117579" cy="8518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is the largest segment at 36%, followed by online at 34%. Corporate LS/SS has grown 30–40% vs H1 last year and group bookings are +185% — AES is clearly shifting to secure group business, which can pull the rate down.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</a:rPr>
              <a:t>ASR bookings grew +50% (Ascott is pushing ASR) but still fall short on rate.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</a:rPr>
              <a:t>Wholesale cannot be grown: leisure retail prices in this area are low and rate-cutting competition is intense.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922159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3087451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30.9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33.7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204.0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755693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-0.4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-1.7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453427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827674"/>
              </p:ext>
            </p:extLst>
          </p:nvPr>
        </p:nvGraphicFramePr>
        <p:xfrm>
          <a:off x="6096000" y="1444752"/>
          <a:ext cx="5544308" cy="2014728"/>
        </p:xfrm>
        <a:graphic>
          <a:graphicData uri="http://schemas.openxmlformats.org/drawingml/2006/table">
            <a:tbl>
              <a:tblPr/>
              <a:tblGrid>
                <a:gridCol w="8876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2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23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061">
                  <a:extLst>
                    <a:ext uri="{9D8B030D-6E8A-4147-A177-3AD203B41FA5}">
                      <a16:colId xmlns:a16="http://schemas.microsoft.com/office/drawing/2014/main" val="990003"/>
                    </a:ext>
                  </a:extLst>
                </a:gridCol>
                <a:gridCol w="5706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65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89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48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−83.6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−89.0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−97.2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+1.9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−62.1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−69.7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−64.8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−69.5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−15.4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94760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794760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DBF112-735C-614B-84E3-1A51FC1B75C3}"/>
              </a:ext>
            </a:extLst>
          </p:cNvPr>
          <p:cNvSpPr/>
          <p:nvPr/>
        </p:nvSpPr>
        <p:spPr>
          <a:xfrm>
            <a:off x="6099044" y="5143091"/>
            <a:ext cx="5541264" cy="93407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sz="950" dirty="0">
                <a:solidFill>
                  <a:schemeClr val="tx1"/>
                </a:solidFill>
              </a:rPr>
              <a:t>Vs budget: the revenue shortfall is large (−12%), but GOP margin beats budget on OPEX control and JV expense is better — so the EBIT and NPAT gaps end up much smaller.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LY: revenue is down −3.3%, but OPEX is −6.0% better (~฿6M, mainly leasing commission ~฿6.56M), GOP margin improves +2.5%, and JV expense is lower (house &amp; building tax was over-accrued last year; the 2026 tax is already paid) — so EBIT and NPAT both beat LY.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94412409"/>
              </p:ext>
            </p:extLst>
          </p:nvPr>
        </p:nvGraphicFramePr>
        <p:xfrm>
          <a:off x="548640" y="150912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92410"/>
              </p:ext>
            </p:extLst>
          </p:nvPr>
        </p:nvGraphicFramePr>
        <p:xfrm>
          <a:off x="548640" y="3438509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50531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41971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561427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2018627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65870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5014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96960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42680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/>
          </a:p>
        </p:txBody>
      </p:sp>
      <p:sp>
        <p:nvSpPr>
          <p:cNvPr id="16" name="Shape 12"/>
          <p:cNvSpPr/>
          <p:nvPr/>
        </p:nvSpPr>
        <p:spPr>
          <a:xfrm>
            <a:off x="8092440" y="406688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5832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37777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83497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1881467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017172"/>
            <a:ext cx="134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8817825"/>
              </p:ext>
            </p:extLst>
          </p:nvPr>
        </p:nvGraphicFramePr>
        <p:xfrm>
          <a:off x="548639" y="5815584"/>
          <a:ext cx="7223761" cy="539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3833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6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Nana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009D7BE-0C30-75EF-D95B-DAC73202CC61}"/>
              </a:ext>
            </a:extLst>
          </p:cNvPr>
          <p:cNvSpPr/>
          <p:nvPr/>
        </p:nvSpPr>
        <p:spPr>
          <a:xfrm>
            <a:off x="8092440" y="5416574"/>
            <a:ext cx="3685031" cy="12618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LYF ran a strong Q1 above budget, then April dropped sharply (occupancy 50% vs the 83% budgeted, −39%) — recovering since May.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Overall, LYF misses budget and is softer than last year as well — mostly from the ADR drop.</a:t>
            </a:r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83C81148-CF98-6919-ADF7-17585537339E}"/>
              </a:ext>
            </a:extLst>
          </p:cNvPr>
          <p:cNvSpPr/>
          <p:nvPr/>
        </p:nvSpPr>
        <p:spPr>
          <a:xfrm>
            <a:off x="2360519" y="1953022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74E54-1F9B-300F-5F5A-F1341EB8E485}"/>
              </a:ext>
            </a:extLst>
          </p:cNvPr>
          <p:cNvSpPr txBox="1"/>
          <p:nvPr/>
        </p:nvSpPr>
        <p:spPr>
          <a:xfrm>
            <a:off x="2422733" y="1906110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2B9E0D7-5E76-4453-A155-36E0B95DD358}"/>
              </a:ext>
            </a:extLst>
          </p:cNvPr>
          <p:cNvSpPr/>
          <p:nvPr/>
        </p:nvSpPr>
        <p:spPr>
          <a:xfrm>
            <a:off x="5623560" y="5104943"/>
            <a:ext cx="6144768" cy="96408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Top nationalities: China, Indonesia, Malaysia and Singapore.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</a:rPr>
              <a:t>Key gains come from Indonesia (+2,017 RN, +198%) and China (+1,312 RN, +28%), while the USA and UK dropped — the higher-spending nationalities have faded, which helps explain the ADR drop.</a:t>
            </a:r>
          </a:p>
        </p:txBody>
      </p:sp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ECB97440-7C84-E1C3-821B-4672A7CE1D25}"/>
              </a:ext>
            </a:extLst>
          </p:cNvPr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Table 0">
            <a:extLst>
              <a:ext uri="{FF2B5EF4-FFF2-40B4-BE49-F238E27FC236}">
                <a16:creationId xmlns:a16="http://schemas.microsoft.com/office/drawing/2014/main" id="{222B76A0-8DD3-2542-EC9A-D9FAE5428B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8280981"/>
              </p:ext>
            </p:extLst>
          </p:nvPr>
        </p:nvGraphicFramePr>
        <p:xfrm>
          <a:off x="5623560" y="1759549"/>
          <a:ext cx="6144768" cy="316687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18,498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+1,961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8934294"/>
              </p:ext>
            </p:extLst>
          </p:nvPr>
        </p:nvGraphicFramePr>
        <p:xfrm>
          <a:off x="548639" y="4120773"/>
          <a:ext cx="10075212" cy="14805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145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dirty="0"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dirty="0"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05E6024-1FFD-E8D1-D9D2-621DDA6573DD}"/>
              </a:ext>
            </a:extLst>
          </p:cNvPr>
          <p:cNvSpPr/>
          <p:nvPr/>
        </p:nvSpPr>
        <p:spPr>
          <a:xfrm>
            <a:off x="548640" y="5735503"/>
            <a:ext cx="10075212" cy="7498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Largest segment YTD: Online (66% of room nights). Even as OTA volume grew +3%, the OTA rate itself dropped −8%.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</a:rPr>
              <a:t>(To verify: could the low rate come from rooms sold into Corporate LS? — LS is only ~0.7% of room nights, so the main driver is the OTA rate itself.)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4248437"/>
              </p:ext>
            </p:extLst>
          </p:nvPr>
        </p:nvGraphicFramePr>
        <p:xfrm>
          <a:off x="548640" y="3886200"/>
          <a:ext cx="5394956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8.9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6.2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5.7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43.6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51833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-2.8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-9.2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25286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882543"/>
              </p:ext>
            </p:extLst>
          </p:nvPr>
        </p:nvGraphicFramePr>
        <p:xfrm>
          <a:off x="6126480" y="1508760"/>
          <a:ext cx="5513826" cy="2014728"/>
        </p:xfrm>
        <a:graphic>
          <a:graphicData uri="http://schemas.openxmlformats.org/drawingml/2006/table">
            <a:tbl>
              <a:tblPr/>
              <a:tblGrid>
                <a:gridCol w="882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0178">
                  <a:extLst>
                    <a:ext uri="{9D8B030D-6E8A-4147-A177-3AD203B41FA5}">
                      <a16:colId xmlns:a16="http://schemas.microsoft.com/office/drawing/2014/main" val="990004"/>
                    </a:ext>
                  </a:extLst>
                </a:gridCol>
                <a:gridCol w="567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29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565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14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−22.6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−19.1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−14.0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−9.0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66745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58185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3977641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434841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666745"/>
            <a:ext cx="2651760" cy="1225295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58185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3977641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434841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C6AF7-3646-F2BB-1218-B97791D953AC}"/>
              </a:ext>
            </a:extLst>
          </p:cNvPr>
          <p:cNvSpPr/>
          <p:nvPr/>
        </p:nvSpPr>
        <p:spPr>
          <a:xfrm>
            <a:off x="6099048" y="5111496"/>
            <a:ext cx="5541264" cy="9875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sz="950" dirty="0">
                <a:solidFill>
                  <a:schemeClr val="tx1"/>
                </a:solidFill>
              </a:rPr>
              <a:t>Vs budget: revenue −8.4% short, GOP margin −4.6% and EBIT −35% below budget. NPAT is in line with budget (the MF projection carried a ~฿2M interest-and-tax buffer).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LY: revenue is −5.8% and OPEX is higher on marketing (online PR and website costs); GOP is −12% and JV expense is up (house &amp; building tax for three past years) — so EBIT drops on the weak revenue and NPAT is negative.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324 keys · monthly + YTD Jan–Jun · actual vs MF Projection and actual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17979996"/>
              </p:ext>
            </p:extLst>
          </p:nvPr>
        </p:nvGraphicFramePr>
        <p:xfrm>
          <a:off x="548640" y="150542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516604"/>
              </p:ext>
            </p:extLst>
          </p:nvPr>
        </p:nvGraphicFramePr>
        <p:xfrm>
          <a:off x="548640" y="343481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0700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2984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/>
          </a:p>
        </p:txBody>
      </p:sp>
      <p:sp>
        <p:nvSpPr>
          <p:cNvPr id="10" name="Text 6"/>
          <p:cNvSpPr/>
          <p:nvPr/>
        </p:nvSpPr>
        <p:spPr>
          <a:xfrm>
            <a:off x="8238744" y="151790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/>
          </a:p>
        </p:txBody>
      </p:sp>
      <p:sp>
        <p:nvSpPr>
          <p:cNvPr id="11" name="Text 7"/>
          <p:cNvSpPr/>
          <p:nvPr/>
        </p:nvSpPr>
        <p:spPr>
          <a:xfrm>
            <a:off x="8238744" y="197510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+5.3% vs LY</a:t>
            </a:r>
            <a:endParaRPr lang="en-US" sz="1050"/>
          </a:p>
        </p:txBody>
      </p:sp>
      <p:sp>
        <p:nvSpPr>
          <p:cNvPr id="12" name="Shape 8"/>
          <p:cNvSpPr/>
          <p:nvPr/>
        </p:nvSpPr>
        <p:spPr>
          <a:xfrm>
            <a:off x="8092440" y="261518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06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/>
          </a:p>
        </p:txBody>
      </p:sp>
      <p:sp>
        <p:nvSpPr>
          <p:cNvPr id="14" name="Text 10"/>
          <p:cNvSpPr/>
          <p:nvPr/>
        </p:nvSpPr>
        <p:spPr>
          <a:xfrm>
            <a:off x="8238744" y="292608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/>
          </a:p>
        </p:txBody>
      </p:sp>
      <p:sp>
        <p:nvSpPr>
          <p:cNvPr id="15" name="Text 11"/>
          <p:cNvSpPr/>
          <p:nvPr/>
        </p:nvSpPr>
        <p:spPr>
          <a:xfrm>
            <a:off x="8238744" y="338328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2336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148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/>
          </a:p>
        </p:txBody>
      </p:sp>
      <p:sp>
        <p:nvSpPr>
          <p:cNvPr id="18" name="Text 14"/>
          <p:cNvSpPr/>
          <p:nvPr/>
        </p:nvSpPr>
        <p:spPr>
          <a:xfrm>
            <a:off x="8238744" y="433425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/>
          </a:p>
        </p:txBody>
      </p:sp>
      <p:sp>
        <p:nvSpPr>
          <p:cNvPr id="19" name="Text 15"/>
          <p:cNvSpPr/>
          <p:nvPr/>
        </p:nvSpPr>
        <p:spPr>
          <a:xfrm>
            <a:off x="8238744" y="479145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1187895"/>
              </p:ext>
            </p:extLst>
          </p:nvPr>
        </p:nvGraphicFramePr>
        <p:xfrm>
          <a:off x="548639" y="5879592"/>
          <a:ext cx="7223759" cy="4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lang="en-US" sz="800" b="1">
                          <a:solidFill>
                            <a:srgbClr val="26292E"/>
                          </a:solidFill>
                          <a:latin typeface="+mn-lt"/>
                        </a:rPr>
                        <a:t>SP </a:t>
                      </a:r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F57ED365-6DDA-DCF0-69C7-5C3A3B0C0D13}"/>
              </a:ext>
            </a:extLst>
          </p:cNvPr>
          <p:cNvSpPr/>
          <p:nvPr/>
        </p:nvSpPr>
        <p:spPr>
          <a:xfrm>
            <a:off x="8092440" y="5431536"/>
            <a:ext cx="3864065" cy="126187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</a:t>
            </a:r>
          </a:p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was ahead of budget in the Jan–Feb high season and broadly on plan in Mar–Jun.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Vs LY: occupancy +5.3% and RevPAR similar to LY.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  <a:latin typeface="Calibri"/>
              </a:rPr>
              <a:t>Vs budget: occupancy +0.2%, but RevPAR −3.5% — the ADR could not be yielded as planned.</a:t>
            </a: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5E50704-22E1-8877-4752-4E965043C5AE}"/>
              </a:ext>
            </a:extLst>
          </p:cNvPr>
          <p:cNvSpPr/>
          <p:nvPr/>
        </p:nvSpPr>
        <p:spPr>
          <a:xfrm>
            <a:off x="2360519" y="2066004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F822C5-D574-4395-6623-DF5CFB1ED427}"/>
              </a:ext>
            </a:extLst>
          </p:cNvPr>
          <p:cNvSpPr txBox="1"/>
          <p:nvPr/>
        </p:nvSpPr>
        <p:spPr>
          <a:xfrm>
            <a:off x="2422733" y="2019092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>
                <a:solidFill>
                  <a:srgbClr val="FF0000"/>
                </a:solidFill>
              </a:rPr>
              <a:t>CNY</a:t>
            </a:r>
            <a:endParaRPr 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C7DA9E-C2B9-74A4-27CD-55B766BD75B7}"/>
              </a:ext>
            </a:extLst>
          </p:cNvPr>
          <p:cNvSpPr/>
          <p:nvPr/>
        </p:nvSpPr>
        <p:spPr>
          <a:xfrm>
            <a:off x="5623560" y="5026900"/>
            <a:ext cx="6144768" cy="8702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Top gainers: China (+805 RN), Thailand (+639) and Israel (+639), with Russia and Australia also up.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</a:rPr>
              <a:t>Biggest decline: United States (−965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1200" dirty="0">
                <a:solidFill>
                  <a:schemeClr val="tx1"/>
                </a:solidFill>
              </a:rPr>
              <a:t>ADR improved for India and the US.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E4D1E-69B7-E433-D597-328D5366FC59}"/>
              </a:ext>
            </a:extLst>
          </p:cNvPr>
          <p:cNvSpPr txBox="1"/>
          <p:nvPr/>
        </p:nvSpPr>
        <p:spPr>
          <a:xfrm>
            <a:off x="9902952" y="1266441"/>
            <a:ext cx="784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>
                <a:solidFill>
                  <a:srgbClr val="FF0000"/>
                </a:solidFill>
              </a:rPr>
              <a:t>*Not included BF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608273"/>
              </p:ext>
            </p:extLst>
          </p:nvPr>
        </p:nvGraphicFramePr>
        <p:xfrm>
          <a:off x="548639" y="4203192"/>
          <a:ext cx="11091671" cy="1359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1B85CAA-8BB5-CE77-F0F1-5557DEC5E4DA}"/>
              </a:ext>
            </a:extLst>
          </p:cNvPr>
          <p:cNvSpPr/>
          <p:nvPr/>
        </p:nvSpPr>
        <p:spPr>
          <a:xfrm>
            <a:off x="548639" y="5645229"/>
            <a:ext cx="11117579" cy="7098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ASR is increasing — Ascott seems to be </a:t>
            </a:r>
            <a:r>
              <a:rPr lang="en-US" sz="1200" dirty="0" err="1">
                <a:solidFill>
                  <a:schemeClr val="tx1"/>
                </a:solidFill>
              </a:rPr>
              <a:t>emphasising</a:t>
            </a:r>
            <a:r>
              <a:rPr lang="en-US" sz="1200" dirty="0">
                <a:solidFill>
                  <a:schemeClr val="tx1"/>
                </a:solidFill>
              </a:rPr>
              <a:t> its leisure brand, promoting leisure properties like SP more.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7913622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37.0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28.8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30.8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26.0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23.1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183.1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871696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50" b="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</a:t>
                      </a:r>
                      <a:r>
                        <a:rPr lang="en-US" sz="750" b="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75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9.6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4.0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5.3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2.4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0.6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75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B0004020202020204" pitchFamily="34" charset="0"/>
                        </a:rPr>
                        <a:t>31.1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495965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94740"/>
              </p:ext>
            </p:extLst>
          </p:nvPr>
        </p:nvGraphicFramePr>
        <p:xfrm>
          <a:off x="6126481" y="1442089"/>
          <a:ext cx="5513826" cy="2014728"/>
        </p:xfrm>
        <a:graphic>
          <a:graphicData uri="http://schemas.openxmlformats.org/drawingml/2006/table">
            <a:tbl>
              <a:tblPr/>
              <a:tblGrid>
                <a:gridCol w="8822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8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9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0178">
                  <a:extLst>
                    <a:ext uri="{9D8B030D-6E8A-4147-A177-3AD203B41FA5}">
                      <a16:colId xmlns:a16="http://schemas.microsoft.com/office/drawing/2014/main" val="990005"/>
                    </a:ext>
                  </a:extLst>
                </a:gridCol>
                <a:gridCol w="567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29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356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140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(฿M)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−74.4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−82.4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−75.1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−75.9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−8.6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−39.9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−41.6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−39.2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−41.0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−6.9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31.1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−5.4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</a:t>
                      </a:r>
                      <a:endParaRPr lang="en-US" sz="85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85616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/>
          </a:p>
        </p:txBody>
      </p:sp>
      <p:sp>
        <p:nvSpPr>
          <p:cNvPr id="11" name="Text 6"/>
          <p:cNvSpPr/>
          <p:nvPr/>
        </p:nvSpPr>
        <p:spPr>
          <a:xfrm>
            <a:off x="6272784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/>
          </a:p>
        </p:txBody>
      </p:sp>
      <p:sp>
        <p:nvSpPr>
          <p:cNvPr id="12" name="Text 7"/>
          <p:cNvSpPr/>
          <p:nvPr/>
        </p:nvSpPr>
        <p:spPr>
          <a:xfrm>
            <a:off x="6272784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/>
          </a:p>
        </p:txBody>
      </p:sp>
      <p:sp>
        <p:nvSpPr>
          <p:cNvPr id="13" name="Shape 8"/>
          <p:cNvSpPr/>
          <p:nvPr/>
        </p:nvSpPr>
        <p:spPr>
          <a:xfrm>
            <a:off x="8988552" y="3785616"/>
            <a:ext cx="2651760" cy="1225296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/>
          </a:p>
        </p:txBody>
      </p:sp>
      <p:sp>
        <p:nvSpPr>
          <p:cNvPr id="15" name="Text 10"/>
          <p:cNvSpPr/>
          <p:nvPr/>
        </p:nvSpPr>
        <p:spPr>
          <a:xfrm>
            <a:off x="9134856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/>
          </a:p>
        </p:txBody>
      </p:sp>
      <p:sp>
        <p:nvSpPr>
          <p:cNvPr id="16" name="Text 11"/>
          <p:cNvSpPr/>
          <p:nvPr/>
        </p:nvSpPr>
        <p:spPr>
          <a:xfrm>
            <a:off x="9134856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CC5E7-EBE5-6B3E-61A8-7E1250831288}"/>
              </a:ext>
            </a:extLst>
          </p:cNvPr>
          <p:cNvSpPr/>
          <p:nvPr/>
        </p:nvSpPr>
        <p:spPr>
          <a:xfrm>
            <a:off x="6099048" y="5102352"/>
            <a:ext cx="5541264" cy="9875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50" dirty="0">
                <a:solidFill>
                  <a:schemeClr val="tx1"/>
                </a:solidFill>
              </a:rPr>
              <a:t>Vs budget: revenue fell short; OPEX was managed −9.8% better, but GOP still missed on the low revenue. JV expense was −4.0% better than budget; even so, the revenue shortfall leaves EBIT and NPAT below plan.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sz="950" dirty="0">
                <a:solidFill>
                  <a:schemeClr val="tx1"/>
                </a:solidFill>
              </a:rPr>
              <a:t>Vs LY: revenue is similar and OPEX slightly better, but JV expense is higher, making EBIT lower. NPAT improves — no bank loan in H1 this year, unlike last year.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/>
          </a:p>
        </p:txBody>
      </p:sp>
      <p:sp>
        <p:nvSpPr>
          <p:cNvPr id="6" name="TextBox 5"/>
          <p:cNvSpPr txBox="1"/>
          <p:nvPr/>
        </p:nvSpPr>
        <p:spPr>
          <a:xfrm>
            <a:off x="548640" y="1353979"/>
            <a:ext cx="766364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ARRIVALS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65459"/>
            <a:ext cx="5440680" cy="782265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Thailand H1 arrivals: 15.87M reported, −4.9% vs 2025 — adding back the MOTS 4-day June data loss, the estimate is 16.16M = −3.2%: soft, but not a collapse.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Middle East fell hardest in %: −28.5% vs LY, collapsing from February onward (the war broke out at the end of January) — Feb −52%, Apr −57%.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05291"/>
            <a:ext cx="2664319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lang="en-US" sz="1300" b="1">
                <a:solidFill>
                  <a:srgbClr val="1E2761"/>
                </a:solidFill>
                <a:latin typeface="Calibri"/>
              </a:rPr>
              <a:t>THE </a:t>
            </a:r>
            <a:r>
              <a:rPr sz="1300" b="1">
                <a:solidFill>
                  <a:srgbClr val="1E2761"/>
                </a:solidFill>
                <a:latin typeface="Calibri"/>
              </a:rPr>
              <a:t>MARKETS</a:t>
            </a:r>
            <a:r>
              <a:rPr lang="en-US" sz="1300" b="1">
                <a:solidFill>
                  <a:srgbClr val="1E2761"/>
                </a:solidFill>
                <a:latin typeface="Calibri"/>
              </a:rPr>
              <a:t> AND OUR PROPERTIES</a:t>
            </a:r>
            <a:endParaRPr sz="1300" b="1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3116771"/>
            <a:ext cx="5440680" cy="1033616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That is exactly what STR shows for Bangkok: occupancy UP (+2.3%) but ADR DOWN (−1.4%).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By class, only Luxury held rate (+1.1% ADR); every other class traded rate for occupancy — and our portfolio competes in those classes. That is why yielding ADR is this year’s challenge.</a:t>
            </a:r>
          </a:p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Pattaya: arrivals below LY (−2.7%) and market RevPAR −2.3% — yet SP outperformed its market (Occ +5.3%, RevPAR +0.2% vs LY).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89A2F7-AAFF-4D60-CE37-A169F9AF336E}"/>
              </a:ext>
            </a:extLst>
          </p:cNvPr>
          <p:cNvSpPr txBox="1"/>
          <p:nvPr/>
        </p:nvSpPr>
        <p:spPr>
          <a:xfrm>
            <a:off x="548640" y="746198"/>
            <a:ext cx="609755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</a:t>
            </a:r>
            <a:endParaRPr lang="en-US" sz="280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E0171A-59D5-0060-907E-965A38D946E2}"/>
              </a:ext>
            </a:extLst>
          </p:cNvPr>
          <p:cNvSpPr txBox="1"/>
          <p:nvPr/>
        </p:nvSpPr>
        <p:spPr>
          <a:xfrm>
            <a:off x="6537483" y="746198"/>
            <a:ext cx="5204586" cy="5232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indent="0">
              <a:buNone/>
            </a:pPr>
            <a:r>
              <a:rPr lang="en-US" sz="28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Recommendation</a:t>
            </a:r>
            <a:endParaRPr lang="en-US" err="1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6F37F4-0918-5BE3-7988-46313A3A22FF}"/>
              </a:ext>
            </a:extLst>
          </p:cNvPr>
          <p:cNvSpPr txBox="1"/>
          <p:nvPr/>
        </p:nvSpPr>
        <p:spPr>
          <a:xfrm>
            <a:off x="6419088" y="1764792"/>
            <a:ext cx="5129784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lang="en-US" sz="1050" dirty="0"/>
              <a:t>• </a:t>
            </a:r>
            <a:r>
              <a:rPr lang="en-US" sz="1050" b="1" dirty="0"/>
              <a:t>Push rate only in high season (Q4–Q1)</a:t>
            </a:r>
            <a:r>
              <a:rPr lang="en-US" sz="1050" dirty="0"/>
              <a:t> — Q2–Q3 demand shifts </a:t>
            </a:r>
            <a:r>
              <a:rPr lang="en-US" sz="1050" dirty="0" err="1"/>
              <a:t>leisure→corporate</a:t>
            </a:r>
            <a:r>
              <a:rPr lang="en-US" sz="1050" dirty="0"/>
              <a:t>; raising ADR there just loses traffic.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Reduce the China reliance</a:t>
            </a:r>
            <a:r>
              <a:rPr lang="en-US" sz="1050" dirty="0"/>
              <a:t> — it now dominates our mix but books below-average rates, capping ADR.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Rebalance toward higher-ADR guests</a:t>
            </a:r>
            <a:r>
              <a:rPr lang="en-US" sz="1050" dirty="0"/>
              <a:t> — long-haul (EU/USA) is at record levels; set a nationality-mix target with Ascott, not just a rate target.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Keep the cost discipline</a:t>
            </a:r>
            <a:r>
              <a:rPr lang="en-US" sz="1050" dirty="0"/>
              <a:t> — revenue missed budget by −9.7%, yet portfolio NPAT is still on plan thanks to OPEX control; make protecting this a standing order for H2.</a:t>
            </a:r>
          </a:p>
          <a:p>
            <a:r>
              <a:rPr lang="en-US" sz="1050" dirty="0"/>
              <a:t>• </a:t>
            </a:r>
            <a:r>
              <a:rPr lang="en-US" sz="1050" b="1" dirty="0"/>
              <a:t>Review low-rate wholesale deals</a:t>
            </a:r>
            <a:r>
              <a:rPr lang="en-US" sz="1050" dirty="0"/>
              <a:t> — AES's Finland case (55 → 2,922 room nights at half the rate) shows how these deals buy occupancy at the cost of ADR; every property should review such contracts before renewal.</a:t>
            </a:r>
          </a:p>
        </p:txBody>
      </p:sp>
      <p:sp>
        <p:nvSpPr>
          <p:cNvPr id="4" name="TextBox 5"/>
          <p:cNvSpPr txBox="1"/>
          <p:nvPr/>
        </p:nvSpPr>
        <p:spPr>
          <a:xfrm>
            <a:off x="6419088" y="1353312"/>
            <a:ext cx="2926080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ACTIONS FOR H2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548640" y="4306824"/>
            <a:ext cx="1828800" cy="246221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P&amp;L</a:t>
            </a:r>
          </a:p>
        </p:txBody>
      </p:sp>
      <p:sp>
        <p:nvSpPr>
          <p:cNvPr id="11" name="TextBox 6"/>
          <p:cNvSpPr txBox="1"/>
          <p:nvPr/>
        </p:nvSpPr>
        <p:spPr>
          <a:xfrm>
            <a:off x="548640" y="4718304"/>
            <a:ext cx="5440680" cy="12801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 dirty="0">
                <a:solidFill>
                  <a:srgbClr val="26292E"/>
                </a:solidFill>
                <a:latin typeface="Calibri"/>
              </a:rPr>
              <a:t>• Revenue closed −9.7% below MF budget on the rate shortfall — but OPEX control kept portfolio NPAT on plan (+฿0.3M); EBIT −11.0% vs budget.</a:t>
            </a:r>
          </a:p>
          <a:p>
            <a:r>
              <a:rPr sz="1050">
                <a:solidFill>
                  <a:srgbClr val="26292E"/>
                </a:solidFill>
                <a:latin typeface="Calibri"/>
              </a:rPr>
              <a:t>• Every property missed its revenue budget (−8% to −12%); keeping the H1 cost discipline is what protects the bottom line in H2.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B789EF4-9820-4A59-9D05-AF608D83E433}">
  <ds:schemaRefs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purl.org/dc/elements/1.1/"/>
    <ds:schemaRef ds:uri="http://schemas.openxmlformats.org/package/2006/metadata/core-properties"/>
    <ds:schemaRef ds:uri="http://purl.org/dc/dcmitype/"/>
    <ds:schemaRef ds:uri="570ce379-ef9e-488e-8e74-44d887057c06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DB74C21-A0DA-4EDB-999A-8BD9B5CF7863}">
  <ds:schemaRefs>
    <ds:schemaRef ds:uri="570ce379-ef9e-488e-8e74-44d887057c0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8698</Words>
  <Application>Microsoft Office PowerPoint</Application>
  <PresentationFormat>Widescreen</PresentationFormat>
  <Paragraphs>2923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3</cp:revision>
  <dcterms:created xsi:type="dcterms:W3CDTF">2026-07-24T09:01:49Z</dcterms:created>
  <dcterms:modified xsi:type="dcterms:W3CDTF">2026-08-19T02:46:23Z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