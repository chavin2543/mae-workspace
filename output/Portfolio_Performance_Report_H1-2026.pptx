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9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10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11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notesSlides/notesSlide14.xml" ContentType="application/vnd.openxmlformats-officedocument.presentationml.notes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9.xml" ContentType="application/vnd.openxmlformats-officedocument.drawingml.chart+xml"/>
  <Override PartName="/ppt/notesSlides/notesSlide20.xml" ContentType="application/vnd.openxmlformats-officedocument.presentationml.notesSlide+xml"/>
  <Override PartName="/ppt/charts/chart20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21.xml" ContentType="application/vnd.openxmlformats-officedocument.drawingml.chart+xml"/>
  <Override PartName="/ppt/notesSlides/notesSlide23.xml" ContentType="application/vnd.openxmlformats-officedocument.presentationml.notesSlide+xml"/>
  <Override PartName="/ppt/charts/chart22.xml" ContentType="application/vnd.openxmlformats-officedocument.drawingml.chart+xml"/>
  <Override PartName="/ppt/notesSlides/notesSlide24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25.xml" ContentType="application/vnd.openxmlformats-officedocument.presentationml.notesSlide+xml"/>
  <Override PartName="/ppt/charts/chart25.xml" ContentType="application/vnd.openxmlformats-officedocument.drawingml.chart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rts/chart26.xml" ContentType="application/vnd.openxmlformats-officedocument.drawingml.chart+xml"/>
  <Override PartName="/ppt/notesSlides/notesSlide28.xml" ContentType="application/vnd.openxmlformats-officedocument.presentationml.notesSlide+xml"/>
  <Override PartName="/ppt/charts/chart27.xml" ContentType="application/vnd.openxmlformats-officedocument.drawingml.chart+xml"/>
  <Override PartName="/ppt/notesSlides/notesSlide29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notesSlides/notesSlide30.xml" ContentType="application/vnd.openxmlformats-officedocument.presentationml.notesSlide+xml"/>
  <Override PartName="/ppt/charts/chart30.xml" ContentType="application/vnd.openxmlformats-officedocument.drawingml.chart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rts/chart31.xml" ContentType="application/vnd.openxmlformats-officedocument.drawingml.chart+xml"/>
  <Override PartName="/ppt/notesSlides/notesSlide33.xml" ContentType="application/vnd.openxmlformats-officedocument.presentationml.notesSlide+xml"/>
  <Override PartName="/ppt/charts/chart32.xml" ContentType="application/vnd.openxmlformats-officedocument.drawingml.chart+xml"/>
  <Override PartName="/ppt/notesSlides/notesSlide34.xml" ContentType="application/vnd.openxmlformats-officedocument.presentationml.notesSlide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notesSlides/notesSlide35.xml" ContentType="application/vnd.openxmlformats-officedocument.presentationml.notesSlide+xml"/>
  <Override PartName="/ppt/charts/chart35.xml" ContentType="application/vnd.openxmlformats-officedocument.drawingml.chart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rts/chart36.xml" ContentType="application/vnd.openxmlformats-officedocument.drawingml.chart+xml"/>
  <Override PartName="/ppt/notesSlides/notesSlide38.xml" ContentType="application/vnd.openxmlformats-officedocument.presentationml.notesSlide+xml"/>
  <Override PartName="/ppt/charts/chart37.xml" ContentType="application/vnd.openxmlformats-officedocument.drawingml.chart+xml"/>
  <Override PartName="/ppt/notesSlides/notesSlide39.xml" ContentType="application/vnd.openxmlformats-officedocument.presentationml.notes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notesSlides/notesSlide40.xml" ContentType="application/vnd.openxmlformats-officedocument.presentationml.notesSlide+xml"/>
  <Override PartName="/ppt/charts/chart40.xml" ContentType="application/vnd.openxmlformats-officedocument.drawingml.chart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319" r:id="rId13"/>
    <p:sldId id="318" r:id="rId14"/>
    <p:sldId id="264" r:id="rId15"/>
    <p:sldId id="302" r:id="rId16"/>
    <p:sldId id="304" r:id="rId17"/>
    <p:sldId id="266" r:id="rId18"/>
    <p:sldId id="269" r:id="rId19"/>
    <p:sldId id="303" r:id="rId20"/>
    <p:sldId id="305" r:id="rId21"/>
    <p:sldId id="267" r:id="rId22"/>
    <p:sldId id="308" r:id="rId23"/>
    <p:sldId id="265" r:id="rId24"/>
    <p:sldId id="268" r:id="rId25"/>
    <p:sldId id="309" r:id="rId26"/>
    <p:sldId id="270" r:id="rId27"/>
    <p:sldId id="272" r:id="rId28"/>
    <p:sldId id="271" r:id="rId29"/>
    <p:sldId id="273" r:id="rId30"/>
    <p:sldId id="275" r:id="rId31"/>
    <p:sldId id="278" r:id="rId32"/>
    <p:sldId id="276" r:id="rId33"/>
    <p:sldId id="310" r:id="rId34"/>
    <p:sldId id="314" r:id="rId35"/>
    <p:sldId id="274" r:id="rId36"/>
    <p:sldId id="280" r:id="rId37"/>
    <p:sldId id="282" r:id="rId38"/>
    <p:sldId id="285" r:id="rId39"/>
    <p:sldId id="283" r:id="rId40"/>
    <p:sldId id="311" r:id="rId41"/>
    <p:sldId id="315" r:id="rId42"/>
    <p:sldId id="281" r:id="rId43"/>
    <p:sldId id="287" r:id="rId44"/>
    <p:sldId id="289" r:id="rId45"/>
    <p:sldId id="292" r:id="rId46"/>
    <p:sldId id="290" r:id="rId47"/>
    <p:sldId id="312" r:id="rId48"/>
    <p:sldId id="316" r:id="rId49"/>
    <p:sldId id="288" r:id="rId50"/>
    <p:sldId id="294" r:id="rId51"/>
    <p:sldId id="296" r:id="rId52"/>
    <p:sldId id="299" r:id="rId53"/>
    <p:sldId id="297" r:id="rId54"/>
    <p:sldId id="313" r:id="rId55"/>
    <p:sldId id="317" r:id="rId56"/>
    <p:sldId id="295" r:id="rId57"/>
    <p:sldId id="301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95" d="100"/>
          <a:sy n="95" d="100"/>
        </p:scale>
        <p:origin x="6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82919</c:v>
                </c:pt>
                <c:pt idx="1">
                  <c:v>70389</c:v>
                </c:pt>
                <c:pt idx="2">
                  <c:v>66486</c:v>
                </c:pt>
                <c:pt idx="3">
                  <c:v>72756</c:v>
                </c:pt>
                <c:pt idx="4">
                  <c:v>72807</c:v>
                </c:pt>
                <c:pt idx="5">
                  <c:v>60489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BAA7-41A1-B079-85777902CA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69406</c:v>
                </c:pt>
                <c:pt idx="1">
                  <c:v>51461</c:v>
                </c:pt>
                <c:pt idx="2">
                  <c:v>64997</c:v>
                </c:pt>
                <c:pt idx="3">
                  <c:v>47561</c:v>
                </c:pt>
                <c:pt idx="4">
                  <c:v>54601</c:v>
                </c:pt>
                <c:pt idx="5">
                  <c:v>42388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BAA7-41A1-B079-85777902CA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77555</c:v>
                </c:pt>
                <c:pt idx="1">
                  <c:v>64585</c:v>
                </c:pt>
                <c:pt idx="2">
                  <c:v>81349</c:v>
                </c:pt>
                <c:pt idx="3">
                  <c:v>61321</c:v>
                </c:pt>
                <c:pt idx="4">
                  <c:v>76706</c:v>
                </c:pt>
                <c:pt idx="5">
                  <c:v>95578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625-4845-813B-F2E546F54A0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69405</c:v>
                </c:pt>
                <c:pt idx="1">
                  <c:v>60334</c:v>
                </c:pt>
                <c:pt idx="2">
                  <c:v>80504</c:v>
                </c:pt>
                <c:pt idx="3">
                  <c:v>63751</c:v>
                </c:pt>
                <c:pt idx="4">
                  <c:v>74142</c:v>
                </c:pt>
                <c:pt idx="5">
                  <c:v>78528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625-4845-813B-F2E546F54A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8.xml"/><Relationship Id="rId4" Type="http://schemas.openxmlformats.org/officeDocument/2006/relationships/chart" Target="../charts/char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6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2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5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6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7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8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31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34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82,919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66,486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72,807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425,846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64,997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426k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-29.9%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is down every month of 2026 — a real softness beyond the June data gap; worth asking the properties about Indonesian wholesale/group business.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77,555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64,585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81,349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76,706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457,094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60,334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80,504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74,142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78,528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427k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-6.7%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457k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-17.8%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held up Jan–May (-2% ex-June); the June drop coincides with the MOTS 4-day data loss, so H2 data will show if it is real.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73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900001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Bangkok market &amp; compsets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1600200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Pattaya market &amp; compsets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160020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36576" marR="36576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760720" y="1828800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782252" y="5174901"/>
            <a:ext cx="5647748" cy="921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-Key change come from India, </a:t>
            </a:r>
            <a:r>
              <a:rPr lang="en-US" dirty="0" err="1"/>
              <a:t>Thaiand</a:t>
            </a:r>
            <a:r>
              <a:rPr lang="en-US" dirty="0"/>
              <a:t>, Indo, Sg and China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989320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-Around 30% of this property are </a:t>
            </a:r>
            <a:r>
              <a:rPr lang="en-US" dirty="0" err="1"/>
              <a:t>Coporate</a:t>
            </a:r>
            <a:r>
              <a:rPr lang="en-US" dirty="0"/>
              <a:t> booking. </a:t>
            </a:r>
            <a:r>
              <a:rPr lang="en-US" dirty="0" err="1"/>
              <a:t>Additionaly</a:t>
            </a:r>
            <a:r>
              <a:rPr lang="en-US" dirty="0"/>
              <a:t> some corporate are mix in OTA since there are a B2B channel o booking through the OTA right now.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997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61753108-C2A0-EDFA-8E92-F8AB2E5727F3}"/>
              </a:ext>
            </a:extLst>
          </p:cNvPr>
          <p:cNvSpPr/>
          <p:nvPr/>
        </p:nvSpPr>
        <p:spPr>
          <a:xfrm>
            <a:off x="548640" y="5543327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-Jubilee is under renovating </a:t>
            </a:r>
            <a:r>
              <a:rPr lang="th-TH" dirty="0"/>
              <a:t>สร้างอนิสงค์ให้กับเรา</a:t>
            </a:r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248402" y="5501640"/>
            <a:ext cx="6561846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 term of Revenue half H1 We can do better. But </a:t>
            </a:r>
            <a:r>
              <a:rPr lang="en-US" dirty="0" err="1"/>
              <a:t>opex</a:t>
            </a:r>
            <a:r>
              <a:rPr lang="en-US" dirty="0"/>
              <a:t> +0.6% from LY </a:t>
            </a:r>
          </a:p>
          <a:p>
            <a:pPr algn="ctr"/>
            <a:r>
              <a:rPr lang="en-US" dirty="0"/>
              <a:t>GOP compare to LY is better even the ADR is lower</a:t>
            </a:r>
          </a:p>
          <a:p>
            <a:pPr algn="ctr"/>
            <a:r>
              <a:rPr lang="en-US" dirty="0"/>
              <a:t>Margins look same.</a:t>
            </a:r>
          </a:p>
          <a:p>
            <a:pPr algn="ctr"/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But the JV expense higher from LY 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</a:rPr>
              <a:t>bc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</a:rPr>
              <a:t>xxxx</a:t>
            </a:r>
            <a:endParaRPr lang="en-US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pPr algn="ctr"/>
            <a:r>
              <a:rPr lang="en-US" dirty="0"/>
              <a:t>EBIT lower than -1.7MB LY and (59.7-53.00 MB)BG.</a:t>
            </a:r>
          </a:p>
          <a:p>
            <a:pPr algn="ctr"/>
            <a:r>
              <a:rPr lang="en-US" dirty="0" err="1"/>
              <a:t>Howver</a:t>
            </a:r>
            <a:r>
              <a:rPr lang="en-US" dirty="0"/>
              <a:t> in the NAPTA Data can do better than LY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760720" y="1497467"/>
          <a:ext cx="5751576" cy="3094969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2AF8FE-028B-4F43-614D-7712F7EF7868}"/>
              </a:ext>
            </a:extLst>
          </p:cNvPr>
          <p:cNvSpPr/>
          <p:nvPr/>
        </p:nvSpPr>
        <p:spPr>
          <a:xfrm>
            <a:off x="6643396" y="4948210"/>
            <a:ext cx="4786604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-Key change come Japan follow by </a:t>
            </a:r>
            <a:r>
              <a:rPr lang="en-US" dirty="0" err="1"/>
              <a:t>chinease</a:t>
            </a:r>
            <a:endParaRPr lang="en-US" dirty="0"/>
          </a:p>
          <a:p>
            <a:pPr algn="ctr"/>
            <a:r>
              <a:rPr lang="en-US" dirty="0"/>
              <a:t>New nationality are UK and Finland and Taiwan</a:t>
            </a:r>
          </a:p>
          <a:p>
            <a:pPr algn="ctr"/>
            <a:r>
              <a:rPr lang="en-US" dirty="0"/>
              <a:t>Most significant drop are Korea.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F833D8B9-35B7-01F4-9708-B7C5CEA82C84}"/>
              </a:ext>
            </a:extLst>
          </p:cNvPr>
          <p:cNvSpPr/>
          <p:nvPr/>
        </p:nvSpPr>
        <p:spPr>
          <a:xfrm>
            <a:off x="2537510" y="5935109"/>
            <a:ext cx="10881360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36% are corporate segment follow by online 24%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Can see the growth from corporate group almost 30-40% from H1 last year.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Big change is group booking +185% from </a:t>
            </a:r>
            <a:r>
              <a:rPr lang="en-US" dirty="0" err="1"/>
              <a:t>ly</a:t>
            </a:r>
            <a:r>
              <a:rPr lang="en-US" dirty="0"/>
              <a:t>. Implied that AES is shifting in secure to sell the room to a group and can make a rate drop</a:t>
            </a:r>
          </a:p>
          <a:p>
            <a:pPr marL="285750" indent="-285750" algn="ctr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997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39411-78F9-3CF6-7951-57DA74B37027}"/>
              </a:ext>
            </a:extLst>
          </p:cNvPr>
          <p:cNvSpPr/>
          <p:nvPr/>
        </p:nvSpPr>
        <p:spPr>
          <a:xfrm>
            <a:off x="3246120" y="3460418"/>
            <a:ext cx="7049380" cy="3657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Rev drop -3.3% from LY</a:t>
            </a:r>
          </a:p>
          <a:p>
            <a:pPr marL="285750" indent="-285750" algn="ctr">
              <a:buFontTx/>
              <a:buChar char="-"/>
            </a:pPr>
            <a:r>
              <a:rPr lang="en-US" dirty="0" err="1"/>
              <a:t>Opex</a:t>
            </a:r>
            <a:r>
              <a:rPr lang="en-US" dirty="0"/>
              <a:t> manage </a:t>
            </a:r>
            <a:r>
              <a:rPr lang="en-US" dirty="0" err="1"/>
              <a:t>beeter</a:t>
            </a:r>
            <a:r>
              <a:rPr lang="en-US" dirty="0"/>
              <a:t> from LY -6.0% or 6MB (from)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GOP make better +1.3 pts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JV expense better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Resulting EBIT better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NPAT is better</a:t>
            </a:r>
          </a:p>
          <a:p>
            <a:pPr marL="285750" indent="-285750" algn="ctr">
              <a:buFontTx/>
              <a:buChar char="-"/>
            </a:pPr>
            <a:endParaRPr lang="en-US" dirty="0"/>
          </a:p>
          <a:p>
            <a:pPr marL="285750" indent="-285750" algn="ctr">
              <a:buFontTx/>
              <a:buChar char="-"/>
            </a:pPr>
            <a:r>
              <a:rPr lang="en-US" dirty="0"/>
              <a:t>The key reason if AES is the </a:t>
            </a:r>
            <a:r>
              <a:rPr lang="en-US" dirty="0" err="1"/>
              <a:t>the</a:t>
            </a:r>
            <a:r>
              <a:rPr lang="en-US" dirty="0"/>
              <a:t> manage of the OPEX better\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And for the owner expense can manage better </a:t>
            </a:r>
            <a:r>
              <a:rPr lang="en-US" dirty="0" err="1"/>
              <a:t>bc</a:t>
            </a:r>
            <a:r>
              <a:rPr lang="en-US" dirty="0"/>
              <a:t> xxx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2063981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199686"/>
            <a:ext cx="13458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Most drop due to the ADR want to Ramp up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8636508" y="5522976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240280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4DD1DA7-E131-9AAB-41FC-81A1C4A02C58}"/>
              </a:ext>
            </a:extLst>
          </p:cNvPr>
          <p:cNvSpPr/>
          <p:nvPr/>
        </p:nvSpPr>
        <p:spPr>
          <a:xfrm>
            <a:off x="12087225" y="1353312"/>
            <a:ext cx="5267492" cy="37554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-Key change come from Indonesia +198%, China and Taiwan and Japan  come. Can see booking from Germany in first H12026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USA UK are dropped.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This cam implies that make the ADR is more drop due to the </a:t>
            </a:r>
            <a:r>
              <a:rPr lang="en-US" dirty="0" err="1"/>
              <a:t>the</a:t>
            </a:r>
            <a:r>
              <a:rPr lang="en-US" dirty="0"/>
              <a:t> high spending power nationality has </a:t>
            </a:r>
            <a:r>
              <a:rPr lang="en-US" dirty="0" err="1"/>
              <a:t>benn</a:t>
            </a:r>
            <a:r>
              <a:rPr lang="en-US" dirty="0"/>
              <a:t> faded down and make the </a:t>
            </a:r>
            <a:r>
              <a:rPr lang="en-US" dirty="0" err="1"/>
              <a:t>overallADR</a:t>
            </a:r>
            <a:r>
              <a:rPr lang="en-US" dirty="0"/>
              <a:t> drop.</a:t>
            </a:r>
          </a:p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8571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CC1BA4B2-41AC-258A-E8E0-69FABC268976}"/>
              </a:ext>
            </a:extLst>
          </p:cNvPr>
          <p:cNvSpPr/>
          <p:nvPr/>
        </p:nvSpPr>
        <p:spPr>
          <a:xfrm>
            <a:off x="6362451" y="3758184"/>
            <a:ext cx="5375985" cy="21035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key reason why the ADR drop is that we can see the OTA channel has+3% and ASR – 24% has drop this make our commission expense is higher than H2 2025 for sure. Due to commission from OTA is higher than ASR.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OTA growth +3% but the rate of OTA drop -8%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4039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A202C9-125C-09C5-32E8-99465498E207}"/>
              </a:ext>
            </a:extLst>
          </p:cNvPr>
          <p:cNvSpPr/>
          <p:nvPr/>
        </p:nvSpPr>
        <p:spPr>
          <a:xfrm>
            <a:off x="4124171" y="7150608"/>
            <a:ext cx="5375985" cy="24965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 lower than LY 5.8 %</a:t>
            </a:r>
          </a:p>
          <a:p>
            <a:pPr algn="ctr"/>
            <a:r>
              <a:rPr lang="en-US" dirty="0" err="1"/>
              <a:t>OpeX</a:t>
            </a:r>
            <a:r>
              <a:rPr lang="en-US" dirty="0"/>
              <a:t> more than </a:t>
            </a:r>
            <a:r>
              <a:rPr lang="en-US" dirty="0" err="1"/>
              <a:t>lY</a:t>
            </a:r>
            <a:r>
              <a:rPr lang="en-US" dirty="0"/>
              <a:t>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A1E1BA-F75F-BD8C-B7F9-98880F310D58}"/>
              </a:ext>
            </a:extLst>
          </p:cNvPr>
          <p:cNvSpPr/>
          <p:nvPr/>
        </p:nvSpPr>
        <p:spPr>
          <a:xfrm>
            <a:off x="6314986" y="4632960"/>
            <a:ext cx="5535637" cy="21122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 lower than LY 5.8 %</a:t>
            </a:r>
          </a:p>
          <a:p>
            <a:pPr algn="ctr"/>
            <a:r>
              <a:rPr lang="en-US" dirty="0" err="1"/>
              <a:t>OpeX</a:t>
            </a:r>
            <a:r>
              <a:rPr lang="en-US" dirty="0"/>
              <a:t> more than LY maybe the shifting to OTA</a:t>
            </a:r>
            <a:endParaRPr lang="th-TH" dirty="0"/>
          </a:p>
          <a:p>
            <a:pPr algn="ctr"/>
            <a:r>
              <a:rPr lang="en-US" dirty="0"/>
              <a:t>GOP -12% form last year.</a:t>
            </a:r>
          </a:p>
          <a:p>
            <a:pPr algn="ctr"/>
            <a:r>
              <a:rPr lang="en-US" dirty="0"/>
              <a:t>JV expenses also more than last year</a:t>
            </a:r>
          </a:p>
          <a:p>
            <a:pPr algn="ctr"/>
            <a:r>
              <a:rPr lang="en-US" dirty="0"/>
              <a:t>EBIT drop due to the low revenue</a:t>
            </a:r>
          </a:p>
          <a:p>
            <a:pPr algn="ctr"/>
            <a:r>
              <a:rPr lang="en-US" dirty="0"/>
              <a:t>N pat minus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760720" y="1649387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EA02EB18-E0AB-5D60-1913-73E36BECD347}"/>
              </a:ext>
            </a:extLst>
          </p:cNvPr>
          <p:cNvSpPr/>
          <p:nvPr/>
        </p:nvSpPr>
        <p:spPr>
          <a:xfrm>
            <a:off x="5888736" y="4832001"/>
            <a:ext cx="5751576" cy="1523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-Key change come from </a:t>
            </a:r>
            <a:r>
              <a:rPr lang="en-US" b="1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Israel</a:t>
            </a:r>
            <a:endParaRPr lang="en-US" dirty="0">
              <a:latin typeface="Calibri" charset="0"/>
              <a:ea typeface="Calibri" charset="0"/>
              <a:cs typeface="Calibri" charset="0"/>
            </a:endParaRPr>
          </a:p>
          <a:p>
            <a:pPr algn="ctr"/>
            <a:r>
              <a:rPr lang="en-US" dirty="0">
                <a:latin typeface="Calibri" charset="0"/>
                <a:ea typeface="Calibri" charset="0"/>
                <a:cs typeface="Calibri" charset="0"/>
              </a:rPr>
              <a:t> and </a:t>
            </a:r>
            <a:r>
              <a:rPr lang="en-US" dirty="0" err="1">
                <a:latin typeface="Calibri" charset="0"/>
                <a:ea typeface="Calibri" charset="0"/>
                <a:cs typeface="Calibri" charset="0"/>
              </a:rPr>
              <a:t>Thialand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.</a:t>
            </a:r>
          </a:p>
          <a:p>
            <a:pPr algn="ctr"/>
            <a:r>
              <a:rPr lang="en-US" dirty="0">
                <a:latin typeface="Calibri" charset="0"/>
                <a:ea typeface="Calibri" charset="0"/>
                <a:cs typeface="Calibri" charset="0"/>
              </a:rPr>
              <a:t>ADR in PTY not increase from the </a:t>
            </a:r>
            <a:r>
              <a:rPr lang="en-US" dirty="0" err="1">
                <a:latin typeface="Calibri" charset="0"/>
                <a:ea typeface="Calibri" charset="0"/>
                <a:cs typeface="Calibri" charset="0"/>
              </a:rPr>
              <a:t>lY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 in every nationality.</a:t>
            </a:r>
          </a:p>
          <a:p>
            <a:pPr algn="ctr"/>
            <a:r>
              <a:rPr lang="en-US" dirty="0"/>
              <a:t>  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ADC5836-419B-8C4E-63CD-67EA0F153579}"/>
              </a:ext>
            </a:extLst>
          </p:cNvPr>
          <p:cNvSpPr/>
          <p:nvPr/>
        </p:nvSpPr>
        <p:spPr>
          <a:xfrm>
            <a:off x="12372871" y="1501927"/>
            <a:ext cx="5602726" cy="252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Asr increase I think Ascott is trying to emphasize their leisure brand maybe promote more in the </a:t>
            </a:r>
            <a:r>
              <a:rPr lang="en-US" dirty="0" err="1"/>
              <a:t>the</a:t>
            </a:r>
            <a:r>
              <a:rPr lang="en-US" dirty="0"/>
              <a:t> leisure property like SP.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Also there +36% change in booking in SS corporate SS and ADR of this is more than </a:t>
            </a:r>
            <a:r>
              <a:rPr lang="en-US" dirty="0" err="1"/>
              <a:t>lY</a:t>
            </a:r>
            <a:r>
              <a:rPr lang="en-US" dirty="0"/>
              <a:t>. Showing that it is have the demand of SS corporate more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9977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9BFC3-8929-9F1D-90E3-08B5032A8251}"/>
              </a:ext>
            </a:extLst>
          </p:cNvPr>
          <p:cNvSpPr/>
          <p:nvPr/>
        </p:nvSpPr>
        <p:spPr>
          <a:xfrm>
            <a:off x="6195562" y="5501640"/>
            <a:ext cx="7414779" cy="1486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 is similar to last year.</a:t>
            </a:r>
          </a:p>
          <a:p>
            <a:pPr algn="ctr"/>
            <a:r>
              <a:rPr lang="en-US" dirty="0"/>
              <a:t>Can manage the a little bit </a:t>
            </a:r>
            <a:r>
              <a:rPr lang="en-US" dirty="0" err="1"/>
              <a:t>Opex</a:t>
            </a:r>
            <a:r>
              <a:rPr lang="en-US" dirty="0"/>
              <a:t> better.</a:t>
            </a:r>
          </a:p>
          <a:p>
            <a:pPr algn="ctr"/>
            <a:r>
              <a:rPr lang="en-US" dirty="0"/>
              <a:t>JV expense use more than last year make EBIT is lower.</a:t>
            </a:r>
          </a:p>
          <a:p>
            <a:pPr algn="ctr"/>
            <a:r>
              <a:rPr lang="en-US" dirty="0"/>
              <a:t>NPAT improve </a:t>
            </a:r>
            <a:r>
              <a:rPr lang="en-US" dirty="0" err="1"/>
              <a:t>bc</a:t>
            </a:r>
            <a:r>
              <a:rPr lang="en-US" dirty="0"/>
              <a:t> xxx interest </a:t>
            </a:r>
            <a:r>
              <a:rPr lang="en-US" dirty="0" err="1"/>
              <a:t>dp</a:t>
            </a:r>
            <a:endParaRPr lang="en-US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13871</TotalTime>
  <Words>11908</Words>
  <Application>Microsoft Office PowerPoint</Application>
  <PresentationFormat>Widescreen</PresentationFormat>
  <Paragraphs>3931</Paragraphs>
  <Slides>54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8</cp:revision>
  <dcterms:created xsi:type="dcterms:W3CDTF">2026-07-24T09:01:49Z</dcterms:created>
  <dcterms:modified xsi:type="dcterms:W3CDTF">2026-08-03T09:55:13Z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