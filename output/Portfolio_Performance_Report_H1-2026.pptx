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1" r:id="rId10"/>
    <p:sldId id="263" r:id="rId12"/>
    <p:sldId id="302" r:id="rId16"/>
    <p:sldId id="304" r:id="rId17"/>
    <p:sldId id="266" r:id="rId18"/>
    <p:sldId id="303" r:id="rId20"/>
    <p:sldId id="305" r:id="rId21"/>
    <p:sldId id="267" r:id="rId22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274" r:id="rId36"/>
    <p:sldId id="280" r:id="rId37"/>
    <p:sldId id="282" r:id="rId38"/>
    <p:sldId id="285" r:id="rId39"/>
    <p:sldId id="283" r:id="rId40"/>
    <p:sldId id="281" r:id="rId43"/>
    <p:sldId id="287" r:id="rId44"/>
    <p:sldId id="289" r:id="rId45"/>
    <p:sldId id="292" r:id="rId46"/>
    <p:sldId id="290" r:id="rId47"/>
    <p:sldId id="288" r:id="rId50"/>
    <p:sldId id="294" r:id="rId51"/>
    <p:sldId id="296" r:id="rId52"/>
    <p:sldId id="299" r:id="rId53"/>
    <p:sldId id="297" r:id="rId54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34.xml"/><Relationship Id="rId57" Type="http://schemas.openxmlformats.org/officeDocument/2006/relationships/slide" Target="slides/slide35.xml"/><Relationship Id="rId58" Type="http://schemas.openxmlformats.org/officeDocument/2006/relationships/slide" Target="slides/slide36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Relationship Id="rId4" Type="http://schemas.openxmlformats.org/officeDocument/2006/relationships/chart" Target="../charts/chart7.xml"/><Relationship Id="rId5" Type="http://schemas.openxmlformats.org/officeDocument/2006/relationships/chart" Target="../charts/chart8.xml"/><Relationship Id="rId6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4828032"/>
          <a:ext cx="5029200" cy="1234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011680"/>
                <a:gridCol w="155448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(Jan–Jun)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vs prior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12,914,691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+35.5%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920240"/>
          <a:ext cx="5349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920240"/>
          <a:ext cx="5349240" cy="3291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303520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303520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74519"/>
          <a:ext cx="534924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609344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13892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/>
        </p:nvGraphicFramePr>
        <p:xfrm>
          <a:off x="6291072" y="1874519"/>
          <a:ext cx="5349240" cy="31546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609344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13892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1560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·   ADR −1.4%   ·   RevPAR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= STR "Bangkok overall" from the STR_Bangkok_by_segment workbook (STR monthly performance reports; 2026 from the YTD Jun 2026 files, H1 figures calculated from monthly data per Mae’s decision).</a:t>
            </a:r>
            <a:endParaRPr lang="en-US" sz="10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43400"/>
          <a:ext cx="9692640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23559"/>
            <a:ext cx="1088136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By class (H1 26 vs 25): Luxury is the only class holding rate (+1.1%) — every other class cut ADR while occupancy recovered, the market-wide version of the rate-for-volume trade. Full 2023–2026 series in the STR_Bangkok_by_segment workbook.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80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India, Thailand, Indonesia, Singapore and China.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revenue, H1 is better than last year, but OPEX is +0.6% vs LY. GOP beats LY even with the lower ADR, and the margin is about the same. However, JV expense is higher than LY because [xxx], so EBIT comes in below both LY (−฿1.7M) and budget (฿53.0M vs ฿59.7M). NPAT, on the other hand, is better than 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Japan, followed by China. New nationalities this year are the UK, Finland and Taiwan; the most significant drop is Korea.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Corporate is the largest segment at 36%, followed by online at 24%. Corporate group has grown almost 30–40% vs H1 last year, and group bookings are +185% vs LY — implying AES is shifting to secure group business, which can pull the rate down.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Revenue is down −3.3% vs LY, but OPEX is managed better: −6.0% (about ฿6M). GOP margin improves +1.3 pts and JV expense is better, so EBIT and NPAT both beat LY. The key reason is AES managing OPEX well — and owner expenses are lower because [xxx].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24028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−5.8% vs LY and OPEX is higher — possibly from the shift toward OTA (commissions). GOP is −12% vs last year and JV expense is also higher, so EBIT drops on the weak revenue and NPAT is negative.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891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Australia, Israel and Thailand. ADR in Pattaya did not increase vs LY for any nationality.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is increasing — Ascott seems to be emphasising its leisure brand, promoting leisure properties like SP more. Corporate SS bookings are also +36% with ADR above LY, showing real demand for corporate short-stay.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similar to last year and OPEX is managed slightly better, but JV expense is higher than last year, which makes EBIT lower. NPAT improves because of [xxx] (interest).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