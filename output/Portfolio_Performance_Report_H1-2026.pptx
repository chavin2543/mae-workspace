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.xml" ContentType="application/vnd.openxmlformats-officedocument.drawingml.chart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charts/chart24.xml" ContentType="application/vnd.openxmlformats-officedocument.drawingml.chart+xml"/>
  <Override PartName="/ppt/charts/chart25.xml" ContentType="application/vnd.openxmlformats-officedocument.drawingml.chart+xml"/>
  <Override PartName="/ppt/charts/chart26.xml" ContentType="application/vnd.openxmlformats-officedocument.drawingml.chart+xml"/>
  <Override PartName="/ppt/charts/chart27.xml" ContentType="application/vnd.openxmlformats-officedocument.drawingml.chart+xml"/>
  <Override PartName="/ppt/charts/chart28.xml" ContentType="application/vnd.openxmlformats-officedocument.drawingml.chart+xml"/>
  <Override PartName="/ppt/charts/chart29.xml" ContentType="application/vnd.openxmlformats-officedocument.drawingml.chart+xml"/>
  <Override PartName="/ppt/charts/chart3.xml" ContentType="application/vnd.openxmlformats-officedocument.drawingml.chart+xml"/>
  <Override PartName="/ppt/charts/chart30.xml" ContentType="application/vnd.openxmlformats-officedocument.drawingml.chart+xml"/>
  <Override PartName="/ppt/charts/chart31.xml" ContentType="application/vnd.openxmlformats-officedocument.drawingml.chart+xml"/>
  <Override PartName="/ppt/charts/chart32.xml" ContentType="application/vnd.openxmlformats-officedocument.drawingml.chart+xml"/>
  <Override PartName="/ppt/charts/chart33.xml" ContentType="application/vnd.openxmlformats-officedocument.drawingml.chart+xml"/>
  <Override PartName="/ppt/charts/chart34.xml" ContentType="application/vnd.openxmlformats-officedocument.drawingml.chart+xml"/>
  <Override PartName="/ppt/charts/chart35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40"/>
  </p:notesMasterIdLst>
  <p:sldIdLst>
    <p:sldId id="256" r:id="rId5"/>
    <p:sldId id="258" r:id="rId6"/>
    <p:sldId id="259" r:id="rId7"/>
    <p:sldId id="261" r:id="rId8"/>
    <p:sldId id="263" r:id="rId9"/>
    <p:sldId id="302" r:id="rId10"/>
    <p:sldId id="304" r:id="rId11"/>
    <p:sldId id="266" r:id="rId12"/>
    <p:sldId id="303" r:id="rId13"/>
    <p:sldId id="305" r:id="rId14"/>
    <p:sldId id="267" r:id="rId15"/>
    <p:sldId id="270" r:id="rId16"/>
    <p:sldId id="272" r:id="rId17"/>
    <p:sldId id="271" r:id="rId18"/>
    <p:sldId id="273" r:id="rId19"/>
    <p:sldId id="275" r:id="rId20"/>
    <p:sldId id="278" r:id="rId21"/>
    <p:sldId id="276" r:id="rId22"/>
    <p:sldId id="274" r:id="rId23"/>
    <p:sldId id="280" r:id="rId24"/>
    <p:sldId id="282" r:id="rId25"/>
    <p:sldId id="308" r:id="rId26"/>
    <p:sldId id="283" r:id="rId27"/>
    <p:sldId id="281" r:id="rId28"/>
    <p:sldId id="287" r:id="rId29"/>
    <p:sldId id="289" r:id="rId30"/>
    <p:sldId id="292" r:id="rId31"/>
    <p:sldId id="290" r:id="rId32"/>
    <p:sldId id="288" r:id="rId33"/>
    <p:sldId id="294" r:id="rId34"/>
    <p:sldId id="296" r:id="rId35"/>
    <p:sldId id="299" r:id="rId36"/>
    <p:sldId id="297" r:id="rId37"/>
    <p:sldId id="295" r:id="rId38"/>
    <p:sldId id="307" r:id="rId3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4409C20-A998-4A5C-B625-CA10EEA2B52C}" v="50" dt="2026-08-19T01:55:04.009"/>
  </p1510:revLst>
</p1510:revInfo>
</file>

<file path=ppt/tableStyles.xml><?xml version="1.0" encoding="utf-8"?>
<a:tblStyleLst xmlns:a="http://schemas.openxmlformats.org/drawingml/2006/main" def="{5C22544A-7EE6-4342-B048-85BDC9FD1C3A}"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6247" autoAdjust="0"/>
  </p:normalViewPr>
  <p:slideViewPr>
    <p:cSldViewPr snapToGrid="0">
      <p:cViewPr>
        <p:scale>
          <a:sx n="98" d="100"/>
          <a:sy n="98" d="100"/>
        </p:scale>
        <p:origin x="1038" y="27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slide" Target="slides/slide23.xml"/><Relationship Id="rId28" Type="http://schemas.openxmlformats.org/officeDocument/2006/relationships/slide" Target="slides/slide24.xml"/><Relationship Id="rId29" Type="http://schemas.openxmlformats.org/officeDocument/2006/relationships/slide" Target="slides/slide25.xml"/><Relationship Id="rId30" Type="http://schemas.openxmlformats.org/officeDocument/2006/relationships/slide" Target="slides/slide26.xml"/><Relationship Id="rId31" Type="http://schemas.openxmlformats.org/officeDocument/2006/relationships/slide" Target="slides/slide27.xml"/><Relationship Id="rId32" Type="http://schemas.openxmlformats.org/officeDocument/2006/relationships/slide" Target="slides/slide28.xml"/><Relationship Id="rId33" Type="http://schemas.openxmlformats.org/officeDocument/2006/relationships/slide" Target="slides/slide29.xml"/><Relationship Id="rId34" Type="http://schemas.openxmlformats.org/officeDocument/2006/relationships/slide" Target="slides/slide30.xml"/><Relationship Id="rId35" Type="http://schemas.openxmlformats.org/officeDocument/2006/relationships/slide" Target="slides/slide31.xml"/><Relationship Id="rId36" Type="http://schemas.openxmlformats.org/officeDocument/2006/relationships/slide" Target="slides/slide32.xml"/><Relationship Id="rId37" Type="http://schemas.openxmlformats.org/officeDocument/2006/relationships/slide" Target="slides/slide33.xml"/><Relationship Id="rId38" Type="http://schemas.openxmlformats.org/officeDocument/2006/relationships/slide" Target="slides/slide34.xml"/><Relationship Id="rId39" Type="http://schemas.openxmlformats.org/officeDocument/2006/relationships/slide" Target="slides/slide35.xml"/><Relationship Id="rId40" Type="http://schemas.openxmlformats.org/officeDocument/2006/relationships/notesMaster" Target="notesMasters/notes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Relationship Id="rId45" Type="http://schemas.microsoft.com/office/2015/10/relationships/revisionInfo" Target="revisionInfo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2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_rels/chart2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3.xlsx"/></Relationships>
</file>

<file path=ppt/charts/_rels/chart2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4.xlsx"/></Relationships>
</file>

<file path=ppt/charts/_rels/chart2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5.xlsx"/></Relationships>
</file>

<file path=ppt/charts/_rels/chart2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6.xlsx"/></Relationships>
</file>

<file path=ppt/charts/_rels/chart2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7.xlsx"/></Relationships>
</file>

<file path=ppt/charts/_rels/chart2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8.xlsx"/></Relationships>
</file>

<file path=ppt/charts/_rels/chart3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9.xlsx"/></Relationships>
</file>

<file path=ppt/charts/_rels/chart3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0.xlsx"/></Relationships>
</file>

<file path=ppt/charts/_rels/chart3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1.xlsx"/></Relationships>
</file>

<file path=ppt/charts/_rels/chart3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2.xlsx"/></Relationships>
</file>

<file path=ppt/charts/_rels/chart3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3.xlsx"/></Relationships>
</file>

<file path=ppt/charts/_rels/chart3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3035296</c:v>
                </c:pt>
                <c:pt idx="1">
                  <c:v>3352302</c:v>
                </c:pt>
                <c:pt idx="2">
                  <c:v>2982721</c:v>
                </c:pt>
                <c:pt idx="3">
                  <c:v>2757128</c:v>
                </c:pt>
                <c:pt idx="4">
                  <c:v>2633464</c:v>
                </c:pt>
                <c:pt idx="5">
                  <c:v>2740372</c:v>
                </c:pt>
                <c:pt idx="6">
                  <c:v>3103420</c:v>
                </c:pt>
                <c:pt idx="7">
                  <c:v>2963147</c:v>
                </c:pt>
                <c:pt idx="8">
                  <c:v>2521005</c:v>
                </c:pt>
                <c:pt idx="9">
                  <c:v>2679180</c:v>
                </c:pt>
                <c:pt idx="10">
                  <c:v>3150237</c:v>
                </c:pt>
                <c:pt idx="11">
                  <c:v>3627442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54B-44A5-8F07-E307CA03968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3709102</c:v>
                </c:pt>
                <c:pt idx="1">
                  <c:v>3119445</c:v>
                </c:pt>
                <c:pt idx="2">
                  <c:v>2720457</c:v>
                </c:pt>
                <c:pt idx="3">
                  <c:v>2547116</c:v>
                </c:pt>
                <c:pt idx="4">
                  <c:v>2266574</c:v>
                </c:pt>
                <c:pt idx="5">
                  <c:v>2322775</c:v>
                </c:pt>
                <c:pt idx="6">
                  <c:v>2610369</c:v>
                </c:pt>
                <c:pt idx="7">
                  <c:v>2583638</c:v>
                </c:pt>
                <c:pt idx="8">
                  <c:v>2235852</c:v>
                </c:pt>
                <c:pt idx="9">
                  <c:v>2573743</c:v>
                </c:pt>
                <c:pt idx="10">
                  <c:v>2914810</c:v>
                </c:pt>
                <c:pt idx="11">
                  <c:v>3370440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54B-44A5-8F07-E307CA03968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3277908</c:v>
                </c:pt>
                <c:pt idx="1">
                  <c:v>3263802</c:v>
                </c:pt>
                <c:pt idx="2">
                  <c:v>2775199</c:v>
                </c:pt>
                <c:pt idx="3">
                  <c:v>2368895</c:v>
                </c:pt>
                <c:pt idx="4">
                  <c:v>2346845</c:v>
                </c:pt>
                <c:pt idx="5">
                  <c:v>1841551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354B-44A5-8F07-E307CA03968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rgbClr val="AEB6C2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1069787</c:v>
                </c:pt>
                <c:pt idx="1">
                  <c:v>1064806</c:v>
                </c:pt>
                <c:pt idx="2">
                  <c:v>985232</c:v>
                </c:pt>
                <c:pt idx="3">
                  <c:v>898994</c:v>
                </c:pt>
                <c:pt idx="4">
                  <c:v>794913</c:v>
                </c:pt>
                <c:pt idx="5">
                  <c:v>894105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8AA-439B-923F-F7993838E3F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508563</c:v>
                </c:pt>
                <c:pt idx="1">
                  <c:v>674558</c:v>
                </c:pt>
                <c:pt idx="2">
                  <c:v>573216</c:v>
                </c:pt>
                <c:pt idx="3">
                  <c:v>595572</c:v>
                </c:pt>
                <c:pt idx="4">
                  <c:v>559461</c:v>
                </c:pt>
                <c:pt idx="5">
                  <c:v>528112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8AA-439B-923F-F7993838E3F5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662779</c:v>
                </c:pt>
                <c:pt idx="1">
                  <c:v>371542</c:v>
                </c:pt>
                <c:pt idx="2">
                  <c:v>297113</c:v>
                </c:pt>
                <c:pt idx="3">
                  <c:v>317213</c:v>
                </c:pt>
                <c:pt idx="4">
                  <c:v>310292</c:v>
                </c:pt>
                <c:pt idx="5">
                  <c:v>306617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98AA-439B-923F-F7993838E3F5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400321</c:v>
                </c:pt>
                <c:pt idx="1">
                  <c:v>677768</c:v>
                </c:pt>
                <c:pt idx="2">
                  <c:v>410624</c:v>
                </c:pt>
                <c:pt idx="3">
                  <c:v>418291</c:v>
                </c:pt>
                <c:pt idx="4">
                  <c:v>411308</c:v>
                </c:pt>
                <c:pt idx="5">
                  <c:v>283297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98AA-439B-923F-F7993838E3F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162831</c:v>
                </c:pt>
                <c:pt idx="1">
                  <c:v>148992</c:v>
                </c:pt>
                <c:pt idx="2">
                  <c:v>161129</c:v>
                </c:pt>
                <c:pt idx="3">
                  <c:v>170635</c:v>
                </c:pt>
                <c:pt idx="4">
                  <c:v>198993</c:v>
                </c:pt>
                <c:pt idx="5">
                  <c:v>197489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AE1-430E-8329-BF727804A79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185809</c:v>
                </c:pt>
                <c:pt idx="1">
                  <c:v>169988</c:v>
                </c:pt>
                <c:pt idx="2">
                  <c:v>187973</c:v>
                </c:pt>
                <c:pt idx="3">
                  <c:v>206286</c:v>
                </c:pt>
                <c:pt idx="4">
                  <c:v>228544</c:v>
                </c:pt>
                <c:pt idx="5">
                  <c:v>205299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AE1-430E-8329-BF727804A79A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231184</c:v>
                </c:pt>
                <c:pt idx="1">
                  <c:v>185930</c:v>
                </c:pt>
                <c:pt idx="2">
                  <c:v>208484</c:v>
                </c:pt>
                <c:pt idx="3">
                  <c:v>206641</c:v>
                </c:pt>
                <c:pt idx="4">
                  <c:v>224490</c:v>
                </c:pt>
                <c:pt idx="5">
                  <c:v>163378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8AE1-430E-8329-BF727804A79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rgbClr val="AEB6C2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94365</c:v>
                </c:pt>
                <c:pt idx="1">
                  <c:v>85613</c:v>
                </c:pt>
                <c:pt idx="2">
                  <c:v>101002</c:v>
                </c:pt>
                <c:pt idx="3">
                  <c:v>91897</c:v>
                </c:pt>
                <c:pt idx="4">
                  <c:v>95246</c:v>
                </c:pt>
                <c:pt idx="5">
                  <c:v>93648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485-498E-BD41-AD4A2A527E5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44223</c:v>
                </c:pt>
                <c:pt idx="1">
                  <c:v>35346</c:v>
                </c:pt>
                <c:pt idx="2">
                  <c:v>8455</c:v>
                </c:pt>
                <c:pt idx="3">
                  <c:v>45071</c:v>
                </c:pt>
                <c:pt idx="4">
                  <c:v>44106</c:v>
                </c:pt>
                <c:pt idx="5">
                  <c:v>97083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485-498E-BD41-AD4A2A527E5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49839</c:v>
                </c:pt>
                <c:pt idx="1">
                  <c:v>32831</c:v>
                </c:pt>
                <c:pt idx="2">
                  <c:v>18708</c:v>
                </c:pt>
                <c:pt idx="3">
                  <c:v>50561</c:v>
                </c:pt>
                <c:pt idx="4">
                  <c:v>48650</c:v>
                </c:pt>
                <c:pt idx="5">
                  <c:v>82462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C485-498E-BD41-AD4A2A527E5F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52261</c:v>
                </c:pt>
                <c:pt idx="1">
                  <c:v>15814</c:v>
                </c:pt>
                <c:pt idx="2">
                  <c:v>12201</c:v>
                </c:pt>
                <c:pt idx="3">
                  <c:v>21707</c:v>
                </c:pt>
                <c:pt idx="4">
                  <c:v>47726</c:v>
                </c:pt>
                <c:pt idx="5">
                  <c:v>52702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C485-498E-BD41-AD4A2A527E5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</c:spPr>
          <c:invertIfNegative val="1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1026029</c:v>
                </c:pt>
                <c:pt idx="1">
                  <c:v>987508</c:v>
                </c:pt>
                <c:pt idx="2">
                  <c:v>901645</c:v>
                </c:pt>
                <c:pt idx="3">
                  <c:v>631332</c:v>
                </c:pt>
                <c:pt idx="4">
                  <c:v>440983</c:v>
                </c:pt>
                <c:pt idx="5">
                  <c:v>432499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C22A-41DB-B165-89D079F54AA1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</c:spPr>
          <c:invertIfNegative val="1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1257708</c:v>
                </c:pt>
                <c:pt idx="1">
                  <c:v>1156356</c:v>
                </c:pt>
                <c:pt idx="2">
                  <c:v>1006483</c:v>
                </c:pt>
                <c:pt idx="3">
                  <c:v>771553</c:v>
                </c:pt>
                <c:pt idx="4">
                  <c:v>465502</c:v>
                </c:pt>
                <c:pt idx="5">
                  <c:v>451775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C22A-41DB-B165-89D079F54AA1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</c:spPr>
          <c:invertIfNegative val="1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1366171</c:v>
                </c:pt>
                <c:pt idx="1">
                  <c:v>1202154</c:v>
                </c:pt>
                <c:pt idx="2">
                  <c:v>967437</c:v>
                </c:pt>
                <c:pt idx="3">
                  <c:v>666472</c:v>
                </c:pt>
                <c:pt idx="4">
                  <c:v>467734</c:v>
                </c:pt>
                <c:pt idx="5">
                  <c:v>380136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C22A-41DB-B165-89D079F54AA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legend>
      <c:legendPos val="t"/>
      <c:overlay val="0"/>
    </c:legend>
    <c:plotVisOnly val="1"/>
    <c:dispBlanksAs val="gap"/>
    <c:showDLblsOverMax val="1"/>
  </c:chart>
  <c:txPr>
    <a:bodyPr/>
    <a:lstStyle/>
    <a:p>
      <a:pPr>
        <a:defRPr sz="900">
          <a:latin typeface="Calibri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 sz="1250" b="1">
                <a:solidFill>
                  <a:srgbClr val="1E2761"/>
                </a:solidFill>
                <a:latin typeface="Calibri"/>
              </a:rPr>
              <a:t>Tourist arrivals H1 (millions)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Domestic</c:v>
                </c:pt>
              </c:strCache>
            </c:strRef>
          </c:tx>
          <c:spPr>
            <a:solidFill>
              <a:srgbClr val="C9D6EE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15.62</c:v>
                </c:pt>
                <c:pt idx="1">
                  <c:v>14.83</c:v>
                </c:pt>
                <c:pt idx="2">
                  <c:v>14.55</c:v>
                </c:pt>
                <c:pt idx="3">
                  <c:v>15.45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3A2C-471C-BF67-EBD171204F8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International</c:v>
                </c:pt>
              </c:strCache>
            </c:strRef>
          </c:tx>
          <c:spPr>
            <a:solidFill>
              <a:srgbClr val="1E276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11.62</c:v>
                </c:pt>
                <c:pt idx="1">
                  <c:v>13.49</c:v>
                </c:pt>
                <c:pt idx="2">
                  <c:v>12.43</c:v>
                </c:pt>
                <c:pt idx="3">
                  <c:v>12.42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3A2C-471C-BF67-EBD171204F8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D9A44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27.23</c:v>
                </c:pt>
                <c:pt idx="1">
                  <c:v>28.32</c:v>
                </c:pt>
                <c:pt idx="2">
                  <c:v>26.98</c:v>
                </c:pt>
                <c:pt idx="3">
                  <c:v>27.86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3A2C-471C-BF67-EBD171204F8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  <a:endParaRPr lang="en-US"/>
          </a:p>
        </c:txPr>
        <c:crossAx val="-2068027336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400"/>
          </a:pPr>
          <a:endParaRPr lang="en-US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Occupancy (%)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77.52</c:v>
                </c:pt>
                <c:pt idx="1">
                  <c:v>78.64</c:v>
                </c:pt>
                <c:pt idx="2">
                  <c:v>68.819999999999993</c:v>
                </c:pt>
                <c:pt idx="3">
                  <c:v>62.29</c:v>
                </c:pt>
                <c:pt idx="4">
                  <c:v>63.27</c:v>
                </c:pt>
                <c:pt idx="5">
                  <c:v>63.65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FA5-4170-BABD-F3C4CFAC4D7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75.69</c:v>
                </c:pt>
                <c:pt idx="1">
                  <c:v>80.86</c:v>
                </c:pt>
                <c:pt idx="2">
                  <c:v>73.25</c:v>
                </c:pt>
                <c:pt idx="3">
                  <c:v>64.67</c:v>
                </c:pt>
                <c:pt idx="4">
                  <c:v>65.36</c:v>
                </c:pt>
                <c:pt idx="5">
                  <c:v>63.87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DFA5-4170-BABD-F3C4CFAC4D74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36808227294373014"/>
          <c:y val="0.90150918635170607"/>
          <c:w val="0.26383517724841354"/>
          <c:h val="9.8490813648293957E-2"/>
        </c:manualLayout>
      </c:layout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ADR (THB)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4605.45</c:v>
                </c:pt>
                <c:pt idx="1">
                  <c:v>4286.41</c:v>
                </c:pt>
                <c:pt idx="2">
                  <c:v>3890.63</c:v>
                </c:pt>
                <c:pt idx="3">
                  <c:v>3869</c:v>
                </c:pt>
                <c:pt idx="4">
                  <c:v>3638.97</c:v>
                </c:pt>
                <c:pt idx="5">
                  <c:v>3572.01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9B7-4650-99F9-F81ABD5824E2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dLbl>
              <c:idx val="3"/>
              <c:layout>
                <c:manualLayout>
                  <c:x val="1.4064697609001406E-2"/>
                  <c:y val="-1.6339869281045777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F484-4D39-8ECA-6620D640AD96}"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4279.7</c:v>
                </c:pt>
                <c:pt idx="1">
                  <c:v>4348.93</c:v>
                </c:pt>
                <c:pt idx="2">
                  <c:v>3941.53</c:v>
                </c:pt>
                <c:pt idx="3">
                  <c:v>3841.97</c:v>
                </c:pt>
                <c:pt idx="4">
                  <c:v>3617.64</c:v>
                </c:pt>
                <c:pt idx="5">
                  <c:v>3561.51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9B7-4650-99F9-F81ABD5824E2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36808227294373014"/>
          <c:y val="0.90150918635170607"/>
          <c:w val="0.26383517724841354"/>
          <c:h val="9.8490813648293957E-2"/>
        </c:manualLayout>
      </c:layout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RevPAR (THB)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3569.98</c:v>
                </c:pt>
                <c:pt idx="1">
                  <c:v>3370.82</c:v>
                </c:pt>
                <c:pt idx="2">
                  <c:v>2677.46</c:v>
                </c:pt>
                <c:pt idx="3">
                  <c:v>2409.86</c:v>
                </c:pt>
                <c:pt idx="4">
                  <c:v>2302.2399999999998</c:v>
                </c:pt>
                <c:pt idx="5">
                  <c:v>2273.5700000000002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804-4804-A496-A00E8A92874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dLbl>
              <c:idx val="2"/>
              <c:layout>
                <c:manualLayout>
                  <c:x val="-6.4462452698835405E-17"/>
                  <c:y val="-1.6339869281045753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9D49-452B-84B8-37BC5ED0BA6E}"/>
                </c:ext>
              </c:extLst>
            </c:dLbl>
            <c:dLbl>
              <c:idx val="3"/>
              <c:layout>
                <c:manualLayout>
                  <c:x val="0"/>
                  <c:y val="-3.2679738562091505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9D49-452B-84B8-37BC5ED0BA6E}"/>
                </c:ext>
              </c:extLst>
            </c:dLbl>
            <c:dLbl>
              <c:idx val="4"/>
              <c:layout>
                <c:manualLayout>
                  <c:x val="-1.2892490539767081E-16"/>
                  <c:y val="-1.6339869281045801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9D49-452B-84B8-37BC5ED0BA6E}"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3239.27</c:v>
                </c:pt>
                <c:pt idx="1">
                  <c:v>3516.46</c:v>
                </c:pt>
                <c:pt idx="2">
                  <c:v>2887.33</c:v>
                </c:pt>
                <c:pt idx="3">
                  <c:v>2484.6</c:v>
                </c:pt>
                <c:pt idx="4">
                  <c:v>2364.44</c:v>
                </c:pt>
                <c:pt idx="5">
                  <c:v>2274.62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6804-4804-A496-A00E8A928746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36808227294373014"/>
          <c:y val="0.90150918635170607"/>
          <c:w val="0.26383517724841354"/>
          <c:h val="9.8490813648293957E-2"/>
        </c:manualLayout>
      </c:layout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 sz="1250" b="1">
                <a:solidFill>
                  <a:srgbClr val="1E2761"/>
                </a:solidFill>
                <a:latin typeface="Calibri"/>
              </a:rPr>
              <a:t>Tourist arrivals H1 (millions)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Domestic</c:v>
                </c:pt>
              </c:strCache>
            </c:strRef>
          </c:tx>
          <c:spPr>
            <a:solidFill>
              <a:srgbClr val="C9D6EE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7.12</c:v>
                </c:pt>
                <c:pt idx="1">
                  <c:v>7.57</c:v>
                </c:pt>
                <c:pt idx="2">
                  <c:v>8.4499999999999993</c:v>
                </c:pt>
                <c:pt idx="3">
                  <c:v>8.3800000000000008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FF1D-449F-835B-98E82FD5A41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International</c:v>
                </c:pt>
              </c:strCache>
            </c:strRef>
          </c:tx>
          <c:spPr>
            <a:solidFill>
              <a:srgbClr val="1E276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4.7</c:v>
                </c:pt>
                <c:pt idx="1">
                  <c:v>5.78</c:v>
                </c:pt>
                <c:pt idx="2">
                  <c:v>5.42</c:v>
                </c:pt>
                <c:pt idx="3">
                  <c:v>5.13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FF1D-449F-835B-98E82FD5A41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D9A44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11.82</c:v>
                </c:pt>
                <c:pt idx="1">
                  <c:v>13.35</c:v>
                </c:pt>
                <c:pt idx="2">
                  <c:v>13.87</c:v>
                </c:pt>
                <c:pt idx="3">
                  <c:v>13.51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FF1D-449F-835B-98E82FD5A41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legend>
      <c:legendPos val="b"/>
      <c:overlay val="0"/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Occupancy (%)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79.13</c:v>
                </c:pt>
                <c:pt idx="1">
                  <c:v>73.86</c:v>
                </c:pt>
                <c:pt idx="2">
                  <c:v>68.069999999999993</c:v>
                </c:pt>
                <c:pt idx="3">
                  <c:v>63.24</c:v>
                </c:pt>
                <c:pt idx="4">
                  <c:v>58.23</c:v>
                </c:pt>
                <c:pt idx="5">
                  <c:v>53.87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303-418E-A737-F48065E28C6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74.349999999999994</c:v>
                </c:pt>
                <c:pt idx="1">
                  <c:v>74.62</c:v>
                </c:pt>
                <c:pt idx="2">
                  <c:v>69.349999999999994</c:v>
                </c:pt>
                <c:pt idx="3">
                  <c:v>63.76</c:v>
                </c:pt>
                <c:pt idx="4">
                  <c:v>53.65</c:v>
                </c:pt>
                <c:pt idx="5">
                  <c:v>51.55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303-418E-A737-F48065E28C6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ADR (THB)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3952.41</c:v>
                </c:pt>
                <c:pt idx="1">
                  <c:v>3536.96</c:v>
                </c:pt>
                <c:pt idx="2">
                  <c:v>3302.88</c:v>
                </c:pt>
                <c:pt idx="3">
                  <c:v>3505.45</c:v>
                </c:pt>
                <c:pt idx="4">
                  <c:v>3251.06</c:v>
                </c:pt>
                <c:pt idx="5">
                  <c:v>3010.59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C41-430F-BD89-9F4BEDFC74D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3734.91</c:v>
                </c:pt>
                <c:pt idx="1">
                  <c:v>3933.56</c:v>
                </c:pt>
                <c:pt idx="2">
                  <c:v>3342.78</c:v>
                </c:pt>
                <c:pt idx="3">
                  <c:v>3511.78</c:v>
                </c:pt>
                <c:pt idx="4">
                  <c:v>3116.64</c:v>
                </c:pt>
                <c:pt idx="5">
                  <c:v>2908.52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C41-430F-BD89-9F4BEDFC74D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RevPAR (THB)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3127.51</c:v>
                </c:pt>
                <c:pt idx="1">
                  <c:v>2612.2600000000002</c:v>
                </c:pt>
                <c:pt idx="2">
                  <c:v>2248.3200000000002</c:v>
                </c:pt>
                <c:pt idx="3">
                  <c:v>2217</c:v>
                </c:pt>
                <c:pt idx="4">
                  <c:v>1893.05</c:v>
                </c:pt>
                <c:pt idx="5">
                  <c:v>1621.68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539-41ED-BD4C-46D14D4EF95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2776.79</c:v>
                </c:pt>
                <c:pt idx="1">
                  <c:v>2935.37</c:v>
                </c:pt>
                <c:pt idx="2">
                  <c:v>2318.34</c:v>
                </c:pt>
                <c:pt idx="3">
                  <c:v>2239.14</c:v>
                </c:pt>
                <c:pt idx="4">
                  <c:v>1671.95</c:v>
                </c:pt>
                <c:pt idx="5">
                  <c:v>1499.42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539-41ED-BD4C-46D14D4EF95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2730.61</c:v>
                </c:pt>
                <c:pt idx="1">
                  <c:v>2981.88</c:v>
                </c:pt>
                <c:pt idx="2">
                  <c:v>2265.4699999999998</c:v>
                </c:pt>
                <c:pt idx="3">
                  <c:v>2090.5500000000002</c:v>
                </c:pt>
                <c:pt idx="4">
                  <c:v>1841.55</c:v>
                </c:pt>
                <c:pt idx="5">
                  <c:v>1856.88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938-4BD0-9BC4-1779E1420A4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2832.89</c:v>
                </c:pt>
                <c:pt idx="1">
                  <c:v>2930.13</c:v>
                </c:pt>
                <c:pt idx="2">
                  <c:v>2196.21</c:v>
                </c:pt>
                <c:pt idx="3">
                  <c:v>2340.37</c:v>
                </c:pt>
                <c:pt idx="4">
                  <c:v>2058</c:v>
                </c:pt>
                <c:pt idx="5">
                  <c:v>2015.7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A938-4BD0-9BC4-1779E1420A41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3058.29</c:v>
                </c:pt>
                <c:pt idx="1">
                  <c:v>2793.16</c:v>
                </c:pt>
                <c:pt idx="2">
                  <c:v>2045.25</c:v>
                </c:pt>
                <c:pt idx="3">
                  <c:v>2130.85</c:v>
                </c:pt>
                <c:pt idx="4">
                  <c:v>1956.25</c:v>
                </c:pt>
                <c:pt idx="5">
                  <c:v>1852.03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A938-4BD0-9BC4-1779E1420A41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2549.8200000000002</c:v>
                </c:pt>
                <c:pt idx="1">
                  <c:v>3094.06</c:v>
                </c:pt>
                <c:pt idx="2">
                  <c:v>2490.73</c:v>
                </c:pt>
                <c:pt idx="3">
                  <c:v>2681.05</c:v>
                </c:pt>
                <c:pt idx="4">
                  <c:v>2184.6999999999998</c:v>
                </c:pt>
                <c:pt idx="5">
                  <c:v>2497.0700000000002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A938-4BD0-9BC4-1779E1420A4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111475897.26000001</c:v>
                </c:pt>
                <c:pt idx="1">
                  <c:v>126112350.23999999</c:v>
                </c:pt>
                <c:pt idx="2">
                  <c:v>109777270.98000002</c:v>
                </c:pt>
                <c:pt idx="3">
                  <c:v>113258166.72999999</c:v>
                </c:pt>
                <c:pt idx="4">
                  <c:v>96284030.989999995</c:v>
                </c:pt>
                <c:pt idx="5">
                  <c:v>106385076.2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736-4905-8B7A-7A386F3F912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133807592.83000001</c:v>
                </c:pt>
                <c:pt idx="1">
                  <c:v>110119287.81999999</c:v>
                </c:pt>
                <c:pt idx="2">
                  <c:v>89952687.949999988</c:v>
                </c:pt>
                <c:pt idx="3">
                  <c:v>91434840.560000002</c:v>
                </c:pt>
                <c:pt idx="4">
                  <c:v>85699029.230000004</c:v>
                </c:pt>
                <c:pt idx="5">
                  <c:v>79340898.109999999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736-4905-8B7A-7A386F3F912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118442088.12</c:v>
                </c:pt>
                <c:pt idx="1">
                  <c:v>116700026.86</c:v>
                </c:pt>
                <c:pt idx="2">
                  <c:v>99275487.290000007</c:v>
                </c:pt>
                <c:pt idx="3">
                  <c:v>88366637.049999997</c:v>
                </c:pt>
                <c:pt idx="4">
                  <c:v>80532064.560000002</c:v>
                </c:pt>
                <c:pt idx="5">
                  <c:v>78588276.849999994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736-4905-8B7A-7A386F3F912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2584.46</c:v>
                </c:pt>
                <c:pt idx="1">
                  <c:v>2840.81</c:v>
                </c:pt>
                <c:pt idx="2">
                  <c:v>2283.83</c:v>
                </c:pt>
                <c:pt idx="3">
                  <c:v>2267.7399999999998</c:v>
                </c:pt>
                <c:pt idx="4">
                  <c:v>2029.21</c:v>
                </c:pt>
                <c:pt idx="5">
                  <c:v>2045.21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863-4432-BC37-0F1FC745151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2875.9054000000001</c:v>
                </c:pt>
                <c:pt idx="1">
                  <c:v>2698.8366000000001</c:v>
                </c:pt>
                <c:pt idx="2">
                  <c:v>2275.9744999999998</c:v>
                </c:pt>
                <c:pt idx="3">
                  <c:v>2218.3143</c:v>
                </c:pt>
                <c:pt idx="4">
                  <c:v>2087.6923000000002</c:v>
                </c:pt>
                <c:pt idx="5">
                  <c:v>2076.6554000000001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4863-4432-BC37-0F1FC745151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2830.4776999999999</c:v>
                </c:pt>
                <c:pt idx="1">
                  <c:v>2684.1437999999998</c:v>
                </c:pt>
                <c:pt idx="2">
                  <c:v>2204.3263000000002</c:v>
                </c:pt>
                <c:pt idx="3">
                  <c:v>2015.123</c:v>
                </c:pt>
                <c:pt idx="4">
                  <c:v>2070.1639</c:v>
                </c:pt>
                <c:pt idx="5">
                  <c:v>2045.5304000000001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4863-4432-BC37-0F1FC7451516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D9A441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2531.6268</c:v>
                </c:pt>
                <c:pt idx="1">
                  <c:v>3072.0153</c:v>
                </c:pt>
                <c:pt idx="2">
                  <c:v>2585.7296000000001</c:v>
                </c:pt>
                <c:pt idx="3">
                  <c:v>2663.5610000000001</c:v>
                </c:pt>
                <c:pt idx="4">
                  <c:v>2544.7352999999998</c:v>
                </c:pt>
                <c:pt idx="5">
                  <c:v>2399.04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4863-4432-BC37-0F1FC745151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Taiwan</c:v>
                </c:pt>
                <c:pt idx="2">
                  <c:v>Thailand</c:v>
                </c:pt>
                <c:pt idx="3">
                  <c:v>India</c:v>
                </c:pt>
                <c:pt idx="4">
                  <c:v>Japan</c:v>
                </c:pt>
                <c:pt idx="5">
                  <c:v>Malaysia</c:v>
                </c:pt>
                <c:pt idx="6">
                  <c:v>Singapore</c:v>
                </c:pt>
                <c:pt idx="7">
                  <c:v>Korea</c:v>
                </c:pt>
                <c:pt idx="8">
                  <c:v>Indonesia</c:v>
                </c:pt>
                <c:pt idx="9">
                  <c:v>USA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30611</c:v>
                </c:pt>
                <c:pt idx="1">
                  <c:v>6536</c:v>
                </c:pt>
                <c:pt idx="2">
                  <c:v>3044</c:v>
                </c:pt>
                <c:pt idx="3">
                  <c:v>1455</c:v>
                </c:pt>
                <c:pt idx="4">
                  <c:v>2679</c:v>
                </c:pt>
                <c:pt idx="5">
                  <c:v>2486</c:v>
                </c:pt>
                <c:pt idx="6">
                  <c:v>2017</c:v>
                </c:pt>
                <c:pt idx="7">
                  <c:v>2863</c:v>
                </c:pt>
                <c:pt idx="8">
                  <c:v>1120</c:v>
                </c:pt>
                <c:pt idx="9">
                  <c:v>1034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49D-44A8-8B79-278AE8A3A4D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Taiwan</c:v>
                </c:pt>
                <c:pt idx="2">
                  <c:v>Thailand</c:v>
                </c:pt>
                <c:pt idx="3">
                  <c:v>India</c:v>
                </c:pt>
                <c:pt idx="4">
                  <c:v>Japan</c:v>
                </c:pt>
                <c:pt idx="5">
                  <c:v>Malaysia</c:v>
                </c:pt>
                <c:pt idx="6">
                  <c:v>Singapore</c:v>
                </c:pt>
                <c:pt idx="7">
                  <c:v>Korea</c:v>
                </c:pt>
                <c:pt idx="8">
                  <c:v>Indonesia</c:v>
                </c:pt>
                <c:pt idx="9">
                  <c:v>USA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32403</c:v>
                </c:pt>
                <c:pt idx="1">
                  <c:v>5882</c:v>
                </c:pt>
                <c:pt idx="2">
                  <c:v>3806</c:v>
                </c:pt>
                <c:pt idx="3">
                  <c:v>2674</c:v>
                </c:pt>
                <c:pt idx="4">
                  <c:v>2635</c:v>
                </c:pt>
                <c:pt idx="5">
                  <c:v>2247</c:v>
                </c:pt>
                <c:pt idx="6">
                  <c:v>2169</c:v>
                </c:pt>
                <c:pt idx="7">
                  <c:v>2106</c:v>
                </c:pt>
                <c:pt idx="8">
                  <c:v>1273</c:v>
                </c:pt>
                <c:pt idx="9">
                  <c:v>1032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49D-44A8-8B79-278AE8A3A4DA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1270</c:v>
                </c:pt>
                <c:pt idx="1">
                  <c:v>1549</c:v>
                </c:pt>
                <c:pt idx="2">
                  <c:v>1849</c:v>
                </c:pt>
                <c:pt idx="3">
                  <c:v>1541</c:v>
                </c:pt>
                <c:pt idx="4">
                  <c:v>1597</c:v>
                </c:pt>
                <c:pt idx="5">
                  <c:v>1484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541-448A-AF96-C51AE27DD68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1416</c:v>
                </c:pt>
                <c:pt idx="1">
                  <c:v>1303</c:v>
                </c:pt>
                <c:pt idx="2">
                  <c:v>1323</c:v>
                </c:pt>
                <c:pt idx="3">
                  <c:v>1437</c:v>
                </c:pt>
                <c:pt idx="4">
                  <c:v>1936</c:v>
                </c:pt>
                <c:pt idx="5">
                  <c:v>2208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541-448A-AF96-C51AE27DD68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5457</c:v>
                </c:pt>
                <c:pt idx="1">
                  <c:v>4414</c:v>
                </c:pt>
                <c:pt idx="2">
                  <c:v>4854</c:v>
                </c:pt>
                <c:pt idx="3">
                  <c:v>4174</c:v>
                </c:pt>
                <c:pt idx="4">
                  <c:v>4085</c:v>
                </c:pt>
                <c:pt idx="5">
                  <c:v>4517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C541-448A-AF96-C51AE27DD689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837</c:v>
                </c:pt>
                <c:pt idx="1">
                  <c:v>958</c:v>
                </c:pt>
                <c:pt idx="2">
                  <c:v>972</c:v>
                </c:pt>
                <c:pt idx="3">
                  <c:v>1070</c:v>
                </c:pt>
                <c:pt idx="4">
                  <c:v>1123</c:v>
                </c:pt>
                <c:pt idx="5">
                  <c:v>876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C541-448A-AF96-C51AE27DD689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1828</c:v>
                </c:pt>
                <c:pt idx="1">
                  <c:v>2664</c:v>
                </c:pt>
                <c:pt idx="2">
                  <c:v>1360</c:v>
                </c:pt>
                <c:pt idx="3">
                  <c:v>1531</c:v>
                </c:pt>
                <c:pt idx="4">
                  <c:v>851</c:v>
                </c:pt>
                <c:pt idx="5">
                  <c:v>802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C541-448A-AF96-C51AE27DD689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Group Corp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338</c:v>
                </c:pt>
                <c:pt idx="1">
                  <c:v>69</c:v>
                </c:pt>
                <c:pt idx="2">
                  <c:v>252</c:v>
                </c:pt>
                <c:pt idx="3">
                  <c:v>73</c:v>
                </c:pt>
                <c:pt idx="4">
                  <c:v>41</c:v>
                </c:pt>
                <c:pt idx="5">
                  <c:v>100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C541-448A-AF96-C51AE27DD689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Group Leisure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426</c:v>
                </c:pt>
                <c:pt idx="1">
                  <c:v>105</c:v>
                </c:pt>
                <c:pt idx="2">
                  <c:v>188</c:v>
                </c:pt>
                <c:pt idx="3">
                  <c:v>294</c:v>
                </c:pt>
                <c:pt idx="4">
                  <c:v>373</c:v>
                </c:pt>
                <c:pt idx="5">
                  <c:v>133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C541-448A-AF96-C51AE27DD689}"/>
            </c:ext>
          </c:extLst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Group Series</c:v>
                </c:pt>
              </c:strCache>
            </c:strRef>
          </c:tx>
          <c:spPr>
            <a:solidFill>
              <a:srgbClr val="C97B4A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Sheet1!$I$2:$I$7</c:f>
              <c:numCache>
                <c:formatCode>General</c:formatCode>
                <c:ptCount val="6"/>
                <c:pt idx="0">
                  <c:v>526</c:v>
                </c:pt>
                <c:pt idx="1">
                  <c:v>213</c:v>
                </c:pt>
                <c:pt idx="2">
                  <c:v>207</c:v>
                </c:pt>
                <c:pt idx="3">
                  <c:v>90</c:v>
                </c:pt>
                <c:pt idx="4">
                  <c:v>332</c:v>
                </c:pt>
                <c:pt idx="5">
                  <c:v>95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7-C541-448A-AF96-C51AE27DD689}"/>
            </c:ext>
          </c:extLst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8FA35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Sheet1!$J$2:$J$7</c:f>
              <c:numCache>
                <c:formatCode>General</c:formatCode>
                <c:ptCount val="6"/>
                <c:pt idx="0">
                  <c:v>1</c:v>
                </c:pt>
                <c:pt idx="1">
                  <c:v>0</c:v>
                </c:pt>
                <c:pt idx="2">
                  <c:v>25</c:v>
                </c:pt>
                <c:pt idx="3">
                  <c:v>0</c:v>
                </c:pt>
                <c:pt idx="4">
                  <c:v>4</c:v>
                </c:pt>
                <c:pt idx="5">
                  <c:v>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C541-448A-AF96-C51AE27DD689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YTD mix (65,175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E50D-4561-8741-147DBC9FE6C0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E50D-4561-8741-147DBC9FE6C0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E50D-4561-8741-147DBC9FE6C0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E50D-4561-8741-147DBC9FE6C0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E50D-4561-8741-147DBC9FE6C0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E50D-4561-8741-147DBC9FE6C0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E50D-4561-8741-147DBC9FE6C0}"/>
              </c:ext>
            </c:extLst>
          </c:dPt>
          <c:dPt>
            <c:idx val="7"/>
            <c:bubble3D val="0"/>
            <c:spPr>
              <a:solidFill>
                <a:srgbClr val="C97B4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E50D-4561-8741-147DBC9FE6C0}"/>
              </c:ext>
            </c:extLst>
          </c:dPt>
          <c:dPt>
            <c:idx val="8"/>
            <c:bubble3D val="0"/>
            <c:spPr>
              <a:solidFill>
                <a:srgbClr val="8FA35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1-E50D-4561-8741-147DBC9FE6C0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E50D-4561-8741-147DBC9FE6C0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E50D-4561-8741-147DBC9FE6C0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E50D-4561-8741-147DBC9FE6C0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E50D-4561-8741-147DBC9FE6C0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E50D-4561-8741-147DBC9FE6C0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E50D-4561-8741-147DBC9FE6C0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E50D-4561-8741-147DBC9FE6C0}"/>
                </c:ext>
              </c:extLst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E50D-4561-8741-147DBC9FE6C0}"/>
                </c:ext>
              </c:extLst>
            </c:dLbl>
            <c:dLbl>
              <c:idx val="8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E50D-4561-8741-147DBC9FE6C0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Sheet1!$A$2:$A$10</c:f>
              <c:strCache>
                <c:ptCount val="9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Group Corp</c:v>
                </c:pt>
                <c:pt idx="6">
                  <c:v>Group Leisure</c:v>
                </c:pt>
                <c:pt idx="7">
                  <c:v>Group Series</c:v>
                </c:pt>
                <c:pt idx="8">
                  <c:v>Employee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9290</c:v>
                </c:pt>
                <c:pt idx="1">
                  <c:v>9623</c:v>
                </c:pt>
                <c:pt idx="2">
                  <c:v>27501</c:v>
                </c:pt>
                <c:pt idx="3">
                  <c:v>5836</c:v>
                </c:pt>
                <c:pt idx="4">
                  <c:v>9036</c:v>
                </c:pt>
                <c:pt idx="5">
                  <c:v>873</c:v>
                </c:pt>
                <c:pt idx="6">
                  <c:v>1519</c:v>
                </c:pt>
                <c:pt idx="7">
                  <c:v>1463</c:v>
                </c:pt>
                <c:pt idx="8">
                  <c:v>34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2-E50D-4561-8741-147DBC9FE6C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36808084.990000002</c:v>
                </c:pt>
                <c:pt idx="1">
                  <c:v>41472163.590000004</c:v>
                </c:pt>
                <c:pt idx="2">
                  <c:v>37684641.259999998</c:v>
                </c:pt>
                <c:pt idx="3">
                  <c:v>37448282.219999999</c:v>
                </c:pt>
                <c:pt idx="4">
                  <c:v>37081120.259999998</c:v>
                </c:pt>
                <c:pt idx="5">
                  <c:v>33416187.350000001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0AB-4477-975D-449E7DD3F03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40471406.759999998</c:v>
                </c:pt>
                <c:pt idx="1">
                  <c:v>35097386</c:v>
                </c:pt>
                <c:pt idx="2">
                  <c:v>31885906.359999999</c:v>
                </c:pt>
                <c:pt idx="3">
                  <c:v>28944481.789999999</c:v>
                </c:pt>
                <c:pt idx="4">
                  <c:v>29907879.420000002</c:v>
                </c:pt>
                <c:pt idx="5">
                  <c:v>28869835.91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20AB-4477-975D-449E7DD3F03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36981091.140000001</c:v>
                </c:pt>
                <c:pt idx="1">
                  <c:v>36798669.049999997</c:v>
                </c:pt>
                <c:pt idx="2">
                  <c:v>33026703.75</c:v>
                </c:pt>
                <c:pt idx="3">
                  <c:v>31830715.75</c:v>
                </c:pt>
                <c:pt idx="4">
                  <c:v>29125527.620000001</c:v>
                </c:pt>
                <c:pt idx="5">
                  <c:v>28515831.960000001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20AB-4477-975D-449E7DD3F03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2846.76</c:v>
                </c:pt>
                <c:pt idx="1">
                  <c:v>3468.5</c:v>
                </c:pt>
                <c:pt idx="2">
                  <c:v>2447.06</c:v>
                </c:pt>
                <c:pt idx="3">
                  <c:v>2181.63</c:v>
                </c:pt>
                <c:pt idx="4">
                  <c:v>1861.3</c:v>
                </c:pt>
                <c:pt idx="5">
                  <c:v>1993.88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211-4356-9605-8536186A880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2955.1113</c:v>
                </c:pt>
                <c:pt idx="1">
                  <c:v>3156.7793999999999</c:v>
                </c:pt>
                <c:pt idx="2">
                  <c:v>2298.422</c:v>
                </c:pt>
                <c:pt idx="3">
                  <c:v>2608.8519999999999</c:v>
                </c:pt>
                <c:pt idx="4">
                  <c:v>2312.0012000000002</c:v>
                </c:pt>
                <c:pt idx="5">
                  <c:v>2374.5527000000002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8211-4356-9605-8536186A8801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3408.1212</c:v>
                </c:pt>
                <c:pt idx="1">
                  <c:v>3007.4331999999999</c:v>
                </c:pt>
                <c:pt idx="2">
                  <c:v>2031.3738000000001</c:v>
                </c:pt>
                <c:pt idx="3">
                  <c:v>2352.3757000000001</c:v>
                </c:pt>
                <c:pt idx="4">
                  <c:v>2192.6749</c:v>
                </c:pt>
                <c:pt idx="5">
                  <c:v>2097.2766000000001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8211-4356-9605-8536186A8801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2950.6957000000002</c:v>
                </c:pt>
                <c:pt idx="1">
                  <c:v>3749.3217</c:v>
                </c:pt>
                <c:pt idx="2">
                  <c:v>2842.5663</c:v>
                </c:pt>
                <c:pt idx="3">
                  <c:v>3095.3478</c:v>
                </c:pt>
                <c:pt idx="4">
                  <c:v>2257.2103000000002</c:v>
                </c:pt>
                <c:pt idx="5">
                  <c:v>3085.8020000000001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8211-4356-9605-8536186A880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Japan</c:v>
                </c:pt>
                <c:pt idx="2">
                  <c:v>Finland</c:v>
                </c:pt>
                <c:pt idx="3">
                  <c:v>Singapore</c:v>
                </c:pt>
                <c:pt idx="4">
                  <c:v>USA</c:v>
                </c:pt>
                <c:pt idx="5">
                  <c:v>Thailand</c:v>
                </c:pt>
                <c:pt idx="6">
                  <c:v>Germany</c:v>
                </c:pt>
                <c:pt idx="7">
                  <c:v>UK</c:v>
                </c:pt>
                <c:pt idx="8">
                  <c:v>Korea</c:v>
                </c:pt>
                <c:pt idx="9">
                  <c:v>Taiwan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16921</c:v>
                </c:pt>
                <c:pt idx="1">
                  <c:v>2723</c:v>
                </c:pt>
                <c:pt idx="2">
                  <c:v>55</c:v>
                </c:pt>
                <c:pt idx="3">
                  <c:v>2263</c:v>
                </c:pt>
                <c:pt idx="4">
                  <c:v>2078</c:v>
                </c:pt>
                <c:pt idx="5">
                  <c:v>1524</c:v>
                </c:pt>
                <c:pt idx="6">
                  <c:v>1536</c:v>
                </c:pt>
                <c:pt idx="7">
                  <c:v>1153</c:v>
                </c:pt>
                <c:pt idx="8">
                  <c:v>2214</c:v>
                </c:pt>
                <c:pt idx="9">
                  <c:v>1426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2BB-42D3-8C5E-0E2C8B63539E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Japan</c:v>
                </c:pt>
                <c:pt idx="2">
                  <c:v>Finland</c:v>
                </c:pt>
                <c:pt idx="3">
                  <c:v>Singapore</c:v>
                </c:pt>
                <c:pt idx="4">
                  <c:v>USA</c:v>
                </c:pt>
                <c:pt idx="5">
                  <c:v>Thailand</c:v>
                </c:pt>
                <c:pt idx="6">
                  <c:v>Germany</c:v>
                </c:pt>
                <c:pt idx="7">
                  <c:v>UK</c:v>
                </c:pt>
                <c:pt idx="8">
                  <c:v>Korea</c:v>
                </c:pt>
                <c:pt idx="9">
                  <c:v>Taiwan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18613</c:v>
                </c:pt>
                <c:pt idx="1">
                  <c:v>3600</c:v>
                </c:pt>
                <c:pt idx="2">
                  <c:v>2922</c:v>
                </c:pt>
                <c:pt idx="3">
                  <c:v>1934</c:v>
                </c:pt>
                <c:pt idx="4">
                  <c:v>1818</c:v>
                </c:pt>
                <c:pt idx="5">
                  <c:v>1625</c:v>
                </c:pt>
                <c:pt idx="6">
                  <c:v>1526</c:v>
                </c:pt>
                <c:pt idx="7">
                  <c:v>1385</c:v>
                </c:pt>
                <c:pt idx="8">
                  <c:v>1304</c:v>
                </c:pt>
                <c:pt idx="9">
                  <c:v>1216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F2BB-42D3-8C5E-0E2C8B63539E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979</c:v>
                </c:pt>
                <c:pt idx="1">
                  <c:v>907</c:v>
                </c:pt>
                <c:pt idx="2">
                  <c:v>1236</c:v>
                </c:pt>
                <c:pt idx="3">
                  <c:v>545</c:v>
                </c:pt>
                <c:pt idx="4">
                  <c:v>768</c:v>
                </c:pt>
                <c:pt idx="5">
                  <c:v>752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FAD-4E93-B94C-848C271419B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2388</c:v>
                </c:pt>
                <c:pt idx="1">
                  <c:v>2430</c:v>
                </c:pt>
                <c:pt idx="2">
                  <c:v>2676</c:v>
                </c:pt>
                <c:pt idx="3">
                  <c:v>1683</c:v>
                </c:pt>
                <c:pt idx="4">
                  <c:v>2075</c:v>
                </c:pt>
                <c:pt idx="5">
                  <c:v>1844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FAD-4E93-B94C-848C271419B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3257</c:v>
                </c:pt>
                <c:pt idx="1">
                  <c:v>3910</c:v>
                </c:pt>
                <c:pt idx="2">
                  <c:v>2690</c:v>
                </c:pt>
                <c:pt idx="3">
                  <c:v>2876</c:v>
                </c:pt>
                <c:pt idx="4">
                  <c:v>2049</c:v>
                </c:pt>
                <c:pt idx="5">
                  <c:v>2146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FAD-4E93-B94C-848C271419B6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756</c:v>
                </c:pt>
                <c:pt idx="1">
                  <c:v>720</c:v>
                </c:pt>
                <c:pt idx="2">
                  <c:v>578</c:v>
                </c:pt>
                <c:pt idx="3">
                  <c:v>769</c:v>
                </c:pt>
                <c:pt idx="4">
                  <c:v>752</c:v>
                </c:pt>
                <c:pt idx="5">
                  <c:v>961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BFAD-4E93-B94C-848C271419B6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1479</c:v>
                </c:pt>
                <c:pt idx="1">
                  <c:v>2041</c:v>
                </c:pt>
                <c:pt idx="2">
                  <c:v>1382</c:v>
                </c:pt>
                <c:pt idx="3">
                  <c:v>711</c:v>
                </c:pt>
                <c:pt idx="4">
                  <c:v>1203</c:v>
                </c:pt>
                <c:pt idx="5">
                  <c:v>1315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BFAD-4E93-B94C-848C271419B6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Corporate Group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294</c:v>
                </c:pt>
                <c:pt idx="1">
                  <c:v>126</c:v>
                </c:pt>
                <c:pt idx="2">
                  <c:v>502</c:v>
                </c:pt>
                <c:pt idx="3">
                  <c:v>941</c:v>
                </c:pt>
                <c:pt idx="4">
                  <c:v>193</c:v>
                </c:pt>
                <c:pt idx="5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BFAD-4E93-B94C-848C271419B6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33</c:v>
                </c:pt>
                <c:pt idx="1">
                  <c:v>30</c:v>
                </c:pt>
                <c:pt idx="2">
                  <c:v>17</c:v>
                </c:pt>
                <c:pt idx="3">
                  <c:v>23</c:v>
                </c:pt>
                <c:pt idx="4">
                  <c:v>46</c:v>
                </c:pt>
                <c:pt idx="5">
                  <c:v>40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BFAD-4E93-B94C-848C271419B6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YTD mix (50,123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1279-4F19-93D3-ED11D50173E7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1279-4F19-93D3-ED11D50173E7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1279-4F19-93D3-ED11D50173E7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1279-4F19-93D3-ED11D50173E7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1279-4F19-93D3-ED11D50173E7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1279-4F19-93D3-ED11D50173E7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1279-4F19-93D3-ED11D50173E7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1279-4F19-93D3-ED11D50173E7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1279-4F19-93D3-ED11D50173E7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1279-4F19-93D3-ED11D50173E7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1279-4F19-93D3-ED11D50173E7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1279-4F19-93D3-ED11D50173E7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1279-4F19-93D3-ED11D50173E7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1279-4F19-93D3-ED11D50173E7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Sheet1!$A$2:$A$8</c:f>
              <c:strCache>
                <c:ptCount val="7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Corporate Group</c:v>
                </c:pt>
                <c:pt idx="6">
                  <c:v>Employee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5187</c:v>
                </c:pt>
                <c:pt idx="1">
                  <c:v>13096</c:v>
                </c:pt>
                <c:pt idx="2">
                  <c:v>16928</c:v>
                </c:pt>
                <c:pt idx="3">
                  <c:v>4536</c:v>
                </c:pt>
                <c:pt idx="4">
                  <c:v>8131</c:v>
                </c:pt>
                <c:pt idx="5">
                  <c:v>2056</c:v>
                </c:pt>
                <c:pt idx="6">
                  <c:v>189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1279-4F19-93D3-ED11D50173E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37080363.420000002</c:v>
                </c:pt>
                <c:pt idx="1">
                  <c:v>43940128.82</c:v>
                </c:pt>
                <c:pt idx="2">
                  <c:v>36407936.200000003</c:v>
                </c:pt>
                <c:pt idx="3">
                  <c:v>37521347.82</c:v>
                </c:pt>
                <c:pt idx="4">
                  <c:v>28302837.649999999</c:v>
                </c:pt>
                <c:pt idx="5">
                  <c:v>37484972.880000003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7B2-4478-A710-45370385096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42691294.950000003</c:v>
                </c:pt>
                <c:pt idx="1">
                  <c:v>34251573.439999998</c:v>
                </c:pt>
                <c:pt idx="2">
                  <c:v>25843470.18</c:v>
                </c:pt>
                <c:pt idx="3">
                  <c:v>29043750.920000002</c:v>
                </c:pt>
                <c:pt idx="4">
                  <c:v>27716956.989999998</c:v>
                </c:pt>
                <c:pt idx="5">
                  <c:v>25848762.559999999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7B2-4478-A710-45370385096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35431726.369999997</c:v>
                </c:pt>
                <c:pt idx="1">
                  <c:v>38907552.450000003</c:v>
                </c:pt>
                <c:pt idx="2">
                  <c:v>30984315.649999999</c:v>
                </c:pt>
                <c:pt idx="3">
                  <c:v>26245238.559999999</c:v>
                </c:pt>
                <c:pt idx="4">
                  <c:v>23379075.129999999</c:v>
                </c:pt>
                <c:pt idx="5">
                  <c:v>24286103.100000001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87B2-4478-A710-45370385096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1461.17</c:v>
                </c:pt>
                <c:pt idx="1">
                  <c:v>1500.13</c:v>
                </c:pt>
                <c:pt idx="2">
                  <c:v>1132.05</c:v>
                </c:pt>
                <c:pt idx="3">
                  <c:v>731.09</c:v>
                </c:pt>
                <c:pt idx="4">
                  <c:v>878.94</c:v>
                </c:pt>
                <c:pt idx="5">
                  <c:v>755.55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C1A-4E1D-9FCD-0CD06040DE7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1526.8151</c:v>
                </c:pt>
                <c:pt idx="1">
                  <c:v>1630.5147999999999</c:v>
                </c:pt>
                <c:pt idx="2">
                  <c:v>1103.7076</c:v>
                </c:pt>
                <c:pt idx="3">
                  <c:v>1152.0808</c:v>
                </c:pt>
                <c:pt idx="4">
                  <c:v>1024.3922</c:v>
                </c:pt>
                <c:pt idx="5">
                  <c:v>975.58159999999998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FC1A-4E1D-9FCD-0CD06040DE7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1587.0329999999999</c:v>
                </c:pt>
                <c:pt idx="1">
                  <c:v>1457.7360000000001</c:v>
                </c:pt>
                <c:pt idx="2">
                  <c:v>1049.8834999999999</c:v>
                </c:pt>
                <c:pt idx="3">
                  <c:v>1022.25</c:v>
                </c:pt>
                <c:pt idx="4">
                  <c:v>912.91200000000003</c:v>
                </c:pt>
                <c:pt idx="5">
                  <c:v>843.70489999999995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FC1A-4E1D-9FCD-0CD06040DE7B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D9A441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1011.4803000000001</c:v>
                </c:pt>
                <c:pt idx="1">
                  <c:v>1267.7425000000001</c:v>
                </c:pt>
                <c:pt idx="2">
                  <c:v>966.12109999999996</c:v>
                </c:pt>
                <c:pt idx="3">
                  <c:v>938.71799999999996</c:v>
                </c:pt>
                <c:pt idx="4">
                  <c:v>762.88589999999999</c:v>
                </c:pt>
                <c:pt idx="5">
                  <c:v>1017.228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FC1A-4E1D-9FCD-0CD06040DE7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Indonesia</c:v>
                </c:pt>
                <c:pt idx="2">
                  <c:v>Singapore</c:v>
                </c:pt>
                <c:pt idx="3">
                  <c:v>Malaysia</c:v>
                </c:pt>
                <c:pt idx="4">
                  <c:v>Taiwan</c:v>
                </c:pt>
                <c:pt idx="5">
                  <c:v>Thailand</c:v>
                </c:pt>
                <c:pt idx="6">
                  <c:v>USA</c:v>
                </c:pt>
                <c:pt idx="7">
                  <c:v>Japan</c:v>
                </c:pt>
                <c:pt idx="8">
                  <c:v>UK</c:v>
                </c:pt>
                <c:pt idx="9">
                  <c:v>Germany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4642</c:v>
                </c:pt>
                <c:pt idx="1">
                  <c:v>1017</c:v>
                </c:pt>
                <c:pt idx="2">
                  <c:v>2762</c:v>
                </c:pt>
                <c:pt idx="3">
                  <c:v>2138</c:v>
                </c:pt>
                <c:pt idx="4">
                  <c:v>1200</c:v>
                </c:pt>
                <c:pt idx="5">
                  <c:v>1873</c:v>
                </c:pt>
                <c:pt idx="6">
                  <c:v>1999</c:v>
                </c:pt>
                <c:pt idx="7">
                  <c:v>926</c:v>
                </c:pt>
                <c:pt idx="8">
                  <c:v>1201</c:v>
                </c:pt>
                <c:pt idx="9">
                  <c:v>740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403-4B99-ABE6-54DA220BB51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Indonesia</c:v>
                </c:pt>
                <c:pt idx="2">
                  <c:v>Singapore</c:v>
                </c:pt>
                <c:pt idx="3">
                  <c:v>Malaysia</c:v>
                </c:pt>
                <c:pt idx="4">
                  <c:v>Taiwan</c:v>
                </c:pt>
                <c:pt idx="5">
                  <c:v>Thailand</c:v>
                </c:pt>
                <c:pt idx="6">
                  <c:v>USA</c:v>
                </c:pt>
                <c:pt idx="7">
                  <c:v>Japan</c:v>
                </c:pt>
                <c:pt idx="8">
                  <c:v>UK</c:v>
                </c:pt>
                <c:pt idx="9">
                  <c:v>Germany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5954</c:v>
                </c:pt>
                <c:pt idx="1">
                  <c:v>3034</c:v>
                </c:pt>
                <c:pt idx="2">
                  <c:v>2336</c:v>
                </c:pt>
                <c:pt idx="3">
                  <c:v>2120</c:v>
                </c:pt>
                <c:pt idx="4">
                  <c:v>1524</c:v>
                </c:pt>
                <c:pt idx="5">
                  <c:v>1463</c:v>
                </c:pt>
                <c:pt idx="6">
                  <c:v>1440</c:v>
                </c:pt>
                <c:pt idx="7">
                  <c:v>1038</c:v>
                </c:pt>
                <c:pt idx="8">
                  <c:v>809</c:v>
                </c:pt>
                <c:pt idx="9">
                  <c:v>741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4403-4B99-ABE6-54DA220BB51C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102</c:v>
                </c:pt>
                <c:pt idx="1">
                  <c:v>158</c:v>
                </c:pt>
                <c:pt idx="2">
                  <c:v>203</c:v>
                </c:pt>
                <c:pt idx="3">
                  <c:v>194</c:v>
                </c:pt>
                <c:pt idx="4">
                  <c:v>176</c:v>
                </c:pt>
                <c:pt idx="5">
                  <c:v>67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DE4-4447-8389-11EEF250562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31</c:v>
                </c:pt>
                <c:pt idx="1">
                  <c:v>28</c:v>
                </c:pt>
                <c:pt idx="2">
                  <c:v>31</c:v>
                </c:pt>
                <c:pt idx="3">
                  <c:v>30</c:v>
                </c:pt>
                <c:pt idx="4">
                  <c:v>31</c:v>
                </c:pt>
                <c:pt idx="5">
                  <c:v>30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DE4-4447-8389-11EEF2505625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3853</c:v>
                </c:pt>
                <c:pt idx="1">
                  <c:v>3409</c:v>
                </c:pt>
                <c:pt idx="2">
                  <c:v>4095</c:v>
                </c:pt>
                <c:pt idx="3">
                  <c:v>1641</c:v>
                </c:pt>
                <c:pt idx="4">
                  <c:v>2723</c:v>
                </c:pt>
                <c:pt idx="5">
                  <c:v>2549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9DE4-4447-8389-11EEF2505625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610</c:v>
                </c:pt>
                <c:pt idx="1">
                  <c:v>559</c:v>
                </c:pt>
                <c:pt idx="2">
                  <c:v>438</c:v>
                </c:pt>
                <c:pt idx="3">
                  <c:v>394</c:v>
                </c:pt>
                <c:pt idx="4">
                  <c:v>622</c:v>
                </c:pt>
                <c:pt idx="5">
                  <c:v>614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9DE4-4447-8389-11EEF2505625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1024</c:v>
                </c:pt>
                <c:pt idx="1">
                  <c:v>1021</c:v>
                </c:pt>
                <c:pt idx="2">
                  <c:v>558</c:v>
                </c:pt>
                <c:pt idx="3">
                  <c:v>689</c:v>
                </c:pt>
                <c:pt idx="4">
                  <c:v>874</c:v>
                </c:pt>
                <c:pt idx="5">
                  <c:v>799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9DE4-4447-8389-11EEF2505625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Corporate Group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43</c:v>
                </c:pt>
                <c:pt idx="5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9DE4-4447-8389-11EEF2505625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19</c:v>
                </c:pt>
                <c:pt idx="1">
                  <c:v>17</c:v>
                </c:pt>
                <c:pt idx="2">
                  <c:v>11</c:v>
                </c:pt>
                <c:pt idx="3">
                  <c:v>17</c:v>
                </c:pt>
                <c:pt idx="4">
                  <c:v>25</c:v>
                </c:pt>
                <c:pt idx="5">
                  <c:v>29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9DE4-4447-8389-11EEF2505625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YTD mix (27,714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7462-47FD-9E01-464BE07F3DBD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7462-47FD-9E01-464BE07F3DBD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7462-47FD-9E01-464BE07F3DBD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7462-47FD-9E01-464BE07F3DBD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7462-47FD-9E01-464BE07F3DBD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7462-47FD-9E01-464BE07F3DBD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7462-47FD-9E01-464BE07F3DBD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7462-47FD-9E01-464BE07F3DBD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7462-47FD-9E01-464BE07F3DBD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7462-47FD-9E01-464BE07F3DBD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7462-47FD-9E01-464BE07F3DBD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7462-47FD-9E01-464BE07F3DBD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7462-47FD-9E01-464BE07F3DBD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7462-47FD-9E01-464BE07F3DBD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Sheet1!$A$2:$A$8</c:f>
              <c:strCache>
                <c:ptCount val="7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Corporate Group</c:v>
                </c:pt>
                <c:pt idx="6">
                  <c:v>Employee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900</c:v>
                </c:pt>
                <c:pt idx="1">
                  <c:v>181</c:v>
                </c:pt>
                <c:pt idx="2">
                  <c:v>18270</c:v>
                </c:pt>
                <c:pt idx="3">
                  <c:v>3237</c:v>
                </c:pt>
                <c:pt idx="4">
                  <c:v>4965</c:v>
                </c:pt>
                <c:pt idx="5">
                  <c:v>43</c:v>
                </c:pt>
                <c:pt idx="6">
                  <c:v>118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7462-47FD-9E01-464BE07F3DB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6277584.4800000004</c:v>
                </c:pt>
                <c:pt idx="1">
                  <c:v>7331522.8399999999</c:v>
                </c:pt>
                <c:pt idx="2">
                  <c:v>6018438.3700000001</c:v>
                </c:pt>
                <c:pt idx="3">
                  <c:v>5676589.5700000003</c:v>
                </c:pt>
                <c:pt idx="4">
                  <c:v>4792394.21</c:v>
                </c:pt>
                <c:pt idx="5">
                  <c:v>6131005.75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8A9-4199-B237-407A0327171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10057547.08</c:v>
                </c:pt>
                <c:pt idx="1">
                  <c:v>8360412.3399999999</c:v>
                </c:pt>
                <c:pt idx="2">
                  <c:v>6748527.7300000004</c:v>
                </c:pt>
                <c:pt idx="3">
                  <c:v>6301518.4400000004</c:v>
                </c:pt>
                <c:pt idx="4">
                  <c:v>5674281.3799999999</c:v>
                </c:pt>
                <c:pt idx="5">
                  <c:v>5270669.6500000004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8A9-4199-B237-407A0327171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9283927.7299999986</c:v>
                </c:pt>
                <c:pt idx="1">
                  <c:v>8589919.6899999995</c:v>
                </c:pt>
                <c:pt idx="2">
                  <c:v>7238468.9199999999</c:v>
                </c:pt>
                <c:pt idx="3">
                  <c:v>4493751.3</c:v>
                </c:pt>
                <c:pt idx="4">
                  <c:v>5625446.3199999994</c:v>
                </c:pt>
                <c:pt idx="5">
                  <c:v>4727539.0999999996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8A9-4199-B237-407A0327171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3578.97</c:v>
                </c:pt>
                <c:pt idx="1">
                  <c:v>3506.15</c:v>
                </c:pt>
                <c:pt idx="2">
                  <c:v>2721.3</c:v>
                </c:pt>
                <c:pt idx="3">
                  <c:v>2574.4</c:v>
                </c:pt>
                <c:pt idx="4">
                  <c:v>2151.66</c:v>
                </c:pt>
                <c:pt idx="5">
                  <c:v>2109.96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DC1-4A92-9335-F120C8A9FA8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3433.4403000000002</c:v>
                </c:pt>
                <c:pt idx="1">
                  <c:v>3782.0533</c:v>
                </c:pt>
                <c:pt idx="2">
                  <c:v>2637.0587</c:v>
                </c:pt>
                <c:pt idx="3">
                  <c:v>2920.6149</c:v>
                </c:pt>
                <c:pt idx="4">
                  <c:v>2348.8998000000001</c:v>
                </c:pt>
                <c:pt idx="5">
                  <c:v>2139.5412000000001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EDC1-4A92-9335-F120C8A9FA8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3862.6219999999998</c:v>
                </c:pt>
                <c:pt idx="1">
                  <c:v>3511.806</c:v>
                </c:pt>
                <c:pt idx="2">
                  <c:v>2456.1851999999999</c:v>
                </c:pt>
                <c:pt idx="3">
                  <c:v>2709.7</c:v>
                </c:pt>
                <c:pt idx="4">
                  <c:v>2156.8049999999998</c:v>
                </c:pt>
                <c:pt idx="5">
                  <c:v>1908.9133999999999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EDC1-4A92-9335-F120C8A9FA80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3041.8440000000001</c:v>
                </c:pt>
                <c:pt idx="1">
                  <c:v>3461.5645</c:v>
                </c:pt>
                <c:pt idx="2">
                  <c:v>2875.8485999999998</c:v>
                </c:pt>
                <c:pt idx="3">
                  <c:v>3281.7613000000001</c:v>
                </c:pt>
                <c:pt idx="4">
                  <c:v>2474.7379999999998</c:v>
                </c:pt>
                <c:pt idx="5">
                  <c:v>2836.62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EDC1-4A92-9335-F120C8A9FA8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India</c:v>
                </c:pt>
                <c:pt idx="2">
                  <c:v>Thailand</c:v>
                </c:pt>
                <c:pt idx="3">
                  <c:v>Israel</c:v>
                </c:pt>
                <c:pt idx="4">
                  <c:v>United States</c:v>
                </c:pt>
                <c:pt idx="5">
                  <c:v>Russia</c:v>
                </c:pt>
                <c:pt idx="6">
                  <c:v>Taiwan</c:v>
                </c:pt>
                <c:pt idx="7">
                  <c:v>Republic of Korea</c:v>
                </c:pt>
                <c:pt idx="8">
                  <c:v>Australia</c:v>
                </c:pt>
                <c:pt idx="9">
                  <c:v>Japan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9640</c:v>
                </c:pt>
                <c:pt idx="1">
                  <c:v>4218</c:v>
                </c:pt>
                <c:pt idx="2">
                  <c:v>2963</c:v>
                </c:pt>
                <c:pt idx="3">
                  <c:v>2509</c:v>
                </c:pt>
                <c:pt idx="4">
                  <c:v>3346</c:v>
                </c:pt>
                <c:pt idx="5">
                  <c:v>2030</c:v>
                </c:pt>
                <c:pt idx="6">
                  <c:v>2369</c:v>
                </c:pt>
                <c:pt idx="7">
                  <c:v>2040</c:v>
                </c:pt>
                <c:pt idx="8">
                  <c:v>1310</c:v>
                </c:pt>
                <c:pt idx="9">
                  <c:v>1663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019-4FA6-BB85-72F0C6910C1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India</c:v>
                </c:pt>
                <c:pt idx="2">
                  <c:v>Thailand</c:v>
                </c:pt>
                <c:pt idx="3">
                  <c:v>Israel</c:v>
                </c:pt>
                <c:pt idx="4">
                  <c:v>United States</c:v>
                </c:pt>
                <c:pt idx="5">
                  <c:v>Russia</c:v>
                </c:pt>
                <c:pt idx="6">
                  <c:v>Taiwan</c:v>
                </c:pt>
                <c:pt idx="7">
                  <c:v>Republic of Korea</c:v>
                </c:pt>
                <c:pt idx="8">
                  <c:v>Australia</c:v>
                </c:pt>
                <c:pt idx="9">
                  <c:v>Japan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10445</c:v>
                </c:pt>
                <c:pt idx="1">
                  <c:v>3764</c:v>
                </c:pt>
                <c:pt idx="2">
                  <c:v>3622</c:v>
                </c:pt>
                <c:pt idx="3">
                  <c:v>3148</c:v>
                </c:pt>
                <c:pt idx="4">
                  <c:v>2381</c:v>
                </c:pt>
                <c:pt idx="5">
                  <c:v>2295</c:v>
                </c:pt>
                <c:pt idx="6">
                  <c:v>2175</c:v>
                </c:pt>
                <c:pt idx="7">
                  <c:v>1950</c:v>
                </c:pt>
                <c:pt idx="8">
                  <c:v>1882</c:v>
                </c:pt>
                <c:pt idx="9">
                  <c:v>1620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5019-4FA6-BB85-72F0C6910C1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312</c:v>
                </c:pt>
                <c:pt idx="1">
                  <c:v>340</c:v>
                </c:pt>
                <c:pt idx="2">
                  <c:v>378</c:v>
                </c:pt>
                <c:pt idx="3">
                  <c:v>238</c:v>
                </c:pt>
                <c:pt idx="4">
                  <c:v>347</c:v>
                </c:pt>
                <c:pt idx="5">
                  <c:v>264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0BC-4A7C-A7C2-124556FE8FD2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389</c:v>
                </c:pt>
                <c:pt idx="1">
                  <c:v>297</c:v>
                </c:pt>
                <c:pt idx="2">
                  <c:v>422</c:v>
                </c:pt>
                <c:pt idx="3">
                  <c:v>357</c:v>
                </c:pt>
                <c:pt idx="4">
                  <c:v>213</c:v>
                </c:pt>
                <c:pt idx="5">
                  <c:v>308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D0BC-4A7C-A7C2-124556FE8FD2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2725</c:v>
                </c:pt>
                <c:pt idx="1">
                  <c:v>2119</c:v>
                </c:pt>
                <c:pt idx="2">
                  <c:v>2427</c:v>
                </c:pt>
                <c:pt idx="3">
                  <c:v>1984</c:v>
                </c:pt>
                <c:pt idx="4">
                  <c:v>1791</c:v>
                </c:pt>
                <c:pt idx="5">
                  <c:v>1698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D0BC-4A7C-A7C2-124556FE8FD2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1201</c:v>
                </c:pt>
                <c:pt idx="1">
                  <c:v>1116</c:v>
                </c:pt>
                <c:pt idx="2">
                  <c:v>1214</c:v>
                </c:pt>
                <c:pt idx="3">
                  <c:v>1002</c:v>
                </c:pt>
                <c:pt idx="4">
                  <c:v>938</c:v>
                </c:pt>
                <c:pt idx="5">
                  <c:v>955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D0BC-4A7C-A7C2-124556FE8FD2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4009</c:v>
                </c:pt>
                <c:pt idx="1">
                  <c:v>3483</c:v>
                </c:pt>
                <c:pt idx="2">
                  <c:v>2429</c:v>
                </c:pt>
                <c:pt idx="3">
                  <c:v>2948</c:v>
                </c:pt>
                <c:pt idx="4">
                  <c:v>2855</c:v>
                </c:pt>
                <c:pt idx="5">
                  <c:v>2281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D0BC-4A7C-A7C2-124556FE8FD2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Wholesale Grp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134</c:v>
                </c:pt>
                <c:pt idx="1">
                  <c:v>261</c:v>
                </c:pt>
                <c:pt idx="2">
                  <c:v>453</c:v>
                </c:pt>
                <c:pt idx="3">
                  <c:v>254</c:v>
                </c:pt>
                <c:pt idx="4">
                  <c:v>194</c:v>
                </c:pt>
                <c:pt idx="5">
                  <c:v>225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D0BC-4A7C-A7C2-124556FE8FD2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Corporate Group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93</c:v>
                </c:pt>
                <c:pt idx="1">
                  <c:v>39</c:v>
                </c:pt>
                <c:pt idx="2">
                  <c:v>85</c:v>
                </c:pt>
                <c:pt idx="3">
                  <c:v>80</c:v>
                </c:pt>
                <c:pt idx="4">
                  <c:v>59</c:v>
                </c:pt>
                <c:pt idx="5">
                  <c:v>328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D0BC-4A7C-A7C2-124556FE8FD2}"/>
            </c:ext>
          </c:extLst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C97B4A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Sheet1!$I$2:$I$7</c:f>
              <c:numCache>
                <c:formatCode>General</c:formatCode>
                <c:ptCount val="6"/>
                <c:pt idx="0">
                  <c:v>4</c:v>
                </c:pt>
                <c:pt idx="1">
                  <c:v>10</c:v>
                </c:pt>
                <c:pt idx="2">
                  <c:v>12</c:v>
                </c:pt>
                <c:pt idx="3">
                  <c:v>9</c:v>
                </c:pt>
                <c:pt idx="4">
                  <c:v>8</c:v>
                </c:pt>
                <c:pt idx="5">
                  <c:v>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7-D0BC-4A7C-A7C2-124556FE8FD2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YTD mix (43,294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00EF-4036-8714-587FF8B76019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00EF-4036-8714-587FF8B76019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00EF-4036-8714-587FF8B76019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00EF-4036-8714-587FF8B76019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00EF-4036-8714-587FF8B76019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00EF-4036-8714-587FF8B76019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00EF-4036-8714-587FF8B76019}"/>
              </c:ext>
            </c:extLst>
          </c:dPt>
          <c:dPt>
            <c:idx val="7"/>
            <c:bubble3D val="0"/>
            <c:spPr>
              <a:solidFill>
                <a:srgbClr val="C97B4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00EF-4036-8714-587FF8B76019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00EF-4036-8714-587FF8B76019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00EF-4036-8714-587FF8B76019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00EF-4036-8714-587FF8B76019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00EF-4036-8714-587FF8B76019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00EF-4036-8714-587FF8B76019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00EF-4036-8714-587FF8B76019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00EF-4036-8714-587FF8B76019}"/>
                </c:ext>
              </c:extLst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00EF-4036-8714-587FF8B76019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Sheet1!$A$2:$A$9</c:f>
              <c:strCache>
                <c:ptCount val="8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Wholesale Grp</c:v>
                </c:pt>
                <c:pt idx="6">
                  <c:v>Corporate Group</c:v>
                </c:pt>
                <c:pt idx="7">
                  <c:v>Employee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1879</c:v>
                </c:pt>
                <c:pt idx="1">
                  <c:v>1986</c:v>
                </c:pt>
                <c:pt idx="2">
                  <c:v>12744</c:v>
                </c:pt>
                <c:pt idx="3">
                  <c:v>6426</c:v>
                </c:pt>
                <c:pt idx="4">
                  <c:v>18005</c:v>
                </c:pt>
                <c:pt idx="5">
                  <c:v>1521</c:v>
                </c:pt>
                <c:pt idx="6">
                  <c:v>684</c:v>
                </c:pt>
                <c:pt idx="7">
                  <c:v>49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0-00EF-4036-8714-587FF8B7601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31309864.370000001</c:v>
                </c:pt>
                <c:pt idx="1">
                  <c:v>33368534.989999998</c:v>
                </c:pt>
                <c:pt idx="2">
                  <c:v>29666255.149999999</c:v>
                </c:pt>
                <c:pt idx="3">
                  <c:v>32611947.120000001</c:v>
                </c:pt>
                <c:pt idx="4">
                  <c:v>26107678.870000001</c:v>
                </c:pt>
                <c:pt idx="5">
                  <c:v>29352910.219999999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3D9-4435-95DF-9F1B1664A373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40587344.039999999</c:v>
                </c:pt>
                <c:pt idx="1">
                  <c:v>32409916.039999999</c:v>
                </c:pt>
                <c:pt idx="2">
                  <c:v>25474783.68</c:v>
                </c:pt>
                <c:pt idx="3">
                  <c:v>27145089.41</c:v>
                </c:pt>
                <c:pt idx="4">
                  <c:v>22399911.440000001</c:v>
                </c:pt>
                <c:pt idx="5">
                  <c:v>19351629.989999998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43D9-4435-95DF-9F1B1664A373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36745342.880000003</c:v>
                </c:pt>
                <c:pt idx="1">
                  <c:v>32403885.670000002</c:v>
                </c:pt>
                <c:pt idx="2">
                  <c:v>28025998.969999999</c:v>
                </c:pt>
                <c:pt idx="3">
                  <c:v>25796931.440000001</c:v>
                </c:pt>
                <c:pt idx="4">
                  <c:v>22402015.489999998</c:v>
                </c:pt>
                <c:pt idx="5">
                  <c:v>21058802.690000001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43D9-4435-95DF-9F1B1664A37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708496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- In this year, Number of arrival drop around -3.2% with the estimation data or around -500k ppl in first h1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Scope down in the </a:t>
            </a:r>
            <a:r>
              <a:rPr lang="en-US" dirty="0" err="1"/>
              <a:t>nationaliy</a:t>
            </a:r>
            <a:endParaRPr lang="en-US" dirty="0"/>
          </a:p>
          <a:p>
            <a:pPr marL="171450" indent="-171450">
              <a:buFontTx/>
              <a:buChar char="-"/>
            </a:pPr>
            <a:r>
              <a:rPr lang="en-US" dirty="0"/>
              <a:t>We can see the recover from </a:t>
            </a:r>
            <a:r>
              <a:rPr lang="en-US" dirty="0" err="1"/>
              <a:t>china</a:t>
            </a:r>
            <a:r>
              <a:rPr lang="en-US" dirty="0"/>
              <a:t> around +14.8% compare to last year.</a:t>
            </a:r>
          </a:p>
          <a:p>
            <a:pPr marL="171450" indent="-171450">
              <a:buFontTx/>
              <a:buChar char="-"/>
            </a:pPr>
            <a:r>
              <a:rPr lang="en-US" dirty="0"/>
              <a:t>For </a:t>
            </a:r>
            <a:r>
              <a:rPr lang="en-US" dirty="0" err="1"/>
              <a:t>india</a:t>
            </a:r>
            <a:r>
              <a:rPr lang="en-US" dirty="0"/>
              <a:t>, which may not a really our major group of guest but it is quite interesting growth. We can see the continue growth in India</a:t>
            </a:r>
            <a:r>
              <a:rPr lang="th-TH" dirty="0"/>
              <a:t> </a:t>
            </a:r>
            <a:r>
              <a:rPr lang="en-US" dirty="0"/>
              <a:t>in past 3 years.</a:t>
            </a:r>
          </a:p>
          <a:p>
            <a:pPr marL="171450" indent="-171450">
              <a:buFontTx/>
              <a:buChar char="-"/>
            </a:pPr>
            <a:endParaRPr lang="th-T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Middle east may not the major top nationality in </a:t>
            </a:r>
            <a:r>
              <a:rPr lang="en-US" dirty="0" err="1"/>
              <a:t>arraivel</a:t>
            </a:r>
            <a:r>
              <a:rPr lang="en-US" dirty="0"/>
              <a:t> of Thailand but this arrival can effected our ADR spending power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After middle east religion war, the number of middle east got lower </a:t>
            </a:r>
            <a:r>
              <a:rPr lang="en-US" dirty="0" err="1"/>
              <a:t>accumtilate</a:t>
            </a:r>
            <a:r>
              <a:rPr lang="en-US" dirty="0"/>
              <a:t> -30% from Feb. Even in June that we may can see the coming back of ME, but it cannot reach the same as </a:t>
            </a:r>
            <a:r>
              <a:rPr lang="en-US" dirty="0" err="1"/>
              <a:t>ly</a:t>
            </a:r>
            <a:endParaRPr lang="en-US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For the long </a:t>
            </a:r>
            <a:r>
              <a:rPr lang="en-US" dirty="0" err="1"/>
              <a:t>hual</a:t>
            </a:r>
            <a:r>
              <a:rPr lang="en-US" dirty="0"/>
              <a:t> and EU that tensing to have more </a:t>
            </a:r>
            <a:r>
              <a:rPr lang="en-US" dirty="0" err="1"/>
              <a:t>spendn</a:t>
            </a:r>
            <a:r>
              <a:rPr lang="en-US" dirty="0"/>
              <a:t> </a:t>
            </a:r>
            <a:r>
              <a:rPr lang="en-US" dirty="0" err="1"/>
              <a:t>pwer</a:t>
            </a:r>
            <a:r>
              <a:rPr lang="en-US" dirty="0"/>
              <a:t>, also arrival decrease -1.2%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AC3D0B-5609-C509-FBFC-0C3B3A4D70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59CED49-7CBE-236C-21D2-D8B8554681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A6F9E2E-C5BF-4883-FEAB-4916269700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35F1EE-A583-AF14-5807-DFBD68248FF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322073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228600" y="1524000"/>
            <a:ext cx="7315200" cy="4114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Moving to Bangkok area.</a:t>
            </a:r>
          </a:p>
          <a:p>
            <a:r>
              <a:rPr lang="en-US" dirty="0"/>
              <a:t>Even the number Thailand arrival is decrease but in term of Bangkok tourist arrival. The number of total arrival is increase by 3.3% which domestic +6.2% but foreigner quite similar to last year.</a:t>
            </a:r>
          </a:p>
          <a:p>
            <a:r>
              <a:rPr lang="en-US" dirty="0"/>
              <a:t>The number of </a:t>
            </a:r>
            <a:r>
              <a:rPr lang="en-US" dirty="0" err="1"/>
              <a:t>thai</a:t>
            </a:r>
            <a:r>
              <a:rPr lang="en-US" dirty="0"/>
              <a:t> ppl visitor is more than foreigner can be another factor that the price on hotel could be sensitive to our domestic </a:t>
            </a:r>
            <a:r>
              <a:rPr lang="en-US" dirty="0" err="1"/>
              <a:t>travaler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88055055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Moving to Bangkok hotel STR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Compare to last year due to growth on the arrival, so we can see the Occ that got higher this H1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Compare to Class segment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Price war</a:t>
            </a:r>
          </a:p>
          <a:p>
            <a:r>
              <a:rPr lang="en-US" dirty="0"/>
              <a:t>Luxury plus ADR</a:t>
            </a:r>
          </a:p>
          <a:p>
            <a:r>
              <a:rPr lang="en-US" dirty="0"/>
              <a:t>Segment </a:t>
            </a:r>
            <a:r>
              <a:rPr lang="th-TH" dirty="0"/>
              <a:t>ที่ต่ำลง ยิ่งแข่ง </a:t>
            </a:r>
            <a:r>
              <a:rPr lang="en-US" dirty="0"/>
              <a:t>Price -&gt; </a:t>
            </a:r>
            <a:r>
              <a:rPr lang="th-TH" dirty="0"/>
              <a:t>ปัญหา</a:t>
            </a:r>
            <a:r>
              <a:rPr lang="en-US" dirty="0"/>
              <a:t> </a:t>
            </a:r>
            <a:r>
              <a:rPr lang="en-US" dirty="0" err="1"/>
              <a:t>Adr</a:t>
            </a:r>
            <a:r>
              <a:rPr lang="en-US" dirty="0"/>
              <a:t> </a:t>
            </a:r>
          </a:p>
          <a:p>
            <a:r>
              <a:rPr lang="en-US" dirty="0"/>
              <a:t>Due to we may rely on the Domestic demand as priority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2AF3A5-7C9C-CE20-48AA-C6CB9E530E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7BEE60-A122-806C-BD0F-6980FC8E17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7F3E66D-E7B2-7B96-AA33-B72E56F148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6083C2-1715-F253-70CA-78D0A3B60A7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87048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228600" y="1524000"/>
            <a:ext cx="7315200" cy="4114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Moving to Pattaya area.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- The arrival is lower</a:t>
            </a:r>
            <a:r>
              <a:rPr lang="th-TH" dirty="0"/>
              <a:t> </a:t>
            </a:r>
            <a:r>
              <a:rPr lang="en-US" dirty="0"/>
              <a:t>-2.7% mostly come from international arrival -5.4%</a:t>
            </a:r>
          </a:p>
        </p:txBody>
      </p:sp>
    </p:spTree>
    <p:extLst>
      <p:ext uri="{BB962C8B-B14F-4D97-AF65-F5344CB8AC3E}">
        <p14:creationId xmlns:p14="http://schemas.microsoft.com/office/powerpoint/2010/main" val="69730699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Even the demand </a:t>
            </a:r>
            <a:r>
              <a:rPr lang="en-US" sz="1200" i="1" dirty="0">
                <a:solidFill>
                  <a:sysClr val="windowText" lastClr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 (arrivals −2.7%) → market gave up occupancy (−2.6%) but held rate</a:t>
            </a:r>
          </a:p>
          <a:p>
            <a:r>
              <a:rPr lang="en-US" dirty="0"/>
              <a:t>Look at the segment </a:t>
            </a:r>
            <a:r>
              <a:rPr lang="en-US" sz="1200" i="1" dirty="0">
                <a:solidFill>
                  <a:sysClr val="windowText" lastClr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Upscale &amp; Upper Midscale which is very near to SP</a:t>
            </a:r>
            <a:endParaRPr lang="en-US" dirty="0"/>
          </a:p>
          <a:p>
            <a:r>
              <a:rPr lang="en-US" dirty="0"/>
              <a:t>We can see that the ADR drop -2% in first half year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Portfolio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sz="1200" i="1" dirty="0">
              <a:solidFill>
                <a:schemeClr val="tx1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MOTS Korea H12026−22.7%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/>
              <a:buChar char="•"/>
            </a:pPr>
            <a:r>
              <a:rPr lang="en-US" dirty="0"/>
              <a:t>DTA write off will reflect Q2 and Q4</a:t>
            </a:r>
          </a:p>
          <a:p>
            <a:pPr marL="171450" indent="-171450">
              <a:buFont typeface="Arial"/>
              <a:buChar char="•"/>
            </a:pPr>
            <a:r>
              <a:rPr lang="en-US" dirty="0" err="1"/>
              <a:t>Npat</a:t>
            </a:r>
            <a:r>
              <a:rPr lang="en-US" dirty="0"/>
              <a:t> will effect next q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228600" y="1524000"/>
            <a:ext cx="7315200" cy="4114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32925212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2.xml"/><Relationship Id="rId4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4.xml"/><Relationship Id="rId4" Type="http://schemas.openxmlformats.org/officeDocument/2006/relationships/chart" Target="../charts/chart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chart" Target="../charts/chart7.xml"/><Relationship Id="rId4" Type="http://schemas.openxmlformats.org/officeDocument/2006/relationships/chart" Target="../charts/chart8.xml"/><Relationship Id="rId5" Type="http://schemas.openxmlformats.org/officeDocument/2006/relationships/chart" Target="../charts/chart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chart" Target="../charts/chart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chart" Target="../charts/chart11.xml"/><Relationship Id="rId4" Type="http://schemas.openxmlformats.org/officeDocument/2006/relationships/chart" Target="../charts/chart12.xml"/><Relationship Id="rId5" Type="http://schemas.openxmlformats.org/officeDocument/2006/relationships/chart" Target="../charts/chart1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chart" Target="../charts/chart1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chart" Target="../charts/chart1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chart" Target="../charts/chart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chart" Target="../charts/chart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chart" Target="../charts/chart18.xml"/><Relationship Id="rId4" Type="http://schemas.openxmlformats.org/officeDocument/2006/relationships/chart" Target="../charts/chart19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chart" Target="../charts/chart20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chart" Target="../charts/chart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chart" Target="../charts/chart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chart" Target="../charts/chart23.xml"/><Relationship Id="rId4" Type="http://schemas.openxmlformats.org/officeDocument/2006/relationships/chart" Target="../charts/chart2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chart" Target="../charts/chart25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chart" Target="../charts/chart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chart" Target="../charts/chart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3" Type="http://schemas.openxmlformats.org/officeDocument/2006/relationships/chart" Target="../charts/chart28.xml"/><Relationship Id="rId4" Type="http://schemas.openxmlformats.org/officeDocument/2006/relationships/chart" Target="../charts/chart29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3" Type="http://schemas.openxmlformats.org/officeDocument/2006/relationships/chart" Target="../charts/chart30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3" Type="http://schemas.openxmlformats.org/officeDocument/2006/relationships/chart" Target="../charts/chart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3" Type="http://schemas.openxmlformats.org/officeDocument/2006/relationships/chart" Target="../charts/chart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3" Type="http://schemas.openxmlformats.org/officeDocument/2006/relationships/chart" Target="../charts/chart33.xml"/><Relationship Id="rId4" Type="http://schemas.openxmlformats.org/officeDocument/2006/relationships/chart" Target="../charts/chart34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3" Type="http://schemas.openxmlformats.org/officeDocument/2006/relationships/chart" Target="../charts/chart35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3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HOTEL PORTFOLIO</a:t>
            </a:r>
            <a:endParaRPr lang="en-US" sz="1500"/>
          </a:p>
        </p:txBody>
      </p:sp>
      <p:sp>
        <p:nvSpPr>
          <p:cNvPr id="3" name="Text 1"/>
          <p:cNvSpPr/>
          <p:nvPr/>
        </p:nvSpPr>
        <p:spPr>
          <a:xfrm>
            <a:off x="548640" y="2331720"/>
            <a:ext cx="11155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Report — H1 2026</a:t>
            </a:r>
            <a:endParaRPr lang="en-US" sz="4800"/>
          </a:p>
        </p:txBody>
      </p:sp>
      <p:sp>
        <p:nvSpPr>
          <p:cNvPr id="4" name="Text 2"/>
          <p:cNvSpPr/>
          <p:nvPr/>
        </p:nvSpPr>
        <p:spPr>
          <a:xfrm>
            <a:off x="548640" y="33832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Tourist arrivals · Market (STR) · Portfolio · By property: performance · P&amp;L · segmentation · nationality</a:t>
            </a:r>
            <a:endParaRPr lang="en-US" sz="1500"/>
          </a:p>
        </p:txBody>
      </p:sp>
      <p:sp>
        <p:nvSpPr>
          <p:cNvPr id="5" name="Text 3"/>
          <p:cNvSpPr/>
          <p:nvPr/>
        </p:nvSpPr>
        <p:spPr>
          <a:xfrm>
            <a:off x="548640" y="58064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(SR9)  ·  Ascott Embassy Sathorn (AES)  ·  lyf Sukhumvit 8 (LYF)  ·  Somerset Pattaya (SP)</a:t>
            </a:r>
            <a:endParaRPr lang="en-US" sz="1200"/>
          </a:p>
        </p:txBody>
      </p:sp>
      <p:sp>
        <p:nvSpPr>
          <p:cNvPr id="6" name="Text 4"/>
          <p:cNvSpPr/>
          <p:nvPr/>
        </p:nvSpPr>
        <p:spPr>
          <a:xfrm>
            <a:off x="548640" y="614476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through June 2026 (June arrivals preliminary · STR: Bangkok &amp; Pattaya re-based, Jan–Jun) · Prepared July 2026</a:t>
            </a:r>
            <a:endParaRPr lang="en-US" sz="11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60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Thailand Tourist Arrivals</a:t>
            </a:r>
            <a:endParaRPr lang="en-US" sz="400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(MOTS) · Chinese · India · Middle East · Long-haul (EU + USA)</a:t>
            </a:r>
            <a:endParaRPr lang="en-US" sz="140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international arrivals (MOTS)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arrivals, all nationalities · H1 summary by year below (2020–22 COVID years omitted)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7498080" cy="2834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Shape 4"/>
          <p:cNvSpPr/>
          <p:nvPr/>
        </p:nvSpPr>
        <p:spPr>
          <a:xfrm>
            <a:off x="8366760" y="1691640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8513064" y="1783080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2026</a:t>
            </a:r>
            <a:endParaRPr lang="en-US" sz="1050"/>
          </a:p>
        </p:txBody>
      </p:sp>
      <p:sp>
        <p:nvSpPr>
          <p:cNvPr id="9" name="Text 6"/>
          <p:cNvSpPr/>
          <p:nvPr/>
        </p:nvSpPr>
        <p:spPr>
          <a:xfrm>
            <a:off x="8513064" y="2002536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16.16M</a:t>
            </a:r>
            <a:endParaRPr lang="en-US" sz="2400"/>
          </a:p>
        </p:txBody>
      </p:sp>
      <p:sp>
        <p:nvSpPr>
          <p:cNvPr id="10" name="Text 7"/>
          <p:cNvSpPr/>
          <p:nvPr/>
        </p:nvSpPr>
        <p:spPr>
          <a:xfrm>
            <a:off x="8513064" y="2459736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-3% vs 2025 (16.69M)</a:t>
            </a:r>
            <a:endParaRPr lang="en-US" sz="1050"/>
          </a:p>
        </p:txBody>
      </p:sp>
      <p:sp>
        <p:nvSpPr>
          <p:cNvPr id="11" name="Shape 8"/>
          <p:cNvSpPr/>
          <p:nvPr/>
        </p:nvSpPr>
        <p:spPr>
          <a:xfrm>
            <a:off x="8366760" y="3044952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8513064" y="3136392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2025</a:t>
            </a:r>
            <a:endParaRPr lang="en-US" sz="1050"/>
          </a:p>
        </p:txBody>
      </p:sp>
      <p:sp>
        <p:nvSpPr>
          <p:cNvPr id="13" name="Text 10"/>
          <p:cNvSpPr/>
          <p:nvPr/>
        </p:nvSpPr>
        <p:spPr>
          <a:xfrm>
            <a:off x="8513064" y="3355848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16.69M</a:t>
            </a:r>
            <a:endParaRPr lang="en-US" sz="2400"/>
          </a:p>
        </p:txBody>
      </p:sp>
      <p:sp>
        <p:nvSpPr>
          <p:cNvPr id="14" name="Text 11"/>
          <p:cNvSpPr/>
          <p:nvPr/>
        </p:nvSpPr>
        <p:spPr>
          <a:xfrm>
            <a:off x="8513064" y="3813048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-4.7% vs 2024</a:t>
            </a:r>
            <a:endParaRPr lang="en-US" sz="1050"/>
          </a:p>
        </p:txBody>
      </p:sp>
      <p:sp>
        <p:nvSpPr>
          <p:cNvPr id="15" name="Shape 12"/>
          <p:cNvSpPr/>
          <p:nvPr/>
        </p:nvSpPr>
        <p:spPr>
          <a:xfrm>
            <a:off x="8366760" y="4398264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8513064" y="4489704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PRE-COVID (2019)</a:t>
            </a:r>
            <a:endParaRPr lang="en-US" sz="1050"/>
          </a:p>
        </p:txBody>
      </p:sp>
      <p:sp>
        <p:nvSpPr>
          <p:cNvPr id="17" name="Text 14"/>
          <p:cNvSpPr/>
          <p:nvPr/>
        </p:nvSpPr>
        <p:spPr>
          <a:xfrm>
            <a:off x="8513064" y="4709160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</a:t>
            </a:r>
            <a:endParaRPr lang="en-US" sz="2400"/>
          </a:p>
        </p:txBody>
      </p:sp>
      <p:sp>
        <p:nvSpPr>
          <p:cNvPr id="18" name="Text 15"/>
          <p:cNvSpPr/>
          <p:nvPr/>
        </p:nvSpPr>
        <p:spPr>
          <a:xfrm>
            <a:off x="8513064" y="5166360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Jan–Jun 2019 level</a:t>
            </a:r>
            <a:endParaRPr lang="en-US" sz="1050"/>
          </a:p>
        </p:txBody>
      </p:sp>
      <p:sp>
        <p:nvSpPr>
          <p:cNvPr id="19" name="Text 16"/>
          <p:cNvSpPr/>
          <p:nvPr/>
        </p:nvSpPr>
        <p:spPr>
          <a:xfrm>
            <a:off x="548640" y="61722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MOTS. June 2026 lost 4 days to a system error; "+Jun est." adds the pro-rated estimate (June ≈ 2.12M, H1 ≈ 16.16M = −3.2% vs 2025) from the workbook audit sheet.</a:t>
            </a:r>
            <a:endParaRPr lang="en-US" sz="105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E0E574B-D851-0770-1155-49CA203A1272}"/>
              </a:ext>
            </a:extLst>
          </p:cNvPr>
          <p:cNvSpPr/>
          <p:nvPr/>
        </p:nvSpPr>
        <p:spPr>
          <a:xfrm>
            <a:off x="4326505" y="2601108"/>
            <a:ext cx="144454" cy="246222"/>
          </a:xfrm>
          <a:prstGeom prst="rect">
            <a:avLst/>
          </a:prstGeom>
          <a:solidFill>
            <a:srgbClr val="1E2761">
              <a:alpha val="30196"/>
            </a:srgbClr>
          </a:solidFill>
          <a:ln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C49297B-A31C-4886-062D-DEB7734F8EFE}"/>
              </a:ext>
            </a:extLst>
          </p:cNvPr>
          <p:cNvSpPr txBox="1"/>
          <p:nvPr/>
        </p:nvSpPr>
        <p:spPr>
          <a:xfrm>
            <a:off x="4082489" y="2436116"/>
            <a:ext cx="139494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/>
              <a:t>**Missing 4 days data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A88823B-49F8-4CF8-9266-A59B431BC122}"/>
              </a:ext>
            </a:extLst>
          </p:cNvPr>
          <p:cNvSpPr txBox="1"/>
          <p:nvPr/>
        </p:nvSpPr>
        <p:spPr>
          <a:xfrm>
            <a:off x="1742898" y="4297513"/>
            <a:ext cx="53807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/>
              <a:t>**CNY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8530198-3EC4-CD79-A189-649DBADE152B}"/>
              </a:ext>
            </a:extLst>
          </p:cNvPr>
          <p:cNvSpPr txBox="1"/>
          <p:nvPr/>
        </p:nvSpPr>
        <p:spPr>
          <a:xfrm>
            <a:off x="8464060" y="2361492"/>
            <a:ext cx="109444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b="1">
                <a:solidFill>
                  <a:srgbClr val="26292E"/>
                </a:solidFill>
                <a:latin typeface="Calibri"/>
              </a:rPr>
              <a:t>(Estimate + actual)</a:t>
            </a:r>
            <a:endParaRPr lang="en-US"/>
          </a:p>
        </p:txBody>
      </p:sp>
      <p:graphicFrame>
        <p:nvGraphicFramePr>
          <p:cNvPr id="35" name="Table 34"/>
          <p:cNvGraphicFramePr>
            <a:graphicFrameLocks noGrp="1"/>
          </p:cNvGraphicFramePr>
          <p:nvPr/>
        </p:nvGraphicFramePr>
        <p:xfrm>
          <a:off x="548640" y="4572000"/>
          <a:ext cx="7406640" cy="152339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85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05740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574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2019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3,713,172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3,600,922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3,478,687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3,216,929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2,736,598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3,056,697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19,803,005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574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3,035,296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3,352,302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2,982,721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2,757,128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2,633,464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2,740,372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17,501,283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574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3,709,102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3,119,445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2,720,457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2,547,116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2,266,574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2,322,775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16,685,469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5740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3,277,908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3,263,802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2,775,199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2,368,895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2,346,845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1,841,551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15,874,200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5740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595959"/>
                          </a:solidFill>
                          <a:latin typeface="Calibri"/>
                        </a:rPr>
                        <a:t>26 +Jun est.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2,124,867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595959"/>
                          </a:solidFill>
                          <a:latin typeface="Calibri"/>
                        </a:rPr>
                        <a:t>16,157,516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5740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26 (Est.) vs 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C62828"/>
                          </a:solidFill>
                          <a:latin typeface="Calibri"/>
                        </a:rPr>
                        <a:t>-12%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1E7B34"/>
                          </a:solidFill>
                          <a:latin typeface="Calibri"/>
                        </a:rPr>
                        <a:t>+5%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1E7B34"/>
                          </a:solidFill>
                          <a:latin typeface="Calibri"/>
                        </a:rPr>
                        <a:t>+2%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C62828"/>
                          </a:solidFill>
                          <a:latin typeface="Calibri"/>
                        </a:rPr>
                        <a:t>-7%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1E7B34"/>
                          </a:solidFill>
                          <a:latin typeface="Calibri"/>
                        </a:rPr>
                        <a:t>+4%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C62828"/>
                          </a:solidFill>
                          <a:latin typeface="Calibri"/>
                        </a:rPr>
                        <a:t>-9%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C62828"/>
                          </a:solidFill>
                          <a:latin typeface="Calibri"/>
                        </a:rPr>
                        <a:t>-3.2%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Chinese &amp; India arrivals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Jan–Jun by year · China: 2019 shown as pre-COVID reference · India: record highs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856231"/>
          <a:ext cx="5349240" cy="26060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920" name="Chart 0"/>
          <p:cNvGraphicFramePr/>
          <p:nvPr/>
        </p:nvGraphicFramePr>
        <p:xfrm>
          <a:off x="6291072" y="1856231"/>
          <a:ext cx="5349240" cy="26060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921" name="TextBox 920"/>
          <p:cNvSpPr txBox="1"/>
          <p:nvPr/>
        </p:nvSpPr>
        <p:spPr>
          <a:xfrm>
            <a:off x="548640" y="1481328"/>
            <a:ext cx="5349240" cy="25603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200" b="1">
                <a:solidFill>
                  <a:srgbClr val="1E2761"/>
                </a:solidFill>
                <a:latin typeface="Calibri"/>
              </a:rPr>
              <a:t>CHINA</a:t>
            </a:r>
          </a:p>
        </p:txBody>
      </p:sp>
      <p:sp>
        <p:nvSpPr>
          <p:cNvPr id="922" name="TextBox 921"/>
          <p:cNvSpPr txBox="1"/>
          <p:nvPr/>
        </p:nvSpPr>
        <p:spPr>
          <a:xfrm>
            <a:off x="6291072" y="1481328"/>
            <a:ext cx="5349240" cy="25603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200" b="1">
                <a:solidFill>
                  <a:srgbClr val="1E2761"/>
                </a:solidFill>
                <a:latin typeface="Calibri"/>
              </a:rPr>
              <a:t>INDIA</a:t>
            </a:r>
          </a:p>
        </p:txBody>
      </p:sp>
      <p:sp>
        <p:nvSpPr>
          <p:cNvPr id="923" name="TextBox 922"/>
          <p:cNvSpPr txBox="1"/>
          <p:nvPr/>
        </p:nvSpPr>
        <p:spPr>
          <a:xfrm>
            <a:off x="548640" y="5760597"/>
            <a:ext cx="534924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100" b="1">
                <a:solidFill>
                  <a:srgbClr val="26292E"/>
                </a:solidFill>
                <a:latin typeface="Calibri"/>
              </a:rPr>
              <a:t>H1: 2.60M · +14.8% vs 2025 · still 46% of 2019, 76% of 2024</a:t>
            </a:r>
          </a:p>
        </p:txBody>
      </p:sp>
      <p:sp>
        <p:nvSpPr>
          <p:cNvPr id="924" name="TextBox 923"/>
          <p:cNvSpPr txBox="1"/>
          <p:nvPr/>
        </p:nvSpPr>
        <p:spPr>
          <a:xfrm>
            <a:off x="6291072" y="5760597"/>
            <a:ext cx="534924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100" b="1">
                <a:solidFill>
                  <a:srgbClr val="26292E"/>
                </a:solidFill>
                <a:latin typeface="Calibri"/>
              </a:rPr>
              <a:t>H1: 1.22M · +3.1% vs 2025 — record high, 3rd straight growth year</a:t>
            </a:r>
          </a:p>
        </p:txBody>
      </p:sp>
      <p:graphicFrame>
        <p:nvGraphicFramePr>
          <p:cNvPr id="925" name="Table 924"/>
          <p:cNvGraphicFramePr>
            <a:graphicFrameLocks noGrp="1"/>
          </p:cNvGraphicFramePr>
          <p:nvPr/>
        </p:nvGraphicFramePr>
        <p:xfrm>
          <a:off x="548640" y="4553712"/>
          <a:ext cx="5349240" cy="11292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83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4066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69164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6292E"/>
                          </a:solidFill>
                          <a:latin typeface="Calibri"/>
                        </a:rPr>
                        <a:t>2019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1,069,787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1,064,806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985,232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898,994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794,913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894,105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5,707,837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6292E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508,563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674,558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573,216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595,572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559,461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528,112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3,439,482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6292E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662,779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371,542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297,113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317,213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310,292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306,617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2,265,556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400,321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677,768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410,624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418,291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411,308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283,297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2,601,609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26 vs 25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-40%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+82%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+38%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+32%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+33%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-8%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+14.8%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926" name="Table 925"/>
          <p:cNvGraphicFramePr>
            <a:graphicFrameLocks noGrp="1"/>
          </p:cNvGraphicFramePr>
          <p:nvPr/>
        </p:nvGraphicFramePr>
        <p:xfrm>
          <a:off x="6291072" y="4553712"/>
          <a:ext cx="5349240" cy="9601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83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4066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69164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6292E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162,831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148,992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161,129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170,635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198,993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197,489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1,040,069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6292E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185,809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169,988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187,973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206,286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228,544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205,299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1,183,899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231,184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185,930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208,484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206,641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224,490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163,378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1,220,107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26 vs 25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+24%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+9%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+11%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+0%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-2%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-20%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+3.1%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Right Brace 7">
            <a:extLst>
              <a:ext uri="{FF2B5EF4-FFF2-40B4-BE49-F238E27FC236}">
                <a16:creationId xmlns:a16="http://schemas.microsoft.com/office/drawing/2014/main" id="{D4E25DBC-C75C-A38C-282A-6E36E013E6BD}"/>
              </a:ext>
            </a:extLst>
          </p:cNvPr>
          <p:cNvSpPr/>
          <p:nvPr/>
        </p:nvSpPr>
        <p:spPr>
          <a:xfrm rot="16200000">
            <a:off x="10665671" y="1091532"/>
            <a:ext cx="201573" cy="1529396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38C4911-6CFD-051C-79B0-C66503D77E6B}"/>
              </a:ext>
            </a:extLst>
          </p:cNvPr>
          <p:cNvSpPr txBox="1"/>
          <p:nvPr/>
        </p:nvSpPr>
        <p:spPr>
          <a:xfrm>
            <a:off x="10171692" y="1434722"/>
            <a:ext cx="118953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/>
              <a:t>60 days free</a:t>
            </a:r>
          </a:p>
          <a:p>
            <a:pPr algn="ctr"/>
            <a:r>
              <a:rPr lang="en-US" sz="1100"/>
              <a:t>Visa cancellation</a:t>
            </a:r>
          </a:p>
        </p:txBody>
      </p:sp>
      <p:sp>
        <p:nvSpPr>
          <p:cNvPr id="11" name="Star: 5 Points 10">
            <a:extLst>
              <a:ext uri="{FF2B5EF4-FFF2-40B4-BE49-F238E27FC236}">
                <a16:creationId xmlns:a16="http://schemas.microsoft.com/office/drawing/2014/main" id="{A562E0FA-9704-8132-4444-81CCA9392039}"/>
              </a:ext>
            </a:extLst>
          </p:cNvPr>
          <p:cNvSpPr/>
          <p:nvPr/>
        </p:nvSpPr>
        <p:spPr>
          <a:xfrm>
            <a:off x="2298305" y="2648380"/>
            <a:ext cx="117761" cy="123258"/>
          </a:xfrm>
          <a:prstGeom prst="star5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3FC0792-EC48-F0A8-C0CB-13257F1617C5}"/>
              </a:ext>
            </a:extLst>
          </p:cNvPr>
          <p:cNvSpPr txBox="1"/>
          <p:nvPr/>
        </p:nvSpPr>
        <p:spPr>
          <a:xfrm>
            <a:off x="2360519" y="2601468"/>
            <a:ext cx="9827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>
                <a:solidFill>
                  <a:srgbClr val="FF0000"/>
                </a:solidFill>
              </a:rPr>
              <a:t>CNY</a:t>
            </a:r>
            <a:endParaRPr lang="en-US">
              <a:solidFill>
                <a:srgbClr val="FF0000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A065445-756C-C8A8-A2BF-4AEA75A407AB}"/>
              </a:ext>
            </a:extLst>
          </p:cNvPr>
          <p:cNvSpPr/>
          <p:nvPr/>
        </p:nvSpPr>
        <p:spPr>
          <a:xfrm>
            <a:off x="548639" y="5998901"/>
            <a:ext cx="11198601" cy="71235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i="1">
                <a:solidFill>
                  <a:sysClr val="windowText" lastClr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takeaway: China is recovering vs 2025 (+14.8%), but is still only ~46% of pre-COVID.</a:t>
            </a:r>
          </a:p>
          <a:p>
            <a:r>
              <a:rPr sz="1200">
                <a:solidFill>
                  <a:schemeClr val="tx1"/>
                </a:solidFill>
                <a:latin typeface="Calibri"/>
              </a:rPr>
              <a:t>India is the strongest growth market — +24% in January and a record H1.</a:t>
            </a:r>
          </a:p>
          <a:p>
            <a:r>
              <a:rPr sz="1200">
                <a:latin typeface="Calibri"/>
              </a:rPr>
              <a:t>***June carries the MOTS 4-day data-loss gap.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 East &amp; Long-haul arrivals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Jan–Jun · Middle East by year (2019 = pre-COVID reference) · Long-haul = Europe + USA combined, monthly by year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2854971644"/>
              </p:ext>
            </p:extLst>
          </p:nvPr>
        </p:nvGraphicFramePr>
        <p:xfrm>
          <a:off x="548640" y="1755646"/>
          <a:ext cx="5349240" cy="279806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39" name="TextBox 938"/>
          <p:cNvSpPr txBox="1"/>
          <p:nvPr/>
        </p:nvSpPr>
        <p:spPr>
          <a:xfrm>
            <a:off x="548640" y="1481328"/>
            <a:ext cx="5349240" cy="25603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200" b="1">
                <a:solidFill>
                  <a:srgbClr val="1E2761"/>
                </a:solidFill>
                <a:latin typeface="Calibri"/>
              </a:rPr>
              <a:t>MIDDLE EAST</a:t>
            </a:r>
          </a:p>
        </p:txBody>
      </p:sp>
      <p:sp>
        <p:nvSpPr>
          <p:cNvPr id="942" name="TextBox 941"/>
          <p:cNvSpPr txBox="1"/>
          <p:nvPr/>
        </p:nvSpPr>
        <p:spPr>
          <a:xfrm>
            <a:off x="548640" y="5614853"/>
            <a:ext cx="5349240" cy="292608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050" b="1">
                <a:solidFill>
                  <a:srgbClr val="26292E"/>
                </a:solidFill>
                <a:latin typeface="Calibri"/>
              </a:rPr>
              <a:t>H1: 202k · −28.5% vs 25 · 36% of 2019 · worst: Apr −57%</a:t>
            </a:r>
          </a:p>
        </p:txBody>
      </p:sp>
      <p:graphicFrame>
        <p:nvGraphicFramePr>
          <p:cNvPr id="943" name="Chart 94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54256271"/>
              </p:ext>
            </p:extLst>
          </p:nvPr>
        </p:nvGraphicFramePr>
        <p:xfrm>
          <a:off x="6291072" y="1755647"/>
          <a:ext cx="5349240" cy="279806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944" name="TextBox 943"/>
          <p:cNvSpPr txBox="1"/>
          <p:nvPr/>
        </p:nvSpPr>
        <p:spPr>
          <a:xfrm>
            <a:off x="6291072" y="1481328"/>
            <a:ext cx="5349240" cy="25603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200" b="1">
                <a:solidFill>
                  <a:srgbClr val="1E2761"/>
                </a:solidFill>
                <a:latin typeface="Calibri"/>
              </a:rPr>
              <a:t>LONG-HAUL (EU + USA)</a:t>
            </a:r>
          </a:p>
        </p:txBody>
      </p:sp>
      <p:sp>
        <p:nvSpPr>
          <p:cNvPr id="945" name="TextBox 944"/>
          <p:cNvSpPr txBox="1"/>
          <p:nvPr/>
        </p:nvSpPr>
        <p:spPr>
          <a:xfrm>
            <a:off x="6291072" y="5614853"/>
            <a:ext cx="5349240" cy="292608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050" b="1">
                <a:solidFill>
                  <a:srgbClr val="26292E"/>
                </a:solidFill>
                <a:latin typeface="Calibri"/>
              </a:rPr>
              <a:t>H1: 5.05M · −1.2% vs 25 (Europe 4.25M −1.1% · USA 796k −1.6%)</a:t>
            </a:r>
          </a:p>
        </p:txBody>
      </p:sp>
      <p:graphicFrame>
        <p:nvGraphicFramePr>
          <p:cNvPr id="946" name="Table 945"/>
          <p:cNvGraphicFramePr>
            <a:graphicFrameLocks noGrp="1"/>
          </p:cNvGraphicFramePr>
          <p:nvPr/>
        </p:nvGraphicFramePr>
        <p:xfrm>
          <a:off x="548640" y="4553712"/>
          <a:ext cx="5349240" cy="9601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83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4066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69164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6292E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44,223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35,346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8,455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45,071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44,106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97,083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274,284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6292E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49,839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32,831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18,708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50,561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48,650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82,462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283,051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52,261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15,814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12,201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21,707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47,726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52,702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202,411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26 vs 25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+5%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-52%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-35%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-57%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-2%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-36%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-28.5%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947" name="Table 946"/>
          <p:cNvGraphicFramePr>
            <a:graphicFrameLocks noGrp="1"/>
          </p:cNvGraphicFramePr>
          <p:nvPr/>
        </p:nvGraphicFramePr>
        <p:xfrm>
          <a:off x="6291072" y="4553712"/>
          <a:ext cx="5349240" cy="9601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83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4066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69164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6292E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1,026,029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987,508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901,645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631,332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440,983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432,499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4,419,996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6292E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1,257,708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1,156,356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1,006,483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771,553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465,502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451,775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5,109,377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1,366,171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1,202,154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967,437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666,472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467,734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380,136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5,050,104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26 vs 25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+9%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+4%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-4%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-14%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+0%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-16%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-1.2%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5844BE5D-A0BA-0358-7619-84635144C752}"/>
              </a:ext>
            </a:extLst>
          </p:cNvPr>
          <p:cNvSpPr txBox="1"/>
          <p:nvPr/>
        </p:nvSpPr>
        <p:spPr>
          <a:xfrm>
            <a:off x="2744270" y="3223812"/>
            <a:ext cx="75411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/>
              <a:t>**ME War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5112495-5200-8E74-A52E-1171004B053A}"/>
              </a:ext>
            </a:extLst>
          </p:cNvPr>
          <p:cNvSpPr txBox="1"/>
          <p:nvPr/>
        </p:nvSpPr>
        <p:spPr>
          <a:xfrm>
            <a:off x="3623129" y="2535244"/>
            <a:ext cx="754113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/>
              <a:t>**Fuel Most effected</a:t>
            </a:r>
          </a:p>
        </p:txBody>
      </p:sp>
      <p:sp>
        <p:nvSpPr>
          <p:cNvPr id="13" name="Right Brace 12">
            <a:extLst>
              <a:ext uri="{FF2B5EF4-FFF2-40B4-BE49-F238E27FC236}">
                <a16:creationId xmlns:a16="http://schemas.microsoft.com/office/drawing/2014/main" id="{86D3D91A-0DB6-6E24-99FE-A520BE05185E}"/>
              </a:ext>
            </a:extLst>
          </p:cNvPr>
          <p:cNvSpPr/>
          <p:nvPr/>
        </p:nvSpPr>
        <p:spPr>
          <a:xfrm rot="16200000">
            <a:off x="4158251" y="582832"/>
            <a:ext cx="233078" cy="2908748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F7237A0-6123-FB7D-6AC5-4DB03ACBE352}"/>
              </a:ext>
            </a:extLst>
          </p:cNvPr>
          <p:cNvSpPr/>
          <p:nvPr/>
        </p:nvSpPr>
        <p:spPr>
          <a:xfrm>
            <a:off x="548639" y="5907461"/>
            <a:ext cx="11198601" cy="71235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i="1" dirty="0">
                <a:solidFill>
                  <a:sysClr val="windowText" lastClr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takeaway: Middle East volumes dropped sharply from February — the regional war effect.</a:t>
            </a:r>
          </a:p>
          <a:p>
            <a:r>
              <a:rPr sz="1200">
                <a:latin typeface="Calibri"/>
              </a:rPr>
              <a:t>Long-haul held up but showed no growth vs 2025: a strong Jan–Feb offset a softer April (higher airfares from rerouting).</a:t>
            </a:r>
          </a:p>
          <a:p>
            <a:r>
              <a:rPr sz="1200">
                <a:latin typeface="Calibri"/>
              </a:rPr>
              <a:t>***June carries the MOTS 4-day data-loss gap.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06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E4E22DB-AFAD-6BDF-F76E-FF39AE62E5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6079A81D-15BF-EB2A-A929-89FBC8E2147F}"/>
              </a:ext>
            </a:extLst>
          </p:cNvPr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</a:t>
            </a:r>
            <a:endParaRPr lang="en-US" sz="96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2A079B0-9A0B-3BC6-B93A-2183125E4175}"/>
              </a:ext>
            </a:extLst>
          </p:cNvPr>
          <p:cNvSpPr/>
          <p:nvPr/>
        </p:nvSpPr>
        <p:spPr>
          <a:xfrm>
            <a:off x="2514600" y="1965960"/>
            <a:ext cx="6944360" cy="16924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40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Bangkok Tourist Arrivals + Revenue from tourists</a:t>
            </a:r>
          </a:p>
          <a:p>
            <a:r>
              <a:rPr lang="en-US" sz="40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Bangkok Hotel Market</a:t>
            </a:r>
            <a:endParaRPr lang="en-US" sz="400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6DD7B280-FDD1-D9D8-D92B-43DD8A8103BB}"/>
              </a:ext>
            </a:extLst>
          </p:cNvPr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/>
          </a:p>
        </p:txBody>
      </p:sp>
    </p:spTree>
    <p:extLst>
      <p:ext uri="{BB962C8B-B14F-4D97-AF65-F5344CB8AC3E}">
        <p14:creationId xmlns:p14="http://schemas.microsoft.com/office/powerpoint/2010/main" val="128325581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D9A441"/>
                </a:solidFill>
                <a:latin typeface="Calibri"/>
              </a:rPr>
              <a:t>SECTION 1 · TOURIST ARRIVALS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E2761"/>
                </a:solidFill>
                <a:latin typeface="Calibri"/>
              </a:rPr>
              <a:t>Bangkok — tourist arrivals &amp; revenue from tourists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60704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>
                <a:solidFill>
                  <a:srgbClr val="6B7280"/>
                </a:solidFill>
                <a:latin typeface="Calibri"/>
              </a:rPr>
              <a:t>H1 (Jan–Jun) each year · source: MOTS provincial data (Province arrival / Revenue from tourists sheets)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97179443"/>
              </p:ext>
            </p:extLst>
          </p:nvPr>
        </p:nvGraphicFramePr>
        <p:xfrm>
          <a:off x="548640" y="1323594"/>
          <a:ext cx="11094720" cy="255249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38840180"/>
              </p:ext>
            </p:extLst>
          </p:nvPr>
        </p:nvGraphicFramePr>
        <p:xfrm>
          <a:off x="563880" y="3973560"/>
          <a:ext cx="11064240" cy="182098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60141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 strike="noStrike">
                          <a:solidFill>
                            <a:srgbClr val="26292E"/>
                          </a:solidFill>
                          <a:latin typeface="Calibri"/>
                        </a:rPr>
                        <a:t>Total arrivals (M)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strike="noStrike">
                          <a:solidFill>
                            <a:srgbClr val="26292E"/>
                          </a:solidFill>
                          <a:latin typeface="Calibri"/>
                        </a:rPr>
                        <a:t>27.23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strike="noStrike">
                          <a:solidFill>
                            <a:srgbClr val="26292E"/>
                          </a:solidFill>
                          <a:latin typeface="Calibri"/>
                        </a:rPr>
                        <a:t>28.32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strike="noStrike">
                          <a:solidFill>
                            <a:srgbClr val="26292E"/>
                          </a:solidFill>
                          <a:latin typeface="Calibri"/>
                        </a:rPr>
                        <a:t>26.98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strike="noStrike">
                          <a:solidFill>
                            <a:srgbClr val="26292E"/>
                          </a:solidFill>
                          <a:latin typeface="Calibri"/>
                        </a:rPr>
                        <a:t>27.86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 strike="noStrike">
                          <a:solidFill>
                            <a:srgbClr val="26292E"/>
                          </a:solidFill>
                          <a:latin typeface="Calibri"/>
                        </a:rPr>
                        <a:t>- Domestic (M)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strike="noStrike">
                          <a:solidFill>
                            <a:srgbClr val="26292E"/>
                          </a:solidFill>
                          <a:latin typeface="Calibri"/>
                        </a:rPr>
                        <a:t>15.62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strike="noStrike">
                          <a:solidFill>
                            <a:srgbClr val="26292E"/>
                          </a:solidFill>
                          <a:latin typeface="Calibri"/>
                        </a:rPr>
                        <a:t>14.83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strike="noStrike">
                          <a:solidFill>
                            <a:srgbClr val="26292E"/>
                          </a:solidFill>
                          <a:latin typeface="Calibri"/>
                        </a:rPr>
                        <a:t>14.55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strike="noStrike">
                          <a:solidFill>
                            <a:srgbClr val="26292E"/>
                          </a:solidFill>
                          <a:latin typeface="Calibri"/>
                        </a:rPr>
                        <a:t>15.45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- International (M)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11.62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13.49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highlight>
                            <a:srgbClr val="FFFF00"/>
                          </a:highlight>
                          <a:latin typeface="Calibri"/>
                        </a:rPr>
                        <a:t>12.43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highlight>
                            <a:srgbClr val="FFFF00"/>
                          </a:highlight>
                          <a:latin typeface="Calibri"/>
                        </a:rPr>
                        <a:t>12.42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Total arrivals vs 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+4.0%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-4.7%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+3.3%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lang="en-US" sz="1050" b="1">
                          <a:solidFill>
                            <a:srgbClr val="26292E"/>
                          </a:solidFill>
                          <a:latin typeface="Calibri"/>
                        </a:rPr>
                        <a:t>- </a:t>
                      </a:r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Dom arrivals vs 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-5.1%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-1.9%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+6.2%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0446077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lang="en-US" sz="1050" b="1">
                          <a:solidFill>
                            <a:srgbClr val="26292E"/>
                          </a:solidFill>
                          <a:latin typeface="Calibri"/>
                        </a:rPr>
                        <a:t>- </a:t>
                      </a:r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Intl arrivals vs LY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+16.2%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-7.9%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-0.1%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16B4C631-256A-E482-091B-E208689D6F7D}"/>
              </a:ext>
            </a:extLst>
          </p:cNvPr>
          <p:cNvSpPr/>
          <p:nvPr/>
        </p:nvSpPr>
        <p:spPr>
          <a:xfrm>
            <a:off x="563880" y="5907461"/>
            <a:ext cx="11198601" cy="71235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i="1" dirty="0">
                <a:solidFill>
                  <a:sysClr val="windowText" lastClr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takeaway: Even though total arrivals are −3%, international arrivals in Bangkok are similar to LY (−0.1%) — the overall drop came from Phuket and Pattaya, not Bangkok.</a:t>
            </a:r>
          </a:p>
          <a:p>
            <a:r>
              <a:rPr lang="en-US" sz="1200" dirty="0"/>
              <a:t>***June carries the MOTS 4-day data-loss gap.</a:t>
            </a:r>
          </a:p>
        </p:txBody>
      </p:sp>
    </p:spTree>
    <p:extLst>
      <p:ext uri="{BB962C8B-B14F-4D97-AF65-F5344CB8AC3E}">
        <p14:creationId xmlns:p14="http://schemas.microsoft.com/office/powerpoint/2010/main" val="27715563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MARKET (STR)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Bangkok market — Occ / ADR / RevPAR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Bangkok overall (all classes) · STR monthly reports 2024–2026 · Jan–Jun monthly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1951800409"/>
              </p:ext>
            </p:extLst>
          </p:nvPr>
        </p:nvGraphicFramePr>
        <p:xfrm>
          <a:off x="548640" y="1554480"/>
          <a:ext cx="361188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>
            <p:extLst>
              <p:ext uri="{D42A27DB-BD31-4B8C-83A1-F6EECF244321}">
                <p14:modId xmlns:p14="http://schemas.microsoft.com/office/powerpoint/2010/main" val="13813365"/>
              </p:ext>
            </p:extLst>
          </p:nvPr>
        </p:nvGraphicFramePr>
        <p:xfrm>
          <a:off x="4343400" y="1554480"/>
          <a:ext cx="361188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8" name="Chart 2"/>
          <p:cNvGraphicFramePr/>
          <p:nvPr>
            <p:extLst>
              <p:ext uri="{D42A27DB-BD31-4B8C-83A1-F6EECF244321}">
                <p14:modId xmlns:p14="http://schemas.microsoft.com/office/powerpoint/2010/main" val="1259567220"/>
              </p:ext>
            </p:extLst>
          </p:nvPr>
        </p:nvGraphicFramePr>
        <p:xfrm>
          <a:off x="8138160" y="1554480"/>
          <a:ext cx="361188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393192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2026 vs 2025 (Bangkok overall):   Occ +2.3%   </a:t>
            </a:r>
            <a:r>
              <a:rPr lang="en-US" sz="1250" b="1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 ADR −1.4%   </a:t>
            </a:r>
            <a:r>
              <a:rPr lang="en-US" sz="1250" b="1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 RevPAR +0.9%</a:t>
            </a:r>
            <a:endParaRPr lang="en-US" sz="1250"/>
          </a:p>
        </p:txBody>
      </p:sp>
      <p:graphicFrame>
        <p:nvGraphicFramePr>
          <p:cNvPr id="11" name="Table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83971682"/>
              </p:ext>
            </p:extLst>
          </p:nvPr>
        </p:nvGraphicFramePr>
        <p:xfrm>
          <a:off x="548639" y="4343400"/>
          <a:ext cx="11091672" cy="11887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881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4638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4638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4174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4638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4638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4174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4638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4638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941746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Market class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Occ 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Occ 26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Δ%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ADR 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ADR 26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Δ%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RevPAR 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RevPAR 26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Δ%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Luxury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65.1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66.8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+2.6%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7,007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7,082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+1.1%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4,560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4,729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+3.7%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Upper Upscale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68.6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68.9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+0.5%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4,430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4,301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-2.9%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3,039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2,965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-2.4%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Upscale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71.8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75.4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+5.1%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3,130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2,991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-4.5%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2,247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2,256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+0.4%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Upper Midscale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74.3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76.8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+3.4%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2,834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2,635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-7.0%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2,106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2,024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-3.9%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8" name="Right Brace 17">
            <a:extLst>
              <a:ext uri="{FF2B5EF4-FFF2-40B4-BE49-F238E27FC236}">
                <a16:creationId xmlns:a16="http://schemas.microsoft.com/office/drawing/2014/main" id="{1FDBC196-F69E-4BD1-1768-7DEF4F940DBC}"/>
              </a:ext>
            </a:extLst>
          </p:cNvPr>
          <p:cNvSpPr/>
          <p:nvPr/>
        </p:nvSpPr>
        <p:spPr>
          <a:xfrm rot="16200000" flipH="1">
            <a:off x="10873917" y="2865271"/>
            <a:ext cx="112722" cy="1420067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A0757AD-A561-E33B-C7BE-DCC2514B2BF7}"/>
              </a:ext>
            </a:extLst>
          </p:cNvPr>
          <p:cNvSpPr txBox="1"/>
          <p:nvPr/>
        </p:nvSpPr>
        <p:spPr>
          <a:xfrm>
            <a:off x="10511839" y="3619678"/>
            <a:ext cx="836878" cy="369332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en-US" sz="900"/>
              <a:t>Q2 Soft Market</a:t>
            </a:r>
          </a:p>
        </p:txBody>
      </p:sp>
      <p:sp>
        <p:nvSpPr>
          <p:cNvPr id="20" name="Right Brace 19">
            <a:extLst>
              <a:ext uri="{FF2B5EF4-FFF2-40B4-BE49-F238E27FC236}">
                <a16:creationId xmlns:a16="http://schemas.microsoft.com/office/drawing/2014/main" id="{3F6D5320-6995-BFC8-23C9-8B0E1FB06C50}"/>
              </a:ext>
            </a:extLst>
          </p:cNvPr>
          <p:cNvSpPr/>
          <p:nvPr/>
        </p:nvSpPr>
        <p:spPr>
          <a:xfrm rot="16200000" flipH="1">
            <a:off x="7086844" y="2865271"/>
            <a:ext cx="112722" cy="1420067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02F9CDA-50EF-802D-0A4E-61D3366A8F99}"/>
              </a:ext>
            </a:extLst>
          </p:cNvPr>
          <p:cNvSpPr txBox="1"/>
          <p:nvPr/>
        </p:nvSpPr>
        <p:spPr>
          <a:xfrm>
            <a:off x="6724766" y="3619678"/>
            <a:ext cx="836878" cy="369332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en-US" sz="900"/>
              <a:t>Q2 Soft Market</a:t>
            </a:r>
          </a:p>
        </p:txBody>
      </p:sp>
      <p:sp>
        <p:nvSpPr>
          <p:cNvPr id="22" name="Right Brace 21">
            <a:extLst>
              <a:ext uri="{FF2B5EF4-FFF2-40B4-BE49-F238E27FC236}">
                <a16:creationId xmlns:a16="http://schemas.microsoft.com/office/drawing/2014/main" id="{9FA69062-879C-BF76-A32C-5DAF0B241F01}"/>
              </a:ext>
            </a:extLst>
          </p:cNvPr>
          <p:cNvSpPr/>
          <p:nvPr/>
        </p:nvSpPr>
        <p:spPr>
          <a:xfrm rot="16200000" flipH="1">
            <a:off x="3178391" y="2865271"/>
            <a:ext cx="112722" cy="1420067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FB07932-8C4E-8A97-584D-52A5F0DC674A}"/>
              </a:ext>
            </a:extLst>
          </p:cNvPr>
          <p:cNvSpPr txBox="1"/>
          <p:nvPr/>
        </p:nvSpPr>
        <p:spPr>
          <a:xfrm>
            <a:off x="2816313" y="3631584"/>
            <a:ext cx="1122627" cy="230832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en-US" sz="900"/>
              <a:t>Q2 Soft Market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9815B0B-BC00-C025-DD96-B1438FFEF390}"/>
              </a:ext>
            </a:extLst>
          </p:cNvPr>
          <p:cNvSpPr/>
          <p:nvPr/>
        </p:nvSpPr>
        <p:spPr>
          <a:xfrm>
            <a:off x="548639" y="5699282"/>
            <a:ext cx="11198601" cy="71235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i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takeaway: The Bangkok hotel market runs Occ +2.3%, ADR −1.3% → RevPAR +0.9%; the rise in visitors explains the higher occupancy.</a:t>
            </a:r>
          </a:p>
          <a:p>
            <a:r>
              <a:rPr sz="1200">
                <a:solidFill>
                  <a:schemeClr val="tx1"/>
                </a:solidFill>
                <a:latin typeface="Calibri"/>
              </a:rPr>
              <a:t>By class, Luxury is the only one holding rate (+1.1%)</a:t>
            </a:r>
            <a:endParaRPr lang="en-US" sz="1200">
              <a:solidFill>
                <a:schemeClr val="tx1"/>
              </a:solidFill>
              <a:latin typeface="Calibri"/>
            </a:endParaRPr>
          </a:p>
          <a:p>
            <a:r>
              <a:rPr sz="1200">
                <a:solidFill>
                  <a:schemeClr val="tx1"/>
                </a:solidFill>
                <a:latin typeface="Calibri"/>
              </a:rPr>
              <a:t>Every class below it cut price — and the lower the tier, the deeper the ADR cut.</a:t>
            </a:r>
            <a:endParaRPr lang="en-US" sz="1200">
              <a:solidFill>
                <a:schemeClr val="tx1"/>
              </a:solidFill>
              <a:latin typeface="Calibri"/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0407F377-B864-8A75-9010-6B3D75EB0330}"/>
              </a:ext>
            </a:extLst>
          </p:cNvPr>
          <p:cNvCxnSpPr/>
          <p:nvPr/>
        </p:nvCxnSpPr>
        <p:spPr>
          <a:xfrm>
            <a:off x="441789" y="4849402"/>
            <a:ext cx="0" cy="68271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A50CA16F-327B-15B2-0F7D-EDD0D9EF3335}"/>
              </a:ext>
            </a:extLst>
          </p:cNvPr>
          <p:cNvSpPr txBox="1"/>
          <p:nvPr/>
        </p:nvSpPr>
        <p:spPr>
          <a:xfrm rot="16200000">
            <a:off x="-234940" y="5075345"/>
            <a:ext cx="1122627" cy="230832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en-US" sz="900"/>
              <a:t>Our portfolio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06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1F7DF7B-61AE-4183-3010-CCE5E2AD7E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073B7DB2-D012-32E1-1B91-CDBEEE14DD8D}"/>
              </a:ext>
            </a:extLst>
          </p:cNvPr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</a:t>
            </a:r>
            <a:endParaRPr lang="en-US" sz="96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AB051A42-3A8D-125D-B9B0-7559C561E523}"/>
              </a:ext>
            </a:extLst>
          </p:cNvPr>
          <p:cNvSpPr/>
          <p:nvPr/>
        </p:nvSpPr>
        <p:spPr>
          <a:xfrm>
            <a:off x="2514600" y="1961949"/>
            <a:ext cx="5958840" cy="27151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Pattaya Tourist Arrivals + Revenue from tourists</a:t>
            </a:r>
          </a:p>
          <a:p>
            <a:r>
              <a:rPr lang="en-US" sz="40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Pattaya Hotel Market</a:t>
            </a:r>
            <a:endParaRPr lang="en-US" sz="4000"/>
          </a:p>
          <a:p>
            <a:pPr marL="0" indent="0">
              <a:buNone/>
            </a:pPr>
            <a:endParaRPr lang="en-US" sz="400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612A9611-A91A-2CCB-AAD3-DAAB4E3CB4AA}"/>
              </a:ext>
            </a:extLst>
          </p:cNvPr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/>
          </a:p>
        </p:txBody>
      </p:sp>
    </p:spTree>
    <p:extLst>
      <p:ext uri="{BB962C8B-B14F-4D97-AF65-F5344CB8AC3E}">
        <p14:creationId xmlns:p14="http://schemas.microsoft.com/office/powerpoint/2010/main" val="49323682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D9A441"/>
                </a:solidFill>
                <a:latin typeface="Calibri"/>
              </a:rPr>
              <a:t>SECTION 1 · TOURIST ARRIVALS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E2761"/>
                </a:solidFill>
                <a:latin typeface="Calibri"/>
              </a:rPr>
              <a:t>Pattaya (Chonburi) — tourist arrivals &amp; revenue from tourists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60704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>
                <a:solidFill>
                  <a:srgbClr val="6B7280"/>
                </a:solidFill>
                <a:latin typeface="Calibri"/>
              </a:rPr>
              <a:t>H1 (Jan–Jun) each year · source: MOTS provincial data (Province arrival / Revenue from tourists sheets)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11364258"/>
              </p:ext>
            </p:extLst>
          </p:nvPr>
        </p:nvGraphicFramePr>
        <p:xfrm>
          <a:off x="548640" y="1600200"/>
          <a:ext cx="11064240" cy="222535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84459513"/>
              </p:ext>
            </p:extLst>
          </p:nvPr>
        </p:nvGraphicFramePr>
        <p:xfrm>
          <a:off x="548640" y="3895639"/>
          <a:ext cx="11064240" cy="17602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13793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3793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Total arrivals (M)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11.82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13.35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13.87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13.51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3793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- Domestic (M)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7.12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7.57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8.45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8.38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3793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- International (M)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4.70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5.78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5.42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5.13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3793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Total arrivals vs 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+12.9%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+4.0%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-2.7%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lang="en-US" sz="1050" b="1">
                          <a:solidFill>
                            <a:srgbClr val="26292E"/>
                          </a:solidFill>
                          <a:latin typeface="Calibri"/>
                        </a:rPr>
                        <a:t>- </a:t>
                      </a:r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Dom arrivals vs 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+6.3%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+11.6%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-0.8%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7995997"/>
                  </a:ext>
                </a:extLst>
              </a:tr>
              <a:tr h="213793">
                <a:tc>
                  <a:txBody>
                    <a:bodyPr/>
                    <a:lstStyle/>
                    <a:p>
                      <a:r>
                        <a:rPr lang="en-US" sz="1050" b="1">
                          <a:solidFill>
                            <a:srgbClr val="26292E"/>
                          </a:solidFill>
                          <a:latin typeface="Calibri"/>
                        </a:rPr>
                        <a:t>- </a:t>
                      </a:r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Intl arrivals vs LY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+23.0%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-6.2%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-5.4%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B82EA17F-8A49-A763-07C3-906307D99AB6}"/>
              </a:ext>
            </a:extLst>
          </p:cNvPr>
          <p:cNvSpPr/>
          <p:nvPr/>
        </p:nvSpPr>
        <p:spPr>
          <a:xfrm>
            <a:off x="548639" y="5797296"/>
            <a:ext cx="11198601" cy="71235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i="1">
                <a:solidFill>
                  <a:sysClr val="windowText" lastClr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takeaway: In the Pattaya area, arrivals are −2.7% vs LY — mostly from foreigners (−5.4% vs LY).</a:t>
            </a:r>
          </a:p>
          <a:p>
            <a:r>
              <a:rPr lang="en-US" sz="1200"/>
              <a:t>***June carries the MOTS 4-day data-loss gap.</a:t>
            </a:r>
          </a:p>
        </p:txBody>
      </p:sp>
    </p:spTree>
    <p:extLst>
      <p:ext uri="{BB962C8B-B14F-4D97-AF65-F5344CB8AC3E}">
        <p14:creationId xmlns:p14="http://schemas.microsoft.com/office/powerpoint/2010/main" val="414594310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MARKET (STR)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Pattaya market — Occ / ADR / RevPAR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Pattaya submarket (CoStar Standard Monthly, YTD Jun 2026 report) · Jan–Jun monthly, 2026 vs 2025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1647986545"/>
              </p:ext>
            </p:extLst>
          </p:nvPr>
        </p:nvGraphicFramePr>
        <p:xfrm>
          <a:off x="548640" y="1554480"/>
          <a:ext cx="361188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>
            <p:extLst>
              <p:ext uri="{D42A27DB-BD31-4B8C-83A1-F6EECF244321}">
                <p14:modId xmlns:p14="http://schemas.microsoft.com/office/powerpoint/2010/main" val="3264171204"/>
              </p:ext>
            </p:extLst>
          </p:nvPr>
        </p:nvGraphicFramePr>
        <p:xfrm>
          <a:off x="4343400" y="1554480"/>
          <a:ext cx="361188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8" name="Chart 2"/>
          <p:cNvGraphicFramePr/>
          <p:nvPr>
            <p:extLst>
              <p:ext uri="{D42A27DB-BD31-4B8C-83A1-F6EECF244321}">
                <p14:modId xmlns:p14="http://schemas.microsoft.com/office/powerpoint/2010/main" val="357851450"/>
              </p:ext>
            </p:extLst>
          </p:nvPr>
        </p:nvGraphicFramePr>
        <p:xfrm>
          <a:off x="8138160" y="1554480"/>
          <a:ext cx="361188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395020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50" b="1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2026 vs 2025 (CoStar Pattaya submarket):   </a:t>
            </a:r>
            <a:r>
              <a:rPr lang="en-US" sz="1250" b="1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 −2.6%   ·   ADR −0.1%   ·   RevPAR −2.6%</a:t>
            </a:r>
            <a:endParaRPr lang="en-US" sz="1250">
              <a:solidFill>
                <a:srgbClr val="FF0000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357E8D0-2F35-D50E-D759-648928A5822D}"/>
              </a:ext>
            </a:extLst>
          </p:cNvPr>
          <p:cNvSpPr txBox="1"/>
          <p:nvPr/>
        </p:nvSpPr>
        <p:spPr>
          <a:xfrm>
            <a:off x="2879188" y="2404048"/>
            <a:ext cx="1237957" cy="4314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/>
          </a:p>
        </p:txBody>
      </p:sp>
      <p:graphicFrame>
        <p:nvGraphicFramePr>
          <p:cNvPr id="23" name="Table 2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84240872"/>
              </p:ext>
            </p:extLst>
          </p:nvPr>
        </p:nvGraphicFramePr>
        <p:xfrm>
          <a:off x="564330" y="4423054"/>
          <a:ext cx="11075982" cy="4754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355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1614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1614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53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1614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1614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14531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1614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614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914531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Market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Occ 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Occ 26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Δ%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ADR 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ADR 26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Δ%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RevPAR 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RevPAR 26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Δ%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Upscale &amp; Upper Midscale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67.4</a:t>
                      </a:r>
                    </a:p>
                  </a:txBody>
                  <a:tcPr marL="36576" marR="36576" marT="7315" marB="7315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65.3</a:t>
                      </a:r>
                    </a:p>
                  </a:txBody>
                  <a:tcPr marL="36576" marR="36576" marT="7315" marB="7315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-3.0%</a:t>
                      </a:r>
                    </a:p>
                  </a:txBody>
                  <a:tcPr marL="36576" marR="36576" marT="7315" marB="7315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2,655</a:t>
                      </a:r>
                    </a:p>
                  </a:txBody>
                  <a:tcPr marL="36576" marR="36576" marT="7315" marB="7315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2,601</a:t>
                      </a:r>
                    </a:p>
                  </a:txBody>
                  <a:tcPr marL="36576" marR="36576" marT="7315" marB="7315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-2.0%</a:t>
                      </a:r>
                    </a:p>
                  </a:txBody>
                  <a:tcPr marL="36576" marR="36576" marT="7315" marB="7315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1,789</a:t>
                      </a:r>
                    </a:p>
                  </a:txBody>
                  <a:tcPr marL="36576" marR="36576" marT="7315" marB="7315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1,700</a:t>
                      </a:r>
                    </a:p>
                  </a:txBody>
                  <a:tcPr marL="36576" marR="36576" marT="7315" marB="7315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-5.0%</a:t>
                      </a:r>
                    </a:p>
                  </a:txBody>
                  <a:tcPr marL="36576" marR="36576" marT="7315" marB="7315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4" name="Rectangle 13">
            <a:extLst>
              <a:ext uri="{FF2B5EF4-FFF2-40B4-BE49-F238E27FC236}">
                <a16:creationId xmlns:a16="http://schemas.microsoft.com/office/drawing/2014/main" id="{90D37C43-8759-22CB-9FD5-32DB5D8AB134}"/>
              </a:ext>
            </a:extLst>
          </p:cNvPr>
          <p:cNvSpPr/>
          <p:nvPr/>
        </p:nvSpPr>
        <p:spPr>
          <a:xfrm>
            <a:off x="546774" y="5084938"/>
            <a:ext cx="11130970" cy="71235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i="1" dirty="0">
                <a:solidFill>
                  <a:sysClr val="windowText" lastClr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 : demand down (arrivals −2.7%) → market gave up occupancy (−2.6%) but held rate (ADR −0.1% = flat; Jan/Feb swing = CNY timing, May–Jun ADR −3~4%).</a:t>
            </a:r>
          </a:p>
          <a:p>
            <a:endParaRPr lang="en-US" sz="1200" i="1" dirty="0">
              <a:solidFill>
                <a:sysClr val="windowText" lastClr="000000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r>
              <a:rPr lang="en-US" sz="1200" i="1" dirty="0">
                <a:solidFill>
                  <a:sysClr val="windowText" lastClr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Upscale &amp; Upper Midscale set — closest to SP — lost both (Occ −3.0%, ADR −2.0%, RevPAR −5.0%)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60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</a:t>
            </a:r>
            <a:endParaRPr lang="en-US" sz="400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four properties — P&amp;L (EBIT) · performance vs budget</a:t>
            </a:r>
            <a:endParaRPr lang="en-US" sz="140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PORTFOLIO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— all four properties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 by room inventory (1,406 keys) · YTD = Jan–Jun 2026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4007502558"/>
              </p:ext>
            </p:extLst>
          </p:nvPr>
        </p:nvGraphicFramePr>
        <p:xfrm>
          <a:off x="548640" y="1354637"/>
          <a:ext cx="722376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02744720"/>
              </p:ext>
            </p:extLst>
          </p:nvPr>
        </p:nvGraphicFramePr>
        <p:xfrm>
          <a:off x="548640" y="3672641"/>
          <a:ext cx="7223760" cy="22860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85.3%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83.6%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67.0%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68.0%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69.0%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66.0%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73.1%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Budget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83.3%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87.0%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72.0%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74.6%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72.1%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70.9%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76.5%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84.7%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90.2%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78.1%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67.7%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67.4%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67.4%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75.8%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3,584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3,053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3,134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2,835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2,805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5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Budget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3,402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3,369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3,138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2,856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2,843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3,123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4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3,223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3,305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2,900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3,087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2,734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2,756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3,018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3,058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2,793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2,131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1,956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1,852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7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Budget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2,833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2,930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2,196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2,058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2,016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2,389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6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2,731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2,982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2,091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1,842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1,857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2,287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832004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923444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/>
          </a:p>
        </p:txBody>
      </p:sp>
      <p:sp>
        <p:nvSpPr>
          <p:cNvPr id="10" name="Text 6"/>
          <p:cNvSpPr/>
          <p:nvPr/>
        </p:nvSpPr>
        <p:spPr>
          <a:xfrm>
            <a:off x="8238744" y="1142900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75.8%</a:t>
            </a:r>
            <a:endParaRPr lang="en-US" sz="2400"/>
          </a:p>
        </p:txBody>
      </p:sp>
      <p:sp>
        <p:nvSpPr>
          <p:cNvPr id="11" name="Text 7"/>
          <p:cNvSpPr/>
          <p:nvPr/>
        </p:nvSpPr>
        <p:spPr>
          <a:xfrm>
            <a:off x="8238744" y="1600100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-5.5% vs budget</a:t>
            </a:r>
            <a:r>
              <a:rPr lang="en-US" sz="10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-1.1% vs LY</a:t>
            </a:r>
            <a:endParaRPr lang="en-US" sz="1050"/>
          </a:p>
        </p:txBody>
      </p:sp>
      <p:sp>
        <p:nvSpPr>
          <p:cNvPr id="12" name="Shape 8"/>
          <p:cNvSpPr/>
          <p:nvPr/>
        </p:nvSpPr>
        <p:spPr>
          <a:xfrm>
            <a:off x="8092440" y="224018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233162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/>
          </a:p>
        </p:txBody>
      </p:sp>
      <p:sp>
        <p:nvSpPr>
          <p:cNvPr id="14" name="Text 10"/>
          <p:cNvSpPr/>
          <p:nvPr/>
        </p:nvSpPr>
        <p:spPr>
          <a:xfrm>
            <a:off x="8238744" y="255107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฿3,018</a:t>
            </a:r>
            <a:endParaRPr lang="en-US" sz="2400"/>
          </a:p>
        </p:txBody>
      </p:sp>
      <p:sp>
        <p:nvSpPr>
          <p:cNvPr id="15" name="Text 11"/>
          <p:cNvSpPr/>
          <p:nvPr/>
        </p:nvSpPr>
        <p:spPr>
          <a:xfrm>
            <a:off x="8238744" y="300827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-3.4% vs budget</a:t>
            </a:r>
            <a:r>
              <a:rPr lang="en-US" sz="10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-4.2% vs LY</a:t>
            </a:r>
            <a:endParaRPr lang="en-US" sz="1050"/>
          </a:p>
        </p:txBody>
      </p:sp>
      <p:sp>
        <p:nvSpPr>
          <p:cNvPr id="16" name="Shape 12"/>
          <p:cNvSpPr/>
          <p:nvPr/>
        </p:nvSpPr>
        <p:spPr>
          <a:xfrm>
            <a:off x="8092440" y="364835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373979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/>
          </a:p>
        </p:txBody>
      </p:sp>
      <p:sp>
        <p:nvSpPr>
          <p:cNvPr id="7" name="Text 14"/>
          <p:cNvSpPr/>
          <p:nvPr/>
        </p:nvSpPr>
        <p:spPr>
          <a:xfrm>
            <a:off x="8238744" y="395925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฿2,287</a:t>
            </a:r>
            <a:endParaRPr lang="en-US" sz="2400"/>
          </a:p>
        </p:txBody>
      </p:sp>
      <p:sp>
        <p:nvSpPr>
          <p:cNvPr id="19" name="Text 15"/>
          <p:cNvSpPr/>
          <p:nvPr/>
        </p:nvSpPr>
        <p:spPr>
          <a:xfrm>
            <a:off x="8238744" y="441645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-4.3% vs budget</a:t>
            </a:r>
            <a:r>
              <a:rPr lang="en-US" sz="10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-0.6% vs LY</a:t>
            </a:r>
            <a:endParaRPr lang="en-US" sz="1050"/>
          </a:p>
        </p:txBody>
      </p:sp>
      <p:sp>
        <p:nvSpPr>
          <p:cNvPr id="22" name="Star: 5 Points 21">
            <a:extLst>
              <a:ext uri="{FF2B5EF4-FFF2-40B4-BE49-F238E27FC236}">
                <a16:creationId xmlns:a16="http://schemas.microsoft.com/office/drawing/2014/main" id="{BCA2C0C0-B180-A464-73A7-7ACEBEA2149C}"/>
              </a:ext>
            </a:extLst>
          </p:cNvPr>
          <p:cNvSpPr/>
          <p:nvPr/>
        </p:nvSpPr>
        <p:spPr>
          <a:xfrm>
            <a:off x="2360519" y="1742118"/>
            <a:ext cx="117761" cy="123258"/>
          </a:xfrm>
          <a:prstGeom prst="star5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9FF3C47-0C50-2E6D-D1ED-988ECAD046E8}"/>
              </a:ext>
            </a:extLst>
          </p:cNvPr>
          <p:cNvSpPr txBox="1"/>
          <p:nvPr/>
        </p:nvSpPr>
        <p:spPr>
          <a:xfrm>
            <a:off x="2422733" y="1695206"/>
            <a:ext cx="9827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>
                <a:solidFill>
                  <a:srgbClr val="FF0000"/>
                </a:solidFill>
              </a:rPr>
              <a:t>CNY</a:t>
            </a:r>
            <a:endParaRPr lang="en-US">
              <a:solidFill>
                <a:srgbClr val="FF0000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B4AF44B-EB10-22B1-7043-DDD0D6353B66}"/>
              </a:ext>
            </a:extLst>
          </p:cNvPr>
          <p:cNvSpPr/>
          <p:nvPr/>
        </p:nvSpPr>
        <p:spPr>
          <a:xfrm>
            <a:off x="8000809" y="5001668"/>
            <a:ext cx="3804285" cy="166017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i="1" dirty="0">
                <a:solidFill>
                  <a:sysClr val="windowText" lastClr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takeaway: Portfolio RevPAR is ~4% behind budget, driven mainly by rate (ADR −3.4%); occupancy is near plan (−1.0%). Vs last year, RevPAR is broadly flat.</a:t>
            </a:r>
          </a:p>
          <a:p>
            <a:r>
              <a:rPr sz="1050">
                <a:latin typeface="Calibri"/>
              </a:rPr>
              <a:t>April was our softest month — driven by AES (−16% RevPAR vs budget, after the Dubai group moved out) and LYF (occupancy 50% vs the 83% budgeted).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PORTFOLIO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— P&amp;L, H1 2026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P&amp;L: actual 2026 vs Budget (MF) and actual 2025 · ฿M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2112264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110.1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590.4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118.4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116.7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581.9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-53.5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-47.9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-43.5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-40.9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-269.4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Budget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-52.6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-50.7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-47.4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-296.6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-46.5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-263.9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320.9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9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Budget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348.1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318.0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147.1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Budget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160.9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143.2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graphicFrame>
        <p:nvGraphicFramePr>
          <p:cNvPr id="3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28409361"/>
              </p:ext>
            </p:extLst>
          </p:nvPr>
        </p:nvGraphicFramePr>
        <p:xfrm>
          <a:off x="6126480" y="1438321"/>
          <a:ext cx="5742432" cy="2309845"/>
        </p:xfrm>
        <a:graphic>
          <a:graphicData uri="http://schemas.openxmlformats.org/drawingml/2006/table">
            <a:tbl>
              <a:tblPr/>
              <a:tblGrid>
                <a:gridCol w="9230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2633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2633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669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9299">
                  <a:extLst>
                    <a:ext uri="{9D8B030D-6E8A-4147-A177-3AD203B41FA5}">
                      <a16:colId xmlns:a16="http://schemas.microsoft.com/office/drawing/2014/main" val="990001"/>
                    </a:ext>
                  </a:extLst>
                </a:gridCol>
                <a:gridCol w="59336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985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604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576887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111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Chg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165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฿581.9M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฿644.7M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−฿62.8M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-9.7%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฿590.4M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฿663.3M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11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−฿263.9M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−฿296.6M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+฿32.7M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−฿269.4M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-2.1%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−฿285.3M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165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฿318.0M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฿348.1M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−฿30.1M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-8.6%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฿320.9M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-0.9%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฿378.0M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-15.9%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165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54.7%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+0.7 pts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54.4%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+0.6%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11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−฿174.8M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−฿187.1M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+฿12.3M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-6.6%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−฿173.8M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−฿182.4M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-4.2%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165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฿143.2M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฿160.9M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−฿17.7M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฿147.1M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฿195.6M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-26.7%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165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฿7.9M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฿7.7M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+฿0.2M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−฿12.6M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+163%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฿20.9M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-62%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3913632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4005072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/>
          </a:p>
        </p:txBody>
      </p:sp>
      <p:sp>
        <p:nvSpPr>
          <p:cNvPr id="11" name="Text 6"/>
          <p:cNvSpPr/>
          <p:nvPr/>
        </p:nvSpPr>
        <p:spPr>
          <a:xfrm>
            <a:off x="6272784" y="4224528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฿581.9M</a:t>
            </a:r>
            <a:endParaRPr lang="en-US" sz="2400"/>
          </a:p>
        </p:txBody>
      </p:sp>
      <p:sp>
        <p:nvSpPr>
          <p:cNvPr id="12" name="Text 7"/>
          <p:cNvSpPr/>
          <p:nvPr/>
        </p:nvSpPr>
        <p:spPr>
          <a:xfrm>
            <a:off x="6272784" y="4681728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-1.4% vs H1 2025</a:t>
            </a:r>
            <a:endParaRPr lang="en-US" sz="1050"/>
          </a:p>
        </p:txBody>
      </p:sp>
      <p:sp>
        <p:nvSpPr>
          <p:cNvPr id="13" name="Shape 8"/>
          <p:cNvSpPr/>
          <p:nvPr/>
        </p:nvSpPr>
        <p:spPr>
          <a:xfrm>
            <a:off x="8988552" y="3913632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4005072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/>
          </a:p>
        </p:txBody>
      </p:sp>
      <p:sp>
        <p:nvSpPr>
          <p:cNvPr id="15" name="Text 10"/>
          <p:cNvSpPr/>
          <p:nvPr/>
        </p:nvSpPr>
        <p:spPr>
          <a:xfrm>
            <a:off x="9134856" y="4224528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฿143.2M</a:t>
            </a:r>
            <a:endParaRPr lang="en-US" sz="2400"/>
          </a:p>
        </p:txBody>
      </p:sp>
      <p:sp>
        <p:nvSpPr>
          <p:cNvPr id="16" name="Text 11"/>
          <p:cNvSpPr/>
          <p:nvPr/>
        </p:nvSpPr>
        <p:spPr>
          <a:xfrm>
            <a:off x="9134856" y="4681728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−฿3.8M vs H1 2025 (฿147.1M)</a:t>
            </a:r>
            <a:endParaRPr lang="en-US" sz="105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F620FEF-C0EB-9128-141C-3B45B3343636}"/>
              </a:ext>
            </a:extLst>
          </p:cNvPr>
          <p:cNvSpPr/>
          <p:nvPr/>
        </p:nvSpPr>
        <p:spPr>
          <a:xfrm>
            <a:off x="6099048" y="4956048"/>
            <a:ext cx="5541264" cy="178308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950" i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takeaway: Portfolio revenue is −9.7% vs MF budget, but NPAT is on plan (+฿0.3M) —</a:t>
            </a:r>
          </a:p>
          <a:p>
            <a:endParaRPr lang="en-US" sz="1200" i="1">
              <a:solidFill>
                <a:schemeClr val="tx1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r>
              <a:rPr lang="en-US" sz="950" i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control offset the rate shortfall (Lower interest expense due to loan repayment). EBIT is −11.0% vs budget.</a:t>
            </a:r>
            <a:endParaRPr lang="en-US" sz="80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60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</a:t>
            </a:r>
            <a:endParaRPr lang="en-US" sz="400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464 keys · monthly + YTD Jan–Jun · actual vs MF Projection and actual 2025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1789618102"/>
              </p:ext>
            </p:extLst>
          </p:nvPr>
        </p:nvGraphicFramePr>
        <p:xfrm>
          <a:off x="548640" y="1179576"/>
          <a:ext cx="7223760" cy="187451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26322424"/>
              </p:ext>
            </p:extLst>
          </p:nvPr>
        </p:nvGraphicFramePr>
        <p:xfrm>
          <a:off x="548640" y="3081528"/>
          <a:ext cx="7223760" cy="22860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874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84.7%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87.7%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75.2%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67.1%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74.9%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73.6%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77.1%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Budget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89.7%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76.5%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76.5%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3,342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3,059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2,931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3,005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2,778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2,990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4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Budget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3,318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3,008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2,910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2,995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2,715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2,746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2,958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’26</a:t>
                      </a:r>
                      <a:r>
                        <a:rPr lang="th-TH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(Inc. BF)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2,970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3,139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2,856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2,965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2,707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2,672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2,891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2,830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2,684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2,204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2,015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2,070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6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Budget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2,876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2,699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2,276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2,218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2,088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2,077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2,369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5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2,585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2,284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2,268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2,029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2,336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797387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888827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/>
          </a:p>
        </p:txBody>
      </p:sp>
      <p:sp>
        <p:nvSpPr>
          <p:cNvPr id="10" name="Text 6"/>
          <p:cNvSpPr/>
          <p:nvPr/>
        </p:nvSpPr>
        <p:spPr>
          <a:xfrm>
            <a:off x="8238744" y="1108283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80.8%</a:t>
            </a:r>
            <a:endParaRPr lang="en-US" sz="2400"/>
          </a:p>
        </p:txBody>
      </p:sp>
      <p:sp>
        <p:nvSpPr>
          <p:cNvPr id="11" name="Text 7"/>
          <p:cNvSpPr/>
          <p:nvPr/>
        </p:nvSpPr>
        <p:spPr>
          <a:xfrm>
            <a:off x="8238744" y="1565483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+0.9%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+4.8% vs LY 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2205563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2297003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/>
          </a:p>
        </p:txBody>
      </p:sp>
      <p:sp>
        <p:nvSpPr>
          <p:cNvPr id="14" name="Text 10"/>
          <p:cNvSpPr/>
          <p:nvPr/>
        </p:nvSpPr>
        <p:spPr>
          <a:xfrm>
            <a:off x="8238744" y="2516459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฿2,891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2973659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-2.3%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-3.3%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3613739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3705179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/>
          </a:p>
        </p:txBody>
      </p:sp>
      <p:sp>
        <p:nvSpPr>
          <p:cNvPr id="18" name="Text 14"/>
          <p:cNvSpPr/>
          <p:nvPr/>
        </p:nvSpPr>
        <p:spPr>
          <a:xfrm>
            <a:off x="8238744" y="3924635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฿2,336</a:t>
            </a:r>
            <a:endParaRPr lang="en-US" sz="2400"/>
          </a:p>
        </p:txBody>
      </p:sp>
      <p:sp>
        <p:nvSpPr>
          <p:cNvPr id="19" name="Text 15"/>
          <p:cNvSpPr/>
          <p:nvPr/>
        </p:nvSpPr>
        <p:spPr>
          <a:xfrm>
            <a:off x="8238744" y="4381835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-1.4%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+1.3% vs LY</a:t>
            </a:r>
            <a:endParaRPr lang="en-US" sz="1050" dirty="0"/>
          </a:p>
        </p:txBody>
      </p:sp>
      <p:graphicFrame>
        <p:nvGraphicFramePr>
          <p:cNvPr id="910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46745709"/>
              </p:ext>
            </p:extLst>
          </p:nvPr>
        </p:nvGraphicFramePr>
        <p:xfrm>
          <a:off x="548640" y="5459239"/>
          <a:ext cx="7223759" cy="52093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474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89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8685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2632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4737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4474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4474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27075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Series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Occ 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Occ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RevPAR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RevPAR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386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>
                          <a:solidFill>
                            <a:srgbClr val="26292E"/>
                          </a:solidFill>
                          <a:latin typeface="+mn-lt"/>
                        </a:rPr>
                        <a:t>Ratchada </a:t>
                      </a:r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Comp set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76.6%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E7D32"/>
                          </a:solidFill>
                          <a:latin typeface="Calibri"/>
                        </a:rPr>
                        <a:t>+1.4%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2,586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C0392B"/>
                          </a:solidFill>
                          <a:latin typeface="Calibri"/>
                        </a:rPr>
                        <a:t>-18.7%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1,985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C0392B"/>
                          </a:solidFill>
                          <a:latin typeface="Calibri"/>
                        </a:rPr>
                        <a:t>-17.4%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3" name="Rectangle 22">
            <a:extLst>
              <a:ext uri="{FF2B5EF4-FFF2-40B4-BE49-F238E27FC236}">
                <a16:creationId xmlns:a16="http://schemas.microsoft.com/office/drawing/2014/main" id="{80DD613A-C645-1434-3717-58318C756372}"/>
              </a:ext>
            </a:extLst>
          </p:cNvPr>
          <p:cNvSpPr/>
          <p:nvPr/>
        </p:nvSpPr>
        <p:spPr>
          <a:xfrm>
            <a:off x="8092441" y="5009397"/>
            <a:ext cx="3547872" cy="116489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takeaway: SR9 runs close to budget for H1 — February outperformed strongly (CNY), May–Jun slightly behind on ADR.</a:t>
            </a:r>
          </a:p>
          <a:p>
            <a:r>
              <a:rPr sz="1200" dirty="0">
                <a:latin typeface="Calibri"/>
              </a:rPr>
              <a:t>Vs last year, occupancy is +4.8% better, turning RevPAR +1.3% above LY.</a:t>
            </a:r>
          </a:p>
        </p:txBody>
      </p:sp>
      <p:sp>
        <p:nvSpPr>
          <p:cNvPr id="24" name="Star: 5 Points 23">
            <a:extLst>
              <a:ext uri="{FF2B5EF4-FFF2-40B4-BE49-F238E27FC236}">
                <a16:creationId xmlns:a16="http://schemas.microsoft.com/office/drawing/2014/main" id="{085E149A-219E-048A-BD83-F583723633F8}"/>
              </a:ext>
            </a:extLst>
          </p:cNvPr>
          <p:cNvSpPr/>
          <p:nvPr/>
        </p:nvSpPr>
        <p:spPr>
          <a:xfrm>
            <a:off x="2360519" y="1611313"/>
            <a:ext cx="117761" cy="123258"/>
          </a:xfrm>
          <a:prstGeom prst="star5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7261BB2-B5CD-CA2C-CAD1-13190E89BC94}"/>
              </a:ext>
            </a:extLst>
          </p:cNvPr>
          <p:cNvSpPr txBox="1"/>
          <p:nvPr/>
        </p:nvSpPr>
        <p:spPr>
          <a:xfrm>
            <a:off x="2422733" y="1564401"/>
            <a:ext cx="9827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>
                <a:solidFill>
                  <a:srgbClr val="FF0000"/>
                </a:solidFill>
              </a:rPr>
              <a:t>CNY</a:t>
            </a:r>
            <a:endParaRPr lang="en-US">
              <a:solidFill>
                <a:srgbClr val="FF0000"/>
              </a:solidFill>
            </a:endParaRPr>
          </a:p>
        </p:txBody>
      </p:sp>
      <p:sp>
        <p:nvSpPr>
          <p:cNvPr id="27" name="Text 12">
            <a:extLst>
              <a:ext uri="{FF2B5EF4-FFF2-40B4-BE49-F238E27FC236}">
                <a16:creationId xmlns:a16="http://schemas.microsoft.com/office/drawing/2014/main" id="{925914B7-5C3F-3890-0638-4319C6F84451}"/>
              </a:ext>
            </a:extLst>
          </p:cNvPr>
          <p:cNvSpPr/>
          <p:nvPr/>
        </p:nvSpPr>
        <p:spPr>
          <a:xfrm>
            <a:off x="548640" y="6053328"/>
            <a:ext cx="7223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*** Jubilee Hotel is under renovation 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RN and ADR by nationality (H1)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26 vs 25 (chart) · table: room nights + ADR (RN-weighted H1) with change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502920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90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29730325"/>
              </p:ext>
            </p:extLst>
          </p:nvPr>
        </p:nvGraphicFramePr>
        <p:xfrm>
          <a:off x="5623560" y="1828800"/>
          <a:ext cx="6144768" cy="3072384"/>
        </p:xfrm>
        <a:graphic>
          <a:graphicData uri="http://schemas.openxmlformats.org/drawingml/2006/table">
            <a:tbl>
              <a:tblPr/>
              <a:tblGrid>
                <a:gridCol w="11704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754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17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18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950001"/>
                    </a:ext>
                  </a:extLst>
                </a:gridCol>
                <a:gridCol w="530352">
                  <a:extLst>
                    <a:ext uri="{9D8B030D-6E8A-4147-A177-3AD203B41FA5}">
                      <a16:colId xmlns:a16="http://schemas.microsoft.com/office/drawing/2014/main" val="900019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Chg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Chg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30,611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32,403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highlight>
                            <a:srgbClr val="FFFF00"/>
                          </a:highlight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+1,792</a:t>
                      </a:r>
                      <a:endParaRPr lang="en-US" sz="850" dirty="0">
                        <a:highlight>
                          <a:srgbClr val="FFFF00"/>
                        </a:highlight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2,931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2,713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6,536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5,882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-654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3,046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2,783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3,044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3,806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highlight>
                            <a:srgbClr val="FFFF00"/>
                          </a:highlight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+762</a:t>
                      </a:r>
                      <a:endParaRPr lang="en-US" sz="850" dirty="0">
                        <a:highlight>
                          <a:srgbClr val="FFFF00"/>
                        </a:highlight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3,521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India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highlight>
                            <a:srgbClr val="FFFF00"/>
                          </a:highlight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+1,219</a:t>
                      </a:r>
                      <a:endParaRPr lang="en-US" sz="850" dirty="0">
                        <a:highlight>
                          <a:srgbClr val="FFFF00"/>
                        </a:highlight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+84%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2,443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2,635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2,202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Malaysia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2,486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2,247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-239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2,467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-396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2,017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2,169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Korea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2,106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-757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3,027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2,817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-209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Indonesia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1,120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+14%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2,854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2,611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-243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1,034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1,032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2,945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53,845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56,227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+2,382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2,958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2,708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314F342E-F1D5-AC9C-26B4-59F392AD6164}"/>
              </a:ext>
            </a:extLst>
          </p:cNvPr>
          <p:cNvSpPr/>
          <p:nvPr/>
        </p:nvSpPr>
        <p:spPr>
          <a:xfrm>
            <a:off x="5623560" y="5271364"/>
            <a:ext cx="6144768" cy="90083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three gainers are all Asian: China (+1,792 RN), India (+1,219) and Thailand (+762).</a:t>
            </a:r>
          </a:p>
          <a:p>
            <a:r>
              <a:rPr sz="1200">
                <a:latin typeface="Calibri"/>
              </a:rPr>
              <a:t>Biggest decline: Korea (−757 RN) — in line with the national arrival trends.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1E0F99A-07E6-9F3C-B60A-8D2F5720F178}"/>
              </a:ext>
            </a:extLst>
          </p:cNvPr>
          <p:cNvSpPr txBox="1"/>
          <p:nvPr/>
        </p:nvSpPr>
        <p:spPr>
          <a:xfrm>
            <a:off x="9902953" y="4902032"/>
            <a:ext cx="7840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>
                <a:solidFill>
                  <a:srgbClr val="FF0000"/>
                </a:solidFill>
              </a:rPr>
              <a:t>*Not included BF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RN and ADR by segment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2026 (left) · YTD share (right) · table: H1 room nights and ADR, 2026 vs 2025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667512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7635240" y="1600200"/>
          <a:ext cx="402336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1" name="Rectangle 10">
            <a:extLst>
              <a:ext uri="{FF2B5EF4-FFF2-40B4-BE49-F238E27FC236}">
                <a16:creationId xmlns:a16="http://schemas.microsoft.com/office/drawing/2014/main" id="{AE1BFCA4-5141-101A-DA78-E0094FC6A4A0}"/>
              </a:ext>
            </a:extLst>
          </p:cNvPr>
          <p:cNvSpPr/>
          <p:nvPr/>
        </p:nvSpPr>
        <p:spPr>
          <a:xfrm>
            <a:off x="949071" y="5668280"/>
            <a:ext cx="10290810" cy="106051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Around 30% of this property’s mix is corporate booking.</a:t>
            </a:r>
          </a:p>
          <a:p>
            <a:r>
              <a:rPr sz="1200"/>
              <a:t>Online bookings also grew this year — and some corporate business is now mixed into OTA, since B2B channels book through the OTA as well.</a:t>
            </a:r>
          </a:p>
          <a:p>
            <a:r>
              <a:rPr sz="1200"/>
              <a:t>ASR bookings grew too, but without any growth in ADR.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10255576"/>
              </p:ext>
            </p:extLst>
          </p:nvPr>
        </p:nvGraphicFramePr>
        <p:xfrm>
          <a:off x="548640" y="4142232"/>
          <a:ext cx="10290810" cy="13578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581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4627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4627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2377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4627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4627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22377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61612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Segment (H1)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Chg 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’25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Chg 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16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10,039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9,290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-7%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2,735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2,408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-11.9%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16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9,229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9,623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+4%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2,134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1,994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-6.6%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161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dirty="0">
                          <a:solidFill>
                            <a:srgbClr val="595959"/>
                          </a:solidFill>
                          <a:latin typeface="Calibri"/>
                        </a:rPr>
                        <a:t>21,225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26292E"/>
                          </a:solidFill>
                          <a:latin typeface="Calibri"/>
                        </a:rPr>
                        <a:t>27,501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1E7B34"/>
                          </a:solidFill>
                          <a:highlight>
                            <a:srgbClr val="FFFF00"/>
                          </a:highlight>
                          <a:latin typeface="Calibri"/>
                        </a:rPr>
                        <a:t>+30%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3,536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26292E"/>
                          </a:solidFill>
                          <a:latin typeface="Calibri"/>
                        </a:rPr>
                        <a:t>3,043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C62828"/>
                          </a:solidFill>
                          <a:latin typeface="Calibri"/>
                        </a:rPr>
                        <a:t>-13.9%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16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4,614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5,836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1E7B34"/>
                          </a:solidFill>
                          <a:highlight>
                            <a:srgbClr val="FFFF00"/>
                          </a:highlight>
                          <a:latin typeface="Calibri"/>
                        </a:rPr>
                        <a:t>+26%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3,156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26292E"/>
                          </a:solidFill>
                          <a:latin typeface="Calibri"/>
                        </a:rPr>
                        <a:t>2,889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C62828"/>
                          </a:solidFill>
                          <a:latin typeface="Calibri"/>
                        </a:rPr>
                        <a:t>-8.5%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16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dirty="0">
                          <a:solidFill>
                            <a:srgbClr val="595959"/>
                          </a:solidFill>
                          <a:latin typeface="Calibri"/>
                        </a:rPr>
                        <a:t>12,655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9,036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C62828"/>
                          </a:solidFill>
                          <a:latin typeface="Calibri"/>
                        </a:rPr>
                        <a:t>-29%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2,946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3,003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+1.9%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616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4,303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3,855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dirty="0">
                          <a:solidFill>
                            <a:srgbClr val="595959"/>
                          </a:solidFill>
                          <a:latin typeface="Calibri"/>
                        </a:rPr>
                        <a:t>2,642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2,069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C62828"/>
                          </a:solidFill>
                          <a:latin typeface="Calibri"/>
                        </a:rPr>
                        <a:t>-21.7%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6161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595959"/>
                          </a:solidFill>
                          <a:latin typeface="Calibri"/>
                        </a:rPr>
                        <a:t>62,101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65,175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1E7B34"/>
                          </a:solidFill>
                          <a:latin typeface="Calibri"/>
                        </a:rPr>
                        <a:t>+5%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595959"/>
                          </a:solidFill>
                          <a:latin typeface="Calibri"/>
                        </a:rPr>
                        <a:t>2,987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26292E"/>
                          </a:solidFill>
                          <a:latin typeface="Calibri"/>
                        </a:rPr>
                        <a:t>2,721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C62828"/>
                          </a:solidFill>
                          <a:latin typeface="Calibri"/>
                        </a:rPr>
                        <a:t>-8.9%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P&amp;L, H1 2026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P&amp;L: actual 2026 vs Budget (MF) and actual 2025 · ฿M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3827511013"/>
              </p:ext>
            </p:extLst>
          </p:nvPr>
        </p:nvGraphicFramePr>
        <p:xfrm>
          <a:off x="548640" y="1560576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48928554"/>
              </p:ext>
            </p:extLst>
          </p:nvPr>
        </p:nvGraphicFramePr>
        <p:xfrm>
          <a:off x="548640" y="3794760"/>
          <a:ext cx="5394960" cy="2460244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195.2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</a:t>
                      </a:r>
                      <a:r>
                        <a:rPr lang="en-US" sz="750" b="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44.3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37.8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35.2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32.7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32.6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31.4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214.0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338222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-83.8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Budget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-92.3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-84.3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111.4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Budget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121.6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112.0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Budget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50" b="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</a:t>
                      </a:r>
                      <a:r>
                        <a:rPr lang="en-US" sz="750" b="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Budget</a:t>
                      </a:r>
                      <a:endParaRPr lang="en-US" sz="750" b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3.4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-0.3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-2.5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-3.9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-4.3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-4.9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-12.6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6140226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graphicFrame>
        <p:nvGraphicFramePr>
          <p:cNvPr id="3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55298128"/>
              </p:ext>
            </p:extLst>
          </p:nvPr>
        </p:nvGraphicFramePr>
        <p:xfrm>
          <a:off x="6094476" y="1441279"/>
          <a:ext cx="5545835" cy="2011680"/>
        </p:xfrm>
        <a:graphic>
          <a:graphicData uri="http://schemas.openxmlformats.org/drawingml/2006/table">
            <a:tbl>
              <a:tblPr/>
              <a:tblGrid>
                <a:gridCol w="88795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254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254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669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34255">
                  <a:extLst>
                    <a:ext uri="{9D8B030D-6E8A-4147-A177-3AD203B41FA5}">
                      <a16:colId xmlns:a16="http://schemas.microsoft.com/office/drawing/2014/main" val="990002"/>
                    </a:ext>
                  </a:extLst>
                </a:gridCol>
                <a:gridCol w="57082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8668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3911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55497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6231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฿196.3M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฿214.0M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−฿17.7M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฿195.2M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฿223.9M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5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−฿84.3M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−฿92.3M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+฿8.0M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−฿83.8M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−฿93.1M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5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฿112.0M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฿121.6M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฿111.4M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฿130.8M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-14.4%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5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57.1%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56.9%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+0.2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57.1%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58.4%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-2.2%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−฿59.0M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−฿61.9M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+฿2.9M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−฿56.7M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+4.1%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−฿59.3M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฿53.0M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฿59.7M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฿54.7M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฿71.5M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-25.9%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−฿12.6M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+฿6.2M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+49%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+51%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฿4.0M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3643884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3735324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/>
          </a:p>
        </p:txBody>
      </p:sp>
      <p:sp>
        <p:nvSpPr>
          <p:cNvPr id="11" name="Text 6"/>
          <p:cNvSpPr/>
          <p:nvPr/>
        </p:nvSpPr>
        <p:spPr>
          <a:xfrm>
            <a:off x="6272784" y="3954780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฿196.3M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411980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+0.6% vs H1 2025</a:t>
            </a:r>
            <a:endParaRPr lang="en-US" sz="1050"/>
          </a:p>
        </p:txBody>
      </p:sp>
      <p:sp>
        <p:nvSpPr>
          <p:cNvPr id="13" name="Shape 8"/>
          <p:cNvSpPr/>
          <p:nvPr/>
        </p:nvSpPr>
        <p:spPr>
          <a:xfrm>
            <a:off x="8988552" y="3643884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3735324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/>
          </a:p>
        </p:txBody>
      </p:sp>
      <p:sp>
        <p:nvSpPr>
          <p:cNvPr id="15" name="Text 10"/>
          <p:cNvSpPr/>
          <p:nvPr/>
        </p:nvSpPr>
        <p:spPr>
          <a:xfrm>
            <a:off x="9134856" y="3954780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฿53.0M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411980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−฿1.7M vs H1 2025 (฿54.7M)</a:t>
            </a:r>
            <a:endParaRPr lang="en-US" sz="105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7654342-99F5-076C-3B36-DFD40188D595}"/>
              </a:ext>
            </a:extLst>
          </p:cNvPr>
          <p:cNvSpPr/>
          <p:nvPr/>
        </p:nvSpPr>
        <p:spPr>
          <a:xfrm>
            <a:off x="6099048" y="4846320"/>
            <a:ext cx="5541264" cy="193852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sz="950" dirty="0">
                <a:solidFill>
                  <a:schemeClr val="tx1"/>
                </a:solidFill>
              </a:rPr>
              <a:t>Vs LY: revenue is +0.6% better, but OPEX is also +0.6% higher, so GOP is similar to LY. EBIT comes in below LY (−฿1.7M, −3.2%). NPAT, however, beats LY — last year’s H1 carried a write-off.</a:t>
            </a:r>
          </a:p>
          <a:p>
            <a:r>
              <a:rPr sz="950"/>
              <a:t>Vs budget: revenue fell short; OPEX was managed −8.7% better, but GOP still missed on the revenue shortfall. EBIT is −11.3% below budget, while NPAT is +฿6.2M better — the MF projection assumed a DTA write-off in Q1–Q2 that has not been booked yet.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60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</a:t>
            </a:r>
            <a:endParaRPr lang="en-US" sz="400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403 keys · monthly + YTD Jan–Jun · actual vs MF Projection and actual 2025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662619336"/>
              </p:ext>
            </p:extLst>
          </p:nvPr>
        </p:nvGraphicFramePr>
        <p:xfrm>
          <a:off x="548640" y="1450407"/>
          <a:ext cx="7223760" cy="187451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12079832"/>
              </p:ext>
            </p:extLst>
          </p:nvPr>
        </p:nvGraphicFramePr>
        <p:xfrm>
          <a:off x="548640" y="3379790"/>
          <a:ext cx="7223760" cy="22860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874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81.3%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76.4%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57.4%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63.9%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66.5%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62.3%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67.9%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4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Budget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76.6%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80.9%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65.0%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70.0%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68.9%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69.0%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71.6%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75.3%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92.4%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74.5%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64.0%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58.2%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59.9%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70.4%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4,191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3,938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3,539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3,684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3,299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3,366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3,698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6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Budget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3,857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3,903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3,536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3,727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3,357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3,441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3,645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5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3,781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3,755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3,283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3,408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3,200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3,331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3,484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3,408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3,007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2,031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2,352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2,193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2,097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2,510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8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Budget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2,955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3,157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2,298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2,609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2,312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2,375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2,610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7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2,847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3,468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2,447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2,182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1,861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1,994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2,454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298814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390254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/>
          </a:p>
        </p:txBody>
      </p:sp>
      <p:sp>
        <p:nvSpPr>
          <p:cNvPr id="10" name="Text 6"/>
          <p:cNvSpPr/>
          <p:nvPr/>
        </p:nvSpPr>
        <p:spPr>
          <a:xfrm>
            <a:off x="8238744" y="1609710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70.4%</a:t>
            </a:r>
            <a:endParaRPr lang="en-US" sz="2400"/>
          </a:p>
        </p:txBody>
      </p:sp>
      <p:sp>
        <p:nvSpPr>
          <p:cNvPr id="11" name="Text 7"/>
          <p:cNvSpPr/>
          <p:nvPr/>
        </p:nvSpPr>
        <p:spPr>
          <a:xfrm>
            <a:off x="8238744" y="2066910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-1.7%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+3.8%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270699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279843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/>
          </a:p>
        </p:txBody>
      </p:sp>
      <p:sp>
        <p:nvSpPr>
          <p:cNvPr id="14" name="Text 10"/>
          <p:cNvSpPr/>
          <p:nvPr/>
        </p:nvSpPr>
        <p:spPr>
          <a:xfrm>
            <a:off x="8238744" y="301788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฿3,484</a:t>
            </a:r>
            <a:endParaRPr lang="en-US" sz="2400"/>
          </a:p>
        </p:txBody>
      </p:sp>
      <p:sp>
        <p:nvSpPr>
          <p:cNvPr id="15" name="Text 11"/>
          <p:cNvSpPr/>
          <p:nvPr/>
        </p:nvSpPr>
        <p:spPr>
          <a:xfrm>
            <a:off x="8238744" y="347508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-4.4% vs budget</a:t>
            </a:r>
            <a:r>
              <a:rPr lang="en-US" sz="10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-5.8% vs LY</a:t>
            </a:r>
            <a:endParaRPr lang="en-US" sz="1050"/>
          </a:p>
        </p:txBody>
      </p:sp>
      <p:sp>
        <p:nvSpPr>
          <p:cNvPr id="16" name="Shape 12"/>
          <p:cNvSpPr/>
          <p:nvPr/>
        </p:nvSpPr>
        <p:spPr>
          <a:xfrm>
            <a:off x="8092440" y="411516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20660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/>
          </a:p>
        </p:txBody>
      </p:sp>
      <p:sp>
        <p:nvSpPr>
          <p:cNvPr id="18" name="Text 14"/>
          <p:cNvSpPr/>
          <p:nvPr/>
        </p:nvSpPr>
        <p:spPr>
          <a:xfrm>
            <a:off x="8238744" y="442606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฿2,454</a:t>
            </a:r>
            <a:endParaRPr lang="en-US" sz="2400"/>
          </a:p>
        </p:txBody>
      </p:sp>
      <p:sp>
        <p:nvSpPr>
          <p:cNvPr id="19" name="Text 15"/>
          <p:cNvSpPr/>
          <p:nvPr/>
        </p:nvSpPr>
        <p:spPr>
          <a:xfrm>
            <a:off x="8238744" y="488326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-6.0% vs budget</a:t>
            </a:r>
            <a:r>
              <a:rPr lang="en-US" sz="10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-2.2% vs LY</a:t>
            </a:r>
            <a:endParaRPr lang="en-US" sz="1050"/>
          </a:p>
        </p:txBody>
      </p:sp>
      <p:graphicFrame>
        <p:nvGraphicFramePr>
          <p:cNvPr id="910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95904667"/>
              </p:ext>
            </p:extLst>
          </p:nvPr>
        </p:nvGraphicFramePr>
        <p:xfrm>
          <a:off x="548640" y="5722435"/>
          <a:ext cx="7254240" cy="4389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92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292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2441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2938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4251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25970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25970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Series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Occ 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Occ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RevPAR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RevPAR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r>
                        <a:rPr lang="en-US" sz="800" b="1">
                          <a:solidFill>
                            <a:srgbClr val="26292E"/>
                          </a:solidFill>
                          <a:latin typeface="+mn-lt"/>
                        </a:rPr>
                        <a:t>Sathorn </a:t>
                      </a:r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Comp set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65.2%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C0392B"/>
                          </a:solidFill>
                          <a:latin typeface="Calibri"/>
                        </a:rPr>
                        <a:t>-5.3%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3,328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C0392B"/>
                          </a:solidFill>
                          <a:latin typeface="Calibri"/>
                        </a:rPr>
                        <a:t>-2.4%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6B7280"/>
                          </a:solidFill>
                          <a:latin typeface="Calibri"/>
                        </a:rPr>
                        <a:t>2,170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C0392B"/>
                          </a:solidFill>
                          <a:latin typeface="Calibri"/>
                        </a:rPr>
                        <a:t>-7.6%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1" name="Rectangle 20">
            <a:extLst>
              <a:ext uri="{FF2B5EF4-FFF2-40B4-BE49-F238E27FC236}">
                <a16:creationId xmlns:a16="http://schemas.microsoft.com/office/drawing/2014/main" id="{3042657A-38F5-05E9-69C0-CC8F0E5684DA}"/>
              </a:ext>
            </a:extLst>
          </p:cNvPr>
          <p:cNvSpPr/>
          <p:nvPr/>
        </p:nvSpPr>
        <p:spPr>
          <a:xfrm>
            <a:off x="8060437" y="5467746"/>
            <a:ext cx="3520440" cy="118262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takeaway: Vs last year, AES did well on occupancy (+3.8%) but could not yield ADR, turning RevPAR −2.2% below LY.</a:t>
            </a:r>
          </a:p>
          <a:p>
            <a:r>
              <a:rPr sz="1200" dirty="0">
                <a:latin typeface="Calibri"/>
              </a:rPr>
              <a:t>Vs the MF budget: occupancy fell −1.7% short and ADR −4.4%, so RevPAR lands −6.0% below budget.</a:t>
            </a:r>
          </a:p>
        </p:txBody>
      </p:sp>
      <p:sp>
        <p:nvSpPr>
          <p:cNvPr id="23" name="Star: 5 Points 22">
            <a:extLst>
              <a:ext uri="{FF2B5EF4-FFF2-40B4-BE49-F238E27FC236}">
                <a16:creationId xmlns:a16="http://schemas.microsoft.com/office/drawing/2014/main" id="{5D852618-9757-829B-F4B2-86B28B79343D}"/>
              </a:ext>
            </a:extLst>
          </p:cNvPr>
          <p:cNvSpPr/>
          <p:nvPr/>
        </p:nvSpPr>
        <p:spPr>
          <a:xfrm>
            <a:off x="2360519" y="2326633"/>
            <a:ext cx="117761" cy="123258"/>
          </a:xfrm>
          <a:prstGeom prst="star5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ACDB09A-B544-49E2-864F-2528EDEBF468}"/>
              </a:ext>
            </a:extLst>
          </p:cNvPr>
          <p:cNvSpPr txBox="1"/>
          <p:nvPr/>
        </p:nvSpPr>
        <p:spPr>
          <a:xfrm>
            <a:off x="2422733" y="2279721"/>
            <a:ext cx="9827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>
                <a:solidFill>
                  <a:srgbClr val="FF0000"/>
                </a:solidFill>
              </a:rPr>
              <a:t>CNY</a:t>
            </a:r>
            <a:endParaRPr lang="en-US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RN and ADR by nationality (H1)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26 vs 25 (chart) · table: room nights + ADR (RN-weighted H1) with change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502920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90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01449107"/>
              </p:ext>
            </p:extLst>
          </p:nvPr>
        </p:nvGraphicFramePr>
        <p:xfrm>
          <a:off x="5623560" y="1497467"/>
          <a:ext cx="6144768" cy="3094969"/>
        </p:xfrm>
        <a:graphic>
          <a:graphicData uri="http://schemas.openxmlformats.org/drawingml/2006/table">
            <a:tbl>
              <a:tblPr/>
              <a:tblGrid>
                <a:gridCol w="11704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3986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6247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158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3242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29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30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950002"/>
                    </a:ext>
                  </a:extLst>
                </a:gridCol>
                <a:gridCol w="530352">
                  <a:extLst>
                    <a:ext uri="{9D8B030D-6E8A-4147-A177-3AD203B41FA5}">
                      <a16:colId xmlns:a16="http://schemas.microsoft.com/office/drawing/2014/main" val="900031"/>
                    </a:ext>
                  </a:extLst>
                </a:gridCol>
              </a:tblGrid>
              <a:tr h="278617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Chg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Chg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16,921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18,613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+1,692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3,472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3,219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3,600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+32%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2,751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-340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Finland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highlight>
                            <a:srgbClr val="FFFF00"/>
                          </a:highlight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</a:t>
                      </a:r>
                      <a:endParaRPr lang="en-US" sz="850">
                        <a:highlight>
                          <a:srgbClr val="FFFF00"/>
                        </a:highlight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highlight>
                            <a:srgbClr val="FFFF00"/>
                          </a:highlight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2,922</a:t>
                      </a:r>
                      <a:endParaRPr lang="en-US" sz="850">
                        <a:highlight>
                          <a:srgbClr val="FFFF00"/>
                        </a:highlight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7AE60"/>
                          </a:solidFill>
                          <a:highlight>
                            <a:srgbClr val="FFFF00"/>
                          </a:highlight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+2,867</a:t>
                      </a:r>
                      <a:endParaRPr lang="en-US" sz="850" dirty="0">
                        <a:highlight>
                          <a:srgbClr val="FFFF00"/>
                        </a:highlight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highlight>
                            <a:srgbClr val="FFFF00"/>
                          </a:highlight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+5213%</a:t>
                      </a:r>
                      <a:endParaRPr lang="en-US" sz="850" dirty="0">
                        <a:highlight>
                          <a:srgbClr val="FFFF00"/>
                        </a:highlight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highlight>
                            <a:srgbClr val="FFFF00"/>
                          </a:highlight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4,730</a:t>
                      </a:r>
                      <a:endParaRPr lang="en-US" sz="850">
                        <a:highlight>
                          <a:srgbClr val="FFFF00"/>
                        </a:highlight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highlight>
                            <a:srgbClr val="FFFF00"/>
                          </a:highlight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2,403</a:t>
                      </a:r>
                      <a:endParaRPr lang="en-US" sz="850">
                        <a:highlight>
                          <a:srgbClr val="FFFF00"/>
                        </a:highlight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highlight>
                            <a:srgbClr val="FFFF00"/>
                          </a:highlight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-2,326</a:t>
                      </a:r>
                      <a:endParaRPr lang="en-US" sz="850">
                        <a:highlight>
                          <a:srgbClr val="FFFF00"/>
                        </a:highlight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highlight>
                            <a:srgbClr val="FFFF00"/>
                          </a:highlight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-49%</a:t>
                      </a:r>
                      <a:endParaRPr lang="en-US" sz="850">
                        <a:highlight>
                          <a:srgbClr val="FFFF00"/>
                        </a:highlight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1,934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3,081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2,078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1,818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3,639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3,648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3,532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3,463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Germany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1,536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3,858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3,297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-562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UK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1,153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1,385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4,387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3,370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-1,016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Korea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2,214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1,304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-910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3,735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3,691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1,426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1,216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4,407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3,364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-1,043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-24%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31,893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35,943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+4,050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3,539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3,166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-373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10" name="Rectangle 9">
            <a:extLst>
              <a:ext uri="{FF2B5EF4-FFF2-40B4-BE49-F238E27FC236}">
                <a16:creationId xmlns:a16="http://schemas.microsoft.com/office/drawing/2014/main" id="{237B99E0-1A5C-40A8-3BAC-0D81FAEFE87E}"/>
              </a:ext>
            </a:extLst>
          </p:cNvPr>
          <p:cNvSpPr/>
          <p:nvPr/>
        </p:nvSpPr>
        <p:spPr>
          <a:xfrm>
            <a:off x="5623560" y="4839513"/>
            <a:ext cx="6144768" cy="95778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three: China, Japan and Finland — AES is diversifying its guest mix into new nationalities.</a:t>
            </a:r>
          </a:p>
          <a:p>
            <a:r>
              <a:rPr sz="1200">
                <a:latin typeface="Calibri"/>
              </a:rPr>
              <a:t>Biggest H1 gain: Finland (+2,867 RN, from just 55 last year); biggest decline: Korea (−910 RN).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A3BDAA7-0CA8-D415-B5EB-F239636C9D48}"/>
              </a:ext>
            </a:extLst>
          </p:cNvPr>
          <p:cNvSpPr txBox="1"/>
          <p:nvPr/>
        </p:nvSpPr>
        <p:spPr>
          <a:xfrm>
            <a:off x="9800316" y="1128135"/>
            <a:ext cx="7840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>
                <a:solidFill>
                  <a:srgbClr val="FF0000"/>
                </a:solidFill>
              </a:rPr>
              <a:t>*Not included BF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RN and ADR by segment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2026 (left) · YTD share (right) · table: H1 room nights and ADR, 2026 vs 2025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667512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7635240" y="1600200"/>
          <a:ext cx="402336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8183636"/>
              </p:ext>
            </p:extLst>
          </p:nvPr>
        </p:nvGraphicFramePr>
        <p:xfrm>
          <a:off x="606668" y="4169663"/>
          <a:ext cx="11033643" cy="13578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0672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5067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067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1210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506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55067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31210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34554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Segment (H1)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Chg 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’25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Chg 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455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3,545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5,187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+46%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3,967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3,486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-12.1%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455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9,699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13,096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+35%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2,558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highlight>
                            <a:srgbClr val="FFFF00"/>
                          </a:highlight>
                          <a:latin typeface="Calibri"/>
                        </a:rPr>
                        <a:t>2,506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highlight>
                            <a:srgbClr val="FFFF00"/>
                          </a:highlight>
                          <a:latin typeface="Calibri"/>
                        </a:rPr>
                        <a:t>-2.0%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4554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18,378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16,928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-8%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4,365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3,883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-11.0%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34554">
                <a:tc>
                  <a:txBody>
                    <a:bodyPr/>
                    <a:lstStyle/>
                    <a:p>
                      <a:pPr algn="l"/>
                      <a:r>
                        <a:rPr sz="1000" b="0" dirty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dirty="0">
                          <a:solidFill>
                            <a:srgbClr val="595959"/>
                          </a:solidFill>
                          <a:latin typeface="Calibri"/>
                        </a:rPr>
                        <a:t>3,034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26292E"/>
                          </a:solidFill>
                          <a:latin typeface="Calibri"/>
                        </a:rPr>
                        <a:t>4,536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1E7B34"/>
                          </a:solidFill>
                          <a:latin typeface="Calibri"/>
                        </a:rPr>
                        <a:t>+50%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4,379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26292E"/>
                          </a:solidFill>
                          <a:latin typeface="Calibri"/>
                        </a:rPr>
                        <a:t>3,830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C62828"/>
                          </a:solidFill>
                          <a:latin typeface="Calibri"/>
                        </a:rPr>
                        <a:t>-12.5%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3455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12,794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8,131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C62828"/>
                          </a:solidFill>
                          <a:latin typeface="Calibri"/>
                        </a:rPr>
                        <a:t>-36%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dirty="0">
                          <a:solidFill>
                            <a:srgbClr val="595959"/>
                          </a:solidFill>
                          <a:latin typeface="Calibri"/>
                        </a:rPr>
                        <a:t>3,387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26292E"/>
                          </a:solidFill>
                          <a:latin typeface="Calibri"/>
                        </a:rPr>
                        <a:t>3,297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-2.7%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3455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721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2,056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1E7B34"/>
                          </a:solidFill>
                          <a:latin typeface="Calibri"/>
                        </a:rPr>
                        <a:t>+185%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3,486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highlight>
                            <a:srgbClr val="FFFF00"/>
                          </a:highlight>
                          <a:latin typeface="Calibri"/>
                        </a:rPr>
                        <a:t>2,572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highlight>
                            <a:srgbClr val="FFFF00"/>
                          </a:highlight>
                          <a:latin typeface="Calibri"/>
                        </a:rPr>
                        <a:t>-26.2%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13285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595959"/>
                          </a:solidFill>
                          <a:latin typeface="Calibri"/>
                        </a:rPr>
                        <a:t>48,277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50,123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+4%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595959"/>
                          </a:solidFill>
                          <a:latin typeface="Calibri"/>
                        </a:rPr>
                        <a:t>3,698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3,325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C62828"/>
                          </a:solidFill>
                          <a:latin typeface="Calibri"/>
                        </a:rPr>
                        <a:t>-10.1%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0" name="Rectangle 9">
            <a:extLst>
              <a:ext uri="{FF2B5EF4-FFF2-40B4-BE49-F238E27FC236}">
                <a16:creationId xmlns:a16="http://schemas.microsoft.com/office/drawing/2014/main" id="{5651FEDD-6C98-3066-EAC5-4EFD49D4CA2F}"/>
              </a:ext>
            </a:extLst>
          </p:cNvPr>
          <p:cNvSpPr/>
          <p:nvPr/>
        </p:nvSpPr>
        <p:spPr>
          <a:xfrm>
            <a:off x="599049" y="5695292"/>
            <a:ext cx="11117579" cy="94640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Corporate is the largest segment at 36%, followed by online at 34%. Corporate LS/SS has grown 30–40% vs H1 last year and group bookings are +185% — AES is clearly shifting to secure group business, which can pull the rate down.</a:t>
            </a:r>
          </a:p>
          <a:p>
            <a:r>
              <a:rPr sz="1200"/>
              <a:t>ASR bookings grew +50% (Ascott is pushing ASR) but still fall short on rate.</a:t>
            </a:r>
          </a:p>
          <a:p>
            <a:r>
              <a:rPr sz="1200"/>
              <a:t>Wholesale cannot be grown: leisure retail prices in this area are low and rate-cutting competition is intense.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P&amp;L, H1 2026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922159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P&amp;L: actual 2026 vs Budget (MF) and actual 2025 · ฿M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63087451"/>
              </p:ext>
            </p:extLst>
          </p:nvPr>
        </p:nvGraphicFramePr>
        <p:xfrm>
          <a:off x="548640" y="3886200"/>
          <a:ext cx="5394960" cy="2460244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185.4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</a:t>
                      </a:r>
                      <a:r>
                        <a:rPr lang="en-US" sz="750" b="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39.3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37.8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30.9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33.7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31.2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31.1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204.0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7556939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179.2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-89.0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-99.2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-83.6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Budget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104.8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50" b="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</a:t>
                      </a:r>
                      <a:r>
                        <a:rPr lang="en-US" sz="750" b="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Budget</a:t>
                      </a:r>
                      <a:endParaRPr lang="en-US" sz="750" b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2.9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2.5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-2.2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-0.4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-2.4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-2.2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-1.7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4453427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graphicFrame>
        <p:nvGraphicFramePr>
          <p:cNvPr id="5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84827674"/>
              </p:ext>
            </p:extLst>
          </p:nvPr>
        </p:nvGraphicFramePr>
        <p:xfrm>
          <a:off x="6096000" y="1444752"/>
          <a:ext cx="5544314" cy="2293321"/>
        </p:xfrm>
        <a:graphic>
          <a:graphicData uri="http://schemas.openxmlformats.org/drawingml/2006/table">
            <a:tbl>
              <a:tblPr/>
              <a:tblGrid>
                <a:gridCol w="88768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235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235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669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34061">
                  <a:extLst>
                    <a:ext uri="{9D8B030D-6E8A-4147-A177-3AD203B41FA5}">
                      <a16:colId xmlns:a16="http://schemas.microsoft.com/office/drawing/2014/main" val="990003"/>
                    </a:ext>
                  </a:extLst>
                </a:gridCol>
                <a:gridCol w="57065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8650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3895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55480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4319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Chg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754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฿179.2M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฿204.0M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−฿24.8M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-12.1%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฿185.4M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฿220.7M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-18.8%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754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−฿83.6M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−฿99.2M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+฿15.6M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-15.7%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−฿89.0M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−฿97.2M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754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฿95.6M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฿104.8M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−฿9.2M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-8.8%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฿96.4M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-0.8%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฿123.5M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-22.6%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754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51.4%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+1.9 pts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+3.7%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+2.5%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55.9%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754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−฿62.1M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−฿69.7M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+฿7.6M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-10.9%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−฿64.8M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-4.2%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−฿69.5M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-10.6%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754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฿33.5M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฿35.1M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−฿1.6M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฿31.6M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+6.1%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฿54.0M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-38.0%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754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−฿2.3M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−฿1.7M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−฿0.6M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−฿15.4M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−฿2.4M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379476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388620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/>
          </a:p>
        </p:txBody>
      </p:sp>
      <p:sp>
        <p:nvSpPr>
          <p:cNvPr id="11" name="Text 6"/>
          <p:cNvSpPr/>
          <p:nvPr/>
        </p:nvSpPr>
        <p:spPr>
          <a:xfrm>
            <a:off x="6272784" y="410565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฿179.2M</a:t>
            </a:r>
            <a:endParaRPr lang="en-US" sz="2400"/>
          </a:p>
        </p:txBody>
      </p:sp>
      <p:sp>
        <p:nvSpPr>
          <p:cNvPr id="12" name="Text 7"/>
          <p:cNvSpPr/>
          <p:nvPr/>
        </p:nvSpPr>
        <p:spPr>
          <a:xfrm>
            <a:off x="6272784" y="456285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-3.3% vs H1 2025</a:t>
            </a:r>
            <a:endParaRPr lang="en-US" sz="1050"/>
          </a:p>
        </p:txBody>
      </p:sp>
      <p:sp>
        <p:nvSpPr>
          <p:cNvPr id="13" name="Shape 8"/>
          <p:cNvSpPr/>
          <p:nvPr/>
        </p:nvSpPr>
        <p:spPr>
          <a:xfrm>
            <a:off x="8988552" y="379476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388620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/>
          </a:p>
        </p:txBody>
      </p:sp>
      <p:sp>
        <p:nvSpPr>
          <p:cNvPr id="15" name="Text 10"/>
          <p:cNvSpPr/>
          <p:nvPr/>
        </p:nvSpPr>
        <p:spPr>
          <a:xfrm>
            <a:off x="9134856" y="410565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฿33.5M</a:t>
            </a:r>
            <a:endParaRPr lang="en-US" sz="2400"/>
          </a:p>
        </p:txBody>
      </p:sp>
      <p:sp>
        <p:nvSpPr>
          <p:cNvPr id="16" name="Text 11"/>
          <p:cNvSpPr/>
          <p:nvPr/>
        </p:nvSpPr>
        <p:spPr>
          <a:xfrm>
            <a:off x="9134856" y="456285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+฿1.9M vs H1 2025 (฿31.6M)</a:t>
            </a:r>
            <a:endParaRPr lang="en-US" sz="105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ADBF112-735C-614B-84E3-1A51FC1B75C3}"/>
              </a:ext>
            </a:extLst>
          </p:cNvPr>
          <p:cNvSpPr/>
          <p:nvPr/>
        </p:nvSpPr>
        <p:spPr>
          <a:xfrm>
            <a:off x="6099048" y="5001768"/>
            <a:ext cx="5541264" cy="178308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950" dirty="0">
                <a:solidFill>
                  <a:schemeClr val="tx1"/>
                </a:solidFill>
              </a:rPr>
              <a:t>Vs LY: revenue is down −3.3%, but OPEX is −6.0% better (~฿6M, mainly leasing commission ~฿6.56M), GOP margin improves +2.5%, and JV expense is lower (house &amp; building tax was over-accrued last year; the 2026 tax is already paid) — so EBIT and NPAT both beat LY.</a:t>
            </a:r>
          </a:p>
          <a:p>
            <a:r>
              <a:rPr sz="950"/>
              <a:t>Vs budget: the revenue shortfall is large (−12%), but GOP margin beats budget on OPEX control and JV expense is better — so the EBIT and NPAT gaps end up much smaller.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60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</a:t>
            </a:r>
            <a:endParaRPr lang="en-US" sz="400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206 keys · monthly + YTD Jan–Jun · actual vs MF Projection and actual 2025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1694412409"/>
              </p:ext>
            </p:extLst>
          </p:nvPr>
        </p:nvGraphicFramePr>
        <p:xfrm>
          <a:off x="548640" y="1509126"/>
          <a:ext cx="7223760" cy="187451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78392410"/>
              </p:ext>
            </p:extLst>
          </p:nvPr>
        </p:nvGraphicFramePr>
        <p:xfrm>
          <a:off x="548640" y="3438509"/>
          <a:ext cx="7223760" cy="22860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874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93.3%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89.4%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73.8%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75.0%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72.8%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70.0%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79.0%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6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Budget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88.1%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93.3%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77.5%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82.6%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78.2%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77.1%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82.6%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5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92.6%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94.6%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87.8%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50.4%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74.0%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69.5%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78.1%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1,701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1,631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1,422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1,363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1,254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1,447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8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Budget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1,734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1,748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1,424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1,394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1,311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1,265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1,489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7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1,578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1,586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1,289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1,188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1,087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1,374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1,587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1,458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1,050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1,022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913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1,143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Budget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1,527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1,631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1,104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1,152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1,231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9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1,461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1,500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1,132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879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1,073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250531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341971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/>
          </a:p>
        </p:txBody>
      </p:sp>
      <p:sp>
        <p:nvSpPr>
          <p:cNvPr id="10" name="Text 6"/>
          <p:cNvSpPr/>
          <p:nvPr/>
        </p:nvSpPr>
        <p:spPr>
          <a:xfrm>
            <a:off x="8238744" y="1561427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78.1%</a:t>
            </a:r>
            <a:endParaRPr lang="en-US" sz="2400"/>
          </a:p>
        </p:txBody>
      </p:sp>
      <p:sp>
        <p:nvSpPr>
          <p:cNvPr id="11" name="Text 7"/>
          <p:cNvSpPr/>
          <p:nvPr/>
        </p:nvSpPr>
        <p:spPr>
          <a:xfrm>
            <a:off x="8238744" y="2018627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-5.5% vs budget</a:t>
            </a:r>
            <a:r>
              <a:rPr lang="en-US" sz="10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-1.1% vs LY</a:t>
            </a:r>
            <a:endParaRPr lang="en-US" sz="1050"/>
          </a:p>
        </p:txBody>
      </p:sp>
      <p:sp>
        <p:nvSpPr>
          <p:cNvPr id="12" name="Shape 8"/>
          <p:cNvSpPr/>
          <p:nvPr/>
        </p:nvSpPr>
        <p:spPr>
          <a:xfrm>
            <a:off x="8092440" y="2658707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2750147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/>
          </a:p>
        </p:txBody>
      </p:sp>
      <p:sp>
        <p:nvSpPr>
          <p:cNvPr id="14" name="Text 10"/>
          <p:cNvSpPr/>
          <p:nvPr/>
        </p:nvSpPr>
        <p:spPr>
          <a:xfrm>
            <a:off x="8238744" y="2969603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฿1,374</a:t>
            </a:r>
            <a:endParaRPr lang="en-US" sz="2400"/>
          </a:p>
        </p:txBody>
      </p:sp>
      <p:sp>
        <p:nvSpPr>
          <p:cNvPr id="15" name="Text 11"/>
          <p:cNvSpPr/>
          <p:nvPr/>
        </p:nvSpPr>
        <p:spPr>
          <a:xfrm>
            <a:off x="8238744" y="3426803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-7.7% vs budget</a:t>
            </a:r>
            <a:r>
              <a:rPr lang="en-US" sz="10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-5.0% vs LY</a:t>
            </a:r>
            <a:endParaRPr lang="en-US" sz="1050"/>
          </a:p>
        </p:txBody>
      </p:sp>
      <p:sp>
        <p:nvSpPr>
          <p:cNvPr id="16" name="Shape 12"/>
          <p:cNvSpPr/>
          <p:nvPr/>
        </p:nvSpPr>
        <p:spPr>
          <a:xfrm>
            <a:off x="8092440" y="4066883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158323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/>
          </a:p>
        </p:txBody>
      </p:sp>
      <p:sp>
        <p:nvSpPr>
          <p:cNvPr id="18" name="Text 14"/>
          <p:cNvSpPr/>
          <p:nvPr/>
        </p:nvSpPr>
        <p:spPr>
          <a:xfrm>
            <a:off x="8238744" y="4377779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฿1,073</a:t>
            </a:r>
            <a:endParaRPr lang="en-US" sz="2400"/>
          </a:p>
        </p:txBody>
      </p:sp>
      <p:sp>
        <p:nvSpPr>
          <p:cNvPr id="19" name="Text 15"/>
          <p:cNvSpPr/>
          <p:nvPr/>
        </p:nvSpPr>
        <p:spPr>
          <a:xfrm>
            <a:off x="8238744" y="4834979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-12.8%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-6.1% vs LY</a:t>
            </a:r>
            <a:endParaRPr lang="en-US" sz="1050" dirty="0"/>
          </a:p>
        </p:txBody>
      </p:sp>
      <p:sp>
        <p:nvSpPr>
          <p:cNvPr id="21" name="Star: 5 Points 20">
            <a:extLst>
              <a:ext uri="{FF2B5EF4-FFF2-40B4-BE49-F238E27FC236}">
                <a16:creationId xmlns:a16="http://schemas.microsoft.com/office/drawing/2014/main" id="{01171B67-1C65-F02A-1E92-33AFEB4FBF47}"/>
              </a:ext>
            </a:extLst>
          </p:cNvPr>
          <p:cNvSpPr/>
          <p:nvPr/>
        </p:nvSpPr>
        <p:spPr>
          <a:xfrm>
            <a:off x="4650718" y="1881467"/>
            <a:ext cx="196523" cy="187452"/>
          </a:xfrm>
          <a:prstGeom prst="star5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CF853EF-F8FB-6847-289F-CADF68148AF0}"/>
              </a:ext>
            </a:extLst>
          </p:cNvPr>
          <p:cNvSpPr txBox="1"/>
          <p:nvPr/>
        </p:nvSpPr>
        <p:spPr>
          <a:xfrm>
            <a:off x="4295431" y="2017172"/>
            <a:ext cx="13458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Most drop due to the ADR want to Ramp up</a:t>
            </a:r>
          </a:p>
        </p:txBody>
      </p:sp>
      <p:graphicFrame>
        <p:nvGraphicFramePr>
          <p:cNvPr id="910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38817825"/>
              </p:ext>
            </p:extLst>
          </p:nvPr>
        </p:nvGraphicFramePr>
        <p:xfrm>
          <a:off x="548639" y="5815584"/>
          <a:ext cx="7223761" cy="539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474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895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868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2632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4737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4474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4474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23833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Series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Occ 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Occ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RevPAR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RevPAR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566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>
                          <a:solidFill>
                            <a:srgbClr val="26292E"/>
                          </a:solidFill>
                          <a:latin typeface="+mn-lt"/>
                        </a:rPr>
                        <a:t>Nana </a:t>
                      </a:r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Comp set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68.8%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E7D32"/>
                          </a:solidFill>
                          <a:latin typeface="Calibri"/>
                        </a:rPr>
                        <a:t>+3.7%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2,009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C0392B"/>
                          </a:solidFill>
                          <a:latin typeface="Calibri"/>
                        </a:rPr>
                        <a:t>-2.3%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1,383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2E7D32"/>
                          </a:solidFill>
                          <a:latin typeface="Calibri"/>
                        </a:rPr>
                        <a:t>+1.2%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22" name="Rectangle 21">
            <a:extLst>
              <a:ext uri="{FF2B5EF4-FFF2-40B4-BE49-F238E27FC236}">
                <a16:creationId xmlns:a16="http://schemas.microsoft.com/office/drawing/2014/main" id="{2009D7BE-0C30-75EF-D95B-DAC73202CC61}"/>
              </a:ext>
            </a:extLst>
          </p:cNvPr>
          <p:cNvSpPr/>
          <p:nvPr/>
        </p:nvSpPr>
        <p:spPr>
          <a:xfrm>
            <a:off x="8092440" y="5416574"/>
            <a:ext cx="3685031" cy="126187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takeaway: LYF ran a strong Q1 above budget, then April dropped sharply (occupancy 50% vs the 83% budgeted, −39%) — recovering since May.</a:t>
            </a:r>
          </a:p>
          <a:p>
            <a:r>
              <a:rPr sz="1200">
                <a:latin typeface="Calibri"/>
              </a:rPr>
              <a:t>Overall, LYF misses budget and is softer than last year as well — mostly from the ADR drop.</a:t>
            </a:r>
          </a:p>
        </p:txBody>
      </p:sp>
      <p:sp>
        <p:nvSpPr>
          <p:cNvPr id="25" name="Star: 5 Points 24">
            <a:extLst>
              <a:ext uri="{FF2B5EF4-FFF2-40B4-BE49-F238E27FC236}">
                <a16:creationId xmlns:a16="http://schemas.microsoft.com/office/drawing/2014/main" id="{83C81148-CF98-6919-ADF7-17585537339E}"/>
              </a:ext>
            </a:extLst>
          </p:cNvPr>
          <p:cNvSpPr/>
          <p:nvPr/>
        </p:nvSpPr>
        <p:spPr>
          <a:xfrm>
            <a:off x="2360519" y="1953022"/>
            <a:ext cx="117761" cy="123258"/>
          </a:xfrm>
          <a:prstGeom prst="star5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6174E54-1F9B-300F-5F5A-F1341EB8E485}"/>
              </a:ext>
            </a:extLst>
          </p:cNvPr>
          <p:cNvSpPr txBox="1"/>
          <p:nvPr/>
        </p:nvSpPr>
        <p:spPr>
          <a:xfrm>
            <a:off x="2422733" y="1906110"/>
            <a:ext cx="9827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>
                <a:solidFill>
                  <a:srgbClr val="FF0000"/>
                </a:solidFill>
              </a:rPr>
              <a:t>CNY</a:t>
            </a:r>
            <a:endParaRPr lang="en-US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RN and ADR by nationality (H1)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26 vs 25 (chart) · table: room nights + ADR (RN-weighted H1) with change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sp>
        <p:nvSpPr>
          <p:cNvPr id="9" name="Text 4"/>
          <p:cNvSpPr/>
          <p:nvPr/>
        </p:nvSpPr>
        <p:spPr>
          <a:xfrm>
            <a:off x="548640" y="630936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H1 gain: Indonesia (+2,017 RN) · biggest decline: USA (-559 RN). ADR cols = H1 ADR per nationality, RN-weighted · '–' = outside that year's top-10.</a:t>
            </a:r>
            <a:endParaRPr lang="en-US" sz="105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2B9E0D7-5E76-4453-A155-36E0B95DD358}"/>
              </a:ext>
            </a:extLst>
          </p:cNvPr>
          <p:cNvSpPr/>
          <p:nvPr/>
        </p:nvSpPr>
        <p:spPr>
          <a:xfrm>
            <a:off x="5623560" y="5104943"/>
            <a:ext cx="6144768" cy="964084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ysClr val="windowText" lastClr="000000"/>
                </a:solidFill>
              </a:rPr>
              <a:t>Top nationalities: China, Indonesia, Malaysia and Singapore.</a:t>
            </a:r>
          </a:p>
          <a:p>
            <a:r>
              <a:rPr sz="1200"/>
              <a:t>Key gains come from Indonesia (+2,017 RN, +198%) and China (+1,312 RN, +28%), while the USA and UK dropped — the higher-spending nationalities have faded, which helps explain the ADR drop.</a:t>
            </a:r>
          </a:p>
        </p:txBody>
      </p:sp>
      <p:graphicFrame>
        <p:nvGraphicFramePr>
          <p:cNvPr id="8" name="Chart 0">
            <a:extLst>
              <a:ext uri="{FF2B5EF4-FFF2-40B4-BE49-F238E27FC236}">
                <a16:creationId xmlns:a16="http://schemas.microsoft.com/office/drawing/2014/main" id="{ECB97440-7C84-E1C3-821B-4672A7CE1D25}"/>
              </a:ext>
            </a:extLst>
          </p:cNvPr>
          <p:cNvGraphicFramePr/>
          <p:nvPr/>
        </p:nvGraphicFramePr>
        <p:xfrm>
          <a:off x="548640" y="1737360"/>
          <a:ext cx="502920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3" name="Table 0">
            <a:extLst>
              <a:ext uri="{FF2B5EF4-FFF2-40B4-BE49-F238E27FC236}">
                <a16:creationId xmlns:a16="http://schemas.microsoft.com/office/drawing/2014/main" id="{222B76A0-8DD3-2542-EC9A-D9FAE5428B0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48280981"/>
              </p:ext>
            </p:extLst>
          </p:nvPr>
        </p:nvGraphicFramePr>
        <p:xfrm>
          <a:off x="5623560" y="1759549"/>
          <a:ext cx="6144768" cy="3166872"/>
        </p:xfrm>
        <a:graphic>
          <a:graphicData uri="http://schemas.openxmlformats.org/drawingml/2006/table">
            <a:tbl>
              <a:tblPr/>
              <a:tblGrid>
                <a:gridCol w="11704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754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41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42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950003"/>
                    </a:ext>
                  </a:extLst>
                </a:gridCol>
                <a:gridCol w="530352">
                  <a:extLst>
                    <a:ext uri="{9D8B030D-6E8A-4147-A177-3AD203B41FA5}">
                      <a16:colId xmlns:a16="http://schemas.microsoft.com/office/drawing/2014/main" val="900043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Chg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Chg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4,642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5,954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+1,312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+28%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1,363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1,293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Indonesia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1,017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3,034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+2,017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+198%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1,437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1,227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2,336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1,368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1,331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Malaysia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2,138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2,120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1,398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1,331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+324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+27%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1,371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1,333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1,873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1,463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1,494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1,530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1,999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1,440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-559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-28%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1,559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1,606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1,038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1,421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1,389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UK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-392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1,509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Germany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1,517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1,480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18,498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20,459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+1,961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1,422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1,354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RN and ADR by segment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2026 (left) · YTD share (right) · table: H1 room nights and ADR, 2026 vs 2025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667512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7635240" y="1600200"/>
          <a:ext cx="402336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78934294"/>
              </p:ext>
            </p:extLst>
          </p:nvPr>
        </p:nvGraphicFramePr>
        <p:xfrm>
          <a:off x="548639" y="4120773"/>
          <a:ext cx="10075212" cy="148056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504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597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597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9813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1597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1597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9813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8958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Segment (H1)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950" b="1">
                          <a:solidFill>
                            <a:srgbClr val="FFFFFF"/>
                          </a:solidFill>
                          <a:latin typeface="Calibri"/>
                        </a:rPr>
                        <a:t>RN Chg 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’25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950" b="1">
                          <a:solidFill>
                            <a:srgbClr val="FFFFFF"/>
                          </a:solidFill>
                          <a:latin typeface="Calibri"/>
                        </a:rPr>
                        <a:t>ADR Chg 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895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660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900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+36%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1,279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1,369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+7.0%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895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50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181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1E7B34"/>
                          </a:solidFill>
                          <a:latin typeface="Calibri"/>
                        </a:rPr>
                        <a:t>+262%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1,314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940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-28.5%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895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dirty="0">
                          <a:solidFill>
                            <a:srgbClr val="595959"/>
                          </a:solidFill>
                          <a:latin typeface="Calibri"/>
                        </a:rPr>
                        <a:t>17,803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26292E"/>
                          </a:solidFill>
                          <a:latin typeface="Calibri"/>
                        </a:rPr>
                        <a:t>18,270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1E7B34"/>
                          </a:solidFill>
                          <a:latin typeface="Calibri"/>
                        </a:rPr>
                        <a:t>+3%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dirty="0">
                          <a:solidFill>
                            <a:srgbClr val="595959"/>
                          </a:solidFill>
                          <a:latin typeface="Calibri"/>
                        </a:rPr>
                        <a:t>1,559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26292E"/>
                          </a:solidFill>
                          <a:latin typeface="Calibri"/>
                        </a:rPr>
                        <a:t>1,430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C62828"/>
                          </a:solidFill>
                          <a:latin typeface="Calibri"/>
                        </a:rPr>
                        <a:t>-8.2%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145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4,269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3,237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-24%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dirty="0">
                          <a:solidFill>
                            <a:srgbClr val="595959"/>
                          </a:solidFill>
                          <a:latin typeface="Calibri"/>
                        </a:rPr>
                        <a:t>1,325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26292E"/>
                          </a:solidFill>
                          <a:latin typeface="Calibri"/>
                        </a:rPr>
                        <a:t>1,295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-2.3%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8958">
                <a:tc>
                  <a:txBody>
                    <a:bodyPr/>
                    <a:lstStyle/>
                    <a:p>
                      <a:pPr algn="l"/>
                      <a:r>
                        <a:rPr sz="1000" b="0" dirty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5,017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4,965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1,221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1,249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1E7B34"/>
                          </a:solidFill>
                          <a:latin typeface="Calibri"/>
                        </a:rPr>
                        <a:t>+2.3%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dirty="0">
                          <a:solidFill>
                            <a:srgbClr val="595959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26292E"/>
                          </a:solidFill>
                          <a:latin typeface="Calibri"/>
                        </a:rPr>
                        <a:t>43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dirty="0"/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dirty="0">
                          <a:solidFill>
                            <a:srgbClr val="595959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1,361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dirty="0"/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895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595959"/>
                          </a:solidFill>
                          <a:latin typeface="Calibri"/>
                        </a:rPr>
                        <a:t>28,019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27,714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595959"/>
                          </a:solidFill>
                          <a:latin typeface="Calibri"/>
                        </a:rPr>
                        <a:t>1,451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1,375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C62828"/>
                          </a:solidFill>
                          <a:latin typeface="Calibri"/>
                        </a:rPr>
                        <a:t>-5.2%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1" name="Rectangle 10">
            <a:extLst>
              <a:ext uri="{FF2B5EF4-FFF2-40B4-BE49-F238E27FC236}">
                <a16:creationId xmlns:a16="http://schemas.microsoft.com/office/drawing/2014/main" id="{305E6024-1FFD-E8D1-D9D2-621DDA6573DD}"/>
              </a:ext>
            </a:extLst>
          </p:cNvPr>
          <p:cNvSpPr/>
          <p:nvPr/>
        </p:nvSpPr>
        <p:spPr>
          <a:xfrm>
            <a:off x="548640" y="5735503"/>
            <a:ext cx="10075212" cy="74980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ysClr val="windowText" lastClr="000000"/>
                </a:solidFill>
              </a:rPr>
              <a:t>Largest segment YTD: Online (66% of room nights). Even as OTA volume grew +3%, the OTA rate itself dropped −8%.</a:t>
            </a:r>
          </a:p>
          <a:p>
            <a:r>
              <a:rPr sz="1200"/>
              <a:t>(To verify: could the low rate come from rooms sold into Corporate LS? — LS is only ~0.7% of room nights, so the main driver is the OTA rate itself.)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P&amp;L, H1 2026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P&amp;L: actual 2026 vs Budget (MF) and actual 2025 · ฿M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4248437"/>
              </p:ext>
            </p:extLst>
          </p:nvPr>
        </p:nvGraphicFramePr>
        <p:xfrm>
          <a:off x="548640" y="3886200"/>
          <a:ext cx="5394956" cy="2460244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</a:t>
                      </a:r>
                      <a:r>
                        <a:rPr lang="en-US" sz="750" b="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9.3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8.9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6.7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6.8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6.2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5.7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43.6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8851833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Budget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Budget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6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Budget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50" b="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</a:t>
                      </a:r>
                      <a:r>
                        <a:rPr lang="en-US" sz="750" b="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Budget</a:t>
                      </a:r>
                      <a:endParaRPr lang="en-US" sz="750" b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0.1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0.1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-2.0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-2.0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-2.5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-2.8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-9.2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1825286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graphicFrame>
        <p:nvGraphicFramePr>
          <p:cNvPr id="6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20882543"/>
              </p:ext>
            </p:extLst>
          </p:nvPr>
        </p:nvGraphicFramePr>
        <p:xfrm>
          <a:off x="6126480" y="1508760"/>
          <a:ext cx="5513832" cy="2277571"/>
        </p:xfrm>
        <a:graphic>
          <a:graphicData uri="http://schemas.openxmlformats.org/drawingml/2006/table">
            <a:tbl>
              <a:tblPr/>
              <a:tblGrid>
                <a:gridCol w="882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9866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86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669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30178">
                  <a:extLst>
                    <a:ext uri="{9D8B030D-6E8A-4147-A177-3AD203B41FA5}">
                      <a16:colId xmlns:a16="http://schemas.microsoft.com/office/drawing/2014/main" val="990004"/>
                    </a:ext>
                  </a:extLst>
                </a:gridCol>
                <a:gridCol w="567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8291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35651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551406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40417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Chg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529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฿40.0M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฿43.6M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−฿3.6M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-8.4%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฿42.4M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-5.8%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฿36.2M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+10.3%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529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−฿21.6M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−฿22.6M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+฿1.0M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−฿21.6M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+0.2%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−฿19.1M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+13.3%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529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฿18.3M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฿21.0M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−฿2.7M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฿20.8M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฿17.1M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+7.0%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529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45.9%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48.1%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-2.2 pts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-4.6%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49.1%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529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−฿13.8M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−฿14.0M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+฿0.2M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−฿13.1M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+4.9%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−฿12.7M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+9.0%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529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฿7.0M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-35.0%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฿7.7M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฿4.5M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+1.4%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529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+฿0.1M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−฿8.0M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−฿9.0M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3968858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4060298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/>
          </a:p>
        </p:txBody>
      </p:sp>
      <p:sp>
        <p:nvSpPr>
          <p:cNvPr id="11" name="Text 6"/>
          <p:cNvSpPr/>
          <p:nvPr/>
        </p:nvSpPr>
        <p:spPr>
          <a:xfrm>
            <a:off x="6272784" y="4279754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฿40.0M</a:t>
            </a:r>
            <a:endParaRPr lang="en-US" sz="2400"/>
          </a:p>
        </p:txBody>
      </p:sp>
      <p:sp>
        <p:nvSpPr>
          <p:cNvPr id="12" name="Text 7"/>
          <p:cNvSpPr/>
          <p:nvPr/>
        </p:nvSpPr>
        <p:spPr>
          <a:xfrm>
            <a:off x="6272784" y="4736954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-5.8% vs H1 2025</a:t>
            </a:r>
            <a:endParaRPr lang="en-US" sz="1050"/>
          </a:p>
        </p:txBody>
      </p:sp>
      <p:sp>
        <p:nvSpPr>
          <p:cNvPr id="13" name="Shape 8"/>
          <p:cNvSpPr/>
          <p:nvPr/>
        </p:nvSpPr>
        <p:spPr>
          <a:xfrm>
            <a:off x="8988552" y="3968858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4060298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/>
          </a:p>
        </p:txBody>
      </p:sp>
      <p:sp>
        <p:nvSpPr>
          <p:cNvPr id="15" name="Text 10"/>
          <p:cNvSpPr/>
          <p:nvPr/>
        </p:nvSpPr>
        <p:spPr>
          <a:xfrm>
            <a:off x="9134856" y="4279754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฿4.5M</a:t>
            </a:r>
            <a:endParaRPr lang="en-US" sz="2400"/>
          </a:p>
        </p:txBody>
      </p:sp>
      <p:sp>
        <p:nvSpPr>
          <p:cNvPr id="16" name="Text 11"/>
          <p:cNvSpPr/>
          <p:nvPr/>
        </p:nvSpPr>
        <p:spPr>
          <a:xfrm>
            <a:off x="9134856" y="4736954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−฿3.2M vs H1 2025 (฿7.7M)</a:t>
            </a:r>
            <a:endParaRPr lang="en-US" sz="105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D5C6AF7-3646-F2BB-1218-B97791D953AC}"/>
              </a:ext>
            </a:extLst>
          </p:cNvPr>
          <p:cNvSpPr/>
          <p:nvPr/>
        </p:nvSpPr>
        <p:spPr>
          <a:xfrm>
            <a:off x="6099048" y="5175504"/>
            <a:ext cx="5541264" cy="160934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950" dirty="0">
                <a:solidFill>
                  <a:schemeClr val="tx1"/>
                </a:solidFill>
              </a:rPr>
              <a:t>Vs LY: revenue is −5.8% and OPEX is higher on marketing (online PR and website costs); GOP is −12% and JV expense is up (house &amp; building tax for three past years) — so EBIT drops on the weak revenue and NPAT is negative.</a:t>
            </a:r>
          </a:p>
          <a:p>
            <a:r>
              <a:rPr sz="950"/>
              <a:t>Vs budget: revenue −8.4% short, GOP margin −4.6% and EBIT −35% below budget. NPAT is in line with budget (the MF projection carried a ~฿2M interest-and-tax buffer).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60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</a:t>
            </a:r>
            <a:endParaRPr lang="en-US" sz="400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333 keys · monthly + YTD Jan–Jun · actual vs MF Projection and actual 2025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2117979996"/>
              </p:ext>
            </p:extLst>
          </p:nvPr>
        </p:nvGraphicFramePr>
        <p:xfrm>
          <a:off x="548640" y="1505427"/>
          <a:ext cx="7223760" cy="187451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36516604"/>
              </p:ext>
            </p:extLst>
          </p:nvPr>
        </p:nvGraphicFramePr>
        <p:xfrm>
          <a:off x="548640" y="3434810"/>
          <a:ext cx="7223760" cy="22860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874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86.2%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83.1%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63.0%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70.0%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61.5%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57.4%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70.1%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8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Budget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83.7%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86.6%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68.5%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75.9%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65.5%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62.8%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73.6%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7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88.1%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84.5%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73.9%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70.7%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63.8%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62.4%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73.8%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4,481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4,226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3,901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3,871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3,507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3,326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3,941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5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Budget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4,104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4,369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3,850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3,850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3,589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3,409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3,892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9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4,064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4,150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3,684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3,641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3,374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3,381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3,749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3,863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3,512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2,456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2,710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2,157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1,909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5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Budget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3,433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3,782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2,637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2,921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2,349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2,140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5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3,579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3,506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2,574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2,152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2,110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207008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298448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/>
          </a:p>
        </p:txBody>
      </p:sp>
      <p:sp>
        <p:nvSpPr>
          <p:cNvPr id="10" name="Text 6"/>
          <p:cNvSpPr/>
          <p:nvPr/>
        </p:nvSpPr>
        <p:spPr>
          <a:xfrm>
            <a:off x="8238744" y="1517904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73.8%</a:t>
            </a:r>
            <a:endParaRPr lang="en-US" sz="2400"/>
          </a:p>
        </p:txBody>
      </p:sp>
      <p:sp>
        <p:nvSpPr>
          <p:cNvPr id="11" name="Text 7"/>
          <p:cNvSpPr/>
          <p:nvPr/>
        </p:nvSpPr>
        <p:spPr>
          <a:xfrm>
            <a:off x="8238744" y="1975104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+0.2% vs budget</a:t>
            </a:r>
            <a:r>
              <a:rPr lang="en-US" sz="10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+5.3% vs LY</a:t>
            </a:r>
            <a:endParaRPr lang="en-US" sz="1050"/>
          </a:p>
        </p:txBody>
      </p:sp>
      <p:sp>
        <p:nvSpPr>
          <p:cNvPr id="12" name="Shape 8"/>
          <p:cNvSpPr/>
          <p:nvPr/>
        </p:nvSpPr>
        <p:spPr>
          <a:xfrm>
            <a:off x="8092440" y="2615184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2706624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/>
          </a:p>
        </p:txBody>
      </p:sp>
      <p:sp>
        <p:nvSpPr>
          <p:cNvPr id="14" name="Text 10"/>
          <p:cNvSpPr/>
          <p:nvPr/>
        </p:nvSpPr>
        <p:spPr>
          <a:xfrm>
            <a:off x="8238744" y="2926080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฿3,749</a:t>
            </a:r>
            <a:endParaRPr lang="en-US" sz="2400"/>
          </a:p>
        </p:txBody>
      </p:sp>
      <p:sp>
        <p:nvSpPr>
          <p:cNvPr id="15" name="Text 11"/>
          <p:cNvSpPr/>
          <p:nvPr/>
        </p:nvSpPr>
        <p:spPr>
          <a:xfrm>
            <a:off x="8238744" y="3383280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-3.7%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-4.9%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02336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11480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/>
          </a:p>
        </p:txBody>
      </p:sp>
      <p:sp>
        <p:nvSpPr>
          <p:cNvPr id="18" name="Text 14"/>
          <p:cNvSpPr/>
          <p:nvPr/>
        </p:nvSpPr>
        <p:spPr>
          <a:xfrm>
            <a:off x="8238744" y="433425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฿2,766</a:t>
            </a:r>
            <a:endParaRPr lang="en-US" sz="2400"/>
          </a:p>
        </p:txBody>
      </p:sp>
      <p:sp>
        <p:nvSpPr>
          <p:cNvPr id="19" name="Text 15"/>
          <p:cNvSpPr/>
          <p:nvPr/>
        </p:nvSpPr>
        <p:spPr>
          <a:xfrm>
            <a:off x="8238744" y="479145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-3.5% vs budget</a:t>
            </a:r>
            <a:r>
              <a:rPr lang="en-US" sz="10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+0.2% vs LY</a:t>
            </a:r>
            <a:endParaRPr lang="en-US" sz="1050"/>
          </a:p>
        </p:txBody>
      </p:sp>
      <p:graphicFrame>
        <p:nvGraphicFramePr>
          <p:cNvPr id="910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01187895"/>
              </p:ext>
            </p:extLst>
          </p:nvPr>
        </p:nvGraphicFramePr>
        <p:xfrm>
          <a:off x="548639" y="5879592"/>
          <a:ext cx="7223759" cy="4754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474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895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868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2632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4737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4474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4474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Series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 dirty="0">
                          <a:solidFill>
                            <a:srgbClr val="FFFFFF"/>
                          </a:solidFill>
                          <a:latin typeface="Calibri"/>
                        </a:rPr>
                        <a:t>Occ 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Occ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RevPAR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RevPAR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r>
                        <a:rPr lang="en-US" sz="800" b="1">
                          <a:solidFill>
                            <a:srgbClr val="26292E"/>
                          </a:solidFill>
                          <a:latin typeface="+mn-lt"/>
                        </a:rPr>
                        <a:t>SP </a:t>
                      </a:r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Comp set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71.5%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C0392B"/>
                          </a:solidFill>
                          <a:latin typeface="Calibri"/>
                        </a:rPr>
                        <a:t>-3.3%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4,214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C0392B"/>
                          </a:solidFill>
                          <a:latin typeface="Calibri"/>
                        </a:rPr>
                        <a:t>-5.8%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3,011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C0392B"/>
                          </a:solidFill>
                          <a:latin typeface="Calibri"/>
                        </a:rPr>
                        <a:t>-8.9%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1" name="Rectangle 20">
            <a:extLst>
              <a:ext uri="{FF2B5EF4-FFF2-40B4-BE49-F238E27FC236}">
                <a16:creationId xmlns:a16="http://schemas.microsoft.com/office/drawing/2014/main" id="{F57ED365-6DDA-DCF0-69C7-5C3A3B0C0D13}"/>
              </a:ext>
            </a:extLst>
          </p:cNvPr>
          <p:cNvSpPr/>
          <p:nvPr/>
        </p:nvSpPr>
        <p:spPr>
          <a:xfrm>
            <a:off x="7970919" y="5431536"/>
            <a:ext cx="3864065" cy="126187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i="1" dirty="0">
                <a:solidFill>
                  <a:sysClr val="windowText" lastClr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takeaway: SP was ahead of budget in the Jan–Feb high season and broadly on plan in Mar–Jun.</a:t>
            </a:r>
          </a:p>
          <a:p>
            <a:r>
              <a:rPr sz="1200">
                <a:latin typeface="Calibri"/>
              </a:rPr>
              <a:t>Vs LY: occupancy +5.3% and RevPAR similar to LY.</a:t>
            </a:r>
          </a:p>
          <a:p>
            <a:r>
              <a:rPr sz="1200">
                <a:latin typeface="Calibri"/>
              </a:rPr>
              <a:t>Vs budget: occupancy +0.2%, but RevPAR −3.5% — the ADR could not be yielded as planned.</a:t>
            </a:r>
          </a:p>
        </p:txBody>
      </p:sp>
      <p:sp>
        <p:nvSpPr>
          <p:cNvPr id="23" name="Star: 5 Points 22">
            <a:extLst>
              <a:ext uri="{FF2B5EF4-FFF2-40B4-BE49-F238E27FC236}">
                <a16:creationId xmlns:a16="http://schemas.microsoft.com/office/drawing/2014/main" id="{55E50704-22E1-8877-4752-4E965043C5AE}"/>
              </a:ext>
            </a:extLst>
          </p:cNvPr>
          <p:cNvSpPr/>
          <p:nvPr/>
        </p:nvSpPr>
        <p:spPr>
          <a:xfrm>
            <a:off x="2360519" y="2066004"/>
            <a:ext cx="117761" cy="123258"/>
          </a:xfrm>
          <a:prstGeom prst="star5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2F822C5-D574-4395-6623-DF5CFB1ED427}"/>
              </a:ext>
            </a:extLst>
          </p:cNvPr>
          <p:cNvSpPr txBox="1"/>
          <p:nvPr/>
        </p:nvSpPr>
        <p:spPr>
          <a:xfrm>
            <a:off x="2422733" y="2019092"/>
            <a:ext cx="9827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>
                <a:solidFill>
                  <a:srgbClr val="FF0000"/>
                </a:solidFill>
              </a:rPr>
              <a:t>CNY</a:t>
            </a:r>
            <a:endParaRPr lang="en-US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RN and ADR by nationality (H1)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26 vs 25 (chart) · table: room nights + ADR (RN-weighted H1) with change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502920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90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3468013"/>
              </p:ext>
            </p:extLst>
          </p:nvPr>
        </p:nvGraphicFramePr>
        <p:xfrm>
          <a:off x="5623560" y="1649387"/>
          <a:ext cx="6144768" cy="3072384"/>
        </p:xfrm>
        <a:graphic>
          <a:graphicData uri="http://schemas.openxmlformats.org/drawingml/2006/table">
            <a:tbl>
              <a:tblPr/>
              <a:tblGrid>
                <a:gridCol w="11704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754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53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54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950004"/>
                    </a:ext>
                  </a:extLst>
                </a:gridCol>
                <a:gridCol w="530352">
                  <a:extLst>
                    <a:ext uri="{9D8B030D-6E8A-4147-A177-3AD203B41FA5}">
                      <a16:colId xmlns:a16="http://schemas.microsoft.com/office/drawing/2014/main" val="900055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Chg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Chg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9,640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10,445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+805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3,504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3,107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-397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India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4,218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3,764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-454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3,631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3,645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2,963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3,622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+659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+22%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4,447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3,264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-1,183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-27%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Israel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2,509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3,148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+639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4,034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3,754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-280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United States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2,381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-965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4,314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4,370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Russia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2,030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2,295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3,488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3,380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2,369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2,175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-194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3,388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2,886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-501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Republic of Korea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1,950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3,677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3,182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-495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Australia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1,310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1,882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+572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+44%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4,362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4,184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1,663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3,929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3,516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32,088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33,282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+1,194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3,792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3,426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-366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C9C7DA9E-C2B9-74A4-27CD-55B766BD75B7}"/>
              </a:ext>
            </a:extLst>
          </p:cNvPr>
          <p:cNvSpPr/>
          <p:nvPr/>
        </p:nvSpPr>
        <p:spPr>
          <a:xfrm>
            <a:off x="5623560" y="5017846"/>
            <a:ext cx="6144768" cy="87020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ysClr val="windowText" lastClr="000000"/>
                </a:solidFill>
              </a:rPr>
              <a:t>Top gainers: China (+805 RN), Thailand (+639) and Israel (+639), with Russia and Australia also up.</a:t>
            </a:r>
          </a:p>
          <a:p>
            <a:r>
              <a:rPr sz="1200"/>
              <a:t>Biggest decline: United States (−965 RN).</a:t>
            </a:r>
          </a:p>
          <a:p>
            <a:r>
              <a:rPr sz="1200"/>
              <a:t>ADR improved for India and the US.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74E4D1E-69B7-E433-D597-328D5366FC59}"/>
              </a:ext>
            </a:extLst>
          </p:cNvPr>
          <p:cNvSpPr txBox="1"/>
          <p:nvPr/>
        </p:nvSpPr>
        <p:spPr>
          <a:xfrm>
            <a:off x="9902952" y="1266441"/>
            <a:ext cx="7840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>
                <a:solidFill>
                  <a:srgbClr val="FF0000"/>
                </a:solidFill>
              </a:rPr>
              <a:t>*Not included BF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RN and ADR by segment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2026 (left) · YTD share (right) · table: H1 room nights and ADR, 2026 vs 2025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667512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7635240" y="1600200"/>
          <a:ext cx="402336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25608273"/>
              </p:ext>
            </p:extLst>
          </p:nvPr>
        </p:nvGraphicFramePr>
        <p:xfrm>
          <a:off x="548639" y="4203192"/>
          <a:ext cx="11091671" cy="13594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7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36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36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9616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3304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1364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1364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96161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64592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Segment (H1)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Chg 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Mix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Chg 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459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1,386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1,879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+36%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4%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3,493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3,570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+2.2%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459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2,270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1,986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-13%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2,643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3,155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+19.4%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459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12,400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12,744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+3%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29%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4,940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4,145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-16.1%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459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4,567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6,426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+41%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4,640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4,382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-5.5%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459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19,078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19,526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+2%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45%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3,323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2,954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-11.1%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6459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1,221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684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-44%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2%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3,671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2,533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-31.0%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6459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595959"/>
                          </a:solidFill>
                          <a:latin typeface="Calibri"/>
                        </a:rPr>
                        <a:t>40,993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43,294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+6%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595959"/>
                          </a:solidFill>
                          <a:latin typeface="Calibri"/>
                        </a:rPr>
                        <a:t>3,936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3,545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-9.9%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0" name="Rectangle 9">
            <a:extLst>
              <a:ext uri="{FF2B5EF4-FFF2-40B4-BE49-F238E27FC236}">
                <a16:creationId xmlns:a16="http://schemas.microsoft.com/office/drawing/2014/main" id="{11B85CAA-8BB5-CE77-F0F1-5557DEC5E4DA}"/>
              </a:ext>
            </a:extLst>
          </p:cNvPr>
          <p:cNvSpPr/>
          <p:nvPr/>
        </p:nvSpPr>
        <p:spPr>
          <a:xfrm>
            <a:off x="548639" y="5645229"/>
            <a:ext cx="11117579" cy="70985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segment YTD: Wholesale (42% of room nights)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ASR is increasing — Ascott seems to be </a:t>
            </a:r>
            <a:r>
              <a:rPr lang="en-US" sz="1200" dirty="0" err="1">
                <a:solidFill>
                  <a:schemeClr val="tx1"/>
                </a:solidFill>
              </a:rPr>
              <a:t>emphasising</a:t>
            </a:r>
            <a:r>
              <a:rPr lang="en-US" sz="1200" dirty="0">
                <a:solidFill>
                  <a:schemeClr val="tx1"/>
                </a:solidFill>
              </a:rPr>
              <a:t> its leisure brand, promoting leisure properties like SP more.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Corporate SS bookings are also +36% with ADR above LY, showing real demand for corporate short-stay.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P&amp;L, H1 2026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P&amp;L: actual 2026 vs Budget (MF) and actual 2025 · ฿M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47913622"/>
              </p:ext>
            </p:extLst>
          </p:nvPr>
        </p:nvGraphicFramePr>
        <p:xfrm>
          <a:off x="548640" y="3886200"/>
          <a:ext cx="5394960" cy="2460244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167.4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</a:t>
                      </a:r>
                      <a:r>
                        <a:rPr lang="en-US" sz="750" b="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37.4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37.0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28.8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30.8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26.0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23.1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183.1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5871696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-75.1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56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Budget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-82.4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-74.4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5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Budget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5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Budget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50" b="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</a:t>
                      </a:r>
                      <a:r>
                        <a:rPr lang="en-US" sz="750" b="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Budget</a:t>
                      </a:r>
                      <a:endParaRPr lang="en-US" sz="750" b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9.3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9.6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4.0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5.3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2.4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0.6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31.1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7495965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graphicFrame>
        <p:nvGraphicFramePr>
          <p:cNvPr id="8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1494740"/>
              </p:ext>
            </p:extLst>
          </p:nvPr>
        </p:nvGraphicFramePr>
        <p:xfrm>
          <a:off x="6126481" y="1442089"/>
          <a:ext cx="5513832" cy="2224112"/>
        </p:xfrm>
        <a:graphic>
          <a:graphicData uri="http://schemas.openxmlformats.org/drawingml/2006/table">
            <a:tbl>
              <a:tblPr/>
              <a:tblGrid>
                <a:gridCol w="8822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9866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86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669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30178">
                  <a:extLst>
                    <a:ext uri="{9D8B030D-6E8A-4147-A177-3AD203B41FA5}">
                      <a16:colId xmlns:a16="http://schemas.microsoft.com/office/drawing/2014/main" val="990005"/>
                    </a:ext>
                  </a:extLst>
                </a:gridCol>
                <a:gridCol w="567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8291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3565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551406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30973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Chg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76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฿166.4M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฿183.1M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−฿16.7M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-9.1%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฿167.4M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-0.6%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฿182.4M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-8.8%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76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−฿74.4M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−฿82.4M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+฿8.0M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-9.8%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−฿75.1M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−฿75.9M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76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฿92.1M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฿100.7M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−฿8.6M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฿92.3M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-0.2%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฿106.6M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-13.6%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76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+0.3 pts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55.1%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+0.4%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58.4%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76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−฿39.9M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−฿41.6M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+฿1.7M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−฿39.2M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+1.8%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−฿41.0M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76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฿52.2M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฿59.1M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−฿6.9M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-11.7%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฿53.1M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฿65.5M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-20.4%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76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฿25.7M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฿31.1M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−฿5.4M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฿23.8M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฿28.2M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3785616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3877056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/>
          </a:p>
        </p:txBody>
      </p:sp>
      <p:sp>
        <p:nvSpPr>
          <p:cNvPr id="11" name="Text 6"/>
          <p:cNvSpPr/>
          <p:nvPr/>
        </p:nvSpPr>
        <p:spPr>
          <a:xfrm>
            <a:off x="6272784" y="4096512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฿166.4M</a:t>
            </a:r>
            <a:endParaRPr lang="en-US" sz="2400"/>
          </a:p>
        </p:txBody>
      </p:sp>
      <p:sp>
        <p:nvSpPr>
          <p:cNvPr id="12" name="Text 7"/>
          <p:cNvSpPr/>
          <p:nvPr/>
        </p:nvSpPr>
        <p:spPr>
          <a:xfrm>
            <a:off x="6272784" y="4553712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-0.6% vs H1 2025</a:t>
            </a:r>
            <a:endParaRPr lang="en-US" sz="1050"/>
          </a:p>
        </p:txBody>
      </p:sp>
      <p:sp>
        <p:nvSpPr>
          <p:cNvPr id="13" name="Shape 8"/>
          <p:cNvSpPr/>
          <p:nvPr/>
        </p:nvSpPr>
        <p:spPr>
          <a:xfrm>
            <a:off x="8988552" y="3785616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3877056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/>
          </a:p>
        </p:txBody>
      </p:sp>
      <p:sp>
        <p:nvSpPr>
          <p:cNvPr id="15" name="Text 10"/>
          <p:cNvSpPr/>
          <p:nvPr/>
        </p:nvSpPr>
        <p:spPr>
          <a:xfrm>
            <a:off x="9134856" y="4096512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฿52.2M</a:t>
            </a:r>
            <a:endParaRPr lang="en-US" sz="2400"/>
          </a:p>
        </p:txBody>
      </p:sp>
      <p:sp>
        <p:nvSpPr>
          <p:cNvPr id="16" name="Text 11"/>
          <p:cNvSpPr/>
          <p:nvPr/>
        </p:nvSpPr>
        <p:spPr>
          <a:xfrm>
            <a:off x="9134856" y="4553712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−฿0.9M vs H1 2025 (฿53.1M)</a:t>
            </a:r>
            <a:endParaRPr lang="en-US" sz="105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45CC5E7-EBE5-6B3E-61A8-7E1250831288}"/>
              </a:ext>
            </a:extLst>
          </p:cNvPr>
          <p:cNvSpPr/>
          <p:nvPr/>
        </p:nvSpPr>
        <p:spPr>
          <a:xfrm>
            <a:off x="6099048" y="4992624"/>
            <a:ext cx="5541264" cy="1792224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950" dirty="0">
                <a:solidFill>
                  <a:schemeClr val="tx1"/>
                </a:solidFill>
              </a:rPr>
              <a:t>Vs budget: revenue fell short; OPEX was managed −9.8% better, but GOP still missed on the low revenue. JV expense was −4.0% better than budget; even so, the revenue shortfall leaves EBIT and NPAT below plan.</a:t>
            </a:r>
          </a:p>
          <a:p>
            <a:r>
              <a:rPr sz="950"/>
              <a:t>Vs LY: revenue is similar and OPEX slightly better, but JV expense is higher, making EBIT lower. NPAT improves — no bank loan in H1 this year, unlike last year.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3">
            <a:extLst>
              <a:ext uri="{FF2B5EF4-FFF2-40B4-BE49-F238E27FC236}">
                <a16:creationId xmlns:a16="http://schemas.microsoft.com/office/drawing/2014/main" id="{6DD7B280-FDD1-D9D8-D92B-43DD8A8103BB}"/>
              </a:ext>
            </a:extLst>
          </p:cNvPr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/>
          </a:p>
        </p:txBody>
      </p:sp>
      <p:sp>
        <p:nvSpPr>
          <p:cNvPr id="6" name="TextBox 5"/>
          <p:cNvSpPr txBox="1"/>
          <p:nvPr/>
        </p:nvSpPr>
        <p:spPr>
          <a:xfrm>
            <a:off x="548640" y="1353979"/>
            <a:ext cx="766364" cy="246221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1300" b="1">
                <a:solidFill>
                  <a:srgbClr val="1E2761"/>
                </a:solidFill>
                <a:latin typeface="Calibri"/>
              </a:rPr>
              <a:t>ARRIVALS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65459"/>
            <a:ext cx="5440680" cy="782265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700"/>
              </a:spcAft>
            </a:pPr>
            <a:r>
              <a:rPr sz="1050" dirty="0">
                <a:solidFill>
                  <a:srgbClr val="26292E"/>
                </a:solidFill>
                <a:latin typeface="Calibri"/>
              </a:rPr>
              <a:t>• Thailand H1 arrivals: 15.87M reported, −4.9% vs 2025 — adding back the MOTS 4-day June data loss, the estimate is 16.16M = −3.2%: soft, but not a collapse.</a:t>
            </a:r>
          </a:p>
          <a:p>
            <a:pPr>
              <a:spcAft>
                <a:spcPts val="700"/>
              </a:spcAft>
            </a:pPr>
            <a:r>
              <a:rPr sz="1050" dirty="0">
                <a:solidFill>
                  <a:srgbClr val="26292E"/>
                </a:solidFill>
                <a:latin typeface="Calibri"/>
              </a:rPr>
              <a:t>• Middle East fell hardest in %: −28.5% vs LY, collapsing from February onward (the war broke out at the end of January) — Feb −52%, Apr −57%.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705291"/>
            <a:ext cx="2664319" cy="246221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lang="en-US" sz="1300" b="1">
                <a:solidFill>
                  <a:srgbClr val="1E2761"/>
                </a:solidFill>
                <a:latin typeface="Calibri"/>
              </a:rPr>
              <a:t>THE </a:t>
            </a:r>
            <a:r>
              <a:rPr sz="1300" b="1">
                <a:solidFill>
                  <a:srgbClr val="1E2761"/>
                </a:solidFill>
                <a:latin typeface="Calibri"/>
              </a:rPr>
              <a:t>MARKETS</a:t>
            </a:r>
            <a:r>
              <a:rPr lang="en-US" sz="1300" b="1">
                <a:solidFill>
                  <a:srgbClr val="1E2761"/>
                </a:solidFill>
                <a:latin typeface="Calibri"/>
              </a:rPr>
              <a:t> AND OUR PROPERTIES</a:t>
            </a:r>
            <a:endParaRPr sz="1300" b="1">
              <a:solidFill>
                <a:srgbClr val="1E2761"/>
              </a:solidFill>
              <a:latin typeface="Calibri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48640" y="3116771"/>
            <a:ext cx="5440680" cy="1033616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700"/>
              </a:spcAft>
            </a:pPr>
            <a:r>
              <a:rPr sz="1050" dirty="0">
                <a:solidFill>
                  <a:srgbClr val="26292E"/>
                </a:solidFill>
                <a:latin typeface="Calibri"/>
              </a:rPr>
              <a:t>• That is exactly what STR shows for Bangkok: occupancy UP (+2.3%) but ADR DOWN (−1.4%).</a:t>
            </a:r>
          </a:p>
          <a:p>
            <a:pPr>
              <a:spcAft>
                <a:spcPts val="700"/>
              </a:spcAft>
            </a:pPr>
            <a:r>
              <a:rPr sz="1050" dirty="0">
                <a:solidFill>
                  <a:srgbClr val="26292E"/>
                </a:solidFill>
                <a:latin typeface="Calibri"/>
              </a:rPr>
              <a:t>• By class, only Luxury held rate (+1.1% ADR); every other class traded rate for occupancy — and our portfolio competes in those classes. That is why yielding ADR is this year’s challenge.</a:t>
            </a:r>
          </a:p>
          <a:p>
            <a:pPr>
              <a:spcAft>
                <a:spcPts val="700"/>
              </a:spcAft>
            </a:pPr>
            <a:r>
              <a:rPr sz="1050" dirty="0">
                <a:solidFill>
                  <a:srgbClr val="26292E"/>
                </a:solidFill>
                <a:latin typeface="Calibri"/>
              </a:rPr>
              <a:t>• Pattaya: arrivals below LY (−2.7%) and market RevPAR −2.3% — yet SP outperformed its market (Occ +5.3%, RevPAR +0.2% vs LY).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B89A2F7-AAFF-4D60-CE37-A169F9AF336E}"/>
              </a:ext>
            </a:extLst>
          </p:cNvPr>
          <p:cNvSpPr txBox="1"/>
          <p:nvPr/>
        </p:nvSpPr>
        <p:spPr>
          <a:xfrm>
            <a:off x="548640" y="746198"/>
            <a:ext cx="609755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</a:t>
            </a:r>
            <a:endParaRPr lang="en-US" sz="280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9E0171A-59D5-0060-907E-965A38D946E2}"/>
              </a:ext>
            </a:extLst>
          </p:cNvPr>
          <p:cNvSpPr txBox="1"/>
          <p:nvPr/>
        </p:nvSpPr>
        <p:spPr>
          <a:xfrm>
            <a:off x="6537483" y="746198"/>
            <a:ext cx="5204586" cy="523220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/>
                <a:ea typeface="Calibri"/>
                <a:cs typeface="Calibri"/>
              </a:rPr>
              <a:t>Recommendation</a:t>
            </a:r>
            <a:endParaRPr lang="en-US" err="1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06F37F4-0918-5BE3-7988-46313A3A22FF}"/>
              </a:ext>
            </a:extLst>
          </p:cNvPr>
          <p:cNvSpPr txBox="1"/>
          <p:nvPr/>
        </p:nvSpPr>
        <p:spPr>
          <a:xfrm>
            <a:off x="6419088" y="1764792"/>
            <a:ext cx="5129784" cy="42062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lang="en-US" sz="1050" dirty="0"/>
              <a:t>• </a:t>
            </a:r>
            <a:r>
              <a:rPr lang="en-US" sz="1050" b="1" dirty="0"/>
              <a:t>Push rate only in high season (Q4–Q1)</a:t>
            </a:r>
            <a:r>
              <a:rPr lang="en-US" sz="1050" dirty="0"/>
              <a:t> — Q2–Q3 demand shifts </a:t>
            </a:r>
            <a:r>
              <a:rPr lang="en-US" sz="1050" dirty="0" err="1"/>
              <a:t>leisure→corporate</a:t>
            </a:r>
            <a:r>
              <a:rPr lang="en-US" sz="1050" dirty="0"/>
              <a:t>; raising ADR there just loses traffic.</a:t>
            </a:r>
          </a:p>
          <a:p>
            <a:r>
              <a:rPr lang="en-US" sz="1050" dirty="0"/>
              <a:t>• </a:t>
            </a:r>
            <a:r>
              <a:rPr lang="en-US" sz="1050" b="1" dirty="0"/>
              <a:t>Reduce the China reliance</a:t>
            </a:r>
            <a:r>
              <a:rPr lang="en-US" sz="1050" dirty="0"/>
              <a:t> — it now dominates our mix but books below-average rates, capping ADR.</a:t>
            </a:r>
          </a:p>
          <a:p>
            <a:r>
              <a:rPr lang="en-US" sz="1050" dirty="0"/>
              <a:t>• </a:t>
            </a:r>
            <a:r>
              <a:rPr lang="en-US" sz="1050" b="1" dirty="0"/>
              <a:t>Rebalance toward higher-ADR guests</a:t>
            </a:r>
            <a:r>
              <a:rPr lang="en-US" sz="1050" dirty="0"/>
              <a:t> — long-haul (EU/USA) is at record levels; set a nationality-mix target with Ascott, not just a rate target.</a:t>
            </a:r>
          </a:p>
          <a:p>
            <a:r>
              <a:rPr lang="en-US" sz="1050" dirty="0"/>
              <a:t>• </a:t>
            </a:r>
            <a:r>
              <a:rPr lang="en-US" sz="1050" b="1" dirty="0"/>
              <a:t>Keep the cost discipline</a:t>
            </a:r>
            <a:r>
              <a:rPr lang="en-US" sz="1050" dirty="0"/>
              <a:t> — revenue missed budget by −9.7%, yet portfolio NPAT is still on plan thanks to OPEX control; make protecting this a standing order for H2.</a:t>
            </a:r>
          </a:p>
          <a:p>
            <a:r>
              <a:rPr lang="en-US" sz="1050" dirty="0"/>
              <a:t>• </a:t>
            </a:r>
            <a:r>
              <a:rPr lang="en-US" sz="1050" b="1" dirty="0"/>
              <a:t>Review low-rate wholesale deals</a:t>
            </a:r>
            <a:r>
              <a:rPr lang="en-US" sz="1050" dirty="0"/>
              <a:t> — AES's Finland case (55 → 2,922 room nights at half the rate) shows how these deals buy occupancy at the cost of ADR; every property should review such contracts before renewal.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19088" y="1353312"/>
            <a:ext cx="2926080" cy="246221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1300" b="1">
                <a:solidFill>
                  <a:srgbClr val="1E2761"/>
                </a:solidFill>
                <a:latin typeface="Calibri"/>
              </a:rPr>
              <a:t>ACTIONS FOR H2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306824"/>
            <a:ext cx="1828800" cy="246221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1300" b="1">
                <a:solidFill>
                  <a:srgbClr val="1E2761"/>
                </a:solidFill>
                <a:latin typeface="Calibri"/>
              </a:rPr>
              <a:t>P&amp;L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718304"/>
            <a:ext cx="5440680" cy="12801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700"/>
              </a:spcAft>
            </a:pPr>
            <a:r>
              <a:rPr sz="1050" dirty="0">
                <a:solidFill>
                  <a:srgbClr val="26292E"/>
                </a:solidFill>
                <a:latin typeface="Calibri"/>
              </a:rPr>
              <a:t>• Revenue closed −9.7% below MF budget on the rate shortfall — but OPEX control kept portfolio NPAT on plan (+฿0.3M); EBIT −11.0% vs budget.</a:t>
            </a:r>
          </a:p>
          <a:p>
            <a:r>
              <a:rPr sz="1050">
                <a:solidFill>
                  <a:srgbClr val="26292E"/>
                </a:solidFill>
                <a:latin typeface="Calibri"/>
              </a:rPr>
              <a:t>• Every property missed its revenue budget (−8% to −12%); keeping the H1 cost discipline is what protects the bottom line in H2.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570ce379-ef9e-488e-8e74-44d887057c06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BB95B0B08412A849A5A64508D0AA5F92" ma:contentTypeVersion="9" ma:contentTypeDescription="Create a new document." ma:contentTypeScope="" ma:versionID="4787747963eddd222ebc2112c47bd42e">
  <xsd:schema xmlns:xsd="http://www.w3.org/2001/XMLSchema" xmlns:xs="http://www.w3.org/2001/XMLSchema" xmlns:p="http://schemas.microsoft.com/office/2006/metadata/properties" xmlns:ns3="570ce379-ef9e-488e-8e74-44d887057c06" targetNamespace="http://schemas.microsoft.com/office/2006/metadata/properties" ma:root="true" ma:fieldsID="6f05b7aeef960c0d17e92540f6e08c72" ns3:_="">
    <xsd:import namespace="570ce379-ef9e-488e-8e74-44d887057c06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_activity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SystemTags" minOccurs="0"/>
                <xsd:element ref="ns3:MediaServiceOCR" minOccurs="0"/>
                <xsd:element ref="ns3:MediaServiceGenerationTime" minOccurs="0"/>
                <xsd:element ref="ns3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70ce379-ef9e-488e-8e74-44d887057c06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_activity" ma:index="9" nillable="true" ma:displayName="_activity" ma:hidden="true" ma:internalName="_activity">
      <xsd:simpleType>
        <xsd:restriction base="dms:Note"/>
      </xsd:simpleType>
    </xsd:element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SystemTags" ma:index="13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9B789EF4-9820-4A59-9D05-AF608D83E433}">
  <ds:schemaRefs>
    <ds:schemaRef ds:uri="http://schemas.microsoft.com/office/2006/documentManagement/types"/>
    <ds:schemaRef ds:uri="http://schemas.microsoft.com/office/infopath/2007/PartnerControls"/>
    <ds:schemaRef ds:uri="http://purl.org/dc/terms/"/>
    <ds:schemaRef ds:uri="http://purl.org/dc/elements/1.1/"/>
    <ds:schemaRef ds:uri="http://schemas.openxmlformats.org/package/2006/metadata/core-properties"/>
    <ds:schemaRef ds:uri="http://purl.org/dc/dcmitype/"/>
    <ds:schemaRef ds:uri="570ce379-ef9e-488e-8e74-44d887057c06"/>
    <ds:schemaRef ds:uri="http://schemas.microsoft.com/office/2006/metadata/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BF51FCA5-1E74-4B12-B3EA-47FCB2B4455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EDB74C21-A0DA-4EDB-999A-8BD9B5CF7863}">
  <ds:schemaRefs>
    <ds:schemaRef ds:uri="570ce379-ef9e-488e-8e74-44d887057c06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8694</Words>
  <Application>Microsoft Office PowerPoint</Application>
  <PresentationFormat>Widescreen</PresentationFormat>
  <Paragraphs>2890</Paragraphs>
  <Slides>35</Slides>
  <Notes>35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39" baseType="lpstr">
      <vt:lpstr>Aptos Narrow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Ariya Ariyachotima</cp:lastModifiedBy>
  <cp:revision>2</cp:revision>
  <dcterms:created xsi:type="dcterms:W3CDTF">2026-07-24T09:01:49Z</dcterms:created>
  <dcterms:modified xsi:type="dcterms:W3CDTF">2026-08-19T01:55:50Z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0x010100BB95B0B08412A849A5A64508D0AA5F92</vt:lpwstr>
  </property>
</Properties>
</file>