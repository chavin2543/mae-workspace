
<file path=[Content_Types].xml><?xml version="1.0" encoding="utf-8"?>
<Types xmlns="http://schemas.openxmlformats.org/package/2006/content-types">
  <Default Extension="rels" ContentType="application/vnd.openxmlformats-package.relationships+xml"/>
  <Default Extension="xlsx" ContentType="application/vnd.openxmlformats-officedocument.spreadsheetml.sheet"/>
  <Default Extension="xml" ContentType="application/xml"/>
  <Override PartName="/customXml/itemProps1.xml" ContentType="application/vnd.openxmlformats-officedocument.customXmlProperties+xml"/>
  <Override PartName="/customXml/itemProps2.xml" ContentType="application/vnd.openxmlformats-officedocument.customXmlProperties+xml"/>
  <Override PartName="/customXml/itemProps3.xml" ContentType="application/vnd.openxmlformats-officedocument.customXmlProperties+xml"/>
  <Override PartName="/docProps/app.xml" ContentType="application/vnd.openxmlformats-officedocument.extended-properties+xml"/>
  <Override PartName="/docProps/core.xml" ContentType="application/vnd.openxmlformats-package.core-properties+xml"/>
  <Override PartName="/docProps/custom.xml" ContentType="application/vnd.openxmlformats-officedocument.custom-properties+xml"/>
  <Override PartName="/ppt/changesInfos/changesInfo1.xml" ContentType="application/vnd.ms-powerpoint.changesinfo+xml"/>
  <Override PartName="/ppt/charts/chart1.xml" ContentType="application/vnd.openxmlformats-officedocument.drawingml.chart+xml"/>
  <Override PartName="/ppt/charts/chart10.xml" ContentType="application/vnd.openxmlformats-officedocument.drawingml.chart+xml"/>
  <Override PartName="/ppt/charts/chart11.xml" ContentType="application/vnd.openxmlformats-officedocument.drawingml.chart+xml"/>
  <Override PartName="/ppt/charts/chart12.xml" ContentType="application/vnd.openxmlformats-officedocument.drawingml.chart+xml"/>
  <Override PartName="/ppt/charts/chart13.xml" ContentType="application/vnd.openxmlformats-officedocument.drawingml.chart+xml"/>
  <Override PartName="/ppt/charts/chart14.xml" ContentType="application/vnd.openxmlformats-officedocument.drawingml.chart+xml"/>
  <Override PartName="/ppt/charts/chart15.xml" ContentType="application/vnd.openxmlformats-officedocument.drawingml.chart+xml"/>
  <Override PartName="/ppt/charts/chart16.xml" ContentType="application/vnd.openxmlformats-officedocument.drawingml.chart+xml"/>
  <Override PartName="/ppt/charts/chart17.xml" ContentType="application/vnd.openxmlformats-officedocument.drawingml.chart+xml"/>
  <Override PartName="/ppt/charts/chart18.xml" ContentType="application/vnd.openxmlformats-officedocument.drawingml.chart+xml"/>
  <Override PartName="/ppt/charts/chart19.xml" ContentType="application/vnd.openxmlformats-officedocument.drawingml.chart+xml"/>
  <Override PartName="/ppt/charts/chart2.xml" ContentType="application/vnd.openxmlformats-officedocument.drawingml.chart+xml"/>
  <Override PartName="/ppt/charts/chart20.xml" ContentType="application/vnd.openxmlformats-officedocument.drawingml.chart+xml"/>
  <Override PartName="/ppt/charts/chart21.xml" ContentType="application/vnd.openxmlformats-officedocument.drawingml.chart+xml"/>
  <Override PartName="/ppt/charts/chart22.xml" ContentType="application/vnd.openxmlformats-officedocument.drawingml.chart+xml"/>
  <Override PartName="/ppt/charts/chart25.xml" ContentType="application/vnd.openxmlformats-officedocument.drawingml.chart+xml"/>
  <Override PartName="/ppt/charts/chart26.xml" ContentType="application/vnd.openxmlformats-officedocument.drawingml.chart+xml"/>
  <Override PartName="/ppt/charts/chart27.xml" ContentType="application/vnd.openxmlformats-officedocument.drawingml.chart+xml"/>
  <Override PartName="/ppt/charts/chart28.xml" ContentType="application/vnd.openxmlformats-officedocument.drawingml.chart+xml"/>
  <Override PartName="/ppt/charts/chart29.xml" ContentType="application/vnd.openxmlformats-officedocument.drawingml.chart+xml"/>
  <Override PartName="/ppt/charts/chart3.xml" ContentType="application/vnd.openxmlformats-officedocument.drawingml.chart+xml"/>
  <Override PartName="/ppt/charts/chart32.xml" ContentType="application/vnd.openxmlformats-officedocument.drawingml.chart+xml"/>
  <Override PartName="/ppt/charts/chart33.xml" ContentType="application/vnd.openxmlformats-officedocument.drawingml.chart+xml"/>
  <Override PartName="/ppt/charts/chart34.xml" ContentType="application/vnd.openxmlformats-officedocument.drawingml.chart+xml"/>
  <Override PartName="/ppt/charts/chart35.xml" ContentType="application/vnd.openxmlformats-officedocument.drawingml.chart+xml"/>
  <Override PartName="/ppt/charts/chart36.xml" ContentType="application/vnd.openxmlformats-officedocument.drawingml.chart+xml"/>
  <Override PartName="/ppt/charts/chart39.xml" ContentType="application/vnd.openxmlformats-officedocument.drawingml.chart+xml"/>
  <Override PartName="/ppt/charts/chart4.xml" ContentType="application/vnd.openxmlformats-officedocument.drawingml.chart+xml"/>
  <Override PartName="/ppt/charts/chart40.xml" ContentType="application/vnd.openxmlformats-officedocument.drawingml.chart+xml"/>
  <Override PartName="/ppt/charts/chart41.xml" ContentType="application/vnd.openxmlformats-officedocument.drawingml.chart+xml"/>
  <Override PartName="/ppt/charts/chart42.xml" ContentType="application/vnd.openxmlformats-officedocument.drawingml.chart+xml"/>
  <Override PartName="/ppt/charts/chart43.xml" ContentType="application/vnd.openxmlformats-officedocument.drawingml.chart+xml"/>
  <Override PartName="/ppt/charts/chart46.xml" ContentType="application/vnd.openxmlformats-officedocument.drawingml.chart+xml"/>
  <Override PartName="/ppt/charts/chart5.xml" ContentType="application/vnd.openxmlformats-officedocument.drawingml.chart+xml"/>
  <Override PartName="/ppt/charts/chart6.xml" ContentType="application/vnd.openxmlformats-officedocument.drawingml.chart+xml"/>
  <Override PartName="/ppt/charts/chart7.xml" ContentType="application/vnd.openxmlformats-officedocument.drawingml.chart+xml"/>
  <Override PartName="/ppt/charts/chart8.xml" ContentType="application/vnd.openxmlformats-officedocument.drawingml.chart+xml"/>
  <Override PartName="/ppt/charts/chart9.xml" ContentType="application/vnd.openxmlformats-officedocument.drawingml.chart+xml"/>
  <Override PartName="/ppt/notesMasters/notesMaster1.xml" ContentType="application/vnd.openxmlformats-officedocument.presentationml.notesMaster+xml"/>
  <Override PartName="/ppt/notesSlides/notesSlide1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15.xml" ContentType="application/vnd.openxmlformats-officedocument.presentationml.notesSlide+xml"/>
  <Override PartName="/ppt/notesSlides/notesSlide16.xml" ContentType="application/vnd.openxmlformats-officedocument.presentationml.notesSlide+xml"/>
  <Override PartName="/ppt/notesSlides/notesSlide17.xml" ContentType="application/vnd.openxmlformats-officedocument.presentationml.notesSlide+xml"/>
  <Override PartName="/ppt/notesSlides/notesSlide18.xml" ContentType="application/vnd.openxmlformats-officedocument.presentationml.notesSlide+xml"/>
  <Override PartName="/ppt/notesSlides/notesSlide19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20.xml" ContentType="application/vnd.openxmlformats-officedocument.presentationml.notesSlide+xml"/>
  <Override PartName="/ppt/notesSlides/notesSlide21.xml" ContentType="application/vnd.openxmlformats-officedocument.presentationml.notesSlide+xml"/>
  <Override PartName="/ppt/notesSlides/notesSlide22.xml" ContentType="application/vnd.openxmlformats-officedocument.presentationml.notesSlide+xml"/>
  <Override PartName="/ppt/notesSlides/notesSlide23.xml" ContentType="application/vnd.openxmlformats-officedocument.presentationml.notesSlide+xml"/>
  <Override PartName="/ppt/notesSlides/notesSlide25.xml" ContentType="application/vnd.openxmlformats-officedocument.presentationml.notesSlide+xml"/>
  <Override PartName="/ppt/notesSlides/notesSlide27.xml" ContentType="application/vnd.openxmlformats-officedocument.presentationml.notesSlide+xml"/>
  <Override PartName="/ppt/notesSlides/notesSlide28.xml" ContentType="application/vnd.openxmlformats-officedocument.presentationml.notesSlide+xml"/>
  <Override PartName="/ppt/notesSlides/notesSlide29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30.xml" ContentType="application/vnd.openxmlformats-officedocument.presentationml.notesSlide+xml"/>
  <Override PartName="/ppt/notesSlides/notesSlide32.xml" ContentType="application/vnd.openxmlformats-officedocument.presentationml.notesSlide+xml"/>
  <Override PartName="/ppt/notesSlides/notesSlide34.xml" ContentType="application/vnd.openxmlformats-officedocument.presentationml.notesSlide+xml"/>
  <Override PartName="/ppt/notesSlides/notesSlide35.xml" ContentType="application/vnd.openxmlformats-officedocument.presentationml.notesSlide+xml"/>
  <Override PartName="/ppt/notesSlides/notesSlide36.xml" ContentType="application/vnd.openxmlformats-officedocument.presentationml.notesSlide+xml"/>
  <Override PartName="/ppt/notesSlides/notesSlide37.xml" ContentType="application/vnd.openxmlformats-officedocument.presentationml.notesSlide+xml"/>
  <Override PartName="/ppt/notesSlides/notesSlide39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41.xml" ContentType="application/vnd.openxmlformats-officedocument.presentationml.notesSlide+xml"/>
  <Override PartName="/ppt/notesSlides/notesSlide42.xml" ContentType="application/vnd.openxmlformats-officedocument.presentationml.notesSlide+xml"/>
  <Override PartName="/ppt/notesSlides/notesSlide43.xml" ContentType="application/vnd.openxmlformats-officedocument.presentationml.notesSlide+xml"/>
  <Override PartName="/ppt/notesSlides/notesSlide44.xml" ContentType="application/vnd.openxmlformats-officedocument.presentationml.notesSlide+xml"/>
  <Override PartName="/ppt/notesSlides/notesSlide46.xml" ContentType="application/vnd.openxmlformats-officedocument.presentationml.notesSlide+xml"/>
  <Override PartName="/ppt/notesSlides/notesSlide48.xml" ContentType="application/vnd.openxmlformats-officedocument.presentationml.notesSlide+xml"/>
  <Override PartName="/ppt/notesSlides/notesSlide49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slides/slide26.xml" ContentType="application/vnd.openxmlformats-officedocument.presentationml.slide+xml"/>
  <Override PartName="/ppt/slides/slide27.xml" ContentType="application/vnd.openxmlformats-officedocument.presentationml.slide+xml"/>
  <Override PartName="/ppt/slides/slide28.xml" ContentType="application/vnd.openxmlformats-officedocument.presentationml.slide+xml"/>
  <Override PartName="/ppt/slides/slide29.xml" ContentType="application/vnd.openxmlformats-officedocument.presentationml.slide+xml"/>
  <Override PartName="/ppt/slides/slide3.xml" ContentType="application/vnd.openxmlformats-officedocument.presentationml.slide+xml"/>
  <Override PartName="/ppt/slides/slide30.xml" ContentType="application/vnd.openxmlformats-officedocument.presentationml.slide+xml"/>
  <Override PartName="/ppt/slides/slide31.xml" ContentType="application/vnd.openxmlformats-officedocument.presentationml.slide+xml"/>
  <Override PartName="/ppt/slides/slide32.xml" ContentType="application/vnd.openxmlformats-officedocument.presentationml.slide+xml"/>
  <Override PartName="/ppt/slides/slide33.xml" ContentType="application/vnd.openxmlformats-officedocument.presentationml.slide+xml"/>
  <Override PartName="/ppt/slides/slide34.xml" ContentType="application/vnd.openxmlformats-officedocument.presentationml.slide+xml"/>
  <Override PartName="/ppt/slides/slide35.xml" ContentType="application/vnd.openxmlformats-officedocument.presentationml.slide+xml"/>
  <Override PartName="/ppt/slides/slide36.xml" ContentType="application/vnd.openxmlformats-officedocument.presentationml.slide+xml"/>
  <Override PartName="/ppt/slides/slide37.xml" ContentType="application/vnd.openxmlformats-officedocument.presentationml.slide+xml"/>
  <Override PartName="/ppt/slides/slide38.xml" ContentType="application/vnd.openxmlformats-officedocument.presentationml.slide+xml"/>
  <Override PartName="/ppt/slides/slide39.xml" ContentType="application/vnd.openxmlformats-officedocument.presentationml.slide+xml"/>
  <Override PartName="/ppt/slides/slide4.xml" ContentType="application/vnd.openxmlformats-officedocument.presentationml.slide+xml"/>
  <Override PartName="/ppt/slides/slide40.xml" ContentType="application/vnd.openxmlformats-officedocument.presentationml.slide+xml"/>
  <Override PartName="/ppt/slides/slide41.xml" ContentType="application/vnd.openxmlformats-officedocument.presentationml.slide+xml"/>
  <Override PartName="/ppt/slides/slide42.xml" ContentType="application/vnd.openxmlformats-officedocument.presentationml.slide+xml"/>
  <Override PartName="/ppt/slides/slide43.xml" ContentType="application/vnd.openxmlformats-officedocument.presentationml.slide+xml"/>
  <Override PartName="/ppt/slides/slide44.xml" ContentType="application/vnd.openxmlformats-officedocument.presentationml.slide+xml"/>
  <Override PartName="/ppt/slides/slide45.xml" ContentType="application/vnd.openxmlformats-officedocument.presentationml.slide+xml"/>
  <Override PartName="/ppt/slides/slide46.xml" ContentType="application/vnd.openxmlformats-officedocument.presentationml.slide+xml"/>
  <Override PartName="/ppt/slides/slide47.xml" ContentType="application/vnd.openxmlformats-officedocument.presentationml.slide+xml"/>
  <Override PartName="/ppt/slides/slide48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theme/theme2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core-properties" Target="docProps/core.xml"/><Relationship Id="rId3" Type="http://schemas.openxmlformats.org/officeDocument/2006/relationships/extended-properties" Target="docProps/app.xml"/><Relationship Id="rId4" Type="http://schemas.openxmlformats.org/officeDocument/2006/relationships/custom-properties" Target="docProps/custom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4"/>
  </p:sldMasterIdLst>
  <p:notesMasterIdLst>
    <p:notesMasterId r:id="rId56"/>
  </p:notesMasterIdLst>
  <p:sldIdLst>
    <p:sldId id="256" r:id="rId5"/>
    <p:sldId id="257" r:id="rId6"/>
    <p:sldId id="258" r:id="rId7"/>
    <p:sldId id="259" r:id="rId8"/>
    <p:sldId id="260" r:id="rId9"/>
    <p:sldId id="261" r:id="rId10"/>
    <p:sldId id="262" r:id="rId11"/>
    <p:sldId id="263" r:id="rId12"/>
    <p:sldId id="264" r:id="rId13"/>
    <p:sldId id="302" r:id="rId14"/>
    <p:sldId id="304" r:id="rId15"/>
    <p:sldId id="266" r:id="rId16"/>
    <p:sldId id="269" r:id="rId17"/>
    <p:sldId id="303" r:id="rId18"/>
    <p:sldId id="305" r:id="rId19"/>
    <p:sldId id="267" r:id="rId20"/>
    <p:sldId id="308" r:id="rId21"/>
    <p:sldId id="265" r:id="rId22"/>
    <p:sldId id="268" r:id="rId23"/>
    <p:sldId id="309" r:id="rId62"/>
    <p:sldId id="270" r:id="rId24"/>
    <p:sldId id="272" r:id="rId25"/>
    <p:sldId id="271" r:id="rId26"/>
    <p:sldId id="273" r:id="rId27"/>
    <p:sldId id="275" r:id="rId28"/>
    <p:sldId id="276" r:id="rId29"/>
    <p:sldId id="310" r:id="rId63"/>
    <p:sldId id="278" r:id="rId31"/>
    <p:sldId id="274" r:id="rId33"/>
    <p:sldId id="280" r:id="rId34"/>
    <p:sldId id="282" r:id="rId35"/>
    <p:sldId id="283" r:id="rId36"/>
    <p:sldId id="311" r:id="rId64"/>
    <p:sldId id="285" r:id="rId38"/>
    <p:sldId id="281" r:id="rId40"/>
    <p:sldId id="287" r:id="rId41"/>
    <p:sldId id="289" r:id="rId42"/>
    <p:sldId id="290" r:id="rId43"/>
    <p:sldId id="312" r:id="rId65"/>
    <p:sldId id="292" r:id="rId45"/>
    <p:sldId id="288" r:id="rId47"/>
    <p:sldId id="294" r:id="rId48"/>
    <p:sldId id="296" r:id="rId49"/>
    <p:sldId id="297" r:id="rId50"/>
    <p:sldId id="313" r:id="rId66"/>
    <p:sldId id="299" r:id="rId52"/>
    <p:sldId id="295" r:id="rId54"/>
    <p:sldId id="301" r:id="rId55"/>
  </p:sldIdLst>
  <p:sldSz cx="12192000" cy="6858000"/>
  <p:notesSz cx="6858000" cy="12192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>
  <a:tblStyle styleId="{00A15C55-8517-42AA-B614-E9B94910E393}" styleName="Medium Style 2 - Accent 4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4">
              <a:tint val="20000"/>
            </a:schemeClr>
          </a:solidFill>
        </a:fill>
      </a:tcStyle>
    </a:wholeTbl>
    <a:band1H>
      <a:tcStyle>
        <a:tcBdr/>
        <a:fill>
          <a:solidFill>
            <a:schemeClr val="accent4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4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4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4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4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4"/>
          </a:solidFill>
        </a:fill>
      </a:tcStyle>
    </a:firstRow>
  </a:tblStyle>
  <a:tblStyle styleId="{21E4AEA4-8DFA-4A89-87EB-49C32662AFE0}" styleName="Medium Style 2 - Accent 2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2">
              <a:tint val="20000"/>
            </a:schemeClr>
          </a:solidFill>
        </a:fill>
      </a:tcStyle>
    </a:wholeTbl>
    <a:band1H>
      <a:tcStyle>
        <a:tcBdr/>
        <a:fill>
          <a:solidFill>
            <a:schemeClr val="accent2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2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2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2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2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2"/>
          </a:solidFill>
        </a:fill>
      </a:tcStyle>
    </a:firstRow>
  </a:tblStyle>
  <a:tblStyle styleId="{5C22544A-7EE6-4342-B048-85BDC9FD1C3A}" styleName="Medium Style 2 - Accent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11"/>
    <p:restoredTop sz="93447" autoAdjust="0"/>
  </p:normalViewPr>
  <p:slideViewPr>
    <p:cSldViewPr snapToGrid="0" snapToObjects="1">
      <p:cViewPr>
        <p:scale>
          <a:sx n="65" d="100"/>
          <a:sy n="65" d="100"/>
        </p:scale>
        <p:origin x="2316" y="924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customXml" Target="../customXml/item1.xml"/><Relationship Id="rId2" Type="http://schemas.openxmlformats.org/officeDocument/2006/relationships/customXml" Target="../customXml/item2.xml"/><Relationship Id="rId3" Type="http://schemas.openxmlformats.org/officeDocument/2006/relationships/customXml" Target="../customXml/item3.xml"/><Relationship Id="rId4" Type="http://schemas.openxmlformats.org/officeDocument/2006/relationships/slideMaster" Target="slideMasters/slideMaster1.xml"/><Relationship Id="rId5" Type="http://schemas.openxmlformats.org/officeDocument/2006/relationships/slide" Target="slides/slide1.xml"/><Relationship Id="rId6" Type="http://schemas.openxmlformats.org/officeDocument/2006/relationships/slide" Target="slides/slide2.xml"/><Relationship Id="rId7" Type="http://schemas.openxmlformats.org/officeDocument/2006/relationships/slide" Target="slides/slide3.xml"/><Relationship Id="rId8" Type="http://schemas.openxmlformats.org/officeDocument/2006/relationships/slide" Target="slides/slide4.xml"/><Relationship Id="rId9" Type="http://schemas.openxmlformats.org/officeDocument/2006/relationships/slide" Target="slides/slide5.xml"/><Relationship Id="rId10" Type="http://schemas.openxmlformats.org/officeDocument/2006/relationships/slide" Target="slides/slide6.xml"/><Relationship Id="rId11" Type="http://schemas.openxmlformats.org/officeDocument/2006/relationships/slide" Target="slides/slide7.xml"/><Relationship Id="rId12" Type="http://schemas.openxmlformats.org/officeDocument/2006/relationships/slide" Target="slides/slide8.xml"/><Relationship Id="rId13" Type="http://schemas.openxmlformats.org/officeDocument/2006/relationships/slide" Target="slides/slide9.xml"/><Relationship Id="rId14" Type="http://schemas.openxmlformats.org/officeDocument/2006/relationships/slide" Target="slides/slide10.xml"/><Relationship Id="rId15" Type="http://schemas.openxmlformats.org/officeDocument/2006/relationships/slide" Target="slides/slide11.xml"/><Relationship Id="rId16" Type="http://schemas.openxmlformats.org/officeDocument/2006/relationships/slide" Target="slides/slide12.xml"/><Relationship Id="rId17" Type="http://schemas.openxmlformats.org/officeDocument/2006/relationships/slide" Target="slides/slide13.xml"/><Relationship Id="rId18" Type="http://schemas.openxmlformats.org/officeDocument/2006/relationships/slide" Target="slides/slide14.xml"/><Relationship Id="rId19" Type="http://schemas.openxmlformats.org/officeDocument/2006/relationships/slide" Target="slides/slide15.xml"/><Relationship Id="rId20" Type="http://schemas.openxmlformats.org/officeDocument/2006/relationships/slide" Target="slides/slide16.xml"/><Relationship Id="rId21" Type="http://schemas.openxmlformats.org/officeDocument/2006/relationships/slide" Target="slides/slide17.xml"/><Relationship Id="rId22" Type="http://schemas.openxmlformats.org/officeDocument/2006/relationships/slide" Target="slides/slide18.xml"/><Relationship Id="rId23" Type="http://schemas.openxmlformats.org/officeDocument/2006/relationships/slide" Target="slides/slide19.xml"/><Relationship Id="rId24" Type="http://schemas.openxmlformats.org/officeDocument/2006/relationships/slide" Target="slides/slide21.xml"/><Relationship Id="rId25" Type="http://schemas.openxmlformats.org/officeDocument/2006/relationships/slide" Target="slides/slide22.xml"/><Relationship Id="rId26" Type="http://schemas.openxmlformats.org/officeDocument/2006/relationships/slide" Target="slides/slide23.xml"/><Relationship Id="rId27" Type="http://schemas.openxmlformats.org/officeDocument/2006/relationships/slide" Target="slides/slide24.xml"/><Relationship Id="rId28" Type="http://schemas.openxmlformats.org/officeDocument/2006/relationships/slide" Target="slides/slide25.xml"/><Relationship Id="rId29" Type="http://schemas.openxmlformats.org/officeDocument/2006/relationships/slide" Target="slides/slide26.xml"/><Relationship Id="rId31" Type="http://schemas.openxmlformats.org/officeDocument/2006/relationships/slide" Target="slides/slide28.xml"/><Relationship Id="rId33" Type="http://schemas.openxmlformats.org/officeDocument/2006/relationships/slide" Target="slides/slide29.xml"/><Relationship Id="rId34" Type="http://schemas.openxmlformats.org/officeDocument/2006/relationships/slide" Target="slides/slide30.xml"/><Relationship Id="rId35" Type="http://schemas.openxmlformats.org/officeDocument/2006/relationships/slide" Target="slides/slide31.xml"/><Relationship Id="rId36" Type="http://schemas.openxmlformats.org/officeDocument/2006/relationships/slide" Target="slides/slide32.xml"/><Relationship Id="rId38" Type="http://schemas.openxmlformats.org/officeDocument/2006/relationships/slide" Target="slides/slide34.xml"/><Relationship Id="rId40" Type="http://schemas.openxmlformats.org/officeDocument/2006/relationships/slide" Target="slides/slide35.xml"/><Relationship Id="rId41" Type="http://schemas.openxmlformats.org/officeDocument/2006/relationships/slide" Target="slides/slide36.xml"/><Relationship Id="rId42" Type="http://schemas.openxmlformats.org/officeDocument/2006/relationships/slide" Target="slides/slide37.xml"/><Relationship Id="rId43" Type="http://schemas.openxmlformats.org/officeDocument/2006/relationships/slide" Target="slides/slide38.xml"/><Relationship Id="rId45" Type="http://schemas.openxmlformats.org/officeDocument/2006/relationships/slide" Target="slides/slide40.xml"/><Relationship Id="rId47" Type="http://schemas.openxmlformats.org/officeDocument/2006/relationships/slide" Target="slides/slide41.xml"/><Relationship Id="rId48" Type="http://schemas.openxmlformats.org/officeDocument/2006/relationships/slide" Target="slides/slide42.xml"/><Relationship Id="rId49" Type="http://schemas.openxmlformats.org/officeDocument/2006/relationships/slide" Target="slides/slide43.xml"/><Relationship Id="rId50" Type="http://schemas.openxmlformats.org/officeDocument/2006/relationships/slide" Target="slides/slide44.xml"/><Relationship Id="rId52" Type="http://schemas.openxmlformats.org/officeDocument/2006/relationships/slide" Target="slides/slide46.xml"/><Relationship Id="rId54" Type="http://schemas.openxmlformats.org/officeDocument/2006/relationships/slide" Target="slides/slide47.xml"/><Relationship Id="rId55" Type="http://schemas.openxmlformats.org/officeDocument/2006/relationships/slide" Target="slides/slide48.xml"/><Relationship Id="rId56" Type="http://schemas.openxmlformats.org/officeDocument/2006/relationships/notesMaster" Target="notesMasters/notesMaster1.xml"/><Relationship Id="rId57" Type="http://schemas.openxmlformats.org/officeDocument/2006/relationships/presProps" Target="presProps.xml"/><Relationship Id="rId58" Type="http://schemas.openxmlformats.org/officeDocument/2006/relationships/viewProps" Target="viewProps.xml"/><Relationship Id="rId59" Type="http://schemas.openxmlformats.org/officeDocument/2006/relationships/theme" Target="theme/theme1.xml"/><Relationship Id="rId60" Type="http://schemas.openxmlformats.org/officeDocument/2006/relationships/tableStyles" Target="tableStyles.xml"/><Relationship Id="rId61" Type="http://schemas.microsoft.com/office/2016/11/relationships/changesInfo" Target="changesInfos/changesInfo1.xml"/><Relationship Id="rId62" Type="http://schemas.openxmlformats.org/officeDocument/2006/relationships/slide" Target="slides/slide20.xml"/><Relationship Id="rId63" Type="http://schemas.openxmlformats.org/officeDocument/2006/relationships/slide" Target="slides/slide27.xml"/><Relationship Id="rId64" Type="http://schemas.openxmlformats.org/officeDocument/2006/relationships/slide" Target="slides/slide33.xml"/><Relationship Id="rId65" Type="http://schemas.openxmlformats.org/officeDocument/2006/relationships/slide" Target="slides/slide39.xml"/><Relationship Id="rId66" Type="http://schemas.openxmlformats.org/officeDocument/2006/relationships/slide" Target="slides/slide45.xml"/></Relationships>
</file>

<file path=ppt/changesInfos/changesInfo1.xml><?xml version="1.0" encoding="utf-8"?>
<pc:chgInfo xmlns:a="http://schemas.openxmlformats.org/drawingml/2006/main" xmlns:r="http://schemas.openxmlformats.org/officeDocument/2006/relationships" xmlns:ac="http://schemas.microsoft.com/office/drawing/2013/main/command" xmlns:pc="http://schemas.microsoft.com/office/powerpoint/2013/main/command">
  <pc:docChgLst>
    <pc:chgData name="Ariya Ariyachotima" userId="f22a3ca4-3a6d-4c65-b653-23a8a8731658" providerId="ADAL" clId="{71B5FC91-683F-46EF-ACD9-9D73290113E9}"/>
    <pc:docChg chg="modSld">
      <pc:chgData name="Ariya Ariyachotima" userId="f22a3ca4-3a6d-4c65-b653-23a8a8731658" providerId="ADAL" clId="{71B5FC91-683F-46EF-ACD9-9D73290113E9}" dt="2026-07-24T10:36:18.768" v="8" actId="20577"/>
      <pc:docMkLst>
        <pc:docMk/>
      </pc:docMkLst>
      <pc:sldChg chg="modSp mod">
        <pc:chgData name="Ariya Ariyachotima" userId="f22a3ca4-3a6d-4c65-b653-23a8a8731658" providerId="ADAL" clId="{71B5FC91-683F-46EF-ACD9-9D73290113E9}" dt="2026-07-24T10:12:21.574" v="0" actId="207"/>
        <pc:sldMkLst>
          <pc:docMk/>
          <pc:sldMk cId="0" sldId="267"/>
        </pc:sldMkLst>
        <pc:spChg chg="mod">
          <ac:chgData name="Ariya Ariyachotima" userId="f22a3ca4-3a6d-4c65-b653-23a8a8731658" providerId="ADAL" clId="{71B5FC91-683F-46EF-ACD9-9D73290113E9}" dt="2026-07-24T10:12:21.574" v="0" actId="207"/>
          <ac:spMkLst>
            <pc:docMk/>
            <pc:sldMk cId="0" sldId="267"/>
            <ac:spMk id="9" creationId="{00000000-0000-0000-0000-000000000000}"/>
          </ac:spMkLst>
        </pc:spChg>
      </pc:sldChg>
      <pc:sldChg chg="modSp mod">
        <pc:chgData name="Ariya Ariyachotima" userId="f22a3ca4-3a6d-4c65-b653-23a8a8731658" providerId="ADAL" clId="{71B5FC91-683F-46EF-ACD9-9D73290113E9}" dt="2026-07-24T10:36:16.393" v="6" actId="20577"/>
        <pc:sldMkLst>
          <pc:docMk/>
          <pc:sldMk cId="1283255815" sldId="302"/>
        </pc:sldMkLst>
        <pc:spChg chg="mod">
          <ac:chgData name="Ariya Ariyachotima" userId="f22a3ca4-3a6d-4c65-b653-23a8a8731658" providerId="ADAL" clId="{71B5FC91-683F-46EF-ACD9-9D73290113E9}" dt="2026-07-24T10:36:16.393" v="6" actId="20577"/>
          <ac:spMkLst>
            <pc:docMk/>
            <pc:sldMk cId="1283255815" sldId="302"/>
            <ac:spMk id="2" creationId="{6079A81D-15BF-EB2A-A929-89FBC8E2147F}"/>
          </ac:spMkLst>
        </pc:spChg>
      </pc:sldChg>
      <pc:sldChg chg="modSp mod">
        <pc:chgData name="Ariya Ariyachotima" userId="f22a3ca4-3a6d-4c65-b653-23a8a8731658" providerId="ADAL" clId="{71B5FC91-683F-46EF-ACD9-9D73290113E9}" dt="2026-07-24T10:36:18.768" v="8" actId="20577"/>
        <pc:sldMkLst>
          <pc:docMk/>
          <pc:sldMk cId="493236828" sldId="303"/>
        </pc:sldMkLst>
        <pc:spChg chg="mod">
          <ac:chgData name="Ariya Ariyachotima" userId="f22a3ca4-3a6d-4c65-b653-23a8a8731658" providerId="ADAL" clId="{71B5FC91-683F-46EF-ACD9-9D73290113E9}" dt="2026-07-24T10:36:18.768" v="8" actId="20577"/>
          <ac:spMkLst>
            <pc:docMk/>
            <pc:sldMk cId="493236828" sldId="303"/>
            <ac:spMk id="2" creationId="{073B7DB2-D012-32E1-1B91-CDBEEE14DD8D}"/>
          </ac:spMkLst>
        </pc:spChg>
      </pc:sldChg>
    </pc:docChg>
  </pc:docChgLst>
</pc:chgInfo>
</file>

<file path=ppt/charts/_rels/chart1.xml.rels><?xml version='1.0' encoding='UTF-8' standalone='yes'?>
<Relationships xmlns="http://schemas.openxmlformats.org/package/2006/relationships"><Relationship Id="rId1" Type="http://schemas.openxmlformats.org/officeDocument/2006/relationships/package" Target="../embeddings/Microsoft_Excel_Worksheet.xlsx"/></Relationships>
</file>

<file path=ppt/charts/_rels/chart2.xml.rels><?xml version='1.0' encoding='UTF-8' standalone='yes'?>
<Relationships xmlns="http://schemas.openxmlformats.org/package/2006/relationships"><Relationship Id="rId1" Type="http://schemas.openxmlformats.org/officeDocument/2006/relationships/package" Target="../embeddings/Microsoft_Excel_Worksheet1.xlsx"/></Relationships>
</file>

<file path=ppt/charts/_rels/chart3.xml.rels><?xml version='1.0' encoding='UTF-8' standalone='yes'?>
<Relationships xmlns="http://schemas.openxmlformats.org/package/2006/relationships"><Relationship Id="rId1" Type="http://schemas.openxmlformats.org/officeDocument/2006/relationships/package" Target="../embeddings/Microsoft_Excel_Worksheet2.xlsx"/></Relationships>
</file>

<file path=ppt/charts/_rels/chart4.xml.rels><?xml version='1.0' encoding='UTF-8' standalone='yes'?>
<Relationships xmlns="http://schemas.openxmlformats.org/package/2006/relationships"><Relationship Id="rId1" Type="http://schemas.openxmlformats.org/officeDocument/2006/relationships/package" Target="../embeddings/Microsoft_Excel_Worksheet3.xlsx"/></Relationships>
</file>

<file path=ppt/charts/_rels/chart5.xml.rels><?xml version='1.0' encoding='UTF-8' standalone='yes'?>
<Relationships xmlns="http://schemas.openxmlformats.org/package/2006/relationships"><Relationship Id="rId1" Type="http://schemas.openxmlformats.org/officeDocument/2006/relationships/package" Target="../embeddings/Microsoft_Excel_Worksheet4.xlsx"/></Relationships>
</file>

<file path=ppt/charts/_rels/chart6.xml.rels><?xml version='1.0' encoding='UTF-8' standalone='yes'?>
<Relationships xmlns="http://schemas.openxmlformats.org/package/2006/relationships"><Relationship Id="rId1" Type="http://schemas.openxmlformats.org/officeDocument/2006/relationships/package" Target="../embeddings/Microsoft_Excel_Worksheet5.xlsx"/></Relationships>
</file>

<file path=ppt/charts/_rels/chart7.xml.rels><?xml version='1.0' encoding='UTF-8' standalone='yes'?>
<Relationships xmlns="http://schemas.openxmlformats.org/package/2006/relationships"><Relationship Id="rId1" Type="http://schemas.openxmlformats.org/officeDocument/2006/relationships/package" Target="../embeddings/Microsoft_Excel_Worksheet6.xlsx"/></Relationships>
</file>

<file path=ppt/charts/_rels/chart8.xml.rels><?xml version='1.0' encoding='UTF-8' standalone='yes'?>
<Relationships xmlns="http://schemas.openxmlformats.org/package/2006/relationships"><Relationship Id="rId1" Type="http://schemas.openxmlformats.org/officeDocument/2006/relationships/package" Target="../embeddings/Microsoft_Excel_Worksheet7.xlsx"/></Relationships>
</file>

<file path=ppt/charts/_rels/chart9.xml.rels><?xml version='1.0' encoding='UTF-8' standalone='yes'?>
<Relationships xmlns="http://schemas.openxmlformats.org/package/2006/relationships"><Relationship Id="rId1" Type="http://schemas.openxmlformats.org/officeDocument/2006/relationships/package" Target="../embeddings/Microsoft_Excel_Worksheet8.xlsx"/></Relationships>
</file>

<file path=ppt/charts/_rels/chart10.xml.rels><?xml version='1.0' encoding='UTF-8' standalone='yes'?>
<Relationships xmlns="http://schemas.openxmlformats.org/package/2006/relationships"><Relationship Id="rId1" Type="http://schemas.openxmlformats.org/officeDocument/2006/relationships/package" Target="../embeddings/Microsoft_Excel_Worksheet9.xlsx"/></Relationships>
</file>

<file path=ppt/charts/_rels/chart11.xml.rels><?xml version='1.0' encoding='UTF-8' standalone='yes'?>
<Relationships xmlns="http://schemas.openxmlformats.org/package/2006/relationships"><Relationship Id="rId1" Type="http://schemas.openxmlformats.org/officeDocument/2006/relationships/package" Target="../embeddings/Microsoft_Excel_Worksheet10.xlsx"/></Relationships>
</file>

<file path=ppt/charts/_rels/chart12.xml.rels><?xml version='1.0' encoding='UTF-8' standalone='yes'?>
<Relationships xmlns="http://schemas.openxmlformats.org/package/2006/relationships"><Relationship Id="rId1" Type="http://schemas.openxmlformats.org/officeDocument/2006/relationships/package" Target="../embeddings/Microsoft_Excel_Worksheet11.xlsx"/></Relationships>
</file>

<file path=ppt/charts/_rels/chart13.xml.rels><?xml version='1.0' encoding='UTF-8' standalone='yes'?>
<Relationships xmlns="http://schemas.openxmlformats.org/package/2006/relationships"><Relationship Id="rId1" Type="http://schemas.openxmlformats.org/officeDocument/2006/relationships/package" Target="../embeddings/Microsoft_Excel_Worksheet12.xlsx"/></Relationships>
</file>

<file path=ppt/charts/_rels/chart14.xml.rels><?xml version='1.0' encoding='UTF-8' standalone='yes'?>
<Relationships xmlns="http://schemas.openxmlformats.org/package/2006/relationships"><Relationship Id="rId1" Type="http://schemas.openxmlformats.org/officeDocument/2006/relationships/package" Target="../embeddings/Microsoft_Excel_Worksheet13.xlsx"/></Relationships>
</file>

<file path=ppt/charts/_rels/chart15.xml.rels><?xml version='1.0' encoding='UTF-8' standalone='yes'?>
<Relationships xmlns="http://schemas.openxmlformats.org/package/2006/relationships"><Relationship Id="rId1" Type="http://schemas.openxmlformats.org/officeDocument/2006/relationships/package" Target="../embeddings/Microsoft_Excel_Worksheet14.xlsx"/></Relationships>
</file>

<file path=ppt/charts/_rels/chart16.xml.rels><?xml version='1.0' encoding='UTF-8' standalone='yes'?>
<Relationships xmlns="http://schemas.openxmlformats.org/package/2006/relationships"><Relationship Id="rId1" Type="http://schemas.openxmlformats.org/officeDocument/2006/relationships/package" Target="../embeddings/Microsoft_Excel_Worksheet15.xlsx"/></Relationships>
</file>

<file path=ppt/charts/_rels/chart17.xml.rels><?xml version='1.0' encoding='UTF-8' standalone='yes'?>
<Relationships xmlns="http://schemas.openxmlformats.org/package/2006/relationships"><Relationship Id="rId1" Type="http://schemas.openxmlformats.org/officeDocument/2006/relationships/package" Target="../embeddings/Microsoft_Excel_Worksheet16.xlsx"/></Relationships>
</file>

<file path=ppt/charts/_rels/chart18.xml.rels><?xml version='1.0' encoding='UTF-8' standalone='yes'?>
<Relationships xmlns="http://schemas.openxmlformats.org/package/2006/relationships"><Relationship Id="rId1" Type="http://schemas.openxmlformats.org/officeDocument/2006/relationships/package" Target="../embeddings/Microsoft_Excel_Worksheet17.xlsx"/></Relationships>
</file>

<file path=ppt/charts/_rels/chart19.xml.rels><?xml version='1.0' encoding='UTF-8' standalone='yes'?>
<Relationships xmlns="http://schemas.openxmlformats.org/package/2006/relationships"><Relationship Id="rId1" Type="http://schemas.openxmlformats.org/officeDocument/2006/relationships/package" Target="../embeddings/Microsoft_Excel_Worksheet18.xlsx"/></Relationships>
</file>

<file path=ppt/charts/_rels/chart20.xml.rels><?xml version='1.0' encoding='UTF-8' standalone='yes'?>
<Relationships xmlns="http://schemas.openxmlformats.org/package/2006/relationships"><Relationship Id="rId1" Type="http://schemas.openxmlformats.org/officeDocument/2006/relationships/package" Target="../embeddings/Microsoft_Excel_Worksheet19.xlsx"/></Relationships>
</file>

<file path=ppt/charts/_rels/chart21.xml.rels><?xml version='1.0' encoding='UTF-8' standalone='yes'?>
<Relationships xmlns="http://schemas.openxmlformats.org/package/2006/relationships"><Relationship Id="rId1" Type="http://schemas.openxmlformats.org/officeDocument/2006/relationships/package" Target="../embeddings/Microsoft_Excel_Worksheet20.xlsx"/></Relationships>
</file>

<file path=ppt/charts/_rels/chart22.xml.rels><?xml version='1.0' encoding='UTF-8' standalone='yes'?>
<Relationships xmlns="http://schemas.openxmlformats.org/package/2006/relationships"><Relationship Id="rId1" Type="http://schemas.openxmlformats.org/officeDocument/2006/relationships/package" Target="../embeddings/Microsoft_Excel_Worksheet21.xlsx"/></Relationships>
</file>

<file path=ppt/charts/_rels/chart25.xml.rels><?xml version='1.0' encoding='UTF-8' standalone='yes'?>
<Relationships xmlns="http://schemas.openxmlformats.org/package/2006/relationships"><Relationship Id="rId1" Type="http://schemas.openxmlformats.org/officeDocument/2006/relationships/package" Target="../embeddings/Microsoft_Excel_Worksheet24.xlsx"/></Relationships>
</file>

<file path=ppt/charts/_rels/chart26.xml.rels><?xml version='1.0' encoding='UTF-8' standalone='yes'?>
<Relationships xmlns="http://schemas.openxmlformats.org/package/2006/relationships"><Relationship Id="rId1" Type="http://schemas.openxmlformats.org/officeDocument/2006/relationships/package" Target="../embeddings/Microsoft_Excel_Worksheet25.xlsx"/></Relationships>
</file>

<file path=ppt/charts/_rels/chart27.xml.rels><?xml version='1.0' encoding='UTF-8' standalone='yes'?>
<Relationships xmlns="http://schemas.openxmlformats.org/package/2006/relationships"><Relationship Id="rId1" Type="http://schemas.openxmlformats.org/officeDocument/2006/relationships/package" Target="../embeddings/Microsoft_Excel_Worksheet26.xlsx"/></Relationships>
</file>

<file path=ppt/charts/_rels/chart28.xml.rels><?xml version='1.0' encoding='UTF-8' standalone='yes'?>
<Relationships xmlns="http://schemas.openxmlformats.org/package/2006/relationships"><Relationship Id="rId1" Type="http://schemas.openxmlformats.org/officeDocument/2006/relationships/package" Target="../embeddings/Microsoft_Excel_Worksheet27.xlsx"/></Relationships>
</file>

<file path=ppt/charts/_rels/chart29.xml.rels><?xml version='1.0' encoding='UTF-8' standalone='yes'?>
<Relationships xmlns="http://schemas.openxmlformats.org/package/2006/relationships"><Relationship Id="rId1" Type="http://schemas.openxmlformats.org/officeDocument/2006/relationships/package" Target="../embeddings/Microsoft_Excel_Worksheet28.xlsx"/></Relationships>
</file>

<file path=ppt/charts/_rels/chart32.xml.rels><?xml version='1.0' encoding='UTF-8' standalone='yes'?>
<Relationships xmlns="http://schemas.openxmlformats.org/package/2006/relationships"><Relationship Id="rId1" Type="http://schemas.openxmlformats.org/officeDocument/2006/relationships/package" Target="../embeddings/Microsoft_Excel_Worksheet31.xlsx"/></Relationships>
</file>

<file path=ppt/charts/_rels/chart33.xml.rels><?xml version='1.0' encoding='UTF-8' standalone='yes'?>
<Relationships xmlns="http://schemas.openxmlformats.org/package/2006/relationships"><Relationship Id="rId1" Type="http://schemas.openxmlformats.org/officeDocument/2006/relationships/package" Target="../embeddings/Microsoft_Excel_Worksheet32.xlsx"/></Relationships>
</file>

<file path=ppt/charts/_rels/chart34.xml.rels><?xml version='1.0' encoding='UTF-8' standalone='yes'?>
<Relationships xmlns="http://schemas.openxmlformats.org/package/2006/relationships"><Relationship Id="rId1" Type="http://schemas.openxmlformats.org/officeDocument/2006/relationships/package" Target="../embeddings/Microsoft_Excel_Worksheet33.xlsx"/></Relationships>
</file>

<file path=ppt/charts/_rels/chart35.xml.rels><?xml version='1.0' encoding='UTF-8' standalone='yes'?>
<Relationships xmlns="http://schemas.openxmlformats.org/package/2006/relationships"><Relationship Id="rId1" Type="http://schemas.openxmlformats.org/officeDocument/2006/relationships/package" Target="../embeddings/Microsoft_Excel_Worksheet34.xlsx"/></Relationships>
</file>

<file path=ppt/charts/_rels/chart36.xml.rels><?xml version='1.0' encoding='UTF-8' standalone='yes'?>
<Relationships xmlns="http://schemas.openxmlformats.org/package/2006/relationships"><Relationship Id="rId1" Type="http://schemas.openxmlformats.org/officeDocument/2006/relationships/package" Target="../embeddings/Microsoft_Excel_Worksheet35.xlsx"/></Relationships>
</file>

<file path=ppt/charts/_rels/chart39.xml.rels><?xml version='1.0' encoding='UTF-8' standalone='yes'?>
<Relationships xmlns="http://schemas.openxmlformats.org/package/2006/relationships"><Relationship Id="rId1" Type="http://schemas.openxmlformats.org/officeDocument/2006/relationships/package" Target="../embeddings/Microsoft_Excel_Worksheet38.xlsx"/></Relationships>
</file>

<file path=ppt/charts/_rels/chart40.xml.rels><?xml version='1.0' encoding='UTF-8' standalone='yes'?>
<Relationships xmlns="http://schemas.openxmlformats.org/package/2006/relationships"><Relationship Id="rId1" Type="http://schemas.openxmlformats.org/officeDocument/2006/relationships/package" Target="../embeddings/Microsoft_Excel_Worksheet39.xlsx"/></Relationships>
</file>

<file path=ppt/charts/_rels/chart41.xml.rels><?xml version='1.0' encoding='UTF-8' standalone='yes'?>
<Relationships xmlns="http://schemas.openxmlformats.org/package/2006/relationships"><Relationship Id="rId1" Type="http://schemas.openxmlformats.org/officeDocument/2006/relationships/package" Target="../embeddings/Microsoft_Excel_Worksheet40.xlsx"/></Relationships>
</file>

<file path=ppt/charts/_rels/chart42.xml.rels><?xml version='1.0' encoding='UTF-8' standalone='yes'?>
<Relationships xmlns="http://schemas.openxmlformats.org/package/2006/relationships"><Relationship Id="rId1" Type="http://schemas.openxmlformats.org/officeDocument/2006/relationships/package" Target="../embeddings/Microsoft_Excel_Worksheet41.xlsx"/></Relationships>
</file>

<file path=ppt/charts/_rels/chart43.xml.rels><?xml version='1.0' encoding='UTF-8' standalone='yes'?>
<Relationships xmlns="http://schemas.openxmlformats.org/package/2006/relationships"><Relationship Id="rId1" Type="http://schemas.openxmlformats.org/officeDocument/2006/relationships/package" Target="../embeddings/Microsoft_Excel_Worksheet42.xlsx"/></Relationships>
</file>

<file path=ppt/charts/_rels/chart46.xml.rels><?xml version='1.0' encoding='UTF-8' standalone='yes'?>
<Relationships xmlns="http://schemas.openxmlformats.org/package/2006/relationships"><Relationship Id="rId1" Type="http://schemas.openxmlformats.org/officeDocument/2006/relationships/package" Target="../embeddings/Microsoft_Excel_Worksheet45.xlsx"/></Relationships>
</file>

<file path=ppt/charts/chart1.xml><?xml version="1.0" encoding="utf-8"?>
<c:chartSpace xmlns:c="http://schemas.openxmlformats.org/drawingml/2006/chart" xmlns:a="http://schemas.openxmlformats.org/drawingml/2006/main" xmlns:r="http://schemas.openxmlformats.org/officeDocument/2006/relationships" xmlns:c16r2="http://schemas.microsoft.com/office/drawing/2015/06/chart">
  <c:date1904 val="0"/>
  <c:lang val="en-US"/>
  <c:roundedCorners val="1"/>
  <c:style val="2"/>
  <c:chart>
    <c:autoTitleDeleted val="1"/>
    <c:plotArea>
      <c:layout/>
      <c:barChart>
        <c:barDir val="col"/>
        <c:grouping val="clustered"/>
        <c:varyColors val="0"/>
        <c:ser>
          <c:idx val="0"/>
          <c:order val="0"/>
          <c:tx>
            <c:strRef>
              <c:f>Sheet1!$B$1</c:f>
              <c:strCache>
                <c:ptCount val="1"/>
                <c:pt idx="0">
                  <c:v>2024</c:v>
                </c:pt>
              </c:strCache>
            </c:strRef>
          </c:tx>
          <c:spPr>
            <a:solidFill>
              <a:srgbClr val="C9D6EE"/>
            </a:solidFill>
            <a:effectLst/>
          </c:spPr>
          <c:invertIfNegative val="0"/>
          <c:cat>
            <c:strRef>
              <c:f>Sheet1!$A$2:$A$13</c:f>
              <c:strCache>
                <c:ptCount val="12"/>
                <c:pt idx="0">
                  <c:v>Jan</c:v>
                </c:pt>
                <c:pt idx="1">
                  <c:v>Feb</c:v>
                </c:pt>
                <c:pt idx="2">
                  <c:v>Mar</c:v>
                </c:pt>
                <c:pt idx="3">
                  <c:v>Apr</c:v>
                </c:pt>
                <c:pt idx="4">
                  <c:v>May</c:v>
                </c:pt>
                <c:pt idx="5">
                  <c:v>Jun</c:v>
                </c:pt>
                <c:pt idx="6">
                  <c:v>Jul</c:v>
                </c:pt>
                <c:pt idx="7">
                  <c:v>Aug</c:v>
                </c:pt>
                <c:pt idx="8">
                  <c:v>Sep</c:v>
                </c:pt>
                <c:pt idx="9">
                  <c:v>Oct</c:v>
                </c:pt>
                <c:pt idx="10">
                  <c:v>Nov</c:v>
                </c:pt>
                <c:pt idx="11">
                  <c:v>Dec</c:v>
                </c:pt>
              </c:strCache>
            </c:strRef>
          </c:cat>
          <c:val>
            <c:numRef>
              <c:f>Sheet1!$B$2:$B$13</c:f>
              <c:numCache>
                <c:formatCode>General</c:formatCode>
                <c:ptCount val="12"/>
                <c:pt idx="0">
                  <c:v>3035296</c:v>
                </c:pt>
                <c:pt idx="1">
                  <c:v>3352302</c:v>
                </c:pt>
                <c:pt idx="2">
                  <c:v>2982721</c:v>
                </c:pt>
                <c:pt idx="3">
                  <c:v>2757128</c:v>
                </c:pt>
                <c:pt idx="4">
                  <c:v>2633464</c:v>
                </c:pt>
                <c:pt idx="5">
                  <c:v>2740372</c:v>
                </c:pt>
                <c:pt idx="6">
                  <c:v>3103420</c:v>
                </c:pt>
                <c:pt idx="7">
                  <c:v>2963147</c:v>
                </c:pt>
                <c:pt idx="8">
                  <c:v>2521005</c:v>
                </c:pt>
                <c:pt idx="9">
                  <c:v>2679180</c:v>
                </c:pt>
                <c:pt idx="10">
                  <c:v>3150237</c:v>
                </c:pt>
                <c:pt idx="11">
                  <c:v>3627442</c:v>
                </c:pt>
              </c:numCache>
            </c:numRef>
          </c:val>
          <c:extLst>
            <c:ext xmlns:c16="http://schemas.microsoft.com/office/drawing/2014/chart" uri="{C3380CC4-5D6E-409C-BE32-E72D297353CC}">
              <c16:uniqueId val="{00000000-354B-44A5-8F07-E307CA03968B}"/>
            </c:ext>
          </c:extLst>
        </c:ser>
        <c:ser>
          <c:idx val="1"/>
          <c:order val="1"/>
          <c:tx>
            <c:strRef>
              <c:f>Sheet1!$C$1</c:f>
              <c:strCache>
                <c:ptCount val="1"/>
                <c:pt idx="0">
                  <c:v>2025</c:v>
                </c:pt>
              </c:strCache>
            </c:strRef>
          </c:tx>
          <c:spPr>
            <a:solidFill>
              <a:srgbClr val="7FA4DC"/>
            </a:solidFill>
            <a:effectLst/>
          </c:spPr>
          <c:invertIfNegative val="0"/>
          <c:cat>
            <c:strRef>
              <c:f>Sheet1!$A$2:$A$13</c:f>
              <c:strCache>
                <c:ptCount val="12"/>
                <c:pt idx="0">
                  <c:v>Jan</c:v>
                </c:pt>
                <c:pt idx="1">
                  <c:v>Feb</c:v>
                </c:pt>
                <c:pt idx="2">
                  <c:v>Mar</c:v>
                </c:pt>
                <c:pt idx="3">
                  <c:v>Apr</c:v>
                </c:pt>
                <c:pt idx="4">
                  <c:v>May</c:v>
                </c:pt>
                <c:pt idx="5">
                  <c:v>Jun</c:v>
                </c:pt>
                <c:pt idx="6">
                  <c:v>Jul</c:v>
                </c:pt>
                <c:pt idx="7">
                  <c:v>Aug</c:v>
                </c:pt>
                <c:pt idx="8">
                  <c:v>Sep</c:v>
                </c:pt>
                <c:pt idx="9">
                  <c:v>Oct</c:v>
                </c:pt>
                <c:pt idx="10">
                  <c:v>Nov</c:v>
                </c:pt>
                <c:pt idx="11">
                  <c:v>Dec</c:v>
                </c:pt>
              </c:strCache>
            </c:strRef>
          </c:cat>
          <c:val>
            <c:numRef>
              <c:f>Sheet1!$C$2:$C$13</c:f>
              <c:numCache>
                <c:formatCode>General</c:formatCode>
                <c:ptCount val="12"/>
                <c:pt idx="0">
                  <c:v>3709102</c:v>
                </c:pt>
                <c:pt idx="1">
                  <c:v>3119445</c:v>
                </c:pt>
                <c:pt idx="2">
                  <c:v>2720457</c:v>
                </c:pt>
                <c:pt idx="3">
                  <c:v>2547116</c:v>
                </c:pt>
                <c:pt idx="4">
                  <c:v>2266574</c:v>
                </c:pt>
                <c:pt idx="5">
                  <c:v>2322775</c:v>
                </c:pt>
                <c:pt idx="6">
                  <c:v>2610369</c:v>
                </c:pt>
                <c:pt idx="7">
                  <c:v>2583638</c:v>
                </c:pt>
                <c:pt idx="8">
                  <c:v>2235852</c:v>
                </c:pt>
                <c:pt idx="9">
                  <c:v>2573743</c:v>
                </c:pt>
                <c:pt idx="10">
                  <c:v>2914810</c:v>
                </c:pt>
                <c:pt idx="11">
                  <c:v>3370440</c:v>
                </c:pt>
              </c:numCache>
            </c:numRef>
          </c:val>
          <c:extLst>
            <c:ext xmlns:c16="http://schemas.microsoft.com/office/drawing/2014/chart" uri="{C3380CC4-5D6E-409C-BE32-E72D297353CC}">
              <c16:uniqueId val="{00000001-354B-44A5-8F07-E307CA03968B}"/>
            </c:ext>
          </c:extLst>
        </c:ser>
        <c:ser>
          <c:idx val="2"/>
          <c:order val="2"/>
          <c:tx>
            <c:strRef>
              <c:f>Sheet1!$D$1</c:f>
              <c:strCache>
                <c:ptCount val="1"/>
                <c:pt idx="0">
                  <c:v>2026</c:v>
                </c:pt>
              </c:strCache>
            </c:strRef>
          </c:tx>
          <c:spPr>
            <a:solidFill>
              <a:srgbClr val="1E2761"/>
            </a:solidFill>
            <a:effectLst/>
          </c:spPr>
          <c:invertIfNegative val="0"/>
          <c:cat>
            <c:strRef>
              <c:f>Sheet1!$A$2:$A$13</c:f>
              <c:strCache>
                <c:ptCount val="12"/>
                <c:pt idx="0">
                  <c:v>Jan</c:v>
                </c:pt>
                <c:pt idx="1">
                  <c:v>Feb</c:v>
                </c:pt>
                <c:pt idx="2">
                  <c:v>Mar</c:v>
                </c:pt>
                <c:pt idx="3">
                  <c:v>Apr</c:v>
                </c:pt>
                <c:pt idx="4">
                  <c:v>May</c:v>
                </c:pt>
                <c:pt idx="5">
                  <c:v>Jun</c:v>
                </c:pt>
                <c:pt idx="6">
                  <c:v>Jul</c:v>
                </c:pt>
                <c:pt idx="7">
                  <c:v>Aug</c:v>
                </c:pt>
                <c:pt idx="8">
                  <c:v>Sep</c:v>
                </c:pt>
                <c:pt idx="9">
                  <c:v>Oct</c:v>
                </c:pt>
                <c:pt idx="10">
                  <c:v>Nov</c:v>
                </c:pt>
                <c:pt idx="11">
                  <c:v>Dec</c:v>
                </c:pt>
              </c:strCache>
            </c:strRef>
          </c:cat>
          <c:val>
            <c:numRef>
              <c:f>Sheet1!$D$2:$D$13</c:f>
              <c:numCache>
                <c:formatCode>General</c:formatCode>
                <c:ptCount val="12"/>
                <c:pt idx="0">
                  <c:v>3277908</c:v>
                </c:pt>
                <c:pt idx="1">
                  <c:v>3263802</c:v>
                </c:pt>
                <c:pt idx="2">
                  <c:v>2775199</c:v>
                </c:pt>
                <c:pt idx="3">
                  <c:v>2368895</c:v>
                </c:pt>
                <c:pt idx="4">
                  <c:v>2346845</c:v>
                </c:pt>
                <c:pt idx="5">
                  <c:v>1841551</c:v>
                </c:pt>
              </c:numCache>
            </c:numRef>
          </c:val>
          <c:extLst>
            <c:ext xmlns:c16="http://schemas.microsoft.com/office/drawing/2014/chart" uri="{C3380CC4-5D6E-409C-BE32-E72D297353CC}">
              <c16:uniqueId val="{00000002-354B-44A5-8F07-E307CA03968B}"/>
            </c:ext>
          </c:extLst>
        </c:ser>
        <c:dLbls>
          <c:showLegendKey val="0"/>
          <c:showVal val="0"/>
          <c:showCatName val="0"/>
          <c:showSerName val="0"/>
          <c:showPercent val="0"/>
          <c:showBubbleSize val="0"/>
        </c:dLbls>
        <c:gapWidth val="60"/>
        <c:axId val="2094734554"/>
        <c:axId val="2094734552"/>
      </c:barChart>
      <c:catAx>
        <c:axId val="2094734554"/>
        <c:scaling>
          <c:orientation val="minMax"/>
        </c:scaling>
        <c:delete val="0"/>
        <c:axPos val="b"/>
        <c:numFmt formatCode="General" sourceLinked="1"/>
        <c:majorTickMark val="out"/>
        <c:minorTickMark val="none"/>
        <c:tickLblPos val="low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1000" b="0" i="0" u="none" strike="noStrike">
                <a:solidFill>
                  <a:srgbClr val="6B7280"/>
                </a:solidFill>
                <a:latin typeface="Calibri"/>
              </a:defRPr>
            </a:pPr>
            <a:endParaRPr lang="en-US"/>
          </a:p>
        </c:txPr>
        <c:crossAx val="2094734552"/>
        <c:crosses val="autoZero"/>
        <c:auto val="1"/>
        <c:lblAlgn val="ctr"/>
        <c:lblOffset val="100"/>
        <c:noMultiLvlLbl val="1"/>
      </c:catAx>
      <c:valAx>
        <c:axId val="2094734552"/>
        <c:scaling>
          <c:orientation val="minMax"/>
        </c:scaling>
        <c:delete val="0"/>
        <c:axPos val="l"/>
        <c:majorGridlines>
          <c:spPr>
            <a:ln w="6350" cap="flat">
              <a:solidFill>
                <a:srgbClr val="E5E8EF"/>
              </a:solidFill>
              <a:prstDash val="solid"/>
              <a:round/>
            </a:ln>
          </c:spPr>
        </c:majorGridlines>
        <c:numFmt formatCode="General" sourceLinked="0"/>
        <c:majorTickMark val="out"/>
        <c:minorTickMark val="none"/>
        <c:tickLblPos val="nextTo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950" b="0" i="0" u="none" strike="noStrike">
                <a:solidFill>
                  <a:srgbClr val="6B7280"/>
                </a:solidFill>
                <a:latin typeface="Calibri"/>
              </a:defRPr>
            </a:pPr>
            <a:endParaRPr lang="en-US"/>
          </a:p>
        </c:txPr>
        <c:crossAx val="2094734554"/>
        <c:crosses val="autoZero"/>
        <c:crossBetween val="between"/>
      </c:valAx>
      <c:spPr>
        <a:noFill/>
        <a:ln>
          <a:noFill/>
        </a:ln>
        <a:effectLst/>
      </c:spPr>
    </c:plotArea>
    <c:legend>
      <c:legendPos val="b"/>
      <c:overlay val="0"/>
      <c:txPr>
        <a:bodyPr/>
        <a:lstStyle/>
        <a:p>
          <a:pPr>
            <a:defRPr sz="1000">
              <a:solidFill>
                <a:srgbClr val="26292E"/>
              </a:solidFill>
              <a:latin typeface="Calibri"/>
              <a:cs typeface="Calibri"/>
            </a:defRPr>
          </a:pPr>
          <a:endParaRPr lang="en-US"/>
        </a:p>
      </c:txPr>
    </c:legend>
    <c:plotVisOnly val="1"/>
    <c:dispBlanksAs val="span"/>
    <c:showDLblsOverMax val="1"/>
  </c:chart>
  <c:spPr>
    <a:noFill/>
    <a:ln>
      <a:noFill/>
    </a:ln>
    <a:effectLst/>
  </c:spPr>
  <c:externalData r:id="rId1">
    <c:autoUpdate val="0"/>
  </c:externalData>
</c:chartSpace>
</file>

<file path=ppt/charts/chart2.xml><?xml version="1.0" encoding="utf-8"?>
<c:chartSpace xmlns:c="http://schemas.openxmlformats.org/drawingml/2006/chart" xmlns:a="http://schemas.openxmlformats.org/drawingml/2006/main" xmlns:r="http://schemas.openxmlformats.org/officeDocument/2006/relationships" xmlns:c16r2="http://schemas.microsoft.com/office/drawing/2015/06/chart">
  <c:date1904 val="0"/>
  <c:lang val="en-US"/>
  <c:roundedCorners val="1"/>
  <c:style val="2"/>
  <c:chart>
    <c:autoTitleDeleted val="1"/>
    <c:plotArea>
      <c:layout/>
      <c:barChart>
        <c:barDir val="col"/>
        <c:grouping val="clustered"/>
        <c:varyColors val="0"/>
        <c:ser>
          <c:idx val="0"/>
          <c:order val="0"/>
          <c:tx>
            <c:strRef>
              <c:f>Sheet1!$B$1</c:f>
              <c:strCache>
                <c:ptCount val="1"/>
                <c:pt idx="0">
                  <c:v>2019</c:v>
                </c:pt>
              </c:strCache>
            </c:strRef>
          </c:tx>
          <c:spPr>
            <a:solidFill>
              <a:srgbClr val="AEB6C2"/>
            </a:solidFill>
            <a:effectLst/>
          </c:spPr>
          <c:invertIfNegative val="0"/>
          <c:cat>
            <c:strRef>
              <c:f>Sheet1!$A$2:$A$7</c:f>
              <c:strCache>
                <c:ptCount val="6"/>
                <c:pt idx="0">
                  <c:v>Jan</c:v>
                </c:pt>
                <c:pt idx="1">
                  <c:v>Feb</c:v>
                </c:pt>
                <c:pt idx="2">
                  <c:v>Mar</c:v>
                </c:pt>
                <c:pt idx="3">
                  <c:v>Apr</c:v>
                </c:pt>
                <c:pt idx="4">
                  <c:v>May</c:v>
                </c:pt>
                <c:pt idx="5">
                  <c:v>Jun</c:v>
                </c:pt>
              </c:strCache>
            </c:strRef>
          </c:cat>
          <c:val>
            <c:numRef>
              <c:f>Sheet1!$B$2:$B$7</c:f>
              <c:numCache>
                <c:formatCode>General</c:formatCode>
                <c:ptCount val="6"/>
                <c:pt idx="0">
                  <c:v>1069787</c:v>
                </c:pt>
                <c:pt idx="1">
                  <c:v>1064806</c:v>
                </c:pt>
                <c:pt idx="2">
                  <c:v>985232</c:v>
                </c:pt>
                <c:pt idx="3">
                  <c:v>898994</c:v>
                </c:pt>
                <c:pt idx="4">
                  <c:v>794913</c:v>
                </c:pt>
                <c:pt idx="5">
                  <c:v>894105</c:v>
                </c:pt>
              </c:numCache>
            </c:numRef>
          </c:val>
          <c:extLst>
            <c:ext xmlns:c16="http://schemas.microsoft.com/office/drawing/2014/chart" uri="{C3380CC4-5D6E-409C-BE32-E72D297353CC}">
              <c16:uniqueId val="{00000000-98AA-439B-923F-F7993838E3F5}"/>
            </c:ext>
          </c:extLst>
        </c:ser>
        <c:ser>
          <c:idx val="1"/>
          <c:order val="1"/>
          <c:tx>
            <c:strRef>
              <c:f>Sheet1!$C$1</c:f>
              <c:strCache>
                <c:ptCount val="1"/>
                <c:pt idx="0">
                  <c:v>2024</c:v>
                </c:pt>
              </c:strCache>
            </c:strRef>
          </c:tx>
          <c:spPr>
            <a:solidFill>
              <a:srgbClr val="C9D6EE"/>
            </a:solidFill>
            <a:effectLst/>
          </c:spPr>
          <c:invertIfNegative val="0"/>
          <c:cat>
            <c:strRef>
              <c:f>Sheet1!$A$2:$A$7</c:f>
              <c:strCache>
                <c:ptCount val="6"/>
                <c:pt idx="0">
                  <c:v>Jan</c:v>
                </c:pt>
                <c:pt idx="1">
                  <c:v>Feb</c:v>
                </c:pt>
                <c:pt idx="2">
                  <c:v>Mar</c:v>
                </c:pt>
                <c:pt idx="3">
                  <c:v>Apr</c:v>
                </c:pt>
                <c:pt idx="4">
                  <c:v>May</c:v>
                </c:pt>
                <c:pt idx="5">
                  <c:v>Jun</c:v>
                </c:pt>
              </c:strCache>
            </c:strRef>
          </c:cat>
          <c:val>
            <c:numRef>
              <c:f>Sheet1!$C$2:$C$7</c:f>
              <c:numCache>
                <c:formatCode>General</c:formatCode>
                <c:ptCount val="6"/>
                <c:pt idx="0">
                  <c:v>508563</c:v>
                </c:pt>
                <c:pt idx="1">
                  <c:v>674558</c:v>
                </c:pt>
                <c:pt idx="2">
                  <c:v>573216</c:v>
                </c:pt>
                <c:pt idx="3">
                  <c:v>595572</c:v>
                </c:pt>
                <c:pt idx="4">
                  <c:v>559461</c:v>
                </c:pt>
                <c:pt idx="5">
                  <c:v>528112</c:v>
                </c:pt>
              </c:numCache>
            </c:numRef>
          </c:val>
          <c:extLst>
            <c:ext xmlns:c16="http://schemas.microsoft.com/office/drawing/2014/chart" uri="{C3380CC4-5D6E-409C-BE32-E72D297353CC}">
              <c16:uniqueId val="{00000001-98AA-439B-923F-F7993838E3F5}"/>
            </c:ext>
          </c:extLst>
        </c:ser>
        <c:ser>
          <c:idx val="2"/>
          <c:order val="2"/>
          <c:tx>
            <c:strRef>
              <c:f>Sheet1!$D$1</c:f>
              <c:strCache>
                <c:ptCount val="1"/>
                <c:pt idx="0">
                  <c:v>2025</c:v>
                </c:pt>
              </c:strCache>
            </c:strRef>
          </c:tx>
          <c:spPr>
            <a:solidFill>
              <a:srgbClr val="7FA4DC"/>
            </a:solidFill>
            <a:effectLst/>
          </c:spPr>
          <c:invertIfNegative val="0"/>
          <c:cat>
            <c:strRef>
              <c:f>Sheet1!$A$2:$A$7</c:f>
              <c:strCache>
                <c:ptCount val="6"/>
                <c:pt idx="0">
                  <c:v>Jan</c:v>
                </c:pt>
                <c:pt idx="1">
                  <c:v>Feb</c:v>
                </c:pt>
                <c:pt idx="2">
                  <c:v>Mar</c:v>
                </c:pt>
                <c:pt idx="3">
                  <c:v>Apr</c:v>
                </c:pt>
                <c:pt idx="4">
                  <c:v>May</c:v>
                </c:pt>
                <c:pt idx="5">
                  <c:v>Jun</c:v>
                </c:pt>
              </c:strCache>
            </c:strRef>
          </c:cat>
          <c:val>
            <c:numRef>
              <c:f>Sheet1!$D$2:$D$7</c:f>
              <c:numCache>
                <c:formatCode>General</c:formatCode>
                <c:ptCount val="6"/>
                <c:pt idx="0">
                  <c:v>662779</c:v>
                </c:pt>
                <c:pt idx="1">
                  <c:v>371542</c:v>
                </c:pt>
                <c:pt idx="2">
                  <c:v>297113</c:v>
                </c:pt>
                <c:pt idx="3">
                  <c:v>317213</c:v>
                </c:pt>
                <c:pt idx="4">
                  <c:v>310292</c:v>
                </c:pt>
                <c:pt idx="5">
                  <c:v>306617</c:v>
                </c:pt>
              </c:numCache>
            </c:numRef>
          </c:val>
          <c:extLst>
            <c:ext xmlns:c16="http://schemas.microsoft.com/office/drawing/2014/chart" uri="{C3380CC4-5D6E-409C-BE32-E72D297353CC}">
              <c16:uniqueId val="{00000002-98AA-439B-923F-F7993838E3F5}"/>
            </c:ext>
          </c:extLst>
        </c:ser>
        <c:ser>
          <c:idx val="3"/>
          <c:order val="3"/>
          <c:tx>
            <c:strRef>
              <c:f>Sheet1!$E$1</c:f>
              <c:strCache>
                <c:ptCount val="1"/>
                <c:pt idx="0">
                  <c:v>2026</c:v>
                </c:pt>
              </c:strCache>
            </c:strRef>
          </c:tx>
          <c:spPr>
            <a:solidFill>
              <a:srgbClr val="1E2761"/>
            </a:solidFill>
            <a:effectLst/>
          </c:spPr>
          <c:invertIfNegative val="0"/>
          <c:cat>
            <c:strRef>
              <c:f>Sheet1!$A$2:$A$7</c:f>
              <c:strCache>
                <c:ptCount val="6"/>
                <c:pt idx="0">
                  <c:v>Jan</c:v>
                </c:pt>
                <c:pt idx="1">
                  <c:v>Feb</c:v>
                </c:pt>
                <c:pt idx="2">
                  <c:v>Mar</c:v>
                </c:pt>
                <c:pt idx="3">
                  <c:v>Apr</c:v>
                </c:pt>
                <c:pt idx="4">
                  <c:v>May</c:v>
                </c:pt>
                <c:pt idx="5">
                  <c:v>Jun</c:v>
                </c:pt>
              </c:strCache>
            </c:strRef>
          </c:cat>
          <c:val>
            <c:numRef>
              <c:f>Sheet1!$E$2:$E$7</c:f>
              <c:numCache>
                <c:formatCode>General</c:formatCode>
                <c:ptCount val="6"/>
                <c:pt idx="0">
                  <c:v>400321</c:v>
                </c:pt>
                <c:pt idx="1">
                  <c:v>677768</c:v>
                </c:pt>
                <c:pt idx="2">
                  <c:v>410624</c:v>
                </c:pt>
                <c:pt idx="3">
                  <c:v>418291</c:v>
                </c:pt>
                <c:pt idx="4">
                  <c:v>411308</c:v>
                </c:pt>
                <c:pt idx="5">
                  <c:v>283297</c:v>
                </c:pt>
              </c:numCache>
            </c:numRef>
          </c:val>
          <c:extLst>
            <c:ext xmlns:c16="http://schemas.microsoft.com/office/drawing/2014/chart" uri="{C3380CC4-5D6E-409C-BE32-E72D297353CC}">
              <c16:uniqueId val="{00000003-98AA-439B-923F-F7993838E3F5}"/>
            </c:ext>
          </c:extLst>
        </c:ser>
        <c:dLbls>
          <c:showLegendKey val="0"/>
          <c:showVal val="0"/>
          <c:showCatName val="0"/>
          <c:showSerName val="0"/>
          <c:showPercent val="0"/>
          <c:showBubbleSize val="0"/>
        </c:dLbls>
        <c:gapWidth val="60"/>
        <c:axId val="2094734554"/>
        <c:axId val="2094734552"/>
      </c:barChart>
      <c:catAx>
        <c:axId val="2094734554"/>
        <c:scaling>
          <c:orientation val="minMax"/>
        </c:scaling>
        <c:delete val="0"/>
        <c:axPos val="b"/>
        <c:numFmt formatCode="General" sourceLinked="1"/>
        <c:majorTickMark val="out"/>
        <c:minorTickMark val="none"/>
        <c:tickLblPos val="low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1000" b="0" i="0" u="none" strike="noStrike">
                <a:solidFill>
                  <a:srgbClr val="6B7280"/>
                </a:solidFill>
                <a:latin typeface="Calibri"/>
              </a:defRPr>
            </a:pPr>
            <a:endParaRPr lang="en-US"/>
          </a:p>
        </c:txPr>
        <c:crossAx val="2094734552"/>
        <c:crosses val="autoZero"/>
        <c:auto val="1"/>
        <c:lblAlgn val="ctr"/>
        <c:lblOffset val="100"/>
        <c:noMultiLvlLbl val="1"/>
      </c:catAx>
      <c:valAx>
        <c:axId val="2094734552"/>
        <c:scaling>
          <c:orientation val="minMax"/>
        </c:scaling>
        <c:delete val="0"/>
        <c:axPos val="l"/>
        <c:majorGridlines>
          <c:spPr>
            <a:ln w="6350" cap="flat">
              <a:solidFill>
                <a:srgbClr val="E5E8EF"/>
              </a:solidFill>
              <a:prstDash val="solid"/>
              <a:round/>
            </a:ln>
          </c:spPr>
        </c:majorGridlines>
        <c:numFmt formatCode="General" sourceLinked="0"/>
        <c:majorTickMark val="out"/>
        <c:minorTickMark val="none"/>
        <c:tickLblPos val="nextTo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950" b="0" i="0" u="none" strike="noStrike">
                <a:solidFill>
                  <a:srgbClr val="6B7280"/>
                </a:solidFill>
                <a:latin typeface="Calibri"/>
              </a:defRPr>
            </a:pPr>
            <a:endParaRPr lang="en-US"/>
          </a:p>
        </c:txPr>
        <c:crossAx val="2094734554"/>
        <c:crosses val="autoZero"/>
        <c:crossBetween val="between"/>
      </c:valAx>
      <c:spPr>
        <a:noFill/>
        <a:ln>
          <a:noFill/>
        </a:ln>
        <a:effectLst/>
      </c:spPr>
    </c:plotArea>
    <c:legend>
      <c:legendPos val="b"/>
      <c:overlay val="0"/>
      <c:txPr>
        <a:bodyPr/>
        <a:lstStyle/>
        <a:p>
          <a:pPr>
            <a:defRPr sz="1000">
              <a:solidFill>
                <a:srgbClr val="26292E"/>
              </a:solidFill>
              <a:latin typeface="Calibri"/>
              <a:cs typeface="Calibri"/>
            </a:defRPr>
          </a:pPr>
          <a:endParaRPr lang="en-US"/>
        </a:p>
      </c:txPr>
    </c:legend>
    <c:plotVisOnly val="1"/>
    <c:dispBlanksAs val="span"/>
    <c:showDLblsOverMax val="1"/>
  </c:chart>
  <c:spPr>
    <a:noFill/>
    <a:ln>
      <a:noFill/>
    </a:ln>
    <a:effectLst/>
  </c:spPr>
  <c:externalData r:id="rId1">
    <c:autoUpdate val="0"/>
  </c:externalData>
</c:chartSpace>
</file>

<file path=ppt/charts/chart3.xml><?xml version="1.0" encoding="utf-8"?>
<c:chartSpace xmlns:c="http://schemas.openxmlformats.org/drawingml/2006/chart" xmlns:a="http://schemas.openxmlformats.org/drawingml/2006/main" xmlns:r="http://schemas.openxmlformats.org/officeDocument/2006/relationships" xmlns:c16r2="http://schemas.microsoft.com/office/drawing/2015/06/chart">
  <c:date1904 val="0"/>
  <c:lang val="en-US"/>
  <c:roundedCorners val="1"/>
  <c:style val="2"/>
  <c:chart>
    <c:autoTitleDeleted val="1"/>
    <c:plotArea>
      <c:layout/>
      <c:barChart>
        <c:barDir val="col"/>
        <c:grouping val="clustered"/>
        <c:varyColors val="0"/>
        <c:ser>
          <c:idx val="0"/>
          <c:order val="0"/>
          <c:tx>
            <c:strRef>
              <c:f>Sheet1!$B$1</c:f>
              <c:strCache>
                <c:ptCount val="1"/>
                <c:pt idx="0">
                  <c:v>2024</c:v>
                </c:pt>
              </c:strCache>
            </c:strRef>
          </c:tx>
          <c:spPr>
            <a:solidFill>
              <a:srgbClr val="C9D6EE"/>
            </a:solidFill>
            <a:effectLst/>
          </c:spPr>
          <c:invertIfNegative val="0"/>
          <c:cat>
            <c:strRef>
              <c:f>Sheet1!$A$2:$A$7</c:f>
              <c:strCache>
                <c:ptCount val="6"/>
                <c:pt idx="0">
                  <c:v>Jan</c:v>
                </c:pt>
                <c:pt idx="1">
                  <c:v>Feb</c:v>
                </c:pt>
                <c:pt idx="2">
                  <c:v>Mar</c:v>
                </c:pt>
                <c:pt idx="3">
                  <c:v>Apr</c:v>
                </c:pt>
                <c:pt idx="4">
                  <c:v>May</c:v>
                </c:pt>
                <c:pt idx="5">
                  <c:v>Jun</c:v>
                </c:pt>
              </c:strCache>
            </c:strRef>
          </c:cat>
          <c:val>
            <c:numRef>
              <c:f>Sheet1!$B$2:$B$7</c:f>
              <c:numCache>
                <c:formatCode>General</c:formatCode>
                <c:ptCount val="6"/>
                <c:pt idx="0">
                  <c:v>162831</c:v>
                </c:pt>
                <c:pt idx="1">
                  <c:v>148992</c:v>
                </c:pt>
                <c:pt idx="2">
                  <c:v>161129</c:v>
                </c:pt>
                <c:pt idx="3">
                  <c:v>170635</c:v>
                </c:pt>
                <c:pt idx="4">
                  <c:v>198993</c:v>
                </c:pt>
                <c:pt idx="5">
                  <c:v>197489</c:v>
                </c:pt>
              </c:numCache>
            </c:numRef>
          </c:val>
          <c:extLst>
            <c:ext xmlns:c16="http://schemas.microsoft.com/office/drawing/2014/chart" uri="{C3380CC4-5D6E-409C-BE32-E72D297353CC}">
              <c16:uniqueId val="{00000000-8AE1-430E-8329-BF727804A79A}"/>
            </c:ext>
          </c:extLst>
        </c:ser>
        <c:ser>
          <c:idx val="1"/>
          <c:order val="1"/>
          <c:tx>
            <c:strRef>
              <c:f>Sheet1!$C$1</c:f>
              <c:strCache>
                <c:ptCount val="1"/>
                <c:pt idx="0">
                  <c:v>2025</c:v>
                </c:pt>
              </c:strCache>
            </c:strRef>
          </c:tx>
          <c:spPr>
            <a:solidFill>
              <a:srgbClr val="7FA4DC"/>
            </a:solidFill>
            <a:effectLst/>
          </c:spPr>
          <c:invertIfNegative val="0"/>
          <c:cat>
            <c:strRef>
              <c:f>Sheet1!$A$2:$A$7</c:f>
              <c:strCache>
                <c:ptCount val="6"/>
                <c:pt idx="0">
                  <c:v>Jan</c:v>
                </c:pt>
                <c:pt idx="1">
                  <c:v>Feb</c:v>
                </c:pt>
                <c:pt idx="2">
                  <c:v>Mar</c:v>
                </c:pt>
                <c:pt idx="3">
                  <c:v>Apr</c:v>
                </c:pt>
                <c:pt idx="4">
                  <c:v>May</c:v>
                </c:pt>
                <c:pt idx="5">
                  <c:v>Jun</c:v>
                </c:pt>
              </c:strCache>
            </c:strRef>
          </c:cat>
          <c:val>
            <c:numRef>
              <c:f>Sheet1!$C$2:$C$7</c:f>
              <c:numCache>
                <c:formatCode>General</c:formatCode>
                <c:ptCount val="6"/>
                <c:pt idx="0">
                  <c:v>185809</c:v>
                </c:pt>
                <c:pt idx="1">
                  <c:v>169988</c:v>
                </c:pt>
                <c:pt idx="2">
                  <c:v>187973</c:v>
                </c:pt>
                <c:pt idx="3">
                  <c:v>206286</c:v>
                </c:pt>
                <c:pt idx="4">
                  <c:v>228544</c:v>
                </c:pt>
                <c:pt idx="5">
                  <c:v>205299</c:v>
                </c:pt>
              </c:numCache>
            </c:numRef>
          </c:val>
          <c:extLst>
            <c:ext xmlns:c16="http://schemas.microsoft.com/office/drawing/2014/chart" uri="{C3380CC4-5D6E-409C-BE32-E72D297353CC}">
              <c16:uniqueId val="{00000001-8AE1-430E-8329-BF727804A79A}"/>
            </c:ext>
          </c:extLst>
        </c:ser>
        <c:ser>
          <c:idx val="2"/>
          <c:order val="2"/>
          <c:tx>
            <c:strRef>
              <c:f>Sheet1!$D$1</c:f>
              <c:strCache>
                <c:ptCount val="1"/>
                <c:pt idx="0">
                  <c:v>2026</c:v>
                </c:pt>
              </c:strCache>
            </c:strRef>
          </c:tx>
          <c:spPr>
            <a:solidFill>
              <a:srgbClr val="1E2761"/>
            </a:solidFill>
            <a:effectLst/>
          </c:spPr>
          <c:invertIfNegative val="0"/>
          <c:cat>
            <c:strRef>
              <c:f>Sheet1!$A$2:$A$7</c:f>
              <c:strCache>
                <c:ptCount val="6"/>
                <c:pt idx="0">
                  <c:v>Jan</c:v>
                </c:pt>
                <c:pt idx="1">
                  <c:v>Feb</c:v>
                </c:pt>
                <c:pt idx="2">
                  <c:v>Mar</c:v>
                </c:pt>
                <c:pt idx="3">
                  <c:v>Apr</c:v>
                </c:pt>
                <c:pt idx="4">
                  <c:v>May</c:v>
                </c:pt>
                <c:pt idx="5">
                  <c:v>Jun</c:v>
                </c:pt>
              </c:strCache>
            </c:strRef>
          </c:cat>
          <c:val>
            <c:numRef>
              <c:f>Sheet1!$D$2:$D$7</c:f>
              <c:numCache>
                <c:formatCode>General</c:formatCode>
                <c:ptCount val="6"/>
                <c:pt idx="0">
                  <c:v>231184</c:v>
                </c:pt>
                <c:pt idx="1">
                  <c:v>185930</c:v>
                </c:pt>
                <c:pt idx="2">
                  <c:v>208484</c:v>
                </c:pt>
                <c:pt idx="3">
                  <c:v>206641</c:v>
                </c:pt>
                <c:pt idx="4">
                  <c:v>224490</c:v>
                </c:pt>
                <c:pt idx="5">
                  <c:v>163378</c:v>
                </c:pt>
              </c:numCache>
            </c:numRef>
          </c:val>
          <c:extLst>
            <c:ext xmlns:c16="http://schemas.microsoft.com/office/drawing/2014/chart" uri="{C3380CC4-5D6E-409C-BE32-E72D297353CC}">
              <c16:uniqueId val="{00000002-8AE1-430E-8329-BF727804A79A}"/>
            </c:ext>
          </c:extLst>
        </c:ser>
        <c:dLbls>
          <c:showLegendKey val="0"/>
          <c:showVal val="0"/>
          <c:showCatName val="0"/>
          <c:showSerName val="0"/>
          <c:showPercent val="0"/>
          <c:showBubbleSize val="0"/>
        </c:dLbls>
        <c:gapWidth val="60"/>
        <c:axId val="2094734554"/>
        <c:axId val="2094734552"/>
      </c:barChart>
      <c:catAx>
        <c:axId val="2094734554"/>
        <c:scaling>
          <c:orientation val="minMax"/>
        </c:scaling>
        <c:delete val="0"/>
        <c:axPos val="b"/>
        <c:numFmt formatCode="General" sourceLinked="1"/>
        <c:majorTickMark val="out"/>
        <c:minorTickMark val="none"/>
        <c:tickLblPos val="low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1000" b="0" i="0" u="none" strike="noStrike">
                <a:solidFill>
                  <a:srgbClr val="6B7280"/>
                </a:solidFill>
                <a:latin typeface="Calibri"/>
              </a:defRPr>
            </a:pPr>
            <a:endParaRPr lang="en-US"/>
          </a:p>
        </c:txPr>
        <c:crossAx val="2094734552"/>
        <c:crosses val="autoZero"/>
        <c:auto val="1"/>
        <c:lblAlgn val="ctr"/>
        <c:lblOffset val="100"/>
        <c:noMultiLvlLbl val="1"/>
      </c:catAx>
      <c:valAx>
        <c:axId val="2094734552"/>
        <c:scaling>
          <c:orientation val="minMax"/>
        </c:scaling>
        <c:delete val="0"/>
        <c:axPos val="l"/>
        <c:majorGridlines>
          <c:spPr>
            <a:ln w="6350" cap="flat">
              <a:solidFill>
                <a:srgbClr val="E5E8EF"/>
              </a:solidFill>
              <a:prstDash val="solid"/>
              <a:round/>
            </a:ln>
          </c:spPr>
        </c:majorGridlines>
        <c:numFmt formatCode="General" sourceLinked="0"/>
        <c:majorTickMark val="out"/>
        <c:minorTickMark val="none"/>
        <c:tickLblPos val="nextTo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950" b="0" i="0" u="none" strike="noStrike">
                <a:solidFill>
                  <a:srgbClr val="6B7280"/>
                </a:solidFill>
                <a:latin typeface="Calibri"/>
              </a:defRPr>
            </a:pPr>
            <a:endParaRPr lang="en-US"/>
          </a:p>
        </c:txPr>
        <c:crossAx val="2094734554"/>
        <c:crosses val="autoZero"/>
        <c:crossBetween val="between"/>
      </c:valAx>
      <c:spPr>
        <a:noFill/>
        <a:ln>
          <a:noFill/>
        </a:ln>
        <a:effectLst/>
      </c:spPr>
    </c:plotArea>
    <c:legend>
      <c:legendPos val="b"/>
      <c:overlay val="0"/>
      <c:txPr>
        <a:bodyPr/>
        <a:lstStyle/>
        <a:p>
          <a:pPr>
            <a:defRPr sz="1000">
              <a:solidFill>
                <a:srgbClr val="26292E"/>
              </a:solidFill>
              <a:latin typeface="Calibri"/>
              <a:cs typeface="Calibri"/>
            </a:defRPr>
          </a:pPr>
          <a:endParaRPr lang="en-US"/>
        </a:p>
      </c:txPr>
    </c:legend>
    <c:plotVisOnly val="1"/>
    <c:dispBlanksAs val="span"/>
    <c:showDLblsOverMax val="1"/>
  </c:chart>
  <c:spPr>
    <a:noFill/>
    <a:ln>
      <a:noFill/>
    </a:ln>
    <a:effectLst/>
  </c:spPr>
  <c:externalData r:id="rId1">
    <c:autoUpdate val="0"/>
  </c:externalData>
</c:chartSpace>
</file>

<file path=ppt/charts/chart4.xml><?xml version="1.0" encoding="utf-8"?>
<c:chartSpace xmlns:c="http://schemas.openxmlformats.org/drawingml/2006/chart" xmlns:a="http://schemas.openxmlformats.org/drawingml/2006/main" xmlns:r="http://schemas.openxmlformats.org/officeDocument/2006/relationships" xmlns:c16r2="http://schemas.microsoft.com/office/drawing/2015/06/chart">
  <c:date1904 val="0"/>
  <c:lang val="en-US"/>
  <c:roundedCorners val="1"/>
  <c:style val="2"/>
  <c:chart>
    <c:autoTitleDeleted val="1"/>
    <c:plotArea>
      <c:layout/>
      <c:barChart>
        <c:barDir val="col"/>
        <c:grouping val="clustered"/>
        <c:varyColors val="0"/>
        <c:ser>
          <c:idx val="0"/>
          <c:order val="0"/>
          <c:tx>
            <c:strRef>
              <c:f>Sheet1!$B$1</c:f>
              <c:strCache>
                <c:ptCount val="1"/>
                <c:pt idx="0">
                  <c:v>2019</c:v>
                </c:pt>
              </c:strCache>
            </c:strRef>
          </c:tx>
          <c:spPr>
            <a:solidFill>
              <a:srgbClr val="AEB6C2"/>
            </a:solidFill>
            <a:effectLst/>
          </c:spPr>
          <c:invertIfNegative val="0"/>
          <c:cat>
            <c:strRef>
              <c:f>Sheet1!$A$2:$A$7</c:f>
              <c:strCache>
                <c:ptCount val="6"/>
                <c:pt idx="0">
                  <c:v>Jan</c:v>
                </c:pt>
                <c:pt idx="1">
                  <c:v>Feb</c:v>
                </c:pt>
                <c:pt idx="2">
                  <c:v>Mar</c:v>
                </c:pt>
                <c:pt idx="3">
                  <c:v>Apr</c:v>
                </c:pt>
                <c:pt idx="4">
                  <c:v>May</c:v>
                </c:pt>
                <c:pt idx="5">
                  <c:v>Jun</c:v>
                </c:pt>
              </c:strCache>
            </c:strRef>
          </c:cat>
          <c:val>
            <c:numRef>
              <c:f>Sheet1!$B$2:$B$7</c:f>
              <c:numCache>
                <c:formatCode>General</c:formatCode>
                <c:ptCount val="6"/>
                <c:pt idx="0">
                  <c:v>94365</c:v>
                </c:pt>
                <c:pt idx="1">
                  <c:v>85613</c:v>
                </c:pt>
                <c:pt idx="2">
                  <c:v>101002</c:v>
                </c:pt>
                <c:pt idx="3">
                  <c:v>91897</c:v>
                </c:pt>
                <c:pt idx="4">
                  <c:v>95246</c:v>
                </c:pt>
                <c:pt idx="5">
                  <c:v>93648</c:v>
                </c:pt>
              </c:numCache>
            </c:numRef>
          </c:val>
          <c:extLst>
            <c:ext xmlns:c16="http://schemas.microsoft.com/office/drawing/2014/chart" uri="{C3380CC4-5D6E-409C-BE32-E72D297353CC}">
              <c16:uniqueId val="{00000000-C485-498E-BD41-AD4A2A527E5F}"/>
            </c:ext>
          </c:extLst>
        </c:ser>
        <c:ser>
          <c:idx val="1"/>
          <c:order val="1"/>
          <c:tx>
            <c:strRef>
              <c:f>Sheet1!$C$1</c:f>
              <c:strCache>
                <c:ptCount val="1"/>
                <c:pt idx="0">
                  <c:v>2024</c:v>
                </c:pt>
              </c:strCache>
            </c:strRef>
          </c:tx>
          <c:spPr>
            <a:solidFill>
              <a:srgbClr val="C9D6EE"/>
            </a:solidFill>
            <a:effectLst/>
          </c:spPr>
          <c:invertIfNegative val="0"/>
          <c:cat>
            <c:strRef>
              <c:f>Sheet1!$A$2:$A$7</c:f>
              <c:strCache>
                <c:ptCount val="6"/>
                <c:pt idx="0">
                  <c:v>Jan</c:v>
                </c:pt>
                <c:pt idx="1">
                  <c:v>Feb</c:v>
                </c:pt>
                <c:pt idx="2">
                  <c:v>Mar</c:v>
                </c:pt>
                <c:pt idx="3">
                  <c:v>Apr</c:v>
                </c:pt>
                <c:pt idx="4">
                  <c:v>May</c:v>
                </c:pt>
                <c:pt idx="5">
                  <c:v>Jun</c:v>
                </c:pt>
              </c:strCache>
            </c:strRef>
          </c:cat>
          <c:val>
            <c:numRef>
              <c:f>Sheet1!$C$2:$C$7</c:f>
              <c:numCache>
                <c:formatCode>General</c:formatCode>
                <c:ptCount val="6"/>
                <c:pt idx="0">
                  <c:v>44223</c:v>
                </c:pt>
                <c:pt idx="1">
                  <c:v>35346</c:v>
                </c:pt>
                <c:pt idx="2">
                  <c:v>8455</c:v>
                </c:pt>
                <c:pt idx="3">
                  <c:v>45071</c:v>
                </c:pt>
                <c:pt idx="4">
                  <c:v>44106</c:v>
                </c:pt>
                <c:pt idx="5">
                  <c:v>97083</c:v>
                </c:pt>
              </c:numCache>
            </c:numRef>
          </c:val>
          <c:extLst>
            <c:ext xmlns:c16="http://schemas.microsoft.com/office/drawing/2014/chart" uri="{C3380CC4-5D6E-409C-BE32-E72D297353CC}">
              <c16:uniqueId val="{00000001-C485-498E-BD41-AD4A2A527E5F}"/>
            </c:ext>
          </c:extLst>
        </c:ser>
        <c:ser>
          <c:idx val="2"/>
          <c:order val="2"/>
          <c:tx>
            <c:strRef>
              <c:f>Sheet1!$D$1</c:f>
              <c:strCache>
                <c:ptCount val="1"/>
                <c:pt idx="0">
                  <c:v>2025</c:v>
                </c:pt>
              </c:strCache>
            </c:strRef>
          </c:tx>
          <c:spPr>
            <a:solidFill>
              <a:srgbClr val="7FA4DC"/>
            </a:solidFill>
            <a:effectLst/>
          </c:spPr>
          <c:invertIfNegative val="0"/>
          <c:cat>
            <c:strRef>
              <c:f>Sheet1!$A$2:$A$7</c:f>
              <c:strCache>
                <c:ptCount val="6"/>
                <c:pt idx="0">
                  <c:v>Jan</c:v>
                </c:pt>
                <c:pt idx="1">
                  <c:v>Feb</c:v>
                </c:pt>
                <c:pt idx="2">
                  <c:v>Mar</c:v>
                </c:pt>
                <c:pt idx="3">
                  <c:v>Apr</c:v>
                </c:pt>
                <c:pt idx="4">
                  <c:v>May</c:v>
                </c:pt>
                <c:pt idx="5">
                  <c:v>Jun</c:v>
                </c:pt>
              </c:strCache>
            </c:strRef>
          </c:cat>
          <c:val>
            <c:numRef>
              <c:f>Sheet1!$D$2:$D$7</c:f>
              <c:numCache>
                <c:formatCode>General</c:formatCode>
                <c:ptCount val="6"/>
                <c:pt idx="0">
                  <c:v>49839</c:v>
                </c:pt>
                <c:pt idx="1">
                  <c:v>32831</c:v>
                </c:pt>
                <c:pt idx="2">
                  <c:v>18708</c:v>
                </c:pt>
                <c:pt idx="3">
                  <c:v>50561</c:v>
                </c:pt>
                <c:pt idx="4">
                  <c:v>48650</c:v>
                </c:pt>
                <c:pt idx="5">
                  <c:v>82462</c:v>
                </c:pt>
              </c:numCache>
            </c:numRef>
          </c:val>
          <c:extLst>
            <c:ext xmlns:c16="http://schemas.microsoft.com/office/drawing/2014/chart" uri="{C3380CC4-5D6E-409C-BE32-E72D297353CC}">
              <c16:uniqueId val="{00000002-C485-498E-BD41-AD4A2A527E5F}"/>
            </c:ext>
          </c:extLst>
        </c:ser>
        <c:ser>
          <c:idx val="3"/>
          <c:order val="3"/>
          <c:tx>
            <c:strRef>
              <c:f>Sheet1!$E$1</c:f>
              <c:strCache>
                <c:ptCount val="1"/>
                <c:pt idx="0">
                  <c:v>2026</c:v>
                </c:pt>
              </c:strCache>
            </c:strRef>
          </c:tx>
          <c:spPr>
            <a:solidFill>
              <a:srgbClr val="1E2761"/>
            </a:solidFill>
            <a:effectLst/>
          </c:spPr>
          <c:invertIfNegative val="0"/>
          <c:cat>
            <c:strRef>
              <c:f>Sheet1!$A$2:$A$7</c:f>
              <c:strCache>
                <c:ptCount val="6"/>
                <c:pt idx="0">
                  <c:v>Jan</c:v>
                </c:pt>
                <c:pt idx="1">
                  <c:v>Feb</c:v>
                </c:pt>
                <c:pt idx="2">
                  <c:v>Mar</c:v>
                </c:pt>
                <c:pt idx="3">
                  <c:v>Apr</c:v>
                </c:pt>
                <c:pt idx="4">
                  <c:v>May</c:v>
                </c:pt>
                <c:pt idx="5">
                  <c:v>Jun</c:v>
                </c:pt>
              </c:strCache>
            </c:strRef>
          </c:cat>
          <c:val>
            <c:numRef>
              <c:f>Sheet1!$E$2:$E$7</c:f>
              <c:numCache>
                <c:formatCode>General</c:formatCode>
                <c:ptCount val="6"/>
                <c:pt idx="0">
                  <c:v>52261</c:v>
                </c:pt>
                <c:pt idx="1">
                  <c:v>15814</c:v>
                </c:pt>
                <c:pt idx="2">
                  <c:v>12201</c:v>
                </c:pt>
                <c:pt idx="3">
                  <c:v>21707</c:v>
                </c:pt>
                <c:pt idx="4">
                  <c:v>47726</c:v>
                </c:pt>
                <c:pt idx="5">
                  <c:v>52702</c:v>
                </c:pt>
              </c:numCache>
            </c:numRef>
          </c:val>
          <c:extLst>
            <c:ext xmlns:c16="http://schemas.microsoft.com/office/drawing/2014/chart" uri="{C3380CC4-5D6E-409C-BE32-E72D297353CC}">
              <c16:uniqueId val="{00000003-C485-498E-BD41-AD4A2A527E5F}"/>
            </c:ext>
          </c:extLst>
        </c:ser>
        <c:dLbls>
          <c:showLegendKey val="0"/>
          <c:showVal val="0"/>
          <c:showCatName val="0"/>
          <c:showSerName val="0"/>
          <c:showPercent val="0"/>
          <c:showBubbleSize val="0"/>
        </c:dLbls>
        <c:gapWidth val="60"/>
        <c:axId val="2094734554"/>
        <c:axId val="2094734552"/>
      </c:barChart>
      <c:catAx>
        <c:axId val="2094734554"/>
        <c:scaling>
          <c:orientation val="minMax"/>
        </c:scaling>
        <c:delete val="0"/>
        <c:axPos val="b"/>
        <c:numFmt formatCode="General" sourceLinked="1"/>
        <c:majorTickMark val="out"/>
        <c:minorTickMark val="none"/>
        <c:tickLblPos val="low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1000" b="0" i="0" u="none" strike="noStrike">
                <a:solidFill>
                  <a:srgbClr val="6B7280"/>
                </a:solidFill>
                <a:latin typeface="Calibri"/>
              </a:defRPr>
            </a:pPr>
            <a:endParaRPr lang="en-US"/>
          </a:p>
        </c:txPr>
        <c:crossAx val="2094734552"/>
        <c:crosses val="autoZero"/>
        <c:auto val="1"/>
        <c:lblAlgn val="ctr"/>
        <c:lblOffset val="100"/>
        <c:noMultiLvlLbl val="1"/>
      </c:catAx>
      <c:valAx>
        <c:axId val="2094734552"/>
        <c:scaling>
          <c:orientation val="minMax"/>
        </c:scaling>
        <c:delete val="0"/>
        <c:axPos val="l"/>
        <c:majorGridlines>
          <c:spPr>
            <a:ln w="6350" cap="flat">
              <a:solidFill>
                <a:srgbClr val="E5E8EF"/>
              </a:solidFill>
              <a:prstDash val="solid"/>
              <a:round/>
            </a:ln>
          </c:spPr>
        </c:majorGridlines>
        <c:numFmt formatCode="General" sourceLinked="0"/>
        <c:majorTickMark val="out"/>
        <c:minorTickMark val="none"/>
        <c:tickLblPos val="nextTo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950" b="0" i="0" u="none" strike="noStrike">
                <a:solidFill>
                  <a:srgbClr val="6B7280"/>
                </a:solidFill>
                <a:latin typeface="Calibri"/>
              </a:defRPr>
            </a:pPr>
            <a:endParaRPr lang="en-US"/>
          </a:p>
        </c:txPr>
        <c:crossAx val="2094734554"/>
        <c:crosses val="autoZero"/>
        <c:crossBetween val="between"/>
      </c:valAx>
      <c:spPr>
        <a:noFill/>
        <a:ln>
          <a:noFill/>
        </a:ln>
        <a:effectLst/>
      </c:spPr>
    </c:plotArea>
    <c:legend>
      <c:legendPos val="b"/>
      <c:overlay val="0"/>
      <c:txPr>
        <a:bodyPr/>
        <a:lstStyle/>
        <a:p>
          <a:pPr>
            <a:defRPr sz="1000">
              <a:solidFill>
                <a:srgbClr val="26292E"/>
              </a:solidFill>
              <a:latin typeface="Calibri"/>
              <a:cs typeface="Calibri"/>
            </a:defRPr>
          </a:pPr>
          <a:endParaRPr lang="en-US"/>
        </a:p>
      </c:txPr>
    </c:legend>
    <c:plotVisOnly val="1"/>
    <c:dispBlanksAs val="span"/>
    <c:showDLblsOverMax val="1"/>
  </c:chart>
  <c:spPr>
    <a:noFill/>
    <a:ln>
      <a:noFill/>
    </a:ln>
    <a:effectLst/>
  </c:spPr>
  <c:externalData r:id="rId1">
    <c:autoUpdate val="0"/>
  </c:externalData>
</c:chartSpace>
</file>

<file path=ppt/charts/chart5.xml><?xml version="1.0" encoding="utf-8"?>
<c:chartSpace xmlns:c="http://schemas.openxmlformats.org/drawingml/2006/chart" xmlns:a="http://schemas.openxmlformats.org/drawingml/2006/main" xmlns:r="http://schemas.openxmlformats.org/officeDocument/2006/relationships" xmlns:c16r2="http://schemas.microsoft.com/office/drawing/2015/06/chart">
  <c:date1904 val="0"/>
  <c:lang val="en-US"/>
  <c:roundedCorners val="1"/>
  <c:style val="2"/>
  <c:chart>
    <c:title>
      <c:tx>
        <c:rich>
          <a:bodyPr/>
          <a:lstStyle/>
          <a:p>
            <a:pPr>
              <a:defRPr sz="1300" b="0" i="0" u="none" strike="noStrike">
                <a:solidFill>
                  <a:srgbClr val="1E2761"/>
                </a:solidFill>
                <a:latin typeface="Calibri"/>
              </a:defRPr>
            </a:pPr>
            <a:r>
              <a:rPr lang="en-US" sz="1300" b="0" i="0" u="none" strike="noStrike">
                <a:solidFill>
                  <a:srgbClr val="1E2761"/>
                </a:solidFill>
                <a:latin typeface="Calibri"/>
              </a:rPr>
              <a:t>Europe</a:t>
            </a:r>
          </a:p>
        </c:rich>
      </c:tx>
      <c:overlay val="0"/>
    </c:title>
    <c:autoTitleDeleted val="0"/>
    <c:plotArea>
      <c:layout/>
      <c:barChart>
        <c:barDir val="col"/>
        <c:grouping val="clustered"/>
        <c:varyColors val="0"/>
        <c:ser>
          <c:idx val="0"/>
          <c:order val="0"/>
          <c:tx>
            <c:strRef>
              <c:f>Sheet1!$B$1</c:f>
              <c:strCache>
                <c:ptCount val="1"/>
                <c:pt idx="0">
                  <c:v>2024</c:v>
                </c:pt>
              </c:strCache>
            </c:strRef>
          </c:tx>
          <c:spPr>
            <a:solidFill>
              <a:srgbClr val="C9D6EE"/>
            </a:solidFill>
            <a:effectLst/>
          </c:spPr>
          <c:invertIfNegative val="0"/>
          <c:cat>
            <c:strRef>
              <c:f>Sheet1!$A$2:$A$6</c:f>
              <c:strCache>
                <c:ptCount val="5"/>
                <c:pt idx="0">
                  <c:v>Jan</c:v>
                </c:pt>
                <c:pt idx="1">
                  <c:v>Feb</c:v>
                </c:pt>
                <c:pt idx="2">
                  <c:v>Mar</c:v>
                </c:pt>
                <c:pt idx="3">
                  <c:v>Apr</c:v>
                </c:pt>
                <c:pt idx="4">
                  <c:v>May</c:v>
                </c:pt>
              </c:strCache>
            </c:strRef>
          </c:cat>
          <c:val>
            <c:numRef>
              <c:f>Sheet1!$B$2:$B$6</c:f>
              <c:numCache>
                <c:formatCode>General</c:formatCode>
                <c:ptCount val="6"/>
                <c:pt idx="0">
                  <c:v>879741</c:v>
                </c:pt>
                <c:pt idx="1">
                  <c:v>849024</c:v>
                </c:pt>
                <c:pt idx="2">
                  <c:v>765683</c:v>
                </c:pt>
                <c:pt idx="3">
                  <c:v>523160</c:v>
                </c:pt>
                <c:pt idx="4">
                  <c:v>343907</c:v>
                </c:pt>
                <c:pt idx="5">
                  <c:v>325497</c:v>
                </c:pt>
              </c:numCache>
            </c:numRef>
          </c:val>
          <c:extLst>
            <c:ext xmlns:c16="http://schemas.microsoft.com/office/drawing/2014/chart" uri="{C3380CC4-5D6E-409C-BE32-E72D297353CC}">
              <c16:uniqueId val="{00000000-491B-450C-83BB-C59D8123E8E8}"/>
            </c:ext>
          </c:extLst>
        </c:ser>
        <c:ser>
          <c:idx val="1"/>
          <c:order val="1"/>
          <c:tx>
            <c:strRef>
              <c:f>Sheet1!$C$1</c:f>
              <c:strCache>
                <c:ptCount val="1"/>
                <c:pt idx="0">
                  <c:v>2025</c:v>
                </c:pt>
              </c:strCache>
            </c:strRef>
          </c:tx>
          <c:spPr>
            <a:solidFill>
              <a:srgbClr val="7FA4DC"/>
            </a:solidFill>
            <a:effectLst/>
          </c:spPr>
          <c:invertIfNegative val="0"/>
          <c:cat>
            <c:strRef>
              <c:f>Sheet1!$A$2:$A$6</c:f>
              <c:strCache>
                <c:ptCount val="5"/>
                <c:pt idx="0">
                  <c:v>Jan</c:v>
                </c:pt>
                <c:pt idx="1">
                  <c:v>Feb</c:v>
                </c:pt>
                <c:pt idx="2">
                  <c:v>Mar</c:v>
                </c:pt>
                <c:pt idx="3">
                  <c:v>Apr</c:v>
                </c:pt>
                <c:pt idx="4">
                  <c:v>May</c:v>
                </c:pt>
              </c:strCache>
            </c:strRef>
          </c:cat>
          <c:val>
            <c:numRef>
              <c:f>Sheet1!$C$2:$C$6</c:f>
              <c:numCache>
                <c:formatCode>General</c:formatCode>
                <c:ptCount val="6"/>
                <c:pt idx="0">
                  <c:v>1080094</c:v>
                </c:pt>
                <c:pt idx="1">
                  <c:v>1001220</c:v>
                </c:pt>
                <c:pt idx="2">
                  <c:v>854963</c:v>
                </c:pt>
                <c:pt idx="3">
                  <c:v>652062</c:v>
                </c:pt>
                <c:pt idx="4">
                  <c:v>366631</c:v>
                </c:pt>
                <c:pt idx="5">
                  <c:v>345417</c:v>
                </c:pt>
              </c:numCache>
            </c:numRef>
          </c:val>
          <c:extLst>
            <c:ext xmlns:c16="http://schemas.microsoft.com/office/drawing/2014/chart" uri="{C3380CC4-5D6E-409C-BE32-E72D297353CC}">
              <c16:uniqueId val="{00000001-491B-450C-83BB-C59D8123E8E8}"/>
            </c:ext>
          </c:extLst>
        </c:ser>
        <c:ser>
          <c:idx val="2"/>
          <c:order val="2"/>
          <c:tx>
            <c:strRef>
              <c:f>Sheet1!$D$1</c:f>
              <c:strCache>
                <c:ptCount val="1"/>
                <c:pt idx="0">
                  <c:v>2026</c:v>
                </c:pt>
              </c:strCache>
            </c:strRef>
          </c:tx>
          <c:spPr>
            <a:solidFill>
              <a:srgbClr val="1E2761"/>
            </a:solidFill>
            <a:effectLst/>
          </c:spPr>
          <c:invertIfNegative val="0"/>
          <c:cat>
            <c:strRef>
              <c:f>Sheet1!$A$2:$A$6</c:f>
              <c:strCache>
                <c:ptCount val="5"/>
                <c:pt idx="0">
                  <c:v>Jan</c:v>
                </c:pt>
                <c:pt idx="1">
                  <c:v>Feb</c:v>
                </c:pt>
                <c:pt idx="2">
                  <c:v>Mar</c:v>
                </c:pt>
                <c:pt idx="3">
                  <c:v>Apr</c:v>
                </c:pt>
                <c:pt idx="4">
                  <c:v>May</c:v>
                </c:pt>
              </c:strCache>
            </c:strRef>
          </c:cat>
          <c:val>
            <c:numRef>
              <c:f>Sheet1!$D$2:$D$6</c:f>
              <c:numCache>
                <c:formatCode>General</c:formatCode>
                <c:ptCount val="6"/>
                <c:pt idx="0">
                  <c:v>1184479</c:v>
                </c:pt>
                <c:pt idx="1">
                  <c:v>1047216</c:v>
                </c:pt>
                <c:pt idx="2">
                  <c:v>819016</c:v>
                </c:pt>
                <c:pt idx="3">
                  <c:v>549123</c:v>
                </c:pt>
                <c:pt idx="4">
                  <c:v>365345</c:v>
                </c:pt>
                <c:pt idx="5">
                  <c:v>289156</c:v>
                </c:pt>
              </c:numCache>
            </c:numRef>
          </c:val>
          <c:extLst>
            <c:ext xmlns:c16="http://schemas.microsoft.com/office/drawing/2014/chart" uri="{C3380CC4-5D6E-409C-BE32-E72D297353CC}">
              <c16:uniqueId val="{00000002-491B-450C-83BB-C59D8123E8E8}"/>
            </c:ext>
          </c:extLst>
        </c:ser>
        <c:dLbls>
          <c:showLegendKey val="0"/>
          <c:showVal val="0"/>
          <c:showCatName val="0"/>
          <c:showSerName val="0"/>
          <c:showPercent val="0"/>
          <c:showBubbleSize val="0"/>
        </c:dLbls>
        <c:gapWidth val="150"/>
        <c:axId val="2094734554"/>
        <c:axId val="2094734552"/>
      </c:barChart>
      <c:catAx>
        <c:axId val="2094734554"/>
        <c:scaling>
          <c:orientation val="minMax"/>
        </c:scaling>
        <c:delete val="0"/>
        <c:axPos val="b"/>
        <c:numFmt formatCode="General" sourceLinked="1"/>
        <c:majorTickMark val="out"/>
        <c:minorTickMark val="none"/>
        <c:tickLblPos val="low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1000" b="0" i="0" u="none" strike="noStrike">
                <a:solidFill>
                  <a:srgbClr val="6B7280"/>
                </a:solidFill>
                <a:latin typeface="Calibri"/>
              </a:defRPr>
            </a:pPr>
            <a:endParaRPr lang="en-US"/>
          </a:p>
        </c:txPr>
        <c:crossAx val="2094734552"/>
        <c:crosses val="autoZero"/>
        <c:auto val="1"/>
        <c:lblAlgn val="ctr"/>
        <c:lblOffset val="100"/>
        <c:noMultiLvlLbl val="1"/>
      </c:catAx>
      <c:valAx>
        <c:axId val="2094734552"/>
        <c:scaling>
          <c:orientation val="minMax"/>
        </c:scaling>
        <c:delete val="0"/>
        <c:axPos val="l"/>
        <c:majorGridlines>
          <c:spPr>
            <a:ln w="6350" cap="flat">
              <a:solidFill>
                <a:srgbClr val="E5E8EF"/>
              </a:solidFill>
              <a:prstDash val="solid"/>
              <a:round/>
            </a:ln>
          </c:spPr>
        </c:majorGridlines>
        <c:numFmt formatCode="General" sourceLinked="0"/>
        <c:majorTickMark val="out"/>
        <c:minorTickMark val="none"/>
        <c:tickLblPos val="nextTo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950" b="0" i="0" u="none" strike="noStrike">
                <a:solidFill>
                  <a:srgbClr val="6B7280"/>
                </a:solidFill>
                <a:latin typeface="Calibri"/>
              </a:defRPr>
            </a:pPr>
            <a:endParaRPr lang="en-US"/>
          </a:p>
        </c:txPr>
        <c:crossAx val="2094734554"/>
        <c:crosses val="autoZero"/>
        <c:crossBetween val="between"/>
      </c:valAx>
      <c:spPr>
        <a:noFill/>
        <a:ln>
          <a:noFill/>
        </a:ln>
        <a:effectLst/>
      </c:spPr>
    </c:plotArea>
    <c:legend>
      <c:legendPos val="b"/>
      <c:overlay val="0"/>
      <c:txPr>
        <a:bodyPr/>
        <a:lstStyle/>
        <a:p>
          <a:pPr>
            <a:defRPr sz="1000">
              <a:solidFill>
                <a:srgbClr val="26292E"/>
              </a:solidFill>
              <a:latin typeface="Calibri"/>
              <a:cs typeface="Calibri"/>
            </a:defRPr>
          </a:pPr>
          <a:endParaRPr lang="en-US"/>
        </a:p>
      </c:txPr>
    </c:legend>
    <c:plotVisOnly val="1"/>
    <c:dispBlanksAs val="span"/>
    <c:showDLblsOverMax val="1"/>
  </c:chart>
  <c:spPr>
    <a:noFill/>
    <a:ln>
      <a:noFill/>
    </a:ln>
    <a:effectLst/>
  </c:spPr>
  <c:externalData r:id="rId1">
    <c:autoUpdate val="0"/>
  </c:externalData>
</c:chartSpace>
</file>

<file path=ppt/charts/chart6.xml><?xml version="1.0" encoding="utf-8"?>
<c:chartSpace xmlns:c="http://schemas.openxmlformats.org/drawingml/2006/chart" xmlns:a="http://schemas.openxmlformats.org/drawingml/2006/main" xmlns:r="http://schemas.openxmlformats.org/officeDocument/2006/relationships" xmlns:c16r2="http://schemas.microsoft.com/office/drawing/2015/06/chart">
  <c:date1904 val="0"/>
  <c:lang val="en-US"/>
  <c:roundedCorners val="1"/>
  <c:style val="2"/>
  <c:chart>
    <c:title>
      <c:tx>
        <c:rich>
          <a:bodyPr/>
          <a:lstStyle/>
          <a:p>
            <a:pPr>
              <a:defRPr sz="1300" b="0" i="0" u="none" strike="noStrike">
                <a:solidFill>
                  <a:srgbClr val="1E2761"/>
                </a:solidFill>
                <a:latin typeface="Calibri"/>
              </a:defRPr>
            </a:pPr>
            <a:r>
              <a:rPr lang="en-US" sz="1300" b="0" i="0" u="none" strike="noStrike">
                <a:solidFill>
                  <a:srgbClr val="1E2761"/>
                </a:solidFill>
                <a:latin typeface="Calibri"/>
              </a:rPr>
              <a:t>USA</a:t>
            </a:r>
          </a:p>
        </c:rich>
      </c:tx>
      <c:overlay val="0"/>
    </c:title>
    <c:autoTitleDeleted val="0"/>
    <c:plotArea>
      <c:layout/>
      <c:barChart>
        <c:barDir val="col"/>
        <c:grouping val="clustered"/>
        <c:varyColors val="0"/>
        <c:ser>
          <c:idx val="0"/>
          <c:order val="0"/>
          <c:tx>
            <c:strRef>
              <c:f>Sheet1!$B$1</c:f>
              <c:strCache>
                <c:ptCount val="1"/>
                <c:pt idx="0">
                  <c:v>2024</c:v>
                </c:pt>
              </c:strCache>
            </c:strRef>
          </c:tx>
          <c:spPr>
            <a:solidFill>
              <a:srgbClr val="C9D6EE"/>
            </a:solidFill>
            <a:effectLst/>
          </c:spPr>
          <c:invertIfNegative val="0"/>
          <c:cat>
            <c:strRef>
              <c:f>Sheet1!$A$2:$A$6</c:f>
              <c:strCache>
                <c:ptCount val="5"/>
                <c:pt idx="0">
                  <c:v>Jan</c:v>
                </c:pt>
                <c:pt idx="1">
                  <c:v>Feb</c:v>
                </c:pt>
                <c:pt idx="2">
                  <c:v>Mar</c:v>
                </c:pt>
                <c:pt idx="3">
                  <c:v>Apr</c:v>
                </c:pt>
                <c:pt idx="4">
                  <c:v>May</c:v>
                </c:pt>
              </c:strCache>
            </c:strRef>
          </c:cat>
          <c:val>
            <c:numRef>
              <c:f>Sheet1!$B$2:$B$6</c:f>
              <c:numCache>
                <c:formatCode>General</c:formatCode>
                <c:ptCount val="6"/>
                <c:pt idx="0">
                  <c:v>146288</c:v>
                </c:pt>
                <c:pt idx="1">
                  <c:v>138484</c:v>
                </c:pt>
                <c:pt idx="2">
                  <c:v>135962</c:v>
                </c:pt>
                <c:pt idx="3">
                  <c:v>108172</c:v>
                </c:pt>
                <c:pt idx="4">
                  <c:v>97076</c:v>
                </c:pt>
                <c:pt idx="5">
                  <c:v>107002</c:v>
                </c:pt>
              </c:numCache>
            </c:numRef>
          </c:val>
          <c:extLst>
            <c:ext xmlns:c16="http://schemas.microsoft.com/office/drawing/2014/chart" uri="{C3380CC4-5D6E-409C-BE32-E72D297353CC}">
              <c16:uniqueId val="{00000000-02EF-4719-B532-FA11579CD6EB}"/>
            </c:ext>
          </c:extLst>
        </c:ser>
        <c:ser>
          <c:idx val="1"/>
          <c:order val="1"/>
          <c:tx>
            <c:strRef>
              <c:f>Sheet1!$C$1</c:f>
              <c:strCache>
                <c:ptCount val="1"/>
                <c:pt idx="0">
                  <c:v>2025</c:v>
                </c:pt>
              </c:strCache>
            </c:strRef>
          </c:tx>
          <c:spPr>
            <a:solidFill>
              <a:srgbClr val="7FA4DC"/>
            </a:solidFill>
            <a:effectLst/>
          </c:spPr>
          <c:invertIfNegative val="0"/>
          <c:cat>
            <c:strRef>
              <c:f>Sheet1!$A$2:$A$6</c:f>
              <c:strCache>
                <c:ptCount val="5"/>
                <c:pt idx="0">
                  <c:v>Jan</c:v>
                </c:pt>
                <c:pt idx="1">
                  <c:v>Feb</c:v>
                </c:pt>
                <c:pt idx="2">
                  <c:v>Mar</c:v>
                </c:pt>
                <c:pt idx="3">
                  <c:v>Apr</c:v>
                </c:pt>
                <c:pt idx="4">
                  <c:v>May</c:v>
                </c:pt>
              </c:strCache>
            </c:strRef>
          </c:cat>
          <c:val>
            <c:numRef>
              <c:f>Sheet1!$C$2:$C$6</c:f>
              <c:numCache>
                <c:formatCode>General</c:formatCode>
                <c:ptCount val="6"/>
                <c:pt idx="0">
                  <c:v>177614</c:v>
                </c:pt>
                <c:pt idx="1">
                  <c:v>155136</c:v>
                </c:pt>
                <c:pt idx="2">
                  <c:v>151520</c:v>
                </c:pt>
                <c:pt idx="3">
                  <c:v>119491</c:v>
                </c:pt>
                <c:pt idx="4">
                  <c:v>98871</c:v>
                </c:pt>
                <c:pt idx="5">
                  <c:v>106358</c:v>
                </c:pt>
              </c:numCache>
            </c:numRef>
          </c:val>
          <c:extLst>
            <c:ext xmlns:c16="http://schemas.microsoft.com/office/drawing/2014/chart" uri="{C3380CC4-5D6E-409C-BE32-E72D297353CC}">
              <c16:uniqueId val="{00000001-02EF-4719-B532-FA11579CD6EB}"/>
            </c:ext>
          </c:extLst>
        </c:ser>
        <c:ser>
          <c:idx val="2"/>
          <c:order val="2"/>
          <c:tx>
            <c:strRef>
              <c:f>Sheet1!$D$1</c:f>
              <c:strCache>
                <c:ptCount val="1"/>
                <c:pt idx="0">
                  <c:v>2026</c:v>
                </c:pt>
              </c:strCache>
            </c:strRef>
          </c:tx>
          <c:spPr>
            <a:solidFill>
              <a:srgbClr val="1E2761"/>
            </a:solidFill>
            <a:effectLst/>
          </c:spPr>
          <c:invertIfNegative val="0"/>
          <c:cat>
            <c:strRef>
              <c:f>Sheet1!$A$2:$A$6</c:f>
              <c:strCache>
                <c:ptCount val="5"/>
                <c:pt idx="0">
                  <c:v>Jan</c:v>
                </c:pt>
                <c:pt idx="1">
                  <c:v>Feb</c:v>
                </c:pt>
                <c:pt idx="2">
                  <c:v>Mar</c:v>
                </c:pt>
                <c:pt idx="3">
                  <c:v>Apr</c:v>
                </c:pt>
                <c:pt idx="4">
                  <c:v>May</c:v>
                </c:pt>
              </c:strCache>
            </c:strRef>
          </c:cat>
          <c:val>
            <c:numRef>
              <c:f>Sheet1!$D$2:$D$6</c:f>
              <c:numCache>
                <c:formatCode>General</c:formatCode>
                <c:ptCount val="6"/>
                <c:pt idx="0">
                  <c:v>181692</c:v>
                </c:pt>
                <c:pt idx="1">
                  <c:v>154938</c:v>
                </c:pt>
                <c:pt idx="2">
                  <c:v>148421</c:v>
                </c:pt>
                <c:pt idx="3">
                  <c:v>117349</c:v>
                </c:pt>
                <c:pt idx="4">
                  <c:v>102389</c:v>
                </c:pt>
                <c:pt idx="5">
                  <c:v>90980</c:v>
                </c:pt>
              </c:numCache>
            </c:numRef>
          </c:val>
          <c:extLst>
            <c:ext xmlns:c16="http://schemas.microsoft.com/office/drawing/2014/chart" uri="{C3380CC4-5D6E-409C-BE32-E72D297353CC}">
              <c16:uniqueId val="{00000002-02EF-4719-B532-FA11579CD6EB}"/>
            </c:ext>
          </c:extLst>
        </c:ser>
        <c:dLbls>
          <c:showLegendKey val="0"/>
          <c:showVal val="0"/>
          <c:showCatName val="0"/>
          <c:showSerName val="0"/>
          <c:showPercent val="0"/>
          <c:showBubbleSize val="0"/>
        </c:dLbls>
        <c:gapWidth val="150"/>
        <c:axId val="2094734554"/>
        <c:axId val="2094734552"/>
      </c:barChart>
      <c:catAx>
        <c:axId val="2094734554"/>
        <c:scaling>
          <c:orientation val="minMax"/>
        </c:scaling>
        <c:delete val="0"/>
        <c:axPos val="b"/>
        <c:numFmt formatCode="General" sourceLinked="1"/>
        <c:majorTickMark val="out"/>
        <c:minorTickMark val="none"/>
        <c:tickLblPos val="low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1000" b="0" i="0" u="none" strike="noStrike">
                <a:solidFill>
                  <a:srgbClr val="6B7280"/>
                </a:solidFill>
                <a:latin typeface="Calibri"/>
              </a:defRPr>
            </a:pPr>
            <a:endParaRPr lang="en-US"/>
          </a:p>
        </c:txPr>
        <c:crossAx val="2094734552"/>
        <c:crosses val="autoZero"/>
        <c:auto val="1"/>
        <c:lblAlgn val="ctr"/>
        <c:lblOffset val="100"/>
        <c:noMultiLvlLbl val="1"/>
      </c:catAx>
      <c:valAx>
        <c:axId val="2094734552"/>
        <c:scaling>
          <c:orientation val="minMax"/>
        </c:scaling>
        <c:delete val="0"/>
        <c:axPos val="l"/>
        <c:majorGridlines>
          <c:spPr>
            <a:ln w="6350" cap="flat">
              <a:solidFill>
                <a:srgbClr val="E5E8EF"/>
              </a:solidFill>
              <a:prstDash val="solid"/>
              <a:round/>
            </a:ln>
          </c:spPr>
        </c:majorGridlines>
        <c:numFmt formatCode="General" sourceLinked="0"/>
        <c:majorTickMark val="out"/>
        <c:minorTickMark val="none"/>
        <c:tickLblPos val="nextTo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950" b="0" i="0" u="none" strike="noStrike">
                <a:solidFill>
                  <a:srgbClr val="6B7280"/>
                </a:solidFill>
                <a:latin typeface="Calibri"/>
              </a:defRPr>
            </a:pPr>
            <a:endParaRPr lang="en-US"/>
          </a:p>
        </c:txPr>
        <c:crossAx val="2094734554"/>
        <c:crosses val="autoZero"/>
        <c:crossBetween val="between"/>
      </c:valAx>
      <c:spPr>
        <a:noFill/>
        <a:ln>
          <a:noFill/>
        </a:ln>
        <a:effectLst/>
      </c:spPr>
    </c:plotArea>
    <c:legend>
      <c:legendPos val="b"/>
      <c:overlay val="0"/>
      <c:txPr>
        <a:bodyPr/>
        <a:lstStyle/>
        <a:p>
          <a:pPr>
            <a:defRPr sz="1000">
              <a:solidFill>
                <a:srgbClr val="26292E"/>
              </a:solidFill>
              <a:latin typeface="Calibri"/>
              <a:cs typeface="Calibri"/>
            </a:defRPr>
          </a:pPr>
          <a:endParaRPr lang="en-US"/>
        </a:p>
      </c:txPr>
    </c:legend>
    <c:plotVisOnly val="1"/>
    <c:dispBlanksAs val="span"/>
    <c:showDLblsOverMax val="1"/>
  </c:chart>
  <c:spPr>
    <a:noFill/>
    <a:ln>
      <a:noFill/>
    </a:ln>
    <a:effectLst/>
  </c:spPr>
  <c:externalData r:id="rId1">
    <c:autoUpdate val="0"/>
  </c:externalData>
</c:chartSpace>
</file>

<file path=ppt/charts/chart7.xml><?xml version="1.0" encoding="utf-8"?>
<c:chartSpace xmlns:c="http://schemas.openxmlformats.org/drawingml/2006/chart" xmlns:a="http://schemas.openxmlformats.org/drawingml/2006/main" xmlns:r="http://schemas.openxmlformats.org/officeDocument/2006/relationships" xmlns:c16r2="http://schemas.microsoft.com/office/drawing/2015/06/chart">
  <c:date1904 val="0"/>
  <c:lang val="en-US"/>
  <c:roundedCorners val="1"/>
  <c:style val="2"/>
  <c:chart>
    <c:title>
      <c:tx>
        <c:rich>
          <a:bodyPr/>
          <a:lstStyle/>
          <a:p>
            <a:r>
              <a:rPr lang="en-US" sz="1250" b="1">
                <a:solidFill>
                  <a:srgbClr val="1E2761"/>
                </a:solidFill>
                <a:latin typeface="Calibri"/>
              </a:rPr>
              <a:t>Tourist arrivals H1 (millions)</a:t>
            </a:r>
          </a:p>
        </c:rich>
      </c:tx>
      <c:overlay val="0"/>
    </c:title>
    <c:autoTitleDeleted val="0"/>
    <c:plotArea>
      <c:layout/>
      <c:barChart>
        <c:barDir val="col"/>
        <c:grouping val="clustered"/>
        <c:varyColors val="1"/>
        <c:ser>
          <c:idx val="0"/>
          <c:order val="0"/>
          <c:tx>
            <c:strRef>
              <c:f>Sheet1!$B$1</c:f>
              <c:strCache>
                <c:ptCount val="1"/>
                <c:pt idx="0">
                  <c:v>Domestic</c:v>
                </c:pt>
              </c:strCache>
            </c:strRef>
          </c:tx>
          <c:spPr>
            <a:solidFill>
              <a:srgbClr val="C9D6EE"/>
            </a:solidFill>
          </c:spPr>
          <c:invertIfNegative val="1"/>
          <c:cat>
            <c:strRef>
              <c:f>Sheet1!$A$2:$A$5</c:f>
              <c:strCache>
                <c:ptCount val="4"/>
                <c:pt idx="0">
                  <c:v>2023</c:v>
                </c:pt>
                <c:pt idx="1">
                  <c:v>2024</c:v>
                </c:pt>
                <c:pt idx="2">
                  <c:v>2025</c:v>
                </c:pt>
                <c:pt idx="3">
                  <c:v>2026</c:v>
                </c:pt>
              </c:strCache>
            </c:strRef>
          </c:cat>
          <c:val>
            <c:numRef>
              <c:f>Sheet1!$B$2:$B$5</c:f>
              <c:numCache>
                <c:formatCode>General</c:formatCode>
                <c:ptCount val="4"/>
                <c:pt idx="0">
                  <c:v>15.62</c:v>
                </c:pt>
                <c:pt idx="1">
                  <c:v>14.83</c:v>
                </c:pt>
                <c:pt idx="2">
                  <c:v>14.55</c:v>
                </c:pt>
                <c:pt idx="3">
                  <c:v>15.45</c:v>
                </c:pt>
              </c:numCache>
            </c:numRef>
          </c:val>
          <c:extLst>
            <c:ext xmlns:c14="http://schemas.microsoft.com/office/drawing/2007/8/2/chart" uri="{6F2FDCE9-48DA-4B69-8628-5D25D57E5C99}">
              <c14:invertSolidFillFmt>
                <c14:spPr xmlns:c14="http://schemas.microsoft.com/office/drawing/2007/8/2/chart">
                  <a:solidFill>
                    <a:srgbClr val="FFFFFF"/>
                  </a:solidFill>
                </c14:spPr>
              </c14:invertSolidFillFmt>
            </c:ext>
            <c:ext xmlns:c16="http://schemas.microsoft.com/office/drawing/2014/chart" uri="{C3380CC4-5D6E-409C-BE32-E72D297353CC}">
              <c16:uniqueId val="{00000000-3A2C-471C-BF67-EBD171204F87}"/>
            </c:ext>
          </c:extLst>
        </c:ser>
        <c:ser>
          <c:idx val="1"/>
          <c:order val="1"/>
          <c:tx>
            <c:strRef>
              <c:f>Sheet1!$C$1</c:f>
              <c:strCache>
                <c:ptCount val="1"/>
                <c:pt idx="0">
                  <c:v>International</c:v>
                </c:pt>
              </c:strCache>
            </c:strRef>
          </c:tx>
          <c:spPr>
            <a:solidFill>
              <a:srgbClr val="1E2761"/>
            </a:solidFill>
          </c:spPr>
          <c:invertIfNegative val="1"/>
          <c:cat>
            <c:strRef>
              <c:f>Sheet1!$A$2:$A$5</c:f>
              <c:strCache>
                <c:ptCount val="4"/>
                <c:pt idx="0">
                  <c:v>2023</c:v>
                </c:pt>
                <c:pt idx="1">
                  <c:v>2024</c:v>
                </c:pt>
                <c:pt idx="2">
                  <c:v>2025</c:v>
                </c:pt>
                <c:pt idx="3">
                  <c:v>2026</c:v>
                </c:pt>
              </c:strCache>
            </c:strRef>
          </c:cat>
          <c:val>
            <c:numRef>
              <c:f>Sheet1!$C$2:$C$5</c:f>
              <c:numCache>
                <c:formatCode>General</c:formatCode>
                <c:ptCount val="4"/>
                <c:pt idx="0">
                  <c:v>11.62</c:v>
                </c:pt>
                <c:pt idx="1">
                  <c:v>13.49</c:v>
                </c:pt>
                <c:pt idx="2">
                  <c:v>12.43</c:v>
                </c:pt>
                <c:pt idx="3">
                  <c:v>12.42</c:v>
                </c:pt>
              </c:numCache>
            </c:numRef>
          </c:val>
          <c:extLst>
            <c:ext xmlns:c14="http://schemas.microsoft.com/office/drawing/2007/8/2/chart" uri="{6F2FDCE9-48DA-4B69-8628-5D25D57E5C99}">
              <c14:invertSolidFillFmt>
                <c14:spPr xmlns:c14="http://schemas.microsoft.com/office/drawing/2007/8/2/chart">
                  <a:solidFill>
                    <a:srgbClr val="FFFFFF"/>
                  </a:solidFill>
                </c14:spPr>
              </c14:invertSolidFillFmt>
            </c:ext>
            <c:ext xmlns:c16="http://schemas.microsoft.com/office/drawing/2014/chart" uri="{C3380CC4-5D6E-409C-BE32-E72D297353CC}">
              <c16:uniqueId val="{00000001-3A2C-471C-BF67-EBD171204F87}"/>
            </c:ext>
          </c:extLst>
        </c:ser>
        <c:ser>
          <c:idx val="2"/>
          <c:order val="2"/>
          <c:tx>
            <c:strRef>
              <c:f>Sheet1!$D$1</c:f>
              <c:strCache>
                <c:ptCount val="1"/>
                <c:pt idx="0">
                  <c:v>Total</c:v>
                </c:pt>
              </c:strCache>
            </c:strRef>
          </c:tx>
          <c:spPr>
            <a:solidFill>
              <a:srgbClr val="D9A441"/>
            </a:solidFill>
          </c:spPr>
          <c:invertIfNegative val="1"/>
          <c:cat>
            <c:strRef>
              <c:f>Sheet1!$A$2:$A$5</c:f>
              <c:strCache>
                <c:ptCount val="4"/>
                <c:pt idx="0">
                  <c:v>2023</c:v>
                </c:pt>
                <c:pt idx="1">
                  <c:v>2024</c:v>
                </c:pt>
                <c:pt idx="2">
                  <c:v>2025</c:v>
                </c:pt>
                <c:pt idx="3">
                  <c:v>2026</c:v>
                </c:pt>
              </c:strCache>
            </c:strRef>
          </c:cat>
          <c:val>
            <c:numRef>
              <c:f>Sheet1!$D$2:$D$5</c:f>
              <c:numCache>
                <c:formatCode>General</c:formatCode>
                <c:ptCount val="4"/>
                <c:pt idx="0">
                  <c:v>27.23</c:v>
                </c:pt>
                <c:pt idx="1">
                  <c:v>28.32</c:v>
                </c:pt>
                <c:pt idx="2">
                  <c:v>26.98</c:v>
                </c:pt>
                <c:pt idx="3">
                  <c:v>27.86</c:v>
                </c:pt>
              </c:numCache>
            </c:numRef>
          </c:val>
          <c:extLst>
            <c:ext xmlns:c14="http://schemas.microsoft.com/office/drawing/2007/8/2/chart" uri="{6F2FDCE9-48DA-4B69-8628-5D25D57E5C99}">
              <c14:invertSolidFillFmt>
                <c14:spPr xmlns:c14="http://schemas.microsoft.com/office/drawing/2007/8/2/chart">
                  <a:solidFill>
                    <a:srgbClr val="FFFFFF"/>
                  </a:solidFill>
                </c14:spPr>
              </c14:invertSolidFillFmt>
            </c:ext>
            <c:ext xmlns:c16="http://schemas.microsoft.com/office/drawing/2014/chart" uri="{C3380CC4-5D6E-409C-BE32-E72D297353CC}">
              <c16:uniqueId val="{00000002-3A2C-471C-BF67-EBD171204F87}"/>
            </c:ext>
          </c:extLst>
        </c:ser>
        <c:dLbls>
          <c:showLegendKey val="0"/>
          <c:showVal val="0"/>
          <c:showCatName val="0"/>
          <c:showSerName val="0"/>
          <c:showPercent val="0"/>
          <c:showBubbleSize val="0"/>
        </c:dLbls>
        <c:gapWidth val="150"/>
        <c:axId val="-2068027336"/>
        <c:axId val="-2113994440"/>
      </c:barChart>
      <c:catAx>
        <c:axId val="-2068027336"/>
        <c:scaling>
          <c:orientation val="minMax"/>
        </c:scaling>
        <c:delete val="0"/>
        <c:axPos val="b"/>
        <c:numFmt formatCode="General" sourceLinked="0"/>
        <c:majorTickMark val="out"/>
        <c:minorTickMark val="none"/>
        <c:tickLblPos val="nextTo"/>
        <c:txPr>
          <a:bodyPr/>
          <a:lstStyle/>
          <a:p>
            <a:pPr>
              <a:defRPr sz="1200"/>
            </a:pPr>
            <a:endParaRPr lang="en-US"/>
          </a:p>
        </c:txPr>
        <c:crossAx val="-2113994440"/>
        <c:crosses val="autoZero"/>
        <c:auto val="1"/>
        <c:lblAlgn val="ctr"/>
        <c:lblOffset val="100"/>
        <c:noMultiLvlLbl val="0"/>
      </c:catAx>
      <c:valAx>
        <c:axId val="-2113994440"/>
        <c:scaling>
          <c:orientation val="minMax"/>
        </c:scaling>
        <c:delete val="0"/>
        <c:axPos val="l"/>
        <c:majorGridlines/>
        <c:numFmt formatCode="General" sourceLinked="1"/>
        <c:majorTickMark val="out"/>
        <c:minorTickMark val="none"/>
        <c:tickLblPos val="nextTo"/>
        <c:txPr>
          <a:bodyPr/>
          <a:lstStyle/>
          <a:p>
            <a:pPr>
              <a:defRPr sz="1200"/>
            </a:pPr>
            <a:endParaRPr lang="en-US"/>
          </a:p>
        </c:txPr>
        <c:crossAx val="-2068027336"/>
        <c:crosses val="autoZero"/>
        <c:crossBetween val="between"/>
      </c:valAx>
    </c:plotArea>
    <c:legend>
      <c:legendPos val="b"/>
      <c:overlay val="0"/>
      <c:txPr>
        <a:bodyPr/>
        <a:lstStyle/>
        <a:p>
          <a:pPr>
            <a:defRPr sz="1400"/>
          </a:pPr>
          <a:endParaRPr lang="en-US"/>
        </a:p>
      </c:txPr>
    </c:legend>
    <c:plotVisOnly val="1"/>
    <c:dispBlanksAs val="gap"/>
    <c:showDLblsOverMax val="1"/>
  </c:chart>
  <c:txPr>
    <a:bodyPr/>
    <a:lstStyle/>
    <a:p>
      <a:pPr>
        <a:defRPr sz="1800"/>
      </a:pPr>
      <a:endParaRPr lang="en-US"/>
    </a:p>
  </c:txPr>
  <c:externalData r:id="rId1">
    <c:autoUpdate val="0"/>
  </c:externalData>
</c:chartSpace>
</file>

<file path=ppt/charts/chart8.xml><?xml version="1.0" encoding="utf-8"?>
<c:chartSpace xmlns:c="http://schemas.openxmlformats.org/drawingml/2006/chart" xmlns:a="http://schemas.openxmlformats.org/drawingml/2006/main" xmlns:r="http://schemas.openxmlformats.org/officeDocument/2006/relationships" xmlns:c16r2="http://schemas.microsoft.com/office/drawing/2015/06/chart">
  <c:date1904 val="0"/>
  <c:lang val="en-US"/>
  <c:roundedCorners val="1"/>
  <c:style val="2"/>
  <c:chart>
    <c:title>
      <c:tx>
        <c:rich>
          <a:bodyPr/>
          <a:lstStyle/>
          <a:p>
            <a:r>
              <a:rPr lang="en-US" sz="1250" b="1">
                <a:solidFill>
                  <a:srgbClr val="1E2761"/>
                </a:solidFill>
                <a:latin typeface="Calibri"/>
              </a:rPr>
              <a:t>Revenue from tourists H1 (Billion THB)</a:t>
            </a:r>
          </a:p>
        </c:rich>
      </c:tx>
      <c:overlay val="0"/>
    </c:title>
    <c:autoTitleDeleted val="0"/>
    <c:plotArea>
      <c:layout/>
      <c:barChart>
        <c:barDir val="col"/>
        <c:grouping val="clustered"/>
        <c:varyColors val="1"/>
        <c:ser>
          <c:idx val="0"/>
          <c:order val="0"/>
          <c:tx>
            <c:strRef>
              <c:f>Sheet1!$B$1</c:f>
              <c:strCache>
                <c:ptCount val="1"/>
                <c:pt idx="0">
                  <c:v>Domestic</c:v>
                </c:pt>
              </c:strCache>
            </c:strRef>
          </c:tx>
          <c:spPr>
            <a:solidFill>
              <a:srgbClr val="C9D6EE"/>
            </a:solidFill>
          </c:spPr>
          <c:invertIfNegative val="1"/>
          <c:cat>
            <c:strRef>
              <c:f>Sheet1!$A$2:$A$5</c:f>
              <c:strCache>
                <c:ptCount val="4"/>
                <c:pt idx="0">
                  <c:v>2023</c:v>
                </c:pt>
                <c:pt idx="1">
                  <c:v>2024</c:v>
                </c:pt>
                <c:pt idx="2">
                  <c:v>2025</c:v>
                </c:pt>
                <c:pt idx="3">
                  <c:v>2026</c:v>
                </c:pt>
              </c:strCache>
            </c:strRef>
          </c:cat>
          <c:val>
            <c:numRef>
              <c:f>Sheet1!$B$2:$B$5</c:f>
              <c:numCache>
                <c:formatCode>General</c:formatCode>
                <c:ptCount val="4"/>
                <c:pt idx="0">
                  <c:v>125.5</c:v>
                </c:pt>
                <c:pt idx="1">
                  <c:v>124.5</c:v>
                </c:pt>
                <c:pt idx="2">
                  <c:v>122.4</c:v>
                </c:pt>
                <c:pt idx="3">
                  <c:v>133.4</c:v>
                </c:pt>
              </c:numCache>
            </c:numRef>
          </c:val>
          <c:extLst>
            <c:ext xmlns:c14="http://schemas.microsoft.com/office/drawing/2007/8/2/chart" uri="{6F2FDCE9-48DA-4B69-8628-5D25D57E5C99}">
              <c14:invertSolidFillFmt>
                <c14:spPr xmlns:c14="http://schemas.microsoft.com/office/drawing/2007/8/2/chart">
                  <a:solidFill>
                    <a:srgbClr val="FFFFFF"/>
                  </a:solidFill>
                </c14:spPr>
              </c14:invertSolidFillFmt>
            </c:ext>
            <c:ext xmlns:c16="http://schemas.microsoft.com/office/drawing/2014/chart" uri="{C3380CC4-5D6E-409C-BE32-E72D297353CC}">
              <c16:uniqueId val="{00000000-907F-402E-B742-5B793452DFAC}"/>
            </c:ext>
          </c:extLst>
        </c:ser>
        <c:ser>
          <c:idx val="1"/>
          <c:order val="1"/>
          <c:tx>
            <c:strRef>
              <c:f>Sheet1!$C$1</c:f>
              <c:strCache>
                <c:ptCount val="1"/>
                <c:pt idx="0">
                  <c:v>International</c:v>
                </c:pt>
              </c:strCache>
            </c:strRef>
          </c:tx>
          <c:spPr>
            <a:solidFill>
              <a:srgbClr val="1E2761"/>
            </a:solidFill>
          </c:spPr>
          <c:invertIfNegative val="1"/>
          <c:cat>
            <c:strRef>
              <c:f>Sheet1!$A$2:$A$5</c:f>
              <c:strCache>
                <c:ptCount val="4"/>
                <c:pt idx="0">
                  <c:v>2023</c:v>
                </c:pt>
                <c:pt idx="1">
                  <c:v>2024</c:v>
                </c:pt>
                <c:pt idx="2">
                  <c:v>2025</c:v>
                </c:pt>
                <c:pt idx="3">
                  <c:v>2026</c:v>
                </c:pt>
              </c:strCache>
            </c:strRef>
          </c:cat>
          <c:val>
            <c:numRef>
              <c:f>Sheet1!$C$2:$C$5</c:f>
              <c:numCache>
                <c:formatCode>General</c:formatCode>
                <c:ptCount val="4"/>
                <c:pt idx="0">
                  <c:v>276.60000000000002</c:v>
                </c:pt>
                <c:pt idx="1">
                  <c:v>326.10000000000002</c:v>
                </c:pt>
                <c:pt idx="2">
                  <c:v>304</c:v>
                </c:pt>
                <c:pt idx="3">
                  <c:v>311.5</c:v>
                </c:pt>
              </c:numCache>
            </c:numRef>
          </c:val>
          <c:extLst>
            <c:ext xmlns:c14="http://schemas.microsoft.com/office/drawing/2007/8/2/chart" uri="{6F2FDCE9-48DA-4B69-8628-5D25D57E5C99}">
              <c14:invertSolidFillFmt>
                <c14:spPr xmlns:c14="http://schemas.microsoft.com/office/drawing/2007/8/2/chart">
                  <a:solidFill>
                    <a:srgbClr val="FFFFFF"/>
                  </a:solidFill>
                </c14:spPr>
              </c14:invertSolidFillFmt>
            </c:ext>
            <c:ext xmlns:c16="http://schemas.microsoft.com/office/drawing/2014/chart" uri="{C3380CC4-5D6E-409C-BE32-E72D297353CC}">
              <c16:uniqueId val="{00000001-907F-402E-B742-5B793452DFAC}"/>
            </c:ext>
          </c:extLst>
        </c:ser>
        <c:ser>
          <c:idx val="2"/>
          <c:order val="2"/>
          <c:tx>
            <c:strRef>
              <c:f>Sheet1!$D$1</c:f>
              <c:strCache>
                <c:ptCount val="1"/>
                <c:pt idx="0">
                  <c:v>Total</c:v>
                </c:pt>
              </c:strCache>
            </c:strRef>
          </c:tx>
          <c:spPr>
            <a:solidFill>
              <a:srgbClr val="D9A441"/>
            </a:solidFill>
          </c:spPr>
          <c:invertIfNegative val="1"/>
          <c:cat>
            <c:strRef>
              <c:f>Sheet1!$A$2:$A$5</c:f>
              <c:strCache>
                <c:ptCount val="4"/>
                <c:pt idx="0">
                  <c:v>2023</c:v>
                </c:pt>
                <c:pt idx="1">
                  <c:v>2024</c:v>
                </c:pt>
                <c:pt idx="2">
                  <c:v>2025</c:v>
                </c:pt>
                <c:pt idx="3">
                  <c:v>2026</c:v>
                </c:pt>
              </c:strCache>
            </c:strRef>
          </c:cat>
          <c:val>
            <c:numRef>
              <c:f>Sheet1!$D$2:$D$5</c:f>
              <c:numCache>
                <c:formatCode>General</c:formatCode>
                <c:ptCount val="4"/>
                <c:pt idx="0">
                  <c:v>402.1</c:v>
                </c:pt>
                <c:pt idx="1">
                  <c:v>450.6</c:v>
                </c:pt>
                <c:pt idx="2">
                  <c:v>426.3</c:v>
                </c:pt>
                <c:pt idx="3">
                  <c:v>444.8</c:v>
                </c:pt>
              </c:numCache>
            </c:numRef>
          </c:val>
          <c:extLst>
            <c:ext xmlns:c14="http://schemas.microsoft.com/office/drawing/2007/8/2/chart" uri="{6F2FDCE9-48DA-4B69-8628-5D25D57E5C99}">
              <c14:invertSolidFillFmt>
                <c14:spPr xmlns:c14="http://schemas.microsoft.com/office/drawing/2007/8/2/chart">
                  <a:solidFill>
                    <a:srgbClr val="FFFFFF"/>
                  </a:solidFill>
                </c14:spPr>
              </c14:invertSolidFillFmt>
            </c:ext>
            <c:ext xmlns:c16="http://schemas.microsoft.com/office/drawing/2014/chart" uri="{C3380CC4-5D6E-409C-BE32-E72D297353CC}">
              <c16:uniqueId val="{00000002-907F-402E-B742-5B793452DFAC}"/>
            </c:ext>
          </c:extLst>
        </c:ser>
        <c:dLbls>
          <c:showLegendKey val="0"/>
          <c:showVal val="0"/>
          <c:showCatName val="0"/>
          <c:showSerName val="0"/>
          <c:showPercent val="0"/>
          <c:showBubbleSize val="0"/>
        </c:dLbls>
        <c:gapWidth val="150"/>
        <c:axId val="-2068027336"/>
        <c:axId val="-2113994440"/>
      </c:barChart>
      <c:catAx>
        <c:axId val="-2068027336"/>
        <c:scaling>
          <c:orientation val="minMax"/>
        </c:scaling>
        <c:delete val="0"/>
        <c:axPos val="b"/>
        <c:numFmt formatCode="General" sourceLinked="0"/>
        <c:majorTickMark val="out"/>
        <c:minorTickMark val="none"/>
        <c:tickLblPos val="nextTo"/>
        <c:txPr>
          <a:bodyPr/>
          <a:lstStyle/>
          <a:p>
            <a:pPr>
              <a:defRPr sz="1200"/>
            </a:pPr>
            <a:endParaRPr lang="en-US"/>
          </a:p>
        </c:txPr>
        <c:crossAx val="-2113994440"/>
        <c:crosses val="autoZero"/>
        <c:auto val="1"/>
        <c:lblAlgn val="ctr"/>
        <c:lblOffset val="100"/>
        <c:noMultiLvlLbl val="0"/>
      </c:catAx>
      <c:valAx>
        <c:axId val="-2113994440"/>
        <c:scaling>
          <c:orientation val="minMax"/>
        </c:scaling>
        <c:delete val="0"/>
        <c:axPos val="l"/>
        <c:majorGridlines/>
        <c:numFmt formatCode="General" sourceLinked="1"/>
        <c:majorTickMark val="out"/>
        <c:minorTickMark val="none"/>
        <c:tickLblPos val="nextTo"/>
        <c:txPr>
          <a:bodyPr/>
          <a:lstStyle/>
          <a:p>
            <a:pPr>
              <a:defRPr sz="1200"/>
            </a:pPr>
            <a:endParaRPr lang="en-US"/>
          </a:p>
        </c:txPr>
        <c:crossAx val="-2068027336"/>
        <c:crosses val="autoZero"/>
        <c:crossBetween val="between"/>
      </c:valAx>
    </c:plotArea>
    <c:legend>
      <c:legendPos val="b"/>
      <c:layout>
        <c:manualLayout>
          <c:xMode val="edge"/>
          <c:yMode val="edge"/>
          <c:x val="0.17712420481338137"/>
          <c:y val="0.81614816530286649"/>
          <c:w val="0.67635422690807723"/>
          <c:h val="0.11849235757295044"/>
        </c:manualLayout>
      </c:layout>
      <c:overlay val="0"/>
      <c:txPr>
        <a:bodyPr/>
        <a:lstStyle/>
        <a:p>
          <a:pPr>
            <a:defRPr sz="1400"/>
          </a:pPr>
          <a:endParaRPr lang="en-US"/>
        </a:p>
      </c:txPr>
    </c:legend>
    <c:plotVisOnly val="1"/>
    <c:dispBlanksAs val="gap"/>
    <c:showDLblsOverMax val="1"/>
  </c:chart>
  <c:txPr>
    <a:bodyPr/>
    <a:lstStyle/>
    <a:p>
      <a:pPr>
        <a:defRPr sz="1800"/>
      </a:pPr>
      <a:endParaRPr lang="en-US"/>
    </a:p>
  </c:txPr>
  <c:externalData r:id="rId1">
    <c:autoUpdate val="0"/>
  </c:externalData>
</c:chartSpace>
</file>

<file path=ppt/charts/chart9.xml><?xml version="1.0" encoding="utf-8"?>
<c:chartSpace xmlns:c="http://schemas.openxmlformats.org/drawingml/2006/chart" xmlns:a="http://schemas.openxmlformats.org/drawingml/2006/main" xmlns:r="http://schemas.openxmlformats.org/officeDocument/2006/relationships" xmlns:c16r2="http://schemas.microsoft.com/office/drawing/2015/06/chart">
  <c:date1904 val="0"/>
  <c:lang val="en-US"/>
  <c:roundedCorners val="1"/>
  <c:style val="2"/>
  <c:chart>
    <c:title>
      <c:tx>
        <c:rich>
          <a:bodyPr/>
          <a:lstStyle/>
          <a:p>
            <a:pPr>
              <a:defRPr sz="1300" b="0" i="0" u="none" strike="noStrike">
                <a:solidFill>
                  <a:srgbClr val="1E2761"/>
                </a:solidFill>
                <a:latin typeface="Calibri"/>
              </a:defRPr>
            </a:pPr>
            <a:r>
              <a:rPr lang="en-US" sz="1300" b="0" i="0" u="none" strike="noStrike">
                <a:solidFill>
                  <a:srgbClr val="1E2761"/>
                </a:solidFill>
                <a:latin typeface="Calibri"/>
              </a:rPr>
              <a:t>Occupancy (%)</a:t>
            </a:r>
          </a:p>
        </c:rich>
      </c:tx>
      <c:overlay val="0"/>
    </c:title>
    <c:autoTitleDeleted val="0"/>
    <c:plotArea>
      <c:layout/>
      <c:barChart>
        <c:barDir val="col"/>
        <c:grouping val="clustered"/>
        <c:varyColors val="0"/>
        <c:ser>
          <c:idx val="0"/>
          <c:order val="0"/>
          <c:tx>
            <c:strRef>
              <c:f>Sheet1!$B$1</c:f>
              <c:strCache>
                <c:ptCount val="1"/>
                <c:pt idx="0">
                  <c:v>2025</c:v>
                </c:pt>
              </c:strCache>
            </c:strRef>
          </c:tx>
          <c:spPr>
            <a:solidFill>
              <a:srgbClr val="7FA4DC"/>
            </a:solidFill>
            <a:effectLst/>
          </c:spPr>
          <c:invertIfNegative val="0"/>
          <c:dLbls>
            <c:numFmt formatCode="0" sourceLinked="0"/>
            <c:spPr>
              <a:noFill/>
              <a:ln>
                <a:noFill/>
              </a:ln>
              <a:effectLst/>
            </c:spPr>
            <c:txPr>
              <a:bodyPr/>
              <a:lstStyle/>
              <a:p>
                <a:pPr>
                  <a:defRPr sz="750" b="0" i="0" u="none" strike="noStrike">
                    <a:solidFill>
                      <a:srgbClr val="6B7280"/>
                    </a:solidFill>
                    <a:latin typeface="Calibri"/>
                  </a:defRPr>
                </a:pPr>
                <a:endParaRPr lang="en-US"/>
              </a:p>
            </c:txPr>
            <c:showLegendKey val="0"/>
            <c:showVal val="1"/>
            <c:showCatName val="0"/>
            <c:showSerName val="0"/>
            <c:showPercent val="0"/>
            <c:showBubbleSize val="0"/>
            <c:showLeaderLines val="0"/>
            <c:extLst>
              <c:ext xmlns:c15="http://schemas.microsoft.com/office/drawing/2012/chart" uri="{CE6537A1-D6FC-4f65-9D91-7224C49458BB}">
                <c15:showLeaderLines val="0"/>
              </c:ext>
            </c:extLst>
          </c:dLbls>
          <c:cat>
            <c:strRef>
              <c:f>Sheet1!$A$2:$A$7</c:f>
              <c:strCache>
                <c:ptCount val="6"/>
                <c:pt idx="0">
                  <c:v>Jan</c:v>
                </c:pt>
                <c:pt idx="1">
                  <c:v>Feb</c:v>
                </c:pt>
                <c:pt idx="2">
                  <c:v>Mar</c:v>
                </c:pt>
                <c:pt idx="3">
                  <c:v>Apr</c:v>
                </c:pt>
                <c:pt idx="4">
                  <c:v>May</c:v>
                </c:pt>
                <c:pt idx="5">
                  <c:v>Jun</c:v>
                </c:pt>
              </c:strCache>
            </c:strRef>
          </c:cat>
          <c:val>
            <c:numRef>
              <c:f>Sheet1!$B$2:$B$7</c:f>
              <c:numCache>
                <c:formatCode>General</c:formatCode>
                <c:ptCount val="6"/>
                <c:pt idx="0">
                  <c:v>77.52</c:v>
                </c:pt>
                <c:pt idx="1">
                  <c:v>78.64</c:v>
                </c:pt>
                <c:pt idx="2">
                  <c:v>68.819999999999993</c:v>
                </c:pt>
                <c:pt idx="3">
                  <c:v>62.29</c:v>
                </c:pt>
                <c:pt idx="4">
                  <c:v>63.27</c:v>
                </c:pt>
                <c:pt idx="5">
                  <c:v>63.65</c:v>
                </c:pt>
              </c:numCache>
            </c:numRef>
          </c:val>
          <c:extLst>
            <c:ext xmlns:c16="http://schemas.microsoft.com/office/drawing/2014/chart" uri="{C3380CC4-5D6E-409C-BE32-E72D297353CC}">
              <c16:uniqueId val="{00000000-DFA5-4170-BABD-F3C4CFAC4D74}"/>
            </c:ext>
          </c:extLst>
        </c:ser>
        <c:ser>
          <c:idx val="1"/>
          <c:order val="1"/>
          <c:tx>
            <c:strRef>
              <c:f>Sheet1!$C$1</c:f>
              <c:strCache>
                <c:ptCount val="1"/>
                <c:pt idx="0">
                  <c:v>2026</c:v>
                </c:pt>
              </c:strCache>
            </c:strRef>
          </c:tx>
          <c:spPr>
            <a:solidFill>
              <a:srgbClr val="1E2761"/>
            </a:solidFill>
            <a:effectLst/>
          </c:spPr>
          <c:invertIfNegative val="0"/>
          <c:dLbls>
            <c:numFmt formatCode="0" sourceLinked="0"/>
            <c:spPr>
              <a:noFill/>
              <a:ln>
                <a:noFill/>
              </a:ln>
              <a:effectLst/>
            </c:spPr>
            <c:txPr>
              <a:bodyPr/>
              <a:lstStyle/>
              <a:p>
                <a:pPr>
                  <a:defRPr sz="750" b="0" i="0" u="none" strike="noStrike">
                    <a:solidFill>
                      <a:srgbClr val="6B7280"/>
                    </a:solidFill>
                    <a:latin typeface="Calibri"/>
                  </a:defRPr>
                </a:pPr>
                <a:endParaRPr lang="en-US"/>
              </a:p>
            </c:txPr>
            <c:showLegendKey val="0"/>
            <c:showVal val="1"/>
            <c:showCatName val="0"/>
            <c:showSerName val="0"/>
            <c:showPercent val="0"/>
            <c:showBubbleSize val="0"/>
            <c:showLeaderLines val="0"/>
            <c:extLst>
              <c:ext xmlns:c15="http://schemas.microsoft.com/office/drawing/2012/chart" uri="{CE6537A1-D6FC-4f65-9D91-7224C49458BB}">
                <c15:showLeaderLines val="0"/>
              </c:ext>
            </c:extLst>
          </c:dLbls>
          <c:cat>
            <c:strRef>
              <c:f>Sheet1!$A$2:$A$7</c:f>
              <c:strCache>
                <c:ptCount val="6"/>
                <c:pt idx="0">
                  <c:v>Jan</c:v>
                </c:pt>
                <c:pt idx="1">
                  <c:v>Feb</c:v>
                </c:pt>
                <c:pt idx="2">
                  <c:v>Mar</c:v>
                </c:pt>
                <c:pt idx="3">
                  <c:v>Apr</c:v>
                </c:pt>
                <c:pt idx="4">
                  <c:v>May</c:v>
                </c:pt>
                <c:pt idx="5">
                  <c:v>Jun</c:v>
                </c:pt>
              </c:strCache>
            </c:strRef>
          </c:cat>
          <c:val>
            <c:numRef>
              <c:f>Sheet1!$C$2:$C$7</c:f>
              <c:numCache>
                <c:formatCode>General</c:formatCode>
                <c:ptCount val="6"/>
                <c:pt idx="0">
                  <c:v>75.8</c:v>
                </c:pt>
                <c:pt idx="1">
                  <c:v>80.900000000000006</c:v>
                </c:pt>
                <c:pt idx="2">
                  <c:v>73.3</c:v>
                </c:pt>
                <c:pt idx="3">
                  <c:v>64.7</c:v>
                </c:pt>
                <c:pt idx="4">
                  <c:v>65.5</c:v>
                </c:pt>
                <c:pt idx="5">
                  <c:v>64.56</c:v>
                </c:pt>
              </c:numCache>
            </c:numRef>
          </c:val>
          <c:extLst>
            <c:ext xmlns:c16="http://schemas.microsoft.com/office/drawing/2014/chart" uri="{C3380CC4-5D6E-409C-BE32-E72D297353CC}">
              <c16:uniqueId val="{00000001-DFA5-4170-BABD-F3C4CFAC4D74}"/>
            </c:ext>
          </c:extLst>
        </c:ser>
        <c:dLbls>
          <c:showLegendKey val="0"/>
          <c:showVal val="1"/>
          <c:showCatName val="0"/>
          <c:showSerName val="0"/>
          <c:showPercent val="0"/>
          <c:showBubbleSize val="0"/>
        </c:dLbls>
        <c:gapWidth val="150"/>
        <c:axId val="2094734554"/>
        <c:axId val="2094734552"/>
      </c:barChart>
      <c:catAx>
        <c:axId val="2094734554"/>
        <c:scaling>
          <c:orientation val="minMax"/>
        </c:scaling>
        <c:delete val="0"/>
        <c:axPos val="b"/>
        <c:numFmt formatCode="General" sourceLinked="1"/>
        <c:majorTickMark val="out"/>
        <c:minorTickMark val="none"/>
        <c:tickLblPos val="low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1000" b="0" i="0" u="none" strike="noStrike">
                <a:solidFill>
                  <a:srgbClr val="6B7280"/>
                </a:solidFill>
                <a:latin typeface="Calibri"/>
              </a:defRPr>
            </a:pPr>
            <a:endParaRPr lang="en-US"/>
          </a:p>
        </c:txPr>
        <c:crossAx val="2094734552"/>
        <c:crosses val="autoZero"/>
        <c:auto val="1"/>
        <c:lblAlgn val="ctr"/>
        <c:lblOffset val="100"/>
        <c:noMultiLvlLbl val="1"/>
      </c:catAx>
      <c:valAx>
        <c:axId val="2094734552"/>
        <c:scaling>
          <c:orientation val="minMax"/>
        </c:scaling>
        <c:delete val="0"/>
        <c:axPos val="l"/>
        <c:majorGridlines>
          <c:spPr>
            <a:ln w="6350" cap="flat">
              <a:solidFill>
                <a:srgbClr val="E5E8EF"/>
              </a:solidFill>
              <a:prstDash val="solid"/>
              <a:round/>
            </a:ln>
          </c:spPr>
        </c:majorGridlines>
        <c:numFmt formatCode="General" sourceLinked="0"/>
        <c:majorTickMark val="out"/>
        <c:minorTickMark val="none"/>
        <c:tickLblPos val="nextTo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950" b="0" i="0" u="none" strike="noStrike">
                <a:solidFill>
                  <a:srgbClr val="6B7280"/>
                </a:solidFill>
                <a:latin typeface="Calibri"/>
              </a:defRPr>
            </a:pPr>
            <a:endParaRPr lang="en-US"/>
          </a:p>
        </c:txPr>
        <c:crossAx val="2094734554"/>
        <c:crosses val="autoZero"/>
        <c:crossBetween val="between"/>
      </c:valAx>
      <c:spPr>
        <a:noFill/>
        <a:ln>
          <a:noFill/>
        </a:ln>
        <a:effectLst/>
      </c:spPr>
    </c:plotArea>
    <c:legend>
      <c:legendPos val="b"/>
      <c:overlay val="0"/>
      <c:txPr>
        <a:bodyPr/>
        <a:lstStyle/>
        <a:p>
          <a:pPr>
            <a:defRPr sz="1000">
              <a:solidFill>
                <a:srgbClr val="26292E"/>
              </a:solidFill>
              <a:latin typeface="Calibri"/>
              <a:cs typeface="Calibri"/>
            </a:defRPr>
          </a:pPr>
          <a:endParaRPr lang="en-US"/>
        </a:p>
      </c:txPr>
    </c:legend>
    <c:plotVisOnly val="1"/>
    <c:dispBlanksAs val="span"/>
    <c:showDLblsOverMax val="1"/>
  </c:chart>
  <c:spPr>
    <a:noFill/>
    <a:ln>
      <a:noFill/>
    </a:ln>
    <a:effectLst/>
  </c:spPr>
  <c:externalData r:id="rId1">
    <c:autoUpdate val="0"/>
  </c:externalData>
</c:chartSpace>
</file>

<file path=ppt/charts/chart10.xml><?xml version="1.0" encoding="utf-8"?>
<c:chartSpace xmlns:c="http://schemas.openxmlformats.org/drawingml/2006/chart" xmlns:a="http://schemas.openxmlformats.org/drawingml/2006/main" xmlns:r="http://schemas.openxmlformats.org/officeDocument/2006/relationships" xmlns:c16r2="http://schemas.microsoft.com/office/drawing/2015/06/chart">
  <c:date1904 val="0"/>
  <c:lang val="en-US"/>
  <c:roundedCorners val="1"/>
  <c:style val="2"/>
  <c:chart>
    <c:title>
      <c:tx>
        <c:rich>
          <a:bodyPr/>
          <a:lstStyle/>
          <a:p>
            <a:pPr>
              <a:defRPr sz="1300" b="0" i="0" u="none" strike="noStrike">
                <a:solidFill>
                  <a:srgbClr val="1E2761"/>
                </a:solidFill>
                <a:latin typeface="Calibri"/>
              </a:defRPr>
            </a:pPr>
            <a:r>
              <a:rPr lang="en-US" sz="1300" b="0" i="0" u="none" strike="noStrike">
                <a:solidFill>
                  <a:srgbClr val="1E2761"/>
                </a:solidFill>
                <a:latin typeface="Calibri"/>
              </a:rPr>
              <a:t>ADR (THB)</a:t>
            </a:r>
          </a:p>
        </c:rich>
      </c:tx>
      <c:overlay val="0"/>
    </c:title>
    <c:autoTitleDeleted val="0"/>
    <c:plotArea>
      <c:layout/>
      <c:barChart>
        <c:barDir val="col"/>
        <c:grouping val="clustered"/>
        <c:varyColors val="0"/>
        <c:ser>
          <c:idx val="0"/>
          <c:order val="0"/>
          <c:tx>
            <c:strRef>
              <c:f>Sheet1!$B$1</c:f>
              <c:strCache>
                <c:ptCount val="1"/>
                <c:pt idx="0">
                  <c:v>2025</c:v>
                </c:pt>
              </c:strCache>
            </c:strRef>
          </c:tx>
          <c:spPr>
            <a:solidFill>
              <a:srgbClr val="7FA4DC"/>
            </a:solidFill>
            <a:effectLst/>
          </c:spPr>
          <c:invertIfNegative val="0"/>
          <c:dLbls>
            <c:numFmt formatCode="#,##0" sourceLinked="0"/>
            <c:spPr>
              <a:noFill/>
              <a:ln>
                <a:noFill/>
              </a:ln>
              <a:effectLst/>
            </c:spPr>
            <c:txPr>
              <a:bodyPr/>
              <a:lstStyle/>
              <a:p>
                <a:pPr>
                  <a:defRPr sz="750" b="0" i="0" u="none" strike="noStrike">
                    <a:solidFill>
                      <a:srgbClr val="6B7280"/>
                    </a:solidFill>
                    <a:latin typeface="Calibri"/>
                  </a:defRPr>
                </a:pPr>
                <a:endParaRPr lang="en-US"/>
              </a:p>
            </c:txPr>
            <c:showLegendKey val="0"/>
            <c:showVal val="1"/>
            <c:showCatName val="0"/>
            <c:showSerName val="0"/>
            <c:showPercent val="0"/>
            <c:showBubbleSize val="0"/>
            <c:showLeaderLines val="0"/>
            <c:extLst>
              <c:ext xmlns:c15="http://schemas.microsoft.com/office/drawing/2012/chart" uri="{CE6537A1-D6FC-4f65-9D91-7224C49458BB}">
                <c15:showLeaderLines val="0"/>
              </c:ext>
            </c:extLst>
          </c:dLbls>
          <c:cat>
            <c:strRef>
              <c:f>Sheet1!$A$2:$A$7</c:f>
              <c:strCache>
                <c:ptCount val="6"/>
                <c:pt idx="0">
                  <c:v>Jan</c:v>
                </c:pt>
                <c:pt idx="1">
                  <c:v>Feb</c:v>
                </c:pt>
                <c:pt idx="2">
                  <c:v>Mar</c:v>
                </c:pt>
                <c:pt idx="3">
                  <c:v>Apr</c:v>
                </c:pt>
                <c:pt idx="4">
                  <c:v>May</c:v>
                </c:pt>
                <c:pt idx="5">
                  <c:v>Jun</c:v>
                </c:pt>
              </c:strCache>
            </c:strRef>
          </c:cat>
          <c:val>
            <c:numRef>
              <c:f>Sheet1!$B$2:$B$7</c:f>
              <c:numCache>
                <c:formatCode>General</c:formatCode>
                <c:ptCount val="6"/>
                <c:pt idx="0">
                  <c:v>4605.45</c:v>
                </c:pt>
                <c:pt idx="1">
                  <c:v>4286.41</c:v>
                </c:pt>
                <c:pt idx="2">
                  <c:v>3890.63</c:v>
                </c:pt>
                <c:pt idx="3">
                  <c:v>3869</c:v>
                </c:pt>
                <c:pt idx="4">
                  <c:v>3638.97</c:v>
                </c:pt>
                <c:pt idx="5">
                  <c:v>3572.01</c:v>
                </c:pt>
              </c:numCache>
            </c:numRef>
          </c:val>
          <c:extLst>
            <c:ext xmlns:c16="http://schemas.microsoft.com/office/drawing/2014/chart" uri="{C3380CC4-5D6E-409C-BE32-E72D297353CC}">
              <c16:uniqueId val="{00000000-39B7-4650-99F9-F81ABD5824E2}"/>
            </c:ext>
          </c:extLst>
        </c:ser>
        <c:ser>
          <c:idx val="1"/>
          <c:order val="1"/>
          <c:tx>
            <c:strRef>
              <c:f>Sheet1!$C$1</c:f>
              <c:strCache>
                <c:ptCount val="1"/>
                <c:pt idx="0">
                  <c:v>2026</c:v>
                </c:pt>
              </c:strCache>
            </c:strRef>
          </c:tx>
          <c:spPr>
            <a:solidFill>
              <a:srgbClr val="1E2761"/>
            </a:solidFill>
            <a:effectLst/>
          </c:spPr>
          <c:invertIfNegative val="0"/>
          <c:dLbls>
            <c:numFmt formatCode="#,##0" sourceLinked="0"/>
            <c:spPr>
              <a:noFill/>
              <a:ln>
                <a:noFill/>
              </a:ln>
              <a:effectLst/>
            </c:spPr>
            <c:txPr>
              <a:bodyPr/>
              <a:lstStyle/>
              <a:p>
                <a:pPr>
                  <a:defRPr sz="750" b="0" i="0" u="none" strike="noStrike">
                    <a:solidFill>
                      <a:srgbClr val="6B7280"/>
                    </a:solidFill>
                    <a:latin typeface="Calibri"/>
                  </a:defRPr>
                </a:pPr>
                <a:endParaRPr lang="en-US"/>
              </a:p>
            </c:txPr>
            <c:showLegendKey val="0"/>
            <c:showVal val="1"/>
            <c:showCatName val="0"/>
            <c:showSerName val="0"/>
            <c:showPercent val="0"/>
            <c:showBubbleSize val="0"/>
            <c:showLeaderLines val="0"/>
            <c:extLst>
              <c:ext xmlns:c15="http://schemas.microsoft.com/office/drawing/2012/chart" uri="{CE6537A1-D6FC-4f65-9D91-7224C49458BB}">
                <c15:showLeaderLines val="0"/>
              </c:ext>
            </c:extLst>
          </c:dLbls>
          <c:cat>
            <c:strRef>
              <c:f>Sheet1!$A$2:$A$7</c:f>
              <c:strCache>
                <c:ptCount val="6"/>
                <c:pt idx="0">
                  <c:v>Jan</c:v>
                </c:pt>
                <c:pt idx="1">
                  <c:v>Feb</c:v>
                </c:pt>
                <c:pt idx="2">
                  <c:v>Mar</c:v>
                </c:pt>
                <c:pt idx="3">
                  <c:v>Apr</c:v>
                </c:pt>
                <c:pt idx="4">
                  <c:v>May</c:v>
                </c:pt>
                <c:pt idx="5">
                  <c:v>Jun</c:v>
                </c:pt>
              </c:strCache>
            </c:strRef>
          </c:cat>
          <c:val>
            <c:numRef>
              <c:f>Sheet1!$C$2:$C$7</c:f>
              <c:numCache>
                <c:formatCode>General</c:formatCode>
                <c:ptCount val="6"/>
                <c:pt idx="0">
                  <c:v>4286.6400000000003</c:v>
                </c:pt>
                <c:pt idx="1">
                  <c:v>4348.76</c:v>
                </c:pt>
                <c:pt idx="2">
                  <c:v>3941.36</c:v>
                </c:pt>
                <c:pt idx="3">
                  <c:v>3841.77</c:v>
                </c:pt>
                <c:pt idx="4">
                  <c:v>3627.15</c:v>
                </c:pt>
                <c:pt idx="5">
                  <c:v>3620.17</c:v>
                </c:pt>
              </c:numCache>
            </c:numRef>
          </c:val>
          <c:extLst>
            <c:ext xmlns:c16="http://schemas.microsoft.com/office/drawing/2014/chart" uri="{C3380CC4-5D6E-409C-BE32-E72D297353CC}">
              <c16:uniqueId val="{00000001-39B7-4650-99F9-F81ABD5824E2}"/>
            </c:ext>
          </c:extLst>
        </c:ser>
        <c:dLbls>
          <c:showLegendKey val="0"/>
          <c:showVal val="1"/>
          <c:showCatName val="0"/>
          <c:showSerName val="0"/>
          <c:showPercent val="0"/>
          <c:showBubbleSize val="0"/>
        </c:dLbls>
        <c:gapWidth val="150"/>
        <c:axId val="2094734554"/>
        <c:axId val="2094734552"/>
      </c:barChart>
      <c:catAx>
        <c:axId val="2094734554"/>
        <c:scaling>
          <c:orientation val="minMax"/>
        </c:scaling>
        <c:delete val="0"/>
        <c:axPos val="b"/>
        <c:numFmt formatCode="General" sourceLinked="1"/>
        <c:majorTickMark val="out"/>
        <c:minorTickMark val="none"/>
        <c:tickLblPos val="low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1000" b="0" i="0" u="none" strike="noStrike">
                <a:solidFill>
                  <a:srgbClr val="6B7280"/>
                </a:solidFill>
                <a:latin typeface="Calibri"/>
              </a:defRPr>
            </a:pPr>
            <a:endParaRPr lang="en-US"/>
          </a:p>
        </c:txPr>
        <c:crossAx val="2094734552"/>
        <c:crosses val="autoZero"/>
        <c:auto val="1"/>
        <c:lblAlgn val="ctr"/>
        <c:lblOffset val="100"/>
        <c:noMultiLvlLbl val="1"/>
      </c:catAx>
      <c:valAx>
        <c:axId val="2094734552"/>
        <c:scaling>
          <c:orientation val="minMax"/>
        </c:scaling>
        <c:delete val="0"/>
        <c:axPos val="l"/>
        <c:majorGridlines>
          <c:spPr>
            <a:ln w="6350" cap="flat">
              <a:solidFill>
                <a:srgbClr val="E5E8EF"/>
              </a:solidFill>
              <a:prstDash val="solid"/>
              <a:round/>
            </a:ln>
          </c:spPr>
        </c:majorGridlines>
        <c:numFmt formatCode="General" sourceLinked="0"/>
        <c:majorTickMark val="out"/>
        <c:minorTickMark val="none"/>
        <c:tickLblPos val="nextTo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950" b="0" i="0" u="none" strike="noStrike">
                <a:solidFill>
                  <a:srgbClr val="6B7280"/>
                </a:solidFill>
                <a:latin typeface="Calibri"/>
              </a:defRPr>
            </a:pPr>
            <a:endParaRPr lang="en-US"/>
          </a:p>
        </c:txPr>
        <c:crossAx val="2094734554"/>
        <c:crosses val="autoZero"/>
        <c:crossBetween val="between"/>
      </c:valAx>
      <c:spPr>
        <a:noFill/>
        <a:ln>
          <a:noFill/>
        </a:ln>
        <a:effectLst/>
      </c:spPr>
    </c:plotArea>
    <c:legend>
      <c:legendPos val="b"/>
      <c:overlay val="0"/>
      <c:txPr>
        <a:bodyPr/>
        <a:lstStyle/>
        <a:p>
          <a:pPr>
            <a:defRPr sz="1000">
              <a:solidFill>
                <a:srgbClr val="26292E"/>
              </a:solidFill>
              <a:latin typeface="Calibri"/>
              <a:cs typeface="Calibri"/>
            </a:defRPr>
          </a:pPr>
          <a:endParaRPr lang="en-US"/>
        </a:p>
      </c:txPr>
    </c:legend>
    <c:plotVisOnly val="1"/>
    <c:dispBlanksAs val="span"/>
    <c:showDLblsOverMax val="1"/>
  </c:chart>
  <c:spPr>
    <a:noFill/>
    <a:ln>
      <a:noFill/>
    </a:ln>
    <a:effectLst/>
  </c:spPr>
  <c:externalData r:id="rId1">
    <c:autoUpdate val="0"/>
  </c:externalData>
</c:chartSpace>
</file>

<file path=ppt/charts/chart11.xml><?xml version="1.0" encoding="utf-8"?>
<c:chartSpace xmlns:c="http://schemas.openxmlformats.org/drawingml/2006/chart" xmlns:a="http://schemas.openxmlformats.org/drawingml/2006/main" xmlns:r="http://schemas.openxmlformats.org/officeDocument/2006/relationships" xmlns:c16r2="http://schemas.microsoft.com/office/drawing/2015/06/chart">
  <c:date1904 val="0"/>
  <c:lang val="en-US"/>
  <c:roundedCorners val="1"/>
  <c:style val="2"/>
  <c:chart>
    <c:title>
      <c:tx>
        <c:rich>
          <a:bodyPr/>
          <a:lstStyle/>
          <a:p>
            <a:pPr>
              <a:defRPr sz="1300" b="0" i="0" u="none" strike="noStrike">
                <a:solidFill>
                  <a:srgbClr val="1E2761"/>
                </a:solidFill>
                <a:latin typeface="Calibri"/>
              </a:defRPr>
            </a:pPr>
            <a:r>
              <a:rPr lang="en-US" sz="1300" b="0" i="0" u="none" strike="noStrike">
                <a:solidFill>
                  <a:srgbClr val="1E2761"/>
                </a:solidFill>
                <a:latin typeface="Calibri"/>
              </a:rPr>
              <a:t>RevPAR (THB)</a:t>
            </a:r>
          </a:p>
        </c:rich>
      </c:tx>
      <c:overlay val="0"/>
    </c:title>
    <c:autoTitleDeleted val="0"/>
    <c:plotArea>
      <c:layout/>
      <c:barChart>
        <c:barDir val="col"/>
        <c:grouping val="clustered"/>
        <c:varyColors val="0"/>
        <c:ser>
          <c:idx val="0"/>
          <c:order val="0"/>
          <c:tx>
            <c:strRef>
              <c:f>Sheet1!$B$1</c:f>
              <c:strCache>
                <c:ptCount val="1"/>
                <c:pt idx="0">
                  <c:v>2025</c:v>
                </c:pt>
              </c:strCache>
            </c:strRef>
          </c:tx>
          <c:spPr>
            <a:solidFill>
              <a:srgbClr val="7FA4DC"/>
            </a:solidFill>
            <a:effectLst/>
          </c:spPr>
          <c:invertIfNegative val="0"/>
          <c:dLbls>
            <c:numFmt formatCode="#,##0" sourceLinked="0"/>
            <c:spPr>
              <a:noFill/>
              <a:ln>
                <a:noFill/>
              </a:ln>
              <a:effectLst/>
            </c:spPr>
            <c:txPr>
              <a:bodyPr/>
              <a:lstStyle/>
              <a:p>
                <a:pPr>
                  <a:defRPr sz="750" b="0" i="0" u="none" strike="noStrike">
                    <a:solidFill>
                      <a:srgbClr val="6B7280"/>
                    </a:solidFill>
                    <a:latin typeface="Calibri"/>
                  </a:defRPr>
                </a:pPr>
                <a:endParaRPr lang="en-US"/>
              </a:p>
            </c:txPr>
            <c:showLegendKey val="0"/>
            <c:showVal val="1"/>
            <c:showCatName val="0"/>
            <c:showSerName val="0"/>
            <c:showPercent val="0"/>
            <c:showBubbleSize val="0"/>
            <c:showLeaderLines val="0"/>
            <c:extLst>
              <c:ext xmlns:c15="http://schemas.microsoft.com/office/drawing/2012/chart" uri="{CE6537A1-D6FC-4f65-9D91-7224C49458BB}">
                <c15:showLeaderLines val="0"/>
              </c:ext>
            </c:extLst>
          </c:dLbls>
          <c:cat>
            <c:strRef>
              <c:f>Sheet1!$A$2:$A$7</c:f>
              <c:strCache>
                <c:ptCount val="6"/>
                <c:pt idx="0">
                  <c:v>Jan</c:v>
                </c:pt>
                <c:pt idx="1">
                  <c:v>Feb</c:v>
                </c:pt>
                <c:pt idx="2">
                  <c:v>Mar</c:v>
                </c:pt>
                <c:pt idx="3">
                  <c:v>Apr</c:v>
                </c:pt>
                <c:pt idx="4">
                  <c:v>May</c:v>
                </c:pt>
                <c:pt idx="5">
                  <c:v>Jun</c:v>
                </c:pt>
              </c:strCache>
            </c:strRef>
          </c:cat>
          <c:val>
            <c:numRef>
              <c:f>Sheet1!$B$2:$B$7</c:f>
              <c:numCache>
                <c:formatCode>General</c:formatCode>
                <c:ptCount val="6"/>
                <c:pt idx="0">
                  <c:v>3569.98</c:v>
                </c:pt>
                <c:pt idx="1">
                  <c:v>3370.82</c:v>
                </c:pt>
                <c:pt idx="2">
                  <c:v>2677.46</c:v>
                </c:pt>
                <c:pt idx="3">
                  <c:v>2409.86</c:v>
                </c:pt>
                <c:pt idx="4">
                  <c:v>2302.2399999999998</c:v>
                </c:pt>
                <c:pt idx="5">
                  <c:v>2273.5700000000002</c:v>
                </c:pt>
              </c:numCache>
            </c:numRef>
          </c:val>
          <c:extLst>
            <c:ext xmlns:c16="http://schemas.microsoft.com/office/drawing/2014/chart" uri="{C3380CC4-5D6E-409C-BE32-E72D297353CC}">
              <c16:uniqueId val="{00000000-6804-4804-A496-A00E8A928746}"/>
            </c:ext>
          </c:extLst>
        </c:ser>
        <c:ser>
          <c:idx val="1"/>
          <c:order val="1"/>
          <c:tx>
            <c:strRef>
              <c:f>Sheet1!$C$1</c:f>
              <c:strCache>
                <c:ptCount val="1"/>
                <c:pt idx="0">
                  <c:v>2026</c:v>
                </c:pt>
              </c:strCache>
            </c:strRef>
          </c:tx>
          <c:spPr>
            <a:solidFill>
              <a:srgbClr val="1E2761"/>
            </a:solidFill>
            <a:effectLst/>
          </c:spPr>
          <c:invertIfNegative val="0"/>
          <c:dLbls>
            <c:numFmt formatCode="#,##0" sourceLinked="0"/>
            <c:spPr>
              <a:noFill/>
              <a:ln>
                <a:noFill/>
              </a:ln>
              <a:effectLst/>
            </c:spPr>
            <c:txPr>
              <a:bodyPr/>
              <a:lstStyle/>
              <a:p>
                <a:pPr>
                  <a:defRPr sz="750" b="0" i="0" u="none" strike="noStrike">
                    <a:solidFill>
                      <a:srgbClr val="6B7280"/>
                    </a:solidFill>
                    <a:latin typeface="Calibri"/>
                  </a:defRPr>
                </a:pPr>
                <a:endParaRPr lang="en-US"/>
              </a:p>
            </c:txPr>
            <c:showLegendKey val="0"/>
            <c:showVal val="1"/>
            <c:showCatName val="0"/>
            <c:showSerName val="0"/>
            <c:showPercent val="0"/>
            <c:showBubbleSize val="0"/>
            <c:showLeaderLines val="0"/>
            <c:extLst>
              <c:ext xmlns:c15="http://schemas.microsoft.com/office/drawing/2012/chart" uri="{CE6537A1-D6FC-4f65-9D91-7224C49458BB}">
                <c15:showLeaderLines val="0"/>
              </c:ext>
            </c:extLst>
          </c:dLbls>
          <c:cat>
            <c:strRef>
              <c:f>Sheet1!$A$2:$A$7</c:f>
              <c:strCache>
                <c:ptCount val="6"/>
                <c:pt idx="0">
                  <c:v>Jan</c:v>
                </c:pt>
                <c:pt idx="1">
                  <c:v>Feb</c:v>
                </c:pt>
                <c:pt idx="2">
                  <c:v>Mar</c:v>
                </c:pt>
                <c:pt idx="3">
                  <c:v>Apr</c:v>
                </c:pt>
                <c:pt idx="4">
                  <c:v>May</c:v>
                </c:pt>
                <c:pt idx="5">
                  <c:v>Jun</c:v>
                </c:pt>
              </c:strCache>
            </c:strRef>
          </c:cat>
          <c:val>
            <c:numRef>
              <c:f>Sheet1!$C$2:$C$7</c:f>
              <c:numCache>
                <c:formatCode>General</c:formatCode>
                <c:ptCount val="6"/>
                <c:pt idx="0">
                  <c:v>3249.27</c:v>
                </c:pt>
                <c:pt idx="1">
                  <c:v>3518.15</c:v>
                </c:pt>
                <c:pt idx="2">
                  <c:v>2889.02</c:v>
                </c:pt>
                <c:pt idx="3">
                  <c:v>2485.63</c:v>
                </c:pt>
                <c:pt idx="4">
                  <c:v>2375.7800000000002</c:v>
                </c:pt>
                <c:pt idx="5">
                  <c:v>2337.25</c:v>
                </c:pt>
              </c:numCache>
            </c:numRef>
          </c:val>
          <c:extLst>
            <c:ext xmlns:c16="http://schemas.microsoft.com/office/drawing/2014/chart" uri="{C3380CC4-5D6E-409C-BE32-E72D297353CC}">
              <c16:uniqueId val="{00000001-6804-4804-A496-A00E8A928746}"/>
            </c:ext>
          </c:extLst>
        </c:ser>
        <c:dLbls>
          <c:showLegendKey val="0"/>
          <c:showVal val="1"/>
          <c:showCatName val="0"/>
          <c:showSerName val="0"/>
          <c:showPercent val="0"/>
          <c:showBubbleSize val="0"/>
        </c:dLbls>
        <c:gapWidth val="150"/>
        <c:axId val="2094734554"/>
        <c:axId val="2094734552"/>
      </c:barChart>
      <c:catAx>
        <c:axId val="2094734554"/>
        <c:scaling>
          <c:orientation val="minMax"/>
        </c:scaling>
        <c:delete val="0"/>
        <c:axPos val="b"/>
        <c:numFmt formatCode="General" sourceLinked="1"/>
        <c:majorTickMark val="out"/>
        <c:minorTickMark val="none"/>
        <c:tickLblPos val="low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1000" b="0" i="0" u="none" strike="noStrike">
                <a:solidFill>
                  <a:srgbClr val="6B7280"/>
                </a:solidFill>
                <a:latin typeface="Calibri"/>
              </a:defRPr>
            </a:pPr>
            <a:endParaRPr lang="en-US"/>
          </a:p>
        </c:txPr>
        <c:crossAx val="2094734552"/>
        <c:crosses val="autoZero"/>
        <c:auto val="1"/>
        <c:lblAlgn val="ctr"/>
        <c:lblOffset val="100"/>
        <c:noMultiLvlLbl val="1"/>
      </c:catAx>
      <c:valAx>
        <c:axId val="2094734552"/>
        <c:scaling>
          <c:orientation val="minMax"/>
        </c:scaling>
        <c:delete val="0"/>
        <c:axPos val="l"/>
        <c:majorGridlines>
          <c:spPr>
            <a:ln w="6350" cap="flat">
              <a:solidFill>
                <a:srgbClr val="E5E8EF"/>
              </a:solidFill>
              <a:prstDash val="solid"/>
              <a:round/>
            </a:ln>
          </c:spPr>
        </c:majorGridlines>
        <c:numFmt formatCode="General" sourceLinked="0"/>
        <c:majorTickMark val="out"/>
        <c:minorTickMark val="none"/>
        <c:tickLblPos val="nextTo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950" b="0" i="0" u="none" strike="noStrike">
                <a:solidFill>
                  <a:srgbClr val="6B7280"/>
                </a:solidFill>
                <a:latin typeface="Calibri"/>
              </a:defRPr>
            </a:pPr>
            <a:endParaRPr lang="en-US"/>
          </a:p>
        </c:txPr>
        <c:crossAx val="2094734554"/>
        <c:crosses val="autoZero"/>
        <c:crossBetween val="between"/>
      </c:valAx>
      <c:spPr>
        <a:noFill/>
        <a:ln>
          <a:noFill/>
        </a:ln>
        <a:effectLst/>
      </c:spPr>
    </c:plotArea>
    <c:legend>
      <c:legendPos val="b"/>
      <c:overlay val="0"/>
      <c:txPr>
        <a:bodyPr/>
        <a:lstStyle/>
        <a:p>
          <a:pPr>
            <a:defRPr sz="1000">
              <a:solidFill>
                <a:srgbClr val="26292E"/>
              </a:solidFill>
              <a:latin typeface="Calibri"/>
              <a:cs typeface="Calibri"/>
            </a:defRPr>
          </a:pPr>
          <a:endParaRPr lang="en-US"/>
        </a:p>
      </c:txPr>
    </c:legend>
    <c:plotVisOnly val="1"/>
    <c:dispBlanksAs val="span"/>
    <c:showDLblsOverMax val="1"/>
  </c:chart>
  <c:spPr>
    <a:noFill/>
    <a:ln>
      <a:noFill/>
    </a:ln>
    <a:effectLst/>
  </c:spPr>
  <c:externalData r:id="rId1">
    <c:autoUpdate val="0"/>
  </c:externalData>
</c:chartSpace>
</file>

<file path=ppt/charts/chart12.xml><?xml version="1.0" encoding="utf-8"?>
<c:chartSpace xmlns:c="http://schemas.openxmlformats.org/drawingml/2006/chart" xmlns:a="http://schemas.openxmlformats.org/drawingml/2006/main" xmlns:r="http://schemas.openxmlformats.org/officeDocument/2006/relationships" xmlns:c16r2="http://schemas.microsoft.com/office/drawing/2015/06/chart">
  <c:date1904 val="0"/>
  <c:lang val="en-US"/>
  <c:roundedCorners val="1"/>
  <c:style val="2"/>
  <c:chart>
    <c:title>
      <c:tx>
        <c:rich>
          <a:bodyPr/>
          <a:lstStyle/>
          <a:p>
            <a:r>
              <a:rPr lang="en-US" sz="1250" b="1">
                <a:solidFill>
                  <a:srgbClr val="1E2761"/>
                </a:solidFill>
                <a:latin typeface="Calibri"/>
              </a:rPr>
              <a:t>Tourist arrivals H1 (millions)</a:t>
            </a:r>
          </a:p>
        </c:rich>
      </c:tx>
      <c:overlay val="0"/>
    </c:title>
    <c:autoTitleDeleted val="0"/>
    <c:plotArea>
      <c:layout/>
      <c:barChart>
        <c:barDir val="col"/>
        <c:grouping val="clustered"/>
        <c:varyColors val="1"/>
        <c:ser>
          <c:idx val="0"/>
          <c:order val="0"/>
          <c:tx>
            <c:strRef>
              <c:f>Sheet1!$B$1</c:f>
              <c:strCache>
                <c:ptCount val="1"/>
                <c:pt idx="0">
                  <c:v>Domestic</c:v>
                </c:pt>
              </c:strCache>
            </c:strRef>
          </c:tx>
          <c:spPr>
            <a:solidFill>
              <a:srgbClr val="C9D6EE"/>
            </a:solidFill>
          </c:spPr>
          <c:invertIfNegative val="1"/>
          <c:cat>
            <c:strRef>
              <c:f>Sheet1!$A$2:$A$5</c:f>
              <c:strCache>
                <c:ptCount val="4"/>
                <c:pt idx="0">
                  <c:v>2023</c:v>
                </c:pt>
                <c:pt idx="1">
                  <c:v>2024</c:v>
                </c:pt>
                <c:pt idx="2">
                  <c:v>2025</c:v>
                </c:pt>
                <c:pt idx="3">
                  <c:v>2026</c:v>
                </c:pt>
              </c:strCache>
            </c:strRef>
          </c:cat>
          <c:val>
            <c:numRef>
              <c:f>Sheet1!$B$2:$B$5</c:f>
              <c:numCache>
                <c:formatCode>General</c:formatCode>
                <c:ptCount val="4"/>
                <c:pt idx="0">
                  <c:v>7.12</c:v>
                </c:pt>
                <c:pt idx="1">
                  <c:v>7.57</c:v>
                </c:pt>
                <c:pt idx="2">
                  <c:v>8.4499999999999993</c:v>
                </c:pt>
                <c:pt idx="3">
                  <c:v>8.3800000000000008</c:v>
                </c:pt>
              </c:numCache>
            </c:numRef>
          </c:val>
          <c:extLst>
            <c:ext xmlns:c14="http://schemas.microsoft.com/office/drawing/2007/8/2/chart" uri="{6F2FDCE9-48DA-4B69-8628-5D25D57E5C99}">
              <c14:invertSolidFillFmt>
                <c14:spPr xmlns:c14="http://schemas.microsoft.com/office/drawing/2007/8/2/chart">
                  <a:solidFill>
                    <a:srgbClr val="FFFFFF"/>
                  </a:solidFill>
                </c14:spPr>
              </c14:invertSolidFillFmt>
            </c:ext>
            <c:ext xmlns:c16="http://schemas.microsoft.com/office/drawing/2014/chart" uri="{C3380CC4-5D6E-409C-BE32-E72D297353CC}">
              <c16:uniqueId val="{00000000-FF1D-449F-835B-98E82FD5A416}"/>
            </c:ext>
          </c:extLst>
        </c:ser>
        <c:ser>
          <c:idx val="1"/>
          <c:order val="1"/>
          <c:tx>
            <c:strRef>
              <c:f>Sheet1!$C$1</c:f>
              <c:strCache>
                <c:ptCount val="1"/>
                <c:pt idx="0">
                  <c:v>International</c:v>
                </c:pt>
              </c:strCache>
            </c:strRef>
          </c:tx>
          <c:spPr>
            <a:solidFill>
              <a:srgbClr val="1E2761"/>
            </a:solidFill>
          </c:spPr>
          <c:invertIfNegative val="1"/>
          <c:cat>
            <c:strRef>
              <c:f>Sheet1!$A$2:$A$5</c:f>
              <c:strCache>
                <c:ptCount val="4"/>
                <c:pt idx="0">
                  <c:v>2023</c:v>
                </c:pt>
                <c:pt idx="1">
                  <c:v>2024</c:v>
                </c:pt>
                <c:pt idx="2">
                  <c:v>2025</c:v>
                </c:pt>
                <c:pt idx="3">
                  <c:v>2026</c:v>
                </c:pt>
              </c:strCache>
            </c:strRef>
          </c:cat>
          <c:val>
            <c:numRef>
              <c:f>Sheet1!$C$2:$C$5</c:f>
              <c:numCache>
                <c:formatCode>General</c:formatCode>
                <c:ptCount val="4"/>
                <c:pt idx="0">
                  <c:v>4.7</c:v>
                </c:pt>
                <c:pt idx="1">
                  <c:v>5.78</c:v>
                </c:pt>
                <c:pt idx="2">
                  <c:v>5.42</c:v>
                </c:pt>
                <c:pt idx="3">
                  <c:v>5.13</c:v>
                </c:pt>
              </c:numCache>
            </c:numRef>
          </c:val>
          <c:extLst>
            <c:ext xmlns:c14="http://schemas.microsoft.com/office/drawing/2007/8/2/chart" uri="{6F2FDCE9-48DA-4B69-8628-5D25D57E5C99}">
              <c14:invertSolidFillFmt>
                <c14:spPr xmlns:c14="http://schemas.microsoft.com/office/drawing/2007/8/2/chart">
                  <a:solidFill>
                    <a:srgbClr val="FFFFFF"/>
                  </a:solidFill>
                </c14:spPr>
              </c14:invertSolidFillFmt>
            </c:ext>
            <c:ext xmlns:c16="http://schemas.microsoft.com/office/drawing/2014/chart" uri="{C3380CC4-5D6E-409C-BE32-E72D297353CC}">
              <c16:uniqueId val="{00000001-FF1D-449F-835B-98E82FD5A416}"/>
            </c:ext>
          </c:extLst>
        </c:ser>
        <c:ser>
          <c:idx val="2"/>
          <c:order val="2"/>
          <c:tx>
            <c:strRef>
              <c:f>Sheet1!$D$1</c:f>
              <c:strCache>
                <c:ptCount val="1"/>
                <c:pt idx="0">
                  <c:v>Total</c:v>
                </c:pt>
              </c:strCache>
            </c:strRef>
          </c:tx>
          <c:spPr>
            <a:solidFill>
              <a:srgbClr val="D9A441"/>
            </a:solidFill>
          </c:spPr>
          <c:invertIfNegative val="1"/>
          <c:cat>
            <c:strRef>
              <c:f>Sheet1!$A$2:$A$5</c:f>
              <c:strCache>
                <c:ptCount val="4"/>
                <c:pt idx="0">
                  <c:v>2023</c:v>
                </c:pt>
                <c:pt idx="1">
                  <c:v>2024</c:v>
                </c:pt>
                <c:pt idx="2">
                  <c:v>2025</c:v>
                </c:pt>
                <c:pt idx="3">
                  <c:v>2026</c:v>
                </c:pt>
              </c:strCache>
            </c:strRef>
          </c:cat>
          <c:val>
            <c:numRef>
              <c:f>Sheet1!$D$2:$D$5</c:f>
              <c:numCache>
                <c:formatCode>General</c:formatCode>
                <c:ptCount val="4"/>
                <c:pt idx="0">
                  <c:v>11.82</c:v>
                </c:pt>
                <c:pt idx="1">
                  <c:v>13.35</c:v>
                </c:pt>
                <c:pt idx="2">
                  <c:v>13.87</c:v>
                </c:pt>
                <c:pt idx="3">
                  <c:v>13.51</c:v>
                </c:pt>
              </c:numCache>
            </c:numRef>
          </c:val>
          <c:extLst>
            <c:ext xmlns:c14="http://schemas.microsoft.com/office/drawing/2007/8/2/chart" uri="{6F2FDCE9-48DA-4B69-8628-5D25D57E5C99}">
              <c14:invertSolidFillFmt>
                <c14:spPr xmlns:c14="http://schemas.microsoft.com/office/drawing/2007/8/2/chart">
                  <a:solidFill>
                    <a:srgbClr val="FFFFFF"/>
                  </a:solidFill>
                </c14:spPr>
              </c14:invertSolidFillFmt>
            </c:ext>
            <c:ext xmlns:c16="http://schemas.microsoft.com/office/drawing/2014/chart" uri="{C3380CC4-5D6E-409C-BE32-E72D297353CC}">
              <c16:uniqueId val="{00000002-FF1D-449F-835B-98E82FD5A416}"/>
            </c:ext>
          </c:extLst>
        </c:ser>
        <c:dLbls>
          <c:showLegendKey val="0"/>
          <c:showVal val="0"/>
          <c:showCatName val="0"/>
          <c:showSerName val="0"/>
          <c:showPercent val="0"/>
          <c:showBubbleSize val="0"/>
        </c:dLbls>
        <c:gapWidth val="150"/>
        <c:axId val="-2068027336"/>
        <c:axId val="-2113994440"/>
      </c:barChart>
      <c:catAx>
        <c:axId val="-2068027336"/>
        <c:scaling>
          <c:orientation val="minMax"/>
        </c:scaling>
        <c:delete val="0"/>
        <c:axPos val="b"/>
        <c:numFmt formatCode="General" sourceLinked="0"/>
        <c:majorTickMark val="out"/>
        <c:minorTickMark val="none"/>
        <c:tickLblPos val="nextTo"/>
        <c:crossAx val="-2113994440"/>
        <c:crosses val="autoZero"/>
        <c:auto val="1"/>
        <c:lblAlgn val="ctr"/>
        <c:lblOffset val="100"/>
        <c:noMultiLvlLbl val="0"/>
      </c:catAx>
      <c:valAx>
        <c:axId val="-2113994440"/>
        <c:scaling>
          <c:orientation val="minMax"/>
        </c:scaling>
        <c:delete val="0"/>
        <c:axPos val="l"/>
        <c:majorGridlines/>
        <c:numFmt formatCode="General" sourceLinked="1"/>
        <c:majorTickMark val="out"/>
        <c:minorTickMark val="none"/>
        <c:tickLblPos val="nextTo"/>
        <c:crossAx val="-2068027336"/>
        <c:crosses val="autoZero"/>
        <c:crossBetween val="between"/>
      </c:valAx>
    </c:plotArea>
    <c:legend>
      <c:legendPos val="b"/>
      <c:overlay val="0"/>
    </c:legend>
    <c:plotVisOnly val="1"/>
    <c:dispBlanksAs val="gap"/>
    <c:showDLblsOverMax val="1"/>
  </c:chart>
  <c:txPr>
    <a:bodyPr/>
    <a:lstStyle/>
    <a:p>
      <a:pPr>
        <a:defRPr sz="1800"/>
      </a:pPr>
      <a:endParaRPr lang="en-US"/>
    </a:p>
  </c:txPr>
  <c:externalData r:id="rId1">
    <c:autoUpdate val="0"/>
  </c:externalData>
</c:chartSpace>
</file>

<file path=ppt/charts/chart13.xml><?xml version="1.0" encoding="utf-8"?>
<c:chartSpace xmlns:c="http://schemas.openxmlformats.org/drawingml/2006/chart" xmlns:a="http://schemas.openxmlformats.org/drawingml/2006/main" xmlns:r="http://schemas.openxmlformats.org/officeDocument/2006/relationships" xmlns:c16r2="http://schemas.microsoft.com/office/drawing/2015/06/chart">
  <c:date1904 val="0"/>
  <c:lang val="en-US"/>
  <c:roundedCorners val="1"/>
  <c:style val="2"/>
  <c:chart>
    <c:title>
      <c:tx>
        <c:rich>
          <a:bodyPr/>
          <a:lstStyle/>
          <a:p>
            <a:r>
              <a:rPr lang="en-US" sz="1250" b="1">
                <a:solidFill>
                  <a:srgbClr val="1E2761"/>
                </a:solidFill>
                <a:latin typeface="Calibri"/>
              </a:rPr>
              <a:t>Revenue from tourists H1 (Billion THB)</a:t>
            </a:r>
          </a:p>
        </c:rich>
      </c:tx>
      <c:overlay val="0"/>
    </c:title>
    <c:autoTitleDeleted val="0"/>
    <c:plotArea>
      <c:layout/>
      <c:barChart>
        <c:barDir val="col"/>
        <c:grouping val="clustered"/>
        <c:varyColors val="1"/>
        <c:ser>
          <c:idx val="0"/>
          <c:order val="0"/>
          <c:tx>
            <c:strRef>
              <c:f>Sheet1!$B$1</c:f>
              <c:strCache>
                <c:ptCount val="1"/>
                <c:pt idx="0">
                  <c:v>Domestic</c:v>
                </c:pt>
              </c:strCache>
            </c:strRef>
          </c:tx>
          <c:spPr>
            <a:solidFill>
              <a:srgbClr val="C9D6EE"/>
            </a:solidFill>
          </c:spPr>
          <c:invertIfNegative val="1"/>
          <c:cat>
            <c:strRef>
              <c:f>Sheet1!$A$2:$A$5</c:f>
              <c:strCache>
                <c:ptCount val="4"/>
                <c:pt idx="0">
                  <c:v>2023</c:v>
                </c:pt>
                <c:pt idx="1">
                  <c:v>2024</c:v>
                </c:pt>
                <c:pt idx="2">
                  <c:v>2025</c:v>
                </c:pt>
                <c:pt idx="3">
                  <c:v>2026</c:v>
                </c:pt>
              </c:strCache>
            </c:strRef>
          </c:cat>
          <c:val>
            <c:numRef>
              <c:f>Sheet1!$B$2:$B$5</c:f>
              <c:numCache>
                <c:formatCode>General</c:formatCode>
                <c:ptCount val="4"/>
                <c:pt idx="0">
                  <c:v>42.6</c:v>
                </c:pt>
                <c:pt idx="1">
                  <c:v>48.2</c:v>
                </c:pt>
                <c:pt idx="2">
                  <c:v>57.2</c:v>
                </c:pt>
                <c:pt idx="3">
                  <c:v>56.8</c:v>
                </c:pt>
              </c:numCache>
            </c:numRef>
          </c:val>
          <c:extLst>
            <c:ext xmlns:c14="http://schemas.microsoft.com/office/drawing/2007/8/2/chart" uri="{6F2FDCE9-48DA-4B69-8628-5D25D57E5C99}">
              <c14:invertSolidFillFmt>
                <c14:spPr xmlns:c14="http://schemas.microsoft.com/office/drawing/2007/8/2/chart">
                  <a:solidFill>
                    <a:srgbClr val="FFFFFF"/>
                  </a:solidFill>
                </c14:spPr>
              </c14:invertSolidFillFmt>
            </c:ext>
            <c:ext xmlns:c16="http://schemas.microsoft.com/office/drawing/2014/chart" uri="{C3380CC4-5D6E-409C-BE32-E72D297353CC}">
              <c16:uniqueId val="{00000000-F412-4FB2-AA34-025BA661BE99}"/>
            </c:ext>
          </c:extLst>
        </c:ser>
        <c:ser>
          <c:idx val="1"/>
          <c:order val="1"/>
          <c:tx>
            <c:strRef>
              <c:f>Sheet1!$C$1</c:f>
              <c:strCache>
                <c:ptCount val="1"/>
                <c:pt idx="0">
                  <c:v>International</c:v>
                </c:pt>
              </c:strCache>
            </c:strRef>
          </c:tx>
          <c:spPr>
            <a:solidFill>
              <a:srgbClr val="1E2761"/>
            </a:solidFill>
          </c:spPr>
          <c:invertIfNegative val="1"/>
          <c:cat>
            <c:strRef>
              <c:f>Sheet1!$A$2:$A$5</c:f>
              <c:strCache>
                <c:ptCount val="4"/>
                <c:pt idx="0">
                  <c:v>2023</c:v>
                </c:pt>
                <c:pt idx="1">
                  <c:v>2024</c:v>
                </c:pt>
                <c:pt idx="2">
                  <c:v>2025</c:v>
                </c:pt>
                <c:pt idx="3">
                  <c:v>2026</c:v>
                </c:pt>
              </c:strCache>
            </c:strRef>
          </c:cat>
          <c:val>
            <c:numRef>
              <c:f>Sheet1!$C$2:$C$5</c:f>
              <c:numCache>
                <c:formatCode>General</c:formatCode>
                <c:ptCount val="4"/>
                <c:pt idx="0">
                  <c:v>105.3</c:v>
                </c:pt>
                <c:pt idx="1">
                  <c:v>126.6</c:v>
                </c:pt>
                <c:pt idx="2">
                  <c:v>118.5</c:v>
                </c:pt>
                <c:pt idx="3">
                  <c:v>113.3</c:v>
                </c:pt>
              </c:numCache>
            </c:numRef>
          </c:val>
          <c:extLst>
            <c:ext xmlns:c14="http://schemas.microsoft.com/office/drawing/2007/8/2/chart" uri="{6F2FDCE9-48DA-4B69-8628-5D25D57E5C99}">
              <c14:invertSolidFillFmt>
                <c14:spPr xmlns:c14="http://schemas.microsoft.com/office/drawing/2007/8/2/chart">
                  <a:solidFill>
                    <a:srgbClr val="FFFFFF"/>
                  </a:solidFill>
                </c14:spPr>
              </c14:invertSolidFillFmt>
            </c:ext>
            <c:ext xmlns:c16="http://schemas.microsoft.com/office/drawing/2014/chart" uri="{C3380CC4-5D6E-409C-BE32-E72D297353CC}">
              <c16:uniqueId val="{00000001-F412-4FB2-AA34-025BA661BE99}"/>
            </c:ext>
          </c:extLst>
        </c:ser>
        <c:ser>
          <c:idx val="2"/>
          <c:order val="2"/>
          <c:tx>
            <c:strRef>
              <c:f>Sheet1!$D$1</c:f>
              <c:strCache>
                <c:ptCount val="1"/>
                <c:pt idx="0">
                  <c:v>Total</c:v>
                </c:pt>
              </c:strCache>
            </c:strRef>
          </c:tx>
          <c:spPr>
            <a:solidFill>
              <a:srgbClr val="D9A441"/>
            </a:solidFill>
          </c:spPr>
          <c:invertIfNegative val="1"/>
          <c:cat>
            <c:strRef>
              <c:f>Sheet1!$A$2:$A$5</c:f>
              <c:strCache>
                <c:ptCount val="4"/>
                <c:pt idx="0">
                  <c:v>2023</c:v>
                </c:pt>
                <c:pt idx="1">
                  <c:v>2024</c:v>
                </c:pt>
                <c:pt idx="2">
                  <c:v>2025</c:v>
                </c:pt>
                <c:pt idx="3">
                  <c:v>2026</c:v>
                </c:pt>
              </c:strCache>
            </c:strRef>
          </c:cat>
          <c:val>
            <c:numRef>
              <c:f>Sheet1!$D$2:$D$5</c:f>
              <c:numCache>
                <c:formatCode>General</c:formatCode>
                <c:ptCount val="4"/>
                <c:pt idx="0">
                  <c:v>147.9</c:v>
                </c:pt>
                <c:pt idx="1">
                  <c:v>174.8</c:v>
                </c:pt>
                <c:pt idx="2">
                  <c:v>175.8</c:v>
                </c:pt>
                <c:pt idx="3">
                  <c:v>170.2</c:v>
                </c:pt>
              </c:numCache>
            </c:numRef>
          </c:val>
          <c:extLst>
            <c:ext xmlns:c14="http://schemas.microsoft.com/office/drawing/2007/8/2/chart" uri="{6F2FDCE9-48DA-4B69-8628-5D25D57E5C99}">
              <c14:invertSolidFillFmt>
                <c14:spPr xmlns:c14="http://schemas.microsoft.com/office/drawing/2007/8/2/chart">
                  <a:solidFill>
                    <a:srgbClr val="FFFFFF"/>
                  </a:solidFill>
                </c14:spPr>
              </c14:invertSolidFillFmt>
            </c:ext>
            <c:ext xmlns:c16="http://schemas.microsoft.com/office/drawing/2014/chart" uri="{C3380CC4-5D6E-409C-BE32-E72D297353CC}">
              <c16:uniqueId val="{00000002-F412-4FB2-AA34-025BA661BE99}"/>
            </c:ext>
          </c:extLst>
        </c:ser>
        <c:dLbls>
          <c:showLegendKey val="0"/>
          <c:showVal val="0"/>
          <c:showCatName val="0"/>
          <c:showSerName val="0"/>
          <c:showPercent val="0"/>
          <c:showBubbleSize val="0"/>
        </c:dLbls>
        <c:gapWidth val="150"/>
        <c:axId val="-2068027336"/>
        <c:axId val="-2113994440"/>
      </c:barChart>
      <c:catAx>
        <c:axId val="-2068027336"/>
        <c:scaling>
          <c:orientation val="minMax"/>
        </c:scaling>
        <c:delete val="0"/>
        <c:axPos val="b"/>
        <c:numFmt formatCode="General" sourceLinked="0"/>
        <c:majorTickMark val="out"/>
        <c:minorTickMark val="none"/>
        <c:tickLblPos val="nextTo"/>
        <c:crossAx val="-2113994440"/>
        <c:crosses val="autoZero"/>
        <c:auto val="1"/>
        <c:lblAlgn val="ctr"/>
        <c:lblOffset val="100"/>
        <c:noMultiLvlLbl val="0"/>
      </c:catAx>
      <c:valAx>
        <c:axId val="-2113994440"/>
        <c:scaling>
          <c:orientation val="minMax"/>
        </c:scaling>
        <c:delete val="0"/>
        <c:axPos val="l"/>
        <c:majorGridlines/>
        <c:numFmt formatCode="General" sourceLinked="1"/>
        <c:majorTickMark val="out"/>
        <c:minorTickMark val="none"/>
        <c:tickLblPos val="nextTo"/>
        <c:crossAx val="-2068027336"/>
        <c:crosses val="autoZero"/>
        <c:crossBetween val="between"/>
      </c:valAx>
    </c:plotArea>
    <c:legend>
      <c:legendPos val="b"/>
      <c:overlay val="0"/>
    </c:legend>
    <c:plotVisOnly val="1"/>
    <c:dispBlanksAs val="gap"/>
    <c:showDLblsOverMax val="1"/>
  </c:chart>
  <c:txPr>
    <a:bodyPr/>
    <a:lstStyle/>
    <a:p>
      <a:pPr>
        <a:defRPr sz="1800"/>
      </a:pPr>
      <a:endParaRPr lang="en-US"/>
    </a:p>
  </c:txPr>
  <c:externalData r:id="rId1">
    <c:autoUpdate val="0"/>
  </c:externalData>
</c:chartSpace>
</file>

<file path=ppt/charts/chart14.xml><?xml version="1.0" encoding="utf-8"?>
<c:chartSpace xmlns:c="http://schemas.openxmlformats.org/drawingml/2006/chart" xmlns:a="http://schemas.openxmlformats.org/drawingml/2006/main" xmlns:r="http://schemas.openxmlformats.org/officeDocument/2006/relationships" xmlns:c16r2="http://schemas.microsoft.com/office/drawing/2015/06/chart">
  <c:date1904 val="0"/>
  <c:lang val="en-US"/>
  <c:roundedCorners val="1"/>
  <c:style val="2"/>
  <c:chart>
    <c:title>
      <c:tx>
        <c:rich>
          <a:bodyPr/>
          <a:lstStyle/>
          <a:p>
            <a:pPr>
              <a:defRPr sz="1300" b="0" i="0" u="none" strike="noStrike">
                <a:solidFill>
                  <a:srgbClr val="1E2761"/>
                </a:solidFill>
                <a:latin typeface="Calibri"/>
              </a:defRPr>
            </a:pPr>
            <a:r>
              <a:rPr lang="en-US" sz="1300" b="0" i="0" u="none" strike="noStrike">
                <a:solidFill>
                  <a:srgbClr val="1E2761"/>
                </a:solidFill>
                <a:latin typeface="Calibri"/>
              </a:rPr>
              <a:t>Occupancy (%)</a:t>
            </a:r>
          </a:p>
        </c:rich>
      </c:tx>
      <c:overlay val="0"/>
    </c:title>
    <c:autoTitleDeleted val="0"/>
    <c:plotArea>
      <c:layout/>
      <c:barChart>
        <c:barDir val="col"/>
        <c:grouping val="clustered"/>
        <c:varyColors val="0"/>
        <c:ser>
          <c:idx val="0"/>
          <c:order val="0"/>
          <c:tx>
            <c:strRef>
              <c:f>Sheet1!$B$1</c:f>
              <c:strCache>
                <c:ptCount val="1"/>
                <c:pt idx="0">
                  <c:v>2025</c:v>
                </c:pt>
              </c:strCache>
            </c:strRef>
          </c:tx>
          <c:spPr>
            <a:solidFill>
              <a:srgbClr val="7FA4DC"/>
            </a:solidFill>
            <a:effectLst/>
          </c:spPr>
          <c:invertIfNegative val="0"/>
          <c:dLbls>
            <c:numFmt formatCode="0" sourceLinked="0"/>
            <c:spPr>
              <a:noFill/>
              <a:ln>
                <a:noFill/>
              </a:ln>
              <a:effectLst/>
            </c:spPr>
            <c:txPr>
              <a:bodyPr/>
              <a:lstStyle/>
              <a:p>
                <a:pPr>
                  <a:defRPr sz="750" b="0" i="0" u="none" strike="noStrike">
                    <a:solidFill>
                      <a:srgbClr val="6B7280"/>
                    </a:solidFill>
                    <a:latin typeface="Calibri"/>
                  </a:defRPr>
                </a:pPr>
                <a:endParaRPr lang="en-US"/>
              </a:p>
            </c:txPr>
            <c:showLegendKey val="0"/>
            <c:showVal val="1"/>
            <c:showCatName val="0"/>
            <c:showSerName val="0"/>
            <c:showPercent val="0"/>
            <c:showBubbleSize val="0"/>
            <c:showLeaderLines val="0"/>
            <c:extLst>
              <c:ext xmlns:c15="http://schemas.microsoft.com/office/drawing/2012/chart" uri="{CE6537A1-D6FC-4f65-9D91-7224C49458BB}">
                <c15:showLeaderLines val="0"/>
              </c:ext>
            </c:extLst>
          </c:dLbls>
          <c:cat>
            <c:strRef>
              <c:f>Sheet1!$A$2:$A$7</c:f>
              <c:strCache>
                <c:ptCount val="6"/>
                <c:pt idx="0">
                  <c:v>Jan</c:v>
                </c:pt>
                <c:pt idx="1">
                  <c:v>Feb</c:v>
                </c:pt>
                <c:pt idx="2">
                  <c:v>Mar</c:v>
                </c:pt>
                <c:pt idx="3">
                  <c:v>Apr</c:v>
                </c:pt>
                <c:pt idx="4">
                  <c:v>May</c:v>
                </c:pt>
                <c:pt idx="5">
                  <c:v>Jun</c:v>
                </c:pt>
              </c:strCache>
            </c:strRef>
          </c:cat>
          <c:val>
            <c:numRef>
              <c:f>Sheet1!$B$2:$B$7</c:f>
              <c:numCache>
                <c:formatCode>General</c:formatCode>
                <c:ptCount val="6"/>
                <c:pt idx="0">
                  <c:v>79.099999999999994</c:v>
                </c:pt>
                <c:pt idx="1">
                  <c:v>73.8</c:v>
                </c:pt>
                <c:pt idx="2">
                  <c:v>68.8</c:v>
                </c:pt>
                <c:pt idx="3">
                  <c:v>63.9</c:v>
                </c:pt>
                <c:pt idx="4">
                  <c:v>58.7</c:v>
                </c:pt>
                <c:pt idx="5">
                  <c:v>54.5</c:v>
                </c:pt>
              </c:numCache>
            </c:numRef>
          </c:val>
          <c:extLst>
            <c:ext xmlns:c16="http://schemas.microsoft.com/office/drawing/2014/chart" uri="{C3380CC4-5D6E-409C-BE32-E72D297353CC}">
              <c16:uniqueId val="{00000000-1303-418E-A737-F48065E28C6D}"/>
            </c:ext>
          </c:extLst>
        </c:ser>
        <c:ser>
          <c:idx val="1"/>
          <c:order val="1"/>
          <c:tx>
            <c:strRef>
              <c:f>Sheet1!$C$1</c:f>
              <c:strCache>
                <c:ptCount val="1"/>
                <c:pt idx="0">
                  <c:v>2026</c:v>
                </c:pt>
              </c:strCache>
            </c:strRef>
          </c:tx>
          <c:spPr>
            <a:solidFill>
              <a:srgbClr val="1E2761"/>
            </a:solidFill>
            <a:effectLst/>
          </c:spPr>
          <c:invertIfNegative val="0"/>
          <c:dLbls>
            <c:numFmt formatCode="0" sourceLinked="0"/>
            <c:spPr>
              <a:noFill/>
              <a:ln>
                <a:noFill/>
              </a:ln>
              <a:effectLst/>
            </c:spPr>
            <c:txPr>
              <a:bodyPr/>
              <a:lstStyle/>
              <a:p>
                <a:pPr>
                  <a:defRPr sz="750" b="0" i="0" u="none" strike="noStrike">
                    <a:solidFill>
                      <a:srgbClr val="6B7280"/>
                    </a:solidFill>
                    <a:latin typeface="Calibri"/>
                  </a:defRPr>
                </a:pPr>
                <a:endParaRPr lang="en-US"/>
              </a:p>
            </c:txPr>
            <c:showLegendKey val="0"/>
            <c:showVal val="1"/>
            <c:showCatName val="0"/>
            <c:showSerName val="0"/>
            <c:showPercent val="0"/>
            <c:showBubbleSize val="0"/>
            <c:showLeaderLines val="0"/>
            <c:extLst>
              <c:ext xmlns:c15="http://schemas.microsoft.com/office/drawing/2012/chart" uri="{CE6537A1-D6FC-4f65-9D91-7224C49458BB}">
                <c15:showLeaderLines val="0"/>
              </c:ext>
            </c:extLst>
          </c:dLbls>
          <c:cat>
            <c:strRef>
              <c:f>Sheet1!$A$2:$A$7</c:f>
              <c:strCache>
                <c:ptCount val="6"/>
                <c:pt idx="0">
                  <c:v>Jan</c:v>
                </c:pt>
                <c:pt idx="1">
                  <c:v>Feb</c:v>
                </c:pt>
                <c:pt idx="2">
                  <c:v>Mar</c:v>
                </c:pt>
                <c:pt idx="3">
                  <c:v>Apr</c:v>
                </c:pt>
                <c:pt idx="4">
                  <c:v>May</c:v>
                </c:pt>
                <c:pt idx="5">
                  <c:v>Jun</c:v>
                </c:pt>
              </c:strCache>
            </c:strRef>
          </c:cat>
          <c:val>
            <c:numRef>
              <c:f>Sheet1!$C$2:$C$7</c:f>
              <c:numCache>
                <c:formatCode>General</c:formatCode>
                <c:ptCount val="6"/>
                <c:pt idx="0">
                  <c:v>74.3</c:v>
                </c:pt>
                <c:pt idx="1">
                  <c:v>74.599999999999994</c:v>
                </c:pt>
                <c:pt idx="2">
                  <c:v>69.400000000000006</c:v>
                </c:pt>
                <c:pt idx="3">
                  <c:v>63.8</c:v>
                </c:pt>
                <c:pt idx="4">
                  <c:v>53.6</c:v>
                </c:pt>
                <c:pt idx="5">
                  <c:v>51.4</c:v>
                </c:pt>
              </c:numCache>
            </c:numRef>
          </c:val>
          <c:extLst>
            <c:ext xmlns:c16="http://schemas.microsoft.com/office/drawing/2014/chart" uri="{C3380CC4-5D6E-409C-BE32-E72D297353CC}">
              <c16:uniqueId val="{00000001-1303-418E-A737-F48065E28C6D}"/>
            </c:ext>
          </c:extLst>
        </c:ser>
        <c:dLbls>
          <c:showLegendKey val="0"/>
          <c:showVal val="1"/>
          <c:showCatName val="0"/>
          <c:showSerName val="0"/>
          <c:showPercent val="0"/>
          <c:showBubbleSize val="0"/>
        </c:dLbls>
        <c:gapWidth val="150"/>
        <c:axId val="2094734554"/>
        <c:axId val="2094734552"/>
      </c:barChart>
      <c:catAx>
        <c:axId val="2094734554"/>
        <c:scaling>
          <c:orientation val="minMax"/>
        </c:scaling>
        <c:delete val="0"/>
        <c:axPos val="b"/>
        <c:numFmt formatCode="General" sourceLinked="1"/>
        <c:majorTickMark val="out"/>
        <c:minorTickMark val="none"/>
        <c:tickLblPos val="low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1000" b="0" i="0" u="none" strike="noStrike">
                <a:solidFill>
                  <a:srgbClr val="6B7280"/>
                </a:solidFill>
                <a:latin typeface="Calibri"/>
              </a:defRPr>
            </a:pPr>
            <a:endParaRPr lang="en-US"/>
          </a:p>
        </c:txPr>
        <c:crossAx val="2094734552"/>
        <c:crosses val="autoZero"/>
        <c:auto val="1"/>
        <c:lblAlgn val="ctr"/>
        <c:lblOffset val="100"/>
        <c:noMultiLvlLbl val="1"/>
      </c:catAx>
      <c:valAx>
        <c:axId val="2094734552"/>
        <c:scaling>
          <c:orientation val="minMax"/>
        </c:scaling>
        <c:delete val="0"/>
        <c:axPos val="l"/>
        <c:majorGridlines>
          <c:spPr>
            <a:ln w="6350" cap="flat">
              <a:solidFill>
                <a:srgbClr val="E5E8EF"/>
              </a:solidFill>
              <a:prstDash val="solid"/>
              <a:round/>
            </a:ln>
          </c:spPr>
        </c:majorGridlines>
        <c:numFmt formatCode="General" sourceLinked="0"/>
        <c:majorTickMark val="out"/>
        <c:minorTickMark val="none"/>
        <c:tickLblPos val="nextTo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950" b="0" i="0" u="none" strike="noStrike">
                <a:solidFill>
                  <a:srgbClr val="6B7280"/>
                </a:solidFill>
                <a:latin typeface="Calibri"/>
              </a:defRPr>
            </a:pPr>
            <a:endParaRPr lang="en-US"/>
          </a:p>
        </c:txPr>
        <c:crossAx val="2094734554"/>
        <c:crosses val="autoZero"/>
        <c:crossBetween val="between"/>
      </c:valAx>
      <c:spPr>
        <a:noFill/>
        <a:ln>
          <a:noFill/>
        </a:ln>
        <a:effectLst/>
      </c:spPr>
    </c:plotArea>
    <c:legend>
      <c:legendPos val="b"/>
      <c:overlay val="0"/>
      <c:txPr>
        <a:bodyPr/>
        <a:lstStyle/>
        <a:p>
          <a:pPr>
            <a:defRPr sz="1000">
              <a:solidFill>
                <a:srgbClr val="26292E"/>
              </a:solidFill>
              <a:latin typeface="Calibri"/>
              <a:cs typeface="Calibri"/>
            </a:defRPr>
          </a:pPr>
          <a:endParaRPr lang="en-US"/>
        </a:p>
      </c:txPr>
    </c:legend>
    <c:plotVisOnly val="1"/>
    <c:dispBlanksAs val="span"/>
    <c:showDLblsOverMax val="1"/>
  </c:chart>
  <c:spPr>
    <a:noFill/>
    <a:ln>
      <a:noFill/>
    </a:ln>
    <a:effectLst/>
  </c:spPr>
  <c:externalData r:id="rId1">
    <c:autoUpdate val="0"/>
  </c:externalData>
</c:chartSpace>
</file>

<file path=ppt/charts/chart15.xml><?xml version="1.0" encoding="utf-8"?>
<c:chartSpace xmlns:c="http://schemas.openxmlformats.org/drawingml/2006/chart" xmlns:a="http://schemas.openxmlformats.org/drawingml/2006/main" xmlns:r="http://schemas.openxmlformats.org/officeDocument/2006/relationships" xmlns:c16r2="http://schemas.microsoft.com/office/drawing/2015/06/chart">
  <c:date1904 val="0"/>
  <c:lang val="en-US"/>
  <c:roundedCorners val="1"/>
  <c:style val="2"/>
  <c:chart>
    <c:title>
      <c:tx>
        <c:rich>
          <a:bodyPr/>
          <a:lstStyle/>
          <a:p>
            <a:pPr>
              <a:defRPr sz="1300" b="0" i="0" u="none" strike="noStrike">
                <a:solidFill>
                  <a:srgbClr val="1E2761"/>
                </a:solidFill>
                <a:latin typeface="Calibri"/>
              </a:defRPr>
            </a:pPr>
            <a:r>
              <a:rPr lang="en-US" sz="1300" b="0" i="0" u="none" strike="noStrike">
                <a:solidFill>
                  <a:srgbClr val="1E2761"/>
                </a:solidFill>
                <a:latin typeface="Calibri"/>
              </a:rPr>
              <a:t>ADR (THB)</a:t>
            </a:r>
          </a:p>
        </c:rich>
      </c:tx>
      <c:overlay val="0"/>
    </c:title>
    <c:autoTitleDeleted val="0"/>
    <c:plotArea>
      <c:layout/>
      <c:barChart>
        <c:barDir val="col"/>
        <c:grouping val="clustered"/>
        <c:varyColors val="0"/>
        <c:ser>
          <c:idx val="0"/>
          <c:order val="0"/>
          <c:tx>
            <c:strRef>
              <c:f>Sheet1!$B$1</c:f>
              <c:strCache>
                <c:ptCount val="1"/>
                <c:pt idx="0">
                  <c:v>2025</c:v>
                </c:pt>
              </c:strCache>
            </c:strRef>
          </c:tx>
          <c:spPr>
            <a:solidFill>
              <a:srgbClr val="7FA4DC"/>
            </a:solidFill>
            <a:effectLst/>
          </c:spPr>
          <c:invertIfNegative val="0"/>
          <c:dLbls>
            <c:numFmt formatCode="#,##0" sourceLinked="0"/>
            <c:spPr>
              <a:noFill/>
              <a:ln>
                <a:noFill/>
              </a:ln>
              <a:effectLst/>
            </c:spPr>
            <c:txPr>
              <a:bodyPr/>
              <a:lstStyle/>
              <a:p>
                <a:pPr>
                  <a:defRPr sz="750" b="0" i="0" u="none" strike="noStrike">
                    <a:solidFill>
                      <a:srgbClr val="6B7280"/>
                    </a:solidFill>
                    <a:latin typeface="Calibri"/>
                  </a:defRPr>
                </a:pPr>
                <a:endParaRPr lang="en-US"/>
              </a:p>
            </c:txPr>
            <c:showLegendKey val="0"/>
            <c:showVal val="1"/>
            <c:showCatName val="0"/>
            <c:showSerName val="0"/>
            <c:showPercent val="0"/>
            <c:showBubbleSize val="0"/>
            <c:showLeaderLines val="0"/>
            <c:extLst>
              <c:ext xmlns:c15="http://schemas.microsoft.com/office/drawing/2012/chart" uri="{CE6537A1-D6FC-4f65-9D91-7224C49458BB}">
                <c15:showLeaderLines val="0"/>
              </c:ext>
            </c:extLst>
          </c:dLbls>
          <c:cat>
            <c:strRef>
              <c:f>Sheet1!$A$2:$A$7</c:f>
              <c:strCache>
                <c:ptCount val="6"/>
                <c:pt idx="0">
                  <c:v>Jan</c:v>
                </c:pt>
                <c:pt idx="1">
                  <c:v>Feb</c:v>
                </c:pt>
                <c:pt idx="2">
                  <c:v>Mar</c:v>
                </c:pt>
                <c:pt idx="3">
                  <c:v>Apr</c:v>
                </c:pt>
                <c:pt idx="4">
                  <c:v>May</c:v>
                </c:pt>
                <c:pt idx="5">
                  <c:v>Jun</c:v>
                </c:pt>
              </c:strCache>
            </c:strRef>
          </c:cat>
          <c:val>
            <c:numRef>
              <c:f>Sheet1!$B$2:$B$7</c:f>
              <c:numCache>
                <c:formatCode>General</c:formatCode>
                <c:ptCount val="6"/>
                <c:pt idx="0">
                  <c:v>3970.74</c:v>
                </c:pt>
                <c:pt idx="1">
                  <c:v>3554.74</c:v>
                </c:pt>
                <c:pt idx="2">
                  <c:v>3320.1</c:v>
                </c:pt>
                <c:pt idx="3">
                  <c:v>3524.93</c:v>
                </c:pt>
                <c:pt idx="4">
                  <c:v>3254.5</c:v>
                </c:pt>
                <c:pt idx="5">
                  <c:v>3006.11</c:v>
                </c:pt>
              </c:numCache>
            </c:numRef>
          </c:val>
          <c:extLst>
            <c:ext xmlns:c16="http://schemas.microsoft.com/office/drawing/2014/chart" uri="{C3380CC4-5D6E-409C-BE32-E72D297353CC}">
              <c16:uniqueId val="{00000000-CC41-430F-BD89-9F4BEDFC74DD}"/>
            </c:ext>
          </c:extLst>
        </c:ser>
        <c:ser>
          <c:idx val="1"/>
          <c:order val="1"/>
          <c:tx>
            <c:strRef>
              <c:f>Sheet1!$C$1</c:f>
              <c:strCache>
                <c:ptCount val="1"/>
                <c:pt idx="0">
                  <c:v>2026</c:v>
                </c:pt>
              </c:strCache>
            </c:strRef>
          </c:tx>
          <c:spPr>
            <a:solidFill>
              <a:srgbClr val="1E2761"/>
            </a:solidFill>
            <a:effectLst/>
          </c:spPr>
          <c:invertIfNegative val="0"/>
          <c:dLbls>
            <c:numFmt formatCode="#,##0" sourceLinked="0"/>
            <c:spPr>
              <a:noFill/>
              <a:ln>
                <a:noFill/>
              </a:ln>
              <a:effectLst/>
            </c:spPr>
            <c:txPr>
              <a:bodyPr/>
              <a:lstStyle/>
              <a:p>
                <a:pPr>
                  <a:defRPr sz="750" b="0" i="0" u="none" strike="noStrike">
                    <a:solidFill>
                      <a:srgbClr val="6B7280"/>
                    </a:solidFill>
                    <a:latin typeface="Calibri"/>
                  </a:defRPr>
                </a:pPr>
                <a:endParaRPr lang="en-US"/>
              </a:p>
            </c:txPr>
            <c:showLegendKey val="0"/>
            <c:showVal val="1"/>
            <c:showCatName val="0"/>
            <c:showSerName val="0"/>
            <c:showPercent val="0"/>
            <c:showBubbleSize val="0"/>
            <c:showLeaderLines val="0"/>
            <c:extLst>
              <c:ext xmlns:c15="http://schemas.microsoft.com/office/drawing/2012/chart" uri="{CE6537A1-D6FC-4f65-9D91-7224C49458BB}">
                <c15:showLeaderLines val="0"/>
              </c:ext>
            </c:extLst>
          </c:dLbls>
          <c:cat>
            <c:strRef>
              <c:f>Sheet1!$A$2:$A$7</c:f>
              <c:strCache>
                <c:ptCount val="6"/>
                <c:pt idx="0">
                  <c:v>Jan</c:v>
                </c:pt>
                <c:pt idx="1">
                  <c:v>Feb</c:v>
                </c:pt>
                <c:pt idx="2">
                  <c:v>Mar</c:v>
                </c:pt>
                <c:pt idx="3">
                  <c:v>Apr</c:v>
                </c:pt>
                <c:pt idx="4">
                  <c:v>May</c:v>
                </c:pt>
                <c:pt idx="5">
                  <c:v>Jun</c:v>
                </c:pt>
              </c:strCache>
            </c:strRef>
          </c:cat>
          <c:val>
            <c:numRef>
              <c:f>Sheet1!$C$2:$C$7</c:f>
              <c:numCache>
                <c:formatCode>General</c:formatCode>
                <c:ptCount val="6"/>
                <c:pt idx="0">
                  <c:v>3733</c:v>
                </c:pt>
                <c:pt idx="1">
                  <c:v>3932</c:v>
                </c:pt>
                <c:pt idx="2">
                  <c:v>3341</c:v>
                </c:pt>
                <c:pt idx="3">
                  <c:v>3510</c:v>
                </c:pt>
                <c:pt idx="4">
                  <c:v>3115</c:v>
                </c:pt>
                <c:pt idx="5">
                  <c:v>2921</c:v>
                </c:pt>
              </c:numCache>
            </c:numRef>
          </c:val>
          <c:extLst>
            <c:ext xmlns:c16="http://schemas.microsoft.com/office/drawing/2014/chart" uri="{C3380CC4-5D6E-409C-BE32-E72D297353CC}">
              <c16:uniqueId val="{00000001-CC41-430F-BD89-9F4BEDFC74DD}"/>
            </c:ext>
          </c:extLst>
        </c:ser>
        <c:dLbls>
          <c:showLegendKey val="0"/>
          <c:showVal val="1"/>
          <c:showCatName val="0"/>
          <c:showSerName val="0"/>
          <c:showPercent val="0"/>
          <c:showBubbleSize val="0"/>
        </c:dLbls>
        <c:gapWidth val="150"/>
        <c:axId val="2094734554"/>
        <c:axId val="2094734552"/>
      </c:barChart>
      <c:catAx>
        <c:axId val="2094734554"/>
        <c:scaling>
          <c:orientation val="minMax"/>
        </c:scaling>
        <c:delete val="0"/>
        <c:axPos val="b"/>
        <c:numFmt formatCode="General" sourceLinked="1"/>
        <c:majorTickMark val="out"/>
        <c:minorTickMark val="none"/>
        <c:tickLblPos val="low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1000" b="0" i="0" u="none" strike="noStrike">
                <a:solidFill>
                  <a:srgbClr val="6B7280"/>
                </a:solidFill>
                <a:latin typeface="Calibri"/>
              </a:defRPr>
            </a:pPr>
            <a:endParaRPr lang="en-US"/>
          </a:p>
        </c:txPr>
        <c:crossAx val="2094734552"/>
        <c:crosses val="autoZero"/>
        <c:auto val="1"/>
        <c:lblAlgn val="ctr"/>
        <c:lblOffset val="100"/>
        <c:noMultiLvlLbl val="1"/>
      </c:catAx>
      <c:valAx>
        <c:axId val="2094734552"/>
        <c:scaling>
          <c:orientation val="minMax"/>
        </c:scaling>
        <c:delete val="0"/>
        <c:axPos val="l"/>
        <c:majorGridlines>
          <c:spPr>
            <a:ln w="6350" cap="flat">
              <a:solidFill>
                <a:srgbClr val="E5E8EF"/>
              </a:solidFill>
              <a:prstDash val="solid"/>
              <a:round/>
            </a:ln>
          </c:spPr>
        </c:majorGridlines>
        <c:numFmt formatCode="General" sourceLinked="0"/>
        <c:majorTickMark val="out"/>
        <c:minorTickMark val="none"/>
        <c:tickLblPos val="nextTo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950" b="0" i="0" u="none" strike="noStrike">
                <a:solidFill>
                  <a:srgbClr val="6B7280"/>
                </a:solidFill>
                <a:latin typeface="Calibri"/>
              </a:defRPr>
            </a:pPr>
            <a:endParaRPr lang="en-US"/>
          </a:p>
        </c:txPr>
        <c:crossAx val="2094734554"/>
        <c:crosses val="autoZero"/>
        <c:crossBetween val="between"/>
      </c:valAx>
      <c:spPr>
        <a:noFill/>
        <a:ln>
          <a:noFill/>
        </a:ln>
        <a:effectLst/>
      </c:spPr>
    </c:plotArea>
    <c:legend>
      <c:legendPos val="b"/>
      <c:overlay val="0"/>
      <c:txPr>
        <a:bodyPr/>
        <a:lstStyle/>
        <a:p>
          <a:pPr>
            <a:defRPr sz="1000">
              <a:solidFill>
                <a:srgbClr val="26292E"/>
              </a:solidFill>
              <a:latin typeface="Calibri"/>
              <a:cs typeface="Calibri"/>
            </a:defRPr>
          </a:pPr>
          <a:endParaRPr lang="en-US"/>
        </a:p>
      </c:txPr>
    </c:legend>
    <c:plotVisOnly val="1"/>
    <c:dispBlanksAs val="span"/>
    <c:showDLblsOverMax val="1"/>
  </c:chart>
  <c:spPr>
    <a:noFill/>
    <a:ln>
      <a:noFill/>
    </a:ln>
    <a:effectLst/>
  </c:spPr>
  <c:externalData r:id="rId1">
    <c:autoUpdate val="0"/>
  </c:externalData>
</c:chartSpace>
</file>

<file path=ppt/charts/chart16.xml><?xml version="1.0" encoding="utf-8"?>
<c:chartSpace xmlns:c="http://schemas.openxmlformats.org/drawingml/2006/chart" xmlns:a="http://schemas.openxmlformats.org/drawingml/2006/main" xmlns:r="http://schemas.openxmlformats.org/officeDocument/2006/relationships" xmlns:c16r2="http://schemas.microsoft.com/office/drawing/2015/06/chart">
  <c:date1904 val="0"/>
  <c:lang val="en-US"/>
  <c:roundedCorners val="1"/>
  <c:style val="2"/>
  <c:chart>
    <c:title>
      <c:tx>
        <c:rich>
          <a:bodyPr/>
          <a:lstStyle/>
          <a:p>
            <a:pPr>
              <a:defRPr sz="1300" b="0" i="0" u="none" strike="noStrike">
                <a:solidFill>
                  <a:srgbClr val="1E2761"/>
                </a:solidFill>
                <a:latin typeface="Calibri"/>
              </a:defRPr>
            </a:pPr>
            <a:r>
              <a:rPr lang="en-US" sz="1300" b="0" i="0" u="none" strike="noStrike">
                <a:solidFill>
                  <a:srgbClr val="1E2761"/>
                </a:solidFill>
                <a:latin typeface="Calibri"/>
              </a:rPr>
              <a:t>RevPAR (THB)</a:t>
            </a:r>
          </a:p>
        </c:rich>
      </c:tx>
      <c:overlay val="0"/>
    </c:title>
    <c:autoTitleDeleted val="0"/>
    <c:plotArea>
      <c:layout/>
      <c:barChart>
        <c:barDir val="col"/>
        <c:grouping val="clustered"/>
        <c:varyColors val="0"/>
        <c:ser>
          <c:idx val="0"/>
          <c:order val="0"/>
          <c:tx>
            <c:strRef>
              <c:f>Sheet1!$B$1</c:f>
              <c:strCache>
                <c:ptCount val="1"/>
                <c:pt idx="0">
                  <c:v>2025</c:v>
                </c:pt>
              </c:strCache>
            </c:strRef>
          </c:tx>
          <c:spPr>
            <a:solidFill>
              <a:srgbClr val="7FA4DC"/>
            </a:solidFill>
            <a:effectLst/>
          </c:spPr>
          <c:invertIfNegative val="0"/>
          <c:dLbls>
            <c:numFmt formatCode="#,##0" sourceLinked="0"/>
            <c:spPr>
              <a:noFill/>
              <a:ln>
                <a:noFill/>
              </a:ln>
              <a:effectLst/>
            </c:spPr>
            <c:txPr>
              <a:bodyPr/>
              <a:lstStyle/>
              <a:p>
                <a:pPr>
                  <a:defRPr sz="750" b="0" i="0" u="none" strike="noStrike">
                    <a:solidFill>
                      <a:srgbClr val="6B7280"/>
                    </a:solidFill>
                    <a:latin typeface="Calibri"/>
                  </a:defRPr>
                </a:pPr>
                <a:endParaRPr lang="en-US"/>
              </a:p>
            </c:txPr>
            <c:showLegendKey val="0"/>
            <c:showVal val="1"/>
            <c:showCatName val="0"/>
            <c:showSerName val="0"/>
            <c:showPercent val="0"/>
            <c:showBubbleSize val="0"/>
            <c:showLeaderLines val="0"/>
            <c:extLst>
              <c:ext xmlns:c15="http://schemas.microsoft.com/office/drawing/2012/chart" uri="{CE6537A1-D6FC-4f65-9D91-7224C49458BB}">
                <c15:showLeaderLines val="0"/>
              </c:ext>
            </c:extLst>
          </c:dLbls>
          <c:cat>
            <c:strRef>
              <c:f>Sheet1!$A$2:$A$7</c:f>
              <c:strCache>
                <c:ptCount val="6"/>
                <c:pt idx="0">
                  <c:v>Jan</c:v>
                </c:pt>
                <c:pt idx="1">
                  <c:v>Feb</c:v>
                </c:pt>
                <c:pt idx="2">
                  <c:v>Mar</c:v>
                </c:pt>
                <c:pt idx="3">
                  <c:v>Apr</c:v>
                </c:pt>
                <c:pt idx="4">
                  <c:v>May</c:v>
                </c:pt>
                <c:pt idx="5">
                  <c:v>Jun</c:v>
                </c:pt>
              </c:strCache>
            </c:strRef>
          </c:cat>
          <c:val>
            <c:numRef>
              <c:f>Sheet1!$B$2:$B$7</c:f>
              <c:numCache>
                <c:formatCode>General</c:formatCode>
                <c:ptCount val="6"/>
                <c:pt idx="0">
                  <c:v>3140.86</c:v>
                </c:pt>
                <c:pt idx="1">
                  <c:v>2623.4</c:v>
                </c:pt>
                <c:pt idx="2">
                  <c:v>2284.23</c:v>
                </c:pt>
                <c:pt idx="3">
                  <c:v>2252.4299999999998</c:v>
                </c:pt>
                <c:pt idx="4">
                  <c:v>1910.39</c:v>
                </c:pt>
                <c:pt idx="5">
                  <c:v>1638.33</c:v>
                </c:pt>
              </c:numCache>
            </c:numRef>
          </c:val>
          <c:extLst>
            <c:ext xmlns:c16="http://schemas.microsoft.com/office/drawing/2014/chart" uri="{C3380CC4-5D6E-409C-BE32-E72D297353CC}">
              <c16:uniqueId val="{00000000-3539-41ED-BD4C-46D14D4EF95D}"/>
            </c:ext>
          </c:extLst>
        </c:ser>
        <c:ser>
          <c:idx val="1"/>
          <c:order val="1"/>
          <c:tx>
            <c:strRef>
              <c:f>Sheet1!$C$1</c:f>
              <c:strCache>
                <c:ptCount val="1"/>
                <c:pt idx="0">
                  <c:v>2026</c:v>
                </c:pt>
              </c:strCache>
            </c:strRef>
          </c:tx>
          <c:spPr>
            <a:solidFill>
              <a:srgbClr val="1E2761"/>
            </a:solidFill>
            <a:effectLst/>
          </c:spPr>
          <c:invertIfNegative val="0"/>
          <c:dLbls>
            <c:numFmt formatCode="#,##0" sourceLinked="0"/>
            <c:spPr>
              <a:noFill/>
              <a:ln>
                <a:noFill/>
              </a:ln>
              <a:effectLst/>
            </c:spPr>
            <c:txPr>
              <a:bodyPr/>
              <a:lstStyle/>
              <a:p>
                <a:pPr>
                  <a:defRPr sz="750" b="0" i="0" u="none" strike="noStrike">
                    <a:solidFill>
                      <a:srgbClr val="6B7280"/>
                    </a:solidFill>
                    <a:latin typeface="Calibri"/>
                  </a:defRPr>
                </a:pPr>
                <a:endParaRPr lang="en-US"/>
              </a:p>
            </c:txPr>
            <c:showLegendKey val="0"/>
            <c:showVal val="1"/>
            <c:showCatName val="0"/>
            <c:showSerName val="0"/>
            <c:showPercent val="0"/>
            <c:showBubbleSize val="0"/>
            <c:showLeaderLines val="0"/>
            <c:extLst>
              <c:ext xmlns:c15="http://schemas.microsoft.com/office/drawing/2012/chart" uri="{CE6537A1-D6FC-4f65-9D91-7224C49458BB}">
                <c15:showLeaderLines val="0"/>
              </c:ext>
            </c:extLst>
          </c:dLbls>
          <c:cat>
            <c:strRef>
              <c:f>Sheet1!$A$2:$A$7</c:f>
              <c:strCache>
                <c:ptCount val="6"/>
                <c:pt idx="0">
                  <c:v>Jan</c:v>
                </c:pt>
                <c:pt idx="1">
                  <c:v>Feb</c:v>
                </c:pt>
                <c:pt idx="2">
                  <c:v>Mar</c:v>
                </c:pt>
                <c:pt idx="3">
                  <c:v>Apr</c:v>
                </c:pt>
                <c:pt idx="4">
                  <c:v>May</c:v>
                </c:pt>
                <c:pt idx="5">
                  <c:v>Jun</c:v>
                </c:pt>
              </c:strCache>
            </c:strRef>
          </c:cat>
          <c:val>
            <c:numRef>
              <c:f>Sheet1!$C$2:$C$7</c:f>
              <c:numCache>
                <c:formatCode>General</c:formatCode>
                <c:ptCount val="6"/>
                <c:pt idx="0">
                  <c:v>2773.62</c:v>
                </c:pt>
                <c:pt idx="1">
                  <c:v>2933.27</c:v>
                </c:pt>
                <c:pt idx="2">
                  <c:v>2318.65</c:v>
                </c:pt>
                <c:pt idx="3">
                  <c:v>2239.38</c:v>
                </c:pt>
                <c:pt idx="4">
                  <c:v>1669.64</c:v>
                </c:pt>
                <c:pt idx="5">
                  <c:v>1501.39</c:v>
                </c:pt>
              </c:numCache>
            </c:numRef>
          </c:val>
          <c:extLst>
            <c:ext xmlns:c16="http://schemas.microsoft.com/office/drawing/2014/chart" uri="{C3380CC4-5D6E-409C-BE32-E72D297353CC}">
              <c16:uniqueId val="{00000001-3539-41ED-BD4C-46D14D4EF95D}"/>
            </c:ext>
          </c:extLst>
        </c:ser>
        <c:dLbls>
          <c:showLegendKey val="0"/>
          <c:showVal val="1"/>
          <c:showCatName val="0"/>
          <c:showSerName val="0"/>
          <c:showPercent val="0"/>
          <c:showBubbleSize val="0"/>
        </c:dLbls>
        <c:gapWidth val="150"/>
        <c:axId val="2094734554"/>
        <c:axId val="2094734552"/>
      </c:barChart>
      <c:catAx>
        <c:axId val="2094734554"/>
        <c:scaling>
          <c:orientation val="minMax"/>
        </c:scaling>
        <c:delete val="0"/>
        <c:axPos val="b"/>
        <c:numFmt formatCode="General" sourceLinked="1"/>
        <c:majorTickMark val="out"/>
        <c:minorTickMark val="none"/>
        <c:tickLblPos val="low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1000" b="0" i="0" u="none" strike="noStrike">
                <a:solidFill>
                  <a:srgbClr val="6B7280"/>
                </a:solidFill>
                <a:latin typeface="Calibri"/>
              </a:defRPr>
            </a:pPr>
            <a:endParaRPr lang="en-US"/>
          </a:p>
        </c:txPr>
        <c:crossAx val="2094734552"/>
        <c:crosses val="autoZero"/>
        <c:auto val="1"/>
        <c:lblAlgn val="ctr"/>
        <c:lblOffset val="100"/>
        <c:noMultiLvlLbl val="1"/>
      </c:catAx>
      <c:valAx>
        <c:axId val="2094734552"/>
        <c:scaling>
          <c:orientation val="minMax"/>
        </c:scaling>
        <c:delete val="0"/>
        <c:axPos val="l"/>
        <c:majorGridlines>
          <c:spPr>
            <a:ln w="6350" cap="flat">
              <a:solidFill>
                <a:srgbClr val="E5E8EF"/>
              </a:solidFill>
              <a:prstDash val="solid"/>
              <a:round/>
            </a:ln>
          </c:spPr>
        </c:majorGridlines>
        <c:numFmt formatCode="General" sourceLinked="0"/>
        <c:majorTickMark val="out"/>
        <c:minorTickMark val="none"/>
        <c:tickLblPos val="nextTo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950" b="0" i="0" u="none" strike="noStrike">
                <a:solidFill>
                  <a:srgbClr val="6B7280"/>
                </a:solidFill>
                <a:latin typeface="Calibri"/>
              </a:defRPr>
            </a:pPr>
            <a:endParaRPr lang="en-US"/>
          </a:p>
        </c:txPr>
        <c:crossAx val="2094734554"/>
        <c:crosses val="autoZero"/>
        <c:crossBetween val="between"/>
      </c:valAx>
      <c:spPr>
        <a:noFill/>
        <a:ln>
          <a:noFill/>
        </a:ln>
        <a:effectLst/>
      </c:spPr>
    </c:plotArea>
    <c:legend>
      <c:legendPos val="b"/>
      <c:overlay val="0"/>
      <c:txPr>
        <a:bodyPr/>
        <a:lstStyle/>
        <a:p>
          <a:pPr>
            <a:defRPr sz="1000">
              <a:solidFill>
                <a:srgbClr val="26292E"/>
              </a:solidFill>
              <a:latin typeface="Calibri"/>
              <a:cs typeface="Calibri"/>
            </a:defRPr>
          </a:pPr>
          <a:endParaRPr lang="en-US"/>
        </a:p>
      </c:txPr>
    </c:legend>
    <c:plotVisOnly val="1"/>
    <c:dispBlanksAs val="span"/>
    <c:showDLblsOverMax val="1"/>
  </c:chart>
  <c:spPr>
    <a:noFill/>
    <a:ln>
      <a:noFill/>
    </a:ln>
    <a:effectLst/>
  </c:spPr>
  <c:externalData r:id="rId1">
    <c:autoUpdate val="0"/>
  </c:externalData>
</c:chartSpace>
</file>

<file path=ppt/charts/chart17.xml><?xml version="1.0" encoding="utf-8"?>
<c:chartSpace xmlns:c="http://schemas.openxmlformats.org/drawingml/2006/chart" xmlns:a="http://schemas.openxmlformats.org/drawingml/2006/main" xmlns:r="http://schemas.openxmlformats.org/officeDocument/2006/relationships" xmlns:c16r2="http://schemas.microsoft.com/office/drawing/2015/06/chart">
  <c:date1904 val="0"/>
  <c:lang val="en-US"/>
  <c:roundedCorners val="1"/>
  <c:style val="2"/>
  <c:chart>
    <c:title>
      <c:tx>
        <c:rich>
          <a:bodyPr/>
          <a:lstStyle/>
          <a:p>
            <a:pPr>
              <a:defRPr sz="1200" b="0" i="0" u="none" strike="noStrike">
                <a:solidFill>
                  <a:srgbClr val="1E2761"/>
                </a:solidFill>
                <a:latin typeface="Calibri"/>
              </a:defRPr>
            </a:pPr>
            <a:r>
              <a:rPr lang="en-US" sz="1200" b="0" i="0" u="none" strike="noStrike">
                <a:solidFill>
                  <a:srgbClr val="1E2761"/>
                </a:solidFill>
                <a:latin typeface="Calibri"/>
              </a:rPr>
              <a:t>Monthly RevPAR (THB) — actual vs budget vs 2025 vs 2024</a:t>
            </a:r>
          </a:p>
        </c:rich>
      </c:tx>
      <c:overlay val="0"/>
    </c:title>
    <c:autoTitleDeleted val="0"/>
    <c:plotArea>
      <c:layout/>
      <c:barChart>
        <c:barDir val="col"/>
        <c:grouping val="clustered"/>
        <c:varyColors val="0"/>
        <c:ser>
          <c:idx val="0"/>
          <c:order val="0"/>
          <c:tx>
            <c:strRef>
              <c:f>Sheet1!$B$1</c:f>
              <c:strCache>
                <c:ptCount val="1"/>
                <c:pt idx="0">
                  <c:v>RevPAR 2026</c:v>
                </c:pt>
              </c:strCache>
            </c:strRef>
          </c:tx>
          <c:spPr>
            <a:solidFill>
              <a:srgbClr val="1E2761"/>
            </a:solidFill>
            <a:effectLst/>
          </c:spPr>
          <c:invertIfNegative val="0"/>
          <c:cat>
            <c:strRef>
              <c:f>Sheet1!$A$2:$A$7</c:f>
              <c:strCache>
                <c:ptCount val="6"/>
                <c:pt idx="0">
                  <c:v>Jan</c:v>
                </c:pt>
                <c:pt idx="1">
                  <c:v>Feb</c:v>
                </c:pt>
                <c:pt idx="2">
                  <c:v>Mar</c:v>
                </c:pt>
                <c:pt idx="3">
                  <c:v>Apr</c:v>
                </c:pt>
                <c:pt idx="4">
                  <c:v>May</c:v>
                </c:pt>
                <c:pt idx="5">
                  <c:v>Jun</c:v>
                </c:pt>
              </c:strCache>
            </c:strRef>
          </c:cat>
          <c:val>
            <c:numRef>
              <c:f>Sheet1!$B$2:$B$7</c:f>
              <c:numCache>
                <c:formatCode>General</c:formatCode>
                <c:ptCount val="6"/>
                <c:pt idx="0">
                  <c:v>2730.61</c:v>
                </c:pt>
                <c:pt idx="1">
                  <c:v>2981.88</c:v>
                </c:pt>
                <c:pt idx="2">
                  <c:v>2265.4699999999998</c:v>
                </c:pt>
                <c:pt idx="3">
                  <c:v>2090.5500000000002</c:v>
                </c:pt>
                <c:pt idx="4">
                  <c:v>1841.55</c:v>
                </c:pt>
                <c:pt idx="5">
                  <c:v>1856.88</c:v>
                </c:pt>
              </c:numCache>
            </c:numRef>
          </c:val>
          <c:extLst>
            <c:ext xmlns:c16="http://schemas.microsoft.com/office/drawing/2014/chart" uri="{C3380CC4-5D6E-409C-BE32-E72D297353CC}">
              <c16:uniqueId val="{00000000-A938-4BD0-9BC4-1779E1420A41}"/>
            </c:ext>
          </c:extLst>
        </c:ser>
        <c:dLbls>
          <c:showLegendKey val="0"/>
          <c:showVal val="0"/>
          <c:showCatName val="0"/>
          <c:showSerName val="0"/>
          <c:showPercent val="0"/>
          <c:showBubbleSize val="0"/>
        </c:dLbls>
        <c:gapWidth val="80"/>
        <c:axId val="2094734554"/>
        <c:axId val="2094734552"/>
      </c:barChart>
      <c:lineChart>
        <c:grouping val="standard"/>
        <c:varyColors val="0"/>
        <c:ser>
          <c:idx val="1"/>
          <c:order val="1"/>
          <c:tx>
            <c:strRef>
              <c:f>Sheet1!$C$1</c:f>
              <c:strCache>
                <c:ptCount val="1"/>
                <c:pt idx="0">
                  <c:v>Budget</c:v>
                </c:pt>
              </c:strCache>
            </c:strRef>
          </c:tx>
          <c:spPr>
            <a:ln w="31750" cap="flat">
              <a:solidFill>
                <a:srgbClr val="D9A441"/>
              </a:solidFill>
              <a:prstDash val="solid"/>
              <a:round/>
            </a:ln>
            <a:effectLst/>
          </c:spPr>
          <c:marker>
            <c:symbol val="circle"/>
            <c:size val="5"/>
            <c:spPr>
              <a:solidFill>
                <a:srgbClr val="AEB6C2"/>
              </a:solidFill>
              <a:ln w="9525" cap="flat">
                <a:solidFill>
                  <a:srgbClr val="D9A441"/>
                </a:solidFill>
                <a:prstDash val="solid"/>
                <a:round/>
              </a:ln>
              <a:effectLst/>
            </c:spPr>
          </c:marker>
          <c:cat>
            <c:strRef>
              <c:f>Sheet1!$A$2:$A$7</c:f>
              <c:strCache>
                <c:ptCount val="6"/>
                <c:pt idx="0">
                  <c:v>Jan</c:v>
                </c:pt>
                <c:pt idx="1">
                  <c:v>Feb</c:v>
                </c:pt>
                <c:pt idx="2">
                  <c:v>Mar</c:v>
                </c:pt>
                <c:pt idx="3">
                  <c:v>Apr</c:v>
                </c:pt>
                <c:pt idx="4">
                  <c:v>May</c:v>
                </c:pt>
                <c:pt idx="5">
                  <c:v>Jun</c:v>
                </c:pt>
              </c:strCache>
            </c:strRef>
          </c:cat>
          <c:val>
            <c:numRef>
              <c:f>Sheet1!$C$2:$C$7</c:f>
              <c:numCache>
                <c:formatCode>General</c:formatCode>
                <c:ptCount val="6"/>
                <c:pt idx="0">
                  <c:v>2832.89</c:v>
                </c:pt>
                <c:pt idx="1">
                  <c:v>2930.13</c:v>
                </c:pt>
                <c:pt idx="2">
                  <c:v>2196.21</c:v>
                </c:pt>
                <c:pt idx="3">
                  <c:v>2340.37</c:v>
                </c:pt>
                <c:pt idx="4">
                  <c:v>2058</c:v>
                </c:pt>
                <c:pt idx="5">
                  <c:v>2015.7</c:v>
                </c:pt>
              </c:numCache>
            </c:numRef>
          </c:val>
          <c:smooth val="0"/>
          <c:extLst>
            <c:ext xmlns:c16="http://schemas.microsoft.com/office/drawing/2014/chart" uri="{C3380CC4-5D6E-409C-BE32-E72D297353CC}">
              <c16:uniqueId val="{00000001-A938-4BD0-9BC4-1779E1420A41}"/>
            </c:ext>
          </c:extLst>
        </c:ser>
        <c:ser>
          <c:idx val="2"/>
          <c:order val="2"/>
          <c:tx>
            <c:strRef>
              <c:f>Sheet1!$D$1</c:f>
              <c:strCache>
                <c:ptCount val="1"/>
                <c:pt idx="0">
                  <c:v>2025</c:v>
                </c:pt>
              </c:strCache>
            </c:strRef>
          </c:tx>
          <c:spPr>
            <a:ln w="31750" cap="flat">
              <a:solidFill>
                <a:srgbClr val="AEB6C2"/>
              </a:solidFill>
              <a:prstDash val="solid"/>
              <a:round/>
            </a:ln>
            <a:effectLst/>
          </c:spPr>
          <c:marker>
            <c:symbol val="circle"/>
            <c:size val="5"/>
            <c:spPr>
              <a:solidFill>
                <a:srgbClr val="C9D6EE"/>
              </a:solidFill>
              <a:ln w="9525" cap="flat">
                <a:solidFill>
                  <a:srgbClr val="AEB6C2"/>
                </a:solidFill>
                <a:prstDash val="solid"/>
                <a:round/>
              </a:ln>
              <a:effectLst/>
            </c:spPr>
          </c:marker>
          <c:cat>
            <c:strRef>
              <c:f>Sheet1!$A$2:$A$7</c:f>
              <c:strCache>
                <c:ptCount val="6"/>
                <c:pt idx="0">
                  <c:v>Jan</c:v>
                </c:pt>
                <c:pt idx="1">
                  <c:v>Feb</c:v>
                </c:pt>
                <c:pt idx="2">
                  <c:v>Mar</c:v>
                </c:pt>
                <c:pt idx="3">
                  <c:v>Apr</c:v>
                </c:pt>
                <c:pt idx="4">
                  <c:v>May</c:v>
                </c:pt>
                <c:pt idx="5">
                  <c:v>Jun</c:v>
                </c:pt>
              </c:strCache>
            </c:strRef>
          </c:cat>
          <c:val>
            <c:numRef>
              <c:f>Sheet1!$D$2:$D$7</c:f>
              <c:numCache>
                <c:formatCode>General</c:formatCode>
                <c:ptCount val="6"/>
                <c:pt idx="0">
                  <c:v>3058.29</c:v>
                </c:pt>
                <c:pt idx="1">
                  <c:v>2793.16</c:v>
                </c:pt>
                <c:pt idx="2">
                  <c:v>2045.25</c:v>
                </c:pt>
                <c:pt idx="3">
                  <c:v>2130.85</c:v>
                </c:pt>
                <c:pt idx="4">
                  <c:v>1956.25</c:v>
                </c:pt>
                <c:pt idx="5">
                  <c:v>1852.03</c:v>
                </c:pt>
              </c:numCache>
            </c:numRef>
          </c:val>
          <c:smooth val="0"/>
          <c:extLst>
            <c:ext xmlns:c16="http://schemas.microsoft.com/office/drawing/2014/chart" uri="{C3380CC4-5D6E-409C-BE32-E72D297353CC}">
              <c16:uniqueId val="{00000002-A938-4BD0-9BC4-1779E1420A41}"/>
            </c:ext>
          </c:extLst>
        </c:ser>
        <c:ser>
          <c:idx val="3"/>
          <c:order val="3"/>
          <c:tx>
            <c:strRef>
              <c:f>Sheet1!$E$1</c:f>
              <c:strCache>
                <c:ptCount val="1"/>
                <c:pt idx="0">
                  <c:v>2024</c:v>
                </c:pt>
              </c:strCache>
            </c:strRef>
          </c:tx>
          <c:spPr>
            <a:ln w="31750" cap="flat">
              <a:solidFill>
                <a:srgbClr val="C9D6EE"/>
              </a:solidFill>
              <a:prstDash val="solid"/>
              <a:round/>
            </a:ln>
            <a:effectLst/>
          </c:spPr>
          <c:marker>
            <c:symbol val="circle"/>
            <c:size val="5"/>
            <c:spPr>
              <a:solidFill>
                <a:srgbClr val="AEB6C2"/>
              </a:solidFill>
              <a:ln w="9525" cap="flat">
                <a:solidFill>
                  <a:srgbClr val="C9D6EE"/>
                </a:solidFill>
                <a:prstDash val="solid"/>
                <a:round/>
              </a:ln>
              <a:effectLst/>
            </c:spPr>
          </c:marker>
          <c:cat>
            <c:strRef>
              <c:f>Sheet1!$A$2:$A$7</c:f>
              <c:strCache>
                <c:ptCount val="6"/>
                <c:pt idx="0">
                  <c:v>Jan</c:v>
                </c:pt>
                <c:pt idx="1">
                  <c:v>Feb</c:v>
                </c:pt>
                <c:pt idx="2">
                  <c:v>Mar</c:v>
                </c:pt>
                <c:pt idx="3">
                  <c:v>Apr</c:v>
                </c:pt>
                <c:pt idx="4">
                  <c:v>May</c:v>
                </c:pt>
                <c:pt idx="5">
                  <c:v>Jun</c:v>
                </c:pt>
              </c:strCache>
            </c:strRef>
          </c:cat>
          <c:val>
            <c:numRef>
              <c:f>Sheet1!$E$2:$E$7</c:f>
              <c:numCache>
                <c:formatCode>General</c:formatCode>
                <c:ptCount val="6"/>
                <c:pt idx="0">
                  <c:v>2549.8200000000002</c:v>
                </c:pt>
                <c:pt idx="1">
                  <c:v>3094.06</c:v>
                </c:pt>
                <c:pt idx="2">
                  <c:v>2490.73</c:v>
                </c:pt>
                <c:pt idx="3">
                  <c:v>2681.05</c:v>
                </c:pt>
                <c:pt idx="4">
                  <c:v>2184.6999999999998</c:v>
                </c:pt>
                <c:pt idx="5">
                  <c:v>2497.0700000000002</c:v>
                </c:pt>
              </c:numCache>
            </c:numRef>
          </c:val>
          <c:smooth val="0"/>
          <c:extLst>
            <c:ext xmlns:c16="http://schemas.microsoft.com/office/drawing/2014/chart" uri="{C3380CC4-5D6E-409C-BE32-E72D297353CC}">
              <c16:uniqueId val="{00000003-A938-4BD0-9BC4-1779E1420A41}"/>
            </c:ext>
          </c:extLst>
        </c:ser>
        <c:dLbls>
          <c:showLegendKey val="0"/>
          <c:showVal val="0"/>
          <c:showCatName val="0"/>
          <c:showSerName val="0"/>
          <c:showPercent val="0"/>
          <c:showBubbleSize val="0"/>
        </c:dLbls>
        <c:marker val="1"/>
        <c:smooth val="0"/>
        <c:axId val="2094734554"/>
        <c:axId val="2094734552"/>
      </c:lineChart>
      <c:catAx>
        <c:axId val="2094734554"/>
        <c:scaling>
          <c:orientation val="minMax"/>
        </c:scaling>
        <c:delete val="0"/>
        <c:axPos val="b"/>
        <c:numFmt formatCode="General" sourceLinked="1"/>
        <c:majorTickMark val="out"/>
        <c:minorTickMark val="none"/>
        <c:tickLblPos val="low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1000" b="0" i="0" u="none" strike="noStrike">
                <a:solidFill>
                  <a:srgbClr val="6B7280"/>
                </a:solidFill>
                <a:latin typeface="Calibri"/>
              </a:defRPr>
            </a:pPr>
            <a:endParaRPr lang="en-US"/>
          </a:p>
        </c:txPr>
        <c:crossAx val="2094734552"/>
        <c:crosses val="autoZero"/>
        <c:auto val="1"/>
        <c:lblAlgn val="ctr"/>
        <c:lblOffset val="100"/>
        <c:noMultiLvlLbl val="1"/>
      </c:catAx>
      <c:valAx>
        <c:axId val="2094734552"/>
        <c:scaling>
          <c:orientation val="minMax"/>
        </c:scaling>
        <c:delete val="0"/>
        <c:axPos val="l"/>
        <c:majorGridlines>
          <c:spPr>
            <a:ln w="6350" cap="flat">
              <a:solidFill>
                <a:srgbClr val="E5E8EF"/>
              </a:solidFill>
              <a:prstDash val="solid"/>
              <a:round/>
            </a:ln>
          </c:spPr>
        </c:majorGridlines>
        <c:numFmt formatCode="General" sourceLinked="0"/>
        <c:majorTickMark val="out"/>
        <c:minorTickMark val="none"/>
        <c:tickLblPos val="nextTo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950" b="0" i="0" u="none" strike="noStrike">
                <a:solidFill>
                  <a:srgbClr val="6B7280"/>
                </a:solidFill>
                <a:latin typeface="Calibri"/>
              </a:defRPr>
            </a:pPr>
            <a:endParaRPr lang="en-US"/>
          </a:p>
        </c:txPr>
        <c:crossAx val="2094734554"/>
        <c:crosses val="autoZero"/>
        <c:crossBetween val="between"/>
      </c:valAx>
      <c:spPr>
        <a:noFill/>
        <a:ln>
          <a:noFill/>
        </a:ln>
        <a:effectLst/>
      </c:spPr>
    </c:plotArea>
    <c:legend>
      <c:legendPos val="b"/>
      <c:overlay val="0"/>
      <c:txPr>
        <a:bodyPr/>
        <a:lstStyle/>
        <a:p>
          <a:pPr>
            <a:defRPr sz="1000">
              <a:solidFill>
                <a:srgbClr val="26292E"/>
              </a:solidFill>
              <a:latin typeface="Calibri"/>
              <a:cs typeface="Calibri"/>
            </a:defRPr>
          </a:pPr>
          <a:endParaRPr lang="en-US"/>
        </a:p>
      </c:txPr>
    </c:legend>
    <c:plotVisOnly val="1"/>
    <c:dispBlanksAs val="span"/>
    <c:showDLblsOverMax val="1"/>
  </c:chart>
  <c:spPr>
    <a:noFill/>
    <a:ln>
      <a:noFill/>
    </a:ln>
    <a:effectLst/>
  </c:spPr>
  <c:externalData r:id="rId1">
    <c:autoUpdate val="0"/>
  </c:externalData>
</c:chartSpace>
</file>

<file path=ppt/charts/chart18.xml><?xml version="1.0" encoding="utf-8"?>
<c:chartSpace xmlns:c="http://schemas.openxmlformats.org/drawingml/2006/chart" xmlns:a="http://schemas.openxmlformats.org/drawingml/2006/main" xmlns:r="http://schemas.openxmlformats.org/officeDocument/2006/relationships" xmlns:c16r2="http://schemas.microsoft.com/office/drawing/2015/06/chart">
  <c:date1904 val="0"/>
  <c:lang val="en-US"/>
  <c:roundedCorners val="1"/>
  <c:style val="2"/>
  <c:chart>
    <c:title>
      <c:tx>
        <c:rich>
          <a:bodyPr/>
          <a:lstStyle/>
          <a:p>
            <a:pPr>
              <a:defRPr sz="1250" b="0" i="0" u="none" strike="noStrike">
                <a:solidFill>
                  <a:srgbClr val="1E2761"/>
                </a:solidFill>
                <a:latin typeface="Calibri"/>
              </a:defRPr>
            </a:pPr>
            <a:r>
              <a:rPr lang="en-US" sz="1250" b="0" i="0" u="none" strike="noStrike">
                <a:solidFill>
                  <a:srgbClr val="1E2761"/>
                </a:solidFill>
                <a:latin typeface="Calibri"/>
              </a:rPr>
              <a:t>Monthly revenue (฿M)</a:t>
            </a:r>
          </a:p>
        </c:rich>
      </c:tx>
      <c:overlay val="0"/>
    </c:title>
    <c:autoTitleDeleted val="0"/>
    <c:plotArea>
      <c:layout/>
      <c:barChart>
        <c:barDir val="col"/>
        <c:grouping val="clustered"/>
        <c:varyColors val="0"/>
        <c:ser>
          <c:idx val="0"/>
          <c:order val="0"/>
          <c:tx>
            <c:strRef>
              <c:f>Sheet1!$B$1</c:f>
              <c:strCache>
                <c:ptCount val="1"/>
                <c:pt idx="0">
                  <c:v>2024</c:v>
                </c:pt>
              </c:strCache>
            </c:strRef>
          </c:tx>
          <c:spPr>
            <a:solidFill>
              <a:srgbClr val="C9D6EE"/>
            </a:solidFill>
            <a:effectLst/>
          </c:spPr>
          <c:invertIfNegative val="0"/>
          <c:cat>
            <c:strRef>
              <c:f>Sheet1!$A$2:$A$7</c:f>
              <c:strCache>
                <c:ptCount val="6"/>
                <c:pt idx="0">
                  <c:v>Jan</c:v>
                </c:pt>
                <c:pt idx="1">
                  <c:v>Feb</c:v>
                </c:pt>
                <c:pt idx="2">
                  <c:v>Mar</c:v>
                </c:pt>
                <c:pt idx="3">
                  <c:v>Apr</c:v>
                </c:pt>
                <c:pt idx="4">
                  <c:v>May</c:v>
                </c:pt>
                <c:pt idx="5">
                  <c:v>Jun</c:v>
                </c:pt>
              </c:strCache>
            </c:strRef>
          </c:cat>
          <c:val>
            <c:numRef>
              <c:f>Sheet1!$B$2:$B$7</c:f>
              <c:numCache>
                <c:formatCode>General</c:formatCode>
                <c:ptCount val="6"/>
                <c:pt idx="0">
                  <c:v>111475897.26000001</c:v>
                </c:pt>
                <c:pt idx="1">
                  <c:v>126112350.23999999</c:v>
                </c:pt>
                <c:pt idx="2">
                  <c:v>109777270.98000002</c:v>
                </c:pt>
                <c:pt idx="3">
                  <c:v>113258166.72999999</c:v>
                </c:pt>
                <c:pt idx="4">
                  <c:v>96284030.989999995</c:v>
                </c:pt>
                <c:pt idx="5">
                  <c:v>106385076.2</c:v>
                </c:pt>
              </c:numCache>
            </c:numRef>
          </c:val>
          <c:extLst>
            <c:ext xmlns:c16="http://schemas.microsoft.com/office/drawing/2014/chart" uri="{C3380CC4-5D6E-409C-BE32-E72D297353CC}">
              <c16:uniqueId val="{00000000-B736-4905-8B7A-7A386F3F9120}"/>
            </c:ext>
          </c:extLst>
        </c:ser>
        <c:ser>
          <c:idx val="1"/>
          <c:order val="1"/>
          <c:tx>
            <c:strRef>
              <c:f>Sheet1!$C$1</c:f>
              <c:strCache>
                <c:ptCount val="1"/>
                <c:pt idx="0">
                  <c:v>2025</c:v>
                </c:pt>
              </c:strCache>
            </c:strRef>
          </c:tx>
          <c:spPr>
            <a:solidFill>
              <a:srgbClr val="7FA4DC"/>
            </a:solidFill>
            <a:effectLst/>
          </c:spPr>
          <c:invertIfNegative val="0"/>
          <c:cat>
            <c:strRef>
              <c:f>Sheet1!$A$2:$A$7</c:f>
              <c:strCache>
                <c:ptCount val="6"/>
                <c:pt idx="0">
                  <c:v>Jan</c:v>
                </c:pt>
                <c:pt idx="1">
                  <c:v>Feb</c:v>
                </c:pt>
                <c:pt idx="2">
                  <c:v>Mar</c:v>
                </c:pt>
                <c:pt idx="3">
                  <c:v>Apr</c:v>
                </c:pt>
                <c:pt idx="4">
                  <c:v>May</c:v>
                </c:pt>
                <c:pt idx="5">
                  <c:v>Jun</c:v>
                </c:pt>
              </c:strCache>
            </c:strRef>
          </c:cat>
          <c:val>
            <c:numRef>
              <c:f>Sheet1!$C$2:$C$7</c:f>
              <c:numCache>
                <c:formatCode>General</c:formatCode>
                <c:ptCount val="6"/>
                <c:pt idx="0">
                  <c:v>133807592.83000001</c:v>
                </c:pt>
                <c:pt idx="1">
                  <c:v>110119287.81999999</c:v>
                </c:pt>
                <c:pt idx="2">
                  <c:v>89952687.949999988</c:v>
                </c:pt>
                <c:pt idx="3">
                  <c:v>91434840.560000002</c:v>
                </c:pt>
                <c:pt idx="4">
                  <c:v>85699029.230000004</c:v>
                </c:pt>
                <c:pt idx="5">
                  <c:v>79340898.109999999</c:v>
                </c:pt>
              </c:numCache>
            </c:numRef>
          </c:val>
          <c:extLst>
            <c:ext xmlns:c16="http://schemas.microsoft.com/office/drawing/2014/chart" uri="{C3380CC4-5D6E-409C-BE32-E72D297353CC}">
              <c16:uniqueId val="{00000001-B736-4905-8B7A-7A386F3F9120}"/>
            </c:ext>
          </c:extLst>
        </c:ser>
        <c:ser>
          <c:idx val="2"/>
          <c:order val="2"/>
          <c:tx>
            <c:strRef>
              <c:f>Sheet1!$D$1</c:f>
              <c:strCache>
                <c:ptCount val="1"/>
                <c:pt idx="0">
                  <c:v>2026</c:v>
                </c:pt>
              </c:strCache>
            </c:strRef>
          </c:tx>
          <c:spPr>
            <a:solidFill>
              <a:srgbClr val="1E2761"/>
            </a:solidFill>
            <a:effectLst/>
          </c:spPr>
          <c:invertIfNegative val="0"/>
          <c:cat>
            <c:strRef>
              <c:f>Sheet1!$A$2:$A$7</c:f>
              <c:strCache>
                <c:ptCount val="6"/>
                <c:pt idx="0">
                  <c:v>Jan</c:v>
                </c:pt>
                <c:pt idx="1">
                  <c:v>Feb</c:v>
                </c:pt>
                <c:pt idx="2">
                  <c:v>Mar</c:v>
                </c:pt>
                <c:pt idx="3">
                  <c:v>Apr</c:v>
                </c:pt>
                <c:pt idx="4">
                  <c:v>May</c:v>
                </c:pt>
                <c:pt idx="5">
                  <c:v>Jun</c:v>
                </c:pt>
              </c:strCache>
            </c:strRef>
          </c:cat>
          <c:val>
            <c:numRef>
              <c:f>Sheet1!$D$2:$D$7</c:f>
              <c:numCache>
                <c:formatCode>General</c:formatCode>
                <c:ptCount val="6"/>
                <c:pt idx="0">
                  <c:v>118442088.12</c:v>
                </c:pt>
                <c:pt idx="1">
                  <c:v>116700026.86</c:v>
                </c:pt>
                <c:pt idx="2">
                  <c:v>99275487.290000007</c:v>
                </c:pt>
                <c:pt idx="3">
                  <c:v>88366637.049999997</c:v>
                </c:pt>
                <c:pt idx="4">
                  <c:v>80532064.560000002</c:v>
                </c:pt>
                <c:pt idx="5">
                  <c:v>78588276.849999994</c:v>
                </c:pt>
              </c:numCache>
            </c:numRef>
          </c:val>
          <c:extLst>
            <c:ext xmlns:c16="http://schemas.microsoft.com/office/drawing/2014/chart" uri="{C3380CC4-5D6E-409C-BE32-E72D297353CC}">
              <c16:uniqueId val="{00000002-B736-4905-8B7A-7A386F3F9120}"/>
            </c:ext>
          </c:extLst>
        </c:ser>
        <c:dLbls>
          <c:showLegendKey val="0"/>
          <c:showVal val="0"/>
          <c:showCatName val="0"/>
          <c:showSerName val="0"/>
          <c:showPercent val="0"/>
          <c:showBubbleSize val="0"/>
        </c:dLbls>
        <c:gapWidth val="150"/>
        <c:axId val="2094734554"/>
        <c:axId val="2094734552"/>
      </c:barChart>
      <c:catAx>
        <c:axId val="2094734554"/>
        <c:scaling>
          <c:orientation val="minMax"/>
        </c:scaling>
        <c:delete val="0"/>
        <c:axPos val="b"/>
        <c:numFmt formatCode="General" sourceLinked="1"/>
        <c:majorTickMark val="out"/>
        <c:minorTickMark val="none"/>
        <c:tickLblPos val="low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1000" b="0" i="0" u="none" strike="noStrike">
                <a:solidFill>
                  <a:srgbClr val="6B7280"/>
                </a:solidFill>
                <a:latin typeface="Calibri"/>
              </a:defRPr>
            </a:pPr>
            <a:endParaRPr lang="en-US"/>
          </a:p>
        </c:txPr>
        <c:crossAx val="2094734552"/>
        <c:crosses val="autoZero"/>
        <c:auto val="1"/>
        <c:lblAlgn val="ctr"/>
        <c:lblOffset val="100"/>
        <c:noMultiLvlLbl val="1"/>
      </c:catAx>
      <c:valAx>
        <c:axId val="2094734552"/>
        <c:scaling>
          <c:orientation val="minMax"/>
        </c:scaling>
        <c:delete val="0"/>
        <c:axPos val="l"/>
        <c:majorGridlines>
          <c:spPr>
            <a:ln w="6350" cap="flat">
              <a:solidFill>
                <a:srgbClr val="E5E8EF"/>
              </a:solidFill>
              <a:prstDash val="solid"/>
              <a:round/>
            </a:ln>
          </c:spPr>
        </c:majorGridlines>
        <c:numFmt formatCode="General" sourceLinked="0"/>
        <c:majorTickMark val="out"/>
        <c:minorTickMark val="none"/>
        <c:tickLblPos val="nextTo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950" b="0" i="0" u="none" strike="noStrike">
                <a:solidFill>
                  <a:srgbClr val="6B7280"/>
                </a:solidFill>
                <a:latin typeface="Calibri"/>
              </a:defRPr>
            </a:pPr>
            <a:endParaRPr lang="en-US"/>
          </a:p>
        </c:txPr>
        <c:crossAx val="2094734554"/>
        <c:crosses val="autoZero"/>
        <c:crossBetween val="between"/>
      </c:valAx>
      <c:spPr>
        <a:noFill/>
        <a:ln>
          <a:noFill/>
        </a:ln>
        <a:effectLst/>
      </c:spPr>
    </c:plotArea>
    <c:legend>
      <c:legendPos val="b"/>
      <c:overlay val="0"/>
      <c:txPr>
        <a:bodyPr/>
        <a:lstStyle/>
        <a:p>
          <a:pPr>
            <a:defRPr sz="1000">
              <a:solidFill>
                <a:srgbClr val="26292E"/>
              </a:solidFill>
              <a:latin typeface="Calibri"/>
              <a:cs typeface="Calibri"/>
            </a:defRPr>
          </a:pPr>
          <a:endParaRPr lang="en-US"/>
        </a:p>
      </c:txPr>
    </c:legend>
    <c:plotVisOnly val="1"/>
    <c:dispBlanksAs val="span"/>
    <c:showDLblsOverMax val="1"/>
  </c:chart>
  <c:spPr>
    <a:noFill/>
    <a:ln>
      <a:noFill/>
    </a:ln>
    <a:effectLst/>
  </c:spPr>
  <c:externalData r:id="rId1">
    <c:autoUpdate val="0"/>
  </c:externalData>
</c:chartSpace>
</file>

<file path=ppt/charts/chart19.xml><?xml version="1.0" encoding="utf-8"?>
<c:chartSpace xmlns:c="http://schemas.openxmlformats.org/drawingml/2006/chart" xmlns:a="http://schemas.openxmlformats.org/drawingml/2006/main" xmlns:r="http://schemas.openxmlformats.org/officeDocument/2006/relationships" xmlns:c16r2="http://schemas.microsoft.com/office/drawing/2015/06/chart">
  <c:date1904 val="0"/>
  <c:lang val="en-US"/>
  <c:roundedCorners val="1"/>
  <c:style val="2"/>
  <c:chart>
    <c:title>
      <c:tx>
        <c:rich>
          <a:bodyPr/>
          <a:lstStyle/>
          <a:p>
            <a:pPr>
              <a:defRPr sz="1200" b="0" i="0" u="none" strike="noStrike">
                <a:solidFill>
                  <a:srgbClr val="1E2761"/>
                </a:solidFill>
                <a:latin typeface="Calibri"/>
              </a:defRPr>
            </a:pPr>
            <a:r>
              <a:rPr lang="en-US" sz="1200" b="0" i="0" u="none" strike="noStrike">
                <a:solidFill>
                  <a:srgbClr val="1E2761"/>
                </a:solidFill>
                <a:latin typeface="Calibri"/>
              </a:rPr>
              <a:t>Monthly RevPAR (THB) — actual vs budget vs 2025 vs 2024</a:t>
            </a:r>
          </a:p>
        </c:rich>
      </c:tx>
      <c:overlay val="0"/>
    </c:title>
    <c:autoTitleDeleted val="0"/>
    <c:plotArea>
      <c:layout/>
      <c:barChart>
        <c:barDir val="col"/>
        <c:grouping val="clustered"/>
        <c:varyColors val="0"/>
        <c:ser>
          <c:idx val="0"/>
          <c:order val="0"/>
          <c:tx>
            <c:strRef>
              <c:f>Sheet1!$B$1</c:f>
              <c:strCache>
                <c:ptCount val="1"/>
                <c:pt idx="0">
                  <c:v>RevPAR 2026</c:v>
                </c:pt>
              </c:strCache>
            </c:strRef>
          </c:tx>
          <c:spPr>
            <a:solidFill>
              <a:srgbClr val="1E2761"/>
            </a:solidFill>
            <a:effectLst/>
          </c:spPr>
          <c:invertIfNegative val="0"/>
          <c:cat>
            <c:strRef>
              <c:f>Sheet1!$A$2:$A$7</c:f>
              <c:strCache>
                <c:ptCount val="6"/>
                <c:pt idx="0">
                  <c:v>Jan</c:v>
                </c:pt>
                <c:pt idx="1">
                  <c:v>Feb</c:v>
                </c:pt>
                <c:pt idx="2">
                  <c:v>Mar</c:v>
                </c:pt>
                <c:pt idx="3">
                  <c:v>Apr</c:v>
                </c:pt>
                <c:pt idx="4">
                  <c:v>May</c:v>
                </c:pt>
                <c:pt idx="5">
                  <c:v>Jun</c:v>
                </c:pt>
              </c:strCache>
            </c:strRef>
          </c:cat>
          <c:val>
            <c:numRef>
              <c:f>Sheet1!$B$2:$B$7</c:f>
              <c:numCache>
                <c:formatCode>General</c:formatCode>
                <c:ptCount val="6"/>
                <c:pt idx="0">
                  <c:v>2584.46</c:v>
                </c:pt>
                <c:pt idx="1">
                  <c:v>2840.81</c:v>
                </c:pt>
                <c:pt idx="2">
                  <c:v>2283.83</c:v>
                </c:pt>
                <c:pt idx="3">
                  <c:v>2267.7399999999998</c:v>
                </c:pt>
                <c:pt idx="4">
                  <c:v>2029.21</c:v>
                </c:pt>
                <c:pt idx="5">
                  <c:v>2045.21</c:v>
                </c:pt>
              </c:numCache>
            </c:numRef>
          </c:val>
          <c:extLst>
            <c:ext xmlns:c16="http://schemas.microsoft.com/office/drawing/2014/chart" uri="{C3380CC4-5D6E-409C-BE32-E72D297353CC}">
              <c16:uniqueId val="{00000000-4863-4432-BC37-0F1FC7451516}"/>
            </c:ext>
          </c:extLst>
        </c:ser>
        <c:dLbls>
          <c:showLegendKey val="0"/>
          <c:showVal val="0"/>
          <c:showCatName val="0"/>
          <c:showSerName val="0"/>
          <c:showPercent val="0"/>
          <c:showBubbleSize val="0"/>
        </c:dLbls>
        <c:gapWidth val="80"/>
        <c:axId val="2094734554"/>
        <c:axId val="2094734552"/>
      </c:barChart>
      <c:lineChart>
        <c:grouping val="standard"/>
        <c:varyColors val="0"/>
        <c:ser>
          <c:idx val="1"/>
          <c:order val="1"/>
          <c:tx>
            <c:strRef>
              <c:f>Sheet1!$C$1</c:f>
              <c:strCache>
                <c:ptCount val="1"/>
                <c:pt idx="0">
                  <c:v>Budget</c:v>
                </c:pt>
              </c:strCache>
            </c:strRef>
          </c:tx>
          <c:spPr>
            <a:ln w="31750" cap="flat">
              <a:solidFill>
                <a:srgbClr val="D9A441"/>
              </a:solidFill>
              <a:prstDash val="solid"/>
              <a:round/>
            </a:ln>
            <a:effectLst/>
          </c:spPr>
          <c:marker>
            <c:symbol val="circle"/>
            <c:size val="5"/>
            <c:spPr>
              <a:solidFill>
                <a:srgbClr val="AEB6C2"/>
              </a:solidFill>
              <a:ln w="9525" cap="flat">
                <a:solidFill>
                  <a:srgbClr val="D9A441"/>
                </a:solidFill>
                <a:prstDash val="solid"/>
                <a:round/>
              </a:ln>
              <a:effectLst/>
            </c:spPr>
          </c:marker>
          <c:cat>
            <c:strRef>
              <c:f>Sheet1!$A$2:$A$7</c:f>
              <c:strCache>
                <c:ptCount val="6"/>
                <c:pt idx="0">
                  <c:v>Jan</c:v>
                </c:pt>
                <c:pt idx="1">
                  <c:v>Feb</c:v>
                </c:pt>
                <c:pt idx="2">
                  <c:v>Mar</c:v>
                </c:pt>
                <c:pt idx="3">
                  <c:v>Apr</c:v>
                </c:pt>
                <c:pt idx="4">
                  <c:v>May</c:v>
                </c:pt>
                <c:pt idx="5">
                  <c:v>Jun</c:v>
                </c:pt>
              </c:strCache>
            </c:strRef>
          </c:cat>
          <c:val>
            <c:numRef>
              <c:f>Sheet1!$C$2:$C$7</c:f>
              <c:numCache>
                <c:formatCode>General</c:formatCode>
                <c:ptCount val="6"/>
                <c:pt idx="0">
                  <c:v>2875.9054000000001</c:v>
                </c:pt>
                <c:pt idx="1">
                  <c:v>2698.8366000000001</c:v>
                </c:pt>
                <c:pt idx="2">
                  <c:v>2275.9744999999998</c:v>
                </c:pt>
                <c:pt idx="3">
                  <c:v>2218.3143</c:v>
                </c:pt>
                <c:pt idx="4">
                  <c:v>2087.6923000000002</c:v>
                </c:pt>
                <c:pt idx="5">
                  <c:v>2076.6554000000001</c:v>
                </c:pt>
              </c:numCache>
            </c:numRef>
          </c:val>
          <c:smooth val="0"/>
          <c:extLst>
            <c:ext xmlns:c16="http://schemas.microsoft.com/office/drawing/2014/chart" uri="{C3380CC4-5D6E-409C-BE32-E72D297353CC}">
              <c16:uniqueId val="{00000001-4863-4432-BC37-0F1FC7451516}"/>
            </c:ext>
          </c:extLst>
        </c:ser>
        <c:ser>
          <c:idx val="2"/>
          <c:order val="2"/>
          <c:tx>
            <c:strRef>
              <c:f>Sheet1!$D$1</c:f>
              <c:strCache>
                <c:ptCount val="1"/>
                <c:pt idx="0">
                  <c:v>2025</c:v>
                </c:pt>
              </c:strCache>
            </c:strRef>
          </c:tx>
          <c:spPr>
            <a:ln w="31750" cap="flat">
              <a:solidFill>
                <a:srgbClr val="AEB6C2"/>
              </a:solidFill>
              <a:prstDash val="solid"/>
              <a:round/>
            </a:ln>
            <a:effectLst/>
          </c:spPr>
          <c:marker>
            <c:symbol val="circle"/>
            <c:size val="5"/>
            <c:spPr>
              <a:solidFill>
                <a:srgbClr val="C9D6EE"/>
              </a:solidFill>
              <a:ln w="9525" cap="flat">
                <a:solidFill>
                  <a:srgbClr val="AEB6C2"/>
                </a:solidFill>
                <a:prstDash val="solid"/>
                <a:round/>
              </a:ln>
              <a:effectLst/>
            </c:spPr>
          </c:marker>
          <c:cat>
            <c:strRef>
              <c:f>Sheet1!$A$2:$A$7</c:f>
              <c:strCache>
                <c:ptCount val="6"/>
                <c:pt idx="0">
                  <c:v>Jan</c:v>
                </c:pt>
                <c:pt idx="1">
                  <c:v>Feb</c:v>
                </c:pt>
                <c:pt idx="2">
                  <c:v>Mar</c:v>
                </c:pt>
                <c:pt idx="3">
                  <c:v>Apr</c:v>
                </c:pt>
                <c:pt idx="4">
                  <c:v>May</c:v>
                </c:pt>
                <c:pt idx="5">
                  <c:v>Jun</c:v>
                </c:pt>
              </c:strCache>
            </c:strRef>
          </c:cat>
          <c:val>
            <c:numRef>
              <c:f>Sheet1!$D$2:$D$7</c:f>
              <c:numCache>
                <c:formatCode>General</c:formatCode>
                <c:ptCount val="6"/>
                <c:pt idx="0">
                  <c:v>2830.4776999999999</c:v>
                </c:pt>
                <c:pt idx="1">
                  <c:v>2684.1437999999998</c:v>
                </c:pt>
                <c:pt idx="2">
                  <c:v>2204.3263000000002</c:v>
                </c:pt>
                <c:pt idx="3">
                  <c:v>2015.123</c:v>
                </c:pt>
                <c:pt idx="4">
                  <c:v>2070.1639</c:v>
                </c:pt>
                <c:pt idx="5">
                  <c:v>2045.5304000000001</c:v>
                </c:pt>
              </c:numCache>
            </c:numRef>
          </c:val>
          <c:smooth val="0"/>
          <c:extLst>
            <c:ext xmlns:c16="http://schemas.microsoft.com/office/drawing/2014/chart" uri="{C3380CC4-5D6E-409C-BE32-E72D297353CC}">
              <c16:uniqueId val="{00000002-4863-4432-BC37-0F1FC7451516}"/>
            </c:ext>
          </c:extLst>
        </c:ser>
        <c:ser>
          <c:idx val="3"/>
          <c:order val="3"/>
          <c:tx>
            <c:strRef>
              <c:f>Sheet1!$E$1</c:f>
              <c:strCache>
                <c:ptCount val="1"/>
                <c:pt idx="0">
                  <c:v>2024</c:v>
                </c:pt>
              </c:strCache>
            </c:strRef>
          </c:tx>
          <c:spPr>
            <a:ln w="31750" cap="flat">
              <a:solidFill>
                <a:srgbClr val="C9D6EE"/>
              </a:solidFill>
              <a:prstDash val="solid"/>
              <a:round/>
            </a:ln>
            <a:effectLst/>
          </c:spPr>
          <c:marker>
            <c:symbol val="circle"/>
            <c:size val="5"/>
            <c:spPr>
              <a:solidFill>
                <a:srgbClr val="D9A441"/>
              </a:solidFill>
              <a:ln w="9525" cap="flat">
                <a:solidFill>
                  <a:srgbClr val="C9D6EE"/>
                </a:solidFill>
                <a:prstDash val="solid"/>
                <a:round/>
              </a:ln>
              <a:effectLst/>
            </c:spPr>
          </c:marker>
          <c:cat>
            <c:strRef>
              <c:f>Sheet1!$A$2:$A$7</c:f>
              <c:strCache>
                <c:ptCount val="6"/>
                <c:pt idx="0">
                  <c:v>Jan</c:v>
                </c:pt>
                <c:pt idx="1">
                  <c:v>Feb</c:v>
                </c:pt>
                <c:pt idx="2">
                  <c:v>Mar</c:v>
                </c:pt>
                <c:pt idx="3">
                  <c:v>Apr</c:v>
                </c:pt>
                <c:pt idx="4">
                  <c:v>May</c:v>
                </c:pt>
                <c:pt idx="5">
                  <c:v>Jun</c:v>
                </c:pt>
              </c:strCache>
            </c:strRef>
          </c:cat>
          <c:val>
            <c:numRef>
              <c:f>Sheet1!$E$2:$E$7</c:f>
              <c:numCache>
                <c:formatCode>General</c:formatCode>
                <c:ptCount val="6"/>
                <c:pt idx="0">
                  <c:v>2531.6268</c:v>
                </c:pt>
                <c:pt idx="1">
                  <c:v>3072.0153</c:v>
                </c:pt>
                <c:pt idx="2">
                  <c:v>2585.7296000000001</c:v>
                </c:pt>
                <c:pt idx="3">
                  <c:v>2663.5610000000001</c:v>
                </c:pt>
                <c:pt idx="4">
                  <c:v>2544.7352999999998</c:v>
                </c:pt>
                <c:pt idx="5">
                  <c:v>2399.04</c:v>
                </c:pt>
              </c:numCache>
            </c:numRef>
          </c:val>
          <c:smooth val="0"/>
          <c:extLst>
            <c:ext xmlns:c16="http://schemas.microsoft.com/office/drawing/2014/chart" uri="{C3380CC4-5D6E-409C-BE32-E72D297353CC}">
              <c16:uniqueId val="{00000003-4863-4432-BC37-0F1FC7451516}"/>
            </c:ext>
          </c:extLst>
        </c:ser>
        <c:dLbls>
          <c:showLegendKey val="0"/>
          <c:showVal val="0"/>
          <c:showCatName val="0"/>
          <c:showSerName val="0"/>
          <c:showPercent val="0"/>
          <c:showBubbleSize val="0"/>
        </c:dLbls>
        <c:marker val="1"/>
        <c:smooth val="0"/>
        <c:axId val="2094734554"/>
        <c:axId val="2094734552"/>
      </c:lineChart>
      <c:catAx>
        <c:axId val="2094734554"/>
        <c:scaling>
          <c:orientation val="minMax"/>
        </c:scaling>
        <c:delete val="0"/>
        <c:axPos val="b"/>
        <c:numFmt formatCode="General" sourceLinked="1"/>
        <c:majorTickMark val="out"/>
        <c:minorTickMark val="none"/>
        <c:tickLblPos val="low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1000" b="0" i="0" u="none" strike="noStrike">
                <a:solidFill>
                  <a:srgbClr val="6B7280"/>
                </a:solidFill>
                <a:latin typeface="Calibri"/>
              </a:defRPr>
            </a:pPr>
            <a:endParaRPr lang="en-US"/>
          </a:p>
        </c:txPr>
        <c:crossAx val="2094734552"/>
        <c:crosses val="autoZero"/>
        <c:auto val="1"/>
        <c:lblAlgn val="ctr"/>
        <c:lblOffset val="100"/>
        <c:noMultiLvlLbl val="1"/>
      </c:catAx>
      <c:valAx>
        <c:axId val="2094734552"/>
        <c:scaling>
          <c:orientation val="minMax"/>
        </c:scaling>
        <c:delete val="0"/>
        <c:axPos val="l"/>
        <c:majorGridlines>
          <c:spPr>
            <a:ln w="6350" cap="flat">
              <a:solidFill>
                <a:srgbClr val="E5E8EF"/>
              </a:solidFill>
              <a:prstDash val="solid"/>
              <a:round/>
            </a:ln>
          </c:spPr>
        </c:majorGridlines>
        <c:numFmt formatCode="General" sourceLinked="0"/>
        <c:majorTickMark val="out"/>
        <c:minorTickMark val="none"/>
        <c:tickLblPos val="nextTo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950" b="0" i="0" u="none" strike="noStrike">
                <a:solidFill>
                  <a:srgbClr val="6B7280"/>
                </a:solidFill>
                <a:latin typeface="Calibri"/>
              </a:defRPr>
            </a:pPr>
            <a:endParaRPr lang="en-US"/>
          </a:p>
        </c:txPr>
        <c:crossAx val="2094734554"/>
        <c:crosses val="autoZero"/>
        <c:crossBetween val="between"/>
      </c:valAx>
      <c:spPr>
        <a:noFill/>
        <a:ln>
          <a:noFill/>
        </a:ln>
        <a:effectLst/>
      </c:spPr>
    </c:plotArea>
    <c:legend>
      <c:legendPos val="b"/>
      <c:overlay val="0"/>
      <c:txPr>
        <a:bodyPr/>
        <a:lstStyle/>
        <a:p>
          <a:pPr>
            <a:defRPr sz="1000">
              <a:solidFill>
                <a:srgbClr val="26292E"/>
              </a:solidFill>
              <a:latin typeface="Calibri"/>
              <a:cs typeface="Calibri"/>
            </a:defRPr>
          </a:pPr>
          <a:endParaRPr lang="en-US"/>
        </a:p>
      </c:txPr>
    </c:legend>
    <c:plotVisOnly val="1"/>
    <c:dispBlanksAs val="span"/>
    <c:showDLblsOverMax val="1"/>
  </c:chart>
  <c:spPr>
    <a:noFill/>
    <a:ln>
      <a:noFill/>
    </a:ln>
    <a:effectLst/>
  </c:spPr>
  <c:externalData r:id="rId1">
    <c:autoUpdate val="0"/>
  </c:externalData>
</c:chartSpace>
</file>

<file path=ppt/charts/chart20.xml><?xml version="1.0" encoding="utf-8"?>
<c:chartSpace xmlns:c="http://schemas.openxmlformats.org/drawingml/2006/chart" xmlns:a="http://schemas.openxmlformats.org/drawingml/2006/main" xmlns:r="http://schemas.openxmlformats.org/officeDocument/2006/relationships" xmlns:c16r2="http://schemas.microsoft.com/office/drawing/2015/06/chart">
  <c:date1904 val="0"/>
  <c:lang val="en-US"/>
  <c:roundedCorners val="1"/>
  <c:style val="2"/>
  <c:chart>
    <c:title>
      <c:tx>
        <c:rich>
          <a:bodyPr/>
          <a:lstStyle/>
          <a:p>
            <a:pPr>
              <a:defRPr sz="1300" b="0" i="0" u="none" strike="noStrike">
                <a:solidFill>
                  <a:srgbClr val="1E2761"/>
                </a:solidFill>
                <a:latin typeface="Calibri"/>
              </a:defRPr>
            </a:pPr>
            <a:r>
              <a:rPr lang="en-US" sz="1300" b="0" i="0" u="none" strike="noStrike">
                <a:solidFill>
                  <a:srgbClr val="1E2761"/>
                </a:solidFill>
                <a:latin typeface="Calibri"/>
              </a:rPr>
              <a:t>Room nights per month (stacked)</a:t>
            </a:r>
          </a:p>
        </c:rich>
      </c:tx>
      <c:overlay val="0"/>
    </c:title>
    <c:autoTitleDeleted val="0"/>
    <c:plotArea>
      <c:layout/>
      <c:barChart>
        <c:barDir val="col"/>
        <c:grouping val="stacked"/>
        <c:varyColors val="0"/>
        <c:ser>
          <c:idx val="0"/>
          <c:order val="0"/>
          <c:tx>
            <c:strRef>
              <c:f>Sheet1!$B$1</c:f>
              <c:strCache>
                <c:ptCount val="1"/>
                <c:pt idx="0">
                  <c:v>Corporate SS</c:v>
                </c:pt>
              </c:strCache>
            </c:strRef>
          </c:tx>
          <c:spPr>
            <a:solidFill>
              <a:srgbClr val="1E2761"/>
            </a:solidFill>
            <a:effectLst/>
          </c:spPr>
          <c:invertIfNegative val="0"/>
          <c:dLbls>
            <c:numFmt formatCode="#,##0;;" sourceLinked="0"/>
            <c:spPr>
              <a:noFill/>
              <a:ln>
                <a:noFill/>
              </a:ln>
              <a:effectLst/>
            </c:spPr>
            <c:txPr>
              <a:bodyPr/>
              <a:lstStyle/>
              <a:p>
                <a:pPr>
                  <a:defRPr sz="750" b="0" i="0" u="none" strike="noStrike">
                    <a:solidFill>
                      <a:srgbClr val="FFFFFF"/>
                    </a:solidFill>
                    <a:latin typeface="Calibri"/>
                  </a:defRPr>
                </a:pPr>
                <a:endParaRPr lang="en-US"/>
              </a:p>
            </c:txPr>
            <c:dLblPos val="ctr"/>
            <c:showLegendKey val="0"/>
            <c:showVal val="1"/>
            <c:showCatName val="0"/>
            <c:showSerName val="0"/>
            <c:showPercent val="0"/>
            <c:showBubbleSize val="0"/>
            <c:showLeaderLines val="0"/>
            <c:extLst>
              <c:ext xmlns:c15="http://schemas.microsoft.com/office/drawing/2012/chart" uri="{CE6537A1-D6FC-4f65-9D91-7224C49458BB}">
                <c15:showLeaderLines val="0"/>
              </c:ext>
            </c:extLst>
          </c:dLbls>
          <c:cat>
            <c:strRef>
              <c:f>Sheet1!$A$2:$A$7</c:f>
              <c:strCache>
                <c:ptCount val="6"/>
                <c:pt idx="0">
                  <c:v>Jan</c:v>
                </c:pt>
                <c:pt idx="1">
                  <c:v>Feb</c:v>
                </c:pt>
                <c:pt idx="2">
                  <c:v>Mar</c:v>
                </c:pt>
                <c:pt idx="3">
                  <c:v>Apr</c:v>
                </c:pt>
                <c:pt idx="4">
                  <c:v>May</c:v>
                </c:pt>
                <c:pt idx="5">
                  <c:v>Jun</c:v>
                </c:pt>
              </c:strCache>
            </c:strRef>
          </c:cat>
          <c:val>
            <c:numRef>
              <c:f>Sheet1!$B$2:$B$7</c:f>
              <c:numCache>
                <c:formatCode>General</c:formatCode>
                <c:ptCount val="6"/>
                <c:pt idx="0">
                  <c:v>1270</c:v>
                </c:pt>
                <c:pt idx="1">
                  <c:v>1549</c:v>
                </c:pt>
                <c:pt idx="2">
                  <c:v>1849</c:v>
                </c:pt>
                <c:pt idx="3">
                  <c:v>1541</c:v>
                </c:pt>
                <c:pt idx="4">
                  <c:v>1597</c:v>
                </c:pt>
                <c:pt idx="5">
                  <c:v>1484</c:v>
                </c:pt>
              </c:numCache>
            </c:numRef>
          </c:val>
          <c:extLst>
            <c:ext xmlns:c16="http://schemas.microsoft.com/office/drawing/2014/chart" uri="{C3380CC4-5D6E-409C-BE32-E72D297353CC}">
              <c16:uniqueId val="{00000000-C541-448A-AF96-C51AE27DD689}"/>
            </c:ext>
          </c:extLst>
        </c:ser>
        <c:ser>
          <c:idx val="1"/>
          <c:order val="1"/>
          <c:tx>
            <c:strRef>
              <c:f>Sheet1!$C$1</c:f>
              <c:strCache>
                <c:ptCount val="1"/>
                <c:pt idx="0">
                  <c:v>Corporate LS</c:v>
                </c:pt>
              </c:strCache>
            </c:strRef>
          </c:tx>
          <c:spPr>
            <a:solidFill>
              <a:srgbClr val="4A6FC4"/>
            </a:solidFill>
            <a:effectLst/>
          </c:spPr>
          <c:invertIfNegative val="0"/>
          <c:dLbls>
            <c:numFmt formatCode="#,##0;;" sourceLinked="0"/>
            <c:spPr>
              <a:noFill/>
              <a:ln>
                <a:noFill/>
              </a:ln>
              <a:effectLst/>
            </c:spPr>
            <c:txPr>
              <a:bodyPr/>
              <a:lstStyle/>
              <a:p>
                <a:pPr>
                  <a:defRPr sz="750" b="0" i="0" u="none" strike="noStrike">
                    <a:solidFill>
                      <a:srgbClr val="FFFFFF"/>
                    </a:solidFill>
                    <a:latin typeface="Calibri"/>
                  </a:defRPr>
                </a:pPr>
                <a:endParaRPr lang="en-US"/>
              </a:p>
            </c:txPr>
            <c:dLblPos val="ctr"/>
            <c:showLegendKey val="0"/>
            <c:showVal val="1"/>
            <c:showCatName val="0"/>
            <c:showSerName val="0"/>
            <c:showPercent val="0"/>
            <c:showBubbleSize val="0"/>
            <c:showLeaderLines val="0"/>
            <c:extLst>
              <c:ext xmlns:c15="http://schemas.microsoft.com/office/drawing/2012/chart" uri="{CE6537A1-D6FC-4f65-9D91-7224C49458BB}">
                <c15:showLeaderLines val="0"/>
              </c:ext>
            </c:extLst>
          </c:dLbls>
          <c:cat>
            <c:strRef>
              <c:f>Sheet1!$A$2:$A$7</c:f>
              <c:strCache>
                <c:ptCount val="6"/>
                <c:pt idx="0">
                  <c:v>Jan</c:v>
                </c:pt>
                <c:pt idx="1">
                  <c:v>Feb</c:v>
                </c:pt>
                <c:pt idx="2">
                  <c:v>Mar</c:v>
                </c:pt>
                <c:pt idx="3">
                  <c:v>Apr</c:v>
                </c:pt>
                <c:pt idx="4">
                  <c:v>May</c:v>
                </c:pt>
                <c:pt idx="5">
                  <c:v>Jun</c:v>
                </c:pt>
              </c:strCache>
            </c:strRef>
          </c:cat>
          <c:val>
            <c:numRef>
              <c:f>Sheet1!$C$2:$C$7</c:f>
              <c:numCache>
                <c:formatCode>General</c:formatCode>
                <c:ptCount val="6"/>
                <c:pt idx="0">
                  <c:v>1416</c:v>
                </c:pt>
                <c:pt idx="1">
                  <c:v>1303</c:v>
                </c:pt>
                <c:pt idx="2">
                  <c:v>1323</c:v>
                </c:pt>
                <c:pt idx="3">
                  <c:v>1437</c:v>
                </c:pt>
                <c:pt idx="4">
                  <c:v>1936</c:v>
                </c:pt>
                <c:pt idx="5">
                  <c:v>2208</c:v>
                </c:pt>
              </c:numCache>
            </c:numRef>
          </c:val>
          <c:extLst>
            <c:ext xmlns:c16="http://schemas.microsoft.com/office/drawing/2014/chart" uri="{C3380CC4-5D6E-409C-BE32-E72D297353CC}">
              <c16:uniqueId val="{00000001-C541-448A-AF96-C51AE27DD689}"/>
            </c:ext>
          </c:extLst>
        </c:ser>
        <c:ser>
          <c:idx val="2"/>
          <c:order val="2"/>
          <c:tx>
            <c:strRef>
              <c:f>Sheet1!$D$1</c:f>
              <c:strCache>
                <c:ptCount val="1"/>
                <c:pt idx="0">
                  <c:v>Online</c:v>
                </c:pt>
              </c:strCache>
            </c:strRef>
          </c:tx>
          <c:spPr>
            <a:solidFill>
              <a:srgbClr val="7FA4DC"/>
            </a:solidFill>
            <a:effectLst/>
          </c:spPr>
          <c:invertIfNegative val="0"/>
          <c:dLbls>
            <c:numFmt formatCode="#,##0;;" sourceLinked="0"/>
            <c:spPr>
              <a:noFill/>
              <a:ln>
                <a:noFill/>
              </a:ln>
              <a:effectLst/>
            </c:spPr>
            <c:txPr>
              <a:bodyPr/>
              <a:lstStyle/>
              <a:p>
                <a:pPr>
                  <a:defRPr sz="750" b="0" i="0" u="none" strike="noStrike">
                    <a:solidFill>
                      <a:srgbClr val="FFFFFF"/>
                    </a:solidFill>
                    <a:latin typeface="Calibri"/>
                  </a:defRPr>
                </a:pPr>
                <a:endParaRPr lang="en-US"/>
              </a:p>
            </c:txPr>
            <c:dLblPos val="ctr"/>
            <c:showLegendKey val="0"/>
            <c:showVal val="1"/>
            <c:showCatName val="0"/>
            <c:showSerName val="0"/>
            <c:showPercent val="0"/>
            <c:showBubbleSize val="0"/>
            <c:showLeaderLines val="0"/>
            <c:extLst>
              <c:ext xmlns:c15="http://schemas.microsoft.com/office/drawing/2012/chart" uri="{CE6537A1-D6FC-4f65-9D91-7224C49458BB}">
                <c15:showLeaderLines val="0"/>
              </c:ext>
            </c:extLst>
          </c:dLbls>
          <c:cat>
            <c:strRef>
              <c:f>Sheet1!$A$2:$A$7</c:f>
              <c:strCache>
                <c:ptCount val="6"/>
                <c:pt idx="0">
                  <c:v>Jan</c:v>
                </c:pt>
                <c:pt idx="1">
                  <c:v>Feb</c:v>
                </c:pt>
                <c:pt idx="2">
                  <c:v>Mar</c:v>
                </c:pt>
                <c:pt idx="3">
                  <c:v>Apr</c:v>
                </c:pt>
                <c:pt idx="4">
                  <c:v>May</c:v>
                </c:pt>
                <c:pt idx="5">
                  <c:v>Jun</c:v>
                </c:pt>
              </c:strCache>
            </c:strRef>
          </c:cat>
          <c:val>
            <c:numRef>
              <c:f>Sheet1!$D$2:$D$7</c:f>
              <c:numCache>
                <c:formatCode>General</c:formatCode>
                <c:ptCount val="6"/>
                <c:pt idx="0">
                  <c:v>5457</c:v>
                </c:pt>
                <c:pt idx="1">
                  <c:v>4414</c:v>
                </c:pt>
                <c:pt idx="2">
                  <c:v>4854</c:v>
                </c:pt>
                <c:pt idx="3">
                  <c:v>4174</c:v>
                </c:pt>
                <c:pt idx="4">
                  <c:v>4085</c:v>
                </c:pt>
                <c:pt idx="5">
                  <c:v>4517</c:v>
                </c:pt>
              </c:numCache>
            </c:numRef>
          </c:val>
          <c:extLst>
            <c:ext xmlns:c16="http://schemas.microsoft.com/office/drawing/2014/chart" uri="{C3380CC4-5D6E-409C-BE32-E72D297353CC}">
              <c16:uniqueId val="{00000002-C541-448A-AF96-C51AE27DD689}"/>
            </c:ext>
          </c:extLst>
        </c:ser>
        <c:ser>
          <c:idx val="3"/>
          <c:order val="3"/>
          <c:tx>
            <c:strRef>
              <c:f>Sheet1!$E$1</c:f>
              <c:strCache>
                <c:ptCount val="1"/>
                <c:pt idx="0">
                  <c:v>ASR</c:v>
                </c:pt>
              </c:strCache>
            </c:strRef>
          </c:tx>
          <c:spPr>
            <a:solidFill>
              <a:srgbClr val="AFC6EC"/>
            </a:solidFill>
            <a:effectLst/>
          </c:spPr>
          <c:invertIfNegative val="0"/>
          <c:dLbls>
            <c:numFmt formatCode="#,##0;;" sourceLinked="0"/>
            <c:spPr>
              <a:noFill/>
              <a:ln>
                <a:noFill/>
              </a:ln>
              <a:effectLst/>
            </c:spPr>
            <c:txPr>
              <a:bodyPr/>
              <a:lstStyle/>
              <a:p>
                <a:pPr>
                  <a:defRPr sz="750" b="0" i="0" u="none" strike="noStrike">
                    <a:solidFill>
                      <a:srgbClr val="FFFFFF"/>
                    </a:solidFill>
                    <a:latin typeface="Calibri"/>
                  </a:defRPr>
                </a:pPr>
                <a:endParaRPr lang="en-US"/>
              </a:p>
            </c:txPr>
            <c:dLblPos val="ctr"/>
            <c:showLegendKey val="0"/>
            <c:showVal val="1"/>
            <c:showCatName val="0"/>
            <c:showSerName val="0"/>
            <c:showPercent val="0"/>
            <c:showBubbleSize val="0"/>
            <c:showLeaderLines val="0"/>
            <c:extLst>
              <c:ext xmlns:c15="http://schemas.microsoft.com/office/drawing/2012/chart" uri="{CE6537A1-D6FC-4f65-9D91-7224C49458BB}">
                <c15:showLeaderLines val="0"/>
              </c:ext>
            </c:extLst>
          </c:dLbls>
          <c:cat>
            <c:strRef>
              <c:f>Sheet1!$A$2:$A$7</c:f>
              <c:strCache>
                <c:ptCount val="6"/>
                <c:pt idx="0">
                  <c:v>Jan</c:v>
                </c:pt>
                <c:pt idx="1">
                  <c:v>Feb</c:v>
                </c:pt>
                <c:pt idx="2">
                  <c:v>Mar</c:v>
                </c:pt>
                <c:pt idx="3">
                  <c:v>Apr</c:v>
                </c:pt>
                <c:pt idx="4">
                  <c:v>May</c:v>
                </c:pt>
                <c:pt idx="5">
                  <c:v>Jun</c:v>
                </c:pt>
              </c:strCache>
            </c:strRef>
          </c:cat>
          <c:val>
            <c:numRef>
              <c:f>Sheet1!$E$2:$E$7</c:f>
              <c:numCache>
                <c:formatCode>General</c:formatCode>
                <c:ptCount val="6"/>
                <c:pt idx="0">
                  <c:v>837</c:v>
                </c:pt>
                <c:pt idx="1">
                  <c:v>958</c:v>
                </c:pt>
                <c:pt idx="2">
                  <c:v>972</c:v>
                </c:pt>
                <c:pt idx="3">
                  <c:v>1070</c:v>
                </c:pt>
                <c:pt idx="4">
                  <c:v>1123</c:v>
                </c:pt>
                <c:pt idx="5">
                  <c:v>876</c:v>
                </c:pt>
              </c:numCache>
            </c:numRef>
          </c:val>
          <c:extLst>
            <c:ext xmlns:c16="http://schemas.microsoft.com/office/drawing/2014/chart" uri="{C3380CC4-5D6E-409C-BE32-E72D297353CC}">
              <c16:uniqueId val="{00000003-C541-448A-AF96-C51AE27DD689}"/>
            </c:ext>
          </c:extLst>
        </c:ser>
        <c:ser>
          <c:idx val="4"/>
          <c:order val="4"/>
          <c:tx>
            <c:strRef>
              <c:f>Sheet1!$F$1</c:f>
              <c:strCache>
                <c:ptCount val="1"/>
                <c:pt idx="0">
                  <c:v>Wholesale</c:v>
                </c:pt>
              </c:strCache>
            </c:strRef>
          </c:tx>
          <c:spPr>
            <a:solidFill>
              <a:srgbClr val="D9A441"/>
            </a:solidFill>
            <a:effectLst/>
          </c:spPr>
          <c:invertIfNegative val="0"/>
          <c:dLbls>
            <c:numFmt formatCode="#,##0;;" sourceLinked="0"/>
            <c:spPr>
              <a:noFill/>
              <a:ln>
                <a:noFill/>
              </a:ln>
              <a:effectLst/>
            </c:spPr>
            <c:txPr>
              <a:bodyPr/>
              <a:lstStyle/>
              <a:p>
                <a:pPr>
                  <a:defRPr sz="750" b="0" i="0" u="none" strike="noStrike">
                    <a:solidFill>
                      <a:srgbClr val="FFFFFF"/>
                    </a:solidFill>
                    <a:latin typeface="Calibri"/>
                  </a:defRPr>
                </a:pPr>
                <a:endParaRPr lang="en-US"/>
              </a:p>
            </c:txPr>
            <c:dLblPos val="ctr"/>
            <c:showLegendKey val="0"/>
            <c:showVal val="1"/>
            <c:showCatName val="0"/>
            <c:showSerName val="0"/>
            <c:showPercent val="0"/>
            <c:showBubbleSize val="0"/>
            <c:showLeaderLines val="0"/>
            <c:extLst>
              <c:ext xmlns:c15="http://schemas.microsoft.com/office/drawing/2012/chart" uri="{CE6537A1-D6FC-4f65-9D91-7224C49458BB}">
                <c15:showLeaderLines val="0"/>
              </c:ext>
            </c:extLst>
          </c:dLbls>
          <c:cat>
            <c:strRef>
              <c:f>Sheet1!$A$2:$A$7</c:f>
              <c:strCache>
                <c:ptCount val="6"/>
                <c:pt idx="0">
                  <c:v>Jan</c:v>
                </c:pt>
                <c:pt idx="1">
                  <c:v>Feb</c:v>
                </c:pt>
                <c:pt idx="2">
                  <c:v>Mar</c:v>
                </c:pt>
                <c:pt idx="3">
                  <c:v>Apr</c:v>
                </c:pt>
                <c:pt idx="4">
                  <c:v>May</c:v>
                </c:pt>
                <c:pt idx="5">
                  <c:v>Jun</c:v>
                </c:pt>
              </c:strCache>
            </c:strRef>
          </c:cat>
          <c:val>
            <c:numRef>
              <c:f>Sheet1!$F$2:$F$7</c:f>
              <c:numCache>
                <c:formatCode>General</c:formatCode>
                <c:ptCount val="6"/>
                <c:pt idx="0">
                  <c:v>1828</c:v>
                </c:pt>
                <c:pt idx="1">
                  <c:v>2664</c:v>
                </c:pt>
                <c:pt idx="2">
                  <c:v>1360</c:v>
                </c:pt>
                <c:pt idx="3">
                  <c:v>1531</c:v>
                </c:pt>
                <c:pt idx="4">
                  <c:v>851</c:v>
                </c:pt>
                <c:pt idx="5">
                  <c:v>802</c:v>
                </c:pt>
              </c:numCache>
            </c:numRef>
          </c:val>
          <c:extLst>
            <c:ext xmlns:c16="http://schemas.microsoft.com/office/drawing/2014/chart" uri="{C3380CC4-5D6E-409C-BE32-E72D297353CC}">
              <c16:uniqueId val="{00000004-C541-448A-AF96-C51AE27DD689}"/>
            </c:ext>
          </c:extLst>
        </c:ser>
        <c:ser>
          <c:idx val="5"/>
          <c:order val="5"/>
          <c:tx>
            <c:strRef>
              <c:f>Sheet1!$G$1</c:f>
              <c:strCache>
                <c:ptCount val="1"/>
                <c:pt idx="0">
                  <c:v>Group Corp</c:v>
                </c:pt>
              </c:strCache>
            </c:strRef>
          </c:tx>
          <c:spPr>
            <a:solidFill>
              <a:srgbClr val="8A5A83"/>
            </a:solidFill>
            <a:effectLst/>
          </c:spPr>
          <c:invertIfNegative val="0"/>
          <c:dLbls>
            <c:numFmt formatCode="#,##0;;" sourceLinked="0"/>
            <c:spPr>
              <a:noFill/>
              <a:ln>
                <a:noFill/>
              </a:ln>
              <a:effectLst/>
            </c:spPr>
            <c:txPr>
              <a:bodyPr/>
              <a:lstStyle/>
              <a:p>
                <a:pPr>
                  <a:defRPr sz="750" b="0" i="0" u="none" strike="noStrike">
                    <a:solidFill>
                      <a:srgbClr val="FFFFFF"/>
                    </a:solidFill>
                    <a:latin typeface="Calibri"/>
                  </a:defRPr>
                </a:pPr>
                <a:endParaRPr lang="en-US"/>
              </a:p>
            </c:txPr>
            <c:dLblPos val="ctr"/>
            <c:showLegendKey val="0"/>
            <c:showVal val="1"/>
            <c:showCatName val="0"/>
            <c:showSerName val="0"/>
            <c:showPercent val="0"/>
            <c:showBubbleSize val="0"/>
            <c:showLeaderLines val="0"/>
            <c:extLst>
              <c:ext xmlns:c15="http://schemas.microsoft.com/office/drawing/2012/chart" uri="{CE6537A1-D6FC-4f65-9D91-7224C49458BB}">
                <c15:showLeaderLines val="0"/>
              </c:ext>
            </c:extLst>
          </c:dLbls>
          <c:cat>
            <c:strRef>
              <c:f>Sheet1!$A$2:$A$7</c:f>
              <c:strCache>
                <c:ptCount val="6"/>
                <c:pt idx="0">
                  <c:v>Jan</c:v>
                </c:pt>
                <c:pt idx="1">
                  <c:v>Feb</c:v>
                </c:pt>
                <c:pt idx="2">
                  <c:v>Mar</c:v>
                </c:pt>
                <c:pt idx="3">
                  <c:v>Apr</c:v>
                </c:pt>
                <c:pt idx="4">
                  <c:v>May</c:v>
                </c:pt>
                <c:pt idx="5">
                  <c:v>Jun</c:v>
                </c:pt>
              </c:strCache>
            </c:strRef>
          </c:cat>
          <c:val>
            <c:numRef>
              <c:f>Sheet1!$G$2:$G$7</c:f>
              <c:numCache>
                <c:formatCode>General</c:formatCode>
                <c:ptCount val="6"/>
                <c:pt idx="0">
                  <c:v>338</c:v>
                </c:pt>
                <c:pt idx="1">
                  <c:v>69</c:v>
                </c:pt>
                <c:pt idx="2">
                  <c:v>252</c:v>
                </c:pt>
                <c:pt idx="3">
                  <c:v>73</c:v>
                </c:pt>
                <c:pt idx="4">
                  <c:v>41</c:v>
                </c:pt>
                <c:pt idx="5">
                  <c:v>100</c:v>
                </c:pt>
              </c:numCache>
            </c:numRef>
          </c:val>
          <c:extLst>
            <c:ext xmlns:c16="http://schemas.microsoft.com/office/drawing/2014/chart" uri="{C3380CC4-5D6E-409C-BE32-E72D297353CC}">
              <c16:uniqueId val="{00000005-C541-448A-AF96-C51AE27DD689}"/>
            </c:ext>
          </c:extLst>
        </c:ser>
        <c:ser>
          <c:idx val="6"/>
          <c:order val="6"/>
          <c:tx>
            <c:strRef>
              <c:f>Sheet1!$H$1</c:f>
              <c:strCache>
                <c:ptCount val="1"/>
                <c:pt idx="0">
                  <c:v>Group Leisure</c:v>
                </c:pt>
              </c:strCache>
            </c:strRef>
          </c:tx>
          <c:spPr>
            <a:solidFill>
              <a:srgbClr val="2F8F83"/>
            </a:solidFill>
            <a:effectLst/>
          </c:spPr>
          <c:invertIfNegative val="0"/>
          <c:dLbls>
            <c:numFmt formatCode="#,##0;;" sourceLinked="0"/>
            <c:spPr>
              <a:noFill/>
              <a:ln>
                <a:noFill/>
              </a:ln>
              <a:effectLst/>
            </c:spPr>
            <c:txPr>
              <a:bodyPr/>
              <a:lstStyle/>
              <a:p>
                <a:pPr>
                  <a:defRPr sz="750" b="0" i="0" u="none" strike="noStrike">
                    <a:solidFill>
                      <a:srgbClr val="FFFFFF"/>
                    </a:solidFill>
                    <a:latin typeface="Calibri"/>
                  </a:defRPr>
                </a:pPr>
                <a:endParaRPr lang="en-US"/>
              </a:p>
            </c:txPr>
            <c:dLblPos val="ctr"/>
            <c:showLegendKey val="0"/>
            <c:showVal val="1"/>
            <c:showCatName val="0"/>
            <c:showSerName val="0"/>
            <c:showPercent val="0"/>
            <c:showBubbleSize val="0"/>
            <c:showLeaderLines val="0"/>
            <c:extLst>
              <c:ext xmlns:c15="http://schemas.microsoft.com/office/drawing/2012/chart" uri="{CE6537A1-D6FC-4f65-9D91-7224C49458BB}">
                <c15:showLeaderLines val="0"/>
              </c:ext>
            </c:extLst>
          </c:dLbls>
          <c:cat>
            <c:strRef>
              <c:f>Sheet1!$A$2:$A$7</c:f>
              <c:strCache>
                <c:ptCount val="6"/>
                <c:pt idx="0">
                  <c:v>Jan</c:v>
                </c:pt>
                <c:pt idx="1">
                  <c:v>Feb</c:v>
                </c:pt>
                <c:pt idx="2">
                  <c:v>Mar</c:v>
                </c:pt>
                <c:pt idx="3">
                  <c:v>Apr</c:v>
                </c:pt>
                <c:pt idx="4">
                  <c:v>May</c:v>
                </c:pt>
                <c:pt idx="5">
                  <c:v>Jun</c:v>
                </c:pt>
              </c:strCache>
            </c:strRef>
          </c:cat>
          <c:val>
            <c:numRef>
              <c:f>Sheet1!$H$2:$H$7</c:f>
              <c:numCache>
                <c:formatCode>General</c:formatCode>
                <c:ptCount val="6"/>
                <c:pt idx="0">
                  <c:v>426</c:v>
                </c:pt>
                <c:pt idx="1">
                  <c:v>105</c:v>
                </c:pt>
                <c:pt idx="2">
                  <c:v>188</c:v>
                </c:pt>
                <c:pt idx="3">
                  <c:v>294</c:v>
                </c:pt>
                <c:pt idx="4">
                  <c:v>373</c:v>
                </c:pt>
                <c:pt idx="5">
                  <c:v>133</c:v>
                </c:pt>
              </c:numCache>
            </c:numRef>
          </c:val>
          <c:extLst>
            <c:ext xmlns:c16="http://schemas.microsoft.com/office/drawing/2014/chart" uri="{C3380CC4-5D6E-409C-BE32-E72D297353CC}">
              <c16:uniqueId val="{00000006-C541-448A-AF96-C51AE27DD689}"/>
            </c:ext>
          </c:extLst>
        </c:ser>
        <c:ser>
          <c:idx val="7"/>
          <c:order val="7"/>
          <c:tx>
            <c:strRef>
              <c:f>Sheet1!$I$1</c:f>
              <c:strCache>
                <c:ptCount val="1"/>
                <c:pt idx="0">
                  <c:v>Group Series</c:v>
                </c:pt>
              </c:strCache>
            </c:strRef>
          </c:tx>
          <c:spPr>
            <a:solidFill>
              <a:srgbClr val="C97B4A"/>
            </a:solidFill>
            <a:effectLst/>
          </c:spPr>
          <c:invertIfNegative val="0"/>
          <c:dLbls>
            <c:numFmt formatCode="#,##0;;" sourceLinked="0"/>
            <c:spPr>
              <a:noFill/>
              <a:ln>
                <a:noFill/>
              </a:ln>
              <a:effectLst/>
            </c:spPr>
            <c:txPr>
              <a:bodyPr/>
              <a:lstStyle/>
              <a:p>
                <a:pPr>
                  <a:defRPr sz="750" b="0" i="0" u="none" strike="noStrike">
                    <a:solidFill>
                      <a:srgbClr val="FFFFFF"/>
                    </a:solidFill>
                    <a:latin typeface="Calibri"/>
                  </a:defRPr>
                </a:pPr>
                <a:endParaRPr lang="en-US"/>
              </a:p>
            </c:txPr>
            <c:dLblPos val="ctr"/>
            <c:showLegendKey val="0"/>
            <c:showVal val="1"/>
            <c:showCatName val="0"/>
            <c:showSerName val="0"/>
            <c:showPercent val="0"/>
            <c:showBubbleSize val="0"/>
            <c:showLeaderLines val="0"/>
            <c:extLst>
              <c:ext xmlns:c15="http://schemas.microsoft.com/office/drawing/2012/chart" uri="{CE6537A1-D6FC-4f65-9D91-7224C49458BB}">
                <c15:showLeaderLines val="0"/>
              </c:ext>
            </c:extLst>
          </c:dLbls>
          <c:cat>
            <c:strRef>
              <c:f>Sheet1!$A$2:$A$7</c:f>
              <c:strCache>
                <c:ptCount val="6"/>
                <c:pt idx="0">
                  <c:v>Jan</c:v>
                </c:pt>
                <c:pt idx="1">
                  <c:v>Feb</c:v>
                </c:pt>
                <c:pt idx="2">
                  <c:v>Mar</c:v>
                </c:pt>
                <c:pt idx="3">
                  <c:v>Apr</c:v>
                </c:pt>
                <c:pt idx="4">
                  <c:v>May</c:v>
                </c:pt>
                <c:pt idx="5">
                  <c:v>Jun</c:v>
                </c:pt>
              </c:strCache>
            </c:strRef>
          </c:cat>
          <c:val>
            <c:numRef>
              <c:f>Sheet1!$I$2:$I$7</c:f>
              <c:numCache>
                <c:formatCode>General</c:formatCode>
                <c:ptCount val="6"/>
                <c:pt idx="0">
                  <c:v>526</c:v>
                </c:pt>
                <c:pt idx="1">
                  <c:v>213</c:v>
                </c:pt>
                <c:pt idx="2">
                  <c:v>207</c:v>
                </c:pt>
                <c:pt idx="3">
                  <c:v>90</c:v>
                </c:pt>
                <c:pt idx="4">
                  <c:v>332</c:v>
                </c:pt>
                <c:pt idx="5">
                  <c:v>95</c:v>
                </c:pt>
              </c:numCache>
            </c:numRef>
          </c:val>
          <c:extLst>
            <c:ext xmlns:c16="http://schemas.microsoft.com/office/drawing/2014/chart" uri="{C3380CC4-5D6E-409C-BE32-E72D297353CC}">
              <c16:uniqueId val="{00000007-C541-448A-AF96-C51AE27DD689}"/>
            </c:ext>
          </c:extLst>
        </c:ser>
        <c:ser>
          <c:idx val="8"/>
          <c:order val="8"/>
          <c:tx>
            <c:strRef>
              <c:f>Sheet1!$J$1</c:f>
              <c:strCache>
                <c:ptCount val="1"/>
                <c:pt idx="0">
                  <c:v>Employee</c:v>
                </c:pt>
              </c:strCache>
            </c:strRef>
          </c:tx>
          <c:spPr>
            <a:solidFill>
              <a:srgbClr val="8FA35C"/>
            </a:solidFill>
            <a:effectLst/>
          </c:spPr>
          <c:invertIfNegative val="0"/>
          <c:dLbls>
            <c:numFmt formatCode="#,##0;;" sourceLinked="0"/>
            <c:spPr>
              <a:noFill/>
              <a:ln>
                <a:noFill/>
              </a:ln>
              <a:effectLst/>
            </c:spPr>
            <c:txPr>
              <a:bodyPr/>
              <a:lstStyle/>
              <a:p>
                <a:pPr>
                  <a:defRPr sz="750" b="0" i="0" u="none" strike="noStrike">
                    <a:solidFill>
                      <a:srgbClr val="FFFFFF"/>
                    </a:solidFill>
                    <a:latin typeface="Calibri"/>
                  </a:defRPr>
                </a:pPr>
                <a:endParaRPr lang="en-US"/>
              </a:p>
            </c:txPr>
            <c:dLblPos val="ctr"/>
            <c:showLegendKey val="0"/>
            <c:showVal val="1"/>
            <c:showCatName val="0"/>
            <c:showSerName val="0"/>
            <c:showPercent val="0"/>
            <c:showBubbleSize val="0"/>
            <c:showLeaderLines val="0"/>
            <c:extLst>
              <c:ext xmlns:c15="http://schemas.microsoft.com/office/drawing/2012/chart" uri="{CE6537A1-D6FC-4f65-9D91-7224C49458BB}">
                <c15:showLeaderLines val="0"/>
              </c:ext>
            </c:extLst>
          </c:dLbls>
          <c:cat>
            <c:strRef>
              <c:f>Sheet1!$A$2:$A$7</c:f>
              <c:strCache>
                <c:ptCount val="6"/>
                <c:pt idx="0">
                  <c:v>Jan</c:v>
                </c:pt>
                <c:pt idx="1">
                  <c:v>Feb</c:v>
                </c:pt>
                <c:pt idx="2">
                  <c:v>Mar</c:v>
                </c:pt>
                <c:pt idx="3">
                  <c:v>Apr</c:v>
                </c:pt>
                <c:pt idx="4">
                  <c:v>May</c:v>
                </c:pt>
                <c:pt idx="5">
                  <c:v>Jun</c:v>
                </c:pt>
              </c:strCache>
            </c:strRef>
          </c:cat>
          <c:val>
            <c:numRef>
              <c:f>Sheet1!$J$2:$J$7</c:f>
              <c:numCache>
                <c:formatCode>General</c:formatCode>
                <c:ptCount val="6"/>
                <c:pt idx="0">
                  <c:v>1</c:v>
                </c:pt>
                <c:pt idx="1">
                  <c:v>0</c:v>
                </c:pt>
                <c:pt idx="2">
                  <c:v>25</c:v>
                </c:pt>
                <c:pt idx="3">
                  <c:v>0</c:v>
                </c:pt>
                <c:pt idx="4">
                  <c:v>4</c:v>
                </c:pt>
                <c:pt idx="5">
                  <c:v>4</c:v>
                </c:pt>
              </c:numCache>
            </c:numRef>
          </c:val>
          <c:extLst>
            <c:ext xmlns:c16="http://schemas.microsoft.com/office/drawing/2014/chart" uri="{C3380CC4-5D6E-409C-BE32-E72D297353CC}">
              <c16:uniqueId val="{00000008-C541-448A-AF96-C51AE27DD689}"/>
            </c:ext>
          </c:extLst>
        </c:ser>
        <c:dLbls>
          <c:dLblPos val="ctr"/>
          <c:showLegendKey val="0"/>
          <c:showVal val="1"/>
          <c:showCatName val="0"/>
          <c:showSerName val="0"/>
          <c:showPercent val="0"/>
          <c:showBubbleSize val="0"/>
        </c:dLbls>
        <c:gapWidth val="45"/>
        <c:overlap val="100"/>
        <c:axId val="2094734554"/>
        <c:axId val="2094734552"/>
      </c:barChart>
      <c:catAx>
        <c:axId val="2094734554"/>
        <c:scaling>
          <c:orientation val="minMax"/>
        </c:scaling>
        <c:delete val="0"/>
        <c:axPos val="b"/>
        <c:numFmt formatCode="General" sourceLinked="1"/>
        <c:majorTickMark val="out"/>
        <c:minorTickMark val="none"/>
        <c:tickLblPos val="low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1000" b="0" i="0" u="none" strike="noStrike">
                <a:solidFill>
                  <a:srgbClr val="6B7280"/>
                </a:solidFill>
                <a:latin typeface="Calibri"/>
              </a:defRPr>
            </a:pPr>
            <a:endParaRPr lang="en-US"/>
          </a:p>
        </c:txPr>
        <c:crossAx val="2094734552"/>
        <c:crosses val="autoZero"/>
        <c:auto val="1"/>
        <c:lblAlgn val="ctr"/>
        <c:lblOffset val="100"/>
        <c:noMultiLvlLbl val="1"/>
      </c:catAx>
      <c:valAx>
        <c:axId val="2094734552"/>
        <c:scaling>
          <c:orientation val="minMax"/>
        </c:scaling>
        <c:delete val="0"/>
        <c:axPos val="l"/>
        <c:majorGridlines>
          <c:spPr>
            <a:ln w="6350" cap="flat">
              <a:solidFill>
                <a:srgbClr val="E5E8EF"/>
              </a:solidFill>
              <a:prstDash val="solid"/>
              <a:round/>
            </a:ln>
          </c:spPr>
        </c:majorGridlines>
        <c:numFmt formatCode="General" sourceLinked="0"/>
        <c:majorTickMark val="out"/>
        <c:minorTickMark val="none"/>
        <c:tickLblPos val="nextTo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950" b="0" i="0" u="none" strike="noStrike">
                <a:solidFill>
                  <a:srgbClr val="6B7280"/>
                </a:solidFill>
                <a:latin typeface="Calibri"/>
              </a:defRPr>
            </a:pPr>
            <a:endParaRPr lang="en-US"/>
          </a:p>
        </c:txPr>
        <c:crossAx val="2094734554"/>
        <c:crosses val="autoZero"/>
        <c:crossBetween val="between"/>
      </c:valAx>
      <c:spPr>
        <a:noFill/>
        <a:ln>
          <a:noFill/>
        </a:ln>
        <a:effectLst/>
      </c:spPr>
    </c:plotArea>
    <c:legend>
      <c:legendPos val="b"/>
      <c:overlay val="0"/>
      <c:txPr>
        <a:bodyPr/>
        <a:lstStyle/>
        <a:p>
          <a:pPr>
            <a:defRPr sz="1000">
              <a:solidFill>
                <a:srgbClr val="26292E"/>
              </a:solidFill>
              <a:latin typeface="Calibri"/>
              <a:cs typeface="Calibri"/>
            </a:defRPr>
          </a:pPr>
          <a:endParaRPr lang="en-US"/>
        </a:p>
      </c:txPr>
    </c:legend>
    <c:plotVisOnly val="1"/>
    <c:dispBlanksAs val="span"/>
    <c:showDLblsOverMax val="1"/>
  </c:chart>
  <c:spPr>
    <a:noFill/>
    <a:ln>
      <a:noFill/>
    </a:ln>
    <a:effectLst/>
  </c:spPr>
  <c:externalData r:id="rId1">
    <c:autoUpdate val="0"/>
  </c:externalData>
</c:chartSpace>
</file>

<file path=ppt/charts/chart21.xml><?xml version="1.0" encoding="utf-8"?>
<c:chartSpace xmlns:c="http://schemas.openxmlformats.org/drawingml/2006/chart" xmlns:a="http://schemas.openxmlformats.org/drawingml/2006/main" xmlns:r="http://schemas.openxmlformats.org/officeDocument/2006/relationships" xmlns:c16r2="http://schemas.microsoft.com/office/drawing/2015/06/chart">
  <c:date1904 val="0"/>
  <c:lang val="en-US"/>
  <c:roundedCorners val="1"/>
  <c:style val="2"/>
  <c:chart>
    <c:title>
      <c:tx>
        <c:rich>
          <a:bodyPr/>
          <a:lstStyle/>
          <a:p>
            <a:pPr>
              <a:defRPr sz="1300" b="0" i="0" u="none" strike="noStrike">
                <a:solidFill>
                  <a:srgbClr val="1E2761"/>
                </a:solidFill>
                <a:latin typeface="Calibri"/>
              </a:defRPr>
            </a:pPr>
            <a:r>
              <a:rPr lang="en-US" sz="1300" b="0" i="0" u="none" strike="noStrike">
                <a:solidFill>
                  <a:srgbClr val="1E2761"/>
                </a:solidFill>
                <a:latin typeface="Calibri"/>
              </a:rPr>
              <a:t>YTD mix (65,175 RN)</a:t>
            </a:r>
          </a:p>
        </c:rich>
      </c:tx>
      <c:overlay val="0"/>
    </c:title>
    <c:autoTitleDeleted val="0"/>
    <c:plotArea>
      <c:layout/>
      <c:doughnutChart>
        <c:varyColors val="1"/>
        <c:ser>
          <c:idx val="0"/>
          <c:order val="0"/>
          <c:tx>
            <c:strRef>
              <c:f>Sheet1!$B$1</c:f>
              <c:strCache>
                <c:ptCount val="1"/>
                <c:pt idx="0">
                  <c:v>YTD</c:v>
                </c:pt>
              </c:strCache>
            </c:strRef>
          </c:tx>
          <c:spPr>
            <a:solidFill>
              <a:schemeClr val="accent1"/>
            </a:solidFill>
            <a:ln w="9525" cap="flat">
              <a:solidFill>
                <a:srgbClr val="F9F9F9"/>
              </a:solidFill>
              <a:prstDash val="solid"/>
              <a:round/>
            </a:ln>
            <a:effectLst/>
          </c:spPr>
          <c:dPt>
            <c:idx val="0"/>
            <c:bubble3D val="0"/>
            <c:spPr>
              <a:solidFill>
                <a:srgbClr val="1E2761"/>
              </a:solidFill>
              <a:effectLst/>
            </c:spPr>
            <c:extLst>
              <c:ext xmlns:c16="http://schemas.microsoft.com/office/drawing/2014/chart" uri="{C3380CC4-5D6E-409C-BE32-E72D297353CC}">
                <c16:uniqueId val="{00000001-E50D-4561-8741-147DBC9FE6C0}"/>
              </c:ext>
            </c:extLst>
          </c:dPt>
          <c:dPt>
            <c:idx val="1"/>
            <c:bubble3D val="0"/>
            <c:spPr>
              <a:solidFill>
                <a:srgbClr val="4A6FC4"/>
              </a:solidFill>
              <a:effectLst/>
            </c:spPr>
            <c:extLst>
              <c:ext xmlns:c16="http://schemas.microsoft.com/office/drawing/2014/chart" uri="{C3380CC4-5D6E-409C-BE32-E72D297353CC}">
                <c16:uniqueId val="{00000003-E50D-4561-8741-147DBC9FE6C0}"/>
              </c:ext>
            </c:extLst>
          </c:dPt>
          <c:dPt>
            <c:idx val="2"/>
            <c:bubble3D val="0"/>
            <c:spPr>
              <a:solidFill>
                <a:srgbClr val="7FA4DC"/>
              </a:solidFill>
              <a:effectLst/>
            </c:spPr>
            <c:extLst>
              <c:ext xmlns:c16="http://schemas.microsoft.com/office/drawing/2014/chart" uri="{C3380CC4-5D6E-409C-BE32-E72D297353CC}">
                <c16:uniqueId val="{00000005-E50D-4561-8741-147DBC9FE6C0}"/>
              </c:ext>
            </c:extLst>
          </c:dPt>
          <c:dPt>
            <c:idx val="3"/>
            <c:bubble3D val="0"/>
            <c:spPr>
              <a:solidFill>
                <a:srgbClr val="AFC6EC"/>
              </a:solidFill>
              <a:effectLst/>
            </c:spPr>
            <c:extLst>
              <c:ext xmlns:c16="http://schemas.microsoft.com/office/drawing/2014/chart" uri="{C3380CC4-5D6E-409C-BE32-E72D297353CC}">
                <c16:uniqueId val="{00000007-E50D-4561-8741-147DBC9FE6C0}"/>
              </c:ext>
            </c:extLst>
          </c:dPt>
          <c:dPt>
            <c:idx val="4"/>
            <c:bubble3D val="0"/>
            <c:spPr>
              <a:solidFill>
                <a:srgbClr val="D9A441"/>
              </a:solidFill>
              <a:effectLst/>
            </c:spPr>
            <c:extLst>
              <c:ext xmlns:c16="http://schemas.microsoft.com/office/drawing/2014/chart" uri="{C3380CC4-5D6E-409C-BE32-E72D297353CC}">
                <c16:uniqueId val="{00000009-E50D-4561-8741-147DBC9FE6C0}"/>
              </c:ext>
            </c:extLst>
          </c:dPt>
          <c:dPt>
            <c:idx val="5"/>
            <c:bubble3D val="0"/>
            <c:spPr>
              <a:solidFill>
                <a:srgbClr val="8A5A83"/>
              </a:solidFill>
              <a:effectLst/>
            </c:spPr>
            <c:extLst>
              <c:ext xmlns:c16="http://schemas.microsoft.com/office/drawing/2014/chart" uri="{C3380CC4-5D6E-409C-BE32-E72D297353CC}">
                <c16:uniqueId val="{0000000B-E50D-4561-8741-147DBC9FE6C0}"/>
              </c:ext>
            </c:extLst>
          </c:dPt>
          <c:dPt>
            <c:idx val="6"/>
            <c:bubble3D val="0"/>
            <c:spPr>
              <a:solidFill>
                <a:srgbClr val="2F8F83"/>
              </a:solidFill>
              <a:effectLst/>
            </c:spPr>
            <c:extLst>
              <c:ext xmlns:c16="http://schemas.microsoft.com/office/drawing/2014/chart" uri="{C3380CC4-5D6E-409C-BE32-E72D297353CC}">
                <c16:uniqueId val="{0000000D-E50D-4561-8741-147DBC9FE6C0}"/>
              </c:ext>
            </c:extLst>
          </c:dPt>
          <c:dPt>
            <c:idx val="7"/>
            <c:bubble3D val="0"/>
            <c:spPr>
              <a:solidFill>
                <a:srgbClr val="C97B4A"/>
              </a:solidFill>
              <a:effectLst/>
            </c:spPr>
            <c:extLst>
              <c:ext xmlns:c16="http://schemas.microsoft.com/office/drawing/2014/chart" uri="{C3380CC4-5D6E-409C-BE32-E72D297353CC}">
                <c16:uniqueId val="{0000000F-E50D-4561-8741-147DBC9FE6C0}"/>
              </c:ext>
            </c:extLst>
          </c:dPt>
          <c:dPt>
            <c:idx val="8"/>
            <c:bubble3D val="0"/>
            <c:spPr>
              <a:solidFill>
                <a:srgbClr val="8FA35C"/>
              </a:solidFill>
              <a:effectLst/>
            </c:spPr>
            <c:extLst>
              <c:ext xmlns:c16="http://schemas.microsoft.com/office/drawing/2014/chart" uri="{C3380CC4-5D6E-409C-BE32-E72D297353CC}">
                <c16:uniqueId val="{00000011-E50D-4561-8741-147DBC9FE6C0}"/>
              </c:ext>
            </c:extLst>
          </c:dPt>
          <c:dLbls>
            <c:dLbl>
              <c:idx val="0"/>
              <c:numFmt formatCode="0%" sourceLinked="0"/>
              <c:spPr/>
              <c:txPr>
                <a:bodyPr/>
                <a:lstStyle/>
                <a:p>
                  <a:pPr>
                    <a:defRPr sz="900" b="0" i="0" u="none" strike="noStrike">
                      <a:solidFill>
                        <a:srgbClr val="FFFFFF"/>
                      </a:solidFill>
                      <a:latin typeface="Calibri"/>
                    </a:defRPr>
                  </a:pPr>
                  <a:endParaRPr lang="en-US"/>
                </a:p>
              </c:txPr>
              <c:showLegendKey val="0"/>
              <c:showVal val="0"/>
              <c:showCatName val="0"/>
              <c:showSerName val="0"/>
              <c:showPercent val="1"/>
              <c:showBubbleSize val="0"/>
              <c:extLst>
                <c:ext xmlns:c15="http://schemas.microsoft.com/office/drawing/2012/chart" uri="{CE6537A1-D6FC-4f65-9D91-7224C49458BB}"/>
                <c:ext xmlns:c16="http://schemas.microsoft.com/office/drawing/2014/chart" uri="{C3380CC4-5D6E-409C-BE32-E72D297353CC}">
                  <c16:uniqueId val="{00000001-E50D-4561-8741-147DBC9FE6C0}"/>
                </c:ext>
              </c:extLst>
            </c:dLbl>
            <c:dLbl>
              <c:idx val="1"/>
              <c:numFmt formatCode="0%" sourceLinked="0"/>
              <c:spPr/>
              <c:txPr>
                <a:bodyPr/>
                <a:lstStyle/>
                <a:p>
                  <a:pPr>
                    <a:defRPr sz="900" b="0" i="0" u="none" strike="noStrike">
                      <a:solidFill>
                        <a:srgbClr val="FFFFFF"/>
                      </a:solidFill>
                      <a:latin typeface="Calibri"/>
                    </a:defRPr>
                  </a:pPr>
                  <a:endParaRPr lang="en-US"/>
                </a:p>
              </c:txPr>
              <c:showLegendKey val="0"/>
              <c:showVal val="0"/>
              <c:showCatName val="0"/>
              <c:showSerName val="0"/>
              <c:showPercent val="1"/>
              <c:showBubbleSize val="0"/>
              <c:extLst>
                <c:ext xmlns:c15="http://schemas.microsoft.com/office/drawing/2012/chart" uri="{CE6537A1-D6FC-4f65-9D91-7224C49458BB}"/>
                <c:ext xmlns:c16="http://schemas.microsoft.com/office/drawing/2014/chart" uri="{C3380CC4-5D6E-409C-BE32-E72D297353CC}">
                  <c16:uniqueId val="{00000003-E50D-4561-8741-147DBC9FE6C0}"/>
                </c:ext>
              </c:extLst>
            </c:dLbl>
            <c:dLbl>
              <c:idx val="2"/>
              <c:numFmt formatCode="0%" sourceLinked="0"/>
              <c:spPr/>
              <c:txPr>
                <a:bodyPr/>
                <a:lstStyle/>
                <a:p>
                  <a:pPr>
                    <a:defRPr sz="900" b="0" i="0" u="none" strike="noStrike">
                      <a:solidFill>
                        <a:srgbClr val="FFFFFF"/>
                      </a:solidFill>
                      <a:latin typeface="Calibri"/>
                    </a:defRPr>
                  </a:pPr>
                  <a:endParaRPr lang="en-US"/>
                </a:p>
              </c:txPr>
              <c:showLegendKey val="0"/>
              <c:showVal val="0"/>
              <c:showCatName val="0"/>
              <c:showSerName val="0"/>
              <c:showPercent val="1"/>
              <c:showBubbleSize val="0"/>
              <c:extLst>
                <c:ext xmlns:c15="http://schemas.microsoft.com/office/drawing/2012/chart" uri="{CE6537A1-D6FC-4f65-9D91-7224C49458BB}"/>
                <c:ext xmlns:c16="http://schemas.microsoft.com/office/drawing/2014/chart" uri="{C3380CC4-5D6E-409C-BE32-E72D297353CC}">
                  <c16:uniqueId val="{00000005-E50D-4561-8741-147DBC9FE6C0}"/>
                </c:ext>
              </c:extLst>
            </c:dLbl>
            <c:dLbl>
              <c:idx val="3"/>
              <c:numFmt formatCode="0%" sourceLinked="0"/>
              <c:spPr/>
              <c:txPr>
                <a:bodyPr/>
                <a:lstStyle/>
                <a:p>
                  <a:pPr>
                    <a:defRPr sz="900" b="0" i="0" u="none" strike="noStrike">
                      <a:solidFill>
                        <a:srgbClr val="FFFFFF"/>
                      </a:solidFill>
                      <a:latin typeface="Calibri"/>
                    </a:defRPr>
                  </a:pPr>
                  <a:endParaRPr lang="en-US"/>
                </a:p>
              </c:txPr>
              <c:showLegendKey val="0"/>
              <c:showVal val="0"/>
              <c:showCatName val="0"/>
              <c:showSerName val="0"/>
              <c:showPercent val="1"/>
              <c:showBubbleSize val="0"/>
              <c:extLst>
                <c:ext xmlns:c15="http://schemas.microsoft.com/office/drawing/2012/chart" uri="{CE6537A1-D6FC-4f65-9D91-7224C49458BB}"/>
                <c:ext xmlns:c16="http://schemas.microsoft.com/office/drawing/2014/chart" uri="{C3380CC4-5D6E-409C-BE32-E72D297353CC}">
                  <c16:uniqueId val="{00000007-E50D-4561-8741-147DBC9FE6C0}"/>
                </c:ext>
              </c:extLst>
            </c:dLbl>
            <c:dLbl>
              <c:idx val="4"/>
              <c:numFmt formatCode="0%" sourceLinked="0"/>
              <c:spPr/>
              <c:txPr>
                <a:bodyPr/>
                <a:lstStyle/>
                <a:p>
                  <a:pPr>
                    <a:defRPr sz="900" b="0" i="0" u="none" strike="noStrike">
                      <a:solidFill>
                        <a:srgbClr val="FFFFFF"/>
                      </a:solidFill>
                      <a:latin typeface="Calibri"/>
                    </a:defRPr>
                  </a:pPr>
                  <a:endParaRPr lang="en-US"/>
                </a:p>
              </c:txPr>
              <c:showLegendKey val="0"/>
              <c:showVal val="0"/>
              <c:showCatName val="0"/>
              <c:showSerName val="0"/>
              <c:showPercent val="1"/>
              <c:showBubbleSize val="0"/>
              <c:extLst>
                <c:ext xmlns:c15="http://schemas.microsoft.com/office/drawing/2012/chart" uri="{CE6537A1-D6FC-4f65-9D91-7224C49458BB}"/>
                <c:ext xmlns:c16="http://schemas.microsoft.com/office/drawing/2014/chart" uri="{C3380CC4-5D6E-409C-BE32-E72D297353CC}">
                  <c16:uniqueId val="{00000009-E50D-4561-8741-147DBC9FE6C0}"/>
                </c:ext>
              </c:extLst>
            </c:dLbl>
            <c:dLbl>
              <c:idx val="5"/>
              <c:numFmt formatCode="0%" sourceLinked="0"/>
              <c:spPr/>
              <c:txPr>
                <a:bodyPr/>
                <a:lstStyle/>
                <a:p>
                  <a:pPr>
                    <a:defRPr sz="900" b="0" i="0" u="none" strike="noStrike">
                      <a:solidFill>
                        <a:srgbClr val="FFFFFF"/>
                      </a:solidFill>
                      <a:latin typeface="Calibri"/>
                    </a:defRPr>
                  </a:pPr>
                  <a:endParaRPr lang="en-US"/>
                </a:p>
              </c:txPr>
              <c:showLegendKey val="0"/>
              <c:showVal val="0"/>
              <c:showCatName val="0"/>
              <c:showSerName val="0"/>
              <c:showPercent val="1"/>
              <c:showBubbleSize val="0"/>
              <c:extLst>
                <c:ext xmlns:c15="http://schemas.microsoft.com/office/drawing/2012/chart" uri="{CE6537A1-D6FC-4f65-9D91-7224C49458BB}"/>
                <c:ext xmlns:c16="http://schemas.microsoft.com/office/drawing/2014/chart" uri="{C3380CC4-5D6E-409C-BE32-E72D297353CC}">
                  <c16:uniqueId val="{0000000B-E50D-4561-8741-147DBC9FE6C0}"/>
                </c:ext>
              </c:extLst>
            </c:dLbl>
            <c:dLbl>
              <c:idx val="6"/>
              <c:numFmt formatCode="0%" sourceLinked="0"/>
              <c:spPr/>
              <c:txPr>
                <a:bodyPr/>
                <a:lstStyle/>
                <a:p>
                  <a:pPr>
                    <a:defRPr sz="900" b="0" i="0" u="none" strike="noStrike">
                      <a:solidFill>
                        <a:srgbClr val="FFFFFF"/>
                      </a:solidFill>
                      <a:latin typeface="Calibri"/>
                    </a:defRPr>
                  </a:pPr>
                  <a:endParaRPr lang="en-US"/>
                </a:p>
              </c:txPr>
              <c:showLegendKey val="0"/>
              <c:showVal val="0"/>
              <c:showCatName val="0"/>
              <c:showSerName val="0"/>
              <c:showPercent val="1"/>
              <c:showBubbleSize val="0"/>
              <c:extLst>
                <c:ext xmlns:c15="http://schemas.microsoft.com/office/drawing/2012/chart" uri="{CE6537A1-D6FC-4f65-9D91-7224C49458BB}"/>
                <c:ext xmlns:c16="http://schemas.microsoft.com/office/drawing/2014/chart" uri="{C3380CC4-5D6E-409C-BE32-E72D297353CC}">
                  <c16:uniqueId val="{0000000D-E50D-4561-8741-147DBC9FE6C0}"/>
                </c:ext>
              </c:extLst>
            </c:dLbl>
            <c:dLbl>
              <c:idx val="7"/>
              <c:numFmt formatCode="0%" sourceLinked="0"/>
              <c:spPr/>
              <c:txPr>
                <a:bodyPr/>
                <a:lstStyle/>
                <a:p>
                  <a:pPr>
                    <a:defRPr sz="900" b="0" i="0" u="none" strike="noStrike">
                      <a:solidFill>
                        <a:srgbClr val="FFFFFF"/>
                      </a:solidFill>
                      <a:latin typeface="Calibri"/>
                    </a:defRPr>
                  </a:pPr>
                  <a:endParaRPr lang="en-US"/>
                </a:p>
              </c:txPr>
              <c:showLegendKey val="0"/>
              <c:showVal val="0"/>
              <c:showCatName val="0"/>
              <c:showSerName val="0"/>
              <c:showPercent val="1"/>
              <c:showBubbleSize val="0"/>
              <c:extLst>
                <c:ext xmlns:c15="http://schemas.microsoft.com/office/drawing/2012/chart" uri="{CE6537A1-D6FC-4f65-9D91-7224C49458BB}"/>
                <c:ext xmlns:c16="http://schemas.microsoft.com/office/drawing/2014/chart" uri="{C3380CC4-5D6E-409C-BE32-E72D297353CC}">
                  <c16:uniqueId val="{0000000F-E50D-4561-8741-147DBC9FE6C0}"/>
                </c:ext>
              </c:extLst>
            </c:dLbl>
            <c:dLbl>
              <c:idx val="8"/>
              <c:numFmt formatCode="0%" sourceLinked="0"/>
              <c:spPr/>
              <c:txPr>
                <a:bodyPr/>
                <a:lstStyle/>
                <a:p>
                  <a:pPr>
                    <a:defRPr sz="900" b="0" i="0" u="none" strike="noStrike">
                      <a:solidFill>
                        <a:srgbClr val="FFFFFF"/>
                      </a:solidFill>
                      <a:latin typeface="Calibri"/>
                    </a:defRPr>
                  </a:pPr>
                  <a:endParaRPr lang="en-US"/>
                </a:p>
              </c:txPr>
              <c:showLegendKey val="0"/>
              <c:showVal val="0"/>
              <c:showCatName val="0"/>
              <c:showSerName val="0"/>
              <c:showPercent val="1"/>
              <c:showBubbleSize val="0"/>
              <c:extLst>
                <c:ext xmlns:c15="http://schemas.microsoft.com/office/drawing/2012/chart" uri="{CE6537A1-D6FC-4f65-9D91-7224C49458BB}"/>
                <c:ext xmlns:c16="http://schemas.microsoft.com/office/drawing/2014/chart" uri="{C3380CC4-5D6E-409C-BE32-E72D297353CC}">
                  <c16:uniqueId val="{00000011-E50D-4561-8741-147DBC9FE6C0}"/>
                </c:ext>
              </c:extLst>
            </c:dLbl>
            <c:numFmt formatCode="0%" sourceLinked="0"/>
            <c:spPr>
              <a:noFill/>
              <a:ln>
                <a:noFill/>
              </a:ln>
              <a:effectLst/>
            </c:spPr>
            <c:txPr>
              <a:bodyPr/>
              <a:lstStyle/>
              <a:p>
                <a:pPr>
                  <a:defRPr sz="1800" b="0" i="0" u="none" strike="noStrike">
                    <a:solidFill>
                      <a:srgbClr val="000000"/>
                    </a:solidFill>
                    <a:latin typeface="Arial"/>
                  </a:defRPr>
                </a:pPr>
                <a:endParaRPr lang="en-US"/>
              </a:p>
            </c:txPr>
            <c:showLegendKey val="0"/>
            <c:showVal val="0"/>
            <c:showCatName val="1"/>
            <c:showSerName val="0"/>
            <c:showPercent val="1"/>
            <c:showBubbleSize val="0"/>
            <c:showLeaderLines val="0"/>
            <c:extLst>
              <c:ext xmlns:c15="http://schemas.microsoft.com/office/drawing/2012/chart" uri="{CE6537A1-D6FC-4f65-9D91-7224C49458BB}"/>
            </c:extLst>
          </c:dLbls>
          <c:cat>
            <c:strRef>
              <c:f>Sheet1!$A$2:$A$10</c:f>
              <c:strCache>
                <c:ptCount val="9"/>
                <c:pt idx="0">
                  <c:v>Corporate SS</c:v>
                </c:pt>
                <c:pt idx="1">
                  <c:v>Corporate LS</c:v>
                </c:pt>
                <c:pt idx="2">
                  <c:v>Online</c:v>
                </c:pt>
                <c:pt idx="3">
                  <c:v>ASR</c:v>
                </c:pt>
                <c:pt idx="4">
                  <c:v>Wholesale</c:v>
                </c:pt>
                <c:pt idx="5">
                  <c:v>Group Corp</c:v>
                </c:pt>
                <c:pt idx="6">
                  <c:v>Group Leisure</c:v>
                </c:pt>
                <c:pt idx="7">
                  <c:v>Group Series</c:v>
                </c:pt>
                <c:pt idx="8">
                  <c:v>Employee</c:v>
                </c:pt>
              </c:strCache>
            </c:strRef>
          </c:cat>
          <c:val>
            <c:numRef>
              <c:f>Sheet1!$B$2:$B$10</c:f>
              <c:numCache>
                <c:formatCode>General</c:formatCode>
                <c:ptCount val="9"/>
                <c:pt idx="0">
                  <c:v>9290</c:v>
                </c:pt>
                <c:pt idx="1">
                  <c:v>9623</c:v>
                </c:pt>
                <c:pt idx="2">
                  <c:v>27501</c:v>
                </c:pt>
                <c:pt idx="3">
                  <c:v>5836</c:v>
                </c:pt>
                <c:pt idx="4">
                  <c:v>9036</c:v>
                </c:pt>
                <c:pt idx="5">
                  <c:v>873</c:v>
                </c:pt>
                <c:pt idx="6">
                  <c:v>1519</c:v>
                </c:pt>
                <c:pt idx="7">
                  <c:v>1463</c:v>
                </c:pt>
                <c:pt idx="8">
                  <c:v>34</c:v>
                </c:pt>
              </c:numCache>
            </c:numRef>
          </c:val>
          <c:extLst>
            <c:ext xmlns:c16="http://schemas.microsoft.com/office/drawing/2014/chart" uri="{C3380CC4-5D6E-409C-BE32-E72D297353CC}">
              <c16:uniqueId val="{00000012-E50D-4561-8741-147DBC9FE6C0}"/>
            </c:ext>
          </c:extLst>
        </c:ser>
        <c:dLbls>
          <c:showLegendKey val="0"/>
          <c:showVal val="0"/>
          <c:showCatName val="0"/>
          <c:showSerName val="0"/>
          <c:showPercent val="0"/>
          <c:showBubbleSize val="0"/>
          <c:showLeaderLines val="0"/>
        </c:dLbls>
        <c:firstSliceAng val="0"/>
        <c:holeSize val="55"/>
      </c:doughnutChart>
      <c:spPr>
        <a:noFill/>
        <a:ln>
          <a:noFill/>
        </a:ln>
        <a:effectLst/>
      </c:spPr>
    </c:plotArea>
    <c:legend>
      <c:legendPos val="r"/>
      <c:overlay val="0"/>
      <c:txPr>
        <a:bodyPr/>
        <a:lstStyle/>
        <a:p>
          <a:pPr>
            <a:defRPr sz="950">
              <a:solidFill>
                <a:srgbClr val="26292E"/>
              </a:solidFill>
              <a:latin typeface="Calibri"/>
              <a:cs typeface="Calibri"/>
            </a:defRPr>
          </a:pPr>
          <a:endParaRPr lang="en-US"/>
        </a:p>
      </c:txPr>
    </c:legend>
    <c:plotVisOnly val="1"/>
    <c:dispBlanksAs val="span"/>
    <c:showDLblsOverMax val="1"/>
  </c:chart>
  <c:spPr>
    <a:noFill/>
    <a:ln>
      <a:noFill/>
    </a:ln>
    <a:effectLst/>
  </c:spPr>
  <c:externalData r:id="rId1">
    <c:autoUpdate val="0"/>
  </c:externalData>
</c:chartSpace>
</file>

<file path=ppt/charts/chart22.xml><?xml version="1.0" encoding="utf-8"?>
<c:chartSpace xmlns:c="http://schemas.openxmlformats.org/drawingml/2006/chart" xmlns:a="http://schemas.openxmlformats.org/drawingml/2006/main" xmlns:r="http://schemas.openxmlformats.org/officeDocument/2006/relationships" xmlns:c16r2="http://schemas.microsoft.com/office/drawing/2015/06/chart">
  <c:date1904 val="0"/>
  <c:lang val="en-US"/>
  <c:roundedCorners val="1"/>
  <c:style val="2"/>
  <c:chart>
    <c:title>
      <c:tx>
        <c:rich>
          <a:bodyPr/>
          <a:lstStyle/>
          <a:p>
            <a:pPr>
              <a:defRPr sz="1300" b="0" i="0" u="none" strike="noStrike">
                <a:solidFill>
                  <a:srgbClr val="1E2761"/>
                </a:solidFill>
                <a:latin typeface="Calibri"/>
              </a:defRPr>
            </a:pPr>
            <a:r>
              <a:rPr lang="en-US" sz="1300" b="0" i="0" u="none" strike="noStrike">
                <a:solidFill>
                  <a:srgbClr val="1E2761"/>
                </a:solidFill>
                <a:latin typeface="Calibri"/>
              </a:rPr>
              <a:t>Room nights H1 (Jan–Jun)</a:t>
            </a:r>
          </a:p>
        </c:rich>
      </c:tx>
      <c:overlay val="0"/>
    </c:title>
    <c:autoTitleDeleted val="0"/>
    <c:plotArea>
      <c:layout/>
      <c:barChart>
        <c:barDir val="bar"/>
        <c:grouping val="clustered"/>
        <c:varyColors val="0"/>
        <c:ser>
          <c:idx val="0"/>
          <c:order val="0"/>
          <c:tx>
            <c:strRef>
              <c:f>Sheet1!$B$1</c:f>
              <c:strCache>
                <c:ptCount val="1"/>
                <c:pt idx="0">
                  <c:v>2025 H1</c:v>
                </c:pt>
              </c:strCache>
            </c:strRef>
          </c:tx>
          <c:spPr>
            <a:solidFill>
              <a:srgbClr val="7FA4DC"/>
            </a:solidFill>
            <a:effectLst/>
          </c:spPr>
          <c:invertIfNegative val="0"/>
          <c:dLbls>
            <c:numFmt formatCode="#,##0;;" sourceLinked="0"/>
            <c:spPr>
              <a:noFill/>
              <a:ln>
                <a:noFill/>
              </a:ln>
              <a:effectLst/>
            </c:spPr>
            <c:txPr>
              <a:bodyPr/>
              <a:lstStyle/>
              <a:p>
                <a:pPr>
                  <a:defRPr sz="800" b="0" i="0" u="none" strike="noStrike">
                    <a:solidFill>
                      <a:srgbClr val="6B7280"/>
                    </a:solidFill>
                    <a:latin typeface="Calibri"/>
                  </a:defRPr>
                </a:pPr>
                <a:endParaRPr lang="en-US"/>
              </a:p>
            </c:txPr>
            <c:showLegendKey val="0"/>
            <c:showVal val="1"/>
            <c:showCatName val="0"/>
            <c:showSerName val="0"/>
            <c:showPercent val="0"/>
            <c:showBubbleSize val="0"/>
            <c:showLeaderLines val="0"/>
            <c:extLst>
              <c:ext xmlns:c15="http://schemas.microsoft.com/office/drawing/2012/chart" uri="{CE6537A1-D6FC-4f65-9D91-7224C49458BB}">
                <c15:showLeaderLines val="0"/>
              </c:ext>
            </c:extLst>
          </c:dLbls>
          <c:cat>
            <c:strRef>
              <c:f>Sheet1!$A$2:$A$11</c:f>
              <c:strCache>
                <c:ptCount val="10"/>
                <c:pt idx="0">
                  <c:v>China</c:v>
                </c:pt>
                <c:pt idx="1">
                  <c:v>Taiwan</c:v>
                </c:pt>
                <c:pt idx="2">
                  <c:v>Thailand</c:v>
                </c:pt>
                <c:pt idx="3">
                  <c:v>India</c:v>
                </c:pt>
                <c:pt idx="4">
                  <c:v>Japan</c:v>
                </c:pt>
                <c:pt idx="5">
                  <c:v>Malaysia</c:v>
                </c:pt>
                <c:pt idx="6">
                  <c:v>Singapore</c:v>
                </c:pt>
                <c:pt idx="7">
                  <c:v>Korea</c:v>
                </c:pt>
                <c:pt idx="8">
                  <c:v>Indonesia</c:v>
                </c:pt>
                <c:pt idx="9">
                  <c:v>USA</c:v>
                </c:pt>
              </c:strCache>
            </c:strRef>
          </c:cat>
          <c:val>
            <c:numRef>
              <c:f>Sheet1!$B$2:$B$11</c:f>
              <c:numCache>
                <c:formatCode>General</c:formatCode>
                <c:ptCount val="10"/>
                <c:pt idx="0">
                  <c:v>30611</c:v>
                </c:pt>
                <c:pt idx="1">
                  <c:v>6536</c:v>
                </c:pt>
                <c:pt idx="2">
                  <c:v>3044</c:v>
                </c:pt>
                <c:pt idx="3">
                  <c:v>1455</c:v>
                </c:pt>
                <c:pt idx="4">
                  <c:v>2679</c:v>
                </c:pt>
                <c:pt idx="5">
                  <c:v>2486</c:v>
                </c:pt>
                <c:pt idx="6">
                  <c:v>2017</c:v>
                </c:pt>
                <c:pt idx="7">
                  <c:v>2863</c:v>
                </c:pt>
                <c:pt idx="8">
                  <c:v>1120</c:v>
                </c:pt>
                <c:pt idx="9">
                  <c:v>1034</c:v>
                </c:pt>
              </c:numCache>
            </c:numRef>
          </c:val>
          <c:extLst>
            <c:ext xmlns:c16="http://schemas.microsoft.com/office/drawing/2014/chart" uri="{C3380CC4-5D6E-409C-BE32-E72D297353CC}">
              <c16:uniqueId val="{00000000-149D-44A8-8B79-278AE8A3A4DA}"/>
            </c:ext>
          </c:extLst>
        </c:ser>
        <c:ser>
          <c:idx val="1"/>
          <c:order val="1"/>
          <c:tx>
            <c:strRef>
              <c:f>Sheet1!$C$1</c:f>
              <c:strCache>
                <c:ptCount val="1"/>
                <c:pt idx="0">
                  <c:v>2026 H1</c:v>
                </c:pt>
              </c:strCache>
            </c:strRef>
          </c:tx>
          <c:spPr>
            <a:solidFill>
              <a:srgbClr val="1E2761"/>
            </a:solidFill>
            <a:effectLst/>
          </c:spPr>
          <c:invertIfNegative val="0"/>
          <c:dLbls>
            <c:numFmt formatCode="#,##0;;" sourceLinked="0"/>
            <c:spPr>
              <a:noFill/>
              <a:ln>
                <a:noFill/>
              </a:ln>
              <a:effectLst/>
            </c:spPr>
            <c:txPr>
              <a:bodyPr/>
              <a:lstStyle/>
              <a:p>
                <a:pPr>
                  <a:defRPr sz="800" b="0" i="0" u="none" strike="noStrike">
                    <a:solidFill>
                      <a:srgbClr val="6B7280"/>
                    </a:solidFill>
                    <a:latin typeface="Calibri"/>
                  </a:defRPr>
                </a:pPr>
                <a:endParaRPr lang="en-US"/>
              </a:p>
            </c:txPr>
            <c:showLegendKey val="0"/>
            <c:showVal val="1"/>
            <c:showCatName val="0"/>
            <c:showSerName val="0"/>
            <c:showPercent val="0"/>
            <c:showBubbleSize val="0"/>
            <c:showLeaderLines val="0"/>
            <c:extLst>
              <c:ext xmlns:c15="http://schemas.microsoft.com/office/drawing/2012/chart" uri="{CE6537A1-D6FC-4f65-9D91-7224C49458BB}">
                <c15:showLeaderLines val="0"/>
              </c:ext>
            </c:extLst>
          </c:dLbls>
          <c:cat>
            <c:strRef>
              <c:f>Sheet1!$A$2:$A$11</c:f>
              <c:strCache>
                <c:ptCount val="10"/>
                <c:pt idx="0">
                  <c:v>China</c:v>
                </c:pt>
                <c:pt idx="1">
                  <c:v>Taiwan</c:v>
                </c:pt>
                <c:pt idx="2">
                  <c:v>Thailand</c:v>
                </c:pt>
                <c:pt idx="3">
                  <c:v>India</c:v>
                </c:pt>
                <c:pt idx="4">
                  <c:v>Japan</c:v>
                </c:pt>
                <c:pt idx="5">
                  <c:v>Malaysia</c:v>
                </c:pt>
                <c:pt idx="6">
                  <c:v>Singapore</c:v>
                </c:pt>
                <c:pt idx="7">
                  <c:v>Korea</c:v>
                </c:pt>
                <c:pt idx="8">
                  <c:v>Indonesia</c:v>
                </c:pt>
                <c:pt idx="9">
                  <c:v>USA</c:v>
                </c:pt>
              </c:strCache>
            </c:strRef>
          </c:cat>
          <c:val>
            <c:numRef>
              <c:f>Sheet1!$C$2:$C$11</c:f>
              <c:numCache>
                <c:formatCode>General</c:formatCode>
                <c:ptCount val="10"/>
                <c:pt idx="0">
                  <c:v>32403</c:v>
                </c:pt>
                <c:pt idx="1">
                  <c:v>5882</c:v>
                </c:pt>
                <c:pt idx="2">
                  <c:v>3806</c:v>
                </c:pt>
                <c:pt idx="3">
                  <c:v>2674</c:v>
                </c:pt>
                <c:pt idx="4">
                  <c:v>2635</c:v>
                </c:pt>
                <c:pt idx="5">
                  <c:v>2247</c:v>
                </c:pt>
                <c:pt idx="6">
                  <c:v>2169</c:v>
                </c:pt>
                <c:pt idx="7">
                  <c:v>2106</c:v>
                </c:pt>
                <c:pt idx="8">
                  <c:v>1273</c:v>
                </c:pt>
                <c:pt idx="9">
                  <c:v>1032</c:v>
                </c:pt>
              </c:numCache>
            </c:numRef>
          </c:val>
          <c:extLst>
            <c:ext xmlns:c16="http://schemas.microsoft.com/office/drawing/2014/chart" uri="{C3380CC4-5D6E-409C-BE32-E72D297353CC}">
              <c16:uniqueId val="{00000001-149D-44A8-8B79-278AE8A3A4DA}"/>
            </c:ext>
          </c:extLst>
        </c:ser>
        <c:dLbls>
          <c:showLegendKey val="0"/>
          <c:showVal val="1"/>
          <c:showCatName val="0"/>
          <c:showSerName val="0"/>
          <c:showPercent val="0"/>
          <c:showBubbleSize val="0"/>
        </c:dLbls>
        <c:gapWidth val="40"/>
        <c:axId val="2094734554"/>
        <c:axId val="2094734552"/>
      </c:barChart>
      <c:catAx>
        <c:axId val="2094734554"/>
        <c:scaling>
          <c:orientation val="minMax"/>
        </c:scaling>
        <c:delete val="0"/>
        <c:axPos val="l"/>
        <c:numFmt formatCode="General" sourceLinked="1"/>
        <c:majorTickMark val="out"/>
        <c:minorTickMark val="none"/>
        <c:tickLblPos val="nextTo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950" b="0" i="0" u="none" strike="noStrike">
                <a:solidFill>
                  <a:srgbClr val="6B7280"/>
                </a:solidFill>
                <a:latin typeface="Calibri"/>
              </a:defRPr>
            </a:pPr>
            <a:endParaRPr lang="en-US"/>
          </a:p>
        </c:txPr>
        <c:crossAx val="2094734552"/>
        <c:crosses val="autoZero"/>
        <c:auto val="1"/>
        <c:lblAlgn val="ctr"/>
        <c:lblOffset val="100"/>
        <c:noMultiLvlLbl val="1"/>
      </c:catAx>
      <c:valAx>
        <c:axId val="2094734552"/>
        <c:scaling>
          <c:orientation val="minMax"/>
        </c:scaling>
        <c:delete val="0"/>
        <c:axPos val="b"/>
        <c:majorGridlines>
          <c:spPr>
            <a:ln w="6350" cap="flat">
              <a:solidFill>
                <a:srgbClr val="E5E8EF"/>
              </a:solidFill>
              <a:prstDash val="solid"/>
              <a:round/>
            </a:ln>
          </c:spPr>
        </c:majorGridlines>
        <c:numFmt formatCode="General" sourceLinked="0"/>
        <c:majorTickMark val="out"/>
        <c:minorTickMark val="none"/>
        <c:tickLblPos val="low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950" b="0" i="0" u="none" strike="noStrike">
                <a:solidFill>
                  <a:srgbClr val="6B7280"/>
                </a:solidFill>
                <a:latin typeface="Calibri"/>
              </a:defRPr>
            </a:pPr>
            <a:endParaRPr lang="en-US"/>
          </a:p>
        </c:txPr>
        <c:crossAx val="2094734554"/>
        <c:crosses val="autoZero"/>
        <c:crossBetween val="between"/>
      </c:valAx>
      <c:spPr>
        <a:noFill/>
        <a:ln>
          <a:noFill/>
        </a:ln>
        <a:effectLst/>
      </c:spPr>
    </c:plotArea>
    <c:legend>
      <c:legendPos val="b"/>
      <c:overlay val="0"/>
      <c:txPr>
        <a:bodyPr/>
        <a:lstStyle/>
        <a:p>
          <a:pPr>
            <a:defRPr sz="1000">
              <a:solidFill>
                <a:srgbClr val="26292E"/>
              </a:solidFill>
              <a:latin typeface="Calibri"/>
              <a:cs typeface="Calibri"/>
            </a:defRPr>
          </a:pPr>
          <a:endParaRPr lang="en-US"/>
        </a:p>
      </c:txPr>
    </c:legend>
    <c:plotVisOnly val="1"/>
    <c:dispBlanksAs val="span"/>
    <c:showDLblsOverMax val="1"/>
  </c:chart>
  <c:spPr>
    <a:noFill/>
    <a:ln>
      <a:noFill/>
    </a:ln>
    <a:effectLst/>
  </c:spPr>
  <c:externalData r:id="rId1">
    <c:autoUpdate val="0"/>
  </c:externalData>
</c:chartSpace>
</file>

<file path=ppt/charts/chart25.xml><?xml version="1.0" encoding="utf-8"?>
<c:chartSpace xmlns:c="http://schemas.openxmlformats.org/drawingml/2006/chart" xmlns:a="http://schemas.openxmlformats.org/drawingml/2006/main" xmlns:r="http://schemas.openxmlformats.org/officeDocument/2006/relationships" xmlns:c16r2="http://schemas.microsoft.com/office/drawing/2015/06/chart">
  <c:date1904 val="0"/>
  <c:lang val="en-US"/>
  <c:roundedCorners val="1"/>
  <c:style val="2"/>
  <c:chart>
    <c:title>
      <c:tx>
        <c:rich>
          <a:bodyPr/>
          <a:lstStyle/>
          <a:p>
            <a:pPr>
              <a:defRPr sz="1250" b="0" i="0" u="none" strike="noStrike">
                <a:solidFill>
                  <a:srgbClr val="1E2761"/>
                </a:solidFill>
                <a:latin typeface="Calibri"/>
              </a:defRPr>
            </a:pPr>
            <a:r>
              <a:rPr lang="en-US" sz="1250" b="0" i="0" u="none" strike="noStrike">
                <a:solidFill>
                  <a:srgbClr val="1E2761"/>
                </a:solidFill>
                <a:latin typeface="Calibri"/>
              </a:rPr>
              <a:t>Monthly revenue (฿M)</a:t>
            </a:r>
          </a:p>
        </c:rich>
      </c:tx>
      <c:overlay val="0"/>
    </c:title>
    <c:autoTitleDeleted val="0"/>
    <c:plotArea>
      <c:layout/>
      <c:barChart>
        <c:barDir val="col"/>
        <c:grouping val="clustered"/>
        <c:varyColors val="0"/>
        <c:ser>
          <c:idx val="0"/>
          <c:order val="0"/>
          <c:tx>
            <c:strRef>
              <c:f>Sheet1!$B$1</c:f>
              <c:strCache>
                <c:ptCount val="1"/>
                <c:pt idx="0">
                  <c:v>2024</c:v>
                </c:pt>
              </c:strCache>
            </c:strRef>
          </c:tx>
          <c:spPr>
            <a:solidFill>
              <a:srgbClr val="C9D6EE"/>
            </a:solidFill>
            <a:effectLst/>
          </c:spPr>
          <c:invertIfNegative val="0"/>
          <c:cat>
            <c:strRef>
              <c:f>Sheet1!$A$2:$A$7</c:f>
              <c:strCache>
                <c:ptCount val="6"/>
                <c:pt idx="0">
                  <c:v>Jan</c:v>
                </c:pt>
                <c:pt idx="1">
                  <c:v>Feb</c:v>
                </c:pt>
                <c:pt idx="2">
                  <c:v>Mar</c:v>
                </c:pt>
                <c:pt idx="3">
                  <c:v>Apr</c:v>
                </c:pt>
                <c:pt idx="4">
                  <c:v>May</c:v>
                </c:pt>
                <c:pt idx="5">
                  <c:v>Jun</c:v>
                </c:pt>
              </c:strCache>
            </c:strRef>
          </c:cat>
          <c:val>
            <c:numRef>
              <c:f>Sheet1!$B$2:$B$7</c:f>
              <c:numCache>
                <c:formatCode>General</c:formatCode>
                <c:ptCount val="6"/>
                <c:pt idx="0">
                  <c:v>36808084.990000002</c:v>
                </c:pt>
                <c:pt idx="1">
                  <c:v>41472163.590000004</c:v>
                </c:pt>
                <c:pt idx="2">
                  <c:v>37684641.259999998</c:v>
                </c:pt>
                <c:pt idx="3">
                  <c:v>37448282.219999999</c:v>
                </c:pt>
                <c:pt idx="4">
                  <c:v>37081120.259999998</c:v>
                </c:pt>
                <c:pt idx="5">
                  <c:v>33416187.350000001</c:v>
                </c:pt>
              </c:numCache>
            </c:numRef>
          </c:val>
          <c:extLst>
            <c:ext xmlns:c16="http://schemas.microsoft.com/office/drawing/2014/chart" uri="{C3380CC4-5D6E-409C-BE32-E72D297353CC}">
              <c16:uniqueId val="{00000000-20AB-4477-975D-449E7DD3F037}"/>
            </c:ext>
          </c:extLst>
        </c:ser>
        <c:ser>
          <c:idx val="1"/>
          <c:order val="1"/>
          <c:tx>
            <c:strRef>
              <c:f>Sheet1!$C$1</c:f>
              <c:strCache>
                <c:ptCount val="1"/>
                <c:pt idx="0">
                  <c:v>2025</c:v>
                </c:pt>
              </c:strCache>
            </c:strRef>
          </c:tx>
          <c:spPr>
            <a:solidFill>
              <a:srgbClr val="7FA4DC"/>
            </a:solidFill>
            <a:effectLst/>
          </c:spPr>
          <c:invertIfNegative val="0"/>
          <c:cat>
            <c:strRef>
              <c:f>Sheet1!$A$2:$A$7</c:f>
              <c:strCache>
                <c:ptCount val="6"/>
                <c:pt idx="0">
                  <c:v>Jan</c:v>
                </c:pt>
                <c:pt idx="1">
                  <c:v>Feb</c:v>
                </c:pt>
                <c:pt idx="2">
                  <c:v>Mar</c:v>
                </c:pt>
                <c:pt idx="3">
                  <c:v>Apr</c:v>
                </c:pt>
                <c:pt idx="4">
                  <c:v>May</c:v>
                </c:pt>
                <c:pt idx="5">
                  <c:v>Jun</c:v>
                </c:pt>
              </c:strCache>
            </c:strRef>
          </c:cat>
          <c:val>
            <c:numRef>
              <c:f>Sheet1!$C$2:$C$7</c:f>
              <c:numCache>
                <c:formatCode>General</c:formatCode>
                <c:ptCount val="6"/>
                <c:pt idx="0">
                  <c:v>40471406.759999998</c:v>
                </c:pt>
                <c:pt idx="1">
                  <c:v>35097386</c:v>
                </c:pt>
                <c:pt idx="2">
                  <c:v>31885906.359999999</c:v>
                </c:pt>
                <c:pt idx="3">
                  <c:v>28944481.789999999</c:v>
                </c:pt>
                <c:pt idx="4">
                  <c:v>29907879.420000002</c:v>
                </c:pt>
                <c:pt idx="5">
                  <c:v>28869835.91</c:v>
                </c:pt>
              </c:numCache>
            </c:numRef>
          </c:val>
          <c:extLst>
            <c:ext xmlns:c16="http://schemas.microsoft.com/office/drawing/2014/chart" uri="{C3380CC4-5D6E-409C-BE32-E72D297353CC}">
              <c16:uniqueId val="{00000001-20AB-4477-975D-449E7DD3F037}"/>
            </c:ext>
          </c:extLst>
        </c:ser>
        <c:ser>
          <c:idx val="2"/>
          <c:order val="2"/>
          <c:tx>
            <c:strRef>
              <c:f>Sheet1!$D$1</c:f>
              <c:strCache>
                <c:ptCount val="1"/>
                <c:pt idx="0">
                  <c:v>2026</c:v>
                </c:pt>
              </c:strCache>
            </c:strRef>
          </c:tx>
          <c:spPr>
            <a:solidFill>
              <a:srgbClr val="1E2761"/>
            </a:solidFill>
            <a:effectLst/>
          </c:spPr>
          <c:invertIfNegative val="0"/>
          <c:cat>
            <c:strRef>
              <c:f>Sheet1!$A$2:$A$7</c:f>
              <c:strCache>
                <c:ptCount val="6"/>
                <c:pt idx="0">
                  <c:v>Jan</c:v>
                </c:pt>
                <c:pt idx="1">
                  <c:v>Feb</c:v>
                </c:pt>
                <c:pt idx="2">
                  <c:v>Mar</c:v>
                </c:pt>
                <c:pt idx="3">
                  <c:v>Apr</c:v>
                </c:pt>
                <c:pt idx="4">
                  <c:v>May</c:v>
                </c:pt>
                <c:pt idx="5">
                  <c:v>Jun</c:v>
                </c:pt>
              </c:strCache>
            </c:strRef>
          </c:cat>
          <c:val>
            <c:numRef>
              <c:f>Sheet1!$D$2:$D$7</c:f>
              <c:numCache>
                <c:formatCode>General</c:formatCode>
                <c:ptCount val="6"/>
                <c:pt idx="0">
                  <c:v>36981091.140000001</c:v>
                </c:pt>
                <c:pt idx="1">
                  <c:v>36798669.049999997</c:v>
                </c:pt>
                <c:pt idx="2">
                  <c:v>33026703.75</c:v>
                </c:pt>
                <c:pt idx="3">
                  <c:v>31830715.75</c:v>
                </c:pt>
                <c:pt idx="4">
                  <c:v>29125527.620000001</c:v>
                </c:pt>
                <c:pt idx="5">
                  <c:v>28515831.960000001</c:v>
                </c:pt>
              </c:numCache>
            </c:numRef>
          </c:val>
          <c:extLst>
            <c:ext xmlns:c16="http://schemas.microsoft.com/office/drawing/2014/chart" uri="{C3380CC4-5D6E-409C-BE32-E72D297353CC}">
              <c16:uniqueId val="{00000002-20AB-4477-975D-449E7DD3F037}"/>
            </c:ext>
          </c:extLst>
        </c:ser>
        <c:dLbls>
          <c:showLegendKey val="0"/>
          <c:showVal val="0"/>
          <c:showCatName val="0"/>
          <c:showSerName val="0"/>
          <c:showPercent val="0"/>
          <c:showBubbleSize val="0"/>
        </c:dLbls>
        <c:gapWidth val="150"/>
        <c:axId val="2094734554"/>
        <c:axId val="2094734552"/>
      </c:barChart>
      <c:catAx>
        <c:axId val="2094734554"/>
        <c:scaling>
          <c:orientation val="minMax"/>
        </c:scaling>
        <c:delete val="0"/>
        <c:axPos val="b"/>
        <c:numFmt formatCode="General" sourceLinked="1"/>
        <c:majorTickMark val="out"/>
        <c:minorTickMark val="none"/>
        <c:tickLblPos val="low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1000" b="0" i="0" u="none" strike="noStrike">
                <a:solidFill>
                  <a:srgbClr val="6B7280"/>
                </a:solidFill>
                <a:latin typeface="Calibri"/>
              </a:defRPr>
            </a:pPr>
            <a:endParaRPr lang="en-US"/>
          </a:p>
        </c:txPr>
        <c:crossAx val="2094734552"/>
        <c:crosses val="autoZero"/>
        <c:auto val="1"/>
        <c:lblAlgn val="ctr"/>
        <c:lblOffset val="100"/>
        <c:noMultiLvlLbl val="1"/>
      </c:catAx>
      <c:valAx>
        <c:axId val="2094734552"/>
        <c:scaling>
          <c:orientation val="minMax"/>
        </c:scaling>
        <c:delete val="0"/>
        <c:axPos val="l"/>
        <c:majorGridlines>
          <c:spPr>
            <a:ln w="6350" cap="flat">
              <a:solidFill>
                <a:srgbClr val="E5E8EF"/>
              </a:solidFill>
              <a:prstDash val="solid"/>
              <a:round/>
            </a:ln>
          </c:spPr>
        </c:majorGridlines>
        <c:numFmt formatCode="General" sourceLinked="0"/>
        <c:majorTickMark val="out"/>
        <c:minorTickMark val="none"/>
        <c:tickLblPos val="nextTo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950" b="0" i="0" u="none" strike="noStrike">
                <a:solidFill>
                  <a:srgbClr val="6B7280"/>
                </a:solidFill>
                <a:latin typeface="Calibri"/>
              </a:defRPr>
            </a:pPr>
            <a:endParaRPr lang="en-US"/>
          </a:p>
        </c:txPr>
        <c:crossAx val="2094734554"/>
        <c:crosses val="autoZero"/>
        <c:crossBetween val="between"/>
      </c:valAx>
      <c:spPr>
        <a:noFill/>
        <a:ln>
          <a:noFill/>
        </a:ln>
        <a:effectLst/>
      </c:spPr>
    </c:plotArea>
    <c:legend>
      <c:legendPos val="b"/>
      <c:overlay val="0"/>
      <c:txPr>
        <a:bodyPr/>
        <a:lstStyle/>
        <a:p>
          <a:pPr>
            <a:defRPr sz="1000">
              <a:solidFill>
                <a:srgbClr val="26292E"/>
              </a:solidFill>
              <a:latin typeface="Calibri"/>
              <a:cs typeface="Calibri"/>
            </a:defRPr>
          </a:pPr>
          <a:endParaRPr lang="en-US"/>
        </a:p>
      </c:txPr>
    </c:legend>
    <c:plotVisOnly val="1"/>
    <c:dispBlanksAs val="span"/>
    <c:showDLblsOverMax val="1"/>
  </c:chart>
  <c:spPr>
    <a:noFill/>
    <a:ln>
      <a:noFill/>
    </a:ln>
    <a:effectLst/>
  </c:spPr>
  <c:externalData r:id="rId1">
    <c:autoUpdate val="0"/>
  </c:externalData>
</c:chartSpace>
</file>

<file path=ppt/charts/chart26.xml><?xml version="1.0" encoding="utf-8"?>
<c:chartSpace xmlns:c="http://schemas.openxmlformats.org/drawingml/2006/chart" xmlns:a="http://schemas.openxmlformats.org/drawingml/2006/main" xmlns:r="http://schemas.openxmlformats.org/officeDocument/2006/relationships" xmlns:c16r2="http://schemas.microsoft.com/office/drawing/2015/06/chart">
  <c:date1904 val="0"/>
  <c:lang val="en-US"/>
  <c:roundedCorners val="1"/>
  <c:style val="2"/>
  <c:chart>
    <c:title>
      <c:tx>
        <c:rich>
          <a:bodyPr/>
          <a:lstStyle/>
          <a:p>
            <a:pPr>
              <a:defRPr sz="1200" b="0" i="0" u="none" strike="noStrike">
                <a:solidFill>
                  <a:srgbClr val="1E2761"/>
                </a:solidFill>
                <a:latin typeface="Calibri"/>
              </a:defRPr>
            </a:pPr>
            <a:r>
              <a:rPr lang="en-US" sz="1200" b="0" i="0" u="none" strike="noStrike">
                <a:solidFill>
                  <a:srgbClr val="1E2761"/>
                </a:solidFill>
                <a:latin typeface="Calibri"/>
              </a:rPr>
              <a:t>Monthly RevPAR (THB) — actual vs budget vs 2025 vs 2024</a:t>
            </a:r>
          </a:p>
        </c:rich>
      </c:tx>
      <c:overlay val="0"/>
    </c:title>
    <c:autoTitleDeleted val="0"/>
    <c:plotArea>
      <c:layout/>
      <c:barChart>
        <c:barDir val="col"/>
        <c:grouping val="clustered"/>
        <c:varyColors val="0"/>
        <c:ser>
          <c:idx val="0"/>
          <c:order val="0"/>
          <c:tx>
            <c:strRef>
              <c:f>Sheet1!$B$1</c:f>
              <c:strCache>
                <c:ptCount val="1"/>
                <c:pt idx="0">
                  <c:v>RevPAR 2026</c:v>
                </c:pt>
              </c:strCache>
            </c:strRef>
          </c:tx>
          <c:spPr>
            <a:solidFill>
              <a:srgbClr val="1E2761"/>
            </a:solidFill>
            <a:effectLst/>
          </c:spPr>
          <c:invertIfNegative val="0"/>
          <c:cat>
            <c:strRef>
              <c:f>Sheet1!$A$2:$A$7</c:f>
              <c:strCache>
                <c:ptCount val="6"/>
                <c:pt idx="0">
                  <c:v>Jan</c:v>
                </c:pt>
                <c:pt idx="1">
                  <c:v>Feb</c:v>
                </c:pt>
                <c:pt idx="2">
                  <c:v>Mar</c:v>
                </c:pt>
                <c:pt idx="3">
                  <c:v>Apr</c:v>
                </c:pt>
                <c:pt idx="4">
                  <c:v>May</c:v>
                </c:pt>
                <c:pt idx="5">
                  <c:v>Jun</c:v>
                </c:pt>
              </c:strCache>
            </c:strRef>
          </c:cat>
          <c:val>
            <c:numRef>
              <c:f>Sheet1!$B$2:$B$7</c:f>
              <c:numCache>
                <c:formatCode>General</c:formatCode>
                <c:ptCount val="6"/>
                <c:pt idx="0">
                  <c:v>2846.76</c:v>
                </c:pt>
                <c:pt idx="1">
                  <c:v>3468.5</c:v>
                </c:pt>
                <c:pt idx="2">
                  <c:v>2447.06</c:v>
                </c:pt>
                <c:pt idx="3">
                  <c:v>2181.63</c:v>
                </c:pt>
                <c:pt idx="4">
                  <c:v>1861.3</c:v>
                </c:pt>
                <c:pt idx="5">
                  <c:v>1993.88</c:v>
                </c:pt>
              </c:numCache>
            </c:numRef>
          </c:val>
          <c:extLst>
            <c:ext xmlns:c16="http://schemas.microsoft.com/office/drawing/2014/chart" uri="{C3380CC4-5D6E-409C-BE32-E72D297353CC}">
              <c16:uniqueId val="{00000000-8211-4356-9605-8536186A8801}"/>
            </c:ext>
          </c:extLst>
        </c:ser>
        <c:dLbls>
          <c:showLegendKey val="0"/>
          <c:showVal val="0"/>
          <c:showCatName val="0"/>
          <c:showSerName val="0"/>
          <c:showPercent val="0"/>
          <c:showBubbleSize val="0"/>
        </c:dLbls>
        <c:gapWidth val="80"/>
        <c:axId val="2094734554"/>
        <c:axId val="2094734552"/>
      </c:barChart>
      <c:lineChart>
        <c:grouping val="standard"/>
        <c:varyColors val="0"/>
        <c:ser>
          <c:idx val="1"/>
          <c:order val="1"/>
          <c:tx>
            <c:strRef>
              <c:f>Sheet1!$C$1</c:f>
              <c:strCache>
                <c:ptCount val="1"/>
                <c:pt idx="0">
                  <c:v>Budget</c:v>
                </c:pt>
              </c:strCache>
            </c:strRef>
          </c:tx>
          <c:spPr>
            <a:ln w="31750" cap="flat">
              <a:solidFill>
                <a:srgbClr val="D9A441"/>
              </a:solidFill>
              <a:prstDash val="solid"/>
              <a:round/>
            </a:ln>
            <a:effectLst/>
          </c:spPr>
          <c:marker>
            <c:symbol val="circle"/>
            <c:size val="5"/>
            <c:spPr>
              <a:solidFill>
                <a:srgbClr val="AEB6C2"/>
              </a:solidFill>
              <a:ln w="9525" cap="flat">
                <a:solidFill>
                  <a:srgbClr val="D9A441"/>
                </a:solidFill>
                <a:prstDash val="solid"/>
                <a:round/>
              </a:ln>
              <a:effectLst/>
            </c:spPr>
          </c:marker>
          <c:cat>
            <c:strRef>
              <c:f>Sheet1!$A$2:$A$7</c:f>
              <c:strCache>
                <c:ptCount val="6"/>
                <c:pt idx="0">
                  <c:v>Jan</c:v>
                </c:pt>
                <c:pt idx="1">
                  <c:v>Feb</c:v>
                </c:pt>
                <c:pt idx="2">
                  <c:v>Mar</c:v>
                </c:pt>
                <c:pt idx="3">
                  <c:v>Apr</c:v>
                </c:pt>
                <c:pt idx="4">
                  <c:v>May</c:v>
                </c:pt>
                <c:pt idx="5">
                  <c:v>Jun</c:v>
                </c:pt>
              </c:strCache>
            </c:strRef>
          </c:cat>
          <c:val>
            <c:numRef>
              <c:f>Sheet1!$C$2:$C$7</c:f>
              <c:numCache>
                <c:formatCode>General</c:formatCode>
                <c:ptCount val="6"/>
                <c:pt idx="0">
                  <c:v>2955.1113</c:v>
                </c:pt>
                <c:pt idx="1">
                  <c:v>3156.7793999999999</c:v>
                </c:pt>
                <c:pt idx="2">
                  <c:v>2298.422</c:v>
                </c:pt>
                <c:pt idx="3">
                  <c:v>2608.8519999999999</c:v>
                </c:pt>
                <c:pt idx="4">
                  <c:v>2312.0012000000002</c:v>
                </c:pt>
                <c:pt idx="5">
                  <c:v>2374.5527000000002</c:v>
                </c:pt>
              </c:numCache>
            </c:numRef>
          </c:val>
          <c:smooth val="0"/>
          <c:extLst>
            <c:ext xmlns:c16="http://schemas.microsoft.com/office/drawing/2014/chart" uri="{C3380CC4-5D6E-409C-BE32-E72D297353CC}">
              <c16:uniqueId val="{00000001-8211-4356-9605-8536186A8801}"/>
            </c:ext>
          </c:extLst>
        </c:ser>
        <c:ser>
          <c:idx val="2"/>
          <c:order val="2"/>
          <c:tx>
            <c:strRef>
              <c:f>Sheet1!$D$1</c:f>
              <c:strCache>
                <c:ptCount val="1"/>
                <c:pt idx="0">
                  <c:v>2025</c:v>
                </c:pt>
              </c:strCache>
            </c:strRef>
          </c:tx>
          <c:spPr>
            <a:ln w="31750" cap="flat">
              <a:solidFill>
                <a:srgbClr val="AEB6C2"/>
              </a:solidFill>
              <a:prstDash val="solid"/>
              <a:round/>
            </a:ln>
            <a:effectLst/>
          </c:spPr>
          <c:marker>
            <c:symbol val="circle"/>
            <c:size val="5"/>
            <c:spPr>
              <a:solidFill>
                <a:srgbClr val="C9D6EE"/>
              </a:solidFill>
              <a:ln w="9525" cap="flat">
                <a:solidFill>
                  <a:srgbClr val="AEB6C2"/>
                </a:solidFill>
                <a:prstDash val="solid"/>
                <a:round/>
              </a:ln>
              <a:effectLst/>
            </c:spPr>
          </c:marker>
          <c:cat>
            <c:strRef>
              <c:f>Sheet1!$A$2:$A$7</c:f>
              <c:strCache>
                <c:ptCount val="6"/>
                <c:pt idx="0">
                  <c:v>Jan</c:v>
                </c:pt>
                <c:pt idx="1">
                  <c:v>Feb</c:v>
                </c:pt>
                <c:pt idx="2">
                  <c:v>Mar</c:v>
                </c:pt>
                <c:pt idx="3">
                  <c:v>Apr</c:v>
                </c:pt>
                <c:pt idx="4">
                  <c:v>May</c:v>
                </c:pt>
                <c:pt idx="5">
                  <c:v>Jun</c:v>
                </c:pt>
              </c:strCache>
            </c:strRef>
          </c:cat>
          <c:val>
            <c:numRef>
              <c:f>Sheet1!$D$2:$D$7</c:f>
              <c:numCache>
                <c:formatCode>General</c:formatCode>
                <c:ptCount val="6"/>
                <c:pt idx="0">
                  <c:v>3408.1212</c:v>
                </c:pt>
                <c:pt idx="1">
                  <c:v>3007.4331999999999</c:v>
                </c:pt>
                <c:pt idx="2">
                  <c:v>2031.3738000000001</c:v>
                </c:pt>
                <c:pt idx="3">
                  <c:v>2352.3757000000001</c:v>
                </c:pt>
                <c:pt idx="4">
                  <c:v>2192.6749</c:v>
                </c:pt>
                <c:pt idx="5">
                  <c:v>2097.2766000000001</c:v>
                </c:pt>
              </c:numCache>
            </c:numRef>
          </c:val>
          <c:smooth val="0"/>
          <c:extLst>
            <c:ext xmlns:c16="http://schemas.microsoft.com/office/drawing/2014/chart" uri="{C3380CC4-5D6E-409C-BE32-E72D297353CC}">
              <c16:uniqueId val="{00000002-8211-4356-9605-8536186A8801}"/>
            </c:ext>
          </c:extLst>
        </c:ser>
        <c:ser>
          <c:idx val="3"/>
          <c:order val="3"/>
          <c:tx>
            <c:strRef>
              <c:f>Sheet1!$E$1</c:f>
              <c:strCache>
                <c:ptCount val="1"/>
                <c:pt idx="0">
                  <c:v>2024</c:v>
                </c:pt>
              </c:strCache>
            </c:strRef>
          </c:tx>
          <c:spPr>
            <a:ln w="31750" cap="flat">
              <a:solidFill>
                <a:srgbClr val="C9D6EE"/>
              </a:solidFill>
              <a:prstDash val="solid"/>
              <a:round/>
            </a:ln>
            <a:effectLst/>
          </c:spPr>
          <c:marker>
            <c:symbol val="circle"/>
            <c:size val="5"/>
            <c:spPr>
              <a:solidFill>
                <a:srgbClr val="C9D6EE"/>
              </a:solidFill>
              <a:ln w="9525" cap="flat">
                <a:solidFill>
                  <a:srgbClr val="C9D6EE"/>
                </a:solidFill>
                <a:prstDash val="solid"/>
                <a:round/>
              </a:ln>
              <a:effectLst/>
            </c:spPr>
          </c:marker>
          <c:cat>
            <c:strRef>
              <c:f>Sheet1!$A$2:$A$7</c:f>
              <c:strCache>
                <c:ptCount val="6"/>
                <c:pt idx="0">
                  <c:v>Jan</c:v>
                </c:pt>
                <c:pt idx="1">
                  <c:v>Feb</c:v>
                </c:pt>
                <c:pt idx="2">
                  <c:v>Mar</c:v>
                </c:pt>
                <c:pt idx="3">
                  <c:v>Apr</c:v>
                </c:pt>
                <c:pt idx="4">
                  <c:v>May</c:v>
                </c:pt>
                <c:pt idx="5">
                  <c:v>Jun</c:v>
                </c:pt>
              </c:strCache>
            </c:strRef>
          </c:cat>
          <c:val>
            <c:numRef>
              <c:f>Sheet1!$E$2:$E$7</c:f>
              <c:numCache>
                <c:formatCode>General</c:formatCode>
                <c:ptCount val="6"/>
                <c:pt idx="0">
                  <c:v>2950.6957000000002</c:v>
                </c:pt>
                <c:pt idx="1">
                  <c:v>3749.3217</c:v>
                </c:pt>
                <c:pt idx="2">
                  <c:v>2842.5663</c:v>
                </c:pt>
                <c:pt idx="3">
                  <c:v>3095.3478</c:v>
                </c:pt>
                <c:pt idx="4">
                  <c:v>2257.2103000000002</c:v>
                </c:pt>
                <c:pt idx="5">
                  <c:v>3085.8020000000001</c:v>
                </c:pt>
              </c:numCache>
            </c:numRef>
          </c:val>
          <c:smooth val="0"/>
          <c:extLst>
            <c:ext xmlns:c16="http://schemas.microsoft.com/office/drawing/2014/chart" uri="{C3380CC4-5D6E-409C-BE32-E72D297353CC}">
              <c16:uniqueId val="{00000003-8211-4356-9605-8536186A8801}"/>
            </c:ext>
          </c:extLst>
        </c:ser>
        <c:dLbls>
          <c:showLegendKey val="0"/>
          <c:showVal val="0"/>
          <c:showCatName val="0"/>
          <c:showSerName val="0"/>
          <c:showPercent val="0"/>
          <c:showBubbleSize val="0"/>
        </c:dLbls>
        <c:marker val="1"/>
        <c:smooth val="0"/>
        <c:axId val="2094734554"/>
        <c:axId val="2094734552"/>
      </c:lineChart>
      <c:catAx>
        <c:axId val="2094734554"/>
        <c:scaling>
          <c:orientation val="minMax"/>
        </c:scaling>
        <c:delete val="0"/>
        <c:axPos val="b"/>
        <c:numFmt formatCode="General" sourceLinked="1"/>
        <c:majorTickMark val="out"/>
        <c:minorTickMark val="none"/>
        <c:tickLblPos val="low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1000" b="0" i="0" u="none" strike="noStrike">
                <a:solidFill>
                  <a:srgbClr val="6B7280"/>
                </a:solidFill>
                <a:latin typeface="Calibri"/>
              </a:defRPr>
            </a:pPr>
            <a:endParaRPr lang="en-US"/>
          </a:p>
        </c:txPr>
        <c:crossAx val="2094734552"/>
        <c:crosses val="autoZero"/>
        <c:auto val="1"/>
        <c:lblAlgn val="ctr"/>
        <c:lblOffset val="100"/>
        <c:noMultiLvlLbl val="1"/>
      </c:catAx>
      <c:valAx>
        <c:axId val="2094734552"/>
        <c:scaling>
          <c:orientation val="minMax"/>
        </c:scaling>
        <c:delete val="0"/>
        <c:axPos val="l"/>
        <c:majorGridlines>
          <c:spPr>
            <a:ln w="6350" cap="flat">
              <a:solidFill>
                <a:srgbClr val="E5E8EF"/>
              </a:solidFill>
              <a:prstDash val="solid"/>
              <a:round/>
            </a:ln>
          </c:spPr>
        </c:majorGridlines>
        <c:numFmt formatCode="General" sourceLinked="0"/>
        <c:majorTickMark val="out"/>
        <c:minorTickMark val="none"/>
        <c:tickLblPos val="nextTo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950" b="0" i="0" u="none" strike="noStrike">
                <a:solidFill>
                  <a:srgbClr val="6B7280"/>
                </a:solidFill>
                <a:latin typeface="Calibri"/>
              </a:defRPr>
            </a:pPr>
            <a:endParaRPr lang="en-US"/>
          </a:p>
        </c:txPr>
        <c:crossAx val="2094734554"/>
        <c:crosses val="autoZero"/>
        <c:crossBetween val="between"/>
      </c:valAx>
      <c:spPr>
        <a:noFill/>
        <a:ln>
          <a:noFill/>
        </a:ln>
        <a:effectLst/>
      </c:spPr>
    </c:plotArea>
    <c:legend>
      <c:legendPos val="b"/>
      <c:overlay val="0"/>
      <c:txPr>
        <a:bodyPr/>
        <a:lstStyle/>
        <a:p>
          <a:pPr>
            <a:defRPr sz="1000">
              <a:solidFill>
                <a:srgbClr val="26292E"/>
              </a:solidFill>
              <a:latin typeface="Calibri"/>
              <a:cs typeface="Calibri"/>
            </a:defRPr>
          </a:pPr>
          <a:endParaRPr lang="en-US"/>
        </a:p>
      </c:txPr>
    </c:legend>
    <c:plotVisOnly val="1"/>
    <c:dispBlanksAs val="span"/>
    <c:showDLblsOverMax val="1"/>
  </c:chart>
  <c:spPr>
    <a:noFill/>
    <a:ln>
      <a:noFill/>
    </a:ln>
    <a:effectLst/>
  </c:spPr>
  <c:externalData r:id="rId1">
    <c:autoUpdate val="0"/>
  </c:externalData>
</c:chartSpace>
</file>

<file path=ppt/charts/chart27.xml><?xml version="1.0" encoding="utf-8"?>
<c:chartSpace xmlns:c="http://schemas.openxmlformats.org/drawingml/2006/chart" xmlns:a="http://schemas.openxmlformats.org/drawingml/2006/main" xmlns:r="http://schemas.openxmlformats.org/officeDocument/2006/relationships" xmlns:c16r2="http://schemas.microsoft.com/office/drawing/2015/06/chart">
  <c:date1904 val="0"/>
  <c:lang val="en-US"/>
  <c:roundedCorners val="1"/>
  <c:style val="2"/>
  <c:chart>
    <c:title>
      <c:tx>
        <c:rich>
          <a:bodyPr/>
          <a:lstStyle/>
          <a:p>
            <a:pPr>
              <a:defRPr sz="1300" b="0" i="0" u="none" strike="noStrike">
                <a:solidFill>
                  <a:srgbClr val="1E2761"/>
                </a:solidFill>
                <a:latin typeface="Calibri"/>
              </a:defRPr>
            </a:pPr>
            <a:r>
              <a:rPr lang="en-US" sz="1300" b="0" i="0" u="none" strike="noStrike">
                <a:solidFill>
                  <a:srgbClr val="1E2761"/>
                </a:solidFill>
                <a:latin typeface="Calibri"/>
              </a:rPr>
              <a:t>Room nights per month (stacked)</a:t>
            </a:r>
          </a:p>
        </c:rich>
      </c:tx>
      <c:overlay val="0"/>
    </c:title>
    <c:autoTitleDeleted val="0"/>
    <c:plotArea>
      <c:layout/>
      <c:barChart>
        <c:barDir val="col"/>
        <c:grouping val="stacked"/>
        <c:varyColors val="0"/>
        <c:ser>
          <c:idx val="0"/>
          <c:order val="0"/>
          <c:tx>
            <c:strRef>
              <c:f>Sheet1!$B$1</c:f>
              <c:strCache>
                <c:ptCount val="1"/>
                <c:pt idx="0">
                  <c:v>Corporate SS</c:v>
                </c:pt>
              </c:strCache>
            </c:strRef>
          </c:tx>
          <c:spPr>
            <a:solidFill>
              <a:srgbClr val="1E2761"/>
            </a:solidFill>
            <a:effectLst/>
          </c:spPr>
          <c:invertIfNegative val="0"/>
          <c:dLbls>
            <c:numFmt formatCode="#,##0;;" sourceLinked="0"/>
            <c:spPr>
              <a:noFill/>
              <a:ln>
                <a:noFill/>
              </a:ln>
              <a:effectLst/>
            </c:spPr>
            <c:txPr>
              <a:bodyPr/>
              <a:lstStyle/>
              <a:p>
                <a:pPr>
                  <a:defRPr sz="750" b="0" i="0" u="none" strike="noStrike">
                    <a:solidFill>
                      <a:srgbClr val="FFFFFF"/>
                    </a:solidFill>
                    <a:latin typeface="Calibri"/>
                  </a:defRPr>
                </a:pPr>
                <a:endParaRPr lang="en-US"/>
              </a:p>
            </c:txPr>
            <c:dLblPos val="ctr"/>
            <c:showLegendKey val="0"/>
            <c:showVal val="1"/>
            <c:showCatName val="0"/>
            <c:showSerName val="0"/>
            <c:showPercent val="0"/>
            <c:showBubbleSize val="0"/>
            <c:showLeaderLines val="0"/>
            <c:extLst>
              <c:ext xmlns:c15="http://schemas.microsoft.com/office/drawing/2012/chart" uri="{CE6537A1-D6FC-4f65-9D91-7224C49458BB}">
                <c15:showLeaderLines val="0"/>
              </c:ext>
            </c:extLst>
          </c:dLbls>
          <c:cat>
            <c:strRef>
              <c:f>Sheet1!$A$2:$A$7</c:f>
              <c:strCache>
                <c:ptCount val="6"/>
                <c:pt idx="0">
                  <c:v>Jan</c:v>
                </c:pt>
                <c:pt idx="1">
                  <c:v>Feb</c:v>
                </c:pt>
                <c:pt idx="2">
                  <c:v>Mar</c:v>
                </c:pt>
                <c:pt idx="3">
                  <c:v>Apr</c:v>
                </c:pt>
                <c:pt idx="4">
                  <c:v>May</c:v>
                </c:pt>
                <c:pt idx="5">
                  <c:v>Jun</c:v>
                </c:pt>
              </c:strCache>
            </c:strRef>
          </c:cat>
          <c:val>
            <c:numRef>
              <c:f>Sheet1!$B$2:$B$7</c:f>
              <c:numCache>
                <c:formatCode>General</c:formatCode>
                <c:ptCount val="6"/>
                <c:pt idx="0">
                  <c:v>979</c:v>
                </c:pt>
                <c:pt idx="1">
                  <c:v>907</c:v>
                </c:pt>
                <c:pt idx="2">
                  <c:v>1236</c:v>
                </c:pt>
                <c:pt idx="3">
                  <c:v>545</c:v>
                </c:pt>
                <c:pt idx="4">
                  <c:v>768</c:v>
                </c:pt>
                <c:pt idx="5">
                  <c:v>752</c:v>
                </c:pt>
              </c:numCache>
            </c:numRef>
          </c:val>
          <c:extLst>
            <c:ext xmlns:c16="http://schemas.microsoft.com/office/drawing/2014/chart" uri="{C3380CC4-5D6E-409C-BE32-E72D297353CC}">
              <c16:uniqueId val="{00000000-BFAD-4E93-B94C-848C271419B6}"/>
            </c:ext>
          </c:extLst>
        </c:ser>
        <c:ser>
          <c:idx val="1"/>
          <c:order val="1"/>
          <c:tx>
            <c:strRef>
              <c:f>Sheet1!$C$1</c:f>
              <c:strCache>
                <c:ptCount val="1"/>
                <c:pt idx="0">
                  <c:v>Corporate LS</c:v>
                </c:pt>
              </c:strCache>
            </c:strRef>
          </c:tx>
          <c:spPr>
            <a:solidFill>
              <a:srgbClr val="4A6FC4"/>
            </a:solidFill>
            <a:effectLst/>
          </c:spPr>
          <c:invertIfNegative val="0"/>
          <c:dLbls>
            <c:numFmt formatCode="#,##0;;" sourceLinked="0"/>
            <c:spPr>
              <a:noFill/>
              <a:ln>
                <a:noFill/>
              </a:ln>
              <a:effectLst/>
            </c:spPr>
            <c:txPr>
              <a:bodyPr/>
              <a:lstStyle/>
              <a:p>
                <a:pPr>
                  <a:defRPr sz="750" b="0" i="0" u="none" strike="noStrike">
                    <a:solidFill>
                      <a:srgbClr val="FFFFFF"/>
                    </a:solidFill>
                    <a:latin typeface="Calibri"/>
                  </a:defRPr>
                </a:pPr>
                <a:endParaRPr lang="en-US"/>
              </a:p>
            </c:txPr>
            <c:dLblPos val="ctr"/>
            <c:showLegendKey val="0"/>
            <c:showVal val="1"/>
            <c:showCatName val="0"/>
            <c:showSerName val="0"/>
            <c:showPercent val="0"/>
            <c:showBubbleSize val="0"/>
            <c:showLeaderLines val="0"/>
            <c:extLst>
              <c:ext xmlns:c15="http://schemas.microsoft.com/office/drawing/2012/chart" uri="{CE6537A1-D6FC-4f65-9D91-7224C49458BB}">
                <c15:showLeaderLines val="0"/>
              </c:ext>
            </c:extLst>
          </c:dLbls>
          <c:cat>
            <c:strRef>
              <c:f>Sheet1!$A$2:$A$7</c:f>
              <c:strCache>
                <c:ptCount val="6"/>
                <c:pt idx="0">
                  <c:v>Jan</c:v>
                </c:pt>
                <c:pt idx="1">
                  <c:v>Feb</c:v>
                </c:pt>
                <c:pt idx="2">
                  <c:v>Mar</c:v>
                </c:pt>
                <c:pt idx="3">
                  <c:v>Apr</c:v>
                </c:pt>
                <c:pt idx="4">
                  <c:v>May</c:v>
                </c:pt>
                <c:pt idx="5">
                  <c:v>Jun</c:v>
                </c:pt>
              </c:strCache>
            </c:strRef>
          </c:cat>
          <c:val>
            <c:numRef>
              <c:f>Sheet1!$C$2:$C$7</c:f>
              <c:numCache>
                <c:formatCode>General</c:formatCode>
                <c:ptCount val="6"/>
                <c:pt idx="0">
                  <c:v>2388</c:v>
                </c:pt>
                <c:pt idx="1">
                  <c:v>2430</c:v>
                </c:pt>
                <c:pt idx="2">
                  <c:v>2676</c:v>
                </c:pt>
                <c:pt idx="3">
                  <c:v>1683</c:v>
                </c:pt>
                <c:pt idx="4">
                  <c:v>2075</c:v>
                </c:pt>
                <c:pt idx="5">
                  <c:v>1844</c:v>
                </c:pt>
              </c:numCache>
            </c:numRef>
          </c:val>
          <c:extLst>
            <c:ext xmlns:c16="http://schemas.microsoft.com/office/drawing/2014/chart" uri="{C3380CC4-5D6E-409C-BE32-E72D297353CC}">
              <c16:uniqueId val="{00000001-BFAD-4E93-B94C-848C271419B6}"/>
            </c:ext>
          </c:extLst>
        </c:ser>
        <c:ser>
          <c:idx val="2"/>
          <c:order val="2"/>
          <c:tx>
            <c:strRef>
              <c:f>Sheet1!$D$1</c:f>
              <c:strCache>
                <c:ptCount val="1"/>
                <c:pt idx="0">
                  <c:v>Online</c:v>
                </c:pt>
              </c:strCache>
            </c:strRef>
          </c:tx>
          <c:spPr>
            <a:solidFill>
              <a:srgbClr val="7FA4DC"/>
            </a:solidFill>
            <a:effectLst/>
          </c:spPr>
          <c:invertIfNegative val="0"/>
          <c:dLbls>
            <c:numFmt formatCode="#,##0;;" sourceLinked="0"/>
            <c:spPr>
              <a:noFill/>
              <a:ln>
                <a:noFill/>
              </a:ln>
              <a:effectLst/>
            </c:spPr>
            <c:txPr>
              <a:bodyPr/>
              <a:lstStyle/>
              <a:p>
                <a:pPr>
                  <a:defRPr sz="750" b="0" i="0" u="none" strike="noStrike">
                    <a:solidFill>
                      <a:srgbClr val="FFFFFF"/>
                    </a:solidFill>
                    <a:latin typeface="Calibri"/>
                  </a:defRPr>
                </a:pPr>
                <a:endParaRPr lang="en-US"/>
              </a:p>
            </c:txPr>
            <c:dLblPos val="ctr"/>
            <c:showLegendKey val="0"/>
            <c:showVal val="1"/>
            <c:showCatName val="0"/>
            <c:showSerName val="0"/>
            <c:showPercent val="0"/>
            <c:showBubbleSize val="0"/>
            <c:showLeaderLines val="0"/>
            <c:extLst>
              <c:ext xmlns:c15="http://schemas.microsoft.com/office/drawing/2012/chart" uri="{CE6537A1-D6FC-4f65-9D91-7224C49458BB}">
                <c15:showLeaderLines val="0"/>
              </c:ext>
            </c:extLst>
          </c:dLbls>
          <c:cat>
            <c:strRef>
              <c:f>Sheet1!$A$2:$A$7</c:f>
              <c:strCache>
                <c:ptCount val="6"/>
                <c:pt idx="0">
                  <c:v>Jan</c:v>
                </c:pt>
                <c:pt idx="1">
                  <c:v>Feb</c:v>
                </c:pt>
                <c:pt idx="2">
                  <c:v>Mar</c:v>
                </c:pt>
                <c:pt idx="3">
                  <c:v>Apr</c:v>
                </c:pt>
                <c:pt idx="4">
                  <c:v>May</c:v>
                </c:pt>
                <c:pt idx="5">
                  <c:v>Jun</c:v>
                </c:pt>
              </c:strCache>
            </c:strRef>
          </c:cat>
          <c:val>
            <c:numRef>
              <c:f>Sheet1!$D$2:$D$7</c:f>
              <c:numCache>
                <c:formatCode>General</c:formatCode>
                <c:ptCount val="6"/>
                <c:pt idx="0">
                  <c:v>3257</c:v>
                </c:pt>
                <c:pt idx="1">
                  <c:v>3910</c:v>
                </c:pt>
                <c:pt idx="2">
                  <c:v>2690</c:v>
                </c:pt>
                <c:pt idx="3">
                  <c:v>2876</c:v>
                </c:pt>
                <c:pt idx="4">
                  <c:v>2049</c:v>
                </c:pt>
                <c:pt idx="5">
                  <c:v>2146</c:v>
                </c:pt>
              </c:numCache>
            </c:numRef>
          </c:val>
          <c:extLst>
            <c:ext xmlns:c16="http://schemas.microsoft.com/office/drawing/2014/chart" uri="{C3380CC4-5D6E-409C-BE32-E72D297353CC}">
              <c16:uniqueId val="{00000002-BFAD-4E93-B94C-848C271419B6}"/>
            </c:ext>
          </c:extLst>
        </c:ser>
        <c:ser>
          <c:idx val="3"/>
          <c:order val="3"/>
          <c:tx>
            <c:strRef>
              <c:f>Sheet1!$E$1</c:f>
              <c:strCache>
                <c:ptCount val="1"/>
                <c:pt idx="0">
                  <c:v>ASR</c:v>
                </c:pt>
              </c:strCache>
            </c:strRef>
          </c:tx>
          <c:spPr>
            <a:solidFill>
              <a:srgbClr val="AFC6EC"/>
            </a:solidFill>
            <a:effectLst/>
          </c:spPr>
          <c:invertIfNegative val="0"/>
          <c:dLbls>
            <c:numFmt formatCode="#,##0;;" sourceLinked="0"/>
            <c:spPr>
              <a:noFill/>
              <a:ln>
                <a:noFill/>
              </a:ln>
              <a:effectLst/>
            </c:spPr>
            <c:txPr>
              <a:bodyPr/>
              <a:lstStyle/>
              <a:p>
                <a:pPr>
                  <a:defRPr sz="750" b="0" i="0" u="none" strike="noStrike">
                    <a:solidFill>
                      <a:srgbClr val="FFFFFF"/>
                    </a:solidFill>
                    <a:latin typeface="Calibri"/>
                  </a:defRPr>
                </a:pPr>
                <a:endParaRPr lang="en-US"/>
              </a:p>
            </c:txPr>
            <c:dLblPos val="ctr"/>
            <c:showLegendKey val="0"/>
            <c:showVal val="1"/>
            <c:showCatName val="0"/>
            <c:showSerName val="0"/>
            <c:showPercent val="0"/>
            <c:showBubbleSize val="0"/>
            <c:showLeaderLines val="0"/>
            <c:extLst>
              <c:ext xmlns:c15="http://schemas.microsoft.com/office/drawing/2012/chart" uri="{CE6537A1-D6FC-4f65-9D91-7224C49458BB}">
                <c15:showLeaderLines val="0"/>
              </c:ext>
            </c:extLst>
          </c:dLbls>
          <c:cat>
            <c:strRef>
              <c:f>Sheet1!$A$2:$A$7</c:f>
              <c:strCache>
                <c:ptCount val="6"/>
                <c:pt idx="0">
                  <c:v>Jan</c:v>
                </c:pt>
                <c:pt idx="1">
                  <c:v>Feb</c:v>
                </c:pt>
                <c:pt idx="2">
                  <c:v>Mar</c:v>
                </c:pt>
                <c:pt idx="3">
                  <c:v>Apr</c:v>
                </c:pt>
                <c:pt idx="4">
                  <c:v>May</c:v>
                </c:pt>
                <c:pt idx="5">
                  <c:v>Jun</c:v>
                </c:pt>
              </c:strCache>
            </c:strRef>
          </c:cat>
          <c:val>
            <c:numRef>
              <c:f>Sheet1!$E$2:$E$7</c:f>
              <c:numCache>
                <c:formatCode>General</c:formatCode>
                <c:ptCount val="6"/>
                <c:pt idx="0">
                  <c:v>756</c:v>
                </c:pt>
                <c:pt idx="1">
                  <c:v>720</c:v>
                </c:pt>
                <c:pt idx="2">
                  <c:v>578</c:v>
                </c:pt>
                <c:pt idx="3">
                  <c:v>769</c:v>
                </c:pt>
                <c:pt idx="4">
                  <c:v>752</c:v>
                </c:pt>
                <c:pt idx="5">
                  <c:v>961</c:v>
                </c:pt>
              </c:numCache>
            </c:numRef>
          </c:val>
          <c:extLst>
            <c:ext xmlns:c16="http://schemas.microsoft.com/office/drawing/2014/chart" uri="{C3380CC4-5D6E-409C-BE32-E72D297353CC}">
              <c16:uniqueId val="{00000003-BFAD-4E93-B94C-848C271419B6}"/>
            </c:ext>
          </c:extLst>
        </c:ser>
        <c:ser>
          <c:idx val="4"/>
          <c:order val="4"/>
          <c:tx>
            <c:strRef>
              <c:f>Sheet1!$F$1</c:f>
              <c:strCache>
                <c:ptCount val="1"/>
                <c:pt idx="0">
                  <c:v>Wholesale</c:v>
                </c:pt>
              </c:strCache>
            </c:strRef>
          </c:tx>
          <c:spPr>
            <a:solidFill>
              <a:srgbClr val="D9A441"/>
            </a:solidFill>
            <a:effectLst/>
          </c:spPr>
          <c:invertIfNegative val="0"/>
          <c:dLbls>
            <c:numFmt formatCode="#,##0;;" sourceLinked="0"/>
            <c:spPr>
              <a:noFill/>
              <a:ln>
                <a:noFill/>
              </a:ln>
              <a:effectLst/>
            </c:spPr>
            <c:txPr>
              <a:bodyPr/>
              <a:lstStyle/>
              <a:p>
                <a:pPr>
                  <a:defRPr sz="750" b="0" i="0" u="none" strike="noStrike">
                    <a:solidFill>
                      <a:srgbClr val="FFFFFF"/>
                    </a:solidFill>
                    <a:latin typeface="Calibri"/>
                  </a:defRPr>
                </a:pPr>
                <a:endParaRPr lang="en-US"/>
              </a:p>
            </c:txPr>
            <c:dLblPos val="ctr"/>
            <c:showLegendKey val="0"/>
            <c:showVal val="1"/>
            <c:showCatName val="0"/>
            <c:showSerName val="0"/>
            <c:showPercent val="0"/>
            <c:showBubbleSize val="0"/>
            <c:showLeaderLines val="0"/>
            <c:extLst>
              <c:ext xmlns:c15="http://schemas.microsoft.com/office/drawing/2012/chart" uri="{CE6537A1-D6FC-4f65-9D91-7224C49458BB}">
                <c15:showLeaderLines val="0"/>
              </c:ext>
            </c:extLst>
          </c:dLbls>
          <c:cat>
            <c:strRef>
              <c:f>Sheet1!$A$2:$A$7</c:f>
              <c:strCache>
                <c:ptCount val="6"/>
                <c:pt idx="0">
                  <c:v>Jan</c:v>
                </c:pt>
                <c:pt idx="1">
                  <c:v>Feb</c:v>
                </c:pt>
                <c:pt idx="2">
                  <c:v>Mar</c:v>
                </c:pt>
                <c:pt idx="3">
                  <c:v>Apr</c:v>
                </c:pt>
                <c:pt idx="4">
                  <c:v>May</c:v>
                </c:pt>
                <c:pt idx="5">
                  <c:v>Jun</c:v>
                </c:pt>
              </c:strCache>
            </c:strRef>
          </c:cat>
          <c:val>
            <c:numRef>
              <c:f>Sheet1!$F$2:$F$7</c:f>
              <c:numCache>
                <c:formatCode>General</c:formatCode>
                <c:ptCount val="6"/>
                <c:pt idx="0">
                  <c:v>1479</c:v>
                </c:pt>
                <c:pt idx="1">
                  <c:v>2041</c:v>
                </c:pt>
                <c:pt idx="2">
                  <c:v>1382</c:v>
                </c:pt>
                <c:pt idx="3">
                  <c:v>711</c:v>
                </c:pt>
                <c:pt idx="4">
                  <c:v>1203</c:v>
                </c:pt>
                <c:pt idx="5">
                  <c:v>1315</c:v>
                </c:pt>
              </c:numCache>
            </c:numRef>
          </c:val>
          <c:extLst>
            <c:ext xmlns:c16="http://schemas.microsoft.com/office/drawing/2014/chart" uri="{C3380CC4-5D6E-409C-BE32-E72D297353CC}">
              <c16:uniqueId val="{00000004-BFAD-4E93-B94C-848C271419B6}"/>
            </c:ext>
          </c:extLst>
        </c:ser>
        <c:ser>
          <c:idx val="5"/>
          <c:order val="5"/>
          <c:tx>
            <c:strRef>
              <c:f>Sheet1!$G$1</c:f>
              <c:strCache>
                <c:ptCount val="1"/>
                <c:pt idx="0">
                  <c:v>Corporate Group</c:v>
                </c:pt>
              </c:strCache>
            </c:strRef>
          </c:tx>
          <c:spPr>
            <a:solidFill>
              <a:srgbClr val="8A5A83"/>
            </a:solidFill>
            <a:effectLst/>
          </c:spPr>
          <c:invertIfNegative val="0"/>
          <c:dLbls>
            <c:numFmt formatCode="#,##0;;" sourceLinked="0"/>
            <c:spPr>
              <a:noFill/>
              <a:ln>
                <a:noFill/>
              </a:ln>
              <a:effectLst/>
            </c:spPr>
            <c:txPr>
              <a:bodyPr/>
              <a:lstStyle/>
              <a:p>
                <a:pPr>
                  <a:defRPr sz="750" b="0" i="0" u="none" strike="noStrike">
                    <a:solidFill>
                      <a:srgbClr val="FFFFFF"/>
                    </a:solidFill>
                    <a:latin typeface="Calibri"/>
                  </a:defRPr>
                </a:pPr>
                <a:endParaRPr lang="en-US"/>
              </a:p>
            </c:txPr>
            <c:dLblPos val="ctr"/>
            <c:showLegendKey val="0"/>
            <c:showVal val="1"/>
            <c:showCatName val="0"/>
            <c:showSerName val="0"/>
            <c:showPercent val="0"/>
            <c:showBubbleSize val="0"/>
            <c:showLeaderLines val="0"/>
            <c:extLst>
              <c:ext xmlns:c15="http://schemas.microsoft.com/office/drawing/2012/chart" uri="{CE6537A1-D6FC-4f65-9D91-7224C49458BB}">
                <c15:showLeaderLines val="0"/>
              </c:ext>
            </c:extLst>
          </c:dLbls>
          <c:cat>
            <c:strRef>
              <c:f>Sheet1!$A$2:$A$7</c:f>
              <c:strCache>
                <c:ptCount val="6"/>
                <c:pt idx="0">
                  <c:v>Jan</c:v>
                </c:pt>
                <c:pt idx="1">
                  <c:v>Feb</c:v>
                </c:pt>
                <c:pt idx="2">
                  <c:v>Mar</c:v>
                </c:pt>
                <c:pt idx="3">
                  <c:v>Apr</c:v>
                </c:pt>
                <c:pt idx="4">
                  <c:v>May</c:v>
                </c:pt>
                <c:pt idx="5">
                  <c:v>Jun</c:v>
                </c:pt>
              </c:strCache>
            </c:strRef>
          </c:cat>
          <c:val>
            <c:numRef>
              <c:f>Sheet1!$G$2:$G$7</c:f>
              <c:numCache>
                <c:formatCode>General</c:formatCode>
                <c:ptCount val="6"/>
                <c:pt idx="0">
                  <c:v>294</c:v>
                </c:pt>
                <c:pt idx="1">
                  <c:v>126</c:v>
                </c:pt>
                <c:pt idx="2">
                  <c:v>502</c:v>
                </c:pt>
                <c:pt idx="3">
                  <c:v>941</c:v>
                </c:pt>
                <c:pt idx="4">
                  <c:v>193</c:v>
                </c:pt>
                <c:pt idx="5">
                  <c:v>0</c:v>
                </c:pt>
              </c:numCache>
            </c:numRef>
          </c:val>
          <c:extLst>
            <c:ext xmlns:c16="http://schemas.microsoft.com/office/drawing/2014/chart" uri="{C3380CC4-5D6E-409C-BE32-E72D297353CC}">
              <c16:uniqueId val="{00000005-BFAD-4E93-B94C-848C271419B6}"/>
            </c:ext>
          </c:extLst>
        </c:ser>
        <c:ser>
          <c:idx val="6"/>
          <c:order val="6"/>
          <c:tx>
            <c:strRef>
              <c:f>Sheet1!$H$1</c:f>
              <c:strCache>
                <c:ptCount val="1"/>
                <c:pt idx="0">
                  <c:v>Employee</c:v>
                </c:pt>
              </c:strCache>
            </c:strRef>
          </c:tx>
          <c:spPr>
            <a:solidFill>
              <a:srgbClr val="2F8F83"/>
            </a:solidFill>
            <a:effectLst/>
          </c:spPr>
          <c:invertIfNegative val="0"/>
          <c:dLbls>
            <c:numFmt formatCode="#,##0;;" sourceLinked="0"/>
            <c:spPr>
              <a:noFill/>
              <a:ln>
                <a:noFill/>
              </a:ln>
              <a:effectLst/>
            </c:spPr>
            <c:txPr>
              <a:bodyPr/>
              <a:lstStyle/>
              <a:p>
                <a:pPr>
                  <a:defRPr sz="750" b="0" i="0" u="none" strike="noStrike">
                    <a:solidFill>
                      <a:srgbClr val="FFFFFF"/>
                    </a:solidFill>
                    <a:latin typeface="Calibri"/>
                  </a:defRPr>
                </a:pPr>
                <a:endParaRPr lang="en-US"/>
              </a:p>
            </c:txPr>
            <c:dLblPos val="ctr"/>
            <c:showLegendKey val="0"/>
            <c:showVal val="1"/>
            <c:showCatName val="0"/>
            <c:showSerName val="0"/>
            <c:showPercent val="0"/>
            <c:showBubbleSize val="0"/>
            <c:showLeaderLines val="0"/>
            <c:extLst>
              <c:ext xmlns:c15="http://schemas.microsoft.com/office/drawing/2012/chart" uri="{CE6537A1-D6FC-4f65-9D91-7224C49458BB}">
                <c15:showLeaderLines val="0"/>
              </c:ext>
            </c:extLst>
          </c:dLbls>
          <c:cat>
            <c:strRef>
              <c:f>Sheet1!$A$2:$A$7</c:f>
              <c:strCache>
                <c:ptCount val="6"/>
                <c:pt idx="0">
                  <c:v>Jan</c:v>
                </c:pt>
                <c:pt idx="1">
                  <c:v>Feb</c:v>
                </c:pt>
                <c:pt idx="2">
                  <c:v>Mar</c:v>
                </c:pt>
                <c:pt idx="3">
                  <c:v>Apr</c:v>
                </c:pt>
                <c:pt idx="4">
                  <c:v>May</c:v>
                </c:pt>
                <c:pt idx="5">
                  <c:v>Jun</c:v>
                </c:pt>
              </c:strCache>
            </c:strRef>
          </c:cat>
          <c:val>
            <c:numRef>
              <c:f>Sheet1!$H$2:$H$7</c:f>
              <c:numCache>
                <c:formatCode>General</c:formatCode>
                <c:ptCount val="6"/>
                <c:pt idx="0">
                  <c:v>33</c:v>
                </c:pt>
                <c:pt idx="1">
                  <c:v>30</c:v>
                </c:pt>
                <c:pt idx="2">
                  <c:v>17</c:v>
                </c:pt>
                <c:pt idx="3">
                  <c:v>23</c:v>
                </c:pt>
                <c:pt idx="4">
                  <c:v>46</c:v>
                </c:pt>
                <c:pt idx="5">
                  <c:v>40</c:v>
                </c:pt>
              </c:numCache>
            </c:numRef>
          </c:val>
          <c:extLst>
            <c:ext xmlns:c16="http://schemas.microsoft.com/office/drawing/2014/chart" uri="{C3380CC4-5D6E-409C-BE32-E72D297353CC}">
              <c16:uniqueId val="{00000006-BFAD-4E93-B94C-848C271419B6}"/>
            </c:ext>
          </c:extLst>
        </c:ser>
        <c:dLbls>
          <c:dLblPos val="ctr"/>
          <c:showLegendKey val="0"/>
          <c:showVal val="1"/>
          <c:showCatName val="0"/>
          <c:showSerName val="0"/>
          <c:showPercent val="0"/>
          <c:showBubbleSize val="0"/>
        </c:dLbls>
        <c:gapWidth val="45"/>
        <c:overlap val="100"/>
        <c:axId val="2094734554"/>
        <c:axId val="2094734552"/>
      </c:barChart>
      <c:catAx>
        <c:axId val="2094734554"/>
        <c:scaling>
          <c:orientation val="minMax"/>
        </c:scaling>
        <c:delete val="0"/>
        <c:axPos val="b"/>
        <c:numFmt formatCode="General" sourceLinked="1"/>
        <c:majorTickMark val="out"/>
        <c:minorTickMark val="none"/>
        <c:tickLblPos val="low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1000" b="0" i="0" u="none" strike="noStrike">
                <a:solidFill>
                  <a:srgbClr val="6B7280"/>
                </a:solidFill>
                <a:latin typeface="Calibri"/>
              </a:defRPr>
            </a:pPr>
            <a:endParaRPr lang="en-US"/>
          </a:p>
        </c:txPr>
        <c:crossAx val="2094734552"/>
        <c:crosses val="autoZero"/>
        <c:auto val="1"/>
        <c:lblAlgn val="ctr"/>
        <c:lblOffset val="100"/>
        <c:noMultiLvlLbl val="1"/>
      </c:catAx>
      <c:valAx>
        <c:axId val="2094734552"/>
        <c:scaling>
          <c:orientation val="minMax"/>
        </c:scaling>
        <c:delete val="0"/>
        <c:axPos val="l"/>
        <c:majorGridlines>
          <c:spPr>
            <a:ln w="6350" cap="flat">
              <a:solidFill>
                <a:srgbClr val="E5E8EF"/>
              </a:solidFill>
              <a:prstDash val="solid"/>
              <a:round/>
            </a:ln>
          </c:spPr>
        </c:majorGridlines>
        <c:numFmt formatCode="General" sourceLinked="0"/>
        <c:majorTickMark val="out"/>
        <c:minorTickMark val="none"/>
        <c:tickLblPos val="nextTo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950" b="0" i="0" u="none" strike="noStrike">
                <a:solidFill>
                  <a:srgbClr val="6B7280"/>
                </a:solidFill>
                <a:latin typeface="Calibri"/>
              </a:defRPr>
            </a:pPr>
            <a:endParaRPr lang="en-US"/>
          </a:p>
        </c:txPr>
        <c:crossAx val="2094734554"/>
        <c:crosses val="autoZero"/>
        <c:crossBetween val="between"/>
      </c:valAx>
      <c:spPr>
        <a:noFill/>
        <a:ln>
          <a:noFill/>
        </a:ln>
        <a:effectLst/>
      </c:spPr>
    </c:plotArea>
    <c:legend>
      <c:legendPos val="b"/>
      <c:overlay val="0"/>
      <c:txPr>
        <a:bodyPr/>
        <a:lstStyle/>
        <a:p>
          <a:pPr>
            <a:defRPr sz="1000">
              <a:solidFill>
                <a:srgbClr val="26292E"/>
              </a:solidFill>
              <a:latin typeface="Calibri"/>
              <a:cs typeface="Calibri"/>
            </a:defRPr>
          </a:pPr>
          <a:endParaRPr lang="en-US"/>
        </a:p>
      </c:txPr>
    </c:legend>
    <c:plotVisOnly val="1"/>
    <c:dispBlanksAs val="span"/>
    <c:showDLblsOverMax val="1"/>
  </c:chart>
  <c:spPr>
    <a:noFill/>
    <a:ln>
      <a:noFill/>
    </a:ln>
    <a:effectLst/>
  </c:spPr>
  <c:externalData r:id="rId1">
    <c:autoUpdate val="0"/>
  </c:externalData>
</c:chartSpace>
</file>

<file path=ppt/charts/chart28.xml><?xml version="1.0" encoding="utf-8"?>
<c:chartSpace xmlns:c="http://schemas.openxmlformats.org/drawingml/2006/chart" xmlns:a="http://schemas.openxmlformats.org/drawingml/2006/main" xmlns:r="http://schemas.openxmlformats.org/officeDocument/2006/relationships" xmlns:c16r2="http://schemas.microsoft.com/office/drawing/2015/06/chart">
  <c:date1904 val="0"/>
  <c:lang val="en-US"/>
  <c:roundedCorners val="1"/>
  <c:style val="2"/>
  <c:chart>
    <c:title>
      <c:tx>
        <c:rich>
          <a:bodyPr/>
          <a:lstStyle/>
          <a:p>
            <a:pPr>
              <a:defRPr sz="1300" b="0" i="0" u="none" strike="noStrike">
                <a:solidFill>
                  <a:srgbClr val="1E2761"/>
                </a:solidFill>
                <a:latin typeface="Calibri"/>
              </a:defRPr>
            </a:pPr>
            <a:r>
              <a:rPr lang="en-US" sz="1300" b="0" i="0" u="none" strike="noStrike">
                <a:solidFill>
                  <a:srgbClr val="1E2761"/>
                </a:solidFill>
                <a:latin typeface="Calibri"/>
              </a:rPr>
              <a:t>YTD mix (50,123 RN)</a:t>
            </a:r>
          </a:p>
        </c:rich>
      </c:tx>
      <c:overlay val="0"/>
    </c:title>
    <c:autoTitleDeleted val="0"/>
    <c:plotArea>
      <c:layout/>
      <c:doughnutChart>
        <c:varyColors val="1"/>
        <c:ser>
          <c:idx val="0"/>
          <c:order val="0"/>
          <c:tx>
            <c:strRef>
              <c:f>Sheet1!$B$1</c:f>
              <c:strCache>
                <c:ptCount val="1"/>
                <c:pt idx="0">
                  <c:v>YTD</c:v>
                </c:pt>
              </c:strCache>
            </c:strRef>
          </c:tx>
          <c:spPr>
            <a:solidFill>
              <a:schemeClr val="accent1"/>
            </a:solidFill>
            <a:ln w="9525" cap="flat">
              <a:solidFill>
                <a:srgbClr val="F9F9F9"/>
              </a:solidFill>
              <a:prstDash val="solid"/>
              <a:round/>
            </a:ln>
            <a:effectLst/>
          </c:spPr>
          <c:dPt>
            <c:idx val="0"/>
            <c:bubble3D val="0"/>
            <c:spPr>
              <a:solidFill>
                <a:srgbClr val="1E2761"/>
              </a:solidFill>
              <a:effectLst/>
            </c:spPr>
            <c:extLst>
              <c:ext xmlns:c16="http://schemas.microsoft.com/office/drawing/2014/chart" uri="{C3380CC4-5D6E-409C-BE32-E72D297353CC}">
                <c16:uniqueId val="{00000001-1279-4F19-93D3-ED11D50173E7}"/>
              </c:ext>
            </c:extLst>
          </c:dPt>
          <c:dPt>
            <c:idx val="1"/>
            <c:bubble3D val="0"/>
            <c:spPr>
              <a:solidFill>
                <a:srgbClr val="4A6FC4"/>
              </a:solidFill>
              <a:effectLst/>
            </c:spPr>
            <c:extLst>
              <c:ext xmlns:c16="http://schemas.microsoft.com/office/drawing/2014/chart" uri="{C3380CC4-5D6E-409C-BE32-E72D297353CC}">
                <c16:uniqueId val="{00000003-1279-4F19-93D3-ED11D50173E7}"/>
              </c:ext>
            </c:extLst>
          </c:dPt>
          <c:dPt>
            <c:idx val="2"/>
            <c:bubble3D val="0"/>
            <c:spPr>
              <a:solidFill>
                <a:srgbClr val="7FA4DC"/>
              </a:solidFill>
              <a:effectLst/>
            </c:spPr>
            <c:extLst>
              <c:ext xmlns:c16="http://schemas.microsoft.com/office/drawing/2014/chart" uri="{C3380CC4-5D6E-409C-BE32-E72D297353CC}">
                <c16:uniqueId val="{00000005-1279-4F19-93D3-ED11D50173E7}"/>
              </c:ext>
            </c:extLst>
          </c:dPt>
          <c:dPt>
            <c:idx val="3"/>
            <c:bubble3D val="0"/>
            <c:spPr>
              <a:solidFill>
                <a:srgbClr val="AFC6EC"/>
              </a:solidFill>
              <a:effectLst/>
            </c:spPr>
            <c:extLst>
              <c:ext xmlns:c16="http://schemas.microsoft.com/office/drawing/2014/chart" uri="{C3380CC4-5D6E-409C-BE32-E72D297353CC}">
                <c16:uniqueId val="{00000007-1279-4F19-93D3-ED11D50173E7}"/>
              </c:ext>
            </c:extLst>
          </c:dPt>
          <c:dPt>
            <c:idx val="4"/>
            <c:bubble3D val="0"/>
            <c:spPr>
              <a:solidFill>
                <a:srgbClr val="D9A441"/>
              </a:solidFill>
              <a:effectLst/>
            </c:spPr>
            <c:extLst>
              <c:ext xmlns:c16="http://schemas.microsoft.com/office/drawing/2014/chart" uri="{C3380CC4-5D6E-409C-BE32-E72D297353CC}">
                <c16:uniqueId val="{00000009-1279-4F19-93D3-ED11D50173E7}"/>
              </c:ext>
            </c:extLst>
          </c:dPt>
          <c:dPt>
            <c:idx val="5"/>
            <c:bubble3D val="0"/>
            <c:spPr>
              <a:solidFill>
                <a:srgbClr val="8A5A83"/>
              </a:solidFill>
              <a:effectLst/>
            </c:spPr>
            <c:extLst>
              <c:ext xmlns:c16="http://schemas.microsoft.com/office/drawing/2014/chart" uri="{C3380CC4-5D6E-409C-BE32-E72D297353CC}">
                <c16:uniqueId val="{0000000B-1279-4F19-93D3-ED11D50173E7}"/>
              </c:ext>
            </c:extLst>
          </c:dPt>
          <c:dPt>
            <c:idx val="6"/>
            <c:bubble3D val="0"/>
            <c:spPr>
              <a:solidFill>
                <a:srgbClr val="2F8F83"/>
              </a:solidFill>
              <a:effectLst/>
            </c:spPr>
            <c:extLst>
              <c:ext xmlns:c16="http://schemas.microsoft.com/office/drawing/2014/chart" uri="{C3380CC4-5D6E-409C-BE32-E72D297353CC}">
                <c16:uniqueId val="{0000000D-1279-4F19-93D3-ED11D50173E7}"/>
              </c:ext>
            </c:extLst>
          </c:dPt>
          <c:dLbls>
            <c:dLbl>
              <c:idx val="0"/>
              <c:numFmt formatCode="0%" sourceLinked="0"/>
              <c:spPr/>
              <c:txPr>
                <a:bodyPr/>
                <a:lstStyle/>
                <a:p>
                  <a:pPr>
                    <a:defRPr sz="900" b="0" i="0" u="none" strike="noStrike">
                      <a:solidFill>
                        <a:srgbClr val="FFFFFF"/>
                      </a:solidFill>
                      <a:latin typeface="Calibri"/>
                    </a:defRPr>
                  </a:pPr>
                  <a:endParaRPr lang="en-US"/>
                </a:p>
              </c:txPr>
              <c:showLegendKey val="0"/>
              <c:showVal val="0"/>
              <c:showCatName val="0"/>
              <c:showSerName val="0"/>
              <c:showPercent val="1"/>
              <c:showBubbleSize val="0"/>
              <c:extLst>
                <c:ext xmlns:c15="http://schemas.microsoft.com/office/drawing/2012/chart" uri="{CE6537A1-D6FC-4f65-9D91-7224C49458BB}"/>
                <c:ext xmlns:c16="http://schemas.microsoft.com/office/drawing/2014/chart" uri="{C3380CC4-5D6E-409C-BE32-E72D297353CC}">
                  <c16:uniqueId val="{00000001-1279-4F19-93D3-ED11D50173E7}"/>
                </c:ext>
              </c:extLst>
            </c:dLbl>
            <c:dLbl>
              <c:idx val="1"/>
              <c:numFmt formatCode="0%" sourceLinked="0"/>
              <c:spPr/>
              <c:txPr>
                <a:bodyPr/>
                <a:lstStyle/>
                <a:p>
                  <a:pPr>
                    <a:defRPr sz="900" b="0" i="0" u="none" strike="noStrike">
                      <a:solidFill>
                        <a:srgbClr val="FFFFFF"/>
                      </a:solidFill>
                      <a:latin typeface="Calibri"/>
                    </a:defRPr>
                  </a:pPr>
                  <a:endParaRPr lang="en-US"/>
                </a:p>
              </c:txPr>
              <c:showLegendKey val="0"/>
              <c:showVal val="0"/>
              <c:showCatName val="0"/>
              <c:showSerName val="0"/>
              <c:showPercent val="1"/>
              <c:showBubbleSize val="0"/>
              <c:extLst>
                <c:ext xmlns:c15="http://schemas.microsoft.com/office/drawing/2012/chart" uri="{CE6537A1-D6FC-4f65-9D91-7224C49458BB}"/>
                <c:ext xmlns:c16="http://schemas.microsoft.com/office/drawing/2014/chart" uri="{C3380CC4-5D6E-409C-BE32-E72D297353CC}">
                  <c16:uniqueId val="{00000003-1279-4F19-93D3-ED11D50173E7}"/>
                </c:ext>
              </c:extLst>
            </c:dLbl>
            <c:dLbl>
              <c:idx val="2"/>
              <c:numFmt formatCode="0%" sourceLinked="0"/>
              <c:spPr/>
              <c:txPr>
                <a:bodyPr/>
                <a:lstStyle/>
                <a:p>
                  <a:pPr>
                    <a:defRPr sz="900" b="0" i="0" u="none" strike="noStrike">
                      <a:solidFill>
                        <a:srgbClr val="FFFFFF"/>
                      </a:solidFill>
                      <a:latin typeface="Calibri"/>
                    </a:defRPr>
                  </a:pPr>
                  <a:endParaRPr lang="en-US"/>
                </a:p>
              </c:txPr>
              <c:showLegendKey val="0"/>
              <c:showVal val="0"/>
              <c:showCatName val="0"/>
              <c:showSerName val="0"/>
              <c:showPercent val="1"/>
              <c:showBubbleSize val="0"/>
              <c:extLst>
                <c:ext xmlns:c15="http://schemas.microsoft.com/office/drawing/2012/chart" uri="{CE6537A1-D6FC-4f65-9D91-7224C49458BB}"/>
                <c:ext xmlns:c16="http://schemas.microsoft.com/office/drawing/2014/chart" uri="{C3380CC4-5D6E-409C-BE32-E72D297353CC}">
                  <c16:uniqueId val="{00000005-1279-4F19-93D3-ED11D50173E7}"/>
                </c:ext>
              </c:extLst>
            </c:dLbl>
            <c:dLbl>
              <c:idx val="3"/>
              <c:numFmt formatCode="0%" sourceLinked="0"/>
              <c:spPr/>
              <c:txPr>
                <a:bodyPr/>
                <a:lstStyle/>
                <a:p>
                  <a:pPr>
                    <a:defRPr sz="900" b="0" i="0" u="none" strike="noStrike">
                      <a:solidFill>
                        <a:srgbClr val="FFFFFF"/>
                      </a:solidFill>
                      <a:latin typeface="Calibri"/>
                    </a:defRPr>
                  </a:pPr>
                  <a:endParaRPr lang="en-US"/>
                </a:p>
              </c:txPr>
              <c:showLegendKey val="0"/>
              <c:showVal val="0"/>
              <c:showCatName val="0"/>
              <c:showSerName val="0"/>
              <c:showPercent val="1"/>
              <c:showBubbleSize val="0"/>
              <c:extLst>
                <c:ext xmlns:c15="http://schemas.microsoft.com/office/drawing/2012/chart" uri="{CE6537A1-D6FC-4f65-9D91-7224C49458BB}"/>
                <c:ext xmlns:c16="http://schemas.microsoft.com/office/drawing/2014/chart" uri="{C3380CC4-5D6E-409C-BE32-E72D297353CC}">
                  <c16:uniqueId val="{00000007-1279-4F19-93D3-ED11D50173E7}"/>
                </c:ext>
              </c:extLst>
            </c:dLbl>
            <c:dLbl>
              <c:idx val="4"/>
              <c:numFmt formatCode="0%" sourceLinked="0"/>
              <c:spPr/>
              <c:txPr>
                <a:bodyPr/>
                <a:lstStyle/>
                <a:p>
                  <a:pPr>
                    <a:defRPr sz="900" b="0" i="0" u="none" strike="noStrike">
                      <a:solidFill>
                        <a:srgbClr val="FFFFFF"/>
                      </a:solidFill>
                      <a:latin typeface="Calibri"/>
                    </a:defRPr>
                  </a:pPr>
                  <a:endParaRPr lang="en-US"/>
                </a:p>
              </c:txPr>
              <c:showLegendKey val="0"/>
              <c:showVal val="0"/>
              <c:showCatName val="0"/>
              <c:showSerName val="0"/>
              <c:showPercent val="1"/>
              <c:showBubbleSize val="0"/>
              <c:extLst>
                <c:ext xmlns:c15="http://schemas.microsoft.com/office/drawing/2012/chart" uri="{CE6537A1-D6FC-4f65-9D91-7224C49458BB}"/>
                <c:ext xmlns:c16="http://schemas.microsoft.com/office/drawing/2014/chart" uri="{C3380CC4-5D6E-409C-BE32-E72D297353CC}">
                  <c16:uniqueId val="{00000009-1279-4F19-93D3-ED11D50173E7}"/>
                </c:ext>
              </c:extLst>
            </c:dLbl>
            <c:dLbl>
              <c:idx val="5"/>
              <c:numFmt formatCode="0%" sourceLinked="0"/>
              <c:spPr/>
              <c:txPr>
                <a:bodyPr/>
                <a:lstStyle/>
                <a:p>
                  <a:pPr>
                    <a:defRPr sz="900" b="0" i="0" u="none" strike="noStrike">
                      <a:solidFill>
                        <a:srgbClr val="FFFFFF"/>
                      </a:solidFill>
                      <a:latin typeface="Calibri"/>
                    </a:defRPr>
                  </a:pPr>
                  <a:endParaRPr lang="en-US"/>
                </a:p>
              </c:txPr>
              <c:showLegendKey val="0"/>
              <c:showVal val="0"/>
              <c:showCatName val="0"/>
              <c:showSerName val="0"/>
              <c:showPercent val="1"/>
              <c:showBubbleSize val="0"/>
              <c:extLst>
                <c:ext xmlns:c15="http://schemas.microsoft.com/office/drawing/2012/chart" uri="{CE6537A1-D6FC-4f65-9D91-7224C49458BB}"/>
                <c:ext xmlns:c16="http://schemas.microsoft.com/office/drawing/2014/chart" uri="{C3380CC4-5D6E-409C-BE32-E72D297353CC}">
                  <c16:uniqueId val="{0000000B-1279-4F19-93D3-ED11D50173E7}"/>
                </c:ext>
              </c:extLst>
            </c:dLbl>
            <c:dLbl>
              <c:idx val="6"/>
              <c:numFmt formatCode="0%" sourceLinked="0"/>
              <c:spPr/>
              <c:txPr>
                <a:bodyPr/>
                <a:lstStyle/>
                <a:p>
                  <a:pPr>
                    <a:defRPr sz="900" b="0" i="0" u="none" strike="noStrike">
                      <a:solidFill>
                        <a:srgbClr val="FFFFFF"/>
                      </a:solidFill>
                      <a:latin typeface="Calibri"/>
                    </a:defRPr>
                  </a:pPr>
                  <a:endParaRPr lang="en-US"/>
                </a:p>
              </c:txPr>
              <c:showLegendKey val="0"/>
              <c:showVal val="0"/>
              <c:showCatName val="0"/>
              <c:showSerName val="0"/>
              <c:showPercent val="1"/>
              <c:showBubbleSize val="0"/>
              <c:extLst>
                <c:ext xmlns:c15="http://schemas.microsoft.com/office/drawing/2012/chart" uri="{CE6537A1-D6FC-4f65-9D91-7224C49458BB}"/>
                <c:ext xmlns:c16="http://schemas.microsoft.com/office/drawing/2014/chart" uri="{C3380CC4-5D6E-409C-BE32-E72D297353CC}">
                  <c16:uniqueId val="{0000000D-1279-4F19-93D3-ED11D50173E7}"/>
                </c:ext>
              </c:extLst>
            </c:dLbl>
            <c:numFmt formatCode="0%" sourceLinked="0"/>
            <c:spPr>
              <a:noFill/>
              <a:ln>
                <a:noFill/>
              </a:ln>
              <a:effectLst/>
            </c:spPr>
            <c:txPr>
              <a:bodyPr/>
              <a:lstStyle/>
              <a:p>
                <a:pPr>
                  <a:defRPr sz="1800" b="0" i="0" u="none" strike="noStrike">
                    <a:solidFill>
                      <a:srgbClr val="000000"/>
                    </a:solidFill>
                    <a:latin typeface="Arial"/>
                  </a:defRPr>
                </a:pPr>
                <a:endParaRPr lang="en-US"/>
              </a:p>
            </c:txPr>
            <c:showLegendKey val="0"/>
            <c:showVal val="0"/>
            <c:showCatName val="1"/>
            <c:showSerName val="0"/>
            <c:showPercent val="1"/>
            <c:showBubbleSize val="0"/>
            <c:showLeaderLines val="0"/>
            <c:extLst>
              <c:ext xmlns:c15="http://schemas.microsoft.com/office/drawing/2012/chart" uri="{CE6537A1-D6FC-4f65-9D91-7224C49458BB}"/>
            </c:extLst>
          </c:dLbls>
          <c:cat>
            <c:strRef>
              <c:f>Sheet1!$A$2:$A$8</c:f>
              <c:strCache>
                <c:ptCount val="7"/>
                <c:pt idx="0">
                  <c:v>Corporate SS</c:v>
                </c:pt>
                <c:pt idx="1">
                  <c:v>Corporate LS</c:v>
                </c:pt>
                <c:pt idx="2">
                  <c:v>Online</c:v>
                </c:pt>
                <c:pt idx="3">
                  <c:v>ASR</c:v>
                </c:pt>
                <c:pt idx="4">
                  <c:v>Wholesale</c:v>
                </c:pt>
                <c:pt idx="5">
                  <c:v>Corporate Group</c:v>
                </c:pt>
                <c:pt idx="6">
                  <c:v>Employee</c:v>
                </c:pt>
              </c:strCache>
            </c:strRef>
          </c:cat>
          <c:val>
            <c:numRef>
              <c:f>Sheet1!$B$2:$B$8</c:f>
              <c:numCache>
                <c:formatCode>General</c:formatCode>
                <c:ptCount val="7"/>
                <c:pt idx="0">
                  <c:v>5187</c:v>
                </c:pt>
                <c:pt idx="1">
                  <c:v>13096</c:v>
                </c:pt>
                <c:pt idx="2">
                  <c:v>16928</c:v>
                </c:pt>
                <c:pt idx="3">
                  <c:v>4536</c:v>
                </c:pt>
                <c:pt idx="4">
                  <c:v>8131</c:v>
                </c:pt>
                <c:pt idx="5">
                  <c:v>2056</c:v>
                </c:pt>
                <c:pt idx="6">
                  <c:v>189</c:v>
                </c:pt>
              </c:numCache>
            </c:numRef>
          </c:val>
          <c:extLst>
            <c:ext xmlns:c16="http://schemas.microsoft.com/office/drawing/2014/chart" uri="{C3380CC4-5D6E-409C-BE32-E72D297353CC}">
              <c16:uniqueId val="{0000000E-1279-4F19-93D3-ED11D50173E7}"/>
            </c:ext>
          </c:extLst>
        </c:ser>
        <c:dLbls>
          <c:showLegendKey val="0"/>
          <c:showVal val="0"/>
          <c:showCatName val="0"/>
          <c:showSerName val="0"/>
          <c:showPercent val="0"/>
          <c:showBubbleSize val="0"/>
          <c:showLeaderLines val="0"/>
        </c:dLbls>
        <c:firstSliceAng val="0"/>
        <c:holeSize val="55"/>
      </c:doughnutChart>
      <c:spPr>
        <a:noFill/>
        <a:ln>
          <a:noFill/>
        </a:ln>
        <a:effectLst/>
      </c:spPr>
    </c:plotArea>
    <c:legend>
      <c:legendPos val="r"/>
      <c:overlay val="0"/>
      <c:txPr>
        <a:bodyPr/>
        <a:lstStyle/>
        <a:p>
          <a:pPr>
            <a:defRPr sz="950">
              <a:solidFill>
                <a:srgbClr val="26292E"/>
              </a:solidFill>
              <a:latin typeface="Calibri"/>
              <a:cs typeface="Calibri"/>
            </a:defRPr>
          </a:pPr>
          <a:endParaRPr lang="en-US"/>
        </a:p>
      </c:txPr>
    </c:legend>
    <c:plotVisOnly val="1"/>
    <c:dispBlanksAs val="span"/>
    <c:showDLblsOverMax val="1"/>
  </c:chart>
  <c:spPr>
    <a:noFill/>
    <a:ln>
      <a:noFill/>
    </a:ln>
    <a:effectLst/>
  </c:spPr>
  <c:externalData r:id="rId1">
    <c:autoUpdate val="0"/>
  </c:externalData>
</c:chartSpace>
</file>

<file path=ppt/charts/chart29.xml><?xml version="1.0" encoding="utf-8"?>
<c:chartSpace xmlns:c="http://schemas.openxmlformats.org/drawingml/2006/chart" xmlns:a="http://schemas.openxmlformats.org/drawingml/2006/main" xmlns:r="http://schemas.openxmlformats.org/officeDocument/2006/relationships" xmlns:c16r2="http://schemas.microsoft.com/office/drawing/2015/06/chart">
  <c:date1904 val="0"/>
  <c:lang val="en-US"/>
  <c:roundedCorners val="1"/>
  <c:style val="2"/>
  <c:chart>
    <c:title>
      <c:tx>
        <c:rich>
          <a:bodyPr/>
          <a:lstStyle/>
          <a:p>
            <a:pPr>
              <a:defRPr sz="1300" b="0" i="0" u="none" strike="noStrike">
                <a:solidFill>
                  <a:srgbClr val="1E2761"/>
                </a:solidFill>
                <a:latin typeface="Calibri"/>
              </a:defRPr>
            </a:pPr>
            <a:r>
              <a:rPr lang="en-US" sz="1300" b="0" i="0" u="none" strike="noStrike">
                <a:solidFill>
                  <a:srgbClr val="1E2761"/>
                </a:solidFill>
                <a:latin typeface="Calibri"/>
              </a:rPr>
              <a:t>Room nights H1 (Jan–Jun)</a:t>
            </a:r>
          </a:p>
        </c:rich>
      </c:tx>
      <c:overlay val="0"/>
    </c:title>
    <c:autoTitleDeleted val="0"/>
    <c:plotArea>
      <c:layout/>
      <c:barChart>
        <c:barDir val="bar"/>
        <c:grouping val="clustered"/>
        <c:varyColors val="0"/>
        <c:ser>
          <c:idx val="0"/>
          <c:order val="0"/>
          <c:tx>
            <c:strRef>
              <c:f>Sheet1!$B$1</c:f>
              <c:strCache>
                <c:ptCount val="1"/>
                <c:pt idx="0">
                  <c:v>2025 H1</c:v>
                </c:pt>
              </c:strCache>
            </c:strRef>
          </c:tx>
          <c:spPr>
            <a:solidFill>
              <a:srgbClr val="7FA4DC"/>
            </a:solidFill>
            <a:effectLst/>
          </c:spPr>
          <c:invertIfNegative val="0"/>
          <c:dLbls>
            <c:numFmt formatCode="#,##0;;" sourceLinked="0"/>
            <c:spPr>
              <a:noFill/>
              <a:ln>
                <a:noFill/>
              </a:ln>
              <a:effectLst/>
            </c:spPr>
            <c:txPr>
              <a:bodyPr/>
              <a:lstStyle/>
              <a:p>
                <a:pPr>
                  <a:defRPr sz="800" b="0" i="0" u="none" strike="noStrike">
                    <a:solidFill>
                      <a:srgbClr val="6B7280"/>
                    </a:solidFill>
                    <a:latin typeface="Calibri"/>
                  </a:defRPr>
                </a:pPr>
                <a:endParaRPr lang="en-US"/>
              </a:p>
            </c:txPr>
            <c:showLegendKey val="0"/>
            <c:showVal val="1"/>
            <c:showCatName val="0"/>
            <c:showSerName val="0"/>
            <c:showPercent val="0"/>
            <c:showBubbleSize val="0"/>
            <c:showLeaderLines val="0"/>
            <c:extLst>
              <c:ext xmlns:c15="http://schemas.microsoft.com/office/drawing/2012/chart" uri="{CE6537A1-D6FC-4f65-9D91-7224C49458BB}">
                <c15:showLeaderLines val="0"/>
              </c:ext>
            </c:extLst>
          </c:dLbls>
          <c:cat>
            <c:strRef>
              <c:f>Sheet1!$A$2:$A$11</c:f>
              <c:strCache>
                <c:ptCount val="10"/>
                <c:pt idx="0">
                  <c:v>China</c:v>
                </c:pt>
                <c:pt idx="1">
                  <c:v>Japan</c:v>
                </c:pt>
                <c:pt idx="2">
                  <c:v>Finland</c:v>
                </c:pt>
                <c:pt idx="3">
                  <c:v>Singapore</c:v>
                </c:pt>
                <c:pt idx="4">
                  <c:v>USA</c:v>
                </c:pt>
                <c:pt idx="5">
                  <c:v>Thailand</c:v>
                </c:pt>
                <c:pt idx="6">
                  <c:v>Germany</c:v>
                </c:pt>
                <c:pt idx="7">
                  <c:v>UK</c:v>
                </c:pt>
                <c:pt idx="8">
                  <c:v>Korea</c:v>
                </c:pt>
                <c:pt idx="9">
                  <c:v>Taiwan</c:v>
                </c:pt>
              </c:strCache>
            </c:strRef>
          </c:cat>
          <c:val>
            <c:numRef>
              <c:f>Sheet1!$B$2:$B$11</c:f>
              <c:numCache>
                <c:formatCode>General</c:formatCode>
                <c:ptCount val="10"/>
                <c:pt idx="0">
                  <c:v>16921</c:v>
                </c:pt>
                <c:pt idx="1">
                  <c:v>2723</c:v>
                </c:pt>
                <c:pt idx="2">
                  <c:v>0</c:v>
                </c:pt>
                <c:pt idx="3">
                  <c:v>2263</c:v>
                </c:pt>
                <c:pt idx="4">
                  <c:v>2078</c:v>
                </c:pt>
                <c:pt idx="5">
                  <c:v>1524</c:v>
                </c:pt>
                <c:pt idx="6">
                  <c:v>1536</c:v>
                </c:pt>
                <c:pt idx="7">
                  <c:v>0</c:v>
                </c:pt>
                <c:pt idx="8">
                  <c:v>2214</c:v>
                </c:pt>
                <c:pt idx="9">
                  <c:v>0</c:v>
                </c:pt>
              </c:numCache>
            </c:numRef>
          </c:val>
          <c:extLst>
            <c:ext xmlns:c16="http://schemas.microsoft.com/office/drawing/2014/chart" uri="{C3380CC4-5D6E-409C-BE32-E72D297353CC}">
              <c16:uniqueId val="{00000000-F2BB-42D3-8C5E-0E2C8B63539E}"/>
            </c:ext>
          </c:extLst>
        </c:ser>
        <c:ser>
          <c:idx val="1"/>
          <c:order val="1"/>
          <c:tx>
            <c:strRef>
              <c:f>Sheet1!$C$1</c:f>
              <c:strCache>
                <c:ptCount val="1"/>
                <c:pt idx="0">
                  <c:v>2026 H1</c:v>
                </c:pt>
              </c:strCache>
            </c:strRef>
          </c:tx>
          <c:spPr>
            <a:solidFill>
              <a:srgbClr val="1E2761"/>
            </a:solidFill>
            <a:effectLst/>
          </c:spPr>
          <c:invertIfNegative val="0"/>
          <c:dLbls>
            <c:numFmt formatCode="#,##0;;" sourceLinked="0"/>
            <c:spPr>
              <a:noFill/>
              <a:ln>
                <a:noFill/>
              </a:ln>
              <a:effectLst/>
            </c:spPr>
            <c:txPr>
              <a:bodyPr/>
              <a:lstStyle/>
              <a:p>
                <a:pPr>
                  <a:defRPr sz="800" b="0" i="0" u="none" strike="noStrike">
                    <a:solidFill>
                      <a:srgbClr val="6B7280"/>
                    </a:solidFill>
                    <a:latin typeface="Calibri"/>
                  </a:defRPr>
                </a:pPr>
                <a:endParaRPr lang="en-US"/>
              </a:p>
            </c:txPr>
            <c:showLegendKey val="0"/>
            <c:showVal val="1"/>
            <c:showCatName val="0"/>
            <c:showSerName val="0"/>
            <c:showPercent val="0"/>
            <c:showBubbleSize val="0"/>
            <c:showLeaderLines val="0"/>
            <c:extLst>
              <c:ext xmlns:c15="http://schemas.microsoft.com/office/drawing/2012/chart" uri="{CE6537A1-D6FC-4f65-9D91-7224C49458BB}">
                <c15:showLeaderLines val="0"/>
              </c:ext>
            </c:extLst>
          </c:dLbls>
          <c:cat>
            <c:strRef>
              <c:f>Sheet1!$A$2:$A$11</c:f>
              <c:strCache>
                <c:ptCount val="10"/>
                <c:pt idx="0">
                  <c:v>China</c:v>
                </c:pt>
                <c:pt idx="1">
                  <c:v>Japan</c:v>
                </c:pt>
                <c:pt idx="2">
                  <c:v>Finland</c:v>
                </c:pt>
                <c:pt idx="3">
                  <c:v>Singapore</c:v>
                </c:pt>
                <c:pt idx="4">
                  <c:v>USA</c:v>
                </c:pt>
                <c:pt idx="5">
                  <c:v>Thailand</c:v>
                </c:pt>
                <c:pt idx="6">
                  <c:v>Germany</c:v>
                </c:pt>
                <c:pt idx="7">
                  <c:v>UK</c:v>
                </c:pt>
                <c:pt idx="8">
                  <c:v>Korea</c:v>
                </c:pt>
                <c:pt idx="9">
                  <c:v>Taiwan</c:v>
                </c:pt>
              </c:strCache>
            </c:strRef>
          </c:cat>
          <c:val>
            <c:numRef>
              <c:f>Sheet1!$C$2:$C$11</c:f>
              <c:numCache>
                <c:formatCode>General</c:formatCode>
                <c:ptCount val="10"/>
                <c:pt idx="0">
                  <c:v>18613</c:v>
                </c:pt>
                <c:pt idx="1">
                  <c:v>3600</c:v>
                </c:pt>
                <c:pt idx="2">
                  <c:v>2922</c:v>
                </c:pt>
                <c:pt idx="3">
                  <c:v>1934</c:v>
                </c:pt>
                <c:pt idx="4">
                  <c:v>1818</c:v>
                </c:pt>
                <c:pt idx="5">
                  <c:v>1625</c:v>
                </c:pt>
                <c:pt idx="6">
                  <c:v>1526</c:v>
                </c:pt>
                <c:pt idx="7">
                  <c:v>1385</c:v>
                </c:pt>
                <c:pt idx="8">
                  <c:v>1304</c:v>
                </c:pt>
                <c:pt idx="9">
                  <c:v>1216</c:v>
                </c:pt>
              </c:numCache>
            </c:numRef>
          </c:val>
          <c:extLst>
            <c:ext xmlns:c16="http://schemas.microsoft.com/office/drawing/2014/chart" uri="{C3380CC4-5D6E-409C-BE32-E72D297353CC}">
              <c16:uniqueId val="{00000001-F2BB-42D3-8C5E-0E2C8B63539E}"/>
            </c:ext>
          </c:extLst>
        </c:ser>
        <c:dLbls>
          <c:showLegendKey val="0"/>
          <c:showVal val="1"/>
          <c:showCatName val="0"/>
          <c:showSerName val="0"/>
          <c:showPercent val="0"/>
          <c:showBubbleSize val="0"/>
        </c:dLbls>
        <c:gapWidth val="40"/>
        <c:axId val="2094734554"/>
        <c:axId val="2094734552"/>
      </c:barChart>
      <c:catAx>
        <c:axId val="2094734554"/>
        <c:scaling>
          <c:orientation val="minMax"/>
        </c:scaling>
        <c:delete val="0"/>
        <c:axPos val="l"/>
        <c:numFmt formatCode="General" sourceLinked="1"/>
        <c:majorTickMark val="out"/>
        <c:minorTickMark val="none"/>
        <c:tickLblPos val="nextTo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950" b="0" i="0" u="none" strike="noStrike">
                <a:solidFill>
                  <a:srgbClr val="6B7280"/>
                </a:solidFill>
                <a:latin typeface="Calibri"/>
              </a:defRPr>
            </a:pPr>
            <a:endParaRPr lang="en-US"/>
          </a:p>
        </c:txPr>
        <c:crossAx val="2094734552"/>
        <c:crosses val="autoZero"/>
        <c:auto val="1"/>
        <c:lblAlgn val="ctr"/>
        <c:lblOffset val="100"/>
        <c:noMultiLvlLbl val="1"/>
      </c:catAx>
      <c:valAx>
        <c:axId val="2094734552"/>
        <c:scaling>
          <c:orientation val="minMax"/>
        </c:scaling>
        <c:delete val="0"/>
        <c:axPos val="b"/>
        <c:majorGridlines>
          <c:spPr>
            <a:ln w="6350" cap="flat">
              <a:solidFill>
                <a:srgbClr val="E5E8EF"/>
              </a:solidFill>
              <a:prstDash val="solid"/>
              <a:round/>
            </a:ln>
          </c:spPr>
        </c:majorGridlines>
        <c:numFmt formatCode="General" sourceLinked="0"/>
        <c:majorTickMark val="out"/>
        <c:minorTickMark val="none"/>
        <c:tickLblPos val="low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950" b="0" i="0" u="none" strike="noStrike">
                <a:solidFill>
                  <a:srgbClr val="6B7280"/>
                </a:solidFill>
                <a:latin typeface="Calibri"/>
              </a:defRPr>
            </a:pPr>
            <a:endParaRPr lang="en-US"/>
          </a:p>
        </c:txPr>
        <c:crossAx val="2094734554"/>
        <c:crosses val="autoZero"/>
        <c:crossBetween val="between"/>
      </c:valAx>
      <c:spPr>
        <a:noFill/>
        <a:ln>
          <a:noFill/>
        </a:ln>
        <a:effectLst/>
      </c:spPr>
    </c:plotArea>
    <c:legend>
      <c:legendPos val="b"/>
      <c:overlay val="0"/>
      <c:txPr>
        <a:bodyPr/>
        <a:lstStyle/>
        <a:p>
          <a:pPr>
            <a:defRPr sz="1000">
              <a:solidFill>
                <a:srgbClr val="26292E"/>
              </a:solidFill>
              <a:latin typeface="Calibri"/>
              <a:cs typeface="Calibri"/>
            </a:defRPr>
          </a:pPr>
          <a:endParaRPr lang="en-US"/>
        </a:p>
      </c:txPr>
    </c:legend>
    <c:plotVisOnly val="1"/>
    <c:dispBlanksAs val="span"/>
    <c:showDLblsOverMax val="1"/>
  </c:chart>
  <c:spPr>
    <a:noFill/>
    <a:ln>
      <a:noFill/>
    </a:ln>
    <a:effectLst/>
  </c:spPr>
  <c:externalData r:id="rId1">
    <c:autoUpdate val="0"/>
  </c:externalData>
</c:chartSpace>
</file>

<file path=ppt/charts/chart32.xml><?xml version="1.0" encoding="utf-8"?>
<c:chartSpace xmlns:c="http://schemas.openxmlformats.org/drawingml/2006/chart" xmlns:a="http://schemas.openxmlformats.org/drawingml/2006/main" xmlns:r="http://schemas.openxmlformats.org/officeDocument/2006/relationships" xmlns:c16r2="http://schemas.microsoft.com/office/drawing/2015/06/chart">
  <c:date1904 val="0"/>
  <c:lang val="en-US"/>
  <c:roundedCorners val="1"/>
  <c:style val="2"/>
  <c:chart>
    <c:title>
      <c:tx>
        <c:rich>
          <a:bodyPr/>
          <a:lstStyle/>
          <a:p>
            <a:pPr>
              <a:defRPr sz="1250" b="0" i="0" u="none" strike="noStrike">
                <a:solidFill>
                  <a:srgbClr val="1E2761"/>
                </a:solidFill>
                <a:latin typeface="Calibri"/>
              </a:defRPr>
            </a:pPr>
            <a:r>
              <a:rPr lang="en-US" sz="1250" b="0" i="0" u="none" strike="noStrike">
                <a:solidFill>
                  <a:srgbClr val="1E2761"/>
                </a:solidFill>
                <a:latin typeface="Calibri"/>
              </a:rPr>
              <a:t>Monthly revenue (฿M)</a:t>
            </a:r>
          </a:p>
        </c:rich>
      </c:tx>
      <c:overlay val="0"/>
    </c:title>
    <c:autoTitleDeleted val="0"/>
    <c:plotArea>
      <c:layout/>
      <c:barChart>
        <c:barDir val="col"/>
        <c:grouping val="clustered"/>
        <c:varyColors val="0"/>
        <c:ser>
          <c:idx val="0"/>
          <c:order val="0"/>
          <c:tx>
            <c:strRef>
              <c:f>Sheet1!$B$1</c:f>
              <c:strCache>
                <c:ptCount val="1"/>
                <c:pt idx="0">
                  <c:v>2024</c:v>
                </c:pt>
              </c:strCache>
            </c:strRef>
          </c:tx>
          <c:spPr>
            <a:solidFill>
              <a:srgbClr val="C9D6EE"/>
            </a:solidFill>
            <a:effectLst/>
          </c:spPr>
          <c:invertIfNegative val="0"/>
          <c:cat>
            <c:strRef>
              <c:f>Sheet1!$A$2:$A$7</c:f>
              <c:strCache>
                <c:ptCount val="6"/>
                <c:pt idx="0">
                  <c:v>Jan</c:v>
                </c:pt>
                <c:pt idx="1">
                  <c:v>Feb</c:v>
                </c:pt>
                <c:pt idx="2">
                  <c:v>Mar</c:v>
                </c:pt>
                <c:pt idx="3">
                  <c:v>Apr</c:v>
                </c:pt>
                <c:pt idx="4">
                  <c:v>May</c:v>
                </c:pt>
                <c:pt idx="5">
                  <c:v>Jun</c:v>
                </c:pt>
              </c:strCache>
            </c:strRef>
          </c:cat>
          <c:val>
            <c:numRef>
              <c:f>Sheet1!$B$2:$B$7</c:f>
              <c:numCache>
                <c:formatCode>General</c:formatCode>
                <c:ptCount val="6"/>
                <c:pt idx="0">
                  <c:v>37080363.420000002</c:v>
                </c:pt>
                <c:pt idx="1">
                  <c:v>43940128.82</c:v>
                </c:pt>
                <c:pt idx="2">
                  <c:v>36407936.200000003</c:v>
                </c:pt>
                <c:pt idx="3">
                  <c:v>37521347.82</c:v>
                </c:pt>
                <c:pt idx="4">
                  <c:v>28302837.649999999</c:v>
                </c:pt>
                <c:pt idx="5">
                  <c:v>37484972.880000003</c:v>
                </c:pt>
              </c:numCache>
            </c:numRef>
          </c:val>
          <c:extLst>
            <c:ext xmlns:c16="http://schemas.microsoft.com/office/drawing/2014/chart" uri="{C3380CC4-5D6E-409C-BE32-E72D297353CC}">
              <c16:uniqueId val="{00000000-87B2-4478-A710-453703850968}"/>
            </c:ext>
          </c:extLst>
        </c:ser>
        <c:ser>
          <c:idx val="1"/>
          <c:order val="1"/>
          <c:tx>
            <c:strRef>
              <c:f>Sheet1!$C$1</c:f>
              <c:strCache>
                <c:ptCount val="1"/>
                <c:pt idx="0">
                  <c:v>2025</c:v>
                </c:pt>
              </c:strCache>
            </c:strRef>
          </c:tx>
          <c:spPr>
            <a:solidFill>
              <a:srgbClr val="7FA4DC"/>
            </a:solidFill>
            <a:effectLst/>
          </c:spPr>
          <c:invertIfNegative val="0"/>
          <c:cat>
            <c:strRef>
              <c:f>Sheet1!$A$2:$A$7</c:f>
              <c:strCache>
                <c:ptCount val="6"/>
                <c:pt idx="0">
                  <c:v>Jan</c:v>
                </c:pt>
                <c:pt idx="1">
                  <c:v>Feb</c:v>
                </c:pt>
                <c:pt idx="2">
                  <c:v>Mar</c:v>
                </c:pt>
                <c:pt idx="3">
                  <c:v>Apr</c:v>
                </c:pt>
                <c:pt idx="4">
                  <c:v>May</c:v>
                </c:pt>
                <c:pt idx="5">
                  <c:v>Jun</c:v>
                </c:pt>
              </c:strCache>
            </c:strRef>
          </c:cat>
          <c:val>
            <c:numRef>
              <c:f>Sheet1!$C$2:$C$7</c:f>
              <c:numCache>
                <c:formatCode>General</c:formatCode>
                <c:ptCount val="6"/>
                <c:pt idx="0">
                  <c:v>42691294.950000003</c:v>
                </c:pt>
                <c:pt idx="1">
                  <c:v>34251573.439999998</c:v>
                </c:pt>
                <c:pt idx="2">
                  <c:v>25843470.18</c:v>
                </c:pt>
                <c:pt idx="3">
                  <c:v>29043750.920000002</c:v>
                </c:pt>
                <c:pt idx="4">
                  <c:v>27716956.989999998</c:v>
                </c:pt>
                <c:pt idx="5">
                  <c:v>25848762.559999999</c:v>
                </c:pt>
              </c:numCache>
            </c:numRef>
          </c:val>
          <c:extLst>
            <c:ext xmlns:c16="http://schemas.microsoft.com/office/drawing/2014/chart" uri="{C3380CC4-5D6E-409C-BE32-E72D297353CC}">
              <c16:uniqueId val="{00000001-87B2-4478-A710-453703850968}"/>
            </c:ext>
          </c:extLst>
        </c:ser>
        <c:ser>
          <c:idx val="2"/>
          <c:order val="2"/>
          <c:tx>
            <c:strRef>
              <c:f>Sheet1!$D$1</c:f>
              <c:strCache>
                <c:ptCount val="1"/>
                <c:pt idx="0">
                  <c:v>2026</c:v>
                </c:pt>
              </c:strCache>
            </c:strRef>
          </c:tx>
          <c:spPr>
            <a:solidFill>
              <a:srgbClr val="1E2761"/>
            </a:solidFill>
            <a:effectLst/>
          </c:spPr>
          <c:invertIfNegative val="0"/>
          <c:cat>
            <c:strRef>
              <c:f>Sheet1!$A$2:$A$7</c:f>
              <c:strCache>
                <c:ptCount val="6"/>
                <c:pt idx="0">
                  <c:v>Jan</c:v>
                </c:pt>
                <c:pt idx="1">
                  <c:v>Feb</c:v>
                </c:pt>
                <c:pt idx="2">
                  <c:v>Mar</c:v>
                </c:pt>
                <c:pt idx="3">
                  <c:v>Apr</c:v>
                </c:pt>
                <c:pt idx="4">
                  <c:v>May</c:v>
                </c:pt>
                <c:pt idx="5">
                  <c:v>Jun</c:v>
                </c:pt>
              </c:strCache>
            </c:strRef>
          </c:cat>
          <c:val>
            <c:numRef>
              <c:f>Sheet1!$D$2:$D$7</c:f>
              <c:numCache>
                <c:formatCode>General</c:formatCode>
                <c:ptCount val="6"/>
                <c:pt idx="0">
                  <c:v>35431726.369999997</c:v>
                </c:pt>
                <c:pt idx="1">
                  <c:v>38907552.450000003</c:v>
                </c:pt>
                <c:pt idx="2">
                  <c:v>30984315.649999999</c:v>
                </c:pt>
                <c:pt idx="3">
                  <c:v>26245238.559999999</c:v>
                </c:pt>
                <c:pt idx="4">
                  <c:v>23379075.129999999</c:v>
                </c:pt>
                <c:pt idx="5">
                  <c:v>24286103.100000001</c:v>
                </c:pt>
              </c:numCache>
            </c:numRef>
          </c:val>
          <c:extLst>
            <c:ext xmlns:c16="http://schemas.microsoft.com/office/drawing/2014/chart" uri="{C3380CC4-5D6E-409C-BE32-E72D297353CC}">
              <c16:uniqueId val="{00000002-87B2-4478-A710-453703850968}"/>
            </c:ext>
          </c:extLst>
        </c:ser>
        <c:dLbls>
          <c:showLegendKey val="0"/>
          <c:showVal val="0"/>
          <c:showCatName val="0"/>
          <c:showSerName val="0"/>
          <c:showPercent val="0"/>
          <c:showBubbleSize val="0"/>
        </c:dLbls>
        <c:gapWidth val="150"/>
        <c:axId val="2094734554"/>
        <c:axId val="2094734552"/>
      </c:barChart>
      <c:catAx>
        <c:axId val="2094734554"/>
        <c:scaling>
          <c:orientation val="minMax"/>
        </c:scaling>
        <c:delete val="0"/>
        <c:axPos val="b"/>
        <c:numFmt formatCode="General" sourceLinked="1"/>
        <c:majorTickMark val="out"/>
        <c:minorTickMark val="none"/>
        <c:tickLblPos val="low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1000" b="0" i="0" u="none" strike="noStrike">
                <a:solidFill>
                  <a:srgbClr val="6B7280"/>
                </a:solidFill>
                <a:latin typeface="Calibri"/>
              </a:defRPr>
            </a:pPr>
            <a:endParaRPr lang="en-US"/>
          </a:p>
        </c:txPr>
        <c:crossAx val="2094734552"/>
        <c:crosses val="autoZero"/>
        <c:auto val="1"/>
        <c:lblAlgn val="ctr"/>
        <c:lblOffset val="100"/>
        <c:noMultiLvlLbl val="1"/>
      </c:catAx>
      <c:valAx>
        <c:axId val="2094734552"/>
        <c:scaling>
          <c:orientation val="minMax"/>
        </c:scaling>
        <c:delete val="0"/>
        <c:axPos val="l"/>
        <c:majorGridlines>
          <c:spPr>
            <a:ln w="6350" cap="flat">
              <a:solidFill>
                <a:srgbClr val="E5E8EF"/>
              </a:solidFill>
              <a:prstDash val="solid"/>
              <a:round/>
            </a:ln>
          </c:spPr>
        </c:majorGridlines>
        <c:numFmt formatCode="General" sourceLinked="0"/>
        <c:majorTickMark val="out"/>
        <c:minorTickMark val="none"/>
        <c:tickLblPos val="nextTo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950" b="0" i="0" u="none" strike="noStrike">
                <a:solidFill>
                  <a:srgbClr val="6B7280"/>
                </a:solidFill>
                <a:latin typeface="Calibri"/>
              </a:defRPr>
            </a:pPr>
            <a:endParaRPr lang="en-US"/>
          </a:p>
        </c:txPr>
        <c:crossAx val="2094734554"/>
        <c:crosses val="autoZero"/>
        <c:crossBetween val="between"/>
      </c:valAx>
      <c:spPr>
        <a:noFill/>
        <a:ln>
          <a:noFill/>
        </a:ln>
        <a:effectLst/>
      </c:spPr>
    </c:plotArea>
    <c:legend>
      <c:legendPos val="b"/>
      <c:overlay val="0"/>
      <c:txPr>
        <a:bodyPr/>
        <a:lstStyle/>
        <a:p>
          <a:pPr>
            <a:defRPr sz="1000">
              <a:solidFill>
                <a:srgbClr val="26292E"/>
              </a:solidFill>
              <a:latin typeface="Calibri"/>
              <a:cs typeface="Calibri"/>
            </a:defRPr>
          </a:pPr>
          <a:endParaRPr lang="en-US"/>
        </a:p>
      </c:txPr>
    </c:legend>
    <c:plotVisOnly val="1"/>
    <c:dispBlanksAs val="span"/>
    <c:showDLblsOverMax val="1"/>
  </c:chart>
  <c:spPr>
    <a:noFill/>
    <a:ln>
      <a:noFill/>
    </a:ln>
    <a:effectLst/>
  </c:spPr>
  <c:externalData r:id="rId1">
    <c:autoUpdate val="0"/>
  </c:externalData>
</c:chartSpace>
</file>

<file path=ppt/charts/chart33.xml><?xml version="1.0" encoding="utf-8"?>
<c:chartSpace xmlns:c="http://schemas.openxmlformats.org/drawingml/2006/chart" xmlns:a="http://schemas.openxmlformats.org/drawingml/2006/main" xmlns:r="http://schemas.openxmlformats.org/officeDocument/2006/relationships" xmlns:c16r2="http://schemas.microsoft.com/office/drawing/2015/06/chart">
  <c:date1904 val="0"/>
  <c:lang val="en-US"/>
  <c:roundedCorners val="1"/>
  <c:style val="2"/>
  <c:chart>
    <c:title>
      <c:tx>
        <c:rich>
          <a:bodyPr/>
          <a:lstStyle/>
          <a:p>
            <a:pPr>
              <a:defRPr sz="1200" b="0" i="0" u="none" strike="noStrike">
                <a:solidFill>
                  <a:srgbClr val="1E2761"/>
                </a:solidFill>
                <a:latin typeface="Calibri"/>
              </a:defRPr>
            </a:pPr>
            <a:r>
              <a:rPr lang="en-US" sz="1200" b="0" i="0" u="none" strike="noStrike">
                <a:solidFill>
                  <a:srgbClr val="1E2761"/>
                </a:solidFill>
                <a:latin typeface="Calibri"/>
              </a:rPr>
              <a:t>Monthly RevPAR (THB) — actual vs budget vs 2025 vs 2024</a:t>
            </a:r>
          </a:p>
        </c:rich>
      </c:tx>
      <c:overlay val="0"/>
    </c:title>
    <c:autoTitleDeleted val="0"/>
    <c:plotArea>
      <c:layout/>
      <c:barChart>
        <c:barDir val="col"/>
        <c:grouping val="clustered"/>
        <c:varyColors val="0"/>
        <c:ser>
          <c:idx val="0"/>
          <c:order val="0"/>
          <c:tx>
            <c:strRef>
              <c:f>Sheet1!$B$1</c:f>
              <c:strCache>
                <c:ptCount val="1"/>
                <c:pt idx="0">
                  <c:v>RevPAR 2026</c:v>
                </c:pt>
              </c:strCache>
            </c:strRef>
          </c:tx>
          <c:spPr>
            <a:solidFill>
              <a:srgbClr val="1E2761"/>
            </a:solidFill>
            <a:effectLst/>
          </c:spPr>
          <c:invertIfNegative val="0"/>
          <c:cat>
            <c:strRef>
              <c:f>Sheet1!$A$2:$A$7</c:f>
              <c:strCache>
                <c:ptCount val="6"/>
                <c:pt idx="0">
                  <c:v>Jan</c:v>
                </c:pt>
                <c:pt idx="1">
                  <c:v>Feb</c:v>
                </c:pt>
                <c:pt idx="2">
                  <c:v>Mar</c:v>
                </c:pt>
                <c:pt idx="3">
                  <c:v>Apr</c:v>
                </c:pt>
                <c:pt idx="4">
                  <c:v>May</c:v>
                </c:pt>
                <c:pt idx="5">
                  <c:v>Jun</c:v>
                </c:pt>
              </c:strCache>
            </c:strRef>
          </c:cat>
          <c:val>
            <c:numRef>
              <c:f>Sheet1!$B$2:$B$7</c:f>
              <c:numCache>
                <c:formatCode>General</c:formatCode>
                <c:ptCount val="6"/>
                <c:pt idx="0">
                  <c:v>1461.17</c:v>
                </c:pt>
                <c:pt idx="1">
                  <c:v>1500.13</c:v>
                </c:pt>
                <c:pt idx="2">
                  <c:v>1132.05</c:v>
                </c:pt>
                <c:pt idx="3">
                  <c:v>731.09</c:v>
                </c:pt>
                <c:pt idx="4">
                  <c:v>878.94</c:v>
                </c:pt>
                <c:pt idx="5">
                  <c:v>755.55</c:v>
                </c:pt>
              </c:numCache>
            </c:numRef>
          </c:val>
          <c:extLst>
            <c:ext xmlns:c16="http://schemas.microsoft.com/office/drawing/2014/chart" uri="{C3380CC4-5D6E-409C-BE32-E72D297353CC}">
              <c16:uniqueId val="{00000000-FC1A-4E1D-9FCD-0CD06040DE7B}"/>
            </c:ext>
          </c:extLst>
        </c:ser>
        <c:dLbls>
          <c:showLegendKey val="0"/>
          <c:showVal val="0"/>
          <c:showCatName val="0"/>
          <c:showSerName val="0"/>
          <c:showPercent val="0"/>
          <c:showBubbleSize val="0"/>
        </c:dLbls>
        <c:gapWidth val="80"/>
        <c:axId val="2094734554"/>
        <c:axId val="2094734552"/>
      </c:barChart>
      <c:lineChart>
        <c:grouping val="standard"/>
        <c:varyColors val="0"/>
        <c:ser>
          <c:idx val="1"/>
          <c:order val="1"/>
          <c:tx>
            <c:strRef>
              <c:f>Sheet1!$C$1</c:f>
              <c:strCache>
                <c:ptCount val="1"/>
                <c:pt idx="0">
                  <c:v>Budget</c:v>
                </c:pt>
              </c:strCache>
            </c:strRef>
          </c:tx>
          <c:spPr>
            <a:ln w="31750" cap="flat">
              <a:solidFill>
                <a:srgbClr val="D9A441"/>
              </a:solidFill>
              <a:prstDash val="solid"/>
              <a:round/>
            </a:ln>
            <a:effectLst/>
          </c:spPr>
          <c:marker>
            <c:symbol val="circle"/>
            <c:size val="5"/>
            <c:spPr>
              <a:solidFill>
                <a:srgbClr val="AEB6C2"/>
              </a:solidFill>
              <a:ln w="9525" cap="flat">
                <a:solidFill>
                  <a:srgbClr val="D9A441"/>
                </a:solidFill>
                <a:prstDash val="solid"/>
                <a:round/>
              </a:ln>
              <a:effectLst/>
            </c:spPr>
          </c:marker>
          <c:cat>
            <c:strRef>
              <c:f>Sheet1!$A$2:$A$7</c:f>
              <c:strCache>
                <c:ptCount val="6"/>
                <c:pt idx="0">
                  <c:v>Jan</c:v>
                </c:pt>
                <c:pt idx="1">
                  <c:v>Feb</c:v>
                </c:pt>
                <c:pt idx="2">
                  <c:v>Mar</c:v>
                </c:pt>
                <c:pt idx="3">
                  <c:v>Apr</c:v>
                </c:pt>
                <c:pt idx="4">
                  <c:v>May</c:v>
                </c:pt>
                <c:pt idx="5">
                  <c:v>Jun</c:v>
                </c:pt>
              </c:strCache>
            </c:strRef>
          </c:cat>
          <c:val>
            <c:numRef>
              <c:f>Sheet1!$C$2:$C$7</c:f>
              <c:numCache>
                <c:formatCode>General</c:formatCode>
                <c:ptCount val="6"/>
                <c:pt idx="0">
                  <c:v>1526.8151</c:v>
                </c:pt>
                <c:pt idx="1">
                  <c:v>1630.5147999999999</c:v>
                </c:pt>
                <c:pt idx="2">
                  <c:v>1103.7076</c:v>
                </c:pt>
                <c:pt idx="3">
                  <c:v>1152.0808</c:v>
                </c:pt>
                <c:pt idx="4">
                  <c:v>1024.3922</c:v>
                </c:pt>
                <c:pt idx="5">
                  <c:v>975.58159999999998</c:v>
                </c:pt>
              </c:numCache>
            </c:numRef>
          </c:val>
          <c:smooth val="0"/>
          <c:extLst>
            <c:ext xmlns:c16="http://schemas.microsoft.com/office/drawing/2014/chart" uri="{C3380CC4-5D6E-409C-BE32-E72D297353CC}">
              <c16:uniqueId val="{00000001-FC1A-4E1D-9FCD-0CD06040DE7B}"/>
            </c:ext>
          </c:extLst>
        </c:ser>
        <c:ser>
          <c:idx val="2"/>
          <c:order val="2"/>
          <c:tx>
            <c:strRef>
              <c:f>Sheet1!$D$1</c:f>
              <c:strCache>
                <c:ptCount val="1"/>
                <c:pt idx="0">
                  <c:v>2025</c:v>
                </c:pt>
              </c:strCache>
            </c:strRef>
          </c:tx>
          <c:spPr>
            <a:ln w="31750" cap="flat">
              <a:solidFill>
                <a:srgbClr val="AEB6C2"/>
              </a:solidFill>
              <a:prstDash val="solid"/>
              <a:round/>
            </a:ln>
            <a:effectLst/>
          </c:spPr>
          <c:marker>
            <c:symbol val="circle"/>
            <c:size val="5"/>
            <c:spPr>
              <a:solidFill>
                <a:srgbClr val="C9D6EE"/>
              </a:solidFill>
              <a:ln w="9525" cap="flat">
                <a:solidFill>
                  <a:srgbClr val="AEB6C2"/>
                </a:solidFill>
                <a:prstDash val="solid"/>
                <a:round/>
              </a:ln>
              <a:effectLst/>
            </c:spPr>
          </c:marker>
          <c:cat>
            <c:strRef>
              <c:f>Sheet1!$A$2:$A$7</c:f>
              <c:strCache>
                <c:ptCount val="6"/>
                <c:pt idx="0">
                  <c:v>Jan</c:v>
                </c:pt>
                <c:pt idx="1">
                  <c:v>Feb</c:v>
                </c:pt>
                <c:pt idx="2">
                  <c:v>Mar</c:v>
                </c:pt>
                <c:pt idx="3">
                  <c:v>Apr</c:v>
                </c:pt>
                <c:pt idx="4">
                  <c:v>May</c:v>
                </c:pt>
                <c:pt idx="5">
                  <c:v>Jun</c:v>
                </c:pt>
              </c:strCache>
            </c:strRef>
          </c:cat>
          <c:val>
            <c:numRef>
              <c:f>Sheet1!$D$2:$D$7</c:f>
              <c:numCache>
                <c:formatCode>General</c:formatCode>
                <c:ptCount val="6"/>
                <c:pt idx="0">
                  <c:v>1587.0329999999999</c:v>
                </c:pt>
                <c:pt idx="1">
                  <c:v>1457.7360000000001</c:v>
                </c:pt>
                <c:pt idx="2">
                  <c:v>1049.8834999999999</c:v>
                </c:pt>
                <c:pt idx="3">
                  <c:v>1022.25</c:v>
                </c:pt>
                <c:pt idx="4">
                  <c:v>912.91200000000003</c:v>
                </c:pt>
                <c:pt idx="5">
                  <c:v>843.70489999999995</c:v>
                </c:pt>
              </c:numCache>
            </c:numRef>
          </c:val>
          <c:smooth val="0"/>
          <c:extLst>
            <c:ext xmlns:c16="http://schemas.microsoft.com/office/drawing/2014/chart" uri="{C3380CC4-5D6E-409C-BE32-E72D297353CC}">
              <c16:uniqueId val="{00000002-FC1A-4E1D-9FCD-0CD06040DE7B}"/>
            </c:ext>
          </c:extLst>
        </c:ser>
        <c:ser>
          <c:idx val="3"/>
          <c:order val="3"/>
          <c:tx>
            <c:strRef>
              <c:f>Sheet1!$E$1</c:f>
              <c:strCache>
                <c:ptCount val="1"/>
                <c:pt idx="0">
                  <c:v>2024</c:v>
                </c:pt>
              </c:strCache>
            </c:strRef>
          </c:tx>
          <c:spPr>
            <a:ln w="31750" cap="flat">
              <a:solidFill>
                <a:srgbClr val="C9D6EE"/>
              </a:solidFill>
              <a:prstDash val="solid"/>
              <a:round/>
            </a:ln>
            <a:effectLst/>
          </c:spPr>
          <c:marker>
            <c:symbol val="circle"/>
            <c:size val="5"/>
            <c:spPr>
              <a:solidFill>
                <a:srgbClr val="D9A441"/>
              </a:solidFill>
              <a:ln w="9525" cap="flat">
                <a:solidFill>
                  <a:srgbClr val="C9D6EE"/>
                </a:solidFill>
                <a:prstDash val="solid"/>
                <a:round/>
              </a:ln>
              <a:effectLst/>
            </c:spPr>
          </c:marker>
          <c:cat>
            <c:strRef>
              <c:f>Sheet1!$A$2:$A$7</c:f>
              <c:strCache>
                <c:ptCount val="6"/>
                <c:pt idx="0">
                  <c:v>Jan</c:v>
                </c:pt>
                <c:pt idx="1">
                  <c:v>Feb</c:v>
                </c:pt>
                <c:pt idx="2">
                  <c:v>Mar</c:v>
                </c:pt>
                <c:pt idx="3">
                  <c:v>Apr</c:v>
                </c:pt>
                <c:pt idx="4">
                  <c:v>May</c:v>
                </c:pt>
                <c:pt idx="5">
                  <c:v>Jun</c:v>
                </c:pt>
              </c:strCache>
            </c:strRef>
          </c:cat>
          <c:val>
            <c:numRef>
              <c:f>Sheet1!$E$2:$E$7</c:f>
              <c:numCache>
                <c:formatCode>General</c:formatCode>
                <c:ptCount val="6"/>
                <c:pt idx="0">
                  <c:v>1011.4803000000001</c:v>
                </c:pt>
                <c:pt idx="1">
                  <c:v>1267.7425000000001</c:v>
                </c:pt>
                <c:pt idx="2">
                  <c:v>966.12109999999996</c:v>
                </c:pt>
                <c:pt idx="3">
                  <c:v>938.71799999999996</c:v>
                </c:pt>
                <c:pt idx="4">
                  <c:v>762.88589999999999</c:v>
                </c:pt>
                <c:pt idx="5">
                  <c:v>1017.228</c:v>
                </c:pt>
              </c:numCache>
            </c:numRef>
          </c:val>
          <c:smooth val="0"/>
          <c:extLst>
            <c:ext xmlns:c16="http://schemas.microsoft.com/office/drawing/2014/chart" uri="{C3380CC4-5D6E-409C-BE32-E72D297353CC}">
              <c16:uniqueId val="{00000003-FC1A-4E1D-9FCD-0CD06040DE7B}"/>
            </c:ext>
          </c:extLst>
        </c:ser>
        <c:dLbls>
          <c:showLegendKey val="0"/>
          <c:showVal val="0"/>
          <c:showCatName val="0"/>
          <c:showSerName val="0"/>
          <c:showPercent val="0"/>
          <c:showBubbleSize val="0"/>
        </c:dLbls>
        <c:marker val="1"/>
        <c:smooth val="0"/>
        <c:axId val="2094734554"/>
        <c:axId val="2094734552"/>
      </c:lineChart>
      <c:catAx>
        <c:axId val="2094734554"/>
        <c:scaling>
          <c:orientation val="minMax"/>
        </c:scaling>
        <c:delete val="0"/>
        <c:axPos val="b"/>
        <c:numFmt formatCode="General" sourceLinked="1"/>
        <c:majorTickMark val="out"/>
        <c:minorTickMark val="none"/>
        <c:tickLblPos val="low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1000" b="0" i="0" u="none" strike="noStrike">
                <a:solidFill>
                  <a:srgbClr val="6B7280"/>
                </a:solidFill>
                <a:latin typeface="Calibri"/>
              </a:defRPr>
            </a:pPr>
            <a:endParaRPr lang="en-US"/>
          </a:p>
        </c:txPr>
        <c:crossAx val="2094734552"/>
        <c:crosses val="autoZero"/>
        <c:auto val="1"/>
        <c:lblAlgn val="ctr"/>
        <c:lblOffset val="100"/>
        <c:noMultiLvlLbl val="1"/>
      </c:catAx>
      <c:valAx>
        <c:axId val="2094734552"/>
        <c:scaling>
          <c:orientation val="minMax"/>
        </c:scaling>
        <c:delete val="0"/>
        <c:axPos val="l"/>
        <c:majorGridlines>
          <c:spPr>
            <a:ln w="6350" cap="flat">
              <a:solidFill>
                <a:srgbClr val="E5E8EF"/>
              </a:solidFill>
              <a:prstDash val="solid"/>
              <a:round/>
            </a:ln>
          </c:spPr>
        </c:majorGridlines>
        <c:numFmt formatCode="General" sourceLinked="0"/>
        <c:majorTickMark val="out"/>
        <c:minorTickMark val="none"/>
        <c:tickLblPos val="nextTo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950" b="0" i="0" u="none" strike="noStrike">
                <a:solidFill>
                  <a:srgbClr val="6B7280"/>
                </a:solidFill>
                <a:latin typeface="Calibri"/>
              </a:defRPr>
            </a:pPr>
            <a:endParaRPr lang="en-US"/>
          </a:p>
        </c:txPr>
        <c:crossAx val="2094734554"/>
        <c:crosses val="autoZero"/>
        <c:crossBetween val="between"/>
      </c:valAx>
      <c:spPr>
        <a:noFill/>
        <a:ln>
          <a:noFill/>
        </a:ln>
        <a:effectLst/>
      </c:spPr>
    </c:plotArea>
    <c:legend>
      <c:legendPos val="b"/>
      <c:overlay val="0"/>
      <c:txPr>
        <a:bodyPr/>
        <a:lstStyle/>
        <a:p>
          <a:pPr>
            <a:defRPr sz="1000">
              <a:solidFill>
                <a:srgbClr val="26292E"/>
              </a:solidFill>
              <a:latin typeface="Calibri"/>
              <a:cs typeface="Calibri"/>
            </a:defRPr>
          </a:pPr>
          <a:endParaRPr lang="en-US"/>
        </a:p>
      </c:txPr>
    </c:legend>
    <c:plotVisOnly val="1"/>
    <c:dispBlanksAs val="span"/>
    <c:showDLblsOverMax val="1"/>
  </c:chart>
  <c:spPr>
    <a:noFill/>
    <a:ln>
      <a:noFill/>
    </a:ln>
    <a:effectLst/>
  </c:spPr>
  <c:externalData r:id="rId1">
    <c:autoUpdate val="0"/>
  </c:externalData>
</c:chartSpace>
</file>

<file path=ppt/charts/chart34.xml><?xml version="1.0" encoding="utf-8"?>
<c:chartSpace xmlns:c="http://schemas.openxmlformats.org/drawingml/2006/chart" xmlns:a="http://schemas.openxmlformats.org/drawingml/2006/main" xmlns:r="http://schemas.openxmlformats.org/officeDocument/2006/relationships" xmlns:c16r2="http://schemas.microsoft.com/office/drawing/2015/06/chart">
  <c:date1904 val="0"/>
  <c:lang val="en-US"/>
  <c:roundedCorners val="1"/>
  <c:style val="2"/>
  <c:chart>
    <c:title>
      <c:tx>
        <c:rich>
          <a:bodyPr/>
          <a:lstStyle/>
          <a:p>
            <a:pPr>
              <a:defRPr sz="1300" b="0" i="0" u="none" strike="noStrike">
                <a:solidFill>
                  <a:srgbClr val="1E2761"/>
                </a:solidFill>
                <a:latin typeface="Calibri"/>
              </a:defRPr>
            </a:pPr>
            <a:r>
              <a:rPr lang="en-US" sz="1300" b="0" i="0" u="none" strike="noStrike">
                <a:solidFill>
                  <a:srgbClr val="1E2761"/>
                </a:solidFill>
                <a:latin typeface="Calibri"/>
              </a:rPr>
              <a:t>Room nights per month (stacked)</a:t>
            </a:r>
          </a:p>
        </c:rich>
      </c:tx>
      <c:overlay val="0"/>
    </c:title>
    <c:autoTitleDeleted val="0"/>
    <c:plotArea>
      <c:layout/>
      <c:barChart>
        <c:barDir val="col"/>
        <c:grouping val="stacked"/>
        <c:varyColors val="0"/>
        <c:ser>
          <c:idx val="0"/>
          <c:order val="0"/>
          <c:tx>
            <c:strRef>
              <c:f>Sheet1!$B$1</c:f>
              <c:strCache>
                <c:ptCount val="1"/>
                <c:pt idx="0">
                  <c:v>Corporate SS</c:v>
                </c:pt>
              </c:strCache>
            </c:strRef>
          </c:tx>
          <c:spPr>
            <a:solidFill>
              <a:srgbClr val="1E2761"/>
            </a:solidFill>
            <a:effectLst/>
          </c:spPr>
          <c:invertIfNegative val="0"/>
          <c:dLbls>
            <c:numFmt formatCode="#,##0;;" sourceLinked="0"/>
            <c:spPr>
              <a:noFill/>
              <a:ln>
                <a:noFill/>
              </a:ln>
              <a:effectLst/>
            </c:spPr>
            <c:txPr>
              <a:bodyPr/>
              <a:lstStyle/>
              <a:p>
                <a:pPr>
                  <a:defRPr sz="750" b="0" i="0" u="none" strike="noStrike">
                    <a:solidFill>
                      <a:srgbClr val="FFFFFF"/>
                    </a:solidFill>
                    <a:latin typeface="Calibri"/>
                  </a:defRPr>
                </a:pPr>
                <a:endParaRPr lang="en-US"/>
              </a:p>
            </c:txPr>
            <c:dLblPos val="ctr"/>
            <c:showLegendKey val="0"/>
            <c:showVal val="1"/>
            <c:showCatName val="0"/>
            <c:showSerName val="0"/>
            <c:showPercent val="0"/>
            <c:showBubbleSize val="0"/>
            <c:showLeaderLines val="0"/>
            <c:extLst>
              <c:ext xmlns:c15="http://schemas.microsoft.com/office/drawing/2012/chart" uri="{CE6537A1-D6FC-4f65-9D91-7224C49458BB}">
                <c15:showLeaderLines val="0"/>
              </c:ext>
            </c:extLst>
          </c:dLbls>
          <c:cat>
            <c:strRef>
              <c:f>Sheet1!$A$2:$A$7</c:f>
              <c:strCache>
                <c:ptCount val="6"/>
                <c:pt idx="0">
                  <c:v>Jan</c:v>
                </c:pt>
                <c:pt idx="1">
                  <c:v>Feb</c:v>
                </c:pt>
                <c:pt idx="2">
                  <c:v>Mar</c:v>
                </c:pt>
                <c:pt idx="3">
                  <c:v>Apr</c:v>
                </c:pt>
                <c:pt idx="4">
                  <c:v>May</c:v>
                </c:pt>
                <c:pt idx="5">
                  <c:v>Jun</c:v>
                </c:pt>
              </c:strCache>
            </c:strRef>
          </c:cat>
          <c:val>
            <c:numRef>
              <c:f>Sheet1!$B$2:$B$7</c:f>
              <c:numCache>
                <c:formatCode>General</c:formatCode>
                <c:ptCount val="6"/>
                <c:pt idx="0">
                  <c:v>102</c:v>
                </c:pt>
                <c:pt idx="1">
                  <c:v>158</c:v>
                </c:pt>
                <c:pt idx="2">
                  <c:v>203</c:v>
                </c:pt>
                <c:pt idx="3">
                  <c:v>194</c:v>
                </c:pt>
                <c:pt idx="4">
                  <c:v>176</c:v>
                </c:pt>
                <c:pt idx="5">
                  <c:v>67</c:v>
                </c:pt>
              </c:numCache>
            </c:numRef>
          </c:val>
          <c:extLst>
            <c:ext xmlns:c16="http://schemas.microsoft.com/office/drawing/2014/chart" uri="{C3380CC4-5D6E-409C-BE32-E72D297353CC}">
              <c16:uniqueId val="{00000000-9DE4-4447-8389-11EEF2505625}"/>
            </c:ext>
          </c:extLst>
        </c:ser>
        <c:ser>
          <c:idx val="1"/>
          <c:order val="1"/>
          <c:tx>
            <c:strRef>
              <c:f>Sheet1!$C$1</c:f>
              <c:strCache>
                <c:ptCount val="1"/>
                <c:pt idx="0">
                  <c:v>Corporate LS</c:v>
                </c:pt>
              </c:strCache>
            </c:strRef>
          </c:tx>
          <c:spPr>
            <a:solidFill>
              <a:srgbClr val="4A6FC4"/>
            </a:solidFill>
            <a:effectLst/>
          </c:spPr>
          <c:invertIfNegative val="0"/>
          <c:dLbls>
            <c:numFmt formatCode="#,##0;;" sourceLinked="0"/>
            <c:spPr>
              <a:noFill/>
              <a:ln>
                <a:noFill/>
              </a:ln>
              <a:effectLst/>
            </c:spPr>
            <c:txPr>
              <a:bodyPr/>
              <a:lstStyle/>
              <a:p>
                <a:pPr>
                  <a:defRPr sz="750" b="0" i="0" u="none" strike="noStrike">
                    <a:solidFill>
                      <a:srgbClr val="FFFFFF"/>
                    </a:solidFill>
                    <a:latin typeface="Calibri"/>
                  </a:defRPr>
                </a:pPr>
                <a:endParaRPr lang="en-US"/>
              </a:p>
            </c:txPr>
            <c:dLblPos val="ctr"/>
            <c:showLegendKey val="0"/>
            <c:showVal val="1"/>
            <c:showCatName val="0"/>
            <c:showSerName val="0"/>
            <c:showPercent val="0"/>
            <c:showBubbleSize val="0"/>
            <c:showLeaderLines val="0"/>
            <c:extLst>
              <c:ext xmlns:c15="http://schemas.microsoft.com/office/drawing/2012/chart" uri="{CE6537A1-D6FC-4f65-9D91-7224C49458BB}">
                <c15:showLeaderLines val="0"/>
              </c:ext>
            </c:extLst>
          </c:dLbls>
          <c:cat>
            <c:strRef>
              <c:f>Sheet1!$A$2:$A$7</c:f>
              <c:strCache>
                <c:ptCount val="6"/>
                <c:pt idx="0">
                  <c:v>Jan</c:v>
                </c:pt>
                <c:pt idx="1">
                  <c:v>Feb</c:v>
                </c:pt>
                <c:pt idx="2">
                  <c:v>Mar</c:v>
                </c:pt>
                <c:pt idx="3">
                  <c:v>Apr</c:v>
                </c:pt>
                <c:pt idx="4">
                  <c:v>May</c:v>
                </c:pt>
                <c:pt idx="5">
                  <c:v>Jun</c:v>
                </c:pt>
              </c:strCache>
            </c:strRef>
          </c:cat>
          <c:val>
            <c:numRef>
              <c:f>Sheet1!$C$2:$C$7</c:f>
              <c:numCache>
                <c:formatCode>General</c:formatCode>
                <c:ptCount val="6"/>
                <c:pt idx="0">
                  <c:v>31</c:v>
                </c:pt>
                <c:pt idx="1">
                  <c:v>28</c:v>
                </c:pt>
                <c:pt idx="2">
                  <c:v>31</c:v>
                </c:pt>
                <c:pt idx="3">
                  <c:v>30</c:v>
                </c:pt>
                <c:pt idx="4">
                  <c:v>31</c:v>
                </c:pt>
                <c:pt idx="5">
                  <c:v>30</c:v>
                </c:pt>
              </c:numCache>
            </c:numRef>
          </c:val>
          <c:extLst>
            <c:ext xmlns:c16="http://schemas.microsoft.com/office/drawing/2014/chart" uri="{C3380CC4-5D6E-409C-BE32-E72D297353CC}">
              <c16:uniqueId val="{00000001-9DE4-4447-8389-11EEF2505625}"/>
            </c:ext>
          </c:extLst>
        </c:ser>
        <c:ser>
          <c:idx val="2"/>
          <c:order val="2"/>
          <c:tx>
            <c:strRef>
              <c:f>Sheet1!$D$1</c:f>
              <c:strCache>
                <c:ptCount val="1"/>
                <c:pt idx="0">
                  <c:v>Online</c:v>
                </c:pt>
              </c:strCache>
            </c:strRef>
          </c:tx>
          <c:spPr>
            <a:solidFill>
              <a:srgbClr val="7FA4DC"/>
            </a:solidFill>
            <a:effectLst/>
          </c:spPr>
          <c:invertIfNegative val="0"/>
          <c:dLbls>
            <c:numFmt formatCode="#,##0;;" sourceLinked="0"/>
            <c:spPr>
              <a:noFill/>
              <a:ln>
                <a:noFill/>
              </a:ln>
              <a:effectLst/>
            </c:spPr>
            <c:txPr>
              <a:bodyPr/>
              <a:lstStyle/>
              <a:p>
                <a:pPr>
                  <a:defRPr sz="750" b="0" i="0" u="none" strike="noStrike">
                    <a:solidFill>
                      <a:srgbClr val="FFFFFF"/>
                    </a:solidFill>
                    <a:latin typeface="Calibri"/>
                  </a:defRPr>
                </a:pPr>
                <a:endParaRPr lang="en-US"/>
              </a:p>
            </c:txPr>
            <c:dLblPos val="ctr"/>
            <c:showLegendKey val="0"/>
            <c:showVal val="1"/>
            <c:showCatName val="0"/>
            <c:showSerName val="0"/>
            <c:showPercent val="0"/>
            <c:showBubbleSize val="0"/>
            <c:showLeaderLines val="0"/>
            <c:extLst>
              <c:ext xmlns:c15="http://schemas.microsoft.com/office/drawing/2012/chart" uri="{CE6537A1-D6FC-4f65-9D91-7224C49458BB}">
                <c15:showLeaderLines val="0"/>
              </c:ext>
            </c:extLst>
          </c:dLbls>
          <c:cat>
            <c:strRef>
              <c:f>Sheet1!$A$2:$A$7</c:f>
              <c:strCache>
                <c:ptCount val="6"/>
                <c:pt idx="0">
                  <c:v>Jan</c:v>
                </c:pt>
                <c:pt idx="1">
                  <c:v>Feb</c:v>
                </c:pt>
                <c:pt idx="2">
                  <c:v>Mar</c:v>
                </c:pt>
                <c:pt idx="3">
                  <c:v>Apr</c:v>
                </c:pt>
                <c:pt idx="4">
                  <c:v>May</c:v>
                </c:pt>
                <c:pt idx="5">
                  <c:v>Jun</c:v>
                </c:pt>
              </c:strCache>
            </c:strRef>
          </c:cat>
          <c:val>
            <c:numRef>
              <c:f>Sheet1!$D$2:$D$7</c:f>
              <c:numCache>
                <c:formatCode>General</c:formatCode>
                <c:ptCount val="6"/>
                <c:pt idx="0">
                  <c:v>3853</c:v>
                </c:pt>
                <c:pt idx="1">
                  <c:v>3409</c:v>
                </c:pt>
                <c:pt idx="2">
                  <c:v>4095</c:v>
                </c:pt>
                <c:pt idx="3">
                  <c:v>1641</c:v>
                </c:pt>
                <c:pt idx="4">
                  <c:v>2723</c:v>
                </c:pt>
                <c:pt idx="5">
                  <c:v>2549</c:v>
                </c:pt>
              </c:numCache>
            </c:numRef>
          </c:val>
          <c:extLst>
            <c:ext xmlns:c16="http://schemas.microsoft.com/office/drawing/2014/chart" uri="{C3380CC4-5D6E-409C-BE32-E72D297353CC}">
              <c16:uniqueId val="{00000002-9DE4-4447-8389-11EEF2505625}"/>
            </c:ext>
          </c:extLst>
        </c:ser>
        <c:ser>
          <c:idx val="3"/>
          <c:order val="3"/>
          <c:tx>
            <c:strRef>
              <c:f>Sheet1!$E$1</c:f>
              <c:strCache>
                <c:ptCount val="1"/>
                <c:pt idx="0">
                  <c:v>ASR</c:v>
                </c:pt>
              </c:strCache>
            </c:strRef>
          </c:tx>
          <c:spPr>
            <a:solidFill>
              <a:srgbClr val="AFC6EC"/>
            </a:solidFill>
            <a:effectLst/>
          </c:spPr>
          <c:invertIfNegative val="0"/>
          <c:dLbls>
            <c:numFmt formatCode="#,##0;;" sourceLinked="0"/>
            <c:spPr>
              <a:noFill/>
              <a:ln>
                <a:noFill/>
              </a:ln>
              <a:effectLst/>
            </c:spPr>
            <c:txPr>
              <a:bodyPr/>
              <a:lstStyle/>
              <a:p>
                <a:pPr>
                  <a:defRPr sz="750" b="0" i="0" u="none" strike="noStrike">
                    <a:solidFill>
                      <a:srgbClr val="FFFFFF"/>
                    </a:solidFill>
                    <a:latin typeface="Calibri"/>
                  </a:defRPr>
                </a:pPr>
                <a:endParaRPr lang="en-US"/>
              </a:p>
            </c:txPr>
            <c:dLblPos val="ctr"/>
            <c:showLegendKey val="0"/>
            <c:showVal val="1"/>
            <c:showCatName val="0"/>
            <c:showSerName val="0"/>
            <c:showPercent val="0"/>
            <c:showBubbleSize val="0"/>
            <c:showLeaderLines val="0"/>
            <c:extLst>
              <c:ext xmlns:c15="http://schemas.microsoft.com/office/drawing/2012/chart" uri="{CE6537A1-D6FC-4f65-9D91-7224C49458BB}">
                <c15:showLeaderLines val="0"/>
              </c:ext>
            </c:extLst>
          </c:dLbls>
          <c:cat>
            <c:strRef>
              <c:f>Sheet1!$A$2:$A$7</c:f>
              <c:strCache>
                <c:ptCount val="6"/>
                <c:pt idx="0">
                  <c:v>Jan</c:v>
                </c:pt>
                <c:pt idx="1">
                  <c:v>Feb</c:v>
                </c:pt>
                <c:pt idx="2">
                  <c:v>Mar</c:v>
                </c:pt>
                <c:pt idx="3">
                  <c:v>Apr</c:v>
                </c:pt>
                <c:pt idx="4">
                  <c:v>May</c:v>
                </c:pt>
                <c:pt idx="5">
                  <c:v>Jun</c:v>
                </c:pt>
              </c:strCache>
            </c:strRef>
          </c:cat>
          <c:val>
            <c:numRef>
              <c:f>Sheet1!$E$2:$E$7</c:f>
              <c:numCache>
                <c:formatCode>General</c:formatCode>
                <c:ptCount val="6"/>
                <c:pt idx="0">
                  <c:v>610</c:v>
                </c:pt>
                <c:pt idx="1">
                  <c:v>559</c:v>
                </c:pt>
                <c:pt idx="2">
                  <c:v>438</c:v>
                </c:pt>
                <c:pt idx="3">
                  <c:v>394</c:v>
                </c:pt>
                <c:pt idx="4">
                  <c:v>622</c:v>
                </c:pt>
                <c:pt idx="5">
                  <c:v>614</c:v>
                </c:pt>
              </c:numCache>
            </c:numRef>
          </c:val>
          <c:extLst>
            <c:ext xmlns:c16="http://schemas.microsoft.com/office/drawing/2014/chart" uri="{C3380CC4-5D6E-409C-BE32-E72D297353CC}">
              <c16:uniqueId val="{00000003-9DE4-4447-8389-11EEF2505625}"/>
            </c:ext>
          </c:extLst>
        </c:ser>
        <c:ser>
          <c:idx val="4"/>
          <c:order val="4"/>
          <c:tx>
            <c:strRef>
              <c:f>Sheet1!$F$1</c:f>
              <c:strCache>
                <c:ptCount val="1"/>
                <c:pt idx="0">
                  <c:v>Wholesale</c:v>
                </c:pt>
              </c:strCache>
            </c:strRef>
          </c:tx>
          <c:spPr>
            <a:solidFill>
              <a:srgbClr val="D9A441"/>
            </a:solidFill>
            <a:effectLst/>
          </c:spPr>
          <c:invertIfNegative val="0"/>
          <c:dLbls>
            <c:numFmt formatCode="#,##0;;" sourceLinked="0"/>
            <c:spPr>
              <a:noFill/>
              <a:ln>
                <a:noFill/>
              </a:ln>
              <a:effectLst/>
            </c:spPr>
            <c:txPr>
              <a:bodyPr/>
              <a:lstStyle/>
              <a:p>
                <a:pPr>
                  <a:defRPr sz="750" b="0" i="0" u="none" strike="noStrike">
                    <a:solidFill>
                      <a:srgbClr val="FFFFFF"/>
                    </a:solidFill>
                    <a:latin typeface="Calibri"/>
                  </a:defRPr>
                </a:pPr>
                <a:endParaRPr lang="en-US"/>
              </a:p>
            </c:txPr>
            <c:dLblPos val="ctr"/>
            <c:showLegendKey val="0"/>
            <c:showVal val="1"/>
            <c:showCatName val="0"/>
            <c:showSerName val="0"/>
            <c:showPercent val="0"/>
            <c:showBubbleSize val="0"/>
            <c:showLeaderLines val="0"/>
            <c:extLst>
              <c:ext xmlns:c15="http://schemas.microsoft.com/office/drawing/2012/chart" uri="{CE6537A1-D6FC-4f65-9D91-7224C49458BB}">
                <c15:showLeaderLines val="0"/>
              </c:ext>
            </c:extLst>
          </c:dLbls>
          <c:cat>
            <c:strRef>
              <c:f>Sheet1!$A$2:$A$7</c:f>
              <c:strCache>
                <c:ptCount val="6"/>
                <c:pt idx="0">
                  <c:v>Jan</c:v>
                </c:pt>
                <c:pt idx="1">
                  <c:v>Feb</c:v>
                </c:pt>
                <c:pt idx="2">
                  <c:v>Mar</c:v>
                </c:pt>
                <c:pt idx="3">
                  <c:v>Apr</c:v>
                </c:pt>
                <c:pt idx="4">
                  <c:v>May</c:v>
                </c:pt>
                <c:pt idx="5">
                  <c:v>Jun</c:v>
                </c:pt>
              </c:strCache>
            </c:strRef>
          </c:cat>
          <c:val>
            <c:numRef>
              <c:f>Sheet1!$F$2:$F$7</c:f>
              <c:numCache>
                <c:formatCode>General</c:formatCode>
                <c:ptCount val="6"/>
                <c:pt idx="0">
                  <c:v>1024</c:v>
                </c:pt>
                <c:pt idx="1">
                  <c:v>1021</c:v>
                </c:pt>
                <c:pt idx="2">
                  <c:v>558</c:v>
                </c:pt>
                <c:pt idx="3">
                  <c:v>689</c:v>
                </c:pt>
                <c:pt idx="4">
                  <c:v>874</c:v>
                </c:pt>
                <c:pt idx="5">
                  <c:v>799</c:v>
                </c:pt>
              </c:numCache>
            </c:numRef>
          </c:val>
          <c:extLst>
            <c:ext xmlns:c16="http://schemas.microsoft.com/office/drawing/2014/chart" uri="{C3380CC4-5D6E-409C-BE32-E72D297353CC}">
              <c16:uniqueId val="{00000004-9DE4-4447-8389-11EEF2505625}"/>
            </c:ext>
          </c:extLst>
        </c:ser>
        <c:ser>
          <c:idx val="5"/>
          <c:order val="5"/>
          <c:tx>
            <c:strRef>
              <c:f>Sheet1!$G$1</c:f>
              <c:strCache>
                <c:ptCount val="1"/>
                <c:pt idx="0">
                  <c:v>Corporate Group</c:v>
                </c:pt>
              </c:strCache>
            </c:strRef>
          </c:tx>
          <c:spPr>
            <a:solidFill>
              <a:srgbClr val="8A5A83"/>
            </a:solidFill>
            <a:effectLst/>
          </c:spPr>
          <c:invertIfNegative val="0"/>
          <c:dLbls>
            <c:numFmt formatCode="#,##0;;" sourceLinked="0"/>
            <c:spPr>
              <a:noFill/>
              <a:ln>
                <a:noFill/>
              </a:ln>
              <a:effectLst/>
            </c:spPr>
            <c:txPr>
              <a:bodyPr/>
              <a:lstStyle/>
              <a:p>
                <a:pPr>
                  <a:defRPr sz="750" b="0" i="0" u="none" strike="noStrike">
                    <a:solidFill>
                      <a:srgbClr val="FFFFFF"/>
                    </a:solidFill>
                    <a:latin typeface="Calibri"/>
                  </a:defRPr>
                </a:pPr>
                <a:endParaRPr lang="en-US"/>
              </a:p>
            </c:txPr>
            <c:dLblPos val="ctr"/>
            <c:showLegendKey val="0"/>
            <c:showVal val="1"/>
            <c:showCatName val="0"/>
            <c:showSerName val="0"/>
            <c:showPercent val="0"/>
            <c:showBubbleSize val="0"/>
            <c:showLeaderLines val="0"/>
            <c:extLst>
              <c:ext xmlns:c15="http://schemas.microsoft.com/office/drawing/2012/chart" uri="{CE6537A1-D6FC-4f65-9D91-7224C49458BB}">
                <c15:showLeaderLines val="0"/>
              </c:ext>
            </c:extLst>
          </c:dLbls>
          <c:cat>
            <c:strRef>
              <c:f>Sheet1!$A$2:$A$7</c:f>
              <c:strCache>
                <c:ptCount val="6"/>
                <c:pt idx="0">
                  <c:v>Jan</c:v>
                </c:pt>
                <c:pt idx="1">
                  <c:v>Feb</c:v>
                </c:pt>
                <c:pt idx="2">
                  <c:v>Mar</c:v>
                </c:pt>
                <c:pt idx="3">
                  <c:v>Apr</c:v>
                </c:pt>
                <c:pt idx="4">
                  <c:v>May</c:v>
                </c:pt>
                <c:pt idx="5">
                  <c:v>Jun</c:v>
                </c:pt>
              </c:strCache>
            </c:strRef>
          </c:cat>
          <c:val>
            <c:numRef>
              <c:f>Sheet1!$G$2:$G$7</c:f>
              <c:numCache>
                <c:formatCode>General</c:formatCode>
                <c:ptCount val="6"/>
                <c:pt idx="0">
                  <c:v>0</c:v>
                </c:pt>
                <c:pt idx="1">
                  <c:v>0</c:v>
                </c:pt>
                <c:pt idx="2">
                  <c:v>0</c:v>
                </c:pt>
                <c:pt idx="3">
                  <c:v>0</c:v>
                </c:pt>
                <c:pt idx="4">
                  <c:v>43</c:v>
                </c:pt>
                <c:pt idx="5">
                  <c:v>0</c:v>
                </c:pt>
              </c:numCache>
            </c:numRef>
          </c:val>
          <c:extLst>
            <c:ext xmlns:c16="http://schemas.microsoft.com/office/drawing/2014/chart" uri="{C3380CC4-5D6E-409C-BE32-E72D297353CC}">
              <c16:uniqueId val="{00000005-9DE4-4447-8389-11EEF2505625}"/>
            </c:ext>
          </c:extLst>
        </c:ser>
        <c:ser>
          <c:idx val="6"/>
          <c:order val="6"/>
          <c:tx>
            <c:strRef>
              <c:f>Sheet1!$H$1</c:f>
              <c:strCache>
                <c:ptCount val="1"/>
                <c:pt idx="0">
                  <c:v>Employee</c:v>
                </c:pt>
              </c:strCache>
            </c:strRef>
          </c:tx>
          <c:spPr>
            <a:solidFill>
              <a:srgbClr val="2F8F83"/>
            </a:solidFill>
            <a:effectLst/>
          </c:spPr>
          <c:invertIfNegative val="0"/>
          <c:dLbls>
            <c:numFmt formatCode="#,##0;;" sourceLinked="0"/>
            <c:spPr>
              <a:noFill/>
              <a:ln>
                <a:noFill/>
              </a:ln>
              <a:effectLst/>
            </c:spPr>
            <c:txPr>
              <a:bodyPr/>
              <a:lstStyle/>
              <a:p>
                <a:pPr>
                  <a:defRPr sz="750" b="0" i="0" u="none" strike="noStrike">
                    <a:solidFill>
                      <a:srgbClr val="FFFFFF"/>
                    </a:solidFill>
                    <a:latin typeface="Calibri"/>
                  </a:defRPr>
                </a:pPr>
                <a:endParaRPr lang="en-US"/>
              </a:p>
            </c:txPr>
            <c:dLblPos val="ctr"/>
            <c:showLegendKey val="0"/>
            <c:showVal val="1"/>
            <c:showCatName val="0"/>
            <c:showSerName val="0"/>
            <c:showPercent val="0"/>
            <c:showBubbleSize val="0"/>
            <c:showLeaderLines val="0"/>
            <c:extLst>
              <c:ext xmlns:c15="http://schemas.microsoft.com/office/drawing/2012/chart" uri="{CE6537A1-D6FC-4f65-9D91-7224C49458BB}">
                <c15:showLeaderLines val="0"/>
              </c:ext>
            </c:extLst>
          </c:dLbls>
          <c:cat>
            <c:strRef>
              <c:f>Sheet1!$A$2:$A$7</c:f>
              <c:strCache>
                <c:ptCount val="6"/>
                <c:pt idx="0">
                  <c:v>Jan</c:v>
                </c:pt>
                <c:pt idx="1">
                  <c:v>Feb</c:v>
                </c:pt>
                <c:pt idx="2">
                  <c:v>Mar</c:v>
                </c:pt>
                <c:pt idx="3">
                  <c:v>Apr</c:v>
                </c:pt>
                <c:pt idx="4">
                  <c:v>May</c:v>
                </c:pt>
                <c:pt idx="5">
                  <c:v>Jun</c:v>
                </c:pt>
              </c:strCache>
            </c:strRef>
          </c:cat>
          <c:val>
            <c:numRef>
              <c:f>Sheet1!$H$2:$H$7</c:f>
              <c:numCache>
                <c:formatCode>General</c:formatCode>
                <c:ptCount val="6"/>
                <c:pt idx="0">
                  <c:v>19</c:v>
                </c:pt>
                <c:pt idx="1">
                  <c:v>17</c:v>
                </c:pt>
                <c:pt idx="2">
                  <c:v>11</c:v>
                </c:pt>
                <c:pt idx="3">
                  <c:v>17</c:v>
                </c:pt>
                <c:pt idx="4">
                  <c:v>25</c:v>
                </c:pt>
                <c:pt idx="5">
                  <c:v>29</c:v>
                </c:pt>
              </c:numCache>
            </c:numRef>
          </c:val>
          <c:extLst>
            <c:ext xmlns:c16="http://schemas.microsoft.com/office/drawing/2014/chart" uri="{C3380CC4-5D6E-409C-BE32-E72D297353CC}">
              <c16:uniqueId val="{00000006-9DE4-4447-8389-11EEF2505625}"/>
            </c:ext>
          </c:extLst>
        </c:ser>
        <c:dLbls>
          <c:dLblPos val="ctr"/>
          <c:showLegendKey val="0"/>
          <c:showVal val="1"/>
          <c:showCatName val="0"/>
          <c:showSerName val="0"/>
          <c:showPercent val="0"/>
          <c:showBubbleSize val="0"/>
        </c:dLbls>
        <c:gapWidth val="45"/>
        <c:overlap val="100"/>
        <c:axId val="2094734554"/>
        <c:axId val="2094734552"/>
      </c:barChart>
      <c:catAx>
        <c:axId val="2094734554"/>
        <c:scaling>
          <c:orientation val="minMax"/>
        </c:scaling>
        <c:delete val="0"/>
        <c:axPos val="b"/>
        <c:numFmt formatCode="General" sourceLinked="1"/>
        <c:majorTickMark val="out"/>
        <c:minorTickMark val="none"/>
        <c:tickLblPos val="low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1000" b="0" i="0" u="none" strike="noStrike">
                <a:solidFill>
                  <a:srgbClr val="6B7280"/>
                </a:solidFill>
                <a:latin typeface="Calibri"/>
              </a:defRPr>
            </a:pPr>
            <a:endParaRPr lang="en-US"/>
          </a:p>
        </c:txPr>
        <c:crossAx val="2094734552"/>
        <c:crosses val="autoZero"/>
        <c:auto val="1"/>
        <c:lblAlgn val="ctr"/>
        <c:lblOffset val="100"/>
        <c:noMultiLvlLbl val="1"/>
      </c:catAx>
      <c:valAx>
        <c:axId val="2094734552"/>
        <c:scaling>
          <c:orientation val="minMax"/>
        </c:scaling>
        <c:delete val="0"/>
        <c:axPos val="l"/>
        <c:majorGridlines>
          <c:spPr>
            <a:ln w="6350" cap="flat">
              <a:solidFill>
                <a:srgbClr val="E5E8EF"/>
              </a:solidFill>
              <a:prstDash val="solid"/>
              <a:round/>
            </a:ln>
          </c:spPr>
        </c:majorGridlines>
        <c:numFmt formatCode="General" sourceLinked="0"/>
        <c:majorTickMark val="out"/>
        <c:minorTickMark val="none"/>
        <c:tickLblPos val="nextTo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950" b="0" i="0" u="none" strike="noStrike">
                <a:solidFill>
                  <a:srgbClr val="6B7280"/>
                </a:solidFill>
                <a:latin typeface="Calibri"/>
              </a:defRPr>
            </a:pPr>
            <a:endParaRPr lang="en-US"/>
          </a:p>
        </c:txPr>
        <c:crossAx val="2094734554"/>
        <c:crosses val="autoZero"/>
        <c:crossBetween val="between"/>
      </c:valAx>
      <c:spPr>
        <a:noFill/>
        <a:ln>
          <a:noFill/>
        </a:ln>
        <a:effectLst/>
      </c:spPr>
    </c:plotArea>
    <c:legend>
      <c:legendPos val="b"/>
      <c:overlay val="0"/>
      <c:txPr>
        <a:bodyPr/>
        <a:lstStyle/>
        <a:p>
          <a:pPr>
            <a:defRPr sz="1000">
              <a:solidFill>
                <a:srgbClr val="26292E"/>
              </a:solidFill>
              <a:latin typeface="Calibri"/>
              <a:cs typeface="Calibri"/>
            </a:defRPr>
          </a:pPr>
          <a:endParaRPr lang="en-US"/>
        </a:p>
      </c:txPr>
    </c:legend>
    <c:plotVisOnly val="1"/>
    <c:dispBlanksAs val="span"/>
    <c:showDLblsOverMax val="1"/>
  </c:chart>
  <c:spPr>
    <a:noFill/>
    <a:ln>
      <a:noFill/>
    </a:ln>
    <a:effectLst/>
  </c:spPr>
  <c:externalData r:id="rId1">
    <c:autoUpdate val="0"/>
  </c:externalData>
</c:chartSpace>
</file>

<file path=ppt/charts/chart35.xml><?xml version="1.0" encoding="utf-8"?>
<c:chartSpace xmlns:c="http://schemas.openxmlformats.org/drawingml/2006/chart" xmlns:a="http://schemas.openxmlformats.org/drawingml/2006/main" xmlns:r="http://schemas.openxmlformats.org/officeDocument/2006/relationships" xmlns:c16r2="http://schemas.microsoft.com/office/drawing/2015/06/chart">
  <c:date1904 val="0"/>
  <c:lang val="en-US"/>
  <c:roundedCorners val="1"/>
  <c:style val="2"/>
  <c:chart>
    <c:title>
      <c:tx>
        <c:rich>
          <a:bodyPr/>
          <a:lstStyle/>
          <a:p>
            <a:pPr>
              <a:defRPr sz="1300" b="0" i="0" u="none" strike="noStrike">
                <a:solidFill>
                  <a:srgbClr val="1E2761"/>
                </a:solidFill>
                <a:latin typeface="Calibri"/>
              </a:defRPr>
            </a:pPr>
            <a:r>
              <a:rPr lang="en-US" sz="1300" b="0" i="0" u="none" strike="noStrike">
                <a:solidFill>
                  <a:srgbClr val="1E2761"/>
                </a:solidFill>
                <a:latin typeface="Calibri"/>
              </a:rPr>
              <a:t>YTD mix (27,714 RN)</a:t>
            </a:r>
          </a:p>
        </c:rich>
      </c:tx>
      <c:overlay val="0"/>
    </c:title>
    <c:autoTitleDeleted val="0"/>
    <c:plotArea>
      <c:layout/>
      <c:doughnutChart>
        <c:varyColors val="1"/>
        <c:ser>
          <c:idx val="0"/>
          <c:order val="0"/>
          <c:tx>
            <c:strRef>
              <c:f>Sheet1!$B$1</c:f>
              <c:strCache>
                <c:ptCount val="1"/>
                <c:pt idx="0">
                  <c:v>YTD</c:v>
                </c:pt>
              </c:strCache>
            </c:strRef>
          </c:tx>
          <c:spPr>
            <a:solidFill>
              <a:schemeClr val="accent1"/>
            </a:solidFill>
            <a:ln w="9525" cap="flat">
              <a:solidFill>
                <a:srgbClr val="F9F9F9"/>
              </a:solidFill>
              <a:prstDash val="solid"/>
              <a:round/>
            </a:ln>
            <a:effectLst/>
          </c:spPr>
          <c:dPt>
            <c:idx val="0"/>
            <c:bubble3D val="0"/>
            <c:spPr>
              <a:solidFill>
                <a:srgbClr val="1E2761"/>
              </a:solidFill>
              <a:effectLst/>
            </c:spPr>
            <c:extLst>
              <c:ext xmlns:c16="http://schemas.microsoft.com/office/drawing/2014/chart" uri="{C3380CC4-5D6E-409C-BE32-E72D297353CC}">
                <c16:uniqueId val="{00000001-7462-47FD-9E01-464BE07F3DBD}"/>
              </c:ext>
            </c:extLst>
          </c:dPt>
          <c:dPt>
            <c:idx val="1"/>
            <c:bubble3D val="0"/>
            <c:spPr>
              <a:solidFill>
                <a:srgbClr val="4A6FC4"/>
              </a:solidFill>
              <a:effectLst/>
            </c:spPr>
            <c:extLst>
              <c:ext xmlns:c16="http://schemas.microsoft.com/office/drawing/2014/chart" uri="{C3380CC4-5D6E-409C-BE32-E72D297353CC}">
                <c16:uniqueId val="{00000003-7462-47FD-9E01-464BE07F3DBD}"/>
              </c:ext>
            </c:extLst>
          </c:dPt>
          <c:dPt>
            <c:idx val="2"/>
            <c:bubble3D val="0"/>
            <c:spPr>
              <a:solidFill>
                <a:srgbClr val="7FA4DC"/>
              </a:solidFill>
              <a:effectLst/>
            </c:spPr>
            <c:extLst>
              <c:ext xmlns:c16="http://schemas.microsoft.com/office/drawing/2014/chart" uri="{C3380CC4-5D6E-409C-BE32-E72D297353CC}">
                <c16:uniqueId val="{00000005-7462-47FD-9E01-464BE07F3DBD}"/>
              </c:ext>
            </c:extLst>
          </c:dPt>
          <c:dPt>
            <c:idx val="3"/>
            <c:bubble3D val="0"/>
            <c:spPr>
              <a:solidFill>
                <a:srgbClr val="AFC6EC"/>
              </a:solidFill>
              <a:effectLst/>
            </c:spPr>
            <c:extLst>
              <c:ext xmlns:c16="http://schemas.microsoft.com/office/drawing/2014/chart" uri="{C3380CC4-5D6E-409C-BE32-E72D297353CC}">
                <c16:uniqueId val="{00000007-7462-47FD-9E01-464BE07F3DBD}"/>
              </c:ext>
            </c:extLst>
          </c:dPt>
          <c:dPt>
            <c:idx val="4"/>
            <c:bubble3D val="0"/>
            <c:spPr>
              <a:solidFill>
                <a:srgbClr val="D9A441"/>
              </a:solidFill>
              <a:effectLst/>
            </c:spPr>
            <c:extLst>
              <c:ext xmlns:c16="http://schemas.microsoft.com/office/drawing/2014/chart" uri="{C3380CC4-5D6E-409C-BE32-E72D297353CC}">
                <c16:uniqueId val="{00000009-7462-47FD-9E01-464BE07F3DBD}"/>
              </c:ext>
            </c:extLst>
          </c:dPt>
          <c:dPt>
            <c:idx val="5"/>
            <c:bubble3D val="0"/>
            <c:spPr>
              <a:solidFill>
                <a:srgbClr val="8A5A83"/>
              </a:solidFill>
              <a:effectLst/>
            </c:spPr>
            <c:extLst>
              <c:ext xmlns:c16="http://schemas.microsoft.com/office/drawing/2014/chart" uri="{C3380CC4-5D6E-409C-BE32-E72D297353CC}">
                <c16:uniqueId val="{0000000B-7462-47FD-9E01-464BE07F3DBD}"/>
              </c:ext>
            </c:extLst>
          </c:dPt>
          <c:dPt>
            <c:idx val="6"/>
            <c:bubble3D val="0"/>
            <c:spPr>
              <a:solidFill>
                <a:srgbClr val="2F8F83"/>
              </a:solidFill>
              <a:effectLst/>
            </c:spPr>
            <c:extLst>
              <c:ext xmlns:c16="http://schemas.microsoft.com/office/drawing/2014/chart" uri="{C3380CC4-5D6E-409C-BE32-E72D297353CC}">
                <c16:uniqueId val="{0000000D-7462-47FD-9E01-464BE07F3DBD}"/>
              </c:ext>
            </c:extLst>
          </c:dPt>
          <c:dLbls>
            <c:dLbl>
              <c:idx val="0"/>
              <c:numFmt formatCode="0%" sourceLinked="0"/>
              <c:spPr/>
              <c:txPr>
                <a:bodyPr/>
                <a:lstStyle/>
                <a:p>
                  <a:pPr>
                    <a:defRPr sz="900" b="0" i="0" u="none" strike="noStrike">
                      <a:solidFill>
                        <a:srgbClr val="FFFFFF"/>
                      </a:solidFill>
                      <a:latin typeface="Calibri"/>
                    </a:defRPr>
                  </a:pPr>
                  <a:endParaRPr lang="en-US"/>
                </a:p>
              </c:txPr>
              <c:showLegendKey val="0"/>
              <c:showVal val="0"/>
              <c:showCatName val="0"/>
              <c:showSerName val="0"/>
              <c:showPercent val="1"/>
              <c:showBubbleSize val="0"/>
              <c:extLst>
                <c:ext xmlns:c15="http://schemas.microsoft.com/office/drawing/2012/chart" uri="{CE6537A1-D6FC-4f65-9D91-7224C49458BB}"/>
                <c:ext xmlns:c16="http://schemas.microsoft.com/office/drawing/2014/chart" uri="{C3380CC4-5D6E-409C-BE32-E72D297353CC}">
                  <c16:uniqueId val="{00000001-7462-47FD-9E01-464BE07F3DBD}"/>
                </c:ext>
              </c:extLst>
            </c:dLbl>
            <c:dLbl>
              <c:idx val="1"/>
              <c:numFmt formatCode="0%" sourceLinked="0"/>
              <c:spPr/>
              <c:txPr>
                <a:bodyPr/>
                <a:lstStyle/>
                <a:p>
                  <a:pPr>
                    <a:defRPr sz="900" b="0" i="0" u="none" strike="noStrike">
                      <a:solidFill>
                        <a:srgbClr val="FFFFFF"/>
                      </a:solidFill>
                      <a:latin typeface="Calibri"/>
                    </a:defRPr>
                  </a:pPr>
                  <a:endParaRPr lang="en-US"/>
                </a:p>
              </c:txPr>
              <c:showLegendKey val="0"/>
              <c:showVal val="0"/>
              <c:showCatName val="0"/>
              <c:showSerName val="0"/>
              <c:showPercent val="1"/>
              <c:showBubbleSize val="0"/>
              <c:extLst>
                <c:ext xmlns:c15="http://schemas.microsoft.com/office/drawing/2012/chart" uri="{CE6537A1-D6FC-4f65-9D91-7224C49458BB}"/>
                <c:ext xmlns:c16="http://schemas.microsoft.com/office/drawing/2014/chart" uri="{C3380CC4-5D6E-409C-BE32-E72D297353CC}">
                  <c16:uniqueId val="{00000003-7462-47FD-9E01-464BE07F3DBD}"/>
                </c:ext>
              </c:extLst>
            </c:dLbl>
            <c:dLbl>
              <c:idx val="2"/>
              <c:numFmt formatCode="0%" sourceLinked="0"/>
              <c:spPr/>
              <c:txPr>
                <a:bodyPr/>
                <a:lstStyle/>
                <a:p>
                  <a:pPr>
                    <a:defRPr sz="900" b="0" i="0" u="none" strike="noStrike">
                      <a:solidFill>
                        <a:srgbClr val="FFFFFF"/>
                      </a:solidFill>
                      <a:latin typeface="Calibri"/>
                    </a:defRPr>
                  </a:pPr>
                  <a:endParaRPr lang="en-US"/>
                </a:p>
              </c:txPr>
              <c:showLegendKey val="0"/>
              <c:showVal val="0"/>
              <c:showCatName val="0"/>
              <c:showSerName val="0"/>
              <c:showPercent val="1"/>
              <c:showBubbleSize val="0"/>
              <c:extLst>
                <c:ext xmlns:c15="http://schemas.microsoft.com/office/drawing/2012/chart" uri="{CE6537A1-D6FC-4f65-9D91-7224C49458BB}"/>
                <c:ext xmlns:c16="http://schemas.microsoft.com/office/drawing/2014/chart" uri="{C3380CC4-5D6E-409C-BE32-E72D297353CC}">
                  <c16:uniqueId val="{00000005-7462-47FD-9E01-464BE07F3DBD}"/>
                </c:ext>
              </c:extLst>
            </c:dLbl>
            <c:dLbl>
              <c:idx val="3"/>
              <c:numFmt formatCode="0%" sourceLinked="0"/>
              <c:spPr/>
              <c:txPr>
                <a:bodyPr/>
                <a:lstStyle/>
                <a:p>
                  <a:pPr>
                    <a:defRPr sz="900" b="0" i="0" u="none" strike="noStrike">
                      <a:solidFill>
                        <a:srgbClr val="FFFFFF"/>
                      </a:solidFill>
                      <a:latin typeface="Calibri"/>
                    </a:defRPr>
                  </a:pPr>
                  <a:endParaRPr lang="en-US"/>
                </a:p>
              </c:txPr>
              <c:showLegendKey val="0"/>
              <c:showVal val="0"/>
              <c:showCatName val="0"/>
              <c:showSerName val="0"/>
              <c:showPercent val="1"/>
              <c:showBubbleSize val="0"/>
              <c:extLst>
                <c:ext xmlns:c15="http://schemas.microsoft.com/office/drawing/2012/chart" uri="{CE6537A1-D6FC-4f65-9D91-7224C49458BB}"/>
                <c:ext xmlns:c16="http://schemas.microsoft.com/office/drawing/2014/chart" uri="{C3380CC4-5D6E-409C-BE32-E72D297353CC}">
                  <c16:uniqueId val="{00000007-7462-47FD-9E01-464BE07F3DBD}"/>
                </c:ext>
              </c:extLst>
            </c:dLbl>
            <c:dLbl>
              <c:idx val="4"/>
              <c:numFmt formatCode="0%" sourceLinked="0"/>
              <c:spPr/>
              <c:txPr>
                <a:bodyPr/>
                <a:lstStyle/>
                <a:p>
                  <a:pPr>
                    <a:defRPr sz="900" b="0" i="0" u="none" strike="noStrike">
                      <a:solidFill>
                        <a:srgbClr val="FFFFFF"/>
                      </a:solidFill>
                      <a:latin typeface="Calibri"/>
                    </a:defRPr>
                  </a:pPr>
                  <a:endParaRPr lang="en-US"/>
                </a:p>
              </c:txPr>
              <c:showLegendKey val="0"/>
              <c:showVal val="0"/>
              <c:showCatName val="0"/>
              <c:showSerName val="0"/>
              <c:showPercent val="1"/>
              <c:showBubbleSize val="0"/>
              <c:extLst>
                <c:ext xmlns:c15="http://schemas.microsoft.com/office/drawing/2012/chart" uri="{CE6537A1-D6FC-4f65-9D91-7224C49458BB}"/>
                <c:ext xmlns:c16="http://schemas.microsoft.com/office/drawing/2014/chart" uri="{C3380CC4-5D6E-409C-BE32-E72D297353CC}">
                  <c16:uniqueId val="{00000009-7462-47FD-9E01-464BE07F3DBD}"/>
                </c:ext>
              </c:extLst>
            </c:dLbl>
            <c:dLbl>
              <c:idx val="5"/>
              <c:numFmt formatCode="0%" sourceLinked="0"/>
              <c:spPr/>
              <c:txPr>
                <a:bodyPr/>
                <a:lstStyle/>
                <a:p>
                  <a:pPr>
                    <a:defRPr sz="900" b="0" i="0" u="none" strike="noStrike">
                      <a:solidFill>
                        <a:srgbClr val="FFFFFF"/>
                      </a:solidFill>
                      <a:latin typeface="Calibri"/>
                    </a:defRPr>
                  </a:pPr>
                  <a:endParaRPr lang="en-US"/>
                </a:p>
              </c:txPr>
              <c:showLegendKey val="0"/>
              <c:showVal val="0"/>
              <c:showCatName val="0"/>
              <c:showSerName val="0"/>
              <c:showPercent val="1"/>
              <c:showBubbleSize val="0"/>
              <c:extLst>
                <c:ext xmlns:c15="http://schemas.microsoft.com/office/drawing/2012/chart" uri="{CE6537A1-D6FC-4f65-9D91-7224C49458BB}"/>
                <c:ext xmlns:c16="http://schemas.microsoft.com/office/drawing/2014/chart" uri="{C3380CC4-5D6E-409C-BE32-E72D297353CC}">
                  <c16:uniqueId val="{0000000B-7462-47FD-9E01-464BE07F3DBD}"/>
                </c:ext>
              </c:extLst>
            </c:dLbl>
            <c:dLbl>
              <c:idx val="6"/>
              <c:numFmt formatCode="0%" sourceLinked="0"/>
              <c:spPr/>
              <c:txPr>
                <a:bodyPr/>
                <a:lstStyle/>
                <a:p>
                  <a:pPr>
                    <a:defRPr sz="900" b="0" i="0" u="none" strike="noStrike">
                      <a:solidFill>
                        <a:srgbClr val="FFFFFF"/>
                      </a:solidFill>
                      <a:latin typeface="Calibri"/>
                    </a:defRPr>
                  </a:pPr>
                  <a:endParaRPr lang="en-US"/>
                </a:p>
              </c:txPr>
              <c:showLegendKey val="0"/>
              <c:showVal val="0"/>
              <c:showCatName val="0"/>
              <c:showSerName val="0"/>
              <c:showPercent val="1"/>
              <c:showBubbleSize val="0"/>
              <c:extLst>
                <c:ext xmlns:c15="http://schemas.microsoft.com/office/drawing/2012/chart" uri="{CE6537A1-D6FC-4f65-9D91-7224C49458BB}"/>
                <c:ext xmlns:c16="http://schemas.microsoft.com/office/drawing/2014/chart" uri="{C3380CC4-5D6E-409C-BE32-E72D297353CC}">
                  <c16:uniqueId val="{0000000D-7462-47FD-9E01-464BE07F3DBD}"/>
                </c:ext>
              </c:extLst>
            </c:dLbl>
            <c:numFmt formatCode="0%" sourceLinked="0"/>
            <c:spPr>
              <a:noFill/>
              <a:ln>
                <a:noFill/>
              </a:ln>
              <a:effectLst/>
            </c:spPr>
            <c:txPr>
              <a:bodyPr/>
              <a:lstStyle/>
              <a:p>
                <a:pPr>
                  <a:defRPr sz="1800" b="0" i="0" u="none" strike="noStrike">
                    <a:solidFill>
                      <a:srgbClr val="000000"/>
                    </a:solidFill>
                    <a:latin typeface="Arial"/>
                  </a:defRPr>
                </a:pPr>
                <a:endParaRPr lang="en-US"/>
              </a:p>
            </c:txPr>
            <c:showLegendKey val="0"/>
            <c:showVal val="0"/>
            <c:showCatName val="1"/>
            <c:showSerName val="0"/>
            <c:showPercent val="1"/>
            <c:showBubbleSize val="0"/>
            <c:showLeaderLines val="0"/>
            <c:extLst>
              <c:ext xmlns:c15="http://schemas.microsoft.com/office/drawing/2012/chart" uri="{CE6537A1-D6FC-4f65-9D91-7224C49458BB}"/>
            </c:extLst>
          </c:dLbls>
          <c:cat>
            <c:strRef>
              <c:f>Sheet1!$A$2:$A$8</c:f>
              <c:strCache>
                <c:ptCount val="7"/>
                <c:pt idx="0">
                  <c:v>Corporate SS</c:v>
                </c:pt>
                <c:pt idx="1">
                  <c:v>Corporate LS</c:v>
                </c:pt>
                <c:pt idx="2">
                  <c:v>Online</c:v>
                </c:pt>
                <c:pt idx="3">
                  <c:v>ASR</c:v>
                </c:pt>
                <c:pt idx="4">
                  <c:v>Wholesale</c:v>
                </c:pt>
                <c:pt idx="5">
                  <c:v>Corporate Group</c:v>
                </c:pt>
                <c:pt idx="6">
                  <c:v>Employee</c:v>
                </c:pt>
              </c:strCache>
            </c:strRef>
          </c:cat>
          <c:val>
            <c:numRef>
              <c:f>Sheet1!$B$2:$B$8</c:f>
              <c:numCache>
                <c:formatCode>General</c:formatCode>
                <c:ptCount val="7"/>
                <c:pt idx="0">
                  <c:v>900</c:v>
                </c:pt>
                <c:pt idx="1">
                  <c:v>181</c:v>
                </c:pt>
                <c:pt idx="2">
                  <c:v>18270</c:v>
                </c:pt>
                <c:pt idx="3">
                  <c:v>3237</c:v>
                </c:pt>
                <c:pt idx="4">
                  <c:v>4965</c:v>
                </c:pt>
                <c:pt idx="5">
                  <c:v>43</c:v>
                </c:pt>
                <c:pt idx="6">
                  <c:v>118</c:v>
                </c:pt>
              </c:numCache>
            </c:numRef>
          </c:val>
          <c:extLst>
            <c:ext xmlns:c16="http://schemas.microsoft.com/office/drawing/2014/chart" uri="{C3380CC4-5D6E-409C-BE32-E72D297353CC}">
              <c16:uniqueId val="{0000000E-7462-47FD-9E01-464BE07F3DBD}"/>
            </c:ext>
          </c:extLst>
        </c:ser>
        <c:dLbls>
          <c:showLegendKey val="0"/>
          <c:showVal val="0"/>
          <c:showCatName val="0"/>
          <c:showSerName val="0"/>
          <c:showPercent val="0"/>
          <c:showBubbleSize val="0"/>
          <c:showLeaderLines val="0"/>
        </c:dLbls>
        <c:firstSliceAng val="0"/>
        <c:holeSize val="55"/>
      </c:doughnutChart>
      <c:spPr>
        <a:noFill/>
        <a:ln>
          <a:noFill/>
        </a:ln>
        <a:effectLst/>
      </c:spPr>
    </c:plotArea>
    <c:legend>
      <c:legendPos val="r"/>
      <c:overlay val="0"/>
      <c:txPr>
        <a:bodyPr/>
        <a:lstStyle/>
        <a:p>
          <a:pPr>
            <a:defRPr sz="950">
              <a:solidFill>
                <a:srgbClr val="26292E"/>
              </a:solidFill>
              <a:latin typeface="Calibri"/>
              <a:cs typeface="Calibri"/>
            </a:defRPr>
          </a:pPr>
          <a:endParaRPr lang="en-US"/>
        </a:p>
      </c:txPr>
    </c:legend>
    <c:plotVisOnly val="1"/>
    <c:dispBlanksAs val="span"/>
    <c:showDLblsOverMax val="1"/>
  </c:chart>
  <c:spPr>
    <a:noFill/>
    <a:ln>
      <a:noFill/>
    </a:ln>
    <a:effectLst/>
  </c:spPr>
  <c:externalData r:id="rId1">
    <c:autoUpdate val="0"/>
  </c:externalData>
</c:chartSpace>
</file>

<file path=ppt/charts/chart36.xml><?xml version="1.0" encoding="utf-8"?>
<c:chartSpace xmlns:c="http://schemas.openxmlformats.org/drawingml/2006/chart" xmlns:a="http://schemas.openxmlformats.org/drawingml/2006/main" xmlns:r="http://schemas.openxmlformats.org/officeDocument/2006/relationships" xmlns:c16r2="http://schemas.microsoft.com/office/drawing/2015/06/chart">
  <c:date1904 val="0"/>
  <c:lang val="en-US"/>
  <c:roundedCorners val="1"/>
  <c:style val="2"/>
  <c:chart>
    <c:title>
      <c:tx>
        <c:rich>
          <a:bodyPr/>
          <a:lstStyle/>
          <a:p>
            <a:pPr>
              <a:defRPr sz="1300" b="0" i="0" u="none" strike="noStrike">
                <a:solidFill>
                  <a:srgbClr val="1E2761"/>
                </a:solidFill>
                <a:latin typeface="Calibri"/>
              </a:defRPr>
            </a:pPr>
            <a:r>
              <a:rPr lang="en-US" sz="1300" b="0" i="0" u="none" strike="noStrike">
                <a:solidFill>
                  <a:srgbClr val="1E2761"/>
                </a:solidFill>
                <a:latin typeface="Calibri"/>
              </a:rPr>
              <a:t>Room nights H1 (Jan–Jun)</a:t>
            </a:r>
          </a:p>
        </c:rich>
      </c:tx>
      <c:overlay val="0"/>
    </c:title>
    <c:autoTitleDeleted val="0"/>
    <c:plotArea>
      <c:layout/>
      <c:barChart>
        <c:barDir val="bar"/>
        <c:grouping val="clustered"/>
        <c:varyColors val="0"/>
        <c:ser>
          <c:idx val="0"/>
          <c:order val="0"/>
          <c:tx>
            <c:strRef>
              <c:f>Sheet1!$B$1</c:f>
              <c:strCache>
                <c:ptCount val="1"/>
                <c:pt idx="0">
                  <c:v>2025 H1</c:v>
                </c:pt>
              </c:strCache>
            </c:strRef>
          </c:tx>
          <c:spPr>
            <a:solidFill>
              <a:srgbClr val="7FA4DC"/>
            </a:solidFill>
            <a:effectLst/>
          </c:spPr>
          <c:invertIfNegative val="0"/>
          <c:dLbls>
            <c:numFmt formatCode="#,##0;;" sourceLinked="0"/>
            <c:spPr>
              <a:noFill/>
              <a:ln>
                <a:noFill/>
              </a:ln>
              <a:effectLst/>
            </c:spPr>
            <c:txPr>
              <a:bodyPr/>
              <a:lstStyle/>
              <a:p>
                <a:pPr>
                  <a:defRPr sz="800" b="0" i="0" u="none" strike="noStrike">
                    <a:solidFill>
                      <a:srgbClr val="6B7280"/>
                    </a:solidFill>
                    <a:latin typeface="Calibri"/>
                  </a:defRPr>
                </a:pPr>
                <a:endParaRPr lang="en-US"/>
              </a:p>
            </c:txPr>
            <c:showLegendKey val="0"/>
            <c:showVal val="1"/>
            <c:showCatName val="0"/>
            <c:showSerName val="0"/>
            <c:showPercent val="0"/>
            <c:showBubbleSize val="0"/>
            <c:showLeaderLines val="0"/>
            <c:extLst>
              <c:ext xmlns:c15="http://schemas.microsoft.com/office/drawing/2012/chart" uri="{CE6537A1-D6FC-4f65-9D91-7224C49458BB}">
                <c15:showLeaderLines val="0"/>
              </c:ext>
            </c:extLst>
          </c:dLbls>
          <c:cat>
            <c:strRef>
              <c:f>Sheet1!$A$2:$A$11</c:f>
              <c:strCache>
                <c:ptCount val="10"/>
                <c:pt idx="0">
                  <c:v>China</c:v>
                </c:pt>
                <c:pt idx="1">
                  <c:v>Indonesia</c:v>
                </c:pt>
                <c:pt idx="2">
                  <c:v>Singapore</c:v>
                </c:pt>
                <c:pt idx="3">
                  <c:v>Malaysia</c:v>
                </c:pt>
                <c:pt idx="4">
                  <c:v>Taiwan</c:v>
                </c:pt>
                <c:pt idx="5">
                  <c:v>Thailand</c:v>
                </c:pt>
                <c:pt idx="6">
                  <c:v>USA</c:v>
                </c:pt>
                <c:pt idx="7">
                  <c:v>Japan</c:v>
                </c:pt>
                <c:pt idx="8">
                  <c:v>UK</c:v>
                </c:pt>
                <c:pt idx="9">
                  <c:v>Germany</c:v>
                </c:pt>
              </c:strCache>
            </c:strRef>
          </c:cat>
          <c:val>
            <c:numRef>
              <c:f>Sheet1!$B$2:$B$11</c:f>
              <c:numCache>
                <c:formatCode>General</c:formatCode>
                <c:ptCount val="10"/>
                <c:pt idx="0">
                  <c:v>4642</c:v>
                </c:pt>
                <c:pt idx="1">
                  <c:v>1017</c:v>
                </c:pt>
                <c:pt idx="2">
                  <c:v>2762</c:v>
                </c:pt>
                <c:pt idx="3">
                  <c:v>2138</c:v>
                </c:pt>
                <c:pt idx="4">
                  <c:v>1200</c:v>
                </c:pt>
                <c:pt idx="5">
                  <c:v>1873</c:v>
                </c:pt>
                <c:pt idx="6">
                  <c:v>1999</c:v>
                </c:pt>
                <c:pt idx="7">
                  <c:v>926</c:v>
                </c:pt>
                <c:pt idx="8">
                  <c:v>1201</c:v>
                </c:pt>
                <c:pt idx="9">
                  <c:v>0</c:v>
                </c:pt>
              </c:numCache>
            </c:numRef>
          </c:val>
          <c:extLst>
            <c:ext xmlns:c16="http://schemas.microsoft.com/office/drawing/2014/chart" uri="{C3380CC4-5D6E-409C-BE32-E72D297353CC}">
              <c16:uniqueId val="{00000000-3F42-44CF-BE94-3540394E7CCD}"/>
            </c:ext>
          </c:extLst>
        </c:ser>
        <c:ser>
          <c:idx val="1"/>
          <c:order val="1"/>
          <c:tx>
            <c:strRef>
              <c:f>Sheet1!$C$1</c:f>
              <c:strCache>
                <c:ptCount val="1"/>
                <c:pt idx="0">
                  <c:v>2026 H1</c:v>
                </c:pt>
              </c:strCache>
            </c:strRef>
          </c:tx>
          <c:spPr>
            <a:solidFill>
              <a:srgbClr val="1E2761"/>
            </a:solidFill>
            <a:effectLst/>
          </c:spPr>
          <c:invertIfNegative val="0"/>
          <c:dLbls>
            <c:numFmt formatCode="#,##0;;" sourceLinked="0"/>
            <c:spPr>
              <a:noFill/>
              <a:ln>
                <a:noFill/>
              </a:ln>
              <a:effectLst/>
            </c:spPr>
            <c:txPr>
              <a:bodyPr/>
              <a:lstStyle/>
              <a:p>
                <a:pPr>
                  <a:defRPr sz="800" b="0" i="0" u="none" strike="noStrike">
                    <a:solidFill>
                      <a:srgbClr val="6B7280"/>
                    </a:solidFill>
                    <a:latin typeface="Calibri"/>
                  </a:defRPr>
                </a:pPr>
                <a:endParaRPr lang="en-US"/>
              </a:p>
            </c:txPr>
            <c:showLegendKey val="0"/>
            <c:showVal val="1"/>
            <c:showCatName val="0"/>
            <c:showSerName val="0"/>
            <c:showPercent val="0"/>
            <c:showBubbleSize val="0"/>
            <c:showLeaderLines val="0"/>
            <c:extLst>
              <c:ext xmlns:c15="http://schemas.microsoft.com/office/drawing/2012/chart" uri="{CE6537A1-D6FC-4f65-9D91-7224C49458BB}">
                <c15:showLeaderLines val="0"/>
              </c:ext>
            </c:extLst>
          </c:dLbls>
          <c:cat>
            <c:strRef>
              <c:f>Sheet1!$A$2:$A$11</c:f>
              <c:strCache>
                <c:ptCount val="10"/>
                <c:pt idx="0">
                  <c:v>China</c:v>
                </c:pt>
                <c:pt idx="1">
                  <c:v>Indonesia</c:v>
                </c:pt>
                <c:pt idx="2">
                  <c:v>Singapore</c:v>
                </c:pt>
                <c:pt idx="3">
                  <c:v>Malaysia</c:v>
                </c:pt>
                <c:pt idx="4">
                  <c:v>Taiwan</c:v>
                </c:pt>
                <c:pt idx="5">
                  <c:v>Thailand</c:v>
                </c:pt>
                <c:pt idx="6">
                  <c:v>USA</c:v>
                </c:pt>
                <c:pt idx="7">
                  <c:v>Japan</c:v>
                </c:pt>
                <c:pt idx="8">
                  <c:v>UK</c:v>
                </c:pt>
                <c:pt idx="9">
                  <c:v>Germany</c:v>
                </c:pt>
              </c:strCache>
            </c:strRef>
          </c:cat>
          <c:val>
            <c:numRef>
              <c:f>Sheet1!$C$2:$C$11</c:f>
              <c:numCache>
                <c:formatCode>General</c:formatCode>
                <c:ptCount val="10"/>
                <c:pt idx="0">
                  <c:v>5954</c:v>
                </c:pt>
                <c:pt idx="1">
                  <c:v>3034</c:v>
                </c:pt>
                <c:pt idx="2">
                  <c:v>2336</c:v>
                </c:pt>
                <c:pt idx="3">
                  <c:v>2120</c:v>
                </c:pt>
                <c:pt idx="4">
                  <c:v>1524</c:v>
                </c:pt>
                <c:pt idx="5">
                  <c:v>1463</c:v>
                </c:pt>
                <c:pt idx="6">
                  <c:v>1440</c:v>
                </c:pt>
                <c:pt idx="7">
                  <c:v>1038</c:v>
                </c:pt>
                <c:pt idx="8">
                  <c:v>809</c:v>
                </c:pt>
                <c:pt idx="9">
                  <c:v>741</c:v>
                </c:pt>
              </c:numCache>
            </c:numRef>
          </c:val>
          <c:extLst>
            <c:ext xmlns:c16="http://schemas.microsoft.com/office/drawing/2014/chart" uri="{C3380CC4-5D6E-409C-BE32-E72D297353CC}">
              <c16:uniqueId val="{00000001-3F42-44CF-BE94-3540394E7CCD}"/>
            </c:ext>
          </c:extLst>
        </c:ser>
        <c:dLbls>
          <c:showLegendKey val="0"/>
          <c:showVal val="1"/>
          <c:showCatName val="0"/>
          <c:showSerName val="0"/>
          <c:showPercent val="0"/>
          <c:showBubbleSize val="0"/>
        </c:dLbls>
        <c:gapWidth val="40"/>
        <c:axId val="2094734554"/>
        <c:axId val="2094734552"/>
      </c:barChart>
      <c:catAx>
        <c:axId val="2094734554"/>
        <c:scaling>
          <c:orientation val="minMax"/>
        </c:scaling>
        <c:delete val="0"/>
        <c:axPos val="l"/>
        <c:numFmt formatCode="General" sourceLinked="1"/>
        <c:majorTickMark val="out"/>
        <c:minorTickMark val="none"/>
        <c:tickLblPos val="nextTo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950" b="0" i="0" u="none" strike="noStrike">
                <a:solidFill>
                  <a:srgbClr val="6B7280"/>
                </a:solidFill>
                <a:latin typeface="Calibri"/>
              </a:defRPr>
            </a:pPr>
            <a:endParaRPr lang="en-US"/>
          </a:p>
        </c:txPr>
        <c:crossAx val="2094734552"/>
        <c:crosses val="autoZero"/>
        <c:auto val="1"/>
        <c:lblAlgn val="ctr"/>
        <c:lblOffset val="100"/>
        <c:noMultiLvlLbl val="1"/>
      </c:catAx>
      <c:valAx>
        <c:axId val="2094734552"/>
        <c:scaling>
          <c:orientation val="minMax"/>
        </c:scaling>
        <c:delete val="0"/>
        <c:axPos val="b"/>
        <c:majorGridlines>
          <c:spPr>
            <a:ln w="6350" cap="flat">
              <a:solidFill>
                <a:srgbClr val="E5E8EF"/>
              </a:solidFill>
              <a:prstDash val="solid"/>
              <a:round/>
            </a:ln>
          </c:spPr>
        </c:majorGridlines>
        <c:numFmt formatCode="General" sourceLinked="0"/>
        <c:majorTickMark val="out"/>
        <c:minorTickMark val="none"/>
        <c:tickLblPos val="low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950" b="0" i="0" u="none" strike="noStrike">
                <a:solidFill>
                  <a:srgbClr val="6B7280"/>
                </a:solidFill>
                <a:latin typeface="Calibri"/>
              </a:defRPr>
            </a:pPr>
            <a:endParaRPr lang="en-US"/>
          </a:p>
        </c:txPr>
        <c:crossAx val="2094734554"/>
        <c:crosses val="autoZero"/>
        <c:crossBetween val="between"/>
      </c:valAx>
      <c:spPr>
        <a:noFill/>
        <a:ln>
          <a:noFill/>
        </a:ln>
        <a:effectLst/>
      </c:spPr>
    </c:plotArea>
    <c:legend>
      <c:legendPos val="b"/>
      <c:overlay val="0"/>
      <c:txPr>
        <a:bodyPr/>
        <a:lstStyle/>
        <a:p>
          <a:pPr>
            <a:defRPr sz="1000">
              <a:solidFill>
                <a:srgbClr val="26292E"/>
              </a:solidFill>
              <a:latin typeface="Calibri"/>
              <a:cs typeface="Calibri"/>
            </a:defRPr>
          </a:pPr>
          <a:endParaRPr lang="en-US"/>
        </a:p>
      </c:txPr>
    </c:legend>
    <c:plotVisOnly val="1"/>
    <c:dispBlanksAs val="span"/>
    <c:showDLblsOverMax val="1"/>
  </c:chart>
  <c:spPr>
    <a:noFill/>
    <a:ln>
      <a:noFill/>
    </a:ln>
    <a:effectLst/>
  </c:spPr>
  <c:externalData r:id="rId1">
    <c:autoUpdate val="0"/>
  </c:externalData>
</c:chartSpace>
</file>

<file path=ppt/charts/chart39.xml><?xml version="1.0" encoding="utf-8"?>
<c:chartSpace xmlns:c="http://schemas.openxmlformats.org/drawingml/2006/chart" xmlns:a="http://schemas.openxmlformats.org/drawingml/2006/main" xmlns:r="http://schemas.openxmlformats.org/officeDocument/2006/relationships" xmlns:c16r2="http://schemas.microsoft.com/office/drawing/2015/06/chart">
  <c:date1904 val="0"/>
  <c:lang val="en-US"/>
  <c:roundedCorners val="1"/>
  <c:style val="2"/>
  <c:chart>
    <c:title>
      <c:tx>
        <c:rich>
          <a:bodyPr/>
          <a:lstStyle/>
          <a:p>
            <a:pPr>
              <a:defRPr sz="1250" b="0" i="0" u="none" strike="noStrike">
                <a:solidFill>
                  <a:srgbClr val="1E2761"/>
                </a:solidFill>
                <a:latin typeface="Calibri"/>
              </a:defRPr>
            </a:pPr>
            <a:r>
              <a:rPr lang="en-US" sz="1250" b="0" i="0" u="none" strike="noStrike">
                <a:solidFill>
                  <a:srgbClr val="1E2761"/>
                </a:solidFill>
                <a:latin typeface="Calibri"/>
              </a:rPr>
              <a:t>Monthly revenue (฿M)</a:t>
            </a:r>
          </a:p>
        </c:rich>
      </c:tx>
      <c:overlay val="0"/>
    </c:title>
    <c:autoTitleDeleted val="0"/>
    <c:plotArea>
      <c:layout/>
      <c:barChart>
        <c:barDir val="col"/>
        <c:grouping val="clustered"/>
        <c:varyColors val="0"/>
        <c:ser>
          <c:idx val="0"/>
          <c:order val="0"/>
          <c:tx>
            <c:strRef>
              <c:f>Sheet1!$B$1</c:f>
              <c:strCache>
                <c:ptCount val="1"/>
                <c:pt idx="0">
                  <c:v>2024</c:v>
                </c:pt>
              </c:strCache>
            </c:strRef>
          </c:tx>
          <c:spPr>
            <a:solidFill>
              <a:srgbClr val="C9D6EE"/>
            </a:solidFill>
            <a:effectLst/>
          </c:spPr>
          <c:invertIfNegative val="0"/>
          <c:cat>
            <c:strRef>
              <c:f>Sheet1!$A$2:$A$7</c:f>
              <c:strCache>
                <c:ptCount val="6"/>
                <c:pt idx="0">
                  <c:v>Jan</c:v>
                </c:pt>
                <c:pt idx="1">
                  <c:v>Feb</c:v>
                </c:pt>
                <c:pt idx="2">
                  <c:v>Mar</c:v>
                </c:pt>
                <c:pt idx="3">
                  <c:v>Apr</c:v>
                </c:pt>
                <c:pt idx="4">
                  <c:v>May</c:v>
                </c:pt>
                <c:pt idx="5">
                  <c:v>Jun</c:v>
                </c:pt>
              </c:strCache>
            </c:strRef>
          </c:cat>
          <c:val>
            <c:numRef>
              <c:f>Sheet1!$B$2:$B$7</c:f>
              <c:numCache>
                <c:formatCode>General</c:formatCode>
                <c:ptCount val="6"/>
                <c:pt idx="0">
                  <c:v>6277584.4800000004</c:v>
                </c:pt>
                <c:pt idx="1">
                  <c:v>7331522.8399999999</c:v>
                </c:pt>
                <c:pt idx="2">
                  <c:v>6018438.3700000001</c:v>
                </c:pt>
                <c:pt idx="3">
                  <c:v>5676589.5700000003</c:v>
                </c:pt>
                <c:pt idx="4">
                  <c:v>4792394.21</c:v>
                </c:pt>
                <c:pt idx="5">
                  <c:v>6131005.75</c:v>
                </c:pt>
              </c:numCache>
            </c:numRef>
          </c:val>
          <c:extLst>
            <c:ext xmlns:c16="http://schemas.microsoft.com/office/drawing/2014/chart" uri="{C3380CC4-5D6E-409C-BE32-E72D297353CC}">
              <c16:uniqueId val="{00000000-B8A9-4199-B237-407A0327171C}"/>
            </c:ext>
          </c:extLst>
        </c:ser>
        <c:ser>
          <c:idx val="1"/>
          <c:order val="1"/>
          <c:tx>
            <c:strRef>
              <c:f>Sheet1!$C$1</c:f>
              <c:strCache>
                <c:ptCount val="1"/>
                <c:pt idx="0">
                  <c:v>2025</c:v>
                </c:pt>
              </c:strCache>
            </c:strRef>
          </c:tx>
          <c:spPr>
            <a:solidFill>
              <a:srgbClr val="7FA4DC"/>
            </a:solidFill>
            <a:effectLst/>
          </c:spPr>
          <c:invertIfNegative val="0"/>
          <c:cat>
            <c:strRef>
              <c:f>Sheet1!$A$2:$A$7</c:f>
              <c:strCache>
                <c:ptCount val="6"/>
                <c:pt idx="0">
                  <c:v>Jan</c:v>
                </c:pt>
                <c:pt idx="1">
                  <c:v>Feb</c:v>
                </c:pt>
                <c:pt idx="2">
                  <c:v>Mar</c:v>
                </c:pt>
                <c:pt idx="3">
                  <c:v>Apr</c:v>
                </c:pt>
                <c:pt idx="4">
                  <c:v>May</c:v>
                </c:pt>
                <c:pt idx="5">
                  <c:v>Jun</c:v>
                </c:pt>
              </c:strCache>
            </c:strRef>
          </c:cat>
          <c:val>
            <c:numRef>
              <c:f>Sheet1!$C$2:$C$7</c:f>
              <c:numCache>
                <c:formatCode>General</c:formatCode>
                <c:ptCount val="6"/>
                <c:pt idx="0">
                  <c:v>10057547.08</c:v>
                </c:pt>
                <c:pt idx="1">
                  <c:v>8360412.3399999999</c:v>
                </c:pt>
                <c:pt idx="2">
                  <c:v>6748527.7300000004</c:v>
                </c:pt>
                <c:pt idx="3">
                  <c:v>6301518.4400000004</c:v>
                </c:pt>
                <c:pt idx="4">
                  <c:v>5674281.3799999999</c:v>
                </c:pt>
                <c:pt idx="5">
                  <c:v>5270669.6500000004</c:v>
                </c:pt>
              </c:numCache>
            </c:numRef>
          </c:val>
          <c:extLst>
            <c:ext xmlns:c16="http://schemas.microsoft.com/office/drawing/2014/chart" uri="{C3380CC4-5D6E-409C-BE32-E72D297353CC}">
              <c16:uniqueId val="{00000001-B8A9-4199-B237-407A0327171C}"/>
            </c:ext>
          </c:extLst>
        </c:ser>
        <c:ser>
          <c:idx val="2"/>
          <c:order val="2"/>
          <c:tx>
            <c:strRef>
              <c:f>Sheet1!$D$1</c:f>
              <c:strCache>
                <c:ptCount val="1"/>
                <c:pt idx="0">
                  <c:v>2026</c:v>
                </c:pt>
              </c:strCache>
            </c:strRef>
          </c:tx>
          <c:spPr>
            <a:solidFill>
              <a:srgbClr val="1E2761"/>
            </a:solidFill>
            <a:effectLst/>
          </c:spPr>
          <c:invertIfNegative val="0"/>
          <c:cat>
            <c:strRef>
              <c:f>Sheet1!$A$2:$A$7</c:f>
              <c:strCache>
                <c:ptCount val="6"/>
                <c:pt idx="0">
                  <c:v>Jan</c:v>
                </c:pt>
                <c:pt idx="1">
                  <c:v>Feb</c:v>
                </c:pt>
                <c:pt idx="2">
                  <c:v>Mar</c:v>
                </c:pt>
                <c:pt idx="3">
                  <c:v>Apr</c:v>
                </c:pt>
                <c:pt idx="4">
                  <c:v>May</c:v>
                </c:pt>
                <c:pt idx="5">
                  <c:v>Jun</c:v>
                </c:pt>
              </c:strCache>
            </c:strRef>
          </c:cat>
          <c:val>
            <c:numRef>
              <c:f>Sheet1!$D$2:$D$7</c:f>
              <c:numCache>
                <c:formatCode>General</c:formatCode>
                <c:ptCount val="6"/>
                <c:pt idx="0">
                  <c:v>9283927.7299999986</c:v>
                </c:pt>
                <c:pt idx="1">
                  <c:v>8589919.6899999995</c:v>
                </c:pt>
                <c:pt idx="2">
                  <c:v>7238468.9199999999</c:v>
                </c:pt>
                <c:pt idx="3">
                  <c:v>4493751.3</c:v>
                </c:pt>
                <c:pt idx="4">
                  <c:v>5625446.3199999994</c:v>
                </c:pt>
                <c:pt idx="5">
                  <c:v>4727539.0999999996</c:v>
                </c:pt>
              </c:numCache>
            </c:numRef>
          </c:val>
          <c:extLst>
            <c:ext xmlns:c16="http://schemas.microsoft.com/office/drawing/2014/chart" uri="{C3380CC4-5D6E-409C-BE32-E72D297353CC}">
              <c16:uniqueId val="{00000002-B8A9-4199-B237-407A0327171C}"/>
            </c:ext>
          </c:extLst>
        </c:ser>
        <c:dLbls>
          <c:showLegendKey val="0"/>
          <c:showVal val="0"/>
          <c:showCatName val="0"/>
          <c:showSerName val="0"/>
          <c:showPercent val="0"/>
          <c:showBubbleSize val="0"/>
        </c:dLbls>
        <c:gapWidth val="150"/>
        <c:axId val="2094734554"/>
        <c:axId val="2094734552"/>
      </c:barChart>
      <c:catAx>
        <c:axId val="2094734554"/>
        <c:scaling>
          <c:orientation val="minMax"/>
        </c:scaling>
        <c:delete val="0"/>
        <c:axPos val="b"/>
        <c:numFmt formatCode="General" sourceLinked="1"/>
        <c:majorTickMark val="out"/>
        <c:minorTickMark val="none"/>
        <c:tickLblPos val="low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1000" b="0" i="0" u="none" strike="noStrike">
                <a:solidFill>
                  <a:srgbClr val="6B7280"/>
                </a:solidFill>
                <a:latin typeface="Calibri"/>
              </a:defRPr>
            </a:pPr>
            <a:endParaRPr lang="en-US"/>
          </a:p>
        </c:txPr>
        <c:crossAx val="2094734552"/>
        <c:crosses val="autoZero"/>
        <c:auto val="1"/>
        <c:lblAlgn val="ctr"/>
        <c:lblOffset val="100"/>
        <c:noMultiLvlLbl val="1"/>
      </c:catAx>
      <c:valAx>
        <c:axId val="2094734552"/>
        <c:scaling>
          <c:orientation val="minMax"/>
        </c:scaling>
        <c:delete val="0"/>
        <c:axPos val="l"/>
        <c:majorGridlines>
          <c:spPr>
            <a:ln w="6350" cap="flat">
              <a:solidFill>
                <a:srgbClr val="E5E8EF"/>
              </a:solidFill>
              <a:prstDash val="solid"/>
              <a:round/>
            </a:ln>
          </c:spPr>
        </c:majorGridlines>
        <c:numFmt formatCode="General" sourceLinked="0"/>
        <c:majorTickMark val="out"/>
        <c:minorTickMark val="none"/>
        <c:tickLblPos val="nextTo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950" b="0" i="0" u="none" strike="noStrike">
                <a:solidFill>
                  <a:srgbClr val="6B7280"/>
                </a:solidFill>
                <a:latin typeface="Calibri"/>
              </a:defRPr>
            </a:pPr>
            <a:endParaRPr lang="en-US"/>
          </a:p>
        </c:txPr>
        <c:crossAx val="2094734554"/>
        <c:crosses val="autoZero"/>
        <c:crossBetween val="between"/>
      </c:valAx>
      <c:spPr>
        <a:noFill/>
        <a:ln>
          <a:noFill/>
        </a:ln>
        <a:effectLst/>
      </c:spPr>
    </c:plotArea>
    <c:legend>
      <c:legendPos val="b"/>
      <c:overlay val="0"/>
      <c:txPr>
        <a:bodyPr/>
        <a:lstStyle/>
        <a:p>
          <a:pPr>
            <a:defRPr sz="1000">
              <a:solidFill>
                <a:srgbClr val="26292E"/>
              </a:solidFill>
              <a:latin typeface="Calibri"/>
              <a:cs typeface="Calibri"/>
            </a:defRPr>
          </a:pPr>
          <a:endParaRPr lang="en-US"/>
        </a:p>
      </c:txPr>
    </c:legend>
    <c:plotVisOnly val="1"/>
    <c:dispBlanksAs val="span"/>
    <c:showDLblsOverMax val="1"/>
  </c:chart>
  <c:spPr>
    <a:noFill/>
    <a:ln>
      <a:noFill/>
    </a:ln>
    <a:effectLst/>
  </c:spPr>
  <c:externalData r:id="rId1">
    <c:autoUpdate val="0"/>
  </c:externalData>
</c:chartSpace>
</file>

<file path=ppt/charts/chart40.xml><?xml version="1.0" encoding="utf-8"?>
<c:chartSpace xmlns:c="http://schemas.openxmlformats.org/drawingml/2006/chart" xmlns:a="http://schemas.openxmlformats.org/drawingml/2006/main" xmlns:r="http://schemas.openxmlformats.org/officeDocument/2006/relationships" xmlns:c16r2="http://schemas.microsoft.com/office/drawing/2015/06/chart">
  <c:date1904 val="0"/>
  <c:lang val="en-US"/>
  <c:roundedCorners val="1"/>
  <c:style val="2"/>
  <c:chart>
    <c:title>
      <c:tx>
        <c:rich>
          <a:bodyPr/>
          <a:lstStyle/>
          <a:p>
            <a:pPr>
              <a:defRPr sz="1200" b="0" i="0" u="none" strike="noStrike">
                <a:solidFill>
                  <a:srgbClr val="1E2761"/>
                </a:solidFill>
                <a:latin typeface="Calibri"/>
              </a:defRPr>
            </a:pPr>
            <a:r>
              <a:rPr lang="en-US" sz="1200" b="0" i="0" u="none" strike="noStrike">
                <a:solidFill>
                  <a:srgbClr val="1E2761"/>
                </a:solidFill>
                <a:latin typeface="Calibri"/>
              </a:rPr>
              <a:t>Monthly RevPAR (THB) — actual vs budget vs 2025 vs 2024</a:t>
            </a:r>
          </a:p>
        </c:rich>
      </c:tx>
      <c:overlay val="0"/>
    </c:title>
    <c:autoTitleDeleted val="0"/>
    <c:plotArea>
      <c:layout/>
      <c:barChart>
        <c:barDir val="col"/>
        <c:grouping val="clustered"/>
        <c:varyColors val="0"/>
        <c:ser>
          <c:idx val="0"/>
          <c:order val="0"/>
          <c:tx>
            <c:strRef>
              <c:f>Sheet1!$B$1</c:f>
              <c:strCache>
                <c:ptCount val="1"/>
                <c:pt idx="0">
                  <c:v>RevPAR 2026</c:v>
                </c:pt>
              </c:strCache>
            </c:strRef>
          </c:tx>
          <c:spPr>
            <a:solidFill>
              <a:srgbClr val="1E2761"/>
            </a:solidFill>
            <a:effectLst/>
          </c:spPr>
          <c:invertIfNegative val="0"/>
          <c:cat>
            <c:strRef>
              <c:f>Sheet1!$A$2:$A$7</c:f>
              <c:strCache>
                <c:ptCount val="6"/>
                <c:pt idx="0">
                  <c:v>Jan</c:v>
                </c:pt>
                <c:pt idx="1">
                  <c:v>Feb</c:v>
                </c:pt>
                <c:pt idx="2">
                  <c:v>Mar</c:v>
                </c:pt>
                <c:pt idx="3">
                  <c:v>Apr</c:v>
                </c:pt>
                <c:pt idx="4">
                  <c:v>May</c:v>
                </c:pt>
                <c:pt idx="5">
                  <c:v>Jun</c:v>
                </c:pt>
              </c:strCache>
            </c:strRef>
          </c:cat>
          <c:val>
            <c:numRef>
              <c:f>Sheet1!$B$2:$B$7</c:f>
              <c:numCache>
                <c:formatCode>General</c:formatCode>
                <c:ptCount val="6"/>
                <c:pt idx="0">
                  <c:v>3578.97</c:v>
                </c:pt>
                <c:pt idx="1">
                  <c:v>3506.15</c:v>
                </c:pt>
                <c:pt idx="2">
                  <c:v>2721.3</c:v>
                </c:pt>
                <c:pt idx="3">
                  <c:v>2574.4</c:v>
                </c:pt>
                <c:pt idx="4">
                  <c:v>2151.66</c:v>
                </c:pt>
                <c:pt idx="5">
                  <c:v>2109.96</c:v>
                </c:pt>
              </c:numCache>
            </c:numRef>
          </c:val>
          <c:extLst>
            <c:ext xmlns:c16="http://schemas.microsoft.com/office/drawing/2014/chart" uri="{C3380CC4-5D6E-409C-BE32-E72D297353CC}">
              <c16:uniqueId val="{00000000-EDC1-4A92-9335-F120C8A9FA80}"/>
            </c:ext>
          </c:extLst>
        </c:ser>
        <c:dLbls>
          <c:showLegendKey val="0"/>
          <c:showVal val="0"/>
          <c:showCatName val="0"/>
          <c:showSerName val="0"/>
          <c:showPercent val="0"/>
          <c:showBubbleSize val="0"/>
        </c:dLbls>
        <c:gapWidth val="80"/>
        <c:axId val="2094734554"/>
        <c:axId val="2094734552"/>
      </c:barChart>
      <c:lineChart>
        <c:grouping val="standard"/>
        <c:varyColors val="0"/>
        <c:ser>
          <c:idx val="1"/>
          <c:order val="1"/>
          <c:tx>
            <c:strRef>
              <c:f>Sheet1!$C$1</c:f>
              <c:strCache>
                <c:ptCount val="1"/>
                <c:pt idx="0">
                  <c:v>Budget</c:v>
                </c:pt>
              </c:strCache>
            </c:strRef>
          </c:tx>
          <c:spPr>
            <a:ln w="31750" cap="flat">
              <a:solidFill>
                <a:srgbClr val="D9A441"/>
              </a:solidFill>
              <a:prstDash val="solid"/>
              <a:round/>
            </a:ln>
            <a:effectLst/>
          </c:spPr>
          <c:marker>
            <c:symbol val="circle"/>
            <c:size val="5"/>
            <c:spPr>
              <a:solidFill>
                <a:srgbClr val="AEB6C2"/>
              </a:solidFill>
              <a:ln w="9525" cap="flat">
                <a:solidFill>
                  <a:srgbClr val="D9A441"/>
                </a:solidFill>
                <a:prstDash val="solid"/>
                <a:round/>
              </a:ln>
              <a:effectLst/>
            </c:spPr>
          </c:marker>
          <c:cat>
            <c:strRef>
              <c:f>Sheet1!$A$2:$A$7</c:f>
              <c:strCache>
                <c:ptCount val="6"/>
                <c:pt idx="0">
                  <c:v>Jan</c:v>
                </c:pt>
                <c:pt idx="1">
                  <c:v>Feb</c:v>
                </c:pt>
                <c:pt idx="2">
                  <c:v>Mar</c:v>
                </c:pt>
                <c:pt idx="3">
                  <c:v>Apr</c:v>
                </c:pt>
                <c:pt idx="4">
                  <c:v>May</c:v>
                </c:pt>
                <c:pt idx="5">
                  <c:v>Jun</c:v>
                </c:pt>
              </c:strCache>
            </c:strRef>
          </c:cat>
          <c:val>
            <c:numRef>
              <c:f>Sheet1!$C$2:$C$7</c:f>
              <c:numCache>
                <c:formatCode>General</c:formatCode>
                <c:ptCount val="6"/>
                <c:pt idx="0">
                  <c:v>3433.4403000000002</c:v>
                </c:pt>
                <c:pt idx="1">
                  <c:v>3782.0533</c:v>
                </c:pt>
                <c:pt idx="2">
                  <c:v>2637.0587</c:v>
                </c:pt>
                <c:pt idx="3">
                  <c:v>2920.6149</c:v>
                </c:pt>
                <c:pt idx="4">
                  <c:v>2348.8998000000001</c:v>
                </c:pt>
                <c:pt idx="5">
                  <c:v>2139.5412000000001</c:v>
                </c:pt>
              </c:numCache>
            </c:numRef>
          </c:val>
          <c:smooth val="0"/>
          <c:extLst>
            <c:ext xmlns:c16="http://schemas.microsoft.com/office/drawing/2014/chart" uri="{C3380CC4-5D6E-409C-BE32-E72D297353CC}">
              <c16:uniqueId val="{00000001-EDC1-4A92-9335-F120C8A9FA80}"/>
            </c:ext>
          </c:extLst>
        </c:ser>
        <c:ser>
          <c:idx val="2"/>
          <c:order val="2"/>
          <c:tx>
            <c:strRef>
              <c:f>Sheet1!$D$1</c:f>
              <c:strCache>
                <c:ptCount val="1"/>
                <c:pt idx="0">
                  <c:v>2025</c:v>
                </c:pt>
              </c:strCache>
            </c:strRef>
          </c:tx>
          <c:spPr>
            <a:ln w="31750" cap="flat">
              <a:solidFill>
                <a:srgbClr val="AEB6C2"/>
              </a:solidFill>
              <a:prstDash val="solid"/>
              <a:round/>
            </a:ln>
            <a:effectLst/>
          </c:spPr>
          <c:marker>
            <c:symbol val="circle"/>
            <c:size val="5"/>
            <c:spPr>
              <a:solidFill>
                <a:srgbClr val="C9D6EE"/>
              </a:solidFill>
              <a:ln w="9525" cap="flat">
                <a:solidFill>
                  <a:srgbClr val="AEB6C2"/>
                </a:solidFill>
                <a:prstDash val="solid"/>
                <a:round/>
              </a:ln>
              <a:effectLst/>
            </c:spPr>
          </c:marker>
          <c:cat>
            <c:strRef>
              <c:f>Sheet1!$A$2:$A$7</c:f>
              <c:strCache>
                <c:ptCount val="6"/>
                <c:pt idx="0">
                  <c:v>Jan</c:v>
                </c:pt>
                <c:pt idx="1">
                  <c:v>Feb</c:v>
                </c:pt>
                <c:pt idx="2">
                  <c:v>Mar</c:v>
                </c:pt>
                <c:pt idx="3">
                  <c:v>Apr</c:v>
                </c:pt>
                <c:pt idx="4">
                  <c:v>May</c:v>
                </c:pt>
                <c:pt idx="5">
                  <c:v>Jun</c:v>
                </c:pt>
              </c:strCache>
            </c:strRef>
          </c:cat>
          <c:val>
            <c:numRef>
              <c:f>Sheet1!$D$2:$D$7</c:f>
              <c:numCache>
                <c:formatCode>General</c:formatCode>
                <c:ptCount val="6"/>
                <c:pt idx="0">
                  <c:v>3862.6219999999998</c:v>
                </c:pt>
                <c:pt idx="1">
                  <c:v>3511.806</c:v>
                </c:pt>
                <c:pt idx="2">
                  <c:v>2456.1851999999999</c:v>
                </c:pt>
                <c:pt idx="3">
                  <c:v>2709.7</c:v>
                </c:pt>
                <c:pt idx="4">
                  <c:v>2156.8049999999998</c:v>
                </c:pt>
                <c:pt idx="5">
                  <c:v>1908.9133999999999</c:v>
                </c:pt>
              </c:numCache>
            </c:numRef>
          </c:val>
          <c:smooth val="0"/>
          <c:extLst>
            <c:ext xmlns:c16="http://schemas.microsoft.com/office/drawing/2014/chart" uri="{C3380CC4-5D6E-409C-BE32-E72D297353CC}">
              <c16:uniqueId val="{00000002-EDC1-4A92-9335-F120C8A9FA80}"/>
            </c:ext>
          </c:extLst>
        </c:ser>
        <c:ser>
          <c:idx val="3"/>
          <c:order val="3"/>
          <c:tx>
            <c:strRef>
              <c:f>Sheet1!$E$1</c:f>
              <c:strCache>
                <c:ptCount val="1"/>
                <c:pt idx="0">
                  <c:v>2024</c:v>
                </c:pt>
              </c:strCache>
            </c:strRef>
          </c:tx>
          <c:spPr>
            <a:ln w="31750" cap="flat">
              <a:solidFill>
                <a:srgbClr val="C9D6EE"/>
              </a:solidFill>
              <a:prstDash val="solid"/>
              <a:round/>
            </a:ln>
            <a:effectLst/>
          </c:spPr>
          <c:marker>
            <c:symbol val="circle"/>
            <c:size val="5"/>
            <c:spPr>
              <a:solidFill>
                <a:srgbClr val="C9D6EE"/>
              </a:solidFill>
              <a:ln w="9525" cap="flat">
                <a:solidFill>
                  <a:srgbClr val="C9D6EE"/>
                </a:solidFill>
                <a:prstDash val="solid"/>
                <a:round/>
              </a:ln>
              <a:effectLst/>
            </c:spPr>
          </c:marker>
          <c:cat>
            <c:strRef>
              <c:f>Sheet1!$A$2:$A$7</c:f>
              <c:strCache>
                <c:ptCount val="6"/>
                <c:pt idx="0">
                  <c:v>Jan</c:v>
                </c:pt>
                <c:pt idx="1">
                  <c:v>Feb</c:v>
                </c:pt>
                <c:pt idx="2">
                  <c:v>Mar</c:v>
                </c:pt>
                <c:pt idx="3">
                  <c:v>Apr</c:v>
                </c:pt>
                <c:pt idx="4">
                  <c:v>May</c:v>
                </c:pt>
                <c:pt idx="5">
                  <c:v>Jun</c:v>
                </c:pt>
              </c:strCache>
            </c:strRef>
          </c:cat>
          <c:val>
            <c:numRef>
              <c:f>Sheet1!$E$2:$E$7</c:f>
              <c:numCache>
                <c:formatCode>General</c:formatCode>
                <c:ptCount val="6"/>
                <c:pt idx="0">
                  <c:v>3041.8440000000001</c:v>
                </c:pt>
                <c:pt idx="1">
                  <c:v>3461.5645</c:v>
                </c:pt>
                <c:pt idx="2">
                  <c:v>2875.8485999999998</c:v>
                </c:pt>
                <c:pt idx="3">
                  <c:v>3281.7613000000001</c:v>
                </c:pt>
                <c:pt idx="4">
                  <c:v>2474.7379999999998</c:v>
                </c:pt>
                <c:pt idx="5">
                  <c:v>2836.62</c:v>
                </c:pt>
              </c:numCache>
            </c:numRef>
          </c:val>
          <c:smooth val="0"/>
          <c:extLst>
            <c:ext xmlns:c16="http://schemas.microsoft.com/office/drawing/2014/chart" uri="{C3380CC4-5D6E-409C-BE32-E72D297353CC}">
              <c16:uniqueId val="{00000003-EDC1-4A92-9335-F120C8A9FA80}"/>
            </c:ext>
          </c:extLst>
        </c:ser>
        <c:dLbls>
          <c:showLegendKey val="0"/>
          <c:showVal val="0"/>
          <c:showCatName val="0"/>
          <c:showSerName val="0"/>
          <c:showPercent val="0"/>
          <c:showBubbleSize val="0"/>
        </c:dLbls>
        <c:marker val="1"/>
        <c:smooth val="0"/>
        <c:axId val="2094734554"/>
        <c:axId val="2094734552"/>
      </c:lineChart>
      <c:catAx>
        <c:axId val="2094734554"/>
        <c:scaling>
          <c:orientation val="minMax"/>
        </c:scaling>
        <c:delete val="0"/>
        <c:axPos val="b"/>
        <c:numFmt formatCode="General" sourceLinked="1"/>
        <c:majorTickMark val="out"/>
        <c:minorTickMark val="none"/>
        <c:tickLblPos val="low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1000" b="0" i="0" u="none" strike="noStrike">
                <a:solidFill>
                  <a:srgbClr val="6B7280"/>
                </a:solidFill>
                <a:latin typeface="Calibri"/>
              </a:defRPr>
            </a:pPr>
            <a:endParaRPr lang="en-US"/>
          </a:p>
        </c:txPr>
        <c:crossAx val="2094734552"/>
        <c:crosses val="autoZero"/>
        <c:auto val="1"/>
        <c:lblAlgn val="ctr"/>
        <c:lblOffset val="100"/>
        <c:noMultiLvlLbl val="1"/>
      </c:catAx>
      <c:valAx>
        <c:axId val="2094734552"/>
        <c:scaling>
          <c:orientation val="minMax"/>
        </c:scaling>
        <c:delete val="0"/>
        <c:axPos val="l"/>
        <c:majorGridlines>
          <c:spPr>
            <a:ln w="6350" cap="flat">
              <a:solidFill>
                <a:srgbClr val="E5E8EF"/>
              </a:solidFill>
              <a:prstDash val="solid"/>
              <a:round/>
            </a:ln>
          </c:spPr>
        </c:majorGridlines>
        <c:numFmt formatCode="General" sourceLinked="0"/>
        <c:majorTickMark val="out"/>
        <c:minorTickMark val="none"/>
        <c:tickLblPos val="nextTo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950" b="0" i="0" u="none" strike="noStrike">
                <a:solidFill>
                  <a:srgbClr val="6B7280"/>
                </a:solidFill>
                <a:latin typeface="Calibri"/>
              </a:defRPr>
            </a:pPr>
            <a:endParaRPr lang="en-US"/>
          </a:p>
        </c:txPr>
        <c:crossAx val="2094734554"/>
        <c:crosses val="autoZero"/>
        <c:crossBetween val="between"/>
      </c:valAx>
      <c:spPr>
        <a:noFill/>
        <a:ln>
          <a:noFill/>
        </a:ln>
        <a:effectLst/>
      </c:spPr>
    </c:plotArea>
    <c:legend>
      <c:legendPos val="b"/>
      <c:overlay val="0"/>
      <c:txPr>
        <a:bodyPr/>
        <a:lstStyle/>
        <a:p>
          <a:pPr>
            <a:defRPr sz="1000">
              <a:solidFill>
                <a:srgbClr val="26292E"/>
              </a:solidFill>
              <a:latin typeface="Calibri"/>
              <a:cs typeface="Calibri"/>
            </a:defRPr>
          </a:pPr>
          <a:endParaRPr lang="en-US"/>
        </a:p>
      </c:txPr>
    </c:legend>
    <c:plotVisOnly val="1"/>
    <c:dispBlanksAs val="span"/>
    <c:showDLblsOverMax val="1"/>
  </c:chart>
  <c:spPr>
    <a:noFill/>
    <a:ln>
      <a:noFill/>
    </a:ln>
    <a:effectLst/>
  </c:spPr>
  <c:externalData r:id="rId1">
    <c:autoUpdate val="0"/>
  </c:externalData>
</c:chartSpace>
</file>

<file path=ppt/charts/chart41.xml><?xml version="1.0" encoding="utf-8"?>
<c:chartSpace xmlns:c="http://schemas.openxmlformats.org/drawingml/2006/chart" xmlns:a="http://schemas.openxmlformats.org/drawingml/2006/main" xmlns:r="http://schemas.openxmlformats.org/officeDocument/2006/relationships" xmlns:c16r2="http://schemas.microsoft.com/office/drawing/2015/06/chart">
  <c:date1904 val="0"/>
  <c:lang val="en-US"/>
  <c:roundedCorners val="1"/>
  <c:style val="2"/>
  <c:chart>
    <c:title>
      <c:tx>
        <c:rich>
          <a:bodyPr/>
          <a:lstStyle/>
          <a:p>
            <a:pPr>
              <a:defRPr sz="1300" b="0" i="0" u="none" strike="noStrike">
                <a:solidFill>
                  <a:srgbClr val="1E2761"/>
                </a:solidFill>
                <a:latin typeface="Calibri"/>
              </a:defRPr>
            </a:pPr>
            <a:r>
              <a:rPr lang="en-US" sz="1300" b="0" i="0" u="none" strike="noStrike">
                <a:solidFill>
                  <a:srgbClr val="1E2761"/>
                </a:solidFill>
                <a:latin typeface="Calibri"/>
              </a:rPr>
              <a:t>Room nights per month (stacked)</a:t>
            </a:r>
          </a:p>
        </c:rich>
      </c:tx>
      <c:overlay val="0"/>
    </c:title>
    <c:autoTitleDeleted val="0"/>
    <c:plotArea>
      <c:layout/>
      <c:barChart>
        <c:barDir val="col"/>
        <c:grouping val="stacked"/>
        <c:varyColors val="0"/>
        <c:ser>
          <c:idx val="0"/>
          <c:order val="0"/>
          <c:tx>
            <c:strRef>
              <c:f>Sheet1!$B$1</c:f>
              <c:strCache>
                <c:ptCount val="1"/>
                <c:pt idx="0">
                  <c:v>Corporate SS</c:v>
                </c:pt>
              </c:strCache>
            </c:strRef>
          </c:tx>
          <c:spPr>
            <a:solidFill>
              <a:srgbClr val="1E2761"/>
            </a:solidFill>
            <a:effectLst/>
          </c:spPr>
          <c:invertIfNegative val="0"/>
          <c:dLbls>
            <c:numFmt formatCode="#,##0;;" sourceLinked="0"/>
            <c:spPr>
              <a:noFill/>
              <a:ln>
                <a:noFill/>
              </a:ln>
              <a:effectLst/>
            </c:spPr>
            <c:txPr>
              <a:bodyPr/>
              <a:lstStyle/>
              <a:p>
                <a:pPr>
                  <a:defRPr sz="750" b="0" i="0" u="none" strike="noStrike">
                    <a:solidFill>
                      <a:srgbClr val="FFFFFF"/>
                    </a:solidFill>
                    <a:latin typeface="Calibri"/>
                  </a:defRPr>
                </a:pPr>
                <a:endParaRPr lang="en-US"/>
              </a:p>
            </c:txPr>
            <c:dLblPos val="ctr"/>
            <c:showLegendKey val="0"/>
            <c:showVal val="1"/>
            <c:showCatName val="0"/>
            <c:showSerName val="0"/>
            <c:showPercent val="0"/>
            <c:showBubbleSize val="0"/>
            <c:showLeaderLines val="0"/>
            <c:extLst>
              <c:ext xmlns:c15="http://schemas.microsoft.com/office/drawing/2012/chart" uri="{CE6537A1-D6FC-4f65-9D91-7224C49458BB}">
                <c15:showLeaderLines val="0"/>
              </c:ext>
            </c:extLst>
          </c:dLbls>
          <c:cat>
            <c:strRef>
              <c:f>Sheet1!$A$2:$A$7</c:f>
              <c:strCache>
                <c:ptCount val="6"/>
                <c:pt idx="0">
                  <c:v>Jan</c:v>
                </c:pt>
                <c:pt idx="1">
                  <c:v>Feb</c:v>
                </c:pt>
                <c:pt idx="2">
                  <c:v>Mar</c:v>
                </c:pt>
                <c:pt idx="3">
                  <c:v>Apr</c:v>
                </c:pt>
                <c:pt idx="4">
                  <c:v>May</c:v>
                </c:pt>
                <c:pt idx="5">
                  <c:v>Jun</c:v>
                </c:pt>
              </c:strCache>
            </c:strRef>
          </c:cat>
          <c:val>
            <c:numRef>
              <c:f>Sheet1!$B$2:$B$7</c:f>
              <c:numCache>
                <c:formatCode>General</c:formatCode>
                <c:ptCount val="6"/>
                <c:pt idx="0">
                  <c:v>312</c:v>
                </c:pt>
                <c:pt idx="1">
                  <c:v>340</c:v>
                </c:pt>
                <c:pt idx="2">
                  <c:v>378</c:v>
                </c:pt>
                <c:pt idx="3">
                  <c:v>238</c:v>
                </c:pt>
                <c:pt idx="4">
                  <c:v>347</c:v>
                </c:pt>
                <c:pt idx="5">
                  <c:v>264</c:v>
                </c:pt>
              </c:numCache>
            </c:numRef>
          </c:val>
          <c:extLst>
            <c:ext xmlns:c16="http://schemas.microsoft.com/office/drawing/2014/chart" uri="{C3380CC4-5D6E-409C-BE32-E72D297353CC}">
              <c16:uniqueId val="{00000000-D0BC-4A7C-A7C2-124556FE8FD2}"/>
            </c:ext>
          </c:extLst>
        </c:ser>
        <c:ser>
          <c:idx val="1"/>
          <c:order val="1"/>
          <c:tx>
            <c:strRef>
              <c:f>Sheet1!$C$1</c:f>
              <c:strCache>
                <c:ptCount val="1"/>
                <c:pt idx="0">
                  <c:v>Corporate LS</c:v>
                </c:pt>
              </c:strCache>
            </c:strRef>
          </c:tx>
          <c:spPr>
            <a:solidFill>
              <a:srgbClr val="4A6FC4"/>
            </a:solidFill>
            <a:effectLst/>
          </c:spPr>
          <c:invertIfNegative val="0"/>
          <c:dLbls>
            <c:numFmt formatCode="#,##0;;" sourceLinked="0"/>
            <c:spPr>
              <a:noFill/>
              <a:ln>
                <a:noFill/>
              </a:ln>
              <a:effectLst/>
            </c:spPr>
            <c:txPr>
              <a:bodyPr/>
              <a:lstStyle/>
              <a:p>
                <a:pPr>
                  <a:defRPr sz="750" b="0" i="0" u="none" strike="noStrike">
                    <a:solidFill>
                      <a:srgbClr val="FFFFFF"/>
                    </a:solidFill>
                    <a:latin typeface="Calibri"/>
                  </a:defRPr>
                </a:pPr>
                <a:endParaRPr lang="en-US"/>
              </a:p>
            </c:txPr>
            <c:dLblPos val="ctr"/>
            <c:showLegendKey val="0"/>
            <c:showVal val="1"/>
            <c:showCatName val="0"/>
            <c:showSerName val="0"/>
            <c:showPercent val="0"/>
            <c:showBubbleSize val="0"/>
            <c:showLeaderLines val="0"/>
            <c:extLst>
              <c:ext xmlns:c15="http://schemas.microsoft.com/office/drawing/2012/chart" uri="{CE6537A1-D6FC-4f65-9D91-7224C49458BB}">
                <c15:showLeaderLines val="0"/>
              </c:ext>
            </c:extLst>
          </c:dLbls>
          <c:cat>
            <c:strRef>
              <c:f>Sheet1!$A$2:$A$7</c:f>
              <c:strCache>
                <c:ptCount val="6"/>
                <c:pt idx="0">
                  <c:v>Jan</c:v>
                </c:pt>
                <c:pt idx="1">
                  <c:v>Feb</c:v>
                </c:pt>
                <c:pt idx="2">
                  <c:v>Mar</c:v>
                </c:pt>
                <c:pt idx="3">
                  <c:v>Apr</c:v>
                </c:pt>
                <c:pt idx="4">
                  <c:v>May</c:v>
                </c:pt>
                <c:pt idx="5">
                  <c:v>Jun</c:v>
                </c:pt>
              </c:strCache>
            </c:strRef>
          </c:cat>
          <c:val>
            <c:numRef>
              <c:f>Sheet1!$C$2:$C$7</c:f>
              <c:numCache>
                <c:formatCode>General</c:formatCode>
                <c:ptCount val="6"/>
                <c:pt idx="0">
                  <c:v>389</c:v>
                </c:pt>
                <c:pt idx="1">
                  <c:v>297</c:v>
                </c:pt>
                <c:pt idx="2">
                  <c:v>422</c:v>
                </c:pt>
                <c:pt idx="3">
                  <c:v>357</c:v>
                </c:pt>
                <c:pt idx="4">
                  <c:v>213</c:v>
                </c:pt>
                <c:pt idx="5">
                  <c:v>308</c:v>
                </c:pt>
              </c:numCache>
            </c:numRef>
          </c:val>
          <c:extLst>
            <c:ext xmlns:c16="http://schemas.microsoft.com/office/drawing/2014/chart" uri="{C3380CC4-5D6E-409C-BE32-E72D297353CC}">
              <c16:uniqueId val="{00000001-D0BC-4A7C-A7C2-124556FE8FD2}"/>
            </c:ext>
          </c:extLst>
        </c:ser>
        <c:ser>
          <c:idx val="2"/>
          <c:order val="2"/>
          <c:tx>
            <c:strRef>
              <c:f>Sheet1!$D$1</c:f>
              <c:strCache>
                <c:ptCount val="1"/>
                <c:pt idx="0">
                  <c:v>Online</c:v>
                </c:pt>
              </c:strCache>
            </c:strRef>
          </c:tx>
          <c:spPr>
            <a:solidFill>
              <a:srgbClr val="7FA4DC"/>
            </a:solidFill>
            <a:effectLst/>
          </c:spPr>
          <c:invertIfNegative val="0"/>
          <c:dLbls>
            <c:numFmt formatCode="#,##0;;" sourceLinked="0"/>
            <c:spPr>
              <a:noFill/>
              <a:ln>
                <a:noFill/>
              </a:ln>
              <a:effectLst/>
            </c:spPr>
            <c:txPr>
              <a:bodyPr/>
              <a:lstStyle/>
              <a:p>
                <a:pPr>
                  <a:defRPr sz="750" b="0" i="0" u="none" strike="noStrike">
                    <a:solidFill>
                      <a:srgbClr val="FFFFFF"/>
                    </a:solidFill>
                    <a:latin typeface="Calibri"/>
                  </a:defRPr>
                </a:pPr>
                <a:endParaRPr lang="en-US"/>
              </a:p>
            </c:txPr>
            <c:dLblPos val="ctr"/>
            <c:showLegendKey val="0"/>
            <c:showVal val="1"/>
            <c:showCatName val="0"/>
            <c:showSerName val="0"/>
            <c:showPercent val="0"/>
            <c:showBubbleSize val="0"/>
            <c:showLeaderLines val="0"/>
            <c:extLst>
              <c:ext xmlns:c15="http://schemas.microsoft.com/office/drawing/2012/chart" uri="{CE6537A1-D6FC-4f65-9D91-7224C49458BB}">
                <c15:showLeaderLines val="0"/>
              </c:ext>
            </c:extLst>
          </c:dLbls>
          <c:cat>
            <c:strRef>
              <c:f>Sheet1!$A$2:$A$7</c:f>
              <c:strCache>
                <c:ptCount val="6"/>
                <c:pt idx="0">
                  <c:v>Jan</c:v>
                </c:pt>
                <c:pt idx="1">
                  <c:v>Feb</c:v>
                </c:pt>
                <c:pt idx="2">
                  <c:v>Mar</c:v>
                </c:pt>
                <c:pt idx="3">
                  <c:v>Apr</c:v>
                </c:pt>
                <c:pt idx="4">
                  <c:v>May</c:v>
                </c:pt>
                <c:pt idx="5">
                  <c:v>Jun</c:v>
                </c:pt>
              </c:strCache>
            </c:strRef>
          </c:cat>
          <c:val>
            <c:numRef>
              <c:f>Sheet1!$D$2:$D$7</c:f>
              <c:numCache>
                <c:formatCode>General</c:formatCode>
                <c:ptCount val="6"/>
                <c:pt idx="0">
                  <c:v>2725</c:v>
                </c:pt>
                <c:pt idx="1">
                  <c:v>2119</c:v>
                </c:pt>
                <c:pt idx="2">
                  <c:v>2427</c:v>
                </c:pt>
                <c:pt idx="3">
                  <c:v>1984</c:v>
                </c:pt>
                <c:pt idx="4">
                  <c:v>1791</c:v>
                </c:pt>
                <c:pt idx="5">
                  <c:v>1698</c:v>
                </c:pt>
              </c:numCache>
            </c:numRef>
          </c:val>
          <c:extLst>
            <c:ext xmlns:c16="http://schemas.microsoft.com/office/drawing/2014/chart" uri="{C3380CC4-5D6E-409C-BE32-E72D297353CC}">
              <c16:uniqueId val="{00000002-D0BC-4A7C-A7C2-124556FE8FD2}"/>
            </c:ext>
          </c:extLst>
        </c:ser>
        <c:ser>
          <c:idx val="3"/>
          <c:order val="3"/>
          <c:tx>
            <c:strRef>
              <c:f>Sheet1!$E$1</c:f>
              <c:strCache>
                <c:ptCount val="1"/>
                <c:pt idx="0">
                  <c:v>ASR</c:v>
                </c:pt>
              </c:strCache>
            </c:strRef>
          </c:tx>
          <c:spPr>
            <a:solidFill>
              <a:srgbClr val="AFC6EC"/>
            </a:solidFill>
            <a:effectLst/>
          </c:spPr>
          <c:invertIfNegative val="0"/>
          <c:dLbls>
            <c:numFmt formatCode="#,##0;;" sourceLinked="0"/>
            <c:spPr>
              <a:noFill/>
              <a:ln>
                <a:noFill/>
              </a:ln>
              <a:effectLst/>
            </c:spPr>
            <c:txPr>
              <a:bodyPr/>
              <a:lstStyle/>
              <a:p>
                <a:pPr>
                  <a:defRPr sz="750" b="0" i="0" u="none" strike="noStrike">
                    <a:solidFill>
                      <a:srgbClr val="FFFFFF"/>
                    </a:solidFill>
                    <a:latin typeface="Calibri"/>
                  </a:defRPr>
                </a:pPr>
                <a:endParaRPr lang="en-US"/>
              </a:p>
            </c:txPr>
            <c:dLblPos val="ctr"/>
            <c:showLegendKey val="0"/>
            <c:showVal val="1"/>
            <c:showCatName val="0"/>
            <c:showSerName val="0"/>
            <c:showPercent val="0"/>
            <c:showBubbleSize val="0"/>
            <c:showLeaderLines val="0"/>
            <c:extLst>
              <c:ext xmlns:c15="http://schemas.microsoft.com/office/drawing/2012/chart" uri="{CE6537A1-D6FC-4f65-9D91-7224C49458BB}">
                <c15:showLeaderLines val="0"/>
              </c:ext>
            </c:extLst>
          </c:dLbls>
          <c:cat>
            <c:strRef>
              <c:f>Sheet1!$A$2:$A$7</c:f>
              <c:strCache>
                <c:ptCount val="6"/>
                <c:pt idx="0">
                  <c:v>Jan</c:v>
                </c:pt>
                <c:pt idx="1">
                  <c:v>Feb</c:v>
                </c:pt>
                <c:pt idx="2">
                  <c:v>Mar</c:v>
                </c:pt>
                <c:pt idx="3">
                  <c:v>Apr</c:v>
                </c:pt>
                <c:pt idx="4">
                  <c:v>May</c:v>
                </c:pt>
                <c:pt idx="5">
                  <c:v>Jun</c:v>
                </c:pt>
              </c:strCache>
            </c:strRef>
          </c:cat>
          <c:val>
            <c:numRef>
              <c:f>Sheet1!$E$2:$E$7</c:f>
              <c:numCache>
                <c:formatCode>General</c:formatCode>
                <c:ptCount val="6"/>
                <c:pt idx="0">
                  <c:v>1201</c:v>
                </c:pt>
                <c:pt idx="1">
                  <c:v>1116</c:v>
                </c:pt>
                <c:pt idx="2">
                  <c:v>1214</c:v>
                </c:pt>
                <c:pt idx="3">
                  <c:v>1002</c:v>
                </c:pt>
                <c:pt idx="4">
                  <c:v>938</c:v>
                </c:pt>
                <c:pt idx="5">
                  <c:v>955</c:v>
                </c:pt>
              </c:numCache>
            </c:numRef>
          </c:val>
          <c:extLst>
            <c:ext xmlns:c16="http://schemas.microsoft.com/office/drawing/2014/chart" uri="{C3380CC4-5D6E-409C-BE32-E72D297353CC}">
              <c16:uniqueId val="{00000003-D0BC-4A7C-A7C2-124556FE8FD2}"/>
            </c:ext>
          </c:extLst>
        </c:ser>
        <c:ser>
          <c:idx val="4"/>
          <c:order val="4"/>
          <c:tx>
            <c:strRef>
              <c:f>Sheet1!$F$1</c:f>
              <c:strCache>
                <c:ptCount val="1"/>
                <c:pt idx="0">
                  <c:v>Wholesale</c:v>
                </c:pt>
              </c:strCache>
            </c:strRef>
          </c:tx>
          <c:spPr>
            <a:solidFill>
              <a:srgbClr val="D9A441"/>
            </a:solidFill>
            <a:effectLst/>
          </c:spPr>
          <c:invertIfNegative val="0"/>
          <c:dLbls>
            <c:numFmt formatCode="#,##0;;" sourceLinked="0"/>
            <c:spPr>
              <a:noFill/>
              <a:ln>
                <a:noFill/>
              </a:ln>
              <a:effectLst/>
            </c:spPr>
            <c:txPr>
              <a:bodyPr/>
              <a:lstStyle/>
              <a:p>
                <a:pPr>
                  <a:defRPr sz="750" b="0" i="0" u="none" strike="noStrike">
                    <a:solidFill>
                      <a:srgbClr val="FFFFFF"/>
                    </a:solidFill>
                    <a:latin typeface="Calibri"/>
                  </a:defRPr>
                </a:pPr>
                <a:endParaRPr lang="en-US"/>
              </a:p>
            </c:txPr>
            <c:dLblPos val="ctr"/>
            <c:showLegendKey val="0"/>
            <c:showVal val="1"/>
            <c:showCatName val="0"/>
            <c:showSerName val="0"/>
            <c:showPercent val="0"/>
            <c:showBubbleSize val="0"/>
            <c:showLeaderLines val="0"/>
            <c:extLst>
              <c:ext xmlns:c15="http://schemas.microsoft.com/office/drawing/2012/chart" uri="{CE6537A1-D6FC-4f65-9D91-7224C49458BB}">
                <c15:showLeaderLines val="0"/>
              </c:ext>
            </c:extLst>
          </c:dLbls>
          <c:cat>
            <c:strRef>
              <c:f>Sheet1!$A$2:$A$7</c:f>
              <c:strCache>
                <c:ptCount val="6"/>
                <c:pt idx="0">
                  <c:v>Jan</c:v>
                </c:pt>
                <c:pt idx="1">
                  <c:v>Feb</c:v>
                </c:pt>
                <c:pt idx="2">
                  <c:v>Mar</c:v>
                </c:pt>
                <c:pt idx="3">
                  <c:v>Apr</c:v>
                </c:pt>
                <c:pt idx="4">
                  <c:v>May</c:v>
                </c:pt>
                <c:pt idx="5">
                  <c:v>Jun</c:v>
                </c:pt>
              </c:strCache>
            </c:strRef>
          </c:cat>
          <c:val>
            <c:numRef>
              <c:f>Sheet1!$F$2:$F$7</c:f>
              <c:numCache>
                <c:formatCode>General</c:formatCode>
                <c:ptCount val="6"/>
                <c:pt idx="0">
                  <c:v>4009</c:v>
                </c:pt>
                <c:pt idx="1">
                  <c:v>3483</c:v>
                </c:pt>
                <c:pt idx="2">
                  <c:v>2429</c:v>
                </c:pt>
                <c:pt idx="3">
                  <c:v>2948</c:v>
                </c:pt>
                <c:pt idx="4">
                  <c:v>2855</c:v>
                </c:pt>
                <c:pt idx="5">
                  <c:v>2281</c:v>
                </c:pt>
              </c:numCache>
            </c:numRef>
          </c:val>
          <c:extLst>
            <c:ext xmlns:c16="http://schemas.microsoft.com/office/drawing/2014/chart" uri="{C3380CC4-5D6E-409C-BE32-E72D297353CC}">
              <c16:uniqueId val="{00000004-D0BC-4A7C-A7C2-124556FE8FD2}"/>
            </c:ext>
          </c:extLst>
        </c:ser>
        <c:ser>
          <c:idx val="5"/>
          <c:order val="5"/>
          <c:tx>
            <c:strRef>
              <c:f>Sheet1!$G$1</c:f>
              <c:strCache>
                <c:ptCount val="1"/>
                <c:pt idx="0">
                  <c:v>Wholesale Grp</c:v>
                </c:pt>
              </c:strCache>
            </c:strRef>
          </c:tx>
          <c:spPr>
            <a:solidFill>
              <a:srgbClr val="8A5A83"/>
            </a:solidFill>
            <a:effectLst/>
          </c:spPr>
          <c:invertIfNegative val="0"/>
          <c:dLbls>
            <c:numFmt formatCode="#,##0;;" sourceLinked="0"/>
            <c:spPr>
              <a:noFill/>
              <a:ln>
                <a:noFill/>
              </a:ln>
              <a:effectLst/>
            </c:spPr>
            <c:txPr>
              <a:bodyPr/>
              <a:lstStyle/>
              <a:p>
                <a:pPr>
                  <a:defRPr sz="750" b="0" i="0" u="none" strike="noStrike">
                    <a:solidFill>
                      <a:srgbClr val="FFFFFF"/>
                    </a:solidFill>
                    <a:latin typeface="Calibri"/>
                  </a:defRPr>
                </a:pPr>
                <a:endParaRPr lang="en-US"/>
              </a:p>
            </c:txPr>
            <c:dLblPos val="ctr"/>
            <c:showLegendKey val="0"/>
            <c:showVal val="1"/>
            <c:showCatName val="0"/>
            <c:showSerName val="0"/>
            <c:showPercent val="0"/>
            <c:showBubbleSize val="0"/>
            <c:showLeaderLines val="0"/>
            <c:extLst>
              <c:ext xmlns:c15="http://schemas.microsoft.com/office/drawing/2012/chart" uri="{CE6537A1-D6FC-4f65-9D91-7224C49458BB}">
                <c15:showLeaderLines val="0"/>
              </c:ext>
            </c:extLst>
          </c:dLbls>
          <c:cat>
            <c:strRef>
              <c:f>Sheet1!$A$2:$A$7</c:f>
              <c:strCache>
                <c:ptCount val="6"/>
                <c:pt idx="0">
                  <c:v>Jan</c:v>
                </c:pt>
                <c:pt idx="1">
                  <c:v>Feb</c:v>
                </c:pt>
                <c:pt idx="2">
                  <c:v>Mar</c:v>
                </c:pt>
                <c:pt idx="3">
                  <c:v>Apr</c:v>
                </c:pt>
                <c:pt idx="4">
                  <c:v>May</c:v>
                </c:pt>
                <c:pt idx="5">
                  <c:v>Jun</c:v>
                </c:pt>
              </c:strCache>
            </c:strRef>
          </c:cat>
          <c:val>
            <c:numRef>
              <c:f>Sheet1!$G$2:$G$7</c:f>
              <c:numCache>
                <c:formatCode>General</c:formatCode>
                <c:ptCount val="6"/>
                <c:pt idx="0">
                  <c:v>134</c:v>
                </c:pt>
                <c:pt idx="1">
                  <c:v>261</c:v>
                </c:pt>
                <c:pt idx="2">
                  <c:v>453</c:v>
                </c:pt>
                <c:pt idx="3">
                  <c:v>254</c:v>
                </c:pt>
                <c:pt idx="4">
                  <c:v>194</c:v>
                </c:pt>
                <c:pt idx="5">
                  <c:v>225</c:v>
                </c:pt>
              </c:numCache>
            </c:numRef>
          </c:val>
          <c:extLst>
            <c:ext xmlns:c16="http://schemas.microsoft.com/office/drawing/2014/chart" uri="{C3380CC4-5D6E-409C-BE32-E72D297353CC}">
              <c16:uniqueId val="{00000005-D0BC-4A7C-A7C2-124556FE8FD2}"/>
            </c:ext>
          </c:extLst>
        </c:ser>
        <c:ser>
          <c:idx val="6"/>
          <c:order val="6"/>
          <c:tx>
            <c:strRef>
              <c:f>Sheet1!$H$1</c:f>
              <c:strCache>
                <c:ptCount val="1"/>
                <c:pt idx="0">
                  <c:v>Corporate Group</c:v>
                </c:pt>
              </c:strCache>
            </c:strRef>
          </c:tx>
          <c:spPr>
            <a:solidFill>
              <a:srgbClr val="2F8F83"/>
            </a:solidFill>
            <a:effectLst/>
          </c:spPr>
          <c:invertIfNegative val="0"/>
          <c:dLbls>
            <c:numFmt formatCode="#,##0;;" sourceLinked="0"/>
            <c:spPr>
              <a:noFill/>
              <a:ln>
                <a:noFill/>
              </a:ln>
              <a:effectLst/>
            </c:spPr>
            <c:txPr>
              <a:bodyPr/>
              <a:lstStyle/>
              <a:p>
                <a:pPr>
                  <a:defRPr sz="750" b="0" i="0" u="none" strike="noStrike">
                    <a:solidFill>
                      <a:srgbClr val="FFFFFF"/>
                    </a:solidFill>
                    <a:latin typeface="Calibri"/>
                  </a:defRPr>
                </a:pPr>
                <a:endParaRPr lang="en-US"/>
              </a:p>
            </c:txPr>
            <c:dLblPos val="ctr"/>
            <c:showLegendKey val="0"/>
            <c:showVal val="1"/>
            <c:showCatName val="0"/>
            <c:showSerName val="0"/>
            <c:showPercent val="0"/>
            <c:showBubbleSize val="0"/>
            <c:showLeaderLines val="0"/>
            <c:extLst>
              <c:ext xmlns:c15="http://schemas.microsoft.com/office/drawing/2012/chart" uri="{CE6537A1-D6FC-4f65-9D91-7224C49458BB}">
                <c15:showLeaderLines val="0"/>
              </c:ext>
            </c:extLst>
          </c:dLbls>
          <c:cat>
            <c:strRef>
              <c:f>Sheet1!$A$2:$A$7</c:f>
              <c:strCache>
                <c:ptCount val="6"/>
                <c:pt idx="0">
                  <c:v>Jan</c:v>
                </c:pt>
                <c:pt idx="1">
                  <c:v>Feb</c:v>
                </c:pt>
                <c:pt idx="2">
                  <c:v>Mar</c:v>
                </c:pt>
                <c:pt idx="3">
                  <c:v>Apr</c:v>
                </c:pt>
                <c:pt idx="4">
                  <c:v>May</c:v>
                </c:pt>
                <c:pt idx="5">
                  <c:v>Jun</c:v>
                </c:pt>
              </c:strCache>
            </c:strRef>
          </c:cat>
          <c:val>
            <c:numRef>
              <c:f>Sheet1!$H$2:$H$7</c:f>
              <c:numCache>
                <c:formatCode>General</c:formatCode>
                <c:ptCount val="6"/>
                <c:pt idx="0">
                  <c:v>93</c:v>
                </c:pt>
                <c:pt idx="1">
                  <c:v>39</c:v>
                </c:pt>
                <c:pt idx="2">
                  <c:v>85</c:v>
                </c:pt>
                <c:pt idx="3">
                  <c:v>80</c:v>
                </c:pt>
                <c:pt idx="4">
                  <c:v>59</c:v>
                </c:pt>
                <c:pt idx="5">
                  <c:v>328</c:v>
                </c:pt>
              </c:numCache>
            </c:numRef>
          </c:val>
          <c:extLst>
            <c:ext xmlns:c16="http://schemas.microsoft.com/office/drawing/2014/chart" uri="{C3380CC4-5D6E-409C-BE32-E72D297353CC}">
              <c16:uniqueId val="{00000006-D0BC-4A7C-A7C2-124556FE8FD2}"/>
            </c:ext>
          </c:extLst>
        </c:ser>
        <c:ser>
          <c:idx val="7"/>
          <c:order val="7"/>
          <c:tx>
            <c:strRef>
              <c:f>Sheet1!$I$1</c:f>
              <c:strCache>
                <c:ptCount val="1"/>
                <c:pt idx="0">
                  <c:v>Employee</c:v>
                </c:pt>
              </c:strCache>
            </c:strRef>
          </c:tx>
          <c:spPr>
            <a:solidFill>
              <a:srgbClr val="C97B4A"/>
            </a:solidFill>
            <a:effectLst/>
          </c:spPr>
          <c:invertIfNegative val="0"/>
          <c:dLbls>
            <c:numFmt formatCode="#,##0;;" sourceLinked="0"/>
            <c:spPr>
              <a:noFill/>
              <a:ln>
                <a:noFill/>
              </a:ln>
              <a:effectLst/>
            </c:spPr>
            <c:txPr>
              <a:bodyPr/>
              <a:lstStyle/>
              <a:p>
                <a:pPr>
                  <a:defRPr sz="750" b="0" i="0" u="none" strike="noStrike">
                    <a:solidFill>
                      <a:srgbClr val="FFFFFF"/>
                    </a:solidFill>
                    <a:latin typeface="Calibri"/>
                  </a:defRPr>
                </a:pPr>
                <a:endParaRPr lang="en-US"/>
              </a:p>
            </c:txPr>
            <c:dLblPos val="ctr"/>
            <c:showLegendKey val="0"/>
            <c:showVal val="1"/>
            <c:showCatName val="0"/>
            <c:showSerName val="0"/>
            <c:showPercent val="0"/>
            <c:showBubbleSize val="0"/>
            <c:showLeaderLines val="0"/>
            <c:extLst>
              <c:ext xmlns:c15="http://schemas.microsoft.com/office/drawing/2012/chart" uri="{CE6537A1-D6FC-4f65-9D91-7224C49458BB}">
                <c15:showLeaderLines val="0"/>
              </c:ext>
            </c:extLst>
          </c:dLbls>
          <c:cat>
            <c:strRef>
              <c:f>Sheet1!$A$2:$A$7</c:f>
              <c:strCache>
                <c:ptCount val="6"/>
                <c:pt idx="0">
                  <c:v>Jan</c:v>
                </c:pt>
                <c:pt idx="1">
                  <c:v>Feb</c:v>
                </c:pt>
                <c:pt idx="2">
                  <c:v>Mar</c:v>
                </c:pt>
                <c:pt idx="3">
                  <c:v>Apr</c:v>
                </c:pt>
                <c:pt idx="4">
                  <c:v>May</c:v>
                </c:pt>
                <c:pt idx="5">
                  <c:v>Jun</c:v>
                </c:pt>
              </c:strCache>
            </c:strRef>
          </c:cat>
          <c:val>
            <c:numRef>
              <c:f>Sheet1!$I$2:$I$7</c:f>
              <c:numCache>
                <c:formatCode>General</c:formatCode>
                <c:ptCount val="6"/>
                <c:pt idx="0">
                  <c:v>4</c:v>
                </c:pt>
                <c:pt idx="1">
                  <c:v>10</c:v>
                </c:pt>
                <c:pt idx="2">
                  <c:v>12</c:v>
                </c:pt>
                <c:pt idx="3">
                  <c:v>9</c:v>
                </c:pt>
                <c:pt idx="4">
                  <c:v>8</c:v>
                </c:pt>
                <c:pt idx="5">
                  <c:v>6</c:v>
                </c:pt>
              </c:numCache>
            </c:numRef>
          </c:val>
          <c:extLst>
            <c:ext xmlns:c16="http://schemas.microsoft.com/office/drawing/2014/chart" uri="{C3380CC4-5D6E-409C-BE32-E72D297353CC}">
              <c16:uniqueId val="{00000007-D0BC-4A7C-A7C2-124556FE8FD2}"/>
            </c:ext>
          </c:extLst>
        </c:ser>
        <c:dLbls>
          <c:dLblPos val="ctr"/>
          <c:showLegendKey val="0"/>
          <c:showVal val="1"/>
          <c:showCatName val="0"/>
          <c:showSerName val="0"/>
          <c:showPercent val="0"/>
          <c:showBubbleSize val="0"/>
        </c:dLbls>
        <c:gapWidth val="45"/>
        <c:overlap val="100"/>
        <c:axId val="2094734554"/>
        <c:axId val="2094734552"/>
      </c:barChart>
      <c:catAx>
        <c:axId val="2094734554"/>
        <c:scaling>
          <c:orientation val="minMax"/>
        </c:scaling>
        <c:delete val="0"/>
        <c:axPos val="b"/>
        <c:numFmt formatCode="General" sourceLinked="1"/>
        <c:majorTickMark val="out"/>
        <c:minorTickMark val="none"/>
        <c:tickLblPos val="low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1000" b="0" i="0" u="none" strike="noStrike">
                <a:solidFill>
                  <a:srgbClr val="6B7280"/>
                </a:solidFill>
                <a:latin typeface="Calibri"/>
              </a:defRPr>
            </a:pPr>
            <a:endParaRPr lang="en-US"/>
          </a:p>
        </c:txPr>
        <c:crossAx val="2094734552"/>
        <c:crosses val="autoZero"/>
        <c:auto val="1"/>
        <c:lblAlgn val="ctr"/>
        <c:lblOffset val="100"/>
        <c:noMultiLvlLbl val="1"/>
      </c:catAx>
      <c:valAx>
        <c:axId val="2094734552"/>
        <c:scaling>
          <c:orientation val="minMax"/>
        </c:scaling>
        <c:delete val="0"/>
        <c:axPos val="l"/>
        <c:majorGridlines>
          <c:spPr>
            <a:ln w="6350" cap="flat">
              <a:solidFill>
                <a:srgbClr val="E5E8EF"/>
              </a:solidFill>
              <a:prstDash val="solid"/>
              <a:round/>
            </a:ln>
          </c:spPr>
        </c:majorGridlines>
        <c:numFmt formatCode="General" sourceLinked="0"/>
        <c:majorTickMark val="out"/>
        <c:minorTickMark val="none"/>
        <c:tickLblPos val="nextTo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950" b="0" i="0" u="none" strike="noStrike">
                <a:solidFill>
                  <a:srgbClr val="6B7280"/>
                </a:solidFill>
                <a:latin typeface="Calibri"/>
              </a:defRPr>
            </a:pPr>
            <a:endParaRPr lang="en-US"/>
          </a:p>
        </c:txPr>
        <c:crossAx val="2094734554"/>
        <c:crosses val="autoZero"/>
        <c:crossBetween val="between"/>
      </c:valAx>
      <c:spPr>
        <a:noFill/>
        <a:ln>
          <a:noFill/>
        </a:ln>
        <a:effectLst/>
      </c:spPr>
    </c:plotArea>
    <c:legend>
      <c:legendPos val="b"/>
      <c:overlay val="0"/>
      <c:txPr>
        <a:bodyPr/>
        <a:lstStyle/>
        <a:p>
          <a:pPr>
            <a:defRPr sz="1000">
              <a:solidFill>
                <a:srgbClr val="26292E"/>
              </a:solidFill>
              <a:latin typeface="Calibri"/>
              <a:cs typeface="Calibri"/>
            </a:defRPr>
          </a:pPr>
          <a:endParaRPr lang="en-US"/>
        </a:p>
      </c:txPr>
    </c:legend>
    <c:plotVisOnly val="1"/>
    <c:dispBlanksAs val="span"/>
    <c:showDLblsOverMax val="1"/>
  </c:chart>
  <c:spPr>
    <a:noFill/>
    <a:ln>
      <a:noFill/>
    </a:ln>
    <a:effectLst/>
  </c:spPr>
  <c:externalData r:id="rId1">
    <c:autoUpdate val="0"/>
  </c:externalData>
</c:chartSpace>
</file>

<file path=ppt/charts/chart42.xml><?xml version="1.0" encoding="utf-8"?>
<c:chartSpace xmlns:c="http://schemas.openxmlformats.org/drawingml/2006/chart" xmlns:a="http://schemas.openxmlformats.org/drawingml/2006/main" xmlns:r="http://schemas.openxmlformats.org/officeDocument/2006/relationships" xmlns:c16r2="http://schemas.microsoft.com/office/drawing/2015/06/chart">
  <c:date1904 val="0"/>
  <c:lang val="en-US"/>
  <c:roundedCorners val="1"/>
  <c:style val="2"/>
  <c:chart>
    <c:title>
      <c:tx>
        <c:rich>
          <a:bodyPr/>
          <a:lstStyle/>
          <a:p>
            <a:pPr>
              <a:defRPr sz="1300" b="0" i="0" u="none" strike="noStrike">
                <a:solidFill>
                  <a:srgbClr val="1E2761"/>
                </a:solidFill>
                <a:latin typeface="Calibri"/>
              </a:defRPr>
            </a:pPr>
            <a:r>
              <a:rPr lang="en-US" sz="1300" b="0" i="0" u="none" strike="noStrike">
                <a:solidFill>
                  <a:srgbClr val="1E2761"/>
                </a:solidFill>
                <a:latin typeface="Calibri"/>
              </a:rPr>
              <a:t>YTD mix (43,294 RN)</a:t>
            </a:r>
          </a:p>
        </c:rich>
      </c:tx>
      <c:overlay val="0"/>
    </c:title>
    <c:autoTitleDeleted val="0"/>
    <c:plotArea>
      <c:layout/>
      <c:doughnutChart>
        <c:varyColors val="1"/>
        <c:ser>
          <c:idx val="0"/>
          <c:order val="0"/>
          <c:tx>
            <c:strRef>
              <c:f>Sheet1!$B$1</c:f>
              <c:strCache>
                <c:ptCount val="1"/>
                <c:pt idx="0">
                  <c:v>YTD</c:v>
                </c:pt>
              </c:strCache>
            </c:strRef>
          </c:tx>
          <c:spPr>
            <a:solidFill>
              <a:schemeClr val="accent1"/>
            </a:solidFill>
            <a:ln w="9525" cap="flat">
              <a:solidFill>
                <a:srgbClr val="F9F9F9"/>
              </a:solidFill>
              <a:prstDash val="solid"/>
              <a:round/>
            </a:ln>
            <a:effectLst/>
          </c:spPr>
          <c:dPt>
            <c:idx val="0"/>
            <c:bubble3D val="0"/>
            <c:spPr>
              <a:solidFill>
                <a:srgbClr val="1E2761"/>
              </a:solidFill>
              <a:effectLst/>
            </c:spPr>
            <c:extLst>
              <c:ext xmlns:c16="http://schemas.microsoft.com/office/drawing/2014/chart" uri="{C3380CC4-5D6E-409C-BE32-E72D297353CC}">
                <c16:uniqueId val="{00000001-00EF-4036-8714-587FF8B76019}"/>
              </c:ext>
            </c:extLst>
          </c:dPt>
          <c:dPt>
            <c:idx val="1"/>
            <c:bubble3D val="0"/>
            <c:spPr>
              <a:solidFill>
                <a:srgbClr val="4A6FC4"/>
              </a:solidFill>
              <a:effectLst/>
            </c:spPr>
            <c:extLst>
              <c:ext xmlns:c16="http://schemas.microsoft.com/office/drawing/2014/chart" uri="{C3380CC4-5D6E-409C-BE32-E72D297353CC}">
                <c16:uniqueId val="{00000003-00EF-4036-8714-587FF8B76019}"/>
              </c:ext>
            </c:extLst>
          </c:dPt>
          <c:dPt>
            <c:idx val="2"/>
            <c:bubble3D val="0"/>
            <c:spPr>
              <a:solidFill>
                <a:srgbClr val="7FA4DC"/>
              </a:solidFill>
              <a:effectLst/>
            </c:spPr>
            <c:extLst>
              <c:ext xmlns:c16="http://schemas.microsoft.com/office/drawing/2014/chart" uri="{C3380CC4-5D6E-409C-BE32-E72D297353CC}">
                <c16:uniqueId val="{00000005-00EF-4036-8714-587FF8B76019}"/>
              </c:ext>
            </c:extLst>
          </c:dPt>
          <c:dPt>
            <c:idx val="3"/>
            <c:bubble3D val="0"/>
            <c:spPr>
              <a:solidFill>
                <a:srgbClr val="AFC6EC"/>
              </a:solidFill>
              <a:effectLst/>
            </c:spPr>
            <c:extLst>
              <c:ext xmlns:c16="http://schemas.microsoft.com/office/drawing/2014/chart" uri="{C3380CC4-5D6E-409C-BE32-E72D297353CC}">
                <c16:uniqueId val="{00000007-00EF-4036-8714-587FF8B76019}"/>
              </c:ext>
            </c:extLst>
          </c:dPt>
          <c:dPt>
            <c:idx val="4"/>
            <c:bubble3D val="0"/>
            <c:spPr>
              <a:solidFill>
                <a:srgbClr val="D9A441"/>
              </a:solidFill>
              <a:effectLst/>
            </c:spPr>
            <c:extLst>
              <c:ext xmlns:c16="http://schemas.microsoft.com/office/drawing/2014/chart" uri="{C3380CC4-5D6E-409C-BE32-E72D297353CC}">
                <c16:uniqueId val="{00000009-00EF-4036-8714-587FF8B76019}"/>
              </c:ext>
            </c:extLst>
          </c:dPt>
          <c:dPt>
            <c:idx val="5"/>
            <c:bubble3D val="0"/>
            <c:spPr>
              <a:solidFill>
                <a:srgbClr val="8A5A83"/>
              </a:solidFill>
              <a:effectLst/>
            </c:spPr>
            <c:extLst>
              <c:ext xmlns:c16="http://schemas.microsoft.com/office/drawing/2014/chart" uri="{C3380CC4-5D6E-409C-BE32-E72D297353CC}">
                <c16:uniqueId val="{0000000B-00EF-4036-8714-587FF8B76019}"/>
              </c:ext>
            </c:extLst>
          </c:dPt>
          <c:dPt>
            <c:idx val="6"/>
            <c:bubble3D val="0"/>
            <c:spPr>
              <a:solidFill>
                <a:srgbClr val="2F8F83"/>
              </a:solidFill>
              <a:effectLst/>
            </c:spPr>
            <c:extLst>
              <c:ext xmlns:c16="http://schemas.microsoft.com/office/drawing/2014/chart" uri="{C3380CC4-5D6E-409C-BE32-E72D297353CC}">
                <c16:uniqueId val="{0000000D-00EF-4036-8714-587FF8B76019}"/>
              </c:ext>
            </c:extLst>
          </c:dPt>
          <c:dPt>
            <c:idx val="7"/>
            <c:bubble3D val="0"/>
            <c:spPr>
              <a:solidFill>
                <a:srgbClr val="C97B4A"/>
              </a:solidFill>
              <a:effectLst/>
            </c:spPr>
            <c:extLst>
              <c:ext xmlns:c16="http://schemas.microsoft.com/office/drawing/2014/chart" uri="{C3380CC4-5D6E-409C-BE32-E72D297353CC}">
                <c16:uniqueId val="{0000000F-00EF-4036-8714-587FF8B76019}"/>
              </c:ext>
            </c:extLst>
          </c:dPt>
          <c:dLbls>
            <c:dLbl>
              <c:idx val="0"/>
              <c:numFmt formatCode="0%" sourceLinked="0"/>
              <c:spPr/>
              <c:txPr>
                <a:bodyPr/>
                <a:lstStyle/>
                <a:p>
                  <a:pPr>
                    <a:defRPr sz="900" b="0" i="0" u="none" strike="noStrike">
                      <a:solidFill>
                        <a:srgbClr val="FFFFFF"/>
                      </a:solidFill>
                      <a:latin typeface="Calibri"/>
                    </a:defRPr>
                  </a:pPr>
                  <a:endParaRPr lang="en-US"/>
                </a:p>
              </c:txPr>
              <c:showLegendKey val="0"/>
              <c:showVal val="0"/>
              <c:showCatName val="0"/>
              <c:showSerName val="0"/>
              <c:showPercent val="1"/>
              <c:showBubbleSize val="0"/>
              <c:extLst>
                <c:ext xmlns:c15="http://schemas.microsoft.com/office/drawing/2012/chart" uri="{CE6537A1-D6FC-4f65-9D91-7224C49458BB}"/>
                <c:ext xmlns:c16="http://schemas.microsoft.com/office/drawing/2014/chart" uri="{C3380CC4-5D6E-409C-BE32-E72D297353CC}">
                  <c16:uniqueId val="{00000001-00EF-4036-8714-587FF8B76019}"/>
                </c:ext>
              </c:extLst>
            </c:dLbl>
            <c:dLbl>
              <c:idx val="1"/>
              <c:numFmt formatCode="0%" sourceLinked="0"/>
              <c:spPr/>
              <c:txPr>
                <a:bodyPr/>
                <a:lstStyle/>
                <a:p>
                  <a:pPr>
                    <a:defRPr sz="900" b="0" i="0" u="none" strike="noStrike">
                      <a:solidFill>
                        <a:srgbClr val="FFFFFF"/>
                      </a:solidFill>
                      <a:latin typeface="Calibri"/>
                    </a:defRPr>
                  </a:pPr>
                  <a:endParaRPr lang="en-US"/>
                </a:p>
              </c:txPr>
              <c:showLegendKey val="0"/>
              <c:showVal val="0"/>
              <c:showCatName val="0"/>
              <c:showSerName val="0"/>
              <c:showPercent val="1"/>
              <c:showBubbleSize val="0"/>
              <c:extLst>
                <c:ext xmlns:c15="http://schemas.microsoft.com/office/drawing/2012/chart" uri="{CE6537A1-D6FC-4f65-9D91-7224C49458BB}"/>
                <c:ext xmlns:c16="http://schemas.microsoft.com/office/drawing/2014/chart" uri="{C3380CC4-5D6E-409C-BE32-E72D297353CC}">
                  <c16:uniqueId val="{00000003-00EF-4036-8714-587FF8B76019}"/>
                </c:ext>
              </c:extLst>
            </c:dLbl>
            <c:dLbl>
              <c:idx val="2"/>
              <c:numFmt formatCode="0%" sourceLinked="0"/>
              <c:spPr/>
              <c:txPr>
                <a:bodyPr/>
                <a:lstStyle/>
                <a:p>
                  <a:pPr>
                    <a:defRPr sz="900" b="0" i="0" u="none" strike="noStrike">
                      <a:solidFill>
                        <a:srgbClr val="FFFFFF"/>
                      </a:solidFill>
                      <a:latin typeface="Calibri"/>
                    </a:defRPr>
                  </a:pPr>
                  <a:endParaRPr lang="en-US"/>
                </a:p>
              </c:txPr>
              <c:showLegendKey val="0"/>
              <c:showVal val="0"/>
              <c:showCatName val="0"/>
              <c:showSerName val="0"/>
              <c:showPercent val="1"/>
              <c:showBubbleSize val="0"/>
              <c:extLst>
                <c:ext xmlns:c15="http://schemas.microsoft.com/office/drawing/2012/chart" uri="{CE6537A1-D6FC-4f65-9D91-7224C49458BB}"/>
                <c:ext xmlns:c16="http://schemas.microsoft.com/office/drawing/2014/chart" uri="{C3380CC4-5D6E-409C-BE32-E72D297353CC}">
                  <c16:uniqueId val="{00000005-00EF-4036-8714-587FF8B76019}"/>
                </c:ext>
              </c:extLst>
            </c:dLbl>
            <c:dLbl>
              <c:idx val="3"/>
              <c:numFmt formatCode="0%" sourceLinked="0"/>
              <c:spPr/>
              <c:txPr>
                <a:bodyPr/>
                <a:lstStyle/>
                <a:p>
                  <a:pPr>
                    <a:defRPr sz="900" b="0" i="0" u="none" strike="noStrike">
                      <a:solidFill>
                        <a:srgbClr val="FFFFFF"/>
                      </a:solidFill>
                      <a:latin typeface="Calibri"/>
                    </a:defRPr>
                  </a:pPr>
                  <a:endParaRPr lang="en-US"/>
                </a:p>
              </c:txPr>
              <c:showLegendKey val="0"/>
              <c:showVal val="0"/>
              <c:showCatName val="0"/>
              <c:showSerName val="0"/>
              <c:showPercent val="1"/>
              <c:showBubbleSize val="0"/>
              <c:extLst>
                <c:ext xmlns:c15="http://schemas.microsoft.com/office/drawing/2012/chart" uri="{CE6537A1-D6FC-4f65-9D91-7224C49458BB}"/>
                <c:ext xmlns:c16="http://schemas.microsoft.com/office/drawing/2014/chart" uri="{C3380CC4-5D6E-409C-BE32-E72D297353CC}">
                  <c16:uniqueId val="{00000007-00EF-4036-8714-587FF8B76019}"/>
                </c:ext>
              </c:extLst>
            </c:dLbl>
            <c:dLbl>
              <c:idx val="4"/>
              <c:numFmt formatCode="0%" sourceLinked="0"/>
              <c:spPr/>
              <c:txPr>
                <a:bodyPr/>
                <a:lstStyle/>
                <a:p>
                  <a:pPr>
                    <a:defRPr sz="900" b="0" i="0" u="none" strike="noStrike">
                      <a:solidFill>
                        <a:srgbClr val="FFFFFF"/>
                      </a:solidFill>
                      <a:latin typeface="Calibri"/>
                    </a:defRPr>
                  </a:pPr>
                  <a:endParaRPr lang="en-US"/>
                </a:p>
              </c:txPr>
              <c:showLegendKey val="0"/>
              <c:showVal val="0"/>
              <c:showCatName val="0"/>
              <c:showSerName val="0"/>
              <c:showPercent val="1"/>
              <c:showBubbleSize val="0"/>
              <c:extLst>
                <c:ext xmlns:c15="http://schemas.microsoft.com/office/drawing/2012/chart" uri="{CE6537A1-D6FC-4f65-9D91-7224C49458BB}"/>
                <c:ext xmlns:c16="http://schemas.microsoft.com/office/drawing/2014/chart" uri="{C3380CC4-5D6E-409C-BE32-E72D297353CC}">
                  <c16:uniqueId val="{00000009-00EF-4036-8714-587FF8B76019}"/>
                </c:ext>
              </c:extLst>
            </c:dLbl>
            <c:dLbl>
              <c:idx val="5"/>
              <c:numFmt formatCode="0%" sourceLinked="0"/>
              <c:spPr/>
              <c:txPr>
                <a:bodyPr/>
                <a:lstStyle/>
                <a:p>
                  <a:pPr>
                    <a:defRPr sz="900" b="0" i="0" u="none" strike="noStrike">
                      <a:solidFill>
                        <a:srgbClr val="FFFFFF"/>
                      </a:solidFill>
                      <a:latin typeface="Calibri"/>
                    </a:defRPr>
                  </a:pPr>
                  <a:endParaRPr lang="en-US"/>
                </a:p>
              </c:txPr>
              <c:showLegendKey val="0"/>
              <c:showVal val="0"/>
              <c:showCatName val="0"/>
              <c:showSerName val="0"/>
              <c:showPercent val="1"/>
              <c:showBubbleSize val="0"/>
              <c:extLst>
                <c:ext xmlns:c15="http://schemas.microsoft.com/office/drawing/2012/chart" uri="{CE6537A1-D6FC-4f65-9D91-7224C49458BB}"/>
                <c:ext xmlns:c16="http://schemas.microsoft.com/office/drawing/2014/chart" uri="{C3380CC4-5D6E-409C-BE32-E72D297353CC}">
                  <c16:uniqueId val="{0000000B-00EF-4036-8714-587FF8B76019}"/>
                </c:ext>
              </c:extLst>
            </c:dLbl>
            <c:dLbl>
              <c:idx val="6"/>
              <c:numFmt formatCode="0%" sourceLinked="0"/>
              <c:spPr/>
              <c:txPr>
                <a:bodyPr/>
                <a:lstStyle/>
                <a:p>
                  <a:pPr>
                    <a:defRPr sz="900" b="0" i="0" u="none" strike="noStrike">
                      <a:solidFill>
                        <a:srgbClr val="FFFFFF"/>
                      </a:solidFill>
                      <a:latin typeface="Calibri"/>
                    </a:defRPr>
                  </a:pPr>
                  <a:endParaRPr lang="en-US"/>
                </a:p>
              </c:txPr>
              <c:showLegendKey val="0"/>
              <c:showVal val="0"/>
              <c:showCatName val="0"/>
              <c:showSerName val="0"/>
              <c:showPercent val="1"/>
              <c:showBubbleSize val="0"/>
              <c:extLst>
                <c:ext xmlns:c15="http://schemas.microsoft.com/office/drawing/2012/chart" uri="{CE6537A1-D6FC-4f65-9D91-7224C49458BB}"/>
                <c:ext xmlns:c16="http://schemas.microsoft.com/office/drawing/2014/chart" uri="{C3380CC4-5D6E-409C-BE32-E72D297353CC}">
                  <c16:uniqueId val="{0000000D-00EF-4036-8714-587FF8B76019}"/>
                </c:ext>
              </c:extLst>
            </c:dLbl>
            <c:dLbl>
              <c:idx val="7"/>
              <c:numFmt formatCode="0%" sourceLinked="0"/>
              <c:spPr/>
              <c:txPr>
                <a:bodyPr/>
                <a:lstStyle/>
                <a:p>
                  <a:pPr>
                    <a:defRPr sz="900" b="0" i="0" u="none" strike="noStrike">
                      <a:solidFill>
                        <a:srgbClr val="FFFFFF"/>
                      </a:solidFill>
                      <a:latin typeface="Calibri"/>
                    </a:defRPr>
                  </a:pPr>
                  <a:endParaRPr lang="en-US"/>
                </a:p>
              </c:txPr>
              <c:showLegendKey val="0"/>
              <c:showVal val="0"/>
              <c:showCatName val="0"/>
              <c:showSerName val="0"/>
              <c:showPercent val="1"/>
              <c:showBubbleSize val="0"/>
              <c:extLst>
                <c:ext xmlns:c15="http://schemas.microsoft.com/office/drawing/2012/chart" uri="{CE6537A1-D6FC-4f65-9D91-7224C49458BB}"/>
                <c:ext xmlns:c16="http://schemas.microsoft.com/office/drawing/2014/chart" uri="{C3380CC4-5D6E-409C-BE32-E72D297353CC}">
                  <c16:uniqueId val="{0000000F-00EF-4036-8714-587FF8B76019}"/>
                </c:ext>
              </c:extLst>
            </c:dLbl>
            <c:numFmt formatCode="0%" sourceLinked="0"/>
            <c:spPr>
              <a:noFill/>
              <a:ln>
                <a:noFill/>
              </a:ln>
              <a:effectLst/>
            </c:spPr>
            <c:txPr>
              <a:bodyPr/>
              <a:lstStyle/>
              <a:p>
                <a:pPr>
                  <a:defRPr sz="1800" b="0" i="0" u="none" strike="noStrike">
                    <a:solidFill>
                      <a:srgbClr val="000000"/>
                    </a:solidFill>
                    <a:latin typeface="Arial"/>
                  </a:defRPr>
                </a:pPr>
                <a:endParaRPr lang="en-US"/>
              </a:p>
            </c:txPr>
            <c:showLegendKey val="0"/>
            <c:showVal val="0"/>
            <c:showCatName val="1"/>
            <c:showSerName val="0"/>
            <c:showPercent val="1"/>
            <c:showBubbleSize val="0"/>
            <c:showLeaderLines val="0"/>
            <c:extLst>
              <c:ext xmlns:c15="http://schemas.microsoft.com/office/drawing/2012/chart" uri="{CE6537A1-D6FC-4f65-9D91-7224C49458BB}"/>
            </c:extLst>
          </c:dLbls>
          <c:cat>
            <c:strRef>
              <c:f>Sheet1!$A$2:$A$9</c:f>
              <c:strCache>
                <c:ptCount val="8"/>
                <c:pt idx="0">
                  <c:v>Corporate SS</c:v>
                </c:pt>
                <c:pt idx="1">
                  <c:v>Corporate LS</c:v>
                </c:pt>
                <c:pt idx="2">
                  <c:v>Online</c:v>
                </c:pt>
                <c:pt idx="3">
                  <c:v>ASR</c:v>
                </c:pt>
                <c:pt idx="4">
                  <c:v>Wholesale</c:v>
                </c:pt>
                <c:pt idx="5">
                  <c:v>Wholesale Grp</c:v>
                </c:pt>
                <c:pt idx="6">
                  <c:v>Corporate Group</c:v>
                </c:pt>
                <c:pt idx="7">
                  <c:v>Employee</c:v>
                </c:pt>
              </c:strCache>
            </c:strRef>
          </c:cat>
          <c:val>
            <c:numRef>
              <c:f>Sheet1!$B$2:$B$9</c:f>
              <c:numCache>
                <c:formatCode>General</c:formatCode>
                <c:ptCount val="8"/>
                <c:pt idx="0">
                  <c:v>1879</c:v>
                </c:pt>
                <c:pt idx="1">
                  <c:v>1986</c:v>
                </c:pt>
                <c:pt idx="2">
                  <c:v>12744</c:v>
                </c:pt>
                <c:pt idx="3">
                  <c:v>6426</c:v>
                </c:pt>
                <c:pt idx="4">
                  <c:v>18005</c:v>
                </c:pt>
                <c:pt idx="5">
                  <c:v>1521</c:v>
                </c:pt>
                <c:pt idx="6">
                  <c:v>684</c:v>
                </c:pt>
                <c:pt idx="7">
                  <c:v>49</c:v>
                </c:pt>
              </c:numCache>
            </c:numRef>
          </c:val>
          <c:extLst>
            <c:ext xmlns:c16="http://schemas.microsoft.com/office/drawing/2014/chart" uri="{C3380CC4-5D6E-409C-BE32-E72D297353CC}">
              <c16:uniqueId val="{00000010-00EF-4036-8714-587FF8B76019}"/>
            </c:ext>
          </c:extLst>
        </c:ser>
        <c:dLbls>
          <c:showLegendKey val="0"/>
          <c:showVal val="0"/>
          <c:showCatName val="0"/>
          <c:showSerName val="0"/>
          <c:showPercent val="0"/>
          <c:showBubbleSize val="0"/>
          <c:showLeaderLines val="0"/>
        </c:dLbls>
        <c:firstSliceAng val="0"/>
        <c:holeSize val="55"/>
      </c:doughnutChart>
      <c:spPr>
        <a:noFill/>
        <a:ln>
          <a:noFill/>
        </a:ln>
        <a:effectLst/>
      </c:spPr>
    </c:plotArea>
    <c:legend>
      <c:legendPos val="r"/>
      <c:overlay val="0"/>
      <c:txPr>
        <a:bodyPr/>
        <a:lstStyle/>
        <a:p>
          <a:pPr>
            <a:defRPr sz="950">
              <a:solidFill>
                <a:srgbClr val="26292E"/>
              </a:solidFill>
              <a:latin typeface="Calibri"/>
              <a:cs typeface="Calibri"/>
            </a:defRPr>
          </a:pPr>
          <a:endParaRPr lang="en-US"/>
        </a:p>
      </c:txPr>
    </c:legend>
    <c:plotVisOnly val="1"/>
    <c:dispBlanksAs val="span"/>
    <c:showDLblsOverMax val="1"/>
  </c:chart>
  <c:spPr>
    <a:noFill/>
    <a:ln>
      <a:noFill/>
    </a:ln>
    <a:effectLst/>
  </c:spPr>
  <c:externalData r:id="rId1">
    <c:autoUpdate val="0"/>
  </c:externalData>
</c:chartSpace>
</file>

<file path=ppt/charts/chart43.xml><?xml version="1.0" encoding="utf-8"?>
<c:chartSpace xmlns:c="http://schemas.openxmlformats.org/drawingml/2006/chart" xmlns:a="http://schemas.openxmlformats.org/drawingml/2006/main" xmlns:r="http://schemas.openxmlformats.org/officeDocument/2006/relationships" xmlns:c16r2="http://schemas.microsoft.com/office/drawing/2015/06/chart">
  <c:date1904 val="0"/>
  <c:lang val="en-US"/>
  <c:roundedCorners val="1"/>
  <c:style val="2"/>
  <c:chart>
    <c:title>
      <c:tx>
        <c:rich>
          <a:bodyPr/>
          <a:lstStyle/>
          <a:p>
            <a:pPr>
              <a:defRPr sz="1300" b="0" i="0" u="none" strike="noStrike">
                <a:solidFill>
                  <a:srgbClr val="1E2761"/>
                </a:solidFill>
                <a:latin typeface="Calibri"/>
              </a:defRPr>
            </a:pPr>
            <a:r>
              <a:rPr lang="en-US" sz="1300" b="0" i="0" u="none" strike="noStrike">
                <a:solidFill>
                  <a:srgbClr val="1E2761"/>
                </a:solidFill>
                <a:latin typeface="Calibri"/>
              </a:rPr>
              <a:t>Room nights H1 (Jan–Jun)</a:t>
            </a:r>
          </a:p>
        </c:rich>
      </c:tx>
      <c:overlay val="0"/>
    </c:title>
    <c:autoTitleDeleted val="0"/>
    <c:plotArea>
      <c:layout/>
      <c:barChart>
        <c:barDir val="bar"/>
        <c:grouping val="clustered"/>
        <c:varyColors val="0"/>
        <c:ser>
          <c:idx val="0"/>
          <c:order val="0"/>
          <c:tx>
            <c:strRef>
              <c:f>Sheet1!$B$1</c:f>
              <c:strCache>
                <c:ptCount val="1"/>
                <c:pt idx="0">
                  <c:v>2025 H1</c:v>
                </c:pt>
              </c:strCache>
            </c:strRef>
          </c:tx>
          <c:spPr>
            <a:solidFill>
              <a:srgbClr val="7FA4DC"/>
            </a:solidFill>
            <a:effectLst/>
          </c:spPr>
          <c:invertIfNegative val="0"/>
          <c:dLbls>
            <c:numFmt formatCode="#,##0;;" sourceLinked="0"/>
            <c:spPr>
              <a:noFill/>
              <a:ln>
                <a:noFill/>
              </a:ln>
              <a:effectLst/>
            </c:spPr>
            <c:txPr>
              <a:bodyPr/>
              <a:lstStyle/>
              <a:p>
                <a:pPr>
                  <a:defRPr sz="800" b="0" i="0" u="none" strike="noStrike">
                    <a:solidFill>
                      <a:srgbClr val="6B7280"/>
                    </a:solidFill>
                    <a:latin typeface="Calibri"/>
                  </a:defRPr>
                </a:pPr>
                <a:endParaRPr lang="en-US"/>
              </a:p>
            </c:txPr>
            <c:showLegendKey val="0"/>
            <c:showVal val="1"/>
            <c:showCatName val="0"/>
            <c:showSerName val="0"/>
            <c:showPercent val="0"/>
            <c:showBubbleSize val="0"/>
            <c:showLeaderLines val="0"/>
            <c:extLst>
              <c:ext xmlns:c15="http://schemas.microsoft.com/office/drawing/2012/chart" uri="{CE6537A1-D6FC-4f65-9D91-7224C49458BB}">
                <c15:showLeaderLines val="0"/>
              </c:ext>
            </c:extLst>
          </c:dLbls>
          <c:cat>
            <c:strRef>
              <c:f>Sheet1!$A$2:$A$11</c:f>
              <c:strCache>
                <c:ptCount val="10"/>
                <c:pt idx="0">
                  <c:v>China</c:v>
                </c:pt>
                <c:pt idx="1">
                  <c:v>India</c:v>
                </c:pt>
                <c:pt idx="2">
                  <c:v>Thailand</c:v>
                </c:pt>
                <c:pt idx="3">
                  <c:v>Israel</c:v>
                </c:pt>
                <c:pt idx="4">
                  <c:v>United States</c:v>
                </c:pt>
                <c:pt idx="5">
                  <c:v>Russia</c:v>
                </c:pt>
                <c:pt idx="6">
                  <c:v>Taiwan</c:v>
                </c:pt>
                <c:pt idx="7">
                  <c:v>Republic of Korea</c:v>
                </c:pt>
                <c:pt idx="8">
                  <c:v>Australia</c:v>
                </c:pt>
                <c:pt idx="9">
                  <c:v>Japan</c:v>
                </c:pt>
              </c:strCache>
            </c:strRef>
          </c:cat>
          <c:val>
            <c:numRef>
              <c:f>Sheet1!$B$2:$B$11</c:f>
              <c:numCache>
                <c:formatCode>General</c:formatCode>
                <c:ptCount val="10"/>
                <c:pt idx="0">
                  <c:v>9640</c:v>
                </c:pt>
                <c:pt idx="1">
                  <c:v>4218</c:v>
                </c:pt>
                <c:pt idx="2">
                  <c:v>2963</c:v>
                </c:pt>
                <c:pt idx="3">
                  <c:v>2509</c:v>
                </c:pt>
                <c:pt idx="4">
                  <c:v>3346</c:v>
                </c:pt>
                <c:pt idx="5">
                  <c:v>2030</c:v>
                </c:pt>
                <c:pt idx="6">
                  <c:v>2369</c:v>
                </c:pt>
                <c:pt idx="7">
                  <c:v>2040</c:v>
                </c:pt>
                <c:pt idx="8">
                  <c:v>1310</c:v>
                </c:pt>
                <c:pt idx="9">
                  <c:v>1663</c:v>
                </c:pt>
              </c:numCache>
            </c:numRef>
          </c:val>
          <c:extLst>
            <c:ext xmlns:c16="http://schemas.microsoft.com/office/drawing/2014/chart" uri="{C3380CC4-5D6E-409C-BE32-E72D297353CC}">
              <c16:uniqueId val="{00000000-5019-4FA6-BB85-72F0C6910C1D}"/>
            </c:ext>
          </c:extLst>
        </c:ser>
        <c:ser>
          <c:idx val="1"/>
          <c:order val="1"/>
          <c:tx>
            <c:strRef>
              <c:f>Sheet1!$C$1</c:f>
              <c:strCache>
                <c:ptCount val="1"/>
                <c:pt idx="0">
                  <c:v>2026 H1</c:v>
                </c:pt>
              </c:strCache>
            </c:strRef>
          </c:tx>
          <c:spPr>
            <a:solidFill>
              <a:srgbClr val="1E2761"/>
            </a:solidFill>
            <a:effectLst/>
          </c:spPr>
          <c:invertIfNegative val="0"/>
          <c:dLbls>
            <c:numFmt formatCode="#,##0;;" sourceLinked="0"/>
            <c:spPr>
              <a:noFill/>
              <a:ln>
                <a:noFill/>
              </a:ln>
              <a:effectLst/>
            </c:spPr>
            <c:txPr>
              <a:bodyPr/>
              <a:lstStyle/>
              <a:p>
                <a:pPr>
                  <a:defRPr sz="800" b="0" i="0" u="none" strike="noStrike">
                    <a:solidFill>
                      <a:srgbClr val="6B7280"/>
                    </a:solidFill>
                    <a:latin typeface="Calibri"/>
                  </a:defRPr>
                </a:pPr>
                <a:endParaRPr lang="en-US"/>
              </a:p>
            </c:txPr>
            <c:showLegendKey val="0"/>
            <c:showVal val="1"/>
            <c:showCatName val="0"/>
            <c:showSerName val="0"/>
            <c:showPercent val="0"/>
            <c:showBubbleSize val="0"/>
            <c:showLeaderLines val="0"/>
            <c:extLst>
              <c:ext xmlns:c15="http://schemas.microsoft.com/office/drawing/2012/chart" uri="{CE6537A1-D6FC-4f65-9D91-7224C49458BB}">
                <c15:showLeaderLines val="0"/>
              </c:ext>
            </c:extLst>
          </c:dLbls>
          <c:cat>
            <c:strRef>
              <c:f>Sheet1!$A$2:$A$11</c:f>
              <c:strCache>
                <c:ptCount val="10"/>
                <c:pt idx="0">
                  <c:v>China</c:v>
                </c:pt>
                <c:pt idx="1">
                  <c:v>India</c:v>
                </c:pt>
                <c:pt idx="2">
                  <c:v>Thailand</c:v>
                </c:pt>
                <c:pt idx="3">
                  <c:v>Israel</c:v>
                </c:pt>
                <c:pt idx="4">
                  <c:v>United States</c:v>
                </c:pt>
                <c:pt idx="5">
                  <c:v>Russia</c:v>
                </c:pt>
                <c:pt idx="6">
                  <c:v>Taiwan</c:v>
                </c:pt>
                <c:pt idx="7">
                  <c:v>Republic of Korea</c:v>
                </c:pt>
                <c:pt idx="8">
                  <c:v>Australia</c:v>
                </c:pt>
                <c:pt idx="9">
                  <c:v>Japan</c:v>
                </c:pt>
              </c:strCache>
            </c:strRef>
          </c:cat>
          <c:val>
            <c:numRef>
              <c:f>Sheet1!$C$2:$C$11</c:f>
              <c:numCache>
                <c:formatCode>General</c:formatCode>
                <c:ptCount val="10"/>
                <c:pt idx="0">
                  <c:v>10445</c:v>
                </c:pt>
                <c:pt idx="1">
                  <c:v>3764</c:v>
                </c:pt>
                <c:pt idx="2">
                  <c:v>3622</c:v>
                </c:pt>
                <c:pt idx="3">
                  <c:v>3148</c:v>
                </c:pt>
                <c:pt idx="4">
                  <c:v>2381</c:v>
                </c:pt>
                <c:pt idx="5">
                  <c:v>2295</c:v>
                </c:pt>
                <c:pt idx="6">
                  <c:v>2175</c:v>
                </c:pt>
                <c:pt idx="7">
                  <c:v>1950</c:v>
                </c:pt>
                <c:pt idx="8">
                  <c:v>1882</c:v>
                </c:pt>
                <c:pt idx="9">
                  <c:v>1620</c:v>
                </c:pt>
              </c:numCache>
            </c:numRef>
          </c:val>
          <c:extLst>
            <c:ext xmlns:c16="http://schemas.microsoft.com/office/drawing/2014/chart" uri="{C3380CC4-5D6E-409C-BE32-E72D297353CC}">
              <c16:uniqueId val="{00000001-5019-4FA6-BB85-72F0C6910C1D}"/>
            </c:ext>
          </c:extLst>
        </c:ser>
        <c:dLbls>
          <c:showLegendKey val="0"/>
          <c:showVal val="1"/>
          <c:showCatName val="0"/>
          <c:showSerName val="0"/>
          <c:showPercent val="0"/>
          <c:showBubbleSize val="0"/>
        </c:dLbls>
        <c:gapWidth val="40"/>
        <c:axId val="2094734554"/>
        <c:axId val="2094734552"/>
      </c:barChart>
      <c:catAx>
        <c:axId val="2094734554"/>
        <c:scaling>
          <c:orientation val="minMax"/>
        </c:scaling>
        <c:delete val="0"/>
        <c:axPos val="l"/>
        <c:numFmt formatCode="General" sourceLinked="1"/>
        <c:majorTickMark val="out"/>
        <c:minorTickMark val="none"/>
        <c:tickLblPos val="nextTo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950" b="0" i="0" u="none" strike="noStrike">
                <a:solidFill>
                  <a:srgbClr val="6B7280"/>
                </a:solidFill>
                <a:latin typeface="Calibri"/>
              </a:defRPr>
            </a:pPr>
            <a:endParaRPr lang="en-US"/>
          </a:p>
        </c:txPr>
        <c:crossAx val="2094734552"/>
        <c:crosses val="autoZero"/>
        <c:auto val="1"/>
        <c:lblAlgn val="ctr"/>
        <c:lblOffset val="100"/>
        <c:noMultiLvlLbl val="1"/>
      </c:catAx>
      <c:valAx>
        <c:axId val="2094734552"/>
        <c:scaling>
          <c:orientation val="minMax"/>
        </c:scaling>
        <c:delete val="0"/>
        <c:axPos val="b"/>
        <c:majorGridlines>
          <c:spPr>
            <a:ln w="6350" cap="flat">
              <a:solidFill>
                <a:srgbClr val="E5E8EF"/>
              </a:solidFill>
              <a:prstDash val="solid"/>
              <a:round/>
            </a:ln>
          </c:spPr>
        </c:majorGridlines>
        <c:numFmt formatCode="General" sourceLinked="0"/>
        <c:majorTickMark val="out"/>
        <c:minorTickMark val="none"/>
        <c:tickLblPos val="low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950" b="0" i="0" u="none" strike="noStrike">
                <a:solidFill>
                  <a:srgbClr val="6B7280"/>
                </a:solidFill>
                <a:latin typeface="Calibri"/>
              </a:defRPr>
            </a:pPr>
            <a:endParaRPr lang="en-US"/>
          </a:p>
        </c:txPr>
        <c:crossAx val="2094734554"/>
        <c:crosses val="autoZero"/>
        <c:crossBetween val="between"/>
      </c:valAx>
      <c:spPr>
        <a:noFill/>
        <a:ln>
          <a:noFill/>
        </a:ln>
        <a:effectLst/>
      </c:spPr>
    </c:plotArea>
    <c:legend>
      <c:legendPos val="b"/>
      <c:overlay val="0"/>
      <c:txPr>
        <a:bodyPr/>
        <a:lstStyle/>
        <a:p>
          <a:pPr>
            <a:defRPr sz="1000">
              <a:solidFill>
                <a:srgbClr val="26292E"/>
              </a:solidFill>
              <a:latin typeface="Calibri"/>
              <a:cs typeface="Calibri"/>
            </a:defRPr>
          </a:pPr>
          <a:endParaRPr lang="en-US"/>
        </a:p>
      </c:txPr>
    </c:legend>
    <c:plotVisOnly val="1"/>
    <c:dispBlanksAs val="span"/>
    <c:showDLblsOverMax val="1"/>
  </c:chart>
  <c:spPr>
    <a:noFill/>
    <a:ln>
      <a:noFill/>
    </a:ln>
    <a:effectLst/>
  </c:spPr>
  <c:externalData r:id="rId1">
    <c:autoUpdate val="0"/>
  </c:externalData>
</c:chartSpace>
</file>

<file path=ppt/charts/chart46.xml><?xml version="1.0" encoding="utf-8"?>
<c:chartSpace xmlns:c="http://schemas.openxmlformats.org/drawingml/2006/chart" xmlns:a="http://schemas.openxmlformats.org/drawingml/2006/main" xmlns:r="http://schemas.openxmlformats.org/officeDocument/2006/relationships" xmlns:c16r2="http://schemas.microsoft.com/office/drawing/2015/06/chart">
  <c:date1904 val="0"/>
  <c:lang val="en-US"/>
  <c:roundedCorners val="1"/>
  <c:style val="2"/>
  <c:chart>
    <c:title>
      <c:tx>
        <c:rich>
          <a:bodyPr/>
          <a:lstStyle/>
          <a:p>
            <a:pPr>
              <a:defRPr sz="1250" b="0" i="0" u="none" strike="noStrike">
                <a:solidFill>
                  <a:srgbClr val="1E2761"/>
                </a:solidFill>
                <a:latin typeface="Calibri"/>
              </a:defRPr>
            </a:pPr>
            <a:r>
              <a:rPr lang="en-US" sz="1250" b="0" i="0" u="none" strike="noStrike">
                <a:solidFill>
                  <a:srgbClr val="1E2761"/>
                </a:solidFill>
                <a:latin typeface="Calibri"/>
              </a:rPr>
              <a:t>Monthly revenue (฿M)</a:t>
            </a:r>
          </a:p>
        </c:rich>
      </c:tx>
      <c:overlay val="0"/>
    </c:title>
    <c:autoTitleDeleted val="0"/>
    <c:plotArea>
      <c:layout/>
      <c:barChart>
        <c:barDir val="col"/>
        <c:grouping val="clustered"/>
        <c:varyColors val="0"/>
        <c:ser>
          <c:idx val="0"/>
          <c:order val="0"/>
          <c:tx>
            <c:strRef>
              <c:f>Sheet1!$B$1</c:f>
              <c:strCache>
                <c:ptCount val="1"/>
                <c:pt idx="0">
                  <c:v>2024</c:v>
                </c:pt>
              </c:strCache>
            </c:strRef>
          </c:tx>
          <c:spPr>
            <a:solidFill>
              <a:srgbClr val="C9D6EE"/>
            </a:solidFill>
            <a:effectLst/>
          </c:spPr>
          <c:invertIfNegative val="0"/>
          <c:cat>
            <c:strRef>
              <c:f>Sheet1!$A$2:$A$7</c:f>
              <c:strCache>
                <c:ptCount val="6"/>
                <c:pt idx="0">
                  <c:v>Jan</c:v>
                </c:pt>
                <c:pt idx="1">
                  <c:v>Feb</c:v>
                </c:pt>
                <c:pt idx="2">
                  <c:v>Mar</c:v>
                </c:pt>
                <c:pt idx="3">
                  <c:v>Apr</c:v>
                </c:pt>
                <c:pt idx="4">
                  <c:v>May</c:v>
                </c:pt>
                <c:pt idx="5">
                  <c:v>Jun</c:v>
                </c:pt>
              </c:strCache>
            </c:strRef>
          </c:cat>
          <c:val>
            <c:numRef>
              <c:f>Sheet1!$B$2:$B$7</c:f>
              <c:numCache>
                <c:formatCode>General</c:formatCode>
                <c:ptCount val="6"/>
                <c:pt idx="0">
                  <c:v>31309864.370000001</c:v>
                </c:pt>
                <c:pt idx="1">
                  <c:v>33368534.989999998</c:v>
                </c:pt>
                <c:pt idx="2">
                  <c:v>29666255.149999999</c:v>
                </c:pt>
                <c:pt idx="3">
                  <c:v>32611947.120000001</c:v>
                </c:pt>
                <c:pt idx="4">
                  <c:v>26107678.870000001</c:v>
                </c:pt>
                <c:pt idx="5">
                  <c:v>29352910.219999999</c:v>
                </c:pt>
              </c:numCache>
            </c:numRef>
          </c:val>
          <c:extLst>
            <c:ext xmlns:c16="http://schemas.microsoft.com/office/drawing/2014/chart" uri="{C3380CC4-5D6E-409C-BE32-E72D297353CC}">
              <c16:uniqueId val="{00000000-43D9-4435-95DF-9F1B1664A373}"/>
            </c:ext>
          </c:extLst>
        </c:ser>
        <c:ser>
          <c:idx val="1"/>
          <c:order val="1"/>
          <c:tx>
            <c:strRef>
              <c:f>Sheet1!$C$1</c:f>
              <c:strCache>
                <c:ptCount val="1"/>
                <c:pt idx="0">
                  <c:v>2025</c:v>
                </c:pt>
              </c:strCache>
            </c:strRef>
          </c:tx>
          <c:spPr>
            <a:solidFill>
              <a:srgbClr val="7FA4DC"/>
            </a:solidFill>
            <a:effectLst/>
          </c:spPr>
          <c:invertIfNegative val="0"/>
          <c:cat>
            <c:strRef>
              <c:f>Sheet1!$A$2:$A$7</c:f>
              <c:strCache>
                <c:ptCount val="6"/>
                <c:pt idx="0">
                  <c:v>Jan</c:v>
                </c:pt>
                <c:pt idx="1">
                  <c:v>Feb</c:v>
                </c:pt>
                <c:pt idx="2">
                  <c:v>Mar</c:v>
                </c:pt>
                <c:pt idx="3">
                  <c:v>Apr</c:v>
                </c:pt>
                <c:pt idx="4">
                  <c:v>May</c:v>
                </c:pt>
                <c:pt idx="5">
                  <c:v>Jun</c:v>
                </c:pt>
              </c:strCache>
            </c:strRef>
          </c:cat>
          <c:val>
            <c:numRef>
              <c:f>Sheet1!$C$2:$C$7</c:f>
              <c:numCache>
                <c:formatCode>General</c:formatCode>
                <c:ptCount val="6"/>
                <c:pt idx="0">
                  <c:v>40587344.039999999</c:v>
                </c:pt>
                <c:pt idx="1">
                  <c:v>32409916.039999999</c:v>
                </c:pt>
                <c:pt idx="2">
                  <c:v>25474783.68</c:v>
                </c:pt>
                <c:pt idx="3">
                  <c:v>27145089.41</c:v>
                </c:pt>
                <c:pt idx="4">
                  <c:v>22399911.440000001</c:v>
                </c:pt>
                <c:pt idx="5">
                  <c:v>19351629.989999998</c:v>
                </c:pt>
              </c:numCache>
            </c:numRef>
          </c:val>
          <c:extLst>
            <c:ext xmlns:c16="http://schemas.microsoft.com/office/drawing/2014/chart" uri="{C3380CC4-5D6E-409C-BE32-E72D297353CC}">
              <c16:uniqueId val="{00000001-43D9-4435-95DF-9F1B1664A373}"/>
            </c:ext>
          </c:extLst>
        </c:ser>
        <c:ser>
          <c:idx val="2"/>
          <c:order val="2"/>
          <c:tx>
            <c:strRef>
              <c:f>Sheet1!$D$1</c:f>
              <c:strCache>
                <c:ptCount val="1"/>
                <c:pt idx="0">
                  <c:v>2026</c:v>
                </c:pt>
              </c:strCache>
            </c:strRef>
          </c:tx>
          <c:spPr>
            <a:solidFill>
              <a:srgbClr val="1E2761"/>
            </a:solidFill>
            <a:effectLst/>
          </c:spPr>
          <c:invertIfNegative val="0"/>
          <c:cat>
            <c:strRef>
              <c:f>Sheet1!$A$2:$A$7</c:f>
              <c:strCache>
                <c:ptCount val="6"/>
                <c:pt idx="0">
                  <c:v>Jan</c:v>
                </c:pt>
                <c:pt idx="1">
                  <c:v>Feb</c:v>
                </c:pt>
                <c:pt idx="2">
                  <c:v>Mar</c:v>
                </c:pt>
                <c:pt idx="3">
                  <c:v>Apr</c:v>
                </c:pt>
                <c:pt idx="4">
                  <c:v>May</c:v>
                </c:pt>
                <c:pt idx="5">
                  <c:v>Jun</c:v>
                </c:pt>
              </c:strCache>
            </c:strRef>
          </c:cat>
          <c:val>
            <c:numRef>
              <c:f>Sheet1!$D$2:$D$7</c:f>
              <c:numCache>
                <c:formatCode>General</c:formatCode>
                <c:ptCount val="6"/>
                <c:pt idx="0">
                  <c:v>36745342.880000003</c:v>
                </c:pt>
                <c:pt idx="1">
                  <c:v>32403885.670000002</c:v>
                </c:pt>
                <c:pt idx="2">
                  <c:v>28025998.969999999</c:v>
                </c:pt>
                <c:pt idx="3">
                  <c:v>25796931.440000001</c:v>
                </c:pt>
                <c:pt idx="4">
                  <c:v>22402015.489999998</c:v>
                </c:pt>
                <c:pt idx="5">
                  <c:v>21058802.690000001</c:v>
                </c:pt>
              </c:numCache>
            </c:numRef>
          </c:val>
          <c:extLst>
            <c:ext xmlns:c16="http://schemas.microsoft.com/office/drawing/2014/chart" uri="{C3380CC4-5D6E-409C-BE32-E72D297353CC}">
              <c16:uniqueId val="{00000002-43D9-4435-95DF-9F1B1664A373}"/>
            </c:ext>
          </c:extLst>
        </c:ser>
        <c:dLbls>
          <c:showLegendKey val="0"/>
          <c:showVal val="0"/>
          <c:showCatName val="0"/>
          <c:showSerName val="0"/>
          <c:showPercent val="0"/>
          <c:showBubbleSize val="0"/>
        </c:dLbls>
        <c:gapWidth val="150"/>
        <c:axId val="2094734554"/>
        <c:axId val="2094734552"/>
      </c:barChart>
      <c:catAx>
        <c:axId val="2094734554"/>
        <c:scaling>
          <c:orientation val="minMax"/>
        </c:scaling>
        <c:delete val="0"/>
        <c:axPos val="b"/>
        <c:numFmt formatCode="General" sourceLinked="1"/>
        <c:majorTickMark val="out"/>
        <c:minorTickMark val="none"/>
        <c:tickLblPos val="low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1000" b="0" i="0" u="none" strike="noStrike">
                <a:solidFill>
                  <a:srgbClr val="6B7280"/>
                </a:solidFill>
                <a:latin typeface="Calibri"/>
              </a:defRPr>
            </a:pPr>
            <a:endParaRPr lang="en-US"/>
          </a:p>
        </c:txPr>
        <c:crossAx val="2094734552"/>
        <c:crosses val="autoZero"/>
        <c:auto val="1"/>
        <c:lblAlgn val="ctr"/>
        <c:lblOffset val="100"/>
        <c:noMultiLvlLbl val="1"/>
      </c:catAx>
      <c:valAx>
        <c:axId val="2094734552"/>
        <c:scaling>
          <c:orientation val="minMax"/>
        </c:scaling>
        <c:delete val="0"/>
        <c:axPos val="l"/>
        <c:majorGridlines>
          <c:spPr>
            <a:ln w="6350" cap="flat">
              <a:solidFill>
                <a:srgbClr val="E5E8EF"/>
              </a:solidFill>
              <a:prstDash val="solid"/>
              <a:round/>
            </a:ln>
          </c:spPr>
        </c:majorGridlines>
        <c:numFmt formatCode="General" sourceLinked="0"/>
        <c:majorTickMark val="out"/>
        <c:minorTickMark val="none"/>
        <c:tickLblPos val="nextTo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950" b="0" i="0" u="none" strike="noStrike">
                <a:solidFill>
                  <a:srgbClr val="6B7280"/>
                </a:solidFill>
                <a:latin typeface="Calibri"/>
              </a:defRPr>
            </a:pPr>
            <a:endParaRPr lang="en-US"/>
          </a:p>
        </c:txPr>
        <c:crossAx val="2094734554"/>
        <c:crosses val="autoZero"/>
        <c:crossBetween val="between"/>
      </c:valAx>
      <c:spPr>
        <a:noFill/>
        <a:ln>
          <a:noFill/>
        </a:ln>
        <a:effectLst/>
      </c:spPr>
    </c:plotArea>
    <c:legend>
      <c:legendPos val="b"/>
      <c:overlay val="0"/>
      <c:txPr>
        <a:bodyPr/>
        <a:lstStyle/>
        <a:p>
          <a:pPr>
            <a:defRPr sz="1000">
              <a:solidFill>
                <a:srgbClr val="26292E"/>
              </a:solidFill>
              <a:latin typeface="Calibri"/>
              <a:cs typeface="Calibri"/>
            </a:defRPr>
          </a:pPr>
          <a:endParaRPr lang="en-US"/>
        </a:p>
      </c:txPr>
    </c:legend>
    <c:plotVisOnly val="1"/>
    <c:dispBlanksAs val="span"/>
    <c:showDLblsOverMax val="1"/>
  </c:chart>
  <c:spPr>
    <a:noFill/>
    <a:ln>
      <a:noFill/>
    </a:ln>
    <a:effectLst/>
  </c:spPr>
  <c:externalData r:id="rId1">
    <c:autoUpdate val="0"/>
  </c:externalData>
</c:chartSpace>
</file>

<file path=ppt/notesMasters/_rels/notesMaster1.xml.rels><?xml version='1.0' encoding='UTF-8' standalone='yes'?>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3370849624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.xml"/></Relationships>
</file>

<file path=ppt/notesSlides/_rels/notesSlide2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.xml"/></Relationships>
</file>

<file path=ppt/notesSlides/_rels/notesSlide3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3.xml"/></Relationships>
</file>

<file path=ppt/notesSlides/_rels/notesSlide4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4.xml"/></Relationships>
</file>

<file path=ppt/notesSlides/_rels/notesSlide5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5.xml"/></Relationships>
</file>

<file path=ppt/notesSlides/_rels/notesSlide6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6.xml"/></Relationships>
</file>

<file path=ppt/notesSlides/_rels/notesSlide7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7.xml"/></Relationships>
</file>

<file path=ppt/notesSlides/_rels/notesSlide8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8.xml"/></Relationships>
</file>

<file path=ppt/notesSlides/_rels/notesSlide9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9.xml"/></Relationships>
</file>

<file path=ppt/notesSlides/_rels/notesSlide10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0.xml"/></Relationships>
</file>

<file path=ppt/notesSlides/_rels/notesSlide1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2.xml"/></Relationships>
</file>

<file path=ppt/notesSlides/_rels/notesSlide12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3.xml"/></Relationships>
</file>

<file path=ppt/notesSlides/_rels/notesSlide13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4.xml"/></Relationships>
</file>

<file path=ppt/notesSlides/_rels/notesSlide14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6.xml"/></Relationships>
</file>

<file path=ppt/notesSlides/_rels/notesSlide15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7.xml"/></Relationships>
</file>

<file path=ppt/notesSlides/_rels/notesSlide16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8.xml"/></Relationships>
</file>

<file path=ppt/notesSlides/_rels/notesSlide17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9.xml"/></Relationships>
</file>

<file path=ppt/notesSlides/_rels/notesSlide18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1.xml"/></Relationships>
</file>

<file path=ppt/notesSlides/_rels/notesSlide19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2.xml"/></Relationships>
</file>

<file path=ppt/notesSlides/_rels/notesSlide20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3.xml"/></Relationships>
</file>

<file path=ppt/notesSlides/_rels/notesSlide2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4.xml"/></Relationships>
</file>

<file path=ppt/notesSlides/_rels/notesSlide22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5.xml"/></Relationships>
</file>

<file path=ppt/notesSlides/_rels/notesSlide23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6.xml"/></Relationships>
</file>

<file path=ppt/notesSlides/_rels/notesSlide25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8.xml"/></Relationships>
</file>

<file path=ppt/notesSlides/_rels/notesSlide27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9.xml"/></Relationships>
</file>

<file path=ppt/notesSlides/_rels/notesSlide28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30.xml"/></Relationships>
</file>

<file path=ppt/notesSlides/_rels/notesSlide29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31.xml"/></Relationships>
</file>

<file path=ppt/notesSlides/_rels/notesSlide30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32.xml"/></Relationships>
</file>

<file path=ppt/notesSlides/_rels/notesSlide32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34.xml"/></Relationships>
</file>

<file path=ppt/notesSlides/_rels/notesSlide34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35.xml"/></Relationships>
</file>

<file path=ppt/notesSlides/_rels/notesSlide35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36.xml"/></Relationships>
</file>

<file path=ppt/notesSlides/_rels/notesSlide36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37.xml"/></Relationships>
</file>

<file path=ppt/notesSlides/_rels/notesSlide37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38.xml"/></Relationships>
</file>

<file path=ppt/notesSlides/_rels/notesSlide39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40.xml"/></Relationships>
</file>

<file path=ppt/notesSlides/_rels/notesSlide4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41.xml"/></Relationships>
</file>

<file path=ppt/notesSlides/_rels/notesSlide42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42.xml"/></Relationships>
</file>

<file path=ppt/notesSlides/_rels/notesSlide43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43.xml"/></Relationships>
</file>

<file path=ppt/notesSlides/_rels/notesSlide44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44.xml"/></Relationships>
</file>

<file path=ppt/notesSlides/_rels/notesSlide46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46.xml"/></Relationships>
</file>

<file path=ppt/notesSlides/_rels/notesSlide48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47.xml"/></Relationships>
</file>

<file path=ppt/notesSlides/_rels/notesSlide49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48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E8AC3D0B-5609-C509-FBFC-0C3B3A4D70CB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D59CED49-7CBE-236C-21D2-D8B855468177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2A6F9E2E-C5BF-4883-FEAB-4916269700D7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9735F1EE-A583-AF14-5807-DFBD68248FFB}"/>
              </a:ext>
            </a:extLst>
          </p:cNvPr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563220736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Note more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442AF3A5-7C9C-CE20-48AA-C6CB9E530EA8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677BEE60-A122-806C-BD0F-6980FC8E1781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87F3E66D-E7B2-7B96-AA33-B72E56F148A9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586083C2-1715-F253-70CA-78D0A3B60A79}"/>
              </a:ext>
            </a:extLst>
          </p:cNvPr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87870487"/>
      </p:ext>
    </p:extLst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62734090-F488-B807-0850-3629B1D8F903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704103E2-8608-BEA1-83D2-70E48F909453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BD947A5C-3971-C431-0C14-E3D94C09429D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75D73B4D-5AE3-F9F2-809F-AF2723A37E73}"/>
              </a:ext>
            </a:extLst>
          </p:cNvPr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55974530"/>
      </p:ext>
    </p:extLst>
  </p:cSld>
  <p:clrMapOvr>
    <a:masterClrMapping/>
  </p:clrMapOvr>
</p:notes>
</file>

<file path=ppt/notesSlides/notesSlide1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Basis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ADR segment &gt;&gt; Trend how the segment shift.</a:t>
            </a:r>
          </a:p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.xml"/><Relationship Id="rId3" Type="http://schemas.openxmlformats.org/officeDocument/2006/relationships/chart" Target="../charts/chart1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6.xml"/><Relationship Id="rId3" Type="http://schemas.openxmlformats.org/officeDocument/2006/relationships/chart" Target="../charts/chart2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7.xml"/><Relationship Id="rId3" Type="http://schemas.openxmlformats.org/officeDocument/2006/relationships/chart" Target="../charts/chart3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8.xml"/><Relationship Id="rId3" Type="http://schemas.openxmlformats.org/officeDocument/2006/relationships/chart" Target="../charts/chart4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9.xml"/><Relationship Id="rId3" Type="http://schemas.openxmlformats.org/officeDocument/2006/relationships/chart" Target="../charts/chart5.xml"/><Relationship Id="rId4" Type="http://schemas.openxmlformats.org/officeDocument/2006/relationships/chart" Target="../charts/chart6.xml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0.xml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chart" Target="../charts/chart7.xml"/><Relationship Id="rId3" Type="http://schemas.openxmlformats.org/officeDocument/2006/relationships/chart" Target="../charts/chart8.xml"/></Relationships>
</file>

<file path=ppt/slides/_rels/slide1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1.xml"/><Relationship Id="rId3" Type="http://schemas.openxmlformats.org/officeDocument/2006/relationships/chart" Target="../charts/chart9.xml"/><Relationship Id="rId4" Type="http://schemas.openxmlformats.org/officeDocument/2006/relationships/chart" Target="../charts/chart10.xml"/><Relationship Id="rId5" Type="http://schemas.openxmlformats.org/officeDocument/2006/relationships/chart" Target="../charts/chart11.xml"/></Relationships>
</file>

<file path=ppt/slides/_rels/slide1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2.xml"/></Relationships>
</file>

<file path=ppt/slides/_rels/slide1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3.xml"/></Relationships>
</file>

<file path=ppt/slides/_rels/slide1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chart" Target="../charts/chart12.xml"/><Relationship Id="rId3" Type="http://schemas.openxmlformats.org/officeDocument/2006/relationships/chart" Target="../charts/chart13.xml"/></Relationships>
</file>

<file path=ppt/slides/_rels/slide1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4.xml"/><Relationship Id="rId3" Type="http://schemas.openxmlformats.org/officeDocument/2006/relationships/chart" Target="../charts/chart14.xml"/><Relationship Id="rId4" Type="http://schemas.openxmlformats.org/officeDocument/2006/relationships/chart" Target="../charts/chart15.xml"/><Relationship Id="rId5" Type="http://schemas.openxmlformats.org/officeDocument/2006/relationships/chart" Target="../charts/chart16.xml"/></Relationships>
</file>

<file path=ppt/slides/_rels/slide1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5.xml"/></Relationships>
</file>

<file path=ppt/slides/_rels/slide1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6.xml"/></Relationships>
</file>

<file path=ppt/slides/_rels/slide1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7.xml"/></Relationships>
</file>

<file path=ppt/slides/_rels/slide2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8.xml"/></Relationships>
</file>

<file path=ppt/slides/_rels/slide2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9.xml"/><Relationship Id="rId3" Type="http://schemas.openxmlformats.org/officeDocument/2006/relationships/chart" Target="../charts/chart17.xml"/></Relationships>
</file>

<file path=ppt/slides/_rels/slide2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0.xml"/><Relationship Id="rId3" Type="http://schemas.openxmlformats.org/officeDocument/2006/relationships/chart" Target="../charts/chart18.xml"/></Relationships>
</file>

<file path=ppt/slides/_rels/slide2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1.xml"/></Relationships>
</file>

<file path=ppt/slides/_rels/slide2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2.xml"/><Relationship Id="rId3" Type="http://schemas.openxmlformats.org/officeDocument/2006/relationships/chart" Target="../charts/chart19.xml"/></Relationships>
</file>

<file path=ppt/slides/_rels/slide2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3.xml"/><Relationship Id="rId3" Type="http://schemas.openxmlformats.org/officeDocument/2006/relationships/chart" Target="../charts/chart20.xml"/><Relationship Id="rId4" Type="http://schemas.openxmlformats.org/officeDocument/2006/relationships/chart" Target="../charts/chart21.xml"/></Relationships>
</file>

<file path=ppt/slides/_rels/slide2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3" Type="http://schemas.openxmlformats.org/officeDocument/2006/relationships/chart" Target="../charts/chart20.xml"/><Relationship Id="rId4" Type="http://schemas.openxmlformats.org/officeDocument/2006/relationships/chart" Target="../charts/chart21.xml"/></Relationships>
</file>

<file path=ppt/slides/_rels/slide2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5.xml"/><Relationship Id="rId3" Type="http://schemas.openxmlformats.org/officeDocument/2006/relationships/chart" Target="../charts/chart22.xml"/></Relationships>
</file>

<file path=ppt/slides/_rels/slide2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7.xml"/><Relationship Id="rId3" Type="http://schemas.openxmlformats.org/officeDocument/2006/relationships/chart" Target="../charts/chart25.xml"/></Relationships>
</file>

<file path=ppt/slides/_rels/slide3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8.xml"/></Relationships>
</file>

<file path=ppt/slides/_rels/slide3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9.xml"/><Relationship Id="rId3" Type="http://schemas.openxmlformats.org/officeDocument/2006/relationships/chart" Target="../charts/chart26.xml"/></Relationships>
</file>

<file path=ppt/slides/_rels/slide3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0.xml"/><Relationship Id="rId3" Type="http://schemas.openxmlformats.org/officeDocument/2006/relationships/chart" Target="../charts/chart27.xml"/><Relationship Id="rId4" Type="http://schemas.openxmlformats.org/officeDocument/2006/relationships/chart" Target="../charts/chart28.xml"/></Relationships>
</file>

<file path=ppt/slides/_rels/slide3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3" Type="http://schemas.openxmlformats.org/officeDocument/2006/relationships/chart" Target="../charts/chart27.xml"/><Relationship Id="rId4" Type="http://schemas.openxmlformats.org/officeDocument/2006/relationships/chart" Target="../charts/chart28.xml"/></Relationships>
</file>

<file path=ppt/slides/_rels/slide3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2.xml"/><Relationship Id="rId3" Type="http://schemas.openxmlformats.org/officeDocument/2006/relationships/chart" Target="../charts/chart29.xml"/></Relationships>
</file>

<file path=ppt/slides/_rels/slide3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4.xml"/><Relationship Id="rId3" Type="http://schemas.openxmlformats.org/officeDocument/2006/relationships/chart" Target="../charts/chart32.xml"/></Relationships>
</file>

<file path=ppt/slides/_rels/slide3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5.xml"/></Relationships>
</file>

<file path=ppt/slides/_rels/slide3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6.xml"/><Relationship Id="rId3" Type="http://schemas.openxmlformats.org/officeDocument/2006/relationships/chart" Target="../charts/chart33.xml"/></Relationships>
</file>

<file path=ppt/slides/_rels/slide3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7.xml"/><Relationship Id="rId3" Type="http://schemas.openxmlformats.org/officeDocument/2006/relationships/chart" Target="../charts/chart34.xml"/><Relationship Id="rId4" Type="http://schemas.openxmlformats.org/officeDocument/2006/relationships/chart" Target="../charts/chart35.xml"/></Relationships>
</file>

<file path=ppt/slides/_rels/slide3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3" Type="http://schemas.openxmlformats.org/officeDocument/2006/relationships/chart" Target="../charts/chart34.xml"/><Relationship Id="rId4" Type="http://schemas.openxmlformats.org/officeDocument/2006/relationships/chart" Target="../charts/chart35.xml"/></Relationships>
</file>

<file path=ppt/slides/_rels/slide4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9.xml"/><Relationship Id="rId3" Type="http://schemas.openxmlformats.org/officeDocument/2006/relationships/chart" Target="../charts/chart36.xml"/></Relationships>
</file>

<file path=ppt/slides/_rels/slide4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1.xml"/><Relationship Id="rId3" Type="http://schemas.openxmlformats.org/officeDocument/2006/relationships/chart" Target="../charts/chart39.xml"/></Relationships>
</file>

<file path=ppt/slides/_rels/slide4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2.xml"/></Relationships>
</file>

<file path=ppt/slides/_rels/slide4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3.xml"/><Relationship Id="rId3" Type="http://schemas.openxmlformats.org/officeDocument/2006/relationships/chart" Target="../charts/chart40.xml"/></Relationships>
</file>

<file path=ppt/slides/_rels/slide4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4.xml"/><Relationship Id="rId3" Type="http://schemas.openxmlformats.org/officeDocument/2006/relationships/chart" Target="../charts/chart41.xml"/><Relationship Id="rId4" Type="http://schemas.openxmlformats.org/officeDocument/2006/relationships/chart" Target="../charts/chart42.xml"/></Relationships>
</file>

<file path=ppt/slides/_rels/slide4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3" Type="http://schemas.openxmlformats.org/officeDocument/2006/relationships/chart" Target="../charts/chart41.xml"/><Relationship Id="rId4" Type="http://schemas.openxmlformats.org/officeDocument/2006/relationships/chart" Target="../charts/chart42.xml"/></Relationships>
</file>

<file path=ppt/slides/_rels/slide4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6.xml"/><Relationship Id="rId3" Type="http://schemas.openxmlformats.org/officeDocument/2006/relationships/chart" Target="../charts/chart43.xml"/></Relationships>
</file>

<file path=ppt/slides/_rels/slide4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8.xml"/><Relationship Id="rId3" Type="http://schemas.openxmlformats.org/officeDocument/2006/relationships/chart" Target="../charts/chart46.xml"/></Relationships>
</file>

<file path=ppt/slides/_rels/slide4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9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1E276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1965960"/>
            <a:ext cx="109728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500" b="1" kern="0" spc="300" dirty="0">
                <a:solidFill>
                  <a:srgbClr val="D9A44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MITSUI THAILAND HOTEL PORTFOLIO</a:t>
            </a:r>
            <a:endParaRPr lang="en-US" sz="1500" dirty="0"/>
          </a:p>
        </p:txBody>
      </p:sp>
      <p:sp>
        <p:nvSpPr>
          <p:cNvPr id="3" name="Text 1"/>
          <p:cNvSpPr/>
          <p:nvPr/>
        </p:nvSpPr>
        <p:spPr>
          <a:xfrm>
            <a:off x="548640" y="2331720"/>
            <a:ext cx="11155680" cy="9601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4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Performance Report — H1 2026</a:t>
            </a:r>
            <a:endParaRPr lang="en-US" sz="4800" dirty="0"/>
          </a:p>
        </p:txBody>
      </p:sp>
      <p:sp>
        <p:nvSpPr>
          <p:cNvPr id="4" name="Text 2"/>
          <p:cNvSpPr/>
          <p:nvPr/>
        </p:nvSpPr>
        <p:spPr>
          <a:xfrm>
            <a:off x="548640" y="3383280"/>
            <a:ext cx="105156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500" dirty="0">
                <a:solidFill>
                  <a:srgbClr val="AFC0E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Tourist arrivals · Market (STR) · Portfolio · By property: performance · P&amp;L · segmentation · nationality</a:t>
            </a:r>
            <a:endParaRPr lang="en-US" sz="1500" dirty="0"/>
          </a:p>
        </p:txBody>
      </p:sp>
      <p:sp>
        <p:nvSpPr>
          <p:cNvPr id="5" name="Text 3"/>
          <p:cNvSpPr/>
          <p:nvPr/>
        </p:nvSpPr>
        <p:spPr>
          <a:xfrm>
            <a:off x="548640" y="5806440"/>
            <a:ext cx="105156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7C8BC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Somerset Rama 9 (SR9)  ·  Ascott Embassy Sathorn (AES)  ·  lyf Sukhumvit 8 (LYF)  ·  Somerset Pattaya (SP)</a:t>
            </a:r>
            <a:endParaRPr lang="en-US" sz="1200" dirty="0"/>
          </a:p>
        </p:txBody>
      </p:sp>
      <p:sp>
        <p:nvSpPr>
          <p:cNvPr id="6" name="Text 4"/>
          <p:cNvSpPr/>
          <p:nvPr/>
        </p:nvSpPr>
        <p:spPr>
          <a:xfrm>
            <a:off x="548640" y="6144768"/>
            <a:ext cx="105156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7C8BC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Data through June 2026 (June arrivals preliminary · STR: Bangkok &amp; Pattaya re-based, Jan–Jun) · Prepared July 2026</a:t>
            </a:r>
            <a:endParaRPr lang="en-US" sz="11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292608"/>
            <a:ext cx="8229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b="1" kern="0" spc="200" dirty="0">
                <a:solidFill>
                  <a:srgbClr val="D9A44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EXECUTIVE SUMMARY</a:t>
            </a:r>
            <a:endParaRPr lang="en-US" sz="1100" dirty="0"/>
          </a:p>
        </p:txBody>
      </p:sp>
      <p:sp>
        <p:nvSpPr>
          <p:cNvPr id="3" name="Text 1"/>
          <p:cNvSpPr/>
          <p:nvPr/>
        </p:nvSpPr>
        <p:spPr>
          <a:xfrm>
            <a:off x="548640" y="502920"/>
            <a:ext cx="11091672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800" b="1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H1 2026 at a glance</a:t>
            </a:r>
            <a:endParaRPr lang="en-US" sz="2800" dirty="0"/>
          </a:p>
        </p:txBody>
      </p:sp>
      <p:sp>
        <p:nvSpPr>
          <p:cNvPr id="4" name="Text 2"/>
          <p:cNvSpPr/>
          <p:nvPr/>
        </p:nvSpPr>
        <p:spPr>
          <a:xfrm>
            <a:off x="548640" y="1060704"/>
            <a:ext cx="11091672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5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Arrivals YTD = Jan–Jun vs same period 2025 (June preliminary) · Portfolio YTD = Jan–Jun vs budget</a:t>
            </a:r>
            <a:endParaRPr lang="en-US" sz="1250" dirty="0"/>
          </a:p>
        </p:txBody>
      </p:sp>
      <p:sp>
        <p:nvSpPr>
          <p:cNvPr id="5" name="Text 3"/>
          <p:cNvSpPr/>
          <p:nvPr/>
        </p:nvSpPr>
        <p:spPr>
          <a:xfrm>
            <a:off x="8165592" y="310896"/>
            <a:ext cx="34747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90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Mitsui Thailand Portfolio · H1 2026</a:t>
            </a:r>
            <a:endParaRPr lang="en-US" sz="900" dirty="0"/>
          </a:p>
        </p:txBody>
      </p:sp>
      <p:sp>
        <p:nvSpPr>
          <p:cNvPr id="6" name="Shape 4"/>
          <p:cNvSpPr/>
          <p:nvPr/>
        </p:nvSpPr>
        <p:spPr>
          <a:xfrm>
            <a:off x="548640" y="1572768"/>
            <a:ext cx="3514344" cy="1298448"/>
          </a:xfrm>
          <a:prstGeom prst="roundRect">
            <a:avLst>
              <a:gd name="adj" fmla="val 4225"/>
            </a:avLst>
          </a:prstGeom>
          <a:solidFill>
            <a:srgbClr val="F4F6FB"/>
          </a:solidFill>
          <a:ln w="9525">
            <a:solidFill>
              <a:srgbClr val="E2E7F2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7" name="Text 5"/>
          <p:cNvSpPr/>
          <p:nvPr/>
        </p:nvSpPr>
        <p:spPr>
          <a:xfrm>
            <a:off x="694944" y="1664208"/>
            <a:ext cx="3221736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50" b="1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THAILAND ARRIVALS (MOTS)</a:t>
            </a:r>
            <a:endParaRPr lang="en-US" sz="1050" dirty="0"/>
          </a:p>
        </p:txBody>
      </p:sp>
      <p:sp>
        <p:nvSpPr>
          <p:cNvPr id="8" name="Text 6"/>
          <p:cNvSpPr/>
          <p:nvPr/>
        </p:nvSpPr>
        <p:spPr>
          <a:xfrm>
            <a:off x="694944" y="1883664"/>
            <a:ext cx="3221736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400" b="1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15.87M</a:t>
            </a:r>
            <a:endParaRPr lang="en-US" sz="2400" dirty="0"/>
          </a:p>
        </p:txBody>
      </p:sp>
      <p:sp>
        <p:nvSpPr>
          <p:cNvPr id="9" name="Text 7"/>
          <p:cNvSpPr/>
          <p:nvPr/>
        </p:nvSpPr>
        <p:spPr>
          <a:xfrm>
            <a:off x="694944" y="2340864"/>
            <a:ext cx="3221736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50" dirty="0">
                <a:solidFill>
                  <a:srgbClr val="C0392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-4.9% vs 2025 YTD</a:t>
            </a:r>
            <a:endParaRPr lang="en-US" sz="1050" dirty="0"/>
          </a:p>
        </p:txBody>
      </p:sp>
      <p:sp>
        <p:nvSpPr>
          <p:cNvPr id="10" name="Shape 8"/>
          <p:cNvSpPr/>
          <p:nvPr/>
        </p:nvSpPr>
        <p:spPr>
          <a:xfrm>
            <a:off x="4337304" y="1572768"/>
            <a:ext cx="3514344" cy="1298448"/>
          </a:xfrm>
          <a:prstGeom prst="roundRect">
            <a:avLst>
              <a:gd name="adj" fmla="val 4225"/>
            </a:avLst>
          </a:prstGeom>
          <a:solidFill>
            <a:srgbClr val="F4F6FB"/>
          </a:solidFill>
          <a:ln w="9525">
            <a:solidFill>
              <a:srgbClr val="E2E7F2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1" name="Text 9"/>
          <p:cNvSpPr/>
          <p:nvPr/>
        </p:nvSpPr>
        <p:spPr>
          <a:xfrm>
            <a:off x="4483608" y="1664208"/>
            <a:ext cx="3221736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50" b="1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CHINESE ARRIVALS</a:t>
            </a:r>
            <a:endParaRPr lang="en-US" sz="1050" dirty="0"/>
          </a:p>
        </p:txBody>
      </p:sp>
      <p:sp>
        <p:nvSpPr>
          <p:cNvPr id="12" name="Text 10"/>
          <p:cNvSpPr/>
          <p:nvPr/>
        </p:nvSpPr>
        <p:spPr>
          <a:xfrm>
            <a:off x="4483608" y="1883664"/>
            <a:ext cx="3221736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400" b="1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2.60M</a:t>
            </a:r>
            <a:endParaRPr lang="en-US" sz="2400" dirty="0"/>
          </a:p>
        </p:txBody>
      </p:sp>
      <p:sp>
        <p:nvSpPr>
          <p:cNvPr id="13" name="Text 11"/>
          <p:cNvSpPr/>
          <p:nvPr/>
        </p:nvSpPr>
        <p:spPr>
          <a:xfrm>
            <a:off x="4483608" y="2340864"/>
            <a:ext cx="3221736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50" dirty="0">
                <a:solidFill>
                  <a:srgbClr val="2E7D3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+14.8% vs 2025</a:t>
            </a:r>
            <a:r>
              <a:rPr lang="en-US" sz="105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· still 46% of 2019</a:t>
            </a:r>
            <a:endParaRPr lang="en-US" sz="1050" dirty="0"/>
          </a:p>
        </p:txBody>
      </p:sp>
      <p:sp>
        <p:nvSpPr>
          <p:cNvPr id="14" name="Shape 12"/>
          <p:cNvSpPr/>
          <p:nvPr/>
        </p:nvSpPr>
        <p:spPr>
          <a:xfrm>
            <a:off x="8125968" y="1572768"/>
            <a:ext cx="3514344" cy="1298448"/>
          </a:xfrm>
          <a:prstGeom prst="roundRect">
            <a:avLst>
              <a:gd name="adj" fmla="val 4225"/>
            </a:avLst>
          </a:prstGeom>
          <a:solidFill>
            <a:srgbClr val="F4F6FB"/>
          </a:solidFill>
          <a:ln w="9525">
            <a:solidFill>
              <a:srgbClr val="E2E7F2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5" name="Text 13"/>
          <p:cNvSpPr/>
          <p:nvPr/>
        </p:nvSpPr>
        <p:spPr>
          <a:xfrm>
            <a:off x="8272272" y="1664208"/>
            <a:ext cx="3221736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50" b="1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INDIA ARRIVALS</a:t>
            </a:r>
            <a:endParaRPr lang="en-US" sz="1050" dirty="0"/>
          </a:p>
        </p:txBody>
      </p:sp>
      <p:sp>
        <p:nvSpPr>
          <p:cNvPr id="16" name="Text 14"/>
          <p:cNvSpPr/>
          <p:nvPr/>
        </p:nvSpPr>
        <p:spPr>
          <a:xfrm>
            <a:off x="8272272" y="1883664"/>
            <a:ext cx="3221736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400" b="1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1.22M</a:t>
            </a:r>
            <a:endParaRPr lang="en-US" sz="2400" dirty="0"/>
          </a:p>
        </p:txBody>
      </p:sp>
      <p:sp>
        <p:nvSpPr>
          <p:cNvPr id="17" name="Text 15"/>
          <p:cNvSpPr/>
          <p:nvPr/>
        </p:nvSpPr>
        <p:spPr>
          <a:xfrm>
            <a:off x="8272272" y="2340864"/>
            <a:ext cx="3221736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50" dirty="0">
                <a:solidFill>
                  <a:srgbClr val="2E7D3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+3.1% vs 2025 — record high</a:t>
            </a:r>
            <a:endParaRPr lang="en-US" sz="1050" dirty="0"/>
          </a:p>
        </p:txBody>
      </p:sp>
      <p:sp>
        <p:nvSpPr>
          <p:cNvPr id="18" name="Shape 16"/>
          <p:cNvSpPr/>
          <p:nvPr/>
        </p:nvSpPr>
        <p:spPr>
          <a:xfrm>
            <a:off x="548640" y="3017520"/>
            <a:ext cx="3514344" cy="1298448"/>
          </a:xfrm>
          <a:prstGeom prst="roundRect">
            <a:avLst>
              <a:gd name="adj" fmla="val 4225"/>
            </a:avLst>
          </a:prstGeom>
          <a:solidFill>
            <a:srgbClr val="F4F6FB"/>
          </a:solidFill>
          <a:ln w="9525">
            <a:solidFill>
              <a:srgbClr val="E2E7F2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9" name="Text 17"/>
          <p:cNvSpPr/>
          <p:nvPr/>
        </p:nvSpPr>
        <p:spPr>
          <a:xfrm>
            <a:off x="694944" y="3108960"/>
            <a:ext cx="3221736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50" b="1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PORTFOLIO REVENUE H1</a:t>
            </a:r>
            <a:endParaRPr lang="en-US" sz="1050" dirty="0"/>
          </a:p>
        </p:txBody>
      </p:sp>
      <p:sp>
        <p:nvSpPr>
          <p:cNvPr id="20" name="Text 18"/>
          <p:cNvSpPr/>
          <p:nvPr/>
        </p:nvSpPr>
        <p:spPr>
          <a:xfrm>
            <a:off x="694944" y="3328416"/>
            <a:ext cx="3221736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400" b="1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฿581.9M</a:t>
            </a:r>
            <a:endParaRPr lang="en-US" sz="2400" dirty="0"/>
          </a:p>
        </p:txBody>
      </p:sp>
      <p:sp>
        <p:nvSpPr>
          <p:cNvPr id="21" name="Text 19"/>
          <p:cNvSpPr/>
          <p:nvPr/>
        </p:nvSpPr>
        <p:spPr>
          <a:xfrm>
            <a:off x="694944" y="3785616"/>
            <a:ext cx="3221736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50" dirty="0">
                <a:solidFill>
                  <a:srgbClr val="C0392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-1.4% vs H1 2025</a:t>
            </a:r>
            <a:r>
              <a:rPr lang="en-US" sz="105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(฿590.4M LY)</a:t>
            </a:r>
            <a:endParaRPr lang="en-US" sz="1050" dirty="0"/>
          </a:p>
        </p:txBody>
      </p:sp>
      <p:sp>
        <p:nvSpPr>
          <p:cNvPr id="22" name="Shape 20"/>
          <p:cNvSpPr/>
          <p:nvPr/>
        </p:nvSpPr>
        <p:spPr>
          <a:xfrm>
            <a:off x="4337304" y="3017520"/>
            <a:ext cx="3514344" cy="1298448"/>
          </a:xfrm>
          <a:prstGeom prst="roundRect">
            <a:avLst>
              <a:gd name="adj" fmla="val 4225"/>
            </a:avLst>
          </a:prstGeom>
          <a:solidFill>
            <a:srgbClr val="F4F6FB"/>
          </a:solidFill>
          <a:ln w="9525">
            <a:solidFill>
              <a:srgbClr val="E2E7F2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23" name="Text 21"/>
          <p:cNvSpPr/>
          <p:nvPr/>
        </p:nvSpPr>
        <p:spPr>
          <a:xfrm>
            <a:off x="4483608" y="3108960"/>
            <a:ext cx="3221736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50" b="1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PORTFOLIO EBIT H1</a:t>
            </a:r>
            <a:endParaRPr lang="en-US" sz="1050" dirty="0"/>
          </a:p>
        </p:txBody>
      </p:sp>
      <p:sp>
        <p:nvSpPr>
          <p:cNvPr id="24" name="Text 22"/>
          <p:cNvSpPr/>
          <p:nvPr/>
        </p:nvSpPr>
        <p:spPr>
          <a:xfrm>
            <a:off x="4483608" y="3328416"/>
            <a:ext cx="3221736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400" b="1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฿143.2M</a:t>
            </a:r>
            <a:endParaRPr lang="en-US" sz="2400" dirty="0"/>
          </a:p>
        </p:txBody>
      </p:sp>
      <p:sp>
        <p:nvSpPr>
          <p:cNvPr id="25" name="Text 23"/>
          <p:cNvSpPr/>
          <p:nvPr/>
        </p:nvSpPr>
        <p:spPr>
          <a:xfrm>
            <a:off x="4483608" y="3785616"/>
            <a:ext cx="3221736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50" dirty="0">
                <a:solidFill>
                  <a:srgbClr val="C0392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−฿3.8M vs H1 2025</a:t>
            </a:r>
            <a:r>
              <a:rPr lang="en-US" sz="105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· margin 24.6%</a:t>
            </a:r>
            <a:endParaRPr lang="en-US" sz="1050" dirty="0"/>
          </a:p>
        </p:txBody>
      </p:sp>
      <p:sp>
        <p:nvSpPr>
          <p:cNvPr id="26" name="Shape 24"/>
          <p:cNvSpPr/>
          <p:nvPr/>
        </p:nvSpPr>
        <p:spPr>
          <a:xfrm>
            <a:off x="8125968" y="3017520"/>
            <a:ext cx="3514344" cy="1298448"/>
          </a:xfrm>
          <a:prstGeom prst="roundRect">
            <a:avLst>
              <a:gd name="adj" fmla="val 4225"/>
            </a:avLst>
          </a:prstGeom>
          <a:solidFill>
            <a:srgbClr val="F4F6FB"/>
          </a:solidFill>
          <a:ln w="9525">
            <a:solidFill>
              <a:srgbClr val="E2E7F2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27" name="Text 25"/>
          <p:cNvSpPr/>
          <p:nvPr/>
        </p:nvSpPr>
        <p:spPr>
          <a:xfrm>
            <a:off x="8272272" y="3108960"/>
            <a:ext cx="3221736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50" b="1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PORTFOLIO REVPAR YTD</a:t>
            </a:r>
            <a:endParaRPr lang="en-US" sz="1050" dirty="0"/>
          </a:p>
        </p:txBody>
      </p:sp>
      <p:sp>
        <p:nvSpPr>
          <p:cNvPr id="28" name="Text 26"/>
          <p:cNvSpPr/>
          <p:nvPr/>
        </p:nvSpPr>
        <p:spPr>
          <a:xfrm>
            <a:off x="8272272" y="3328416"/>
            <a:ext cx="3221736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400" b="1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฿2,287</a:t>
            </a:r>
            <a:endParaRPr lang="en-US" sz="2400" dirty="0"/>
          </a:p>
        </p:txBody>
      </p:sp>
      <p:sp>
        <p:nvSpPr>
          <p:cNvPr id="29" name="Text 27"/>
          <p:cNvSpPr/>
          <p:nvPr/>
        </p:nvSpPr>
        <p:spPr>
          <a:xfrm>
            <a:off x="8272272" y="3785616"/>
            <a:ext cx="3221736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50" dirty="0">
                <a:solidFill>
                  <a:srgbClr val="C0392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-4.3% vs budget</a:t>
            </a:r>
            <a:r>
              <a:rPr lang="en-US" sz="105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· </a:t>
            </a:r>
            <a:r>
              <a:rPr lang="en-US" sz="1050" dirty="0">
                <a:solidFill>
                  <a:srgbClr val="C0392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-0.6% vs LY</a:t>
            </a:r>
            <a:endParaRPr lang="en-US" sz="1050" dirty="0"/>
          </a:p>
        </p:txBody>
      </p:sp>
      <p:sp>
        <p:nvSpPr>
          <p:cNvPr id="30" name="Text 28"/>
          <p:cNvSpPr/>
          <p:nvPr/>
        </p:nvSpPr>
        <p:spPr>
          <a:xfrm>
            <a:off x="548640" y="4526280"/>
            <a:ext cx="11091672" cy="1737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spcAft>
                <a:spcPts val="600"/>
              </a:spcAft>
              <a:buNone/>
            </a:pPr>
            <a:r>
              <a:rPr lang="en-US" sz="1400" b="1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Key messages</a:t>
            </a:r>
            <a:endParaRPr lang="en-US" sz="1250" dirty="0"/>
          </a:p>
          <a:p>
            <a:pPr marL="342900" indent="-342900">
              <a:spcAft>
                <a:spcPts val="400"/>
              </a:spcAft>
              <a:buSzPct val="100000"/>
              <a:buChar char="•"/>
            </a:pPr>
            <a:r>
              <a:rPr lang="en-US" sz="1250" dirty="0">
                <a:solidFill>
                  <a:srgbClr val="2629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EBIT is holding: H1 EBIT ฿143.2M vs ฿147.1M last year (−2.6%) despite rate pressure — cost discipline (OPEX −2.1% vs LY) protected profitability.</a:t>
            </a:r>
            <a:endParaRPr lang="en-US" sz="1250" dirty="0"/>
          </a:p>
          <a:p>
            <a:pPr marL="342900" indent="-342900">
              <a:spcAft>
                <a:spcPts val="400"/>
              </a:spcAft>
              <a:buSzPct val="100000"/>
              <a:buChar char="•"/>
            </a:pPr>
            <a:r>
              <a:rPr lang="en-US" sz="1250" dirty="0">
                <a:solidFill>
                  <a:srgbClr val="2629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Rate, not volume, is the 2026 challenge: occupancy is near plan but ADR runs ~3% under budget across the portfolio — see ‘The ADR challenge’ in Section 2.</a:t>
            </a:r>
            <a:endParaRPr lang="en-US" sz="1250" dirty="0"/>
          </a:p>
          <a:p>
            <a:pPr marL="342900" indent="-342900">
              <a:spcAft>
                <a:spcPts val="400"/>
              </a:spcAft>
              <a:buSzPct val="100000"/>
              <a:buChar char="•"/>
            </a:pPr>
            <a:r>
              <a:rPr lang="en-US" sz="1250" dirty="0">
                <a:solidFill>
                  <a:srgbClr val="2629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Market demand is mixed: total arrivals are below last year (June preliminary), with China (+18%), India and long-haul holding the recovery together — Middle East is down on the war effect.</a:t>
            </a:r>
            <a:endParaRPr lang="en-US" sz="1250" dirty="0"/>
          </a:p>
          <a:p>
            <a:pPr marL="342900" indent="-342900">
              <a:spcAft>
                <a:spcPts val="400"/>
              </a:spcAft>
              <a:buSzPct val="100000"/>
              <a:buChar char="•"/>
            </a:pPr>
            <a:r>
              <a:rPr lang="en-US" sz="1250" dirty="0">
                <a:solidFill>
                  <a:srgbClr val="2629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Portfolio RevPAR is -4.3% vs budget on 75.8% occupancy — rate (ADR, −3.4%) is the main gap; occupancy is close to plan.</a:t>
            </a:r>
            <a:endParaRPr lang="en-US" sz="1250" dirty="0"/>
          </a:p>
          <a:p>
            <a:pPr marL="342900" indent="-342900">
              <a:buSzPct val="100000"/>
              <a:buChar char="•"/>
            </a:pPr>
            <a:r>
              <a:rPr lang="en-US" sz="1250" dirty="0">
                <a:solidFill>
                  <a:srgbClr val="2629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Re-based STR: the markets AND our direct compsets held rate in H1, while our four hotels cut ADR ~5–10% and bought occupancy (all above compset) — the rate gap is our pricing/mix trade, not market-forced.</a:t>
            </a:r>
            <a:endParaRPr lang="en-US" sz="125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1E276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1965960"/>
            <a:ext cx="2011680" cy="1554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600" b="1" dirty="0">
                <a:solidFill>
                  <a:srgbClr val="D9A44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</a:t>
            </a:r>
            <a:endParaRPr lang="en-US" sz="9600" dirty="0"/>
          </a:p>
        </p:txBody>
      </p:sp>
      <p:sp>
        <p:nvSpPr>
          <p:cNvPr id="3" name="Text 1"/>
          <p:cNvSpPr/>
          <p:nvPr/>
        </p:nvSpPr>
        <p:spPr>
          <a:xfrm>
            <a:off x="2514600" y="2286000"/>
            <a:ext cx="877824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4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Thailand Tourist Arrivals</a:t>
            </a:r>
            <a:endParaRPr lang="en-US" sz="4000" dirty="0"/>
          </a:p>
        </p:txBody>
      </p:sp>
      <p:sp>
        <p:nvSpPr>
          <p:cNvPr id="4" name="Text 2"/>
          <p:cNvSpPr/>
          <p:nvPr/>
        </p:nvSpPr>
        <p:spPr>
          <a:xfrm>
            <a:off x="2542032" y="3246120"/>
            <a:ext cx="841248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dirty="0">
                <a:solidFill>
                  <a:srgbClr val="AFC0E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Total (MOTS) · Chinese · India · Middle East · Long-haul (EU + USA)</a:t>
            </a:r>
            <a:endParaRPr lang="en-US" sz="1400" dirty="0"/>
          </a:p>
        </p:txBody>
      </p:sp>
      <p:sp>
        <p:nvSpPr>
          <p:cNvPr id="5" name="Text 3"/>
          <p:cNvSpPr/>
          <p:nvPr/>
        </p:nvSpPr>
        <p:spPr>
          <a:xfrm>
            <a:off x="548640" y="6172200"/>
            <a:ext cx="5486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7C8BC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Mitsui Thailand Portfolio · H1 2026</a:t>
            </a:r>
            <a:endParaRPr lang="en-US" sz="10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292608"/>
            <a:ext cx="8229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b="1" kern="0" spc="200" dirty="0">
                <a:solidFill>
                  <a:srgbClr val="D9A44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SECTION 1 · TOURIST ARRIVALS</a:t>
            </a:r>
            <a:endParaRPr lang="en-US" sz="1100" dirty="0"/>
          </a:p>
        </p:txBody>
      </p:sp>
      <p:sp>
        <p:nvSpPr>
          <p:cNvPr id="3" name="Text 1"/>
          <p:cNvSpPr/>
          <p:nvPr/>
        </p:nvSpPr>
        <p:spPr>
          <a:xfrm>
            <a:off x="548640" y="502920"/>
            <a:ext cx="11091672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800" b="1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Total international arrivals (MOTS)</a:t>
            </a:r>
            <a:endParaRPr lang="en-US" sz="2800" dirty="0"/>
          </a:p>
        </p:txBody>
      </p:sp>
      <p:sp>
        <p:nvSpPr>
          <p:cNvPr id="4" name="Text 2"/>
          <p:cNvSpPr/>
          <p:nvPr/>
        </p:nvSpPr>
        <p:spPr>
          <a:xfrm>
            <a:off x="548640" y="1060704"/>
            <a:ext cx="11091672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5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Monthly arrivals, all nationalities — 2026 through June (June preliminary: 4 days missing)</a:t>
            </a:r>
            <a:endParaRPr lang="en-US" sz="1250" dirty="0"/>
          </a:p>
        </p:txBody>
      </p:sp>
      <p:sp>
        <p:nvSpPr>
          <p:cNvPr id="5" name="Text 3"/>
          <p:cNvSpPr/>
          <p:nvPr/>
        </p:nvSpPr>
        <p:spPr>
          <a:xfrm>
            <a:off x="8165592" y="310896"/>
            <a:ext cx="34747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90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Mitsui Thailand Portfolio · H1 2026</a:t>
            </a:r>
            <a:endParaRPr lang="en-US" sz="900" dirty="0"/>
          </a:p>
        </p:txBody>
      </p:sp>
      <p:graphicFrame>
        <p:nvGraphicFramePr>
          <p:cNvPr id="6" name="Chart 0"/>
          <p:cNvGraphicFramePr/>
          <p:nvPr/>
        </p:nvGraphicFramePr>
        <p:xfrm>
          <a:off x="548640" y="1600200"/>
          <a:ext cx="7498080" cy="4480560"/>
        </p:xfrm>
        <a:graphic>
          <a:graphicData uri="http://schemas.openxmlformats.org/drawingml/2006/chart">
            <c:chart xmlns:c="http://schemas.openxmlformats.org/drawingml/2006/chart" xmlns:r="http://schemas.openxmlformats.org/officeDocument/2006/relationships" r:id="rId3"/>
          </a:graphicData>
        </a:graphic>
      </p:graphicFrame>
      <p:sp>
        <p:nvSpPr>
          <p:cNvPr id="7" name="Shape 4"/>
          <p:cNvSpPr/>
          <p:nvPr/>
        </p:nvSpPr>
        <p:spPr>
          <a:xfrm>
            <a:off x="8366760" y="1691640"/>
            <a:ext cx="3246120" cy="1207008"/>
          </a:xfrm>
          <a:prstGeom prst="roundRect">
            <a:avLst>
              <a:gd name="adj" fmla="val 4545"/>
            </a:avLst>
          </a:prstGeom>
          <a:solidFill>
            <a:srgbClr val="F4F6FB"/>
          </a:solidFill>
          <a:ln w="9525">
            <a:solidFill>
              <a:srgbClr val="E2E7F2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8" name="Text 5"/>
          <p:cNvSpPr/>
          <p:nvPr/>
        </p:nvSpPr>
        <p:spPr>
          <a:xfrm>
            <a:off x="8513064" y="1783080"/>
            <a:ext cx="2953512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50" b="1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YTD JAN–JUN 2026</a:t>
            </a:r>
            <a:endParaRPr lang="en-US" sz="1050" dirty="0"/>
          </a:p>
        </p:txBody>
      </p:sp>
      <p:sp>
        <p:nvSpPr>
          <p:cNvPr id="9" name="Text 6"/>
          <p:cNvSpPr/>
          <p:nvPr/>
        </p:nvSpPr>
        <p:spPr>
          <a:xfrm>
            <a:off x="8513064" y="2002536"/>
            <a:ext cx="2953512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400" b="1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15.87M</a:t>
            </a:r>
            <a:endParaRPr lang="en-US" sz="2400" dirty="0"/>
          </a:p>
        </p:txBody>
      </p:sp>
      <p:sp>
        <p:nvSpPr>
          <p:cNvPr id="10" name="Text 7"/>
          <p:cNvSpPr/>
          <p:nvPr/>
        </p:nvSpPr>
        <p:spPr>
          <a:xfrm>
            <a:off x="8513064" y="2459736"/>
            <a:ext cx="2953512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50" dirty="0">
                <a:solidFill>
                  <a:srgbClr val="C0392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-4.9% vs 2025 (16.69M)</a:t>
            </a:r>
            <a:endParaRPr lang="en-US" sz="1050" dirty="0"/>
          </a:p>
        </p:txBody>
      </p:sp>
      <p:sp>
        <p:nvSpPr>
          <p:cNvPr id="11" name="Shape 8"/>
          <p:cNvSpPr/>
          <p:nvPr/>
        </p:nvSpPr>
        <p:spPr>
          <a:xfrm>
            <a:off x="8366760" y="3044952"/>
            <a:ext cx="3246120" cy="1207008"/>
          </a:xfrm>
          <a:prstGeom prst="roundRect">
            <a:avLst>
              <a:gd name="adj" fmla="val 4545"/>
            </a:avLst>
          </a:prstGeom>
          <a:solidFill>
            <a:srgbClr val="F4F6FB"/>
          </a:solidFill>
          <a:ln w="9525">
            <a:solidFill>
              <a:srgbClr val="E2E7F2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2" name="Text 9"/>
          <p:cNvSpPr/>
          <p:nvPr/>
        </p:nvSpPr>
        <p:spPr>
          <a:xfrm>
            <a:off x="8513064" y="3136392"/>
            <a:ext cx="2953512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50" b="1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YTD JAN–JUN 2025</a:t>
            </a:r>
            <a:endParaRPr lang="en-US" sz="1050" dirty="0"/>
          </a:p>
        </p:txBody>
      </p:sp>
      <p:sp>
        <p:nvSpPr>
          <p:cNvPr id="13" name="Text 10"/>
          <p:cNvSpPr/>
          <p:nvPr/>
        </p:nvSpPr>
        <p:spPr>
          <a:xfrm>
            <a:off x="8513064" y="3355848"/>
            <a:ext cx="2953512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400" b="1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16.69M</a:t>
            </a:r>
            <a:endParaRPr lang="en-US" sz="2400" dirty="0"/>
          </a:p>
        </p:txBody>
      </p:sp>
      <p:sp>
        <p:nvSpPr>
          <p:cNvPr id="14" name="Text 11"/>
          <p:cNvSpPr/>
          <p:nvPr/>
        </p:nvSpPr>
        <p:spPr>
          <a:xfrm>
            <a:off x="8513064" y="3813048"/>
            <a:ext cx="2953512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50" dirty="0">
                <a:solidFill>
                  <a:srgbClr val="C0392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-4.7% vs 2024</a:t>
            </a:r>
            <a:endParaRPr lang="en-US" sz="1050" dirty="0"/>
          </a:p>
        </p:txBody>
      </p:sp>
      <p:sp>
        <p:nvSpPr>
          <p:cNvPr id="15" name="Shape 12"/>
          <p:cNvSpPr/>
          <p:nvPr/>
        </p:nvSpPr>
        <p:spPr>
          <a:xfrm>
            <a:off x="8366760" y="4398264"/>
            <a:ext cx="3246120" cy="1207008"/>
          </a:xfrm>
          <a:prstGeom prst="roundRect">
            <a:avLst>
              <a:gd name="adj" fmla="val 4545"/>
            </a:avLst>
          </a:prstGeom>
          <a:solidFill>
            <a:srgbClr val="F4F6FB"/>
          </a:solidFill>
          <a:ln w="9525">
            <a:solidFill>
              <a:srgbClr val="E2E7F2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6" name="Text 13"/>
          <p:cNvSpPr/>
          <p:nvPr/>
        </p:nvSpPr>
        <p:spPr>
          <a:xfrm>
            <a:off x="8513064" y="4489704"/>
            <a:ext cx="2953512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50" b="1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VS PRE-COVID (2019)</a:t>
            </a:r>
            <a:endParaRPr lang="en-US" sz="1050" dirty="0"/>
          </a:p>
        </p:txBody>
      </p:sp>
      <p:sp>
        <p:nvSpPr>
          <p:cNvPr id="17" name="Text 14"/>
          <p:cNvSpPr/>
          <p:nvPr/>
        </p:nvSpPr>
        <p:spPr>
          <a:xfrm>
            <a:off x="8513064" y="4709160"/>
            <a:ext cx="2953512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400" b="1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80%</a:t>
            </a:r>
            <a:endParaRPr lang="en-US" sz="2400" dirty="0"/>
          </a:p>
        </p:txBody>
      </p:sp>
      <p:sp>
        <p:nvSpPr>
          <p:cNvPr id="18" name="Text 15"/>
          <p:cNvSpPr/>
          <p:nvPr/>
        </p:nvSpPr>
        <p:spPr>
          <a:xfrm>
            <a:off x="8513064" y="5166360"/>
            <a:ext cx="2953512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5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of Jan–Jun 2019 level</a:t>
            </a:r>
            <a:endParaRPr lang="en-US" sz="1050" dirty="0"/>
          </a:p>
        </p:txBody>
      </p:sp>
      <p:sp>
        <p:nvSpPr>
          <p:cNvPr id="19" name="Text 16"/>
          <p:cNvSpPr/>
          <p:nvPr/>
        </p:nvSpPr>
        <p:spPr>
          <a:xfrm>
            <a:off x="548640" y="6172200"/>
            <a:ext cx="10881360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50" i="1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Source: Ministry of Tourism &amp; Sports (MOTS). 2026 slightly below 2025 — January was weak (−12% vs Jan 2025), February–May broadly flat.</a:t>
            </a:r>
            <a:endParaRPr lang="en-US" sz="105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292608"/>
            <a:ext cx="8229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b="1" kern="0" spc="200" dirty="0">
                <a:solidFill>
                  <a:srgbClr val="D9A44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SECTION 1 · TOURIST ARRIVALS</a:t>
            </a:r>
            <a:endParaRPr lang="en-US" sz="1100" dirty="0"/>
          </a:p>
        </p:txBody>
      </p:sp>
      <p:sp>
        <p:nvSpPr>
          <p:cNvPr id="3" name="Text 1"/>
          <p:cNvSpPr/>
          <p:nvPr/>
        </p:nvSpPr>
        <p:spPr>
          <a:xfrm>
            <a:off x="548640" y="502920"/>
            <a:ext cx="11091672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800" b="1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Total arrivals (MOTS) — monthly numbers by year</a:t>
            </a:r>
            <a:endParaRPr lang="en-US" sz="2800" dirty="0"/>
          </a:p>
        </p:txBody>
      </p:sp>
      <p:sp>
        <p:nvSpPr>
          <p:cNvPr id="4" name="Text 2"/>
          <p:cNvSpPr/>
          <p:nvPr/>
        </p:nvSpPr>
        <p:spPr>
          <a:xfrm>
            <a:off x="548640" y="1060704"/>
            <a:ext cx="11091672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5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International arrivals by month, 2018–2026 · unit: persons · same layout as the Summary sheet</a:t>
            </a:r>
            <a:endParaRPr lang="en-US" sz="1250" dirty="0"/>
          </a:p>
        </p:txBody>
      </p:sp>
      <p:sp>
        <p:nvSpPr>
          <p:cNvPr id="5" name="Text 3"/>
          <p:cNvSpPr/>
          <p:nvPr/>
        </p:nvSpPr>
        <p:spPr>
          <a:xfrm>
            <a:off x="8165592" y="310896"/>
            <a:ext cx="34747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90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Mitsui Thailand Portfolio · H1 2026</a:t>
            </a:r>
            <a:endParaRPr lang="en-US" sz="900" dirty="0"/>
          </a:p>
        </p:txBody>
      </p:sp>
      <p:graphicFrame>
        <p:nvGraphicFramePr>
          <p:cNvPr id="6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548640" y="1645920"/>
          <a:ext cx="11091672" cy="3118104"/>
        </p:xfrm>
        <a:graphic>
          <a:graphicData uri="http://schemas.openxmlformats.org/drawingml/2006/table">
            <a:tbl>
              <a:tblPr/>
              <a:tblGrid>
                <a:gridCol w="91440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768096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768096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768096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  <a:gridCol w="768096">
                  <a:extLst>
                    <a:ext uri="{9D8B030D-6E8A-4147-A177-3AD203B41FA5}">
                      <a16:colId xmlns:a16="http://schemas.microsoft.com/office/drawing/2014/main" val="20004"/>
                    </a:ext>
                  </a:extLst>
                </a:gridCol>
                <a:gridCol w="768096">
                  <a:extLst>
                    <a:ext uri="{9D8B030D-6E8A-4147-A177-3AD203B41FA5}">
                      <a16:colId xmlns:a16="http://schemas.microsoft.com/office/drawing/2014/main" val="20005"/>
                    </a:ext>
                  </a:extLst>
                </a:gridCol>
                <a:gridCol w="768096">
                  <a:extLst>
                    <a:ext uri="{9D8B030D-6E8A-4147-A177-3AD203B41FA5}">
                      <a16:colId xmlns:a16="http://schemas.microsoft.com/office/drawing/2014/main" val="20006"/>
                    </a:ext>
                  </a:extLst>
                </a:gridCol>
                <a:gridCol w="768096">
                  <a:extLst>
                    <a:ext uri="{9D8B030D-6E8A-4147-A177-3AD203B41FA5}">
                      <a16:colId xmlns:a16="http://schemas.microsoft.com/office/drawing/2014/main" val="20007"/>
                    </a:ext>
                  </a:extLst>
                </a:gridCol>
                <a:gridCol w="768096">
                  <a:extLst>
                    <a:ext uri="{9D8B030D-6E8A-4147-A177-3AD203B41FA5}">
                      <a16:colId xmlns:a16="http://schemas.microsoft.com/office/drawing/2014/main" val="20008"/>
                    </a:ext>
                  </a:extLst>
                </a:gridCol>
                <a:gridCol w="768096">
                  <a:extLst>
                    <a:ext uri="{9D8B030D-6E8A-4147-A177-3AD203B41FA5}">
                      <a16:colId xmlns:a16="http://schemas.microsoft.com/office/drawing/2014/main" val="20009"/>
                    </a:ext>
                  </a:extLst>
                </a:gridCol>
                <a:gridCol w="768096">
                  <a:extLst>
                    <a:ext uri="{9D8B030D-6E8A-4147-A177-3AD203B41FA5}">
                      <a16:colId xmlns:a16="http://schemas.microsoft.com/office/drawing/2014/main" val="20010"/>
                    </a:ext>
                  </a:extLst>
                </a:gridCol>
                <a:gridCol w="768096">
                  <a:extLst>
                    <a:ext uri="{9D8B030D-6E8A-4147-A177-3AD203B41FA5}">
                      <a16:colId xmlns:a16="http://schemas.microsoft.com/office/drawing/2014/main" val="20011"/>
                    </a:ext>
                  </a:extLst>
                </a:gridCol>
                <a:gridCol w="768096">
                  <a:extLst>
                    <a:ext uri="{9D8B030D-6E8A-4147-A177-3AD203B41FA5}">
                      <a16:colId xmlns:a16="http://schemas.microsoft.com/office/drawing/2014/main" val="20012"/>
                    </a:ext>
                  </a:extLst>
                </a:gridCol>
                <a:gridCol w="960120">
                  <a:extLst>
                    <a:ext uri="{9D8B030D-6E8A-4147-A177-3AD203B41FA5}">
                      <a16:colId xmlns:a16="http://schemas.microsoft.com/office/drawing/2014/main" val="20013"/>
                    </a:ext>
                  </a:extLst>
                </a:gridCol>
              </a:tblGrid>
              <a:tr h="283464"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8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Year</a:t>
                      </a:r>
                      <a:endParaRPr lang="en-US" sz="8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E2E7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7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7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7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E2761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8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Jan</a:t>
                      </a:r>
                      <a:endParaRPr lang="en-US" sz="8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E2E7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7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7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7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E2761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8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Feb</a:t>
                      </a:r>
                      <a:endParaRPr lang="en-US" sz="8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E2E7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7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7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7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E2761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8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Mar</a:t>
                      </a:r>
                      <a:endParaRPr lang="en-US" sz="8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E2E7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7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7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7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E2761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8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Apr</a:t>
                      </a:r>
                      <a:endParaRPr lang="en-US" sz="8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E2E7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7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7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7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E2761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8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May</a:t>
                      </a:r>
                      <a:endParaRPr lang="en-US" sz="8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E2E7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7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7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7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E2761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8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Jun</a:t>
                      </a:r>
                      <a:endParaRPr lang="en-US" sz="8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E2E7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7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7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7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E2761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8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Jul</a:t>
                      </a:r>
                      <a:endParaRPr lang="en-US" sz="8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E2E7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7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7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7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E2761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8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Aug</a:t>
                      </a:r>
                      <a:endParaRPr lang="en-US" sz="8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E2E7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7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7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7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E2761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8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Sep</a:t>
                      </a:r>
                      <a:endParaRPr lang="en-US" sz="8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E2E7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7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7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7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E2761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8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Oct</a:t>
                      </a:r>
                      <a:endParaRPr lang="en-US" sz="8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E2E7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7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7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7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E2761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8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Nov</a:t>
                      </a:r>
                      <a:endParaRPr lang="en-US" sz="8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E2E7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7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7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7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E2761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8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Dec</a:t>
                      </a:r>
                      <a:endParaRPr lang="en-US" sz="8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E2E7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7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7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7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E2761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8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Total</a:t>
                      </a:r>
                      <a:endParaRPr lang="en-US" sz="8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E2E7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7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7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7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E276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283464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800" b="1" dirty="0">
                          <a:solidFill>
                            <a:srgbClr val="26292E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2018</a:t>
                      </a:r>
                      <a:endParaRPr lang="en-US" sz="8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E2E7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7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7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7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r">
                        <a:buNone/>
                      </a:pPr>
                      <a:r>
                        <a:rPr lang="en-US" sz="800" dirty="0">
                          <a:solidFill>
                            <a:srgbClr val="26292E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3,544,528</a:t>
                      </a:r>
                      <a:endParaRPr lang="en-US" sz="8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E2E7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7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7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7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r">
                        <a:buNone/>
                      </a:pPr>
                      <a:r>
                        <a:rPr lang="en-US" sz="800" dirty="0">
                          <a:solidFill>
                            <a:srgbClr val="26292E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3,566,898</a:t>
                      </a:r>
                      <a:endParaRPr lang="en-US" sz="8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E2E7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7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7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7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r">
                        <a:buNone/>
                      </a:pPr>
                      <a:r>
                        <a:rPr lang="en-US" sz="800" dirty="0">
                          <a:solidFill>
                            <a:srgbClr val="26292E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3,497,260</a:t>
                      </a:r>
                      <a:endParaRPr lang="en-US" sz="8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E2E7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7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7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7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r">
                        <a:buNone/>
                      </a:pPr>
                      <a:r>
                        <a:rPr lang="en-US" sz="800" dirty="0">
                          <a:solidFill>
                            <a:srgbClr val="26292E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3,092,725</a:t>
                      </a:r>
                      <a:endParaRPr lang="en-US" sz="8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E2E7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7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7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7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r">
                        <a:buNone/>
                      </a:pPr>
                      <a:r>
                        <a:rPr lang="en-US" sz="800" dirty="0">
                          <a:solidFill>
                            <a:srgbClr val="26292E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2,755,059</a:t>
                      </a:r>
                      <a:endParaRPr lang="en-US" sz="8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E2E7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7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7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7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r">
                        <a:buNone/>
                      </a:pPr>
                      <a:r>
                        <a:rPr lang="en-US" sz="800" dirty="0">
                          <a:solidFill>
                            <a:srgbClr val="26292E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3,025,279</a:t>
                      </a:r>
                      <a:endParaRPr lang="en-US" sz="8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E2E7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7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7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7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r">
                        <a:buNone/>
                      </a:pPr>
                      <a:r>
                        <a:rPr lang="en-US" sz="800" dirty="0">
                          <a:solidFill>
                            <a:srgbClr val="26292E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3,175,981</a:t>
                      </a:r>
                      <a:endParaRPr lang="en-US" sz="8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E2E7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7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7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7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r">
                        <a:buNone/>
                      </a:pPr>
                      <a:r>
                        <a:rPr lang="en-US" sz="800" dirty="0">
                          <a:solidFill>
                            <a:srgbClr val="26292E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3,228,595</a:t>
                      </a:r>
                      <a:endParaRPr lang="en-US" sz="8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E2E7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7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7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7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r">
                        <a:buNone/>
                      </a:pPr>
                      <a:r>
                        <a:rPr lang="en-US" sz="800" dirty="0">
                          <a:solidFill>
                            <a:srgbClr val="26292E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2,655,562</a:t>
                      </a:r>
                      <a:endParaRPr lang="en-US" sz="8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E2E7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7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7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7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r">
                        <a:buNone/>
                      </a:pPr>
                      <a:r>
                        <a:rPr lang="en-US" sz="800" dirty="0">
                          <a:solidFill>
                            <a:srgbClr val="26292E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2,712,033</a:t>
                      </a:r>
                      <a:endParaRPr lang="en-US" sz="8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E2E7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7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7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7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r">
                        <a:buNone/>
                      </a:pPr>
                      <a:r>
                        <a:rPr lang="en-US" sz="800" dirty="0">
                          <a:solidFill>
                            <a:srgbClr val="26292E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3,177,569</a:t>
                      </a:r>
                      <a:endParaRPr lang="en-US" sz="8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E2E7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7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7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7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r">
                        <a:buNone/>
                      </a:pPr>
                      <a:r>
                        <a:rPr lang="en-US" sz="800" dirty="0">
                          <a:solidFill>
                            <a:srgbClr val="26292E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3,845,811</a:t>
                      </a:r>
                      <a:endParaRPr lang="en-US" sz="8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E2E7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7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7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7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r">
                        <a:buNone/>
                      </a:pPr>
                      <a:r>
                        <a:rPr lang="en-US" sz="800" b="1" dirty="0">
                          <a:solidFill>
                            <a:srgbClr val="1E2761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38,277,300</a:t>
                      </a:r>
                      <a:endParaRPr lang="en-US" sz="8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E2E7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7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7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7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283464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800" b="1" dirty="0">
                          <a:solidFill>
                            <a:srgbClr val="26292E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2019</a:t>
                      </a:r>
                      <a:endParaRPr lang="en-US" sz="8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E2E7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7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7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7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6FB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r">
                        <a:buNone/>
                      </a:pPr>
                      <a:r>
                        <a:rPr lang="en-US" sz="800" dirty="0">
                          <a:solidFill>
                            <a:srgbClr val="26292E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3,713,172</a:t>
                      </a:r>
                      <a:endParaRPr lang="en-US" sz="8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E2E7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7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7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7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6FB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r">
                        <a:buNone/>
                      </a:pPr>
                      <a:r>
                        <a:rPr lang="en-US" sz="800" dirty="0">
                          <a:solidFill>
                            <a:srgbClr val="26292E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3,600,922</a:t>
                      </a:r>
                      <a:endParaRPr lang="en-US" sz="8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E2E7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7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7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7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6FB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r">
                        <a:buNone/>
                      </a:pPr>
                      <a:r>
                        <a:rPr lang="en-US" sz="800" dirty="0">
                          <a:solidFill>
                            <a:srgbClr val="26292E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3,478,687</a:t>
                      </a:r>
                      <a:endParaRPr lang="en-US" sz="8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E2E7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7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7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7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6FB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r">
                        <a:buNone/>
                      </a:pPr>
                      <a:r>
                        <a:rPr lang="en-US" sz="800" dirty="0">
                          <a:solidFill>
                            <a:srgbClr val="26292E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3,216,929</a:t>
                      </a:r>
                      <a:endParaRPr lang="en-US" sz="8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E2E7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7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7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7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6FB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r">
                        <a:buNone/>
                      </a:pPr>
                      <a:r>
                        <a:rPr lang="en-US" sz="800" dirty="0">
                          <a:solidFill>
                            <a:srgbClr val="26292E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2,736,598</a:t>
                      </a:r>
                      <a:endParaRPr lang="en-US" sz="8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E2E7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7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7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7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6FB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r">
                        <a:buNone/>
                      </a:pPr>
                      <a:r>
                        <a:rPr lang="en-US" sz="800" dirty="0">
                          <a:solidFill>
                            <a:srgbClr val="26292E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3,056,697</a:t>
                      </a:r>
                      <a:endParaRPr lang="en-US" sz="8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E2E7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7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7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7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6FB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r">
                        <a:buNone/>
                      </a:pPr>
                      <a:r>
                        <a:rPr lang="en-US" sz="800" dirty="0">
                          <a:solidFill>
                            <a:srgbClr val="26292E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3,342,750</a:t>
                      </a:r>
                      <a:endParaRPr lang="en-US" sz="8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E2E7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7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7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7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6FB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r">
                        <a:buNone/>
                      </a:pPr>
                      <a:r>
                        <a:rPr lang="en-US" sz="800" dirty="0">
                          <a:solidFill>
                            <a:srgbClr val="26292E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3,472,655</a:t>
                      </a:r>
                      <a:endParaRPr lang="en-US" sz="8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E2E7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7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7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7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6FB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r">
                        <a:buNone/>
                      </a:pPr>
                      <a:r>
                        <a:rPr lang="en-US" sz="800" dirty="0">
                          <a:solidFill>
                            <a:srgbClr val="26292E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2,890,039</a:t>
                      </a:r>
                      <a:endParaRPr lang="en-US" sz="8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E2E7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7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7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7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6FB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r">
                        <a:buNone/>
                      </a:pPr>
                      <a:r>
                        <a:rPr lang="en-US" sz="800" dirty="0">
                          <a:solidFill>
                            <a:srgbClr val="26292E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3,074,099</a:t>
                      </a:r>
                      <a:endParaRPr lang="en-US" sz="8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E2E7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7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7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7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6FB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r">
                        <a:buNone/>
                      </a:pPr>
                      <a:r>
                        <a:rPr lang="en-US" sz="800" dirty="0">
                          <a:solidFill>
                            <a:srgbClr val="26292E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3,386,366</a:t>
                      </a:r>
                      <a:endParaRPr lang="en-US" sz="8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E2E7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7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7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7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6FB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r">
                        <a:buNone/>
                      </a:pPr>
                      <a:r>
                        <a:rPr lang="en-US" sz="800" dirty="0">
                          <a:solidFill>
                            <a:srgbClr val="26292E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3,947,337</a:t>
                      </a:r>
                      <a:endParaRPr lang="en-US" sz="8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E2E7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7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7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7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6FB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r">
                        <a:buNone/>
                      </a:pPr>
                      <a:r>
                        <a:rPr lang="en-US" sz="800" b="1" dirty="0">
                          <a:solidFill>
                            <a:srgbClr val="1E2761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39,916,251</a:t>
                      </a:r>
                      <a:endParaRPr lang="en-US" sz="8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E2E7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7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7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7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00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283464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800" b="1" dirty="0">
                          <a:solidFill>
                            <a:srgbClr val="6B728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2020 (COVID)</a:t>
                      </a:r>
                      <a:endParaRPr lang="en-US" sz="8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E2E7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7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7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7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9D9D9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r">
                        <a:buNone/>
                      </a:pPr>
                      <a:r>
                        <a:rPr lang="en-US" sz="800" dirty="0">
                          <a:solidFill>
                            <a:srgbClr val="6B728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3,810,155</a:t>
                      </a:r>
                      <a:endParaRPr lang="en-US" sz="8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E2E7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7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7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7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9D9D9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r">
                        <a:buNone/>
                      </a:pPr>
                      <a:r>
                        <a:rPr lang="en-US" sz="800" dirty="0">
                          <a:solidFill>
                            <a:srgbClr val="6B728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2,061,990</a:t>
                      </a:r>
                      <a:endParaRPr lang="en-US" sz="8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E2E7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7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7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7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9D9D9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r">
                        <a:buNone/>
                      </a:pPr>
                      <a:r>
                        <a:rPr lang="en-US" sz="800" dirty="0">
                          <a:solidFill>
                            <a:srgbClr val="6B728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819,429</a:t>
                      </a:r>
                      <a:endParaRPr lang="en-US" sz="8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E2E7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7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7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7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9D9D9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r">
                        <a:buNone/>
                      </a:pPr>
                      <a:r>
                        <a:rPr lang="en-US" sz="800" dirty="0">
                          <a:solidFill>
                            <a:srgbClr val="6B728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0</a:t>
                      </a:r>
                      <a:endParaRPr lang="en-US" sz="8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E2E7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7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7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7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9D9D9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r">
                        <a:buNone/>
                      </a:pPr>
                      <a:r>
                        <a:rPr lang="en-US" sz="800" dirty="0">
                          <a:solidFill>
                            <a:srgbClr val="6B728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0</a:t>
                      </a:r>
                      <a:endParaRPr lang="en-US" sz="8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E2E7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7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7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7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9D9D9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r">
                        <a:buNone/>
                      </a:pPr>
                      <a:r>
                        <a:rPr lang="en-US" sz="800" dirty="0">
                          <a:solidFill>
                            <a:srgbClr val="6B728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0</a:t>
                      </a:r>
                      <a:endParaRPr lang="en-US" sz="8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E2E7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7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7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7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9D9D9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r">
                        <a:buNone/>
                      </a:pPr>
                      <a:r>
                        <a:rPr lang="en-US" sz="800" dirty="0">
                          <a:solidFill>
                            <a:srgbClr val="6B728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0</a:t>
                      </a:r>
                      <a:endParaRPr lang="en-US" sz="8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E2E7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7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7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7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9D9D9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r">
                        <a:buNone/>
                      </a:pPr>
                      <a:r>
                        <a:rPr lang="en-US" sz="800" dirty="0">
                          <a:solidFill>
                            <a:srgbClr val="6B728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0</a:t>
                      </a:r>
                      <a:endParaRPr lang="en-US" sz="8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E2E7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7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7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7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9D9D9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r">
                        <a:buNone/>
                      </a:pPr>
                      <a:r>
                        <a:rPr lang="en-US" sz="800" dirty="0">
                          <a:solidFill>
                            <a:srgbClr val="6B728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0</a:t>
                      </a:r>
                      <a:endParaRPr lang="en-US" sz="8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E2E7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7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7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7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9D9D9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r">
                        <a:buNone/>
                      </a:pPr>
                      <a:r>
                        <a:rPr lang="en-US" sz="800" dirty="0">
                          <a:solidFill>
                            <a:srgbClr val="6B728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1,201</a:t>
                      </a:r>
                      <a:endParaRPr lang="en-US" sz="8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E2E7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7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7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7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9D9D9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r">
                        <a:buNone/>
                      </a:pPr>
                      <a:r>
                        <a:rPr lang="en-US" sz="800" dirty="0">
                          <a:solidFill>
                            <a:srgbClr val="6B728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3,065</a:t>
                      </a:r>
                      <a:endParaRPr lang="en-US" sz="8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E2E7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7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7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7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9D9D9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r">
                        <a:buNone/>
                      </a:pPr>
                      <a:r>
                        <a:rPr lang="en-US" sz="800" dirty="0">
                          <a:solidFill>
                            <a:srgbClr val="6B728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6,556</a:t>
                      </a:r>
                      <a:endParaRPr lang="en-US" sz="8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E2E7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7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7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7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9D9D9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r">
                        <a:buNone/>
                      </a:pPr>
                      <a:r>
                        <a:rPr lang="en-US" sz="800" b="1" dirty="0">
                          <a:solidFill>
                            <a:srgbClr val="1E2761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6,702,396</a:t>
                      </a:r>
                      <a:endParaRPr lang="en-US" sz="8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E2E7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7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7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7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9D9D9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283464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800" b="1" dirty="0">
                          <a:solidFill>
                            <a:srgbClr val="6B728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2021 (COVID)</a:t>
                      </a:r>
                      <a:endParaRPr lang="en-US" sz="8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E2E7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7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7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7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9D9D9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r">
                        <a:buNone/>
                      </a:pPr>
                      <a:r>
                        <a:rPr lang="en-US" sz="800" dirty="0">
                          <a:solidFill>
                            <a:srgbClr val="6B728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7,694</a:t>
                      </a:r>
                      <a:endParaRPr lang="en-US" sz="8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E2E7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7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7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7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9D9D9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r">
                        <a:buNone/>
                      </a:pPr>
                      <a:r>
                        <a:rPr lang="en-US" sz="800" dirty="0">
                          <a:solidFill>
                            <a:srgbClr val="6B728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5,741</a:t>
                      </a:r>
                      <a:endParaRPr lang="en-US" sz="8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E2E7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7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7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7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9D9D9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r">
                        <a:buNone/>
                      </a:pPr>
                      <a:r>
                        <a:rPr lang="en-US" sz="800" dirty="0">
                          <a:solidFill>
                            <a:srgbClr val="6B728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6,737</a:t>
                      </a:r>
                      <a:endParaRPr lang="en-US" sz="8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E2E7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7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7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7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9D9D9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r">
                        <a:buNone/>
                      </a:pPr>
                      <a:r>
                        <a:rPr lang="en-US" sz="800" dirty="0">
                          <a:solidFill>
                            <a:srgbClr val="6B728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8,529</a:t>
                      </a:r>
                      <a:endParaRPr lang="en-US" sz="8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E2E7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7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7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7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9D9D9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r">
                        <a:buNone/>
                      </a:pPr>
                      <a:r>
                        <a:rPr lang="en-US" sz="800" dirty="0">
                          <a:solidFill>
                            <a:srgbClr val="6B728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6,052</a:t>
                      </a:r>
                      <a:endParaRPr lang="en-US" sz="8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E2E7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7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7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7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9D9D9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r">
                        <a:buNone/>
                      </a:pPr>
                      <a:r>
                        <a:rPr lang="en-US" sz="800" dirty="0">
                          <a:solidFill>
                            <a:srgbClr val="6B728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5,694</a:t>
                      </a:r>
                      <a:endParaRPr lang="en-US" sz="8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E2E7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7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7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7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9D9D9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r">
                        <a:buNone/>
                      </a:pPr>
                      <a:r>
                        <a:rPr lang="en-US" sz="800" dirty="0">
                          <a:solidFill>
                            <a:srgbClr val="6B728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18,056</a:t>
                      </a:r>
                      <a:endParaRPr lang="en-US" sz="8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E2E7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7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7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7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9D9D9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r">
                        <a:buNone/>
                      </a:pPr>
                      <a:r>
                        <a:rPr lang="en-US" sz="800" dirty="0">
                          <a:solidFill>
                            <a:srgbClr val="6B728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15,105</a:t>
                      </a:r>
                      <a:endParaRPr lang="en-US" sz="8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E2E7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7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7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7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9D9D9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r">
                        <a:buNone/>
                      </a:pPr>
                      <a:r>
                        <a:rPr lang="en-US" sz="800" dirty="0">
                          <a:solidFill>
                            <a:srgbClr val="6B728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12,237</a:t>
                      </a:r>
                      <a:endParaRPr lang="en-US" sz="8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E2E7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7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7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7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9D9D9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r">
                        <a:buNone/>
                      </a:pPr>
                      <a:r>
                        <a:rPr lang="en-US" sz="800" dirty="0">
                          <a:solidFill>
                            <a:srgbClr val="6B728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20,272</a:t>
                      </a:r>
                      <a:endParaRPr lang="en-US" sz="8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E2E7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7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7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7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9D9D9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r">
                        <a:buNone/>
                      </a:pPr>
                      <a:r>
                        <a:rPr lang="en-US" sz="800" dirty="0">
                          <a:solidFill>
                            <a:srgbClr val="6B728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91,255</a:t>
                      </a:r>
                      <a:endParaRPr lang="en-US" sz="8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E2E7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7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7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7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9D9D9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r">
                        <a:buNone/>
                      </a:pPr>
                      <a:r>
                        <a:rPr lang="en-US" sz="800" dirty="0">
                          <a:solidFill>
                            <a:srgbClr val="6B728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230,497</a:t>
                      </a:r>
                      <a:endParaRPr lang="en-US" sz="8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E2E7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7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7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7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9D9D9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r">
                        <a:buNone/>
                      </a:pPr>
                      <a:r>
                        <a:rPr lang="en-US" sz="800" b="1" dirty="0">
                          <a:solidFill>
                            <a:srgbClr val="1E2761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427,869</a:t>
                      </a:r>
                      <a:endParaRPr lang="en-US" sz="8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E2E7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7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7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7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9D9D9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  <a:tr h="283464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800" b="1" dirty="0">
                          <a:solidFill>
                            <a:srgbClr val="26292E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2022</a:t>
                      </a:r>
                      <a:endParaRPr lang="en-US" sz="8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E2E7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7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7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7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r">
                        <a:buNone/>
                      </a:pPr>
                      <a:r>
                        <a:rPr lang="en-US" sz="800" dirty="0">
                          <a:solidFill>
                            <a:srgbClr val="26292E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133,903</a:t>
                      </a:r>
                      <a:endParaRPr lang="en-US" sz="8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E2E7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7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7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7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r">
                        <a:buNone/>
                      </a:pPr>
                      <a:r>
                        <a:rPr lang="en-US" sz="800" dirty="0">
                          <a:solidFill>
                            <a:srgbClr val="26292E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152,954</a:t>
                      </a:r>
                      <a:endParaRPr lang="en-US" sz="8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E2E7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7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7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7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r">
                        <a:buNone/>
                      </a:pPr>
                      <a:r>
                        <a:rPr lang="en-US" sz="800" dirty="0">
                          <a:solidFill>
                            <a:srgbClr val="26292E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210,836</a:t>
                      </a:r>
                      <a:endParaRPr lang="en-US" sz="8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E2E7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7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7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7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r">
                        <a:buNone/>
                      </a:pPr>
                      <a:r>
                        <a:rPr lang="en-US" sz="800" dirty="0">
                          <a:solidFill>
                            <a:srgbClr val="26292E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293,350</a:t>
                      </a:r>
                      <a:endParaRPr lang="en-US" sz="8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E2E7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7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7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7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r">
                        <a:buNone/>
                      </a:pPr>
                      <a:r>
                        <a:rPr lang="en-US" sz="800" dirty="0">
                          <a:solidFill>
                            <a:srgbClr val="26292E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521,410</a:t>
                      </a:r>
                      <a:endParaRPr lang="en-US" sz="8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E2E7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7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7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7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r">
                        <a:buNone/>
                      </a:pPr>
                      <a:r>
                        <a:rPr lang="en-US" sz="800" dirty="0">
                          <a:solidFill>
                            <a:srgbClr val="26292E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767,497</a:t>
                      </a:r>
                      <a:endParaRPr lang="en-US" sz="8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E2E7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7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7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7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r">
                        <a:buNone/>
                      </a:pPr>
                      <a:r>
                        <a:rPr lang="en-US" sz="800" dirty="0">
                          <a:solidFill>
                            <a:srgbClr val="26292E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1,124,227</a:t>
                      </a:r>
                      <a:endParaRPr lang="en-US" sz="8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E2E7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7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7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7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r">
                        <a:buNone/>
                      </a:pPr>
                      <a:r>
                        <a:rPr lang="en-US" sz="800" dirty="0">
                          <a:solidFill>
                            <a:srgbClr val="26292E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1,174,743</a:t>
                      </a:r>
                      <a:endParaRPr lang="en-US" sz="8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E2E7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7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7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7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r">
                        <a:buNone/>
                      </a:pPr>
                      <a:r>
                        <a:rPr lang="en-US" sz="800" dirty="0">
                          <a:solidFill>
                            <a:srgbClr val="26292E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1,309,115</a:t>
                      </a:r>
                      <a:endParaRPr lang="en-US" sz="8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E2E7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7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7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7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r">
                        <a:buNone/>
                      </a:pPr>
                      <a:r>
                        <a:rPr lang="en-US" sz="800" dirty="0">
                          <a:solidFill>
                            <a:srgbClr val="26292E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1,475,430</a:t>
                      </a:r>
                      <a:endParaRPr lang="en-US" sz="8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E2E7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7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7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7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r">
                        <a:buNone/>
                      </a:pPr>
                      <a:r>
                        <a:rPr lang="en-US" sz="800" dirty="0">
                          <a:solidFill>
                            <a:srgbClr val="26292E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1,748,366</a:t>
                      </a:r>
                      <a:endParaRPr lang="en-US" sz="8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E2E7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7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7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7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r">
                        <a:buNone/>
                      </a:pPr>
                      <a:r>
                        <a:rPr lang="en-US" sz="800" dirty="0">
                          <a:solidFill>
                            <a:srgbClr val="26292E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2,241,195</a:t>
                      </a:r>
                      <a:endParaRPr lang="en-US" sz="8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E2E7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7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7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7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r">
                        <a:buNone/>
                      </a:pPr>
                      <a:r>
                        <a:rPr lang="en-US" sz="800" b="1" dirty="0">
                          <a:solidFill>
                            <a:srgbClr val="1E2761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11,153,026</a:t>
                      </a:r>
                      <a:endParaRPr lang="en-US" sz="8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E2E7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7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7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7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5"/>
                  </a:ext>
                </a:extLst>
              </a:tr>
              <a:tr h="283464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800" b="1" dirty="0">
                          <a:solidFill>
                            <a:srgbClr val="26292E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2023</a:t>
                      </a:r>
                      <a:endParaRPr lang="en-US" sz="8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E2E7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7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7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7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6FB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r">
                        <a:buNone/>
                      </a:pPr>
                      <a:r>
                        <a:rPr lang="en-US" sz="800" dirty="0">
                          <a:solidFill>
                            <a:srgbClr val="26292E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2,144,948</a:t>
                      </a:r>
                      <a:endParaRPr lang="en-US" sz="8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E2E7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7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7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7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6FB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r">
                        <a:buNone/>
                      </a:pPr>
                      <a:r>
                        <a:rPr lang="en-US" sz="800" dirty="0">
                          <a:solidFill>
                            <a:srgbClr val="26292E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2,113,550</a:t>
                      </a:r>
                      <a:endParaRPr lang="en-US" sz="8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E2E7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7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7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7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6FB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r">
                        <a:buNone/>
                      </a:pPr>
                      <a:r>
                        <a:rPr lang="en-US" sz="800" dirty="0">
                          <a:solidFill>
                            <a:srgbClr val="26292E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2,219,040</a:t>
                      </a:r>
                      <a:endParaRPr lang="en-US" sz="8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E2E7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7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7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7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6FB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r">
                        <a:buNone/>
                      </a:pPr>
                      <a:r>
                        <a:rPr lang="en-US" sz="800" dirty="0">
                          <a:solidFill>
                            <a:srgbClr val="26292E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2,182,100</a:t>
                      </a:r>
                      <a:endParaRPr lang="en-US" sz="8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E2E7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7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7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7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6FB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r">
                        <a:buNone/>
                      </a:pPr>
                      <a:r>
                        <a:rPr lang="en-US" sz="800" dirty="0">
                          <a:solidFill>
                            <a:srgbClr val="26292E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2,013,852</a:t>
                      </a:r>
                      <a:endParaRPr lang="en-US" sz="8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E2E7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7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7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7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6FB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r">
                        <a:buNone/>
                      </a:pPr>
                      <a:r>
                        <a:rPr lang="en-US" sz="800" dirty="0">
                          <a:solidFill>
                            <a:srgbClr val="26292E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2,241,201</a:t>
                      </a:r>
                      <a:endParaRPr lang="en-US" sz="8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E2E7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7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7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7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6FB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r">
                        <a:buNone/>
                      </a:pPr>
                      <a:r>
                        <a:rPr lang="en-US" sz="800" dirty="0">
                          <a:solidFill>
                            <a:srgbClr val="26292E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2,490,643</a:t>
                      </a:r>
                      <a:endParaRPr lang="en-US" sz="8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E2E7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7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7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7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6FB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r">
                        <a:buNone/>
                      </a:pPr>
                      <a:r>
                        <a:rPr lang="en-US" sz="800" dirty="0">
                          <a:solidFill>
                            <a:srgbClr val="26292E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2,468,042</a:t>
                      </a:r>
                      <a:endParaRPr lang="en-US" sz="8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E2E7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7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7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7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6FB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r">
                        <a:buNone/>
                      </a:pPr>
                      <a:r>
                        <a:rPr lang="en-US" sz="800" dirty="0">
                          <a:solidFill>
                            <a:srgbClr val="26292E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2,130,596</a:t>
                      </a:r>
                      <a:endParaRPr lang="en-US" sz="8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E2E7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7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7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7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6FB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r">
                        <a:buNone/>
                      </a:pPr>
                      <a:r>
                        <a:rPr lang="en-US" sz="800" dirty="0">
                          <a:solidFill>
                            <a:srgbClr val="26292E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2,197,017</a:t>
                      </a:r>
                      <a:endParaRPr lang="en-US" sz="8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E2E7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7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7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7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6FB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r">
                        <a:buNone/>
                      </a:pPr>
                      <a:r>
                        <a:rPr lang="en-US" sz="800" dirty="0">
                          <a:solidFill>
                            <a:srgbClr val="26292E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2,637,077</a:t>
                      </a:r>
                      <a:endParaRPr lang="en-US" sz="8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E2E7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7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7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7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6FB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r">
                        <a:buNone/>
                      </a:pPr>
                      <a:r>
                        <a:rPr lang="en-US" sz="800" dirty="0">
                          <a:solidFill>
                            <a:srgbClr val="26292E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3,261,257</a:t>
                      </a:r>
                      <a:endParaRPr lang="en-US" sz="8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E2E7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7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7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7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6FB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r">
                        <a:buNone/>
                      </a:pPr>
                      <a:r>
                        <a:rPr lang="en-US" sz="800" b="1" dirty="0">
                          <a:solidFill>
                            <a:srgbClr val="1E2761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28,099,323</a:t>
                      </a:r>
                      <a:endParaRPr lang="en-US" sz="8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E2E7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7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7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7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6FB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6"/>
                  </a:ext>
                </a:extLst>
              </a:tr>
              <a:tr h="283464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800" b="1" dirty="0">
                          <a:solidFill>
                            <a:srgbClr val="26292E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2024</a:t>
                      </a:r>
                      <a:endParaRPr lang="en-US" sz="8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E2E7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7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7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7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r">
                        <a:buNone/>
                      </a:pPr>
                      <a:r>
                        <a:rPr lang="en-US" sz="800" dirty="0">
                          <a:solidFill>
                            <a:srgbClr val="26292E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3,035,296</a:t>
                      </a:r>
                      <a:endParaRPr lang="en-US" sz="8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E2E7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7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7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7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r">
                        <a:buNone/>
                      </a:pPr>
                      <a:r>
                        <a:rPr lang="en-US" sz="800" dirty="0">
                          <a:solidFill>
                            <a:srgbClr val="26292E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3,352,302</a:t>
                      </a:r>
                      <a:endParaRPr lang="en-US" sz="8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E2E7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7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7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7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r">
                        <a:buNone/>
                      </a:pPr>
                      <a:r>
                        <a:rPr lang="en-US" sz="800" dirty="0">
                          <a:solidFill>
                            <a:srgbClr val="26292E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2,982,721</a:t>
                      </a:r>
                      <a:endParaRPr lang="en-US" sz="8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E2E7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7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7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7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r">
                        <a:buNone/>
                      </a:pPr>
                      <a:r>
                        <a:rPr lang="en-US" sz="800" dirty="0">
                          <a:solidFill>
                            <a:srgbClr val="26292E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2,757,128</a:t>
                      </a:r>
                      <a:endParaRPr lang="en-US" sz="8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E2E7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7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7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7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r">
                        <a:buNone/>
                      </a:pPr>
                      <a:r>
                        <a:rPr lang="en-US" sz="800" dirty="0">
                          <a:solidFill>
                            <a:srgbClr val="26292E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2,633,464</a:t>
                      </a:r>
                      <a:endParaRPr lang="en-US" sz="8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E2E7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7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7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7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r">
                        <a:buNone/>
                      </a:pPr>
                      <a:r>
                        <a:rPr lang="en-US" sz="800" dirty="0">
                          <a:solidFill>
                            <a:srgbClr val="26292E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2,740,372</a:t>
                      </a:r>
                      <a:endParaRPr lang="en-US" sz="8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E2E7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7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7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7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r">
                        <a:buNone/>
                      </a:pPr>
                      <a:r>
                        <a:rPr lang="en-US" sz="800" dirty="0">
                          <a:solidFill>
                            <a:srgbClr val="26292E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3,103,420</a:t>
                      </a:r>
                      <a:endParaRPr lang="en-US" sz="8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E2E7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7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7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7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r">
                        <a:buNone/>
                      </a:pPr>
                      <a:r>
                        <a:rPr lang="en-US" sz="800" dirty="0">
                          <a:solidFill>
                            <a:srgbClr val="26292E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2,963,147</a:t>
                      </a:r>
                      <a:endParaRPr lang="en-US" sz="8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E2E7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7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7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7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r">
                        <a:buNone/>
                      </a:pPr>
                      <a:r>
                        <a:rPr lang="en-US" sz="800" dirty="0">
                          <a:solidFill>
                            <a:srgbClr val="26292E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2,521,005</a:t>
                      </a:r>
                      <a:endParaRPr lang="en-US" sz="8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E2E7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7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7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7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r">
                        <a:buNone/>
                      </a:pPr>
                      <a:r>
                        <a:rPr lang="en-US" sz="800" dirty="0">
                          <a:solidFill>
                            <a:srgbClr val="26292E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2,679,180</a:t>
                      </a:r>
                      <a:endParaRPr lang="en-US" sz="8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E2E7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7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7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7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r">
                        <a:buNone/>
                      </a:pPr>
                      <a:r>
                        <a:rPr lang="en-US" sz="800" dirty="0">
                          <a:solidFill>
                            <a:srgbClr val="26292E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3,150,237</a:t>
                      </a:r>
                      <a:endParaRPr lang="en-US" sz="8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E2E7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7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7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7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r">
                        <a:buNone/>
                      </a:pPr>
                      <a:r>
                        <a:rPr lang="en-US" sz="800" dirty="0">
                          <a:solidFill>
                            <a:srgbClr val="26292E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3,627,442</a:t>
                      </a:r>
                      <a:endParaRPr lang="en-US" sz="8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E2E7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7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7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7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r">
                        <a:buNone/>
                      </a:pPr>
                      <a:r>
                        <a:rPr lang="en-US" sz="800" b="1" dirty="0">
                          <a:solidFill>
                            <a:srgbClr val="1E2761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35,545,714</a:t>
                      </a:r>
                      <a:endParaRPr lang="en-US" sz="8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E2E7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7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7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7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7"/>
                  </a:ext>
                </a:extLst>
              </a:tr>
              <a:tr h="283464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800" b="1" dirty="0">
                          <a:solidFill>
                            <a:srgbClr val="26292E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2025</a:t>
                      </a:r>
                      <a:endParaRPr lang="en-US" sz="8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E2E7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7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7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7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6FB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r">
                        <a:buNone/>
                      </a:pPr>
                      <a:r>
                        <a:rPr lang="en-US" sz="800" dirty="0">
                          <a:solidFill>
                            <a:srgbClr val="26292E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3,709,102</a:t>
                      </a:r>
                      <a:endParaRPr lang="en-US" sz="8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E2E7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7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7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7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6FB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r">
                        <a:buNone/>
                      </a:pPr>
                      <a:r>
                        <a:rPr lang="en-US" sz="800" dirty="0">
                          <a:solidFill>
                            <a:srgbClr val="26292E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3,119,445</a:t>
                      </a:r>
                      <a:endParaRPr lang="en-US" sz="8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E2E7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7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7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7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6FB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r">
                        <a:buNone/>
                      </a:pPr>
                      <a:r>
                        <a:rPr lang="en-US" sz="800" dirty="0">
                          <a:solidFill>
                            <a:srgbClr val="26292E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2,720,457</a:t>
                      </a:r>
                      <a:endParaRPr lang="en-US" sz="8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E2E7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7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7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7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6FB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r">
                        <a:buNone/>
                      </a:pPr>
                      <a:r>
                        <a:rPr lang="en-US" sz="800" dirty="0">
                          <a:solidFill>
                            <a:srgbClr val="26292E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2,547,116</a:t>
                      </a:r>
                      <a:endParaRPr lang="en-US" sz="8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E2E7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7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7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7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6FB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r">
                        <a:buNone/>
                      </a:pPr>
                      <a:r>
                        <a:rPr lang="en-US" sz="800" dirty="0">
                          <a:solidFill>
                            <a:srgbClr val="26292E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2,266,574</a:t>
                      </a:r>
                      <a:endParaRPr lang="en-US" sz="8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E2E7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7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7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7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6FB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r">
                        <a:buNone/>
                      </a:pPr>
                      <a:r>
                        <a:rPr lang="en-US" sz="800" dirty="0">
                          <a:solidFill>
                            <a:srgbClr val="26292E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2,322,775</a:t>
                      </a:r>
                      <a:endParaRPr lang="en-US" sz="8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E2E7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7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7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7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6FB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r">
                        <a:buNone/>
                      </a:pPr>
                      <a:r>
                        <a:rPr lang="en-US" sz="800" dirty="0">
                          <a:solidFill>
                            <a:srgbClr val="26292E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2,610,369</a:t>
                      </a:r>
                      <a:endParaRPr lang="en-US" sz="8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E2E7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7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7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7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6FB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r">
                        <a:buNone/>
                      </a:pPr>
                      <a:r>
                        <a:rPr lang="en-US" sz="800" dirty="0">
                          <a:solidFill>
                            <a:srgbClr val="26292E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2,583,638</a:t>
                      </a:r>
                      <a:endParaRPr lang="en-US" sz="8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E2E7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7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7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7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6FB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r">
                        <a:buNone/>
                      </a:pPr>
                      <a:r>
                        <a:rPr lang="en-US" sz="800" dirty="0">
                          <a:solidFill>
                            <a:srgbClr val="26292E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2,235,852</a:t>
                      </a:r>
                      <a:endParaRPr lang="en-US" sz="8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E2E7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7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7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7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6FB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r">
                        <a:buNone/>
                      </a:pPr>
                      <a:r>
                        <a:rPr lang="en-US" sz="800" dirty="0">
                          <a:solidFill>
                            <a:srgbClr val="26292E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2,573,743</a:t>
                      </a:r>
                      <a:endParaRPr lang="en-US" sz="8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E2E7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7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7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7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6FB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r">
                        <a:buNone/>
                      </a:pPr>
                      <a:r>
                        <a:rPr lang="en-US" sz="800" dirty="0">
                          <a:solidFill>
                            <a:srgbClr val="26292E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2,914,810</a:t>
                      </a:r>
                      <a:endParaRPr lang="en-US" sz="8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E2E7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7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7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7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6FB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r">
                        <a:buNone/>
                      </a:pPr>
                      <a:r>
                        <a:rPr lang="en-US" sz="800" dirty="0">
                          <a:solidFill>
                            <a:srgbClr val="26292E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3,370,440</a:t>
                      </a:r>
                      <a:endParaRPr lang="en-US" sz="8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E2E7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7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7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7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6FB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r">
                        <a:buNone/>
                      </a:pPr>
                      <a:r>
                        <a:rPr lang="en-US" sz="800" b="1" dirty="0">
                          <a:solidFill>
                            <a:srgbClr val="1E2761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32,974,321</a:t>
                      </a:r>
                      <a:endParaRPr lang="en-US" sz="8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E2E7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7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7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7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6FB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8"/>
                  </a:ext>
                </a:extLst>
              </a:tr>
              <a:tr h="283464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800" b="1" dirty="0">
                          <a:solidFill>
                            <a:srgbClr val="26292E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2026</a:t>
                      </a:r>
                      <a:endParaRPr lang="en-US" sz="8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E2E7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7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7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7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r">
                        <a:buNone/>
                      </a:pPr>
                      <a:r>
                        <a:rPr lang="en-US" sz="800" dirty="0">
                          <a:solidFill>
                            <a:srgbClr val="26292E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3,277,908</a:t>
                      </a:r>
                      <a:endParaRPr lang="en-US" sz="8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E2E7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7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7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7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r">
                        <a:buNone/>
                      </a:pPr>
                      <a:r>
                        <a:rPr lang="en-US" sz="800" dirty="0">
                          <a:solidFill>
                            <a:srgbClr val="26292E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3,263,802</a:t>
                      </a:r>
                      <a:endParaRPr lang="en-US" sz="8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E2E7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7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7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7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r">
                        <a:buNone/>
                      </a:pPr>
                      <a:r>
                        <a:rPr lang="en-US" sz="800" dirty="0">
                          <a:solidFill>
                            <a:srgbClr val="26292E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2,775,199</a:t>
                      </a:r>
                      <a:endParaRPr lang="en-US" sz="8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E2E7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7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7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7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r">
                        <a:buNone/>
                      </a:pPr>
                      <a:r>
                        <a:rPr lang="en-US" sz="800" dirty="0">
                          <a:solidFill>
                            <a:srgbClr val="26292E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2,368,895</a:t>
                      </a:r>
                      <a:endParaRPr lang="en-US" sz="8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E2E7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7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7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7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r">
                        <a:buNone/>
                      </a:pPr>
                      <a:r>
                        <a:rPr lang="en-US" sz="800" dirty="0">
                          <a:solidFill>
                            <a:srgbClr val="26292E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2,346,845</a:t>
                      </a:r>
                      <a:endParaRPr lang="en-US" sz="8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E2E7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7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7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7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r">
                        <a:buNone/>
                      </a:pPr>
                      <a:r>
                        <a:rPr lang="en-US" sz="800" dirty="0">
                          <a:solidFill>
                            <a:srgbClr val="26292E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1,841,551</a:t>
                      </a:r>
                      <a:endParaRPr lang="en-US" sz="8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E2E7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7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7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7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r">
                        <a:buNone/>
                      </a:pPr>
                      <a:r>
                        <a:rPr lang="en-US" sz="800" dirty="0">
                          <a:solidFill>
                            <a:srgbClr val="26292E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—</a:t>
                      </a:r>
                      <a:endParaRPr lang="en-US" sz="8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E2E7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7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7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7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r">
                        <a:buNone/>
                      </a:pPr>
                      <a:r>
                        <a:rPr lang="en-US" sz="800" dirty="0">
                          <a:solidFill>
                            <a:srgbClr val="26292E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—</a:t>
                      </a:r>
                      <a:endParaRPr lang="en-US" sz="8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E2E7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7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7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7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r">
                        <a:buNone/>
                      </a:pPr>
                      <a:r>
                        <a:rPr lang="en-US" sz="800" dirty="0">
                          <a:solidFill>
                            <a:srgbClr val="26292E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—</a:t>
                      </a:r>
                      <a:endParaRPr lang="en-US" sz="8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E2E7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7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7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7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r">
                        <a:buNone/>
                      </a:pPr>
                      <a:r>
                        <a:rPr lang="en-US" sz="800" dirty="0">
                          <a:solidFill>
                            <a:srgbClr val="26292E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—</a:t>
                      </a:r>
                      <a:endParaRPr lang="en-US" sz="8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E2E7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7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7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7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r">
                        <a:buNone/>
                      </a:pPr>
                      <a:r>
                        <a:rPr lang="en-US" sz="800" dirty="0">
                          <a:solidFill>
                            <a:srgbClr val="26292E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—</a:t>
                      </a:r>
                      <a:endParaRPr lang="en-US" sz="8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E2E7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7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7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7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r">
                        <a:buNone/>
                      </a:pPr>
                      <a:r>
                        <a:rPr lang="en-US" sz="800" dirty="0">
                          <a:solidFill>
                            <a:srgbClr val="26292E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—</a:t>
                      </a:r>
                      <a:endParaRPr lang="en-US" sz="8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E2E7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7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7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7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r">
                        <a:buNone/>
                      </a:pPr>
                      <a:r>
                        <a:rPr lang="en-US" sz="800" b="1" dirty="0">
                          <a:solidFill>
                            <a:srgbClr val="1E2761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14,032,649</a:t>
                      </a:r>
                      <a:endParaRPr lang="en-US" sz="8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E2E7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7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7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7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9"/>
                  </a:ext>
                </a:extLst>
              </a:tr>
              <a:tr h="283464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800" b="1" dirty="0">
                          <a:solidFill>
                            <a:srgbClr val="6B728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26 vs 25</a:t>
                      </a:r>
                      <a:endParaRPr lang="en-US" sz="8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E2E7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7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7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7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r">
                        <a:buNone/>
                      </a:pPr>
                      <a:r>
                        <a:rPr lang="en-US" sz="800" dirty="0">
                          <a:solidFill>
                            <a:srgbClr val="C0392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-12%</a:t>
                      </a:r>
                      <a:endParaRPr lang="en-US" sz="8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E2E7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7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7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7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r">
                        <a:buNone/>
                      </a:pPr>
                      <a:r>
                        <a:rPr lang="en-US" sz="800" dirty="0">
                          <a:solidFill>
                            <a:srgbClr val="2E7D32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+5%</a:t>
                      </a:r>
                      <a:endParaRPr lang="en-US" sz="8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E2E7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7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7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7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r">
                        <a:buNone/>
                      </a:pPr>
                      <a:r>
                        <a:rPr lang="en-US" sz="800" dirty="0">
                          <a:solidFill>
                            <a:srgbClr val="2E7D32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+2%</a:t>
                      </a:r>
                      <a:endParaRPr lang="en-US" sz="8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E2E7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7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7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7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r">
                        <a:buNone/>
                      </a:pPr>
                      <a:r>
                        <a:rPr lang="en-US" sz="800" dirty="0">
                          <a:solidFill>
                            <a:srgbClr val="C0392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-7%</a:t>
                      </a:r>
                      <a:endParaRPr lang="en-US" sz="8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E2E7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7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7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7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r">
                        <a:buNone/>
                      </a:pPr>
                      <a:r>
                        <a:rPr lang="en-US" sz="800" dirty="0">
                          <a:solidFill>
                            <a:srgbClr val="2E7D32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+4%</a:t>
                      </a:r>
                      <a:endParaRPr lang="en-US" sz="8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E2E7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7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7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7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r">
                        <a:buNone/>
                      </a:pPr>
                      <a:r>
                        <a:rPr lang="en-US" sz="800" dirty="0">
                          <a:solidFill>
                            <a:srgbClr val="C0392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-21%</a:t>
                      </a:r>
                      <a:endParaRPr lang="en-US" sz="8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E2E7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7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7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7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r">
                        <a:buNone/>
                      </a:pPr>
                      <a:r>
                        <a:rPr lang="en-US" sz="800" dirty="0">
                          <a:solidFill>
                            <a:srgbClr val="6B728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—</a:t>
                      </a:r>
                      <a:endParaRPr lang="en-US" sz="8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E2E7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7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7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7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r">
                        <a:buNone/>
                      </a:pPr>
                      <a:r>
                        <a:rPr lang="en-US" sz="800" dirty="0">
                          <a:solidFill>
                            <a:srgbClr val="6B728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—</a:t>
                      </a:r>
                      <a:endParaRPr lang="en-US" sz="8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E2E7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7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7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7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r">
                        <a:buNone/>
                      </a:pPr>
                      <a:r>
                        <a:rPr lang="en-US" sz="800" dirty="0">
                          <a:solidFill>
                            <a:srgbClr val="6B728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—</a:t>
                      </a:r>
                      <a:endParaRPr lang="en-US" sz="8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E2E7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7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7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7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r">
                        <a:buNone/>
                      </a:pPr>
                      <a:r>
                        <a:rPr lang="en-US" sz="800" dirty="0">
                          <a:solidFill>
                            <a:srgbClr val="6B728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—</a:t>
                      </a:r>
                      <a:endParaRPr lang="en-US" sz="8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E2E7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7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7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7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r">
                        <a:buNone/>
                      </a:pPr>
                      <a:r>
                        <a:rPr lang="en-US" sz="800" dirty="0">
                          <a:solidFill>
                            <a:srgbClr val="6B728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—</a:t>
                      </a:r>
                      <a:endParaRPr lang="en-US" sz="8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E2E7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7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7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7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r">
                        <a:buNone/>
                      </a:pPr>
                      <a:r>
                        <a:rPr lang="en-US" sz="800" dirty="0">
                          <a:solidFill>
                            <a:srgbClr val="6B728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—</a:t>
                      </a:r>
                      <a:endParaRPr lang="en-US" sz="8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E2E7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7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7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7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r">
                        <a:buNone/>
                      </a:pPr>
                      <a:r>
                        <a:rPr lang="en-US" sz="800" b="1" dirty="0">
                          <a:solidFill>
                            <a:srgbClr val="C0392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-4.9%</a:t>
                      </a:r>
                      <a:endParaRPr lang="en-US" sz="8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E2E7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7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7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7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10"/>
                  </a:ext>
                </a:extLst>
              </a:tr>
            </a:tbl>
          </a:graphicData>
        </a:graphic>
      </p:graphicFrame>
      <p:sp>
        <p:nvSpPr>
          <p:cNvPr id="7" name="Text 4"/>
          <p:cNvSpPr/>
          <p:nvPr/>
        </p:nvSpPr>
        <p:spPr>
          <a:xfrm>
            <a:off x="548640" y="5166360"/>
            <a:ext cx="10881360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50" i="1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2026 total = Jan–Jun (June preliminary — 4 days missing). ‘26 vs 25’ row compares each month; the Total cell compares Jan–Jun of both years. 2019 total highlighted = pre-COVID peak; 2020–2021 grayed = COVID years.</a:t>
            </a:r>
            <a:endParaRPr lang="en-US" sz="105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292608"/>
            <a:ext cx="8229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b="1" kern="0" spc="200" dirty="0">
                <a:solidFill>
                  <a:srgbClr val="D9A44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SECTION 1 · TOURIST ARRIVALS</a:t>
            </a:r>
            <a:endParaRPr lang="en-US" sz="1100" dirty="0"/>
          </a:p>
        </p:txBody>
      </p:sp>
      <p:sp>
        <p:nvSpPr>
          <p:cNvPr id="3" name="Text 1"/>
          <p:cNvSpPr/>
          <p:nvPr/>
        </p:nvSpPr>
        <p:spPr>
          <a:xfrm>
            <a:off x="548640" y="502920"/>
            <a:ext cx="11091672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800" b="1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Chinese arrivals</a:t>
            </a:r>
            <a:endParaRPr lang="en-US" sz="2800" dirty="0"/>
          </a:p>
        </p:txBody>
      </p:sp>
      <p:sp>
        <p:nvSpPr>
          <p:cNvPr id="4" name="Text 2"/>
          <p:cNvSpPr/>
          <p:nvPr/>
        </p:nvSpPr>
        <p:spPr>
          <a:xfrm>
            <a:off x="548640" y="1060704"/>
            <a:ext cx="11091672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5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Jan–Jun by year — 2019 shown as pre-COVID reference</a:t>
            </a:r>
            <a:endParaRPr lang="en-US" sz="1250" dirty="0"/>
          </a:p>
        </p:txBody>
      </p:sp>
      <p:sp>
        <p:nvSpPr>
          <p:cNvPr id="5" name="Text 3"/>
          <p:cNvSpPr/>
          <p:nvPr/>
        </p:nvSpPr>
        <p:spPr>
          <a:xfrm>
            <a:off x="8165592" y="310896"/>
            <a:ext cx="34747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90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Mitsui Thailand Portfolio · H1 2026</a:t>
            </a:r>
            <a:endParaRPr lang="en-US" sz="900" dirty="0"/>
          </a:p>
        </p:txBody>
      </p:sp>
      <p:graphicFrame>
        <p:nvGraphicFramePr>
          <p:cNvPr id="6" name="Chart 0"/>
          <p:cNvGraphicFramePr/>
          <p:nvPr/>
        </p:nvGraphicFramePr>
        <p:xfrm>
          <a:off x="548640" y="1600200"/>
          <a:ext cx="7498080" cy="3063240"/>
        </p:xfrm>
        <a:graphic>
          <a:graphicData uri="http://schemas.openxmlformats.org/drawingml/2006/chart">
            <c:chart xmlns:c="http://schemas.openxmlformats.org/drawingml/2006/chart" xmlns:r="http://schemas.openxmlformats.org/officeDocument/2006/relationships" r:id="rId3"/>
          </a:graphicData>
        </a:graphic>
      </p:graphicFrame>
      <p:graphicFrame>
        <p:nvGraphicFramePr>
          <p:cNvPr id="7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548640" y="4773168"/>
          <a:ext cx="7498080" cy="1426464"/>
        </p:xfrm>
        <a:graphic>
          <a:graphicData uri="http://schemas.openxmlformats.org/drawingml/2006/table">
            <a:tbl>
              <a:tblPr/>
              <a:tblGrid>
                <a:gridCol w="91440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92964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929640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929640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  <a:gridCol w="929640">
                  <a:extLst>
                    <a:ext uri="{9D8B030D-6E8A-4147-A177-3AD203B41FA5}">
                      <a16:colId xmlns:a16="http://schemas.microsoft.com/office/drawing/2014/main" val="20004"/>
                    </a:ext>
                  </a:extLst>
                </a:gridCol>
                <a:gridCol w="929640">
                  <a:extLst>
                    <a:ext uri="{9D8B030D-6E8A-4147-A177-3AD203B41FA5}">
                      <a16:colId xmlns:a16="http://schemas.microsoft.com/office/drawing/2014/main" val="20005"/>
                    </a:ext>
                  </a:extLst>
                </a:gridCol>
                <a:gridCol w="929640">
                  <a:extLst>
                    <a:ext uri="{9D8B030D-6E8A-4147-A177-3AD203B41FA5}">
                      <a16:colId xmlns:a16="http://schemas.microsoft.com/office/drawing/2014/main" val="20006"/>
                    </a:ext>
                  </a:extLst>
                </a:gridCol>
                <a:gridCol w="1005840">
                  <a:extLst>
                    <a:ext uri="{9D8B030D-6E8A-4147-A177-3AD203B41FA5}">
                      <a16:colId xmlns:a16="http://schemas.microsoft.com/office/drawing/2014/main" val="20007"/>
                    </a:ext>
                  </a:extLst>
                </a:gridCol>
              </a:tblGrid>
              <a:tr h="237744"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endParaRPr lang="en-US" sz="9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E2E7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7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7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7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E2761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95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Jan</a:t>
                      </a:r>
                      <a:endParaRPr lang="en-US" sz="9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E2E7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7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7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7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E2761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95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Feb</a:t>
                      </a:r>
                      <a:endParaRPr lang="en-US" sz="9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E2E7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7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7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7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E2761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95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Mar</a:t>
                      </a:r>
                      <a:endParaRPr lang="en-US" sz="9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E2E7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7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7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7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E2761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95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Apr</a:t>
                      </a:r>
                      <a:endParaRPr lang="en-US" sz="9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E2E7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7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7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7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E2761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95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May</a:t>
                      </a:r>
                      <a:endParaRPr lang="en-US" sz="9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E2E7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7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7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7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E2761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95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Jun</a:t>
                      </a:r>
                      <a:endParaRPr lang="en-US" sz="9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E2E7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7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7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7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E2761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95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YTD</a:t>
                      </a:r>
                      <a:endParaRPr lang="en-US" sz="9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E2E7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7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7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7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E276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237744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950" b="1" dirty="0">
                          <a:solidFill>
                            <a:srgbClr val="26292E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2019</a:t>
                      </a:r>
                      <a:endParaRPr lang="en-US" sz="9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E2E7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7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7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7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r">
                        <a:buNone/>
                      </a:pPr>
                      <a:r>
                        <a:rPr lang="en-US" sz="950" dirty="0">
                          <a:solidFill>
                            <a:srgbClr val="26292E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1,069,787</a:t>
                      </a:r>
                      <a:endParaRPr lang="en-US" sz="9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E2E7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7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7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7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r">
                        <a:buNone/>
                      </a:pPr>
                      <a:r>
                        <a:rPr lang="en-US" sz="950" dirty="0">
                          <a:solidFill>
                            <a:srgbClr val="26292E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1,064,806</a:t>
                      </a:r>
                      <a:endParaRPr lang="en-US" sz="9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E2E7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7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7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7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r">
                        <a:buNone/>
                      </a:pPr>
                      <a:r>
                        <a:rPr lang="en-US" sz="950" dirty="0">
                          <a:solidFill>
                            <a:srgbClr val="26292E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985,232</a:t>
                      </a:r>
                      <a:endParaRPr lang="en-US" sz="9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E2E7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7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7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7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r">
                        <a:buNone/>
                      </a:pPr>
                      <a:r>
                        <a:rPr lang="en-US" sz="950" dirty="0">
                          <a:solidFill>
                            <a:srgbClr val="26292E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898,994</a:t>
                      </a:r>
                      <a:endParaRPr lang="en-US" sz="9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E2E7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7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7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7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r">
                        <a:buNone/>
                      </a:pPr>
                      <a:r>
                        <a:rPr lang="en-US" sz="950" dirty="0">
                          <a:solidFill>
                            <a:srgbClr val="26292E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794,913</a:t>
                      </a:r>
                      <a:endParaRPr lang="en-US" sz="9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E2E7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7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7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7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r">
                        <a:buNone/>
                      </a:pPr>
                      <a:r>
                        <a:rPr lang="en-US" sz="950" dirty="0">
                          <a:solidFill>
                            <a:srgbClr val="26292E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894,105</a:t>
                      </a:r>
                      <a:endParaRPr lang="en-US" sz="9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E2E7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7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7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7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r">
                        <a:buNone/>
                      </a:pPr>
                      <a:r>
                        <a:rPr lang="en-US" sz="950" b="1" dirty="0">
                          <a:solidFill>
                            <a:srgbClr val="1E2761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5,707,837</a:t>
                      </a:r>
                      <a:endParaRPr lang="en-US" sz="9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E2E7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7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7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7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237744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950" b="1" dirty="0">
                          <a:solidFill>
                            <a:srgbClr val="26292E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2024</a:t>
                      </a:r>
                      <a:endParaRPr lang="en-US" sz="9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E2E7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7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7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7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6FB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r">
                        <a:buNone/>
                      </a:pPr>
                      <a:r>
                        <a:rPr lang="en-US" sz="950" dirty="0">
                          <a:solidFill>
                            <a:srgbClr val="26292E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508,563</a:t>
                      </a:r>
                      <a:endParaRPr lang="en-US" sz="9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E2E7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7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7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7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6FB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r">
                        <a:buNone/>
                      </a:pPr>
                      <a:r>
                        <a:rPr lang="en-US" sz="950" dirty="0">
                          <a:solidFill>
                            <a:srgbClr val="26292E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674,558</a:t>
                      </a:r>
                      <a:endParaRPr lang="en-US" sz="9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E2E7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7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7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7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6FB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r">
                        <a:buNone/>
                      </a:pPr>
                      <a:r>
                        <a:rPr lang="en-US" sz="950" dirty="0">
                          <a:solidFill>
                            <a:srgbClr val="26292E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573,216</a:t>
                      </a:r>
                      <a:endParaRPr lang="en-US" sz="9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E2E7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7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7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7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6FB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r">
                        <a:buNone/>
                      </a:pPr>
                      <a:r>
                        <a:rPr lang="en-US" sz="950" dirty="0">
                          <a:solidFill>
                            <a:srgbClr val="26292E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595,572</a:t>
                      </a:r>
                      <a:endParaRPr lang="en-US" sz="9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E2E7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7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7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7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6FB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r">
                        <a:buNone/>
                      </a:pPr>
                      <a:r>
                        <a:rPr lang="en-US" sz="950" dirty="0">
                          <a:solidFill>
                            <a:srgbClr val="26292E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559,461</a:t>
                      </a:r>
                      <a:endParaRPr lang="en-US" sz="9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E2E7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7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7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7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6FB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r">
                        <a:buNone/>
                      </a:pPr>
                      <a:r>
                        <a:rPr lang="en-US" sz="950" dirty="0">
                          <a:solidFill>
                            <a:srgbClr val="26292E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528,112</a:t>
                      </a:r>
                      <a:endParaRPr lang="en-US" sz="9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E2E7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7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7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7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6FB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r">
                        <a:buNone/>
                      </a:pPr>
                      <a:r>
                        <a:rPr lang="en-US" sz="950" b="1" dirty="0">
                          <a:solidFill>
                            <a:srgbClr val="1E2761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3,439,482</a:t>
                      </a:r>
                      <a:endParaRPr lang="en-US" sz="9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E2E7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7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7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7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6FB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237744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950" b="1" dirty="0">
                          <a:solidFill>
                            <a:srgbClr val="26292E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2025</a:t>
                      </a:r>
                      <a:endParaRPr lang="en-US" sz="9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E2E7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7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7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7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r">
                        <a:buNone/>
                      </a:pPr>
                      <a:r>
                        <a:rPr lang="en-US" sz="950" dirty="0">
                          <a:solidFill>
                            <a:srgbClr val="26292E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662,779</a:t>
                      </a:r>
                      <a:endParaRPr lang="en-US" sz="9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E2E7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7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7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7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r">
                        <a:buNone/>
                      </a:pPr>
                      <a:r>
                        <a:rPr lang="en-US" sz="950" dirty="0">
                          <a:solidFill>
                            <a:srgbClr val="26292E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371,542</a:t>
                      </a:r>
                      <a:endParaRPr lang="en-US" sz="9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E2E7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7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7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7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r">
                        <a:buNone/>
                      </a:pPr>
                      <a:r>
                        <a:rPr lang="en-US" sz="950" dirty="0">
                          <a:solidFill>
                            <a:srgbClr val="26292E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297,113</a:t>
                      </a:r>
                      <a:endParaRPr lang="en-US" sz="9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E2E7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7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7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7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r">
                        <a:buNone/>
                      </a:pPr>
                      <a:r>
                        <a:rPr lang="en-US" sz="950" dirty="0">
                          <a:solidFill>
                            <a:srgbClr val="26292E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317,213</a:t>
                      </a:r>
                      <a:endParaRPr lang="en-US" sz="9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E2E7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7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7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7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r">
                        <a:buNone/>
                      </a:pPr>
                      <a:r>
                        <a:rPr lang="en-US" sz="950" dirty="0">
                          <a:solidFill>
                            <a:srgbClr val="26292E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310,292</a:t>
                      </a:r>
                      <a:endParaRPr lang="en-US" sz="9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E2E7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7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7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7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r">
                        <a:buNone/>
                      </a:pPr>
                      <a:r>
                        <a:rPr lang="en-US" sz="950" dirty="0">
                          <a:solidFill>
                            <a:srgbClr val="26292E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306,617</a:t>
                      </a:r>
                      <a:endParaRPr lang="en-US" sz="9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E2E7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7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7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7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r">
                        <a:buNone/>
                      </a:pPr>
                      <a:r>
                        <a:rPr lang="en-US" sz="950" b="1" dirty="0">
                          <a:solidFill>
                            <a:srgbClr val="1E2761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2,265,556</a:t>
                      </a:r>
                      <a:endParaRPr lang="en-US" sz="9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E2E7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7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7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7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237744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950" b="1" dirty="0">
                          <a:solidFill>
                            <a:srgbClr val="26292E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2026</a:t>
                      </a:r>
                      <a:endParaRPr lang="en-US" sz="9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E2E7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7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7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7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6FB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r">
                        <a:buNone/>
                      </a:pPr>
                      <a:r>
                        <a:rPr lang="en-US" sz="950" dirty="0">
                          <a:solidFill>
                            <a:srgbClr val="26292E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400,321</a:t>
                      </a:r>
                      <a:endParaRPr lang="en-US" sz="9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E2E7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7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7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7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6FB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r">
                        <a:buNone/>
                      </a:pPr>
                      <a:r>
                        <a:rPr lang="en-US" sz="950" dirty="0">
                          <a:solidFill>
                            <a:srgbClr val="26292E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677,768</a:t>
                      </a:r>
                      <a:endParaRPr lang="en-US" sz="9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E2E7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7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7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7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6FB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r">
                        <a:buNone/>
                      </a:pPr>
                      <a:r>
                        <a:rPr lang="en-US" sz="950" dirty="0">
                          <a:solidFill>
                            <a:srgbClr val="26292E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410,624</a:t>
                      </a:r>
                      <a:endParaRPr lang="en-US" sz="9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E2E7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7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7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7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6FB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r">
                        <a:buNone/>
                      </a:pPr>
                      <a:r>
                        <a:rPr lang="en-US" sz="950" dirty="0">
                          <a:solidFill>
                            <a:srgbClr val="26292E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418,291</a:t>
                      </a:r>
                      <a:endParaRPr lang="en-US" sz="9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E2E7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7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7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7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6FB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r">
                        <a:buNone/>
                      </a:pPr>
                      <a:r>
                        <a:rPr lang="en-US" sz="950" dirty="0">
                          <a:solidFill>
                            <a:srgbClr val="26292E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411,308</a:t>
                      </a:r>
                      <a:endParaRPr lang="en-US" sz="9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E2E7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7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7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7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6FB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r">
                        <a:buNone/>
                      </a:pPr>
                      <a:r>
                        <a:rPr lang="en-US" sz="950" dirty="0">
                          <a:solidFill>
                            <a:srgbClr val="26292E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283,297</a:t>
                      </a:r>
                      <a:endParaRPr lang="en-US" sz="9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E2E7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7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7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7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6FB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r">
                        <a:buNone/>
                      </a:pPr>
                      <a:r>
                        <a:rPr lang="en-US" sz="950" b="1" dirty="0">
                          <a:solidFill>
                            <a:srgbClr val="1E2761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2,601,609</a:t>
                      </a:r>
                      <a:endParaRPr lang="en-US" sz="9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E2E7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7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7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7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6FB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  <a:tr h="237744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950" b="1" dirty="0">
                          <a:solidFill>
                            <a:srgbClr val="6B728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26 vs 25</a:t>
                      </a:r>
                      <a:endParaRPr lang="en-US" sz="9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E2E7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7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7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7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r">
                        <a:buNone/>
                      </a:pPr>
                      <a:r>
                        <a:rPr lang="en-US" sz="950" dirty="0">
                          <a:solidFill>
                            <a:srgbClr val="C0392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-40%</a:t>
                      </a:r>
                      <a:endParaRPr lang="en-US" sz="9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E2E7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7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7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7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r">
                        <a:buNone/>
                      </a:pPr>
                      <a:r>
                        <a:rPr lang="en-US" sz="950" dirty="0">
                          <a:solidFill>
                            <a:srgbClr val="2E7D32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+82%</a:t>
                      </a:r>
                      <a:endParaRPr lang="en-US" sz="9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E2E7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7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7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7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r">
                        <a:buNone/>
                      </a:pPr>
                      <a:r>
                        <a:rPr lang="en-US" sz="950" dirty="0">
                          <a:solidFill>
                            <a:srgbClr val="2E7D32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+38%</a:t>
                      </a:r>
                      <a:endParaRPr lang="en-US" sz="9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E2E7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7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7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7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r">
                        <a:buNone/>
                      </a:pPr>
                      <a:r>
                        <a:rPr lang="en-US" sz="950" dirty="0">
                          <a:solidFill>
                            <a:srgbClr val="2E7D32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+32%</a:t>
                      </a:r>
                      <a:endParaRPr lang="en-US" sz="9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E2E7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7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7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7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r">
                        <a:buNone/>
                      </a:pPr>
                      <a:r>
                        <a:rPr lang="en-US" sz="950" dirty="0">
                          <a:solidFill>
                            <a:srgbClr val="2E7D32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+33%</a:t>
                      </a:r>
                      <a:endParaRPr lang="en-US" sz="9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E2E7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7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7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7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r">
                        <a:buNone/>
                      </a:pPr>
                      <a:r>
                        <a:rPr lang="en-US" sz="950" dirty="0">
                          <a:solidFill>
                            <a:srgbClr val="C0392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-8%</a:t>
                      </a:r>
                      <a:endParaRPr lang="en-US" sz="9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E2E7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7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7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7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r">
                        <a:buNone/>
                      </a:pPr>
                      <a:r>
                        <a:rPr lang="en-US" sz="950" b="1" dirty="0">
                          <a:solidFill>
                            <a:srgbClr val="2E7D32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+14.8%</a:t>
                      </a:r>
                      <a:endParaRPr lang="en-US" sz="9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E2E7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7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7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7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5"/>
                  </a:ext>
                </a:extLst>
              </a:tr>
            </a:tbl>
          </a:graphicData>
        </a:graphic>
      </p:graphicFrame>
      <p:sp>
        <p:nvSpPr>
          <p:cNvPr id="8" name="Shape 4"/>
          <p:cNvSpPr/>
          <p:nvPr/>
        </p:nvSpPr>
        <p:spPr>
          <a:xfrm>
            <a:off x="8366760" y="1691640"/>
            <a:ext cx="3246120" cy="1207008"/>
          </a:xfrm>
          <a:prstGeom prst="roundRect">
            <a:avLst>
              <a:gd name="adj" fmla="val 4545"/>
            </a:avLst>
          </a:prstGeom>
          <a:solidFill>
            <a:srgbClr val="F4F6FB"/>
          </a:solidFill>
          <a:ln w="9525">
            <a:solidFill>
              <a:srgbClr val="E2E7F2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9" name="Text 5"/>
          <p:cNvSpPr/>
          <p:nvPr/>
        </p:nvSpPr>
        <p:spPr>
          <a:xfrm>
            <a:off x="8513064" y="1783080"/>
            <a:ext cx="2953512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50" b="1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YTD JAN–JUN 2026</a:t>
            </a:r>
            <a:endParaRPr lang="en-US" sz="1050" dirty="0"/>
          </a:p>
        </p:txBody>
      </p:sp>
      <p:sp>
        <p:nvSpPr>
          <p:cNvPr id="10" name="Text 6"/>
          <p:cNvSpPr/>
          <p:nvPr/>
        </p:nvSpPr>
        <p:spPr>
          <a:xfrm>
            <a:off x="8513064" y="2002536"/>
            <a:ext cx="2953512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400" b="1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2.60M</a:t>
            </a:r>
            <a:endParaRPr lang="en-US" sz="2400" dirty="0"/>
          </a:p>
        </p:txBody>
      </p:sp>
      <p:sp>
        <p:nvSpPr>
          <p:cNvPr id="11" name="Text 7"/>
          <p:cNvSpPr/>
          <p:nvPr/>
        </p:nvSpPr>
        <p:spPr>
          <a:xfrm>
            <a:off x="8513064" y="2459736"/>
            <a:ext cx="2953512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50" dirty="0">
                <a:solidFill>
                  <a:srgbClr val="2E7D3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+14.8% vs 2025</a:t>
            </a:r>
            <a:endParaRPr lang="en-US" sz="1050" dirty="0"/>
          </a:p>
        </p:txBody>
      </p:sp>
      <p:sp>
        <p:nvSpPr>
          <p:cNvPr id="12" name="Shape 8"/>
          <p:cNvSpPr/>
          <p:nvPr/>
        </p:nvSpPr>
        <p:spPr>
          <a:xfrm>
            <a:off x="8366760" y="3044952"/>
            <a:ext cx="3246120" cy="1207008"/>
          </a:xfrm>
          <a:prstGeom prst="roundRect">
            <a:avLst>
              <a:gd name="adj" fmla="val 4545"/>
            </a:avLst>
          </a:prstGeom>
          <a:solidFill>
            <a:srgbClr val="F4F6FB"/>
          </a:solidFill>
          <a:ln w="9525">
            <a:solidFill>
              <a:srgbClr val="E2E7F2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3" name="Text 9"/>
          <p:cNvSpPr/>
          <p:nvPr/>
        </p:nvSpPr>
        <p:spPr>
          <a:xfrm>
            <a:off x="8513064" y="3136392"/>
            <a:ext cx="2953512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50" b="1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VS 2019 LEVEL</a:t>
            </a:r>
            <a:endParaRPr lang="en-US" sz="1050" dirty="0"/>
          </a:p>
        </p:txBody>
      </p:sp>
      <p:sp>
        <p:nvSpPr>
          <p:cNvPr id="14" name="Text 10"/>
          <p:cNvSpPr/>
          <p:nvPr/>
        </p:nvSpPr>
        <p:spPr>
          <a:xfrm>
            <a:off x="8513064" y="3355848"/>
            <a:ext cx="2953512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400" b="1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46%</a:t>
            </a:r>
            <a:endParaRPr lang="en-US" sz="2400" dirty="0"/>
          </a:p>
        </p:txBody>
      </p:sp>
      <p:sp>
        <p:nvSpPr>
          <p:cNvPr id="15" name="Text 11"/>
          <p:cNvSpPr/>
          <p:nvPr/>
        </p:nvSpPr>
        <p:spPr>
          <a:xfrm>
            <a:off x="8513064" y="3813048"/>
            <a:ext cx="2953512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5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of pre-COVID Jan–Jun</a:t>
            </a:r>
            <a:endParaRPr lang="en-US" sz="1050" dirty="0"/>
          </a:p>
        </p:txBody>
      </p:sp>
      <p:sp>
        <p:nvSpPr>
          <p:cNvPr id="16" name="Shape 12"/>
          <p:cNvSpPr/>
          <p:nvPr/>
        </p:nvSpPr>
        <p:spPr>
          <a:xfrm>
            <a:off x="8366760" y="4398264"/>
            <a:ext cx="3246120" cy="1207008"/>
          </a:xfrm>
          <a:prstGeom prst="roundRect">
            <a:avLst>
              <a:gd name="adj" fmla="val 4545"/>
            </a:avLst>
          </a:prstGeom>
          <a:solidFill>
            <a:srgbClr val="F4F6FB"/>
          </a:solidFill>
          <a:ln w="9525">
            <a:solidFill>
              <a:srgbClr val="E2E7F2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7" name="Text 13"/>
          <p:cNvSpPr/>
          <p:nvPr/>
        </p:nvSpPr>
        <p:spPr>
          <a:xfrm>
            <a:off x="8513064" y="4489704"/>
            <a:ext cx="2953512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50" b="1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VS 2024 LEVEL</a:t>
            </a:r>
            <a:endParaRPr lang="en-US" sz="1050" dirty="0"/>
          </a:p>
        </p:txBody>
      </p:sp>
      <p:sp>
        <p:nvSpPr>
          <p:cNvPr id="18" name="Text 14"/>
          <p:cNvSpPr/>
          <p:nvPr/>
        </p:nvSpPr>
        <p:spPr>
          <a:xfrm>
            <a:off x="8513064" y="4709160"/>
            <a:ext cx="2953512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400" b="1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76%</a:t>
            </a:r>
            <a:endParaRPr lang="en-US" sz="2400" dirty="0"/>
          </a:p>
        </p:txBody>
      </p:sp>
      <p:sp>
        <p:nvSpPr>
          <p:cNvPr id="19" name="Text 15"/>
          <p:cNvSpPr/>
          <p:nvPr/>
        </p:nvSpPr>
        <p:spPr>
          <a:xfrm>
            <a:off x="8513064" y="5166360"/>
            <a:ext cx="2953512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5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of Jan–Jun 2024</a:t>
            </a:r>
            <a:endParaRPr lang="en-US" sz="1050" dirty="0"/>
          </a:p>
        </p:txBody>
      </p:sp>
      <p:sp>
        <p:nvSpPr>
          <p:cNvPr id="20" name="Text 16"/>
          <p:cNvSpPr/>
          <p:nvPr/>
        </p:nvSpPr>
        <p:spPr>
          <a:xfrm>
            <a:off x="548640" y="6382512"/>
            <a:ext cx="10881360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50" i="1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Chinese demand is recovering vs a weak 2025 (safety concerns faded) but is still only ~48% of pre-COVID volume.</a:t>
            </a:r>
            <a:endParaRPr lang="en-US" sz="105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292608"/>
            <a:ext cx="8229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b="1" kern="0" spc="200" dirty="0">
                <a:solidFill>
                  <a:srgbClr val="D9A44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SECTION 1 · TOURIST ARRIVALS</a:t>
            </a:r>
            <a:endParaRPr lang="en-US" sz="1100" dirty="0"/>
          </a:p>
        </p:txBody>
      </p:sp>
      <p:sp>
        <p:nvSpPr>
          <p:cNvPr id="3" name="Text 1"/>
          <p:cNvSpPr/>
          <p:nvPr/>
        </p:nvSpPr>
        <p:spPr>
          <a:xfrm>
            <a:off x="548640" y="502920"/>
            <a:ext cx="11091672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800" b="1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India arrivals</a:t>
            </a:r>
            <a:endParaRPr lang="en-US" sz="2800" dirty="0"/>
          </a:p>
        </p:txBody>
      </p:sp>
      <p:sp>
        <p:nvSpPr>
          <p:cNvPr id="4" name="Text 2"/>
          <p:cNvSpPr/>
          <p:nvPr/>
        </p:nvSpPr>
        <p:spPr>
          <a:xfrm>
            <a:off x="548640" y="1060704"/>
            <a:ext cx="11091672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5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Jan–Jun by year — India keeps setting record highs</a:t>
            </a:r>
            <a:endParaRPr lang="en-US" sz="1250" dirty="0"/>
          </a:p>
        </p:txBody>
      </p:sp>
      <p:sp>
        <p:nvSpPr>
          <p:cNvPr id="5" name="Text 3"/>
          <p:cNvSpPr/>
          <p:nvPr/>
        </p:nvSpPr>
        <p:spPr>
          <a:xfrm>
            <a:off x="8165592" y="310896"/>
            <a:ext cx="34747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90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Mitsui Thailand Portfolio · H1 2026</a:t>
            </a:r>
            <a:endParaRPr lang="en-US" sz="900" dirty="0"/>
          </a:p>
        </p:txBody>
      </p:sp>
      <p:graphicFrame>
        <p:nvGraphicFramePr>
          <p:cNvPr id="6" name="Chart 0"/>
          <p:cNvGraphicFramePr/>
          <p:nvPr/>
        </p:nvGraphicFramePr>
        <p:xfrm>
          <a:off x="548640" y="1600200"/>
          <a:ext cx="7498080" cy="3063240"/>
        </p:xfrm>
        <a:graphic>
          <a:graphicData uri="http://schemas.openxmlformats.org/drawingml/2006/chart">
            <c:chart xmlns:c="http://schemas.openxmlformats.org/drawingml/2006/chart" xmlns:r="http://schemas.openxmlformats.org/officeDocument/2006/relationships" r:id="rId3"/>
          </a:graphicData>
        </a:graphic>
      </p:graphicFrame>
      <p:graphicFrame>
        <p:nvGraphicFramePr>
          <p:cNvPr id="8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548640" y="4773168"/>
          <a:ext cx="7498080" cy="1188720"/>
        </p:xfrm>
        <a:graphic>
          <a:graphicData uri="http://schemas.openxmlformats.org/drawingml/2006/table">
            <a:tbl>
              <a:tblPr/>
              <a:tblGrid>
                <a:gridCol w="91440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92964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929640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929640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  <a:gridCol w="929640">
                  <a:extLst>
                    <a:ext uri="{9D8B030D-6E8A-4147-A177-3AD203B41FA5}">
                      <a16:colId xmlns:a16="http://schemas.microsoft.com/office/drawing/2014/main" val="20004"/>
                    </a:ext>
                  </a:extLst>
                </a:gridCol>
                <a:gridCol w="929640">
                  <a:extLst>
                    <a:ext uri="{9D8B030D-6E8A-4147-A177-3AD203B41FA5}">
                      <a16:colId xmlns:a16="http://schemas.microsoft.com/office/drawing/2014/main" val="20005"/>
                    </a:ext>
                  </a:extLst>
                </a:gridCol>
                <a:gridCol w="929640">
                  <a:extLst>
                    <a:ext uri="{9D8B030D-6E8A-4147-A177-3AD203B41FA5}">
                      <a16:colId xmlns:a16="http://schemas.microsoft.com/office/drawing/2014/main" val="20006"/>
                    </a:ext>
                  </a:extLst>
                </a:gridCol>
                <a:gridCol w="1005840">
                  <a:extLst>
                    <a:ext uri="{9D8B030D-6E8A-4147-A177-3AD203B41FA5}">
                      <a16:colId xmlns:a16="http://schemas.microsoft.com/office/drawing/2014/main" val="20007"/>
                    </a:ext>
                  </a:extLst>
                </a:gridCol>
              </a:tblGrid>
              <a:tr h="237744"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endParaRPr lang="en-US" sz="9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E2E7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7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7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7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E2761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95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Jan</a:t>
                      </a:r>
                      <a:endParaRPr lang="en-US" sz="9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E2E7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7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7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7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E2761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95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Feb</a:t>
                      </a:r>
                      <a:endParaRPr lang="en-US" sz="9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E2E7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7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7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7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E2761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95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Mar</a:t>
                      </a:r>
                      <a:endParaRPr lang="en-US" sz="9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E2E7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7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7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7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E2761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95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Apr</a:t>
                      </a:r>
                      <a:endParaRPr lang="en-US" sz="9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E2E7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7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7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7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E2761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95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May</a:t>
                      </a:r>
                      <a:endParaRPr lang="en-US" sz="9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E2E7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7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7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7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E2761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95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Jun</a:t>
                      </a:r>
                      <a:endParaRPr lang="en-US" sz="9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E2E7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7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7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7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E2761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95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YTD</a:t>
                      </a:r>
                      <a:endParaRPr lang="en-US" sz="9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E2E7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7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7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7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E276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237744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950" b="1" dirty="0">
                          <a:solidFill>
                            <a:srgbClr val="26292E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2024</a:t>
                      </a:r>
                      <a:endParaRPr lang="en-US" sz="9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E2E7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7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7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7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r">
                        <a:buNone/>
                      </a:pPr>
                      <a:r>
                        <a:rPr lang="en-US" sz="950" dirty="0">
                          <a:solidFill>
                            <a:srgbClr val="26292E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162,831</a:t>
                      </a:r>
                      <a:endParaRPr lang="en-US" sz="9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E2E7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7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7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7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r">
                        <a:buNone/>
                      </a:pPr>
                      <a:r>
                        <a:rPr lang="en-US" sz="950" dirty="0">
                          <a:solidFill>
                            <a:srgbClr val="26292E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148,992</a:t>
                      </a:r>
                      <a:endParaRPr lang="en-US" sz="9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E2E7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7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7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7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r">
                        <a:buNone/>
                      </a:pPr>
                      <a:r>
                        <a:rPr lang="en-US" sz="950" dirty="0">
                          <a:solidFill>
                            <a:srgbClr val="26292E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161,129</a:t>
                      </a:r>
                      <a:endParaRPr lang="en-US" sz="9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E2E7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7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7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7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r">
                        <a:buNone/>
                      </a:pPr>
                      <a:r>
                        <a:rPr lang="en-US" sz="950" dirty="0">
                          <a:solidFill>
                            <a:srgbClr val="26292E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170,635</a:t>
                      </a:r>
                      <a:endParaRPr lang="en-US" sz="9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E2E7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7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7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7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r">
                        <a:buNone/>
                      </a:pPr>
                      <a:r>
                        <a:rPr lang="en-US" sz="950" dirty="0">
                          <a:solidFill>
                            <a:srgbClr val="26292E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198,993</a:t>
                      </a:r>
                      <a:endParaRPr lang="en-US" sz="9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E2E7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7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7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7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r">
                        <a:buNone/>
                      </a:pPr>
                      <a:r>
                        <a:rPr lang="en-US" sz="950" dirty="0">
                          <a:solidFill>
                            <a:srgbClr val="26292E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197,489</a:t>
                      </a:r>
                      <a:endParaRPr lang="en-US" sz="9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E2E7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7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7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7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r">
                        <a:buNone/>
                      </a:pPr>
                      <a:r>
                        <a:rPr lang="en-US" sz="950" b="1" dirty="0">
                          <a:solidFill>
                            <a:srgbClr val="1E2761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1,040,069</a:t>
                      </a:r>
                      <a:endParaRPr lang="en-US" sz="9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E2E7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7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7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7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237744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950" b="1" dirty="0">
                          <a:solidFill>
                            <a:srgbClr val="26292E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2025</a:t>
                      </a:r>
                      <a:endParaRPr lang="en-US" sz="9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E2E7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7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7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7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6FB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r">
                        <a:buNone/>
                      </a:pPr>
                      <a:r>
                        <a:rPr lang="en-US" sz="950" dirty="0">
                          <a:solidFill>
                            <a:srgbClr val="26292E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185,809</a:t>
                      </a:r>
                      <a:endParaRPr lang="en-US" sz="9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E2E7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7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7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7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6FB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r">
                        <a:buNone/>
                      </a:pPr>
                      <a:r>
                        <a:rPr lang="en-US" sz="950" dirty="0">
                          <a:solidFill>
                            <a:srgbClr val="26292E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169,988</a:t>
                      </a:r>
                      <a:endParaRPr lang="en-US" sz="9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E2E7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7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7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7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6FB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r">
                        <a:buNone/>
                      </a:pPr>
                      <a:r>
                        <a:rPr lang="en-US" sz="950" dirty="0">
                          <a:solidFill>
                            <a:srgbClr val="26292E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187,973</a:t>
                      </a:r>
                      <a:endParaRPr lang="en-US" sz="9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E2E7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7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7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7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6FB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r">
                        <a:buNone/>
                      </a:pPr>
                      <a:r>
                        <a:rPr lang="en-US" sz="950" dirty="0">
                          <a:solidFill>
                            <a:srgbClr val="26292E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206,286</a:t>
                      </a:r>
                      <a:endParaRPr lang="en-US" sz="9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E2E7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7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7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7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6FB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r">
                        <a:buNone/>
                      </a:pPr>
                      <a:r>
                        <a:rPr lang="en-US" sz="950" dirty="0">
                          <a:solidFill>
                            <a:srgbClr val="26292E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228,544</a:t>
                      </a:r>
                      <a:endParaRPr lang="en-US" sz="9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E2E7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7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7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7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6FB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r">
                        <a:buNone/>
                      </a:pPr>
                      <a:r>
                        <a:rPr lang="en-US" sz="950" dirty="0">
                          <a:solidFill>
                            <a:srgbClr val="26292E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205,299</a:t>
                      </a:r>
                      <a:endParaRPr lang="en-US" sz="9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E2E7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7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7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7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6FB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r">
                        <a:buNone/>
                      </a:pPr>
                      <a:r>
                        <a:rPr lang="en-US" sz="950" b="1" dirty="0">
                          <a:solidFill>
                            <a:srgbClr val="1E2761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1,183,899</a:t>
                      </a:r>
                      <a:endParaRPr lang="en-US" sz="9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E2E7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7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7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7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6FB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237744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950" b="1" dirty="0">
                          <a:solidFill>
                            <a:srgbClr val="26292E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2026</a:t>
                      </a:r>
                      <a:endParaRPr lang="en-US" sz="9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E2E7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7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7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7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r">
                        <a:buNone/>
                      </a:pPr>
                      <a:r>
                        <a:rPr lang="en-US" sz="950" dirty="0">
                          <a:solidFill>
                            <a:srgbClr val="26292E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231,184</a:t>
                      </a:r>
                      <a:endParaRPr lang="en-US" sz="9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E2E7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7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7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7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r">
                        <a:buNone/>
                      </a:pPr>
                      <a:r>
                        <a:rPr lang="en-US" sz="950" dirty="0">
                          <a:solidFill>
                            <a:srgbClr val="26292E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185,930</a:t>
                      </a:r>
                      <a:endParaRPr lang="en-US" sz="9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E2E7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7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7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7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r">
                        <a:buNone/>
                      </a:pPr>
                      <a:r>
                        <a:rPr lang="en-US" sz="950" dirty="0">
                          <a:solidFill>
                            <a:srgbClr val="26292E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208,484</a:t>
                      </a:r>
                      <a:endParaRPr lang="en-US" sz="9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E2E7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7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7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7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r">
                        <a:buNone/>
                      </a:pPr>
                      <a:r>
                        <a:rPr lang="en-US" sz="950" dirty="0">
                          <a:solidFill>
                            <a:srgbClr val="26292E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206,641</a:t>
                      </a:r>
                      <a:endParaRPr lang="en-US" sz="9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E2E7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7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7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7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r">
                        <a:buNone/>
                      </a:pPr>
                      <a:r>
                        <a:rPr lang="en-US" sz="950" dirty="0">
                          <a:solidFill>
                            <a:srgbClr val="26292E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224,490</a:t>
                      </a:r>
                      <a:endParaRPr lang="en-US" sz="9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E2E7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7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7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7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r">
                        <a:buNone/>
                      </a:pPr>
                      <a:r>
                        <a:rPr lang="en-US" sz="950" dirty="0">
                          <a:solidFill>
                            <a:srgbClr val="26292E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163,378</a:t>
                      </a:r>
                      <a:endParaRPr lang="en-US" sz="9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E2E7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7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7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7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r">
                        <a:buNone/>
                      </a:pPr>
                      <a:r>
                        <a:rPr lang="en-US" sz="950" b="1" dirty="0">
                          <a:solidFill>
                            <a:srgbClr val="1E2761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1,220,107</a:t>
                      </a:r>
                      <a:endParaRPr lang="en-US" sz="9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E2E7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7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7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7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237744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950" b="1" dirty="0">
                          <a:solidFill>
                            <a:srgbClr val="6B728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26 vs 25</a:t>
                      </a:r>
                      <a:endParaRPr lang="en-US" sz="9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E2E7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7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7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7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r">
                        <a:buNone/>
                      </a:pPr>
                      <a:r>
                        <a:rPr lang="en-US" sz="950" dirty="0">
                          <a:solidFill>
                            <a:srgbClr val="2E7D32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+24%</a:t>
                      </a:r>
                      <a:endParaRPr lang="en-US" sz="9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E2E7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7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7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7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r">
                        <a:buNone/>
                      </a:pPr>
                      <a:r>
                        <a:rPr lang="en-US" sz="950" dirty="0">
                          <a:solidFill>
                            <a:srgbClr val="2E7D32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+9%</a:t>
                      </a:r>
                      <a:endParaRPr lang="en-US" sz="9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E2E7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7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7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7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r">
                        <a:buNone/>
                      </a:pPr>
                      <a:r>
                        <a:rPr lang="en-US" sz="950" dirty="0">
                          <a:solidFill>
                            <a:srgbClr val="2E7D32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+11%</a:t>
                      </a:r>
                      <a:endParaRPr lang="en-US" sz="9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E2E7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7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7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7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r">
                        <a:buNone/>
                      </a:pPr>
                      <a:r>
                        <a:rPr lang="en-US" sz="950" dirty="0">
                          <a:solidFill>
                            <a:srgbClr val="2E7D32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+0%</a:t>
                      </a:r>
                      <a:endParaRPr lang="en-US" sz="9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E2E7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7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7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7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r">
                        <a:buNone/>
                      </a:pPr>
                      <a:r>
                        <a:rPr lang="en-US" sz="950" dirty="0">
                          <a:solidFill>
                            <a:srgbClr val="C0392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-2%</a:t>
                      </a:r>
                      <a:endParaRPr lang="en-US" sz="9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E2E7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7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7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7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r">
                        <a:buNone/>
                      </a:pPr>
                      <a:r>
                        <a:rPr lang="en-US" sz="950" dirty="0">
                          <a:solidFill>
                            <a:srgbClr val="C0392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-20%</a:t>
                      </a:r>
                      <a:endParaRPr lang="en-US" sz="9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E2E7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7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7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7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r">
                        <a:buNone/>
                      </a:pPr>
                      <a:r>
                        <a:rPr lang="en-US" sz="950" b="1" dirty="0">
                          <a:solidFill>
                            <a:srgbClr val="2E7D32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+3.1%</a:t>
                      </a:r>
                      <a:endParaRPr lang="en-US" sz="9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E2E7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7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7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7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</a:tbl>
          </a:graphicData>
        </a:graphic>
      </p:graphicFrame>
      <p:sp>
        <p:nvSpPr>
          <p:cNvPr id="7" name="Shape 4"/>
          <p:cNvSpPr/>
          <p:nvPr/>
        </p:nvSpPr>
        <p:spPr>
          <a:xfrm>
            <a:off x="8366760" y="1691640"/>
            <a:ext cx="3246120" cy="1207008"/>
          </a:xfrm>
          <a:prstGeom prst="roundRect">
            <a:avLst>
              <a:gd name="adj" fmla="val 4545"/>
            </a:avLst>
          </a:prstGeom>
          <a:solidFill>
            <a:srgbClr val="F4F6FB"/>
          </a:solidFill>
          <a:ln w="9525">
            <a:solidFill>
              <a:srgbClr val="E2E7F2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9" name="Text 5"/>
          <p:cNvSpPr/>
          <p:nvPr/>
        </p:nvSpPr>
        <p:spPr>
          <a:xfrm>
            <a:off x="8513064" y="1783080"/>
            <a:ext cx="2953512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50" b="1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YTD JAN–JUN 2026</a:t>
            </a:r>
            <a:endParaRPr lang="en-US" sz="1050" dirty="0"/>
          </a:p>
        </p:txBody>
      </p:sp>
      <p:sp>
        <p:nvSpPr>
          <p:cNvPr id="10" name="Text 6"/>
          <p:cNvSpPr/>
          <p:nvPr/>
        </p:nvSpPr>
        <p:spPr>
          <a:xfrm>
            <a:off x="8513064" y="2002536"/>
            <a:ext cx="2953512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400" b="1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1.22M</a:t>
            </a:r>
            <a:endParaRPr lang="en-US" sz="2400" dirty="0"/>
          </a:p>
        </p:txBody>
      </p:sp>
      <p:sp>
        <p:nvSpPr>
          <p:cNvPr id="11" name="Text 7"/>
          <p:cNvSpPr/>
          <p:nvPr/>
        </p:nvSpPr>
        <p:spPr>
          <a:xfrm>
            <a:off x="8513064" y="2459736"/>
            <a:ext cx="2953512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50" dirty="0">
                <a:solidFill>
                  <a:srgbClr val="2E7D3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+3.1% vs 2025</a:t>
            </a:r>
            <a:endParaRPr lang="en-US" sz="1050" dirty="0"/>
          </a:p>
        </p:txBody>
      </p:sp>
      <p:sp>
        <p:nvSpPr>
          <p:cNvPr id="12" name="Shape 8"/>
          <p:cNvSpPr/>
          <p:nvPr/>
        </p:nvSpPr>
        <p:spPr>
          <a:xfrm>
            <a:off x="8366760" y="3044952"/>
            <a:ext cx="3246120" cy="1207008"/>
          </a:xfrm>
          <a:prstGeom prst="roundRect">
            <a:avLst>
              <a:gd name="adj" fmla="val 4545"/>
            </a:avLst>
          </a:prstGeom>
          <a:solidFill>
            <a:srgbClr val="F4F6FB"/>
          </a:solidFill>
          <a:ln w="9525">
            <a:solidFill>
              <a:srgbClr val="E2E7F2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3" name="Text 9"/>
          <p:cNvSpPr/>
          <p:nvPr/>
        </p:nvSpPr>
        <p:spPr>
          <a:xfrm>
            <a:off x="8513064" y="3136392"/>
            <a:ext cx="2953512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50" b="1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YTD JAN–JUN 2025</a:t>
            </a:r>
            <a:endParaRPr lang="en-US" sz="1050" dirty="0"/>
          </a:p>
        </p:txBody>
      </p:sp>
      <p:sp>
        <p:nvSpPr>
          <p:cNvPr id="14" name="Text 10"/>
          <p:cNvSpPr/>
          <p:nvPr/>
        </p:nvSpPr>
        <p:spPr>
          <a:xfrm>
            <a:off x="8513064" y="3355848"/>
            <a:ext cx="2953512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400" b="1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1.18M</a:t>
            </a:r>
            <a:endParaRPr lang="en-US" sz="2400" dirty="0"/>
          </a:p>
        </p:txBody>
      </p:sp>
      <p:sp>
        <p:nvSpPr>
          <p:cNvPr id="15" name="Text 11"/>
          <p:cNvSpPr/>
          <p:nvPr/>
        </p:nvSpPr>
        <p:spPr>
          <a:xfrm>
            <a:off x="8513064" y="3813048"/>
            <a:ext cx="2953512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50" dirty="0">
                <a:solidFill>
                  <a:srgbClr val="2E7D3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+13.8% vs 2024</a:t>
            </a:r>
            <a:endParaRPr lang="en-US" sz="1050" dirty="0"/>
          </a:p>
        </p:txBody>
      </p:sp>
      <p:sp>
        <p:nvSpPr>
          <p:cNvPr id="16" name="Shape 12"/>
          <p:cNvSpPr/>
          <p:nvPr/>
        </p:nvSpPr>
        <p:spPr>
          <a:xfrm>
            <a:off x="8366760" y="4398264"/>
            <a:ext cx="3246120" cy="1207008"/>
          </a:xfrm>
          <a:prstGeom prst="roundRect">
            <a:avLst>
              <a:gd name="adj" fmla="val 4545"/>
            </a:avLst>
          </a:prstGeom>
          <a:solidFill>
            <a:srgbClr val="F4F6FB"/>
          </a:solidFill>
          <a:ln w="9525">
            <a:solidFill>
              <a:srgbClr val="E2E7F2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7" name="Text 13"/>
          <p:cNvSpPr/>
          <p:nvPr/>
        </p:nvSpPr>
        <p:spPr>
          <a:xfrm>
            <a:off x="8513064" y="4489704"/>
            <a:ext cx="2953512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50" b="1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TREND</a:t>
            </a:r>
            <a:endParaRPr lang="en-US" sz="1050" dirty="0"/>
          </a:p>
        </p:txBody>
      </p:sp>
      <p:sp>
        <p:nvSpPr>
          <p:cNvPr id="18" name="Text 14"/>
          <p:cNvSpPr/>
          <p:nvPr/>
        </p:nvSpPr>
        <p:spPr>
          <a:xfrm>
            <a:off x="8513064" y="4709160"/>
            <a:ext cx="2953512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400" b="1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3rd year</a:t>
            </a:r>
            <a:endParaRPr lang="en-US" sz="2400" dirty="0"/>
          </a:p>
        </p:txBody>
      </p:sp>
      <p:sp>
        <p:nvSpPr>
          <p:cNvPr id="19" name="Text 15"/>
          <p:cNvSpPr/>
          <p:nvPr/>
        </p:nvSpPr>
        <p:spPr>
          <a:xfrm>
            <a:off x="8513064" y="5166360"/>
            <a:ext cx="2953512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50" dirty="0">
                <a:solidFill>
                  <a:srgbClr val="2E7D3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of consecutive YTD growth</a:t>
            </a:r>
            <a:endParaRPr lang="en-US" sz="1050" dirty="0"/>
          </a:p>
        </p:txBody>
      </p:sp>
      <p:sp>
        <p:nvSpPr>
          <p:cNvPr id="20" name="Text 16"/>
          <p:cNvSpPr/>
          <p:nvPr/>
        </p:nvSpPr>
        <p:spPr>
          <a:xfrm>
            <a:off x="548640" y="6382512"/>
            <a:ext cx="10881360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50" i="1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India is the strongest growth market: +24% in January alone; Apr–May flat against a high 2025 base.</a:t>
            </a:r>
            <a:endParaRPr lang="en-US" sz="105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292608"/>
            <a:ext cx="8229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b="1" kern="0" spc="200" dirty="0">
                <a:solidFill>
                  <a:srgbClr val="D9A44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SECTION 1 · TOURIST ARRIVALS</a:t>
            </a:r>
            <a:endParaRPr lang="en-US" sz="1100" dirty="0"/>
          </a:p>
        </p:txBody>
      </p:sp>
      <p:sp>
        <p:nvSpPr>
          <p:cNvPr id="3" name="Text 1"/>
          <p:cNvSpPr/>
          <p:nvPr/>
        </p:nvSpPr>
        <p:spPr>
          <a:xfrm>
            <a:off x="548640" y="502920"/>
            <a:ext cx="11091672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800" b="1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Middle East arrivals</a:t>
            </a:r>
            <a:endParaRPr lang="en-US" sz="2800" dirty="0"/>
          </a:p>
        </p:txBody>
      </p:sp>
      <p:sp>
        <p:nvSpPr>
          <p:cNvPr id="4" name="Text 2"/>
          <p:cNvSpPr/>
          <p:nvPr/>
        </p:nvSpPr>
        <p:spPr>
          <a:xfrm>
            <a:off x="548640" y="1060704"/>
            <a:ext cx="11091672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5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Jan–Jun by year — 2019 shown as pre-COVID reference</a:t>
            </a:r>
            <a:endParaRPr lang="en-US" sz="1250" dirty="0"/>
          </a:p>
        </p:txBody>
      </p:sp>
      <p:sp>
        <p:nvSpPr>
          <p:cNvPr id="5" name="Text 3"/>
          <p:cNvSpPr/>
          <p:nvPr/>
        </p:nvSpPr>
        <p:spPr>
          <a:xfrm>
            <a:off x="8165592" y="310896"/>
            <a:ext cx="34747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90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Mitsui Thailand Portfolio · H1 2026</a:t>
            </a:r>
            <a:endParaRPr lang="en-US" sz="900" dirty="0"/>
          </a:p>
        </p:txBody>
      </p:sp>
      <p:graphicFrame>
        <p:nvGraphicFramePr>
          <p:cNvPr id="6" name="Chart 0"/>
          <p:cNvGraphicFramePr/>
          <p:nvPr/>
        </p:nvGraphicFramePr>
        <p:xfrm>
          <a:off x="548640" y="1600200"/>
          <a:ext cx="7498080" cy="3063240"/>
        </p:xfrm>
        <a:graphic>
          <a:graphicData uri="http://schemas.openxmlformats.org/drawingml/2006/chart">
            <c:chart xmlns:c="http://schemas.openxmlformats.org/drawingml/2006/chart" xmlns:r="http://schemas.openxmlformats.org/officeDocument/2006/relationships" r:id="rId3"/>
          </a:graphicData>
        </a:graphic>
      </p:graphicFrame>
      <p:graphicFrame>
        <p:nvGraphicFramePr>
          <p:cNvPr id="9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548640" y="4773168"/>
          <a:ext cx="7498080" cy="1426464"/>
        </p:xfrm>
        <a:graphic>
          <a:graphicData uri="http://schemas.openxmlformats.org/drawingml/2006/table">
            <a:tbl>
              <a:tblPr/>
              <a:tblGrid>
                <a:gridCol w="91440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92964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929640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929640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  <a:gridCol w="929640">
                  <a:extLst>
                    <a:ext uri="{9D8B030D-6E8A-4147-A177-3AD203B41FA5}">
                      <a16:colId xmlns:a16="http://schemas.microsoft.com/office/drawing/2014/main" val="20004"/>
                    </a:ext>
                  </a:extLst>
                </a:gridCol>
                <a:gridCol w="929640">
                  <a:extLst>
                    <a:ext uri="{9D8B030D-6E8A-4147-A177-3AD203B41FA5}">
                      <a16:colId xmlns:a16="http://schemas.microsoft.com/office/drawing/2014/main" val="20005"/>
                    </a:ext>
                  </a:extLst>
                </a:gridCol>
                <a:gridCol w="929640">
                  <a:extLst>
                    <a:ext uri="{9D8B030D-6E8A-4147-A177-3AD203B41FA5}">
                      <a16:colId xmlns:a16="http://schemas.microsoft.com/office/drawing/2014/main" val="20006"/>
                    </a:ext>
                  </a:extLst>
                </a:gridCol>
                <a:gridCol w="1005840">
                  <a:extLst>
                    <a:ext uri="{9D8B030D-6E8A-4147-A177-3AD203B41FA5}">
                      <a16:colId xmlns:a16="http://schemas.microsoft.com/office/drawing/2014/main" val="20007"/>
                    </a:ext>
                  </a:extLst>
                </a:gridCol>
              </a:tblGrid>
              <a:tr h="237744"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endParaRPr lang="en-US" sz="9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E2E7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7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7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7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E2761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95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Jan</a:t>
                      </a:r>
                      <a:endParaRPr lang="en-US" sz="9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E2E7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7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7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7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E2761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95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Feb</a:t>
                      </a:r>
                      <a:endParaRPr lang="en-US" sz="9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E2E7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7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7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7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E2761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95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Mar</a:t>
                      </a:r>
                      <a:endParaRPr lang="en-US" sz="9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E2E7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7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7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7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E2761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95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Apr</a:t>
                      </a:r>
                      <a:endParaRPr lang="en-US" sz="9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E2E7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7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7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7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E2761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95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May</a:t>
                      </a:r>
                      <a:endParaRPr lang="en-US" sz="9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E2E7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7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7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7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E2761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95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Jun</a:t>
                      </a:r>
                      <a:endParaRPr lang="en-US" sz="9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E2E7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7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7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7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E2761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95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YTD</a:t>
                      </a:r>
                      <a:endParaRPr lang="en-US" sz="9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E2E7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7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7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7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E276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237744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950" b="1" dirty="0">
                          <a:solidFill>
                            <a:srgbClr val="26292E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2019</a:t>
                      </a:r>
                      <a:endParaRPr lang="en-US" sz="9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E2E7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7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7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7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r">
                        <a:buNone/>
                      </a:pPr>
                      <a:r>
                        <a:rPr lang="en-US" sz="950" dirty="0">
                          <a:solidFill>
                            <a:srgbClr val="26292E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94,365</a:t>
                      </a:r>
                      <a:endParaRPr lang="en-US" sz="9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E2E7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7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7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7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r">
                        <a:buNone/>
                      </a:pPr>
                      <a:r>
                        <a:rPr lang="en-US" sz="950" dirty="0">
                          <a:solidFill>
                            <a:srgbClr val="26292E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85,613</a:t>
                      </a:r>
                      <a:endParaRPr lang="en-US" sz="9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E2E7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7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7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7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r">
                        <a:buNone/>
                      </a:pPr>
                      <a:r>
                        <a:rPr lang="en-US" sz="950" dirty="0">
                          <a:solidFill>
                            <a:srgbClr val="26292E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101,002</a:t>
                      </a:r>
                      <a:endParaRPr lang="en-US" sz="9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E2E7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7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7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7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r">
                        <a:buNone/>
                      </a:pPr>
                      <a:r>
                        <a:rPr lang="en-US" sz="950" dirty="0">
                          <a:solidFill>
                            <a:srgbClr val="26292E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91,897</a:t>
                      </a:r>
                      <a:endParaRPr lang="en-US" sz="9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E2E7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7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7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7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r">
                        <a:buNone/>
                      </a:pPr>
                      <a:r>
                        <a:rPr lang="en-US" sz="950" dirty="0">
                          <a:solidFill>
                            <a:srgbClr val="26292E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95,246</a:t>
                      </a:r>
                      <a:endParaRPr lang="en-US" sz="9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E2E7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7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7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7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r">
                        <a:buNone/>
                      </a:pPr>
                      <a:r>
                        <a:rPr lang="en-US" sz="950" dirty="0">
                          <a:solidFill>
                            <a:srgbClr val="26292E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93,648</a:t>
                      </a:r>
                      <a:endParaRPr lang="en-US" sz="9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E2E7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7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7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7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r">
                        <a:buNone/>
                      </a:pPr>
                      <a:r>
                        <a:rPr lang="en-US" sz="950" b="1" dirty="0">
                          <a:solidFill>
                            <a:srgbClr val="1E2761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561,771</a:t>
                      </a:r>
                      <a:endParaRPr lang="en-US" sz="9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E2E7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7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7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7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237744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950" b="1" dirty="0">
                          <a:solidFill>
                            <a:srgbClr val="26292E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2024</a:t>
                      </a:r>
                      <a:endParaRPr lang="en-US" sz="9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E2E7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7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7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7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6FB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r">
                        <a:buNone/>
                      </a:pPr>
                      <a:r>
                        <a:rPr lang="en-US" sz="950" dirty="0">
                          <a:solidFill>
                            <a:srgbClr val="26292E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44,223</a:t>
                      </a:r>
                      <a:endParaRPr lang="en-US" sz="9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E2E7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7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7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7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6FB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r">
                        <a:buNone/>
                      </a:pPr>
                      <a:r>
                        <a:rPr lang="en-US" sz="950" dirty="0">
                          <a:solidFill>
                            <a:srgbClr val="26292E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35,346</a:t>
                      </a:r>
                      <a:endParaRPr lang="en-US" sz="9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E2E7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7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7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7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6FB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r">
                        <a:buNone/>
                      </a:pPr>
                      <a:r>
                        <a:rPr lang="en-US" sz="950" dirty="0">
                          <a:solidFill>
                            <a:srgbClr val="26292E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8,455</a:t>
                      </a:r>
                      <a:endParaRPr lang="en-US" sz="9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E2E7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7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7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7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6FB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r">
                        <a:buNone/>
                      </a:pPr>
                      <a:r>
                        <a:rPr lang="en-US" sz="950" dirty="0">
                          <a:solidFill>
                            <a:srgbClr val="26292E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45,071</a:t>
                      </a:r>
                      <a:endParaRPr lang="en-US" sz="9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E2E7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7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7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7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6FB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r">
                        <a:buNone/>
                      </a:pPr>
                      <a:r>
                        <a:rPr lang="en-US" sz="950" dirty="0">
                          <a:solidFill>
                            <a:srgbClr val="26292E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44,106</a:t>
                      </a:r>
                      <a:endParaRPr lang="en-US" sz="9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E2E7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7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7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7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6FB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r">
                        <a:buNone/>
                      </a:pPr>
                      <a:r>
                        <a:rPr lang="en-US" sz="950" dirty="0">
                          <a:solidFill>
                            <a:srgbClr val="26292E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97,083</a:t>
                      </a:r>
                      <a:endParaRPr lang="en-US" sz="9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E2E7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7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7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7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6FB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r">
                        <a:buNone/>
                      </a:pPr>
                      <a:r>
                        <a:rPr lang="en-US" sz="950" b="1" dirty="0">
                          <a:solidFill>
                            <a:srgbClr val="1E2761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274,284</a:t>
                      </a:r>
                      <a:endParaRPr lang="en-US" sz="9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E2E7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7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7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7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6FB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237744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950" b="1" dirty="0">
                          <a:solidFill>
                            <a:srgbClr val="26292E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2025</a:t>
                      </a:r>
                      <a:endParaRPr lang="en-US" sz="9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E2E7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7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7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7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r">
                        <a:buNone/>
                      </a:pPr>
                      <a:r>
                        <a:rPr lang="en-US" sz="950" dirty="0">
                          <a:solidFill>
                            <a:srgbClr val="26292E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49,839</a:t>
                      </a:r>
                      <a:endParaRPr lang="en-US" sz="9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E2E7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7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7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7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r">
                        <a:buNone/>
                      </a:pPr>
                      <a:r>
                        <a:rPr lang="en-US" sz="950" dirty="0">
                          <a:solidFill>
                            <a:srgbClr val="26292E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32,831</a:t>
                      </a:r>
                      <a:endParaRPr lang="en-US" sz="9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E2E7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7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7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7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r">
                        <a:buNone/>
                      </a:pPr>
                      <a:r>
                        <a:rPr lang="en-US" sz="950" dirty="0">
                          <a:solidFill>
                            <a:srgbClr val="26292E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18,708</a:t>
                      </a:r>
                      <a:endParaRPr lang="en-US" sz="9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E2E7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7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7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7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r">
                        <a:buNone/>
                      </a:pPr>
                      <a:r>
                        <a:rPr lang="en-US" sz="950" dirty="0">
                          <a:solidFill>
                            <a:srgbClr val="26292E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50,561</a:t>
                      </a:r>
                      <a:endParaRPr lang="en-US" sz="9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E2E7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7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7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7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r">
                        <a:buNone/>
                      </a:pPr>
                      <a:r>
                        <a:rPr lang="en-US" sz="950" dirty="0">
                          <a:solidFill>
                            <a:srgbClr val="26292E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48,650</a:t>
                      </a:r>
                      <a:endParaRPr lang="en-US" sz="9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E2E7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7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7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7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r">
                        <a:buNone/>
                      </a:pPr>
                      <a:r>
                        <a:rPr lang="en-US" sz="950" dirty="0">
                          <a:solidFill>
                            <a:srgbClr val="26292E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82,462</a:t>
                      </a:r>
                      <a:endParaRPr lang="en-US" sz="9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E2E7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7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7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7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r">
                        <a:buNone/>
                      </a:pPr>
                      <a:r>
                        <a:rPr lang="en-US" sz="950" b="1" dirty="0">
                          <a:solidFill>
                            <a:srgbClr val="1E2761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283,051</a:t>
                      </a:r>
                      <a:endParaRPr lang="en-US" sz="9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E2E7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7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7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7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237744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950" b="1" dirty="0">
                          <a:solidFill>
                            <a:srgbClr val="26292E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2026</a:t>
                      </a:r>
                      <a:endParaRPr lang="en-US" sz="9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E2E7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7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7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7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6FB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r">
                        <a:buNone/>
                      </a:pPr>
                      <a:r>
                        <a:rPr lang="en-US" sz="950" dirty="0">
                          <a:solidFill>
                            <a:srgbClr val="26292E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52,261</a:t>
                      </a:r>
                      <a:endParaRPr lang="en-US" sz="9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E2E7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7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7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7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6FB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r">
                        <a:buNone/>
                      </a:pPr>
                      <a:r>
                        <a:rPr lang="en-US" sz="950" dirty="0">
                          <a:solidFill>
                            <a:srgbClr val="26292E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15,814</a:t>
                      </a:r>
                      <a:endParaRPr lang="en-US" sz="9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E2E7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7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7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7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6FB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r">
                        <a:buNone/>
                      </a:pPr>
                      <a:r>
                        <a:rPr lang="en-US" sz="950" dirty="0">
                          <a:solidFill>
                            <a:srgbClr val="26292E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12,201</a:t>
                      </a:r>
                      <a:endParaRPr lang="en-US" sz="9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E2E7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7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7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7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6FB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r">
                        <a:buNone/>
                      </a:pPr>
                      <a:r>
                        <a:rPr lang="en-US" sz="950" dirty="0">
                          <a:solidFill>
                            <a:srgbClr val="26292E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21,707</a:t>
                      </a:r>
                      <a:endParaRPr lang="en-US" sz="9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E2E7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7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7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7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6FB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r">
                        <a:buNone/>
                      </a:pPr>
                      <a:r>
                        <a:rPr lang="en-US" sz="950" dirty="0">
                          <a:solidFill>
                            <a:srgbClr val="26292E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47,726</a:t>
                      </a:r>
                      <a:endParaRPr lang="en-US" sz="9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E2E7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7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7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7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6FB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r">
                        <a:buNone/>
                      </a:pPr>
                      <a:r>
                        <a:rPr lang="en-US" sz="950" dirty="0">
                          <a:solidFill>
                            <a:srgbClr val="26292E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52,702</a:t>
                      </a:r>
                      <a:endParaRPr lang="en-US" sz="9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E2E7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7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7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7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6FB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r">
                        <a:buNone/>
                      </a:pPr>
                      <a:r>
                        <a:rPr lang="en-US" sz="950" b="1" dirty="0">
                          <a:solidFill>
                            <a:srgbClr val="1E2761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202,411</a:t>
                      </a:r>
                      <a:endParaRPr lang="en-US" sz="9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E2E7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7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7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7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6FB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  <a:tr h="237744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950" b="1" dirty="0">
                          <a:solidFill>
                            <a:srgbClr val="6B728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26 vs 25</a:t>
                      </a:r>
                      <a:endParaRPr lang="en-US" sz="9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E2E7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7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7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7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r">
                        <a:buNone/>
                      </a:pPr>
                      <a:r>
                        <a:rPr lang="en-US" sz="950" dirty="0">
                          <a:solidFill>
                            <a:srgbClr val="2E7D32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+5%</a:t>
                      </a:r>
                      <a:endParaRPr lang="en-US" sz="9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E2E7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7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7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7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r">
                        <a:buNone/>
                      </a:pPr>
                      <a:r>
                        <a:rPr lang="en-US" sz="950" dirty="0">
                          <a:solidFill>
                            <a:srgbClr val="C0392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-52%</a:t>
                      </a:r>
                      <a:endParaRPr lang="en-US" sz="9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E2E7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7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7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7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r">
                        <a:buNone/>
                      </a:pPr>
                      <a:r>
                        <a:rPr lang="en-US" sz="950" dirty="0">
                          <a:solidFill>
                            <a:srgbClr val="C0392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-35%</a:t>
                      </a:r>
                      <a:endParaRPr lang="en-US" sz="9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E2E7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7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7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7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r">
                        <a:buNone/>
                      </a:pPr>
                      <a:r>
                        <a:rPr lang="en-US" sz="950" dirty="0">
                          <a:solidFill>
                            <a:srgbClr val="C0392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-57%</a:t>
                      </a:r>
                      <a:endParaRPr lang="en-US" sz="9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E2E7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7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7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7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r">
                        <a:buNone/>
                      </a:pPr>
                      <a:r>
                        <a:rPr lang="en-US" sz="950" dirty="0">
                          <a:solidFill>
                            <a:srgbClr val="C0392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-2%</a:t>
                      </a:r>
                      <a:endParaRPr lang="en-US" sz="9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E2E7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7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7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7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r">
                        <a:buNone/>
                      </a:pPr>
                      <a:r>
                        <a:rPr lang="en-US" sz="950" dirty="0">
                          <a:solidFill>
                            <a:srgbClr val="C0392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-36%</a:t>
                      </a:r>
                      <a:endParaRPr lang="en-US" sz="9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E2E7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7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7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7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r">
                        <a:buNone/>
                      </a:pPr>
                      <a:r>
                        <a:rPr lang="en-US" sz="950" b="1" dirty="0">
                          <a:solidFill>
                            <a:srgbClr val="C0392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-28.5%</a:t>
                      </a:r>
                      <a:endParaRPr lang="en-US" sz="9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E2E7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7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7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7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5"/>
                  </a:ext>
                </a:extLst>
              </a:tr>
            </a:tbl>
          </a:graphicData>
        </a:graphic>
      </p:graphicFrame>
      <p:sp>
        <p:nvSpPr>
          <p:cNvPr id="8" name="Shape 4"/>
          <p:cNvSpPr/>
          <p:nvPr/>
        </p:nvSpPr>
        <p:spPr>
          <a:xfrm>
            <a:off x="8366760" y="1691640"/>
            <a:ext cx="3246120" cy="1207008"/>
          </a:xfrm>
          <a:prstGeom prst="roundRect">
            <a:avLst>
              <a:gd name="adj" fmla="val 4545"/>
            </a:avLst>
          </a:prstGeom>
          <a:solidFill>
            <a:srgbClr val="F4F6FB"/>
          </a:solidFill>
          <a:ln w="9525">
            <a:solidFill>
              <a:srgbClr val="E2E7F2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7" name="Text 5"/>
          <p:cNvSpPr/>
          <p:nvPr/>
        </p:nvSpPr>
        <p:spPr>
          <a:xfrm>
            <a:off x="8513064" y="1783080"/>
            <a:ext cx="2953512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50" b="1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YTD JAN–JUN 2026</a:t>
            </a:r>
            <a:endParaRPr lang="en-US" sz="1050" dirty="0"/>
          </a:p>
        </p:txBody>
      </p:sp>
      <p:sp>
        <p:nvSpPr>
          <p:cNvPr id="10" name="Text 6"/>
          <p:cNvSpPr/>
          <p:nvPr/>
        </p:nvSpPr>
        <p:spPr>
          <a:xfrm>
            <a:off x="8513064" y="2002536"/>
            <a:ext cx="2953512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400" b="1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202k</a:t>
            </a:r>
            <a:endParaRPr lang="en-US" sz="2400" dirty="0"/>
          </a:p>
        </p:txBody>
      </p:sp>
      <p:sp>
        <p:nvSpPr>
          <p:cNvPr id="11" name="Text 7"/>
          <p:cNvSpPr/>
          <p:nvPr/>
        </p:nvSpPr>
        <p:spPr>
          <a:xfrm>
            <a:off x="8513064" y="2459736"/>
            <a:ext cx="2953512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50" dirty="0">
                <a:solidFill>
                  <a:srgbClr val="C0392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-28.5% vs 2025</a:t>
            </a:r>
            <a:endParaRPr lang="en-US" sz="1050" dirty="0"/>
          </a:p>
        </p:txBody>
      </p:sp>
      <p:sp>
        <p:nvSpPr>
          <p:cNvPr id="12" name="Shape 8"/>
          <p:cNvSpPr/>
          <p:nvPr/>
        </p:nvSpPr>
        <p:spPr>
          <a:xfrm>
            <a:off x="8366760" y="3044952"/>
            <a:ext cx="3246120" cy="1207008"/>
          </a:xfrm>
          <a:prstGeom prst="roundRect">
            <a:avLst>
              <a:gd name="adj" fmla="val 4545"/>
            </a:avLst>
          </a:prstGeom>
          <a:solidFill>
            <a:srgbClr val="F4F6FB"/>
          </a:solidFill>
          <a:ln w="9525">
            <a:solidFill>
              <a:srgbClr val="E2E7F2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3" name="Text 9"/>
          <p:cNvSpPr/>
          <p:nvPr/>
        </p:nvSpPr>
        <p:spPr>
          <a:xfrm>
            <a:off x="8513064" y="3136392"/>
            <a:ext cx="2953512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50" b="1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VS 2019 LEVEL</a:t>
            </a:r>
            <a:endParaRPr lang="en-US" sz="1050" dirty="0"/>
          </a:p>
        </p:txBody>
      </p:sp>
      <p:sp>
        <p:nvSpPr>
          <p:cNvPr id="14" name="Text 10"/>
          <p:cNvSpPr/>
          <p:nvPr/>
        </p:nvSpPr>
        <p:spPr>
          <a:xfrm>
            <a:off x="8513064" y="3355848"/>
            <a:ext cx="2953512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400" b="1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36%</a:t>
            </a:r>
            <a:endParaRPr lang="en-US" sz="2400" dirty="0"/>
          </a:p>
        </p:txBody>
      </p:sp>
      <p:sp>
        <p:nvSpPr>
          <p:cNvPr id="15" name="Text 11"/>
          <p:cNvSpPr/>
          <p:nvPr/>
        </p:nvSpPr>
        <p:spPr>
          <a:xfrm>
            <a:off x="8513064" y="3813048"/>
            <a:ext cx="2953512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5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of pre-COVID Jan–Jun</a:t>
            </a:r>
            <a:endParaRPr lang="en-US" sz="1050" dirty="0"/>
          </a:p>
        </p:txBody>
      </p:sp>
      <p:sp>
        <p:nvSpPr>
          <p:cNvPr id="16" name="Shape 12"/>
          <p:cNvSpPr/>
          <p:nvPr/>
        </p:nvSpPr>
        <p:spPr>
          <a:xfrm>
            <a:off x="8366760" y="4398264"/>
            <a:ext cx="3246120" cy="1207008"/>
          </a:xfrm>
          <a:prstGeom prst="roundRect">
            <a:avLst>
              <a:gd name="adj" fmla="val 4545"/>
            </a:avLst>
          </a:prstGeom>
          <a:solidFill>
            <a:srgbClr val="F4F6FB"/>
          </a:solidFill>
          <a:ln w="9525">
            <a:solidFill>
              <a:srgbClr val="E2E7F2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7" name="Text 13"/>
          <p:cNvSpPr/>
          <p:nvPr/>
        </p:nvSpPr>
        <p:spPr>
          <a:xfrm>
            <a:off x="8513064" y="4489704"/>
            <a:ext cx="2953512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50" b="1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WORST MONTH</a:t>
            </a:r>
            <a:endParaRPr lang="en-US" sz="1050" dirty="0"/>
          </a:p>
        </p:txBody>
      </p:sp>
      <p:sp>
        <p:nvSpPr>
          <p:cNvPr id="18" name="Text 14"/>
          <p:cNvSpPr/>
          <p:nvPr/>
        </p:nvSpPr>
        <p:spPr>
          <a:xfrm>
            <a:off x="8513064" y="4709160"/>
            <a:ext cx="2953512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400" b="1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Apr −57%</a:t>
            </a:r>
            <a:endParaRPr lang="en-US" sz="2400" dirty="0"/>
          </a:p>
        </p:txBody>
      </p:sp>
      <p:sp>
        <p:nvSpPr>
          <p:cNvPr id="19" name="Text 15"/>
          <p:cNvSpPr/>
          <p:nvPr/>
        </p:nvSpPr>
        <p:spPr>
          <a:xfrm>
            <a:off x="8513064" y="5166360"/>
            <a:ext cx="2953512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50" dirty="0">
                <a:solidFill>
                  <a:srgbClr val="C0392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vs April 2025</a:t>
            </a:r>
            <a:endParaRPr lang="en-US" sz="1050" dirty="0"/>
          </a:p>
        </p:txBody>
      </p:sp>
      <p:sp>
        <p:nvSpPr>
          <p:cNvPr id="20" name="Text 16"/>
          <p:cNvSpPr/>
          <p:nvPr/>
        </p:nvSpPr>
        <p:spPr>
          <a:xfrm>
            <a:off x="548640" y="6382512"/>
            <a:ext cx="10881360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50" i="1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Middle East volumes dropped sharply from February — regional war effect. Watch for recovery in H2.</a:t>
            </a:r>
            <a:endParaRPr lang="en-US" sz="1050" dirty="0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292608"/>
            <a:ext cx="8229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b="1" kern="0" spc="200" dirty="0">
                <a:solidFill>
                  <a:srgbClr val="D9A44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SECTION 1 · TOURIST ARRIVALS</a:t>
            </a:r>
            <a:endParaRPr lang="en-US" sz="1100" dirty="0"/>
          </a:p>
        </p:txBody>
      </p:sp>
      <p:sp>
        <p:nvSpPr>
          <p:cNvPr id="3" name="Text 1"/>
          <p:cNvSpPr/>
          <p:nvPr/>
        </p:nvSpPr>
        <p:spPr>
          <a:xfrm>
            <a:off x="548640" y="502920"/>
            <a:ext cx="11091672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800" b="1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Long-haul arrivals (EU + USA)</a:t>
            </a:r>
            <a:endParaRPr lang="en-US" sz="2800" dirty="0"/>
          </a:p>
        </p:txBody>
      </p:sp>
      <p:sp>
        <p:nvSpPr>
          <p:cNvPr id="4" name="Text 2"/>
          <p:cNvSpPr/>
          <p:nvPr/>
        </p:nvSpPr>
        <p:spPr>
          <a:xfrm>
            <a:off x="548640" y="1060704"/>
            <a:ext cx="11091672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5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Monthly arrivals Jan–Jun — Europe (left) and USA (right)</a:t>
            </a:r>
            <a:endParaRPr lang="en-US" sz="1250" dirty="0"/>
          </a:p>
        </p:txBody>
      </p:sp>
      <p:sp>
        <p:nvSpPr>
          <p:cNvPr id="5" name="Text 3"/>
          <p:cNvSpPr/>
          <p:nvPr/>
        </p:nvSpPr>
        <p:spPr>
          <a:xfrm>
            <a:off x="8165592" y="310896"/>
            <a:ext cx="34747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90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Mitsui Thailand Portfolio · H1 2026</a:t>
            </a:r>
            <a:endParaRPr lang="en-US" sz="900" dirty="0"/>
          </a:p>
        </p:txBody>
      </p:sp>
      <p:graphicFrame>
        <p:nvGraphicFramePr>
          <p:cNvPr id="6" name="Chart 0"/>
          <p:cNvGraphicFramePr/>
          <p:nvPr/>
        </p:nvGraphicFramePr>
        <p:xfrm>
          <a:off x="548640" y="1828800"/>
          <a:ext cx="3749040" cy="3200400"/>
        </p:xfrm>
        <a:graphic>
          <a:graphicData uri="http://schemas.openxmlformats.org/drawingml/2006/chart">
            <c:chart xmlns:c="http://schemas.openxmlformats.org/drawingml/2006/chart" xmlns:r="http://schemas.openxmlformats.org/officeDocument/2006/relationships" r:id="rId3"/>
          </a:graphicData>
        </a:graphic>
      </p:graphicFrame>
      <p:graphicFrame>
        <p:nvGraphicFramePr>
          <p:cNvPr id="7" name="Chart 1"/>
          <p:cNvGraphicFramePr/>
          <p:nvPr/>
        </p:nvGraphicFramePr>
        <p:xfrm>
          <a:off x="4526280" y="1828800"/>
          <a:ext cx="3749040" cy="3200400"/>
        </p:xfrm>
        <a:graphic>
          <a:graphicData uri="http://schemas.openxmlformats.org/drawingml/2006/chart">
            <c:chart xmlns:c="http://schemas.openxmlformats.org/drawingml/2006/chart" xmlns:r="http://schemas.openxmlformats.org/officeDocument/2006/relationships" r:id="rId4"/>
          </a:graphicData>
        </a:graphic>
      </p:graphicFrame>
      <p:sp>
        <p:nvSpPr>
          <p:cNvPr id="8" name="Shape 4"/>
          <p:cNvSpPr/>
          <p:nvPr/>
        </p:nvSpPr>
        <p:spPr>
          <a:xfrm>
            <a:off x="8549640" y="2011680"/>
            <a:ext cx="3063240" cy="1207008"/>
          </a:xfrm>
          <a:prstGeom prst="roundRect">
            <a:avLst>
              <a:gd name="adj" fmla="val 4545"/>
            </a:avLst>
          </a:prstGeom>
          <a:solidFill>
            <a:srgbClr val="F4F6FB"/>
          </a:solidFill>
          <a:ln w="9525">
            <a:solidFill>
              <a:srgbClr val="E2E7F2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9" name="Text 5"/>
          <p:cNvSpPr/>
          <p:nvPr/>
        </p:nvSpPr>
        <p:spPr>
          <a:xfrm>
            <a:off x="8695944" y="2103120"/>
            <a:ext cx="2770632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50" b="1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LONG-HAUL YTD 2026</a:t>
            </a:r>
            <a:endParaRPr lang="en-US" sz="1050" dirty="0"/>
          </a:p>
        </p:txBody>
      </p:sp>
      <p:sp>
        <p:nvSpPr>
          <p:cNvPr id="10" name="Text 6"/>
          <p:cNvSpPr/>
          <p:nvPr/>
        </p:nvSpPr>
        <p:spPr>
          <a:xfrm>
            <a:off x="8695944" y="2322576"/>
            <a:ext cx="2770632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400" b="1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5.05M</a:t>
            </a:r>
            <a:endParaRPr lang="en-US" sz="2400" dirty="0"/>
          </a:p>
        </p:txBody>
      </p:sp>
      <p:sp>
        <p:nvSpPr>
          <p:cNvPr id="11" name="Text 7"/>
          <p:cNvSpPr/>
          <p:nvPr/>
        </p:nvSpPr>
        <p:spPr>
          <a:xfrm>
            <a:off x="8695944" y="2779776"/>
            <a:ext cx="2770632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50" dirty="0">
                <a:solidFill>
                  <a:srgbClr val="C0392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-1.2% vs 2025</a:t>
            </a:r>
            <a:endParaRPr lang="en-US" sz="1050" dirty="0"/>
          </a:p>
        </p:txBody>
      </p:sp>
      <p:sp>
        <p:nvSpPr>
          <p:cNvPr id="12" name="Shape 8"/>
          <p:cNvSpPr/>
          <p:nvPr/>
        </p:nvSpPr>
        <p:spPr>
          <a:xfrm>
            <a:off x="8549640" y="3364992"/>
            <a:ext cx="3063240" cy="1207008"/>
          </a:xfrm>
          <a:prstGeom prst="roundRect">
            <a:avLst>
              <a:gd name="adj" fmla="val 4545"/>
            </a:avLst>
          </a:prstGeom>
          <a:solidFill>
            <a:srgbClr val="F4F6FB"/>
          </a:solidFill>
          <a:ln w="9525">
            <a:solidFill>
              <a:srgbClr val="E2E7F2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3" name="Text 9"/>
          <p:cNvSpPr/>
          <p:nvPr/>
        </p:nvSpPr>
        <p:spPr>
          <a:xfrm>
            <a:off x="8695944" y="3456432"/>
            <a:ext cx="2770632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50" b="1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EUROPE YTD</a:t>
            </a:r>
            <a:endParaRPr lang="en-US" sz="1050" dirty="0"/>
          </a:p>
        </p:txBody>
      </p:sp>
      <p:sp>
        <p:nvSpPr>
          <p:cNvPr id="14" name="Text 10"/>
          <p:cNvSpPr/>
          <p:nvPr/>
        </p:nvSpPr>
        <p:spPr>
          <a:xfrm>
            <a:off x="8695944" y="3675888"/>
            <a:ext cx="2770632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400" b="1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4.25M</a:t>
            </a:r>
            <a:endParaRPr lang="en-US" sz="2400" dirty="0"/>
          </a:p>
        </p:txBody>
      </p:sp>
      <p:sp>
        <p:nvSpPr>
          <p:cNvPr id="15" name="Text 11"/>
          <p:cNvSpPr/>
          <p:nvPr/>
        </p:nvSpPr>
        <p:spPr>
          <a:xfrm>
            <a:off x="8695944" y="4133088"/>
            <a:ext cx="2770632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50" dirty="0">
                <a:solidFill>
                  <a:srgbClr val="C0392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-1.1% vs 2025</a:t>
            </a:r>
            <a:endParaRPr lang="en-US" sz="1050" dirty="0"/>
          </a:p>
        </p:txBody>
      </p:sp>
      <p:sp>
        <p:nvSpPr>
          <p:cNvPr id="16" name="Shape 12"/>
          <p:cNvSpPr/>
          <p:nvPr/>
        </p:nvSpPr>
        <p:spPr>
          <a:xfrm>
            <a:off x="8549640" y="4718304"/>
            <a:ext cx="3063240" cy="1207008"/>
          </a:xfrm>
          <a:prstGeom prst="roundRect">
            <a:avLst>
              <a:gd name="adj" fmla="val 4545"/>
            </a:avLst>
          </a:prstGeom>
          <a:solidFill>
            <a:srgbClr val="F4F6FB"/>
          </a:solidFill>
          <a:ln w="9525">
            <a:solidFill>
              <a:srgbClr val="E2E7F2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7" name="Text 13"/>
          <p:cNvSpPr/>
          <p:nvPr/>
        </p:nvSpPr>
        <p:spPr>
          <a:xfrm>
            <a:off x="8695944" y="4809744"/>
            <a:ext cx="2770632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50" b="1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USA YTD</a:t>
            </a:r>
            <a:endParaRPr lang="en-US" sz="1050" dirty="0"/>
          </a:p>
        </p:txBody>
      </p:sp>
      <p:sp>
        <p:nvSpPr>
          <p:cNvPr id="18" name="Text 14"/>
          <p:cNvSpPr/>
          <p:nvPr/>
        </p:nvSpPr>
        <p:spPr>
          <a:xfrm>
            <a:off x="8695944" y="5029200"/>
            <a:ext cx="2770632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400" b="1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796k</a:t>
            </a:r>
            <a:endParaRPr lang="en-US" sz="2400" dirty="0"/>
          </a:p>
        </p:txBody>
      </p:sp>
      <p:sp>
        <p:nvSpPr>
          <p:cNvPr id="19" name="Text 15"/>
          <p:cNvSpPr/>
          <p:nvPr/>
        </p:nvSpPr>
        <p:spPr>
          <a:xfrm>
            <a:off x="8695944" y="5486400"/>
            <a:ext cx="2770632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50" dirty="0">
                <a:solidFill>
                  <a:srgbClr val="C0392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-1.6% vs 2025</a:t>
            </a:r>
            <a:endParaRPr lang="en-US" sz="1050" dirty="0"/>
          </a:p>
        </p:txBody>
      </p:sp>
      <p:graphicFrame>
        <p:nvGraphicFramePr>
          <p:cNvPr id="20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548640" y="5193792"/>
          <a:ext cx="7726680" cy="1143000"/>
        </p:xfrm>
        <a:graphic>
          <a:graphicData uri="http://schemas.openxmlformats.org/drawingml/2006/table">
            <a:tbl>
              <a:tblPr/>
              <a:tblGrid>
                <a:gridCol w="91440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1161288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1161288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1161288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  <a:gridCol w="1161288">
                  <a:extLst>
                    <a:ext uri="{9D8B030D-6E8A-4147-A177-3AD203B41FA5}">
                      <a16:colId xmlns:a16="http://schemas.microsoft.com/office/drawing/2014/main" val="20004"/>
                    </a:ext>
                  </a:extLst>
                </a:gridCol>
                <a:gridCol w="1161288">
                  <a:extLst>
                    <a:ext uri="{9D8B030D-6E8A-4147-A177-3AD203B41FA5}">
                      <a16:colId xmlns:a16="http://schemas.microsoft.com/office/drawing/2014/main" val="20005"/>
                    </a:ext>
                  </a:extLst>
                </a:gridCol>
                <a:gridCol w="1005840">
                  <a:extLst>
                    <a:ext uri="{9D8B030D-6E8A-4147-A177-3AD203B41FA5}">
                      <a16:colId xmlns:a16="http://schemas.microsoft.com/office/drawing/2014/main" val="20006"/>
                    </a:ext>
                  </a:extLst>
                </a:gridCol>
              </a:tblGrid>
              <a:tr h="228600"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9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EU+USA</a:t>
                      </a:r>
                      <a:endParaRPr lang="en-US" sz="9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E2E7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7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7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7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E2761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9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Jan</a:t>
                      </a:r>
                      <a:endParaRPr lang="en-US" sz="9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E2E7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7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7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7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E2761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9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Feb</a:t>
                      </a:r>
                      <a:endParaRPr lang="en-US" sz="9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E2E7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7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7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7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E2761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9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Mar</a:t>
                      </a:r>
                      <a:endParaRPr lang="en-US" sz="9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E2E7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7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7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7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E2761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9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Apr</a:t>
                      </a:r>
                      <a:endParaRPr lang="en-US" sz="9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E2E7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7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7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7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E2761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9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May</a:t>
                      </a:r>
                      <a:endParaRPr lang="en-US" sz="9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E2E7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7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7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7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E2761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9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YTD</a:t>
                      </a:r>
                      <a:endParaRPr lang="en-US" sz="9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E2E7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7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7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7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E276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228600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900" b="1" dirty="0">
                          <a:solidFill>
                            <a:srgbClr val="26292E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2024</a:t>
                      </a:r>
                      <a:endParaRPr lang="en-US" sz="9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E2E7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7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7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7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r">
                        <a:buNone/>
                      </a:pPr>
                      <a:r>
                        <a:rPr lang="en-US" sz="900" dirty="0">
                          <a:solidFill>
                            <a:srgbClr val="26292E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1,026,029</a:t>
                      </a:r>
                      <a:endParaRPr lang="en-US" sz="9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E2E7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7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7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7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r">
                        <a:buNone/>
                      </a:pPr>
                      <a:r>
                        <a:rPr lang="en-US" sz="900" dirty="0">
                          <a:solidFill>
                            <a:srgbClr val="26292E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987,508</a:t>
                      </a:r>
                      <a:endParaRPr lang="en-US" sz="9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E2E7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7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7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7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r">
                        <a:buNone/>
                      </a:pPr>
                      <a:r>
                        <a:rPr lang="en-US" sz="900" dirty="0">
                          <a:solidFill>
                            <a:srgbClr val="26292E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901,645</a:t>
                      </a:r>
                      <a:endParaRPr lang="en-US" sz="9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E2E7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7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7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7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r">
                        <a:buNone/>
                      </a:pPr>
                      <a:r>
                        <a:rPr lang="en-US" sz="900" dirty="0">
                          <a:solidFill>
                            <a:srgbClr val="26292E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631,332</a:t>
                      </a:r>
                      <a:endParaRPr lang="en-US" sz="9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E2E7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7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7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7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r">
                        <a:buNone/>
                      </a:pPr>
                      <a:r>
                        <a:rPr lang="en-US" sz="900" dirty="0">
                          <a:solidFill>
                            <a:srgbClr val="26292E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440,983</a:t>
                      </a:r>
                      <a:endParaRPr lang="en-US" sz="9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E2E7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7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7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7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r">
                        <a:buNone/>
                      </a:pPr>
                      <a:r>
                        <a:rPr lang="en-US" sz="900" b="1" dirty="0">
                          <a:solidFill>
                            <a:srgbClr val="1E2761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3,987,497</a:t>
                      </a:r>
                      <a:endParaRPr lang="en-US" sz="9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E2E7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7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7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7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228600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900" b="1" dirty="0">
                          <a:solidFill>
                            <a:srgbClr val="26292E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2025</a:t>
                      </a:r>
                      <a:endParaRPr lang="en-US" sz="9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E2E7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7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7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7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6FB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r">
                        <a:buNone/>
                      </a:pPr>
                      <a:r>
                        <a:rPr lang="en-US" sz="900" dirty="0">
                          <a:solidFill>
                            <a:srgbClr val="26292E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1,257,708</a:t>
                      </a:r>
                      <a:endParaRPr lang="en-US" sz="9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E2E7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7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7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7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6FB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r">
                        <a:buNone/>
                      </a:pPr>
                      <a:r>
                        <a:rPr lang="en-US" sz="900" dirty="0">
                          <a:solidFill>
                            <a:srgbClr val="26292E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1,156,356</a:t>
                      </a:r>
                      <a:endParaRPr lang="en-US" sz="9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E2E7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7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7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7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6FB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r">
                        <a:buNone/>
                      </a:pPr>
                      <a:r>
                        <a:rPr lang="en-US" sz="900" dirty="0">
                          <a:solidFill>
                            <a:srgbClr val="26292E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1,006,483</a:t>
                      </a:r>
                      <a:endParaRPr lang="en-US" sz="9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E2E7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7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7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7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6FB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r">
                        <a:buNone/>
                      </a:pPr>
                      <a:r>
                        <a:rPr lang="en-US" sz="900" dirty="0">
                          <a:solidFill>
                            <a:srgbClr val="26292E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771,553</a:t>
                      </a:r>
                      <a:endParaRPr lang="en-US" sz="9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E2E7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7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7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7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6FB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r">
                        <a:buNone/>
                      </a:pPr>
                      <a:r>
                        <a:rPr lang="en-US" sz="900" dirty="0">
                          <a:solidFill>
                            <a:srgbClr val="26292E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465,502</a:t>
                      </a:r>
                      <a:endParaRPr lang="en-US" sz="9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E2E7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7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7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7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6FB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r">
                        <a:buNone/>
                      </a:pPr>
                      <a:r>
                        <a:rPr lang="en-US" sz="900" b="1" dirty="0">
                          <a:solidFill>
                            <a:srgbClr val="1E2761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4,657,602</a:t>
                      </a:r>
                      <a:endParaRPr lang="en-US" sz="9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E2E7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7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7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7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6FB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228600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900" b="1" dirty="0">
                          <a:solidFill>
                            <a:srgbClr val="26292E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2026</a:t>
                      </a:r>
                      <a:endParaRPr lang="en-US" sz="9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E2E7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7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7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7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r">
                        <a:buNone/>
                      </a:pPr>
                      <a:r>
                        <a:rPr lang="en-US" sz="900" dirty="0">
                          <a:solidFill>
                            <a:srgbClr val="26292E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1,366,171</a:t>
                      </a:r>
                      <a:endParaRPr lang="en-US" sz="9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E2E7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7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7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7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r">
                        <a:buNone/>
                      </a:pPr>
                      <a:r>
                        <a:rPr lang="en-US" sz="900" dirty="0">
                          <a:solidFill>
                            <a:srgbClr val="26292E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1,202,154</a:t>
                      </a:r>
                      <a:endParaRPr lang="en-US" sz="9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E2E7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7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7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7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r">
                        <a:buNone/>
                      </a:pPr>
                      <a:r>
                        <a:rPr lang="en-US" sz="900" dirty="0">
                          <a:solidFill>
                            <a:srgbClr val="26292E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967,437</a:t>
                      </a:r>
                      <a:endParaRPr lang="en-US" sz="9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E2E7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7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7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7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r">
                        <a:buNone/>
                      </a:pPr>
                      <a:r>
                        <a:rPr lang="en-US" sz="900" dirty="0">
                          <a:solidFill>
                            <a:srgbClr val="26292E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666,472</a:t>
                      </a:r>
                      <a:endParaRPr lang="en-US" sz="9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E2E7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7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7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7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r">
                        <a:buNone/>
                      </a:pPr>
                      <a:r>
                        <a:rPr lang="en-US" sz="900" dirty="0">
                          <a:solidFill>
                            <a:srgbClr val="26292E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467,734</a:t>
                      </a:r>
                      <a:endParaRPr lang="en-US" sz="9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E2E7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7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7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7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r">
                        <a:buNone/>
                      </a:pPr>
                      <a:r>
                        <a:rPr lang="en-US" sz="900" b="1" dirty="0">
                          <a:solidFill>
                            <a:srgbClr val="1E2761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4,669,968</a:t>
                      </a:r>
                      <a:endParaRPr lang="en-US" sz="9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E2E7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7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7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7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228600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900" b="1" dirty="0">
                          <a:solidFill>
                            <a:srgbClr val="6B728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26 vs 25</a:t>
                      </a:r>
                      <a:endParaRPr lang="en-US" sz="9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E2E7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7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7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7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r">
                        <a:buNone/>
                      </a:pPr>
                      <a:r>
                        <a:rPr lang="en-US" sz="900" dirty="0">
                          <a:solidFill>
                            <a:srgbClr val="2E7D32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+9%</a:t>
                      </a:r>
                      <a:endParaRPr lang="en-US" sz="9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E2E7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7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7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7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r">
                        <a:buNone/>
                      </a:pPr>
                      <a:r>
                        <a:rPr lang="en-US" sz="900" dirty="0">
                          <a:solidFill>
                            <a:srgbClr val="2E7D32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+4%</a:t>
                      </a:r>
                      <a:endParaRPr lang="en-US" sz="9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E2E7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7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7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7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r">
                        <a:buNone/>
                      </a:pPr>
                      <a:r>
                        <a:rPr lang="en-US" sz="900" dirty="0">
                          <a:solidFill>
                            <a:srgbClr val="C0392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-4%</a:t>
                      </a:r>
                      <a:endParaRPr lang="en-US" sz="9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E2E7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7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7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7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r">
                        <a:buNone/>
                      </a:pPr>
                      <a:r>
                        <a:rPr lang="en-US" sz="900" dirty="0">
                          <a:solidFill>
                            <a:srgbClr val="C0392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-14%</a:t>
                      </a:r>
                      <a:endParaRPr lang="en-US" sz="9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E2E7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7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7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7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r">
                        <a:buNone/>
                      </a:pPr>
                      <a:r>
                        <a:rPr lang="en-US" sz="900" dirty="0">
                          <a:solidFill>
                            <a:srgbClr val="2E7D32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+0%</a:t>
                      </a:r>
                      <a:endParaRPr lang="en-US" sz="9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E2E7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7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7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7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r">
                        <a:buNone/>
                      </a:pPr>
                      <a:r>
                        <a:rPr lang="en-US" sz="900" b="1" dirty="0">
                          <a:solidFill>
                            <a:srgbClr val="C0392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-1.2%</a:t>
                      </a:r>
                      <a:endParaRPr lang="en-US" sz="9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E2E7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7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7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7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</a:tbl>
          </a:graphicData>
        </a:graphic>
      </p:graphicFrame>
      <p:sp>
        <p:nvSpPr>
          <p:cNvPr id="21" name="Text 16"/>
          <p:cNvSpPr/>
          <p:nvPr/>
        </p:nvSpPr>
        <p:spPr>
          <a:xfrm>
            <a:off x="8549640" y="5257800"/>
            <a:ext cx="3108960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50" i="1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Long-haul stable at record levels — strong Jan–Feb offset a softer April.</a:t>
            </a:r>
            <a:endParaRPr lang="en-US" sz="1050" dirty="0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02060"/>
        </a:soli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5E4E22DB-AFAD-6BDF-F76E-FF39AE62E5DC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>
            <a:extLst>
              <a:ext uri="{FF2B5EF4-FFF2-40B4-BE49-F238E27FC236}">
                <a16:creationId xmlns:a16="http://schemas.microsoft.com/office/drawing/2014/main" id="{6079A81D-15BF-EB2A-A929-89FBC8E2147F}"/>
              </a:ext>
            </a:extLst>
          </p:cNvPr>
          <p:cNvSpPr/>
          <p:nvPr/>
        </p:nvSpPr>
        <p:spPr>
          <a:xfrm>
            <a:off x="548640" y="1965960"/>
            <a:ext cx="2011680" cy="1554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600" b="1" dirty="0">
                <a:solidFill>
                  <a:srgbClr val="D9A44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1.1</a:t>
            </a:r>
            <a:endParaRPr lang="en-US" sz="9600" dirty="0"/>
          </a:p>
        </p:txBody>
      </p:sp>
      <p:sp>
        <p:nvSpPr>
          <p:cNvPr id="3" name="Text 1">
            <a:extLst>
              <a:ext uri="{FF2B5EF4-FFF2-40B4-BE49-F238E27FC236}">
                <a16:creationId xmlns:a16="http://schemas.microsoft.com/office/drawing/2014/main" id="{92A079B0-9A0B-3BC6-B93A-2183125E4175}"/>
              </a:ext>
            </a:extLst>
          </p:cNvPr>
          <p:cNvSpPr/>
          <p:nvPr/>
        </p:nvSpPr>
        <p:spPr>
          <a:xfrm>
            <a:off x="2514600" y="1965960"/>
            <a:ext cx="6944360" cy="169244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r>
              <a:rPr lang="en-US" sz="4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Bangkok Tourist Arrivals + Revenue from tourists</a:t>
            </a:r>
          </a:p>
          <a:p>
            <a:r>
              <a:rPr lang="en-US" sz="4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Bangkok Hotel Market</a:t>
            </a:r>
            <a:endParaRPr lang="en-US" sz="4000" dirty="0"/>
          </a:p>
        </p:txBody>
      </p:sp>
      <p:sp>
        <p:nvSpPr>
          <p:cNvPr id="5" name="Text 3">
            <a:extLst>
              <a:ext uri="{FF2B5EF4-FFF2-40B4-BE49-F238E27FC236}">
                <a16:creationId xmlns:a16="http://schemas.microsoft.com/office/drawing/2014/main" id="{6DD7B280-FDD1-D9D8-D92B-43DD8A8103BB}"/>
              </a:ext>
            </a:extLst>
          </p:cNvPr>
          <p:cNvSpPr/>
          <p:nvPr/>
        </p:nvSpPr>
        <p:spPr>
          <a:xfrm>
            <a:off x="548640" y="6172200"/>
            <a:ext cx="5486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7C8BC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Mitsui Thailand Portfolio · H1 2026</a:t>
            </a:r>
            <a:endParaRPr lang="en-US" sz="1000" dirty="0"/>
          </a:p>
        </p:txBody>
      </p:sp>
    </p:spTree>
    <p:extLst>
      <p:ext uri="{BB962C8B-B14F-4D97-AF65-F5344CB8AC3E}">
        <p14:creationId xmlns:p14="http://schemas.microsoft.com/office/powerpoint/2010/main" val="1283255815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548640" y="292608"/>
            <a:ext cx="822960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100" b="1">
                <a:solidFill>
                  <a:srgbClr val="D9A441"/>
                </a:solidFill>
                <a:latin typeface="Calibri"/>
              </a:rPr>
              <a:t>SECTION 1 · TOURIST ARRIVALS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48640" y="502920"/>
            <a:ext cx="11064240" cy="566928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2800" b="1">
                <a:solidFill>
                  <a:srgbClr val="1E2761"/>
                </a:solidFill>
                <a:latin typeface="Calibri"/>
              </a:rPr>
              <a:t>Bangkok — tourist arrivals &amp; revenue from tourists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48640" y="1060704"/>
            <a:ext cx="1106424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250" dirty="0">
                <a:solidFill>
                  <a:srgbClr val="6B7280"/>
                </a:solidFill>
                <a:latin typeface="Calibri"/>
              </a:rPr>
              <a:t>H1 (Jan–Jun) each year · source: MOTS provincial data (Province arrival / Revenue from tourists sheets)</a:t>
            </a:r>
          </a:p>
        </p:txBody>
      </p:sp>
      <p:graphicFrame>
        <p:nvGraphicFramePr>
          <p:cNvPr id="5" name="Chart 4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932371212"/>
              </p:ext>
            </p:extLst>
          </p:nvPr>
        </p:nvGraphicFramePr>
        <p:xfrm>
          <a:off x="548640" y="1323594"/>
          <a:ext cx="5394960" cy="2025893"/>
        </p:xfrm>
        <a:graphic>
          <a:graphicData uri="http://schemas.openxmlformats.org/drawingml/2006/chart">
            <c:chart xmlns:c="http://schemas.openxmlformats.org/drawingml/2006/chart" xmlns:r="http://schemas.openxmlformats.org/officeDocument/2006/relationships" r:id="rId2"/>
          </a:graphicData>
        </a:graphic>
      </p:graphicFrame>
      <p:graphicFrame>
        <p:nvGraphicFramePr>
          <p:cNvPr id="6" name="Chart 5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985396153"/>
              </p:ext>
            </p:extLst>
          </p:nvPr>
        </p:nvGraphicFramePr>
        <p:xfrm>
          <a:off x="6217920" y="1323594"/>
          <a:ext cx="5394960" cy="2025893"/>
        </p:xfrm>
        <a:graphic>
          <a:graphicData uri="http://schemas.openxmlformats.org/drawingml/2006/chart">
            <c:chart xmlns:c="http://schemas.openxmlformats.org/drawingml/2006/chart" xmlns:r="http://schemas.openxmlformats.org/officeDocument/2006/relationships" r:id="rId3"/>
          </a:graphicData>
        </a:graphic>
      </p:graphicFrame>
      <p:graphicFrame>
        <p:nvGraphicFramePr>
          <p:cNvPr id="7" name="Table 6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847266589"/>
              </p:ext>
            </p:extLst>
          </p:nvPr>
        </p:nvGraphicFramePr>
        <p:xfrm>
          <a:off x="563880" y="3279913"/>
          <a:ext cx="11064240" cy="2861551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301752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201168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2011680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2011680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  <a:gridCol w="2011680">
                  <a:extLst>
                    <a:ext uri="{9D8B030D-6E8A-4147-A177-3AD203B41FA5}">
                      <a16:colId xmlns:a16="http://schemas.microsoft.com/office/drawing/2014/main" val="20004"/>
                    </a:ext>
                  </a:extLst>
                </a:gridCol>
              </a:tblGrid>
              <a:tr h="260141">
                <a:tc>
                  <a:txBody>
                    <a:bodyPr/>
                    <a:lstStyle/>
                    <a:p>
                      <a:r>
                        <a:rPr sz="1050" b="1" dirty="0">
                          <a:solidFill>
                            <a:srgbClr val="FFFFFF"/>
                          </a:solidFill>
                          <a:latin typeface="Calibri"/>
                        </a:rPr>
                        <a:t>H1</a:t>
                      </a:r>
                    </a:p>
                  </a:txBody>
                  <a:tcPr>
                    <a:solidFill>
                      <a:srgbClr val="1E2761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050" b="1">
                          <a:solidFill>
                            <a:srgbClr val="FFFFFF"/>
                          </a:solidFill>
                          <a:latin typeface="Calibri"/>
                        </a:rPr>
                        <a:t>2023</a:t>
                      </a:r>
                    </a:p>
                  </a:txBody>
                  <a:tcPr>
                    <a:solidFill>
                      <a:srgbClr val="1E2761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050" b="1">
                          <a:solidFill>
                            <a:srgbClr val="FFFFFF"/>
                          </a:solidFill>
                          <a:latin typeface="Calibri"/>
                        </a:rPr>
                        <a:t>2024</a:t>
                      </a:r>
                    </a:p>
                  </a:txBody>
                  <a:tcPr>
                    <a:solidFill>
                      <a:srgbClr val="1E2761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050" b="1" dirty="0">
                          <a:solidFill>
                            <a:srgbClr val="FFFFFF"/>
                          </a:solidFill>
                          <a:latin typeface="Calibri"/>
                        </a:rPr>
                        <a:t>2025</a:t>
                      </a:r>
                    </a:p>
                  </a:txBody>
                  <a:tcPr>
                    <a:solidFill>
                      <a:srgbClr val="1E2761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050" b="1">
                          <a:solidFill>
                            <a:srgbClr val="FFFFFF"/>
                          </a:solidFill>
                          <a:latin typeface="Calibri"/>
                        </a:rPr>
                        <a:t>2026</a:t>
                      </a:r>
                    </a:p>
                  </a:txBody>
                  <a:tcPr>
                    <a:solidFill>
                      <a:srgbClr val="1E276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260141">
                <a:tc>
                  <a:txBody>
                    <a:bodyPr/>
                    <a:lstStyle/>
                    <a:p>
                      <a:r>
                        <a:rPr sz="1050" b="1" dirty="0">
                          <a:solidFill>
                            <a:srgbClr val="26292E"/>
                          </a:solidFill>
                          <a:latin typeface="Calibri"/>
                        </a:rPr>
                        <a:t>Total arrivals (M)</a:t>
                      </a:r>
                    </a:p>
                  </a:txBody>
                  <a:tcPr>
                    <a:solidFill>
                      <a:srgbClr val="F4F6FB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050" b="0">
                          <a:solidFill>
                            <a:srgbClr val="26292E"/>
                          </a:solidFill>
                          <a:latin typeface="Calibri"/>
                        </a:rPr>
                        <a:t>27.23</a:t>
                      </a:r>
                    </a:p>
                  </a:txBody>
                  <a:tcPr>
                    <a:solidFill>
                      <a:srgbClr val="F4F6FB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050" b="0" dirty="0">
                          <a:solidFill>
                            <a:srgbClr val="26292E"/>
                          </a:solidFill>
                          <a:latin typeface="Calibri"/>
                        </a:rPr>
                        <a:t>28.32</a:t>
                      </a:r>
                    </a:p>
                  </a:txBody>
                  <a:tcPr>
                    <a:solidFill>
                      <a:srgbClr val="F4F6FB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050" b="0">
                          <a:solidFill>
                            <a:srgbClr val="26292E"/>
                          </a:solidFill>
                          <a:latin typeface="Calibri"/>
                        </a:rPr>
                        <a:t>26.98</a:t>
                      </a:r>
                    </a:p>
                  </a:txBody>
                  <a:tcPr>
                    <a:solidFill>
                      <a:srgbClr val="F4F6FB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050" b="0">
                          <a:solidFill>
                            <a:srgbClr val="26292E"/>
                          </a:solidFill>
                          <a:latin typeface="Calibri"/>
                        </a:rPr>
                        <a:t>27.86</a:t>
                      </a:r>
                    </a:p>
                  </a:txBody>
                  <a:tcPr>
                    <a:solidFill>
                      <a:srgbClr val="F4F6FB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260141">
                <a:tc>
                  <a:txBody>
                    <a:bodyPr/>
                    <a:lstStyle/>
                    <a:p>
                      <a:r>
                        <a:rPr sz="1050" b="1" dirty="0">
                          <a:solidFill>
                            <a:srgbClr val="26292E"/>
                          </a:solidFill>
                          <a:latin typeface="Calibri"/>
                        </a:rPr>
                        <a:t>- Domestic (M)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050" b="0">
                          <a:solidFill>
                            <a:srgbClr val="26292E"/>
                          </a:solidFill>
                          <a:latin typeface="Calibri"/>
                        </a:rPr>
                        <a:t>15.62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050" b="0">
                          <a:solidFill>
                            <a:srgbClr val="26292E"/>
                          </a:solidFill>
                          <a:latin typeface="Calibri"/>
                        </a:rPr>
                        <a:t>14.83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050" b="0">
                          <a:solidFill>
                            <a:srgbClr val="26292E"/>
                          </a:solidFill>
                          <a:latin typeface="Calibri"/>
                        </a:rPr>
                        <a:t>14.55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050" b="0">
                          <a:solidFill>
                            <a:srgbClr val="26292E"/>
                          </a:solidFill>
                          <a:latin typeface="Calibri"/>
                        </a:rPr>
                        <a:t>15.45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260141">
                <a:tc>
                  <a:txBody>
                    <a:bodyPr/>
                    <a:lstStyle/>
                    <a:p>
                      <a:r>
                        <a:rPr sz="1050" b="1">
                          <a:solidFill>
                            <a:srgbClr val="26292E"/>
                          </a:solidFill>
                          <a:latin typeface="Calibri"/>
                        </a:rPr>
                        <a:t>- International (M)</a:t>
                      </a:r>
                    </a:p>
                  </a:txBody>
                  <a:tcPr>
                    <a:solidFill>
                      <a:srgbClr val="F4F6FB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050" b="0">
                          <a:solidFill>
                            <a:srgbClr val="26292E"/>
                          </a:solidFill>
                          <a:latin typeface="Calibri"/>
                        </a:rPr>
                        <a:t>11.62</a:t>
                      </a:r>
                    </a:p>
                  </a:txBody>
                  <a:tcPr>
                    <a:solidFill>
                      <a:srgbClr val="F4F6FB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050" b="0">
                          <a:solidFill>
                            <a:srgbClr val="26292E"/>
                          </a:solidFill>
                          <a:latin typeface="Calibri"/>
                        </a:rPr>
                        <a:t>13.49</a:t>
                      </a:r>
                    </a:p>
                  </a:txBody>
                  <a:tcPr>
                    <a:solidFill>
                      <a:srgbClr val="F4F6FB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050" b="0">
                          <a:solidFill>
                            <a:srgbClr val="26292E"/>
                          </a:solidFill>
                          <a:latin typeface="Calibri"/>
                        </a:rPr>
                        <a:t>12.43</a:t>
                      </a:r>
                    </a:p>
                  </a:txBody>
                  <a:tcPr>
                    <a:solidFill>
                      <a:srgbClr val="F4F6FB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050" b="0">
                          <a:solidFill>
                            <a:srgbClr val="26292E"/>
                          </a:solidFill>
                          <a:latin typeface="Calibri"/>
                        </a:rPr>
                        <a:t>12.42</a:t>
                      </a:r>
                    </a:p>
                  </a:txBody>
                  <a:tcPr>
                    <a:solidFill>
                      <a:srgbClr val="F4F6FB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260141">
                <a:tc>
                  <a:txBody>
                    <a:bodyPr/>
                    <a:lstStyle/>
                    <a:p>
                      <a:r>
                        <a:rPr sz="1050" b="1" dirty="0">
                          <a:solidFill>
                            <a:srgbClr val="26292E"/>
                          </a:solidFill>
                          <a:latin typeface="Calibri"/>
                        </a:rPr>
                        <a:t>Total arrivals vs LY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050" b="0" dirty="0">
                          <a:solidFill>
                            <a:srgbClr val="26292E"/>
                          </a:solidFill>
                          <a:latin typeface="Calibri"/>
                        </a:rPr>
                        <a:t>—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050" b="0">
                          <a:solidFill>
                            <a:srgbClr val="2E7D32"/>
                          </a:solidFill>
                          <a:latin typeface="Calibri"/>
                        </a:rPr>
                        <a:t>+4.0%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050" b="0" dirty="0">
                          <a:solidFill>
                            <a:srgbClr val="C0392B"/>
                          </a:solidFill>
                          <a:latin typeface="Calibri"/>
                        </a:rPr>
                        <a:t>-4.7%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050" b="0" dirty="0">
                          <a:solidFill>
                            <a:srgbClr val="2E7D32"/>
                          </a:solidFill>
                          <a:latin typeface="Calibri"/>
                        </a:rPr>
                        <a:t>+3.3%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  <a:tr h="260141">
                <a:tc>
                  <a:txBody>
                    <a:bodyPr/>
                    <a:lstStyle/>
                    <a:p>
                      <a:r>
                        <a:rPr sz="1050" b="1">
                          <a:solidFill>
                            <a:srgbClr val="26292E"/>
                          </a:solidFill>
                          <a:latin typeface="Calibri"/>
                        </a:rPr>
                        <a:t>Intl arrivals vs LY</a:t>
                      </a:r>
                    </a:p>
                  </a:txBody>
                  <a:tcPr>
                    <a:solidFill>
                      <a:srgbClr val="F4F6FB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050" b="0">
                          <a:solidFill>
                            <a:srgbClr val="26292E"/>
                          </a:solidFill>
                          <a:latin typeface="Calibri"/>
                        </a:rPr>
                        <a:t>—</a:t>
                      </a:r>
                    </a:p>
                  </a:txBody>
                  <a:tcPr>
                    <a:solidFill>
                      <a:srgbClr val="F4F6FB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050" b="0">
                          <a:solidFill>
                            <a:srgbClr val="2E7D32"/>
                          </a:solidFill>
                          <a:latin typeface="Calibri"/>
                        </a:rPr>
                        <a:t>+16.2%</a:t>
                      </a:r>
                    </a:p>
                  </a:txBody>
                  <a:tcPr>
                    <a:solidFill>
                      <a:srgbClr val="F4F6FB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050" b="0">
                          <a:solidFill>
                            <a:srgbClr val="C0392B"/>
                          </a:solidFill>
                          <a:latin typeface="Calibri"/>
                        </a:rPr>
                        <a:t>-7.9%</a:t>
                      </a:r>
                    </a:p>
                  </a:txBody>
                  <a:tcPr>
                    <a:solidFill>
                      <a:srgbClr val="F4F6FB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050" b="0" dirty="0">
                          <a:solidFill>
                            <a:srgbClr val="C0392B"/>
                          </a:solidFill>
                          <a:latin typeface="Calibri"/>
                        </a:rPr>
                        <a:t>-0.1%</a:t>
                      </a:r>
                    </a:p>
                  </a:txBody>
                  <a:tcPr>
                    <a:solidFill>
                      <a:srgbClr val="F4F6FB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5"/>
                  </a:ext>
                </a:extLst>
              </a:tr>
              <a:tr h="260141">
                <a:tc>
                  <a:txBody>
                    <a:bodyPr/>
                    <a:lstStyle/>
                    <a:p>
                      <a:r>
                        <a:rPr sz="1050" b="1">
                          <a:solidFill>
                            <a:srgbClr val="26292E"/>
                          </a:solidFill>
                          <a:latin typeface="Calibri"/>
                        </a:rPr>
                        <a:t>Total revenue (Bn฿)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050" b="0">
                          <a:solidFill>
                            <a:srgbClr val="26292E"/>
                          </a:solidFill>
                          <a:latin typeface="Calibri"/>
                        </a:rPr>
                        <a:t>402.1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050" b="0">
                          <a:solidFill>
                            <a:srgbClr val="26292E"/>
                          </a:solidFill>
                          <a:latin typeface="Calibri"/>
                        </a:rPr>
                        <a:t>450.6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050" b="0">
                          <a:solidFill>
                            <a:srgbClr val="26292E"/>
                          </a:solidFill>
                          <a:latin typeface="Calibri"/>
                        </a:rPr>
                        <a:t>426.3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050" b="0" dirty="0">
                          <a:solidFill>
                            <a:srgbClr val="26292E"/>
                          </a:solidFill>
                          <a:latin typeface="Calibri"/>
                        </a:rPr>
                        <a:t>444.8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6"/>
                  </a:ext>
                </a:extLst>
              </a:tr>
              <a:tr h="260141">
                <a:tc>
                  <a:txBody>
                    <a:bodyPr/>
                    <a:lstStyle/>
                    <a:p>
                      <a:r>
                        <a:rPr sz="1050" b="1" dirty="0">
                          <a:solidFill>
                            <a:srgbClr val="26292E"/>
                          </a:solidFill>
                          <a:latin typeface="Calibri"/>
                        </a:rPr>
                        <a:t>- Domestic (Bn฿)</a:t>
                      </a:r>
                    </a:p>
                  </a:txBody>
                  <a:tcPr>
                    <a:solidFill>
                      <a:srgbClr val="F4F6FB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050" b="0" dirty="0">
                          <a:solidFill>
                            <a:srgbClr val="26292E"/>
                          </a:solidFill>
                          <a:latin typeface="Calibri"/>
                        </a:rPr>
                        <a:t>125.5</a:t>
                      </a:r>
                    </a:p>
                  </a:txBody>
                  <a:tcPr>
                    <a:solidFill>
                      <a:srgbClr val="F4F6FB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050" b="0" dirty="0">
                          <a:solidFill>
                            <a:srgbClr val="26292E"/>
                          </a:solidFill>
                          <a:latin typeface="Calibri"/>
                        </a:rPr>
                        <a:t>124.5</a:t>
                      </a:r>
                    </a:p>
                  </a:txBody>
                  <a:tcPr>
                    <a:solidFill>
                      <a:srgbClr val="F4F6FB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050" b="0">
                          <a:solidFill>
                            <a:srgbClr val="26292E"/>
                          </a:solidFill>
                          <a:latin typeface="Calibri"/>
                        </a:rPr>
                        <a:t>122.4</a:t>
                      </a:r>
                    </a:p>
                  </a:txBody>
                  <a:tcPr>
                    <a:solidFill>
                      <a:srgbClr val="F4F6FB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050" b="0" dirty="0">
                          <a:solidFill>
                            <a:srgbClr val="26292E"/>
                          </a:solidFill>
                          <a:latin typeface="Calibri"/>
                        </a:rPr>
                        <a:t>133.4</a:t>
                      </a:r>
                    </a:p>
                  </a:txBody>
                  <a:tcPr>
                    <a:solidFill>
                      <a:srgbClr val="F4F6FB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7"/>
                  </a:ext>
                </a:extLst>
              </a:tr>
              <a:tr h="260141">
                <a:tc>
                  <a:txBody>
                    <a:bodyPr/>
                    <a:lstStyle/>
                    <a:p>
                      <a:r>
                        <a:rPr sz="1050" b="1">
                          <a:solidFill>
                            <a:srgbClr val="26292E"/>
                          </a:solidFill>
                          <a:latin typeface="Calibri"/>
                        </a:rPr>
                        <a:t>- International (Bn฿)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050" b="0">
                          <a:solidFill>
                            <a:srgbClr val="26292E"/>
                          </a:solidFill>
                          <a:latin typeface="Calibri"/>
                        </a:rPr>
                        <a:t>276.6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050" b="0">
                          <a:solidFill>
                            <a:srgbClr val="26292E"/>
                          </a:solidFill>
                          <a:latin typeface="Calibri"/>
                        </a:rPr>
                        <a:t>326.1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050" b="0">
                          <a:solidFill>
                            <a:srgbClr val="26292E"/>
                          </a:solidFill>
                          <a:latin typeface="Calibri"/>
                        </a:rPr>
                        <a:t>304.0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050" b="0" dirty="0">
                          <a:solidFill>
                            <a:srgbClr val="26292E"/>
                          </a:solidFill>
                          <a:latin typeface="Calibri"/>
                        </a:rPr>
                        <a:t>311.5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8"/>
                  </a:ext>
                </a:extLst>
              </a:tr>
              <a:tr h="260141">
                <a:tc>
                  <a:txBody>
                    <a:bodyPr/>
                    <a:lstStyle/>
                    <a:p>
                      <a:r>
                        <a:rPr sz="1050" b="1" dirty="0">
                          <a:solidFill>
                            <a:srgbClr val="26292E"/>
                          </a:solidFill>
                          <a:latin typeface="Calibri"/>
                        </a:rPr>
                        <a:t>Total revenue vs LY</a:t>
                      </a:r>
                    </a:p>
                  </a:txBody>
                  <a:tcPr>
                    <a:solidFill>
                      <a:srgbClr val="F4F6FB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050" b="0" dirty="0">
                          <a:solidFill>
                            <a:srgbClr val="26292E"/>
                          </a:solidFill>
                          <a:latin typeface="Calibri"/>
                        </a:rPr>
                        <a:t>—</a:t>
                      </a:r>
                    </a:p>
                  </a:txBody>
                  <a:tcPr>
                    <a:solidFill>
                      <a:srgbClr val="F4F6FB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050" b="0">
                          <a:solidFill>
                            <a:srgbClr val="2E7D32"/>
                          </a:solidFill>
                          <a:latin typeface="Calibri"/>
                        </a:rPr>
                        <a:t>+12.1%</a:t>
                      </a:r>
                    </a:p>
                  </a:txBody>
                  <a:tcPr>
                    <a:solidFill>
                      <a:srgbClr val="F4F6FB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050" b="0">
                          <a:solidFill>
                            <a:srgbClr val="C0392B"/>
                          </a:solidFill>
                          <a:latin typeface="Calibri"/>
                        </a:rPr>
                        <a:t>-5.4%</a:t>
                      </a:r>
                    </a:p>
                  </a:txBody>
                  <a:tcPr>
                    <a:solidFill>
                      <a:srgbClr val="F4F6FB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050" b="0" dirty="0">
                          <a:solidFill>
                            <a:srgbClr val="2E7D32"/>
                          </a:solidFill>
                          <a:latin typeface="Calibri"/>
                        </a:rPr>
                        <a:t>+4.3%</a:t>
                      </a:r>
                    </a:p>
                  </a:txBody>
                  <a:tcPr>
                    <a:solidFill>
                      <a:srgbClr val="F4F6FB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9"/>
                  </a:ext>
                </a:extLst>
              </a:tr>
              <a:tr h="260141">
                <a:tc>
                  <a:txBody>
                    <a:bodyPr/>
                    <a:lstStyle/>
                    <a:p>
                      <a:r>
                        <a:rPr sz="1050" b="1">
                          <a:solidFill>
                            <a:srgbClr val="26292E"/>
                          </a:solidFill>
                          <a:latin typeface="Calibri"/>
                        </a:rPr>
                        <a:t>Intl revenue vs LY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050" b="0">
                          <a:solidFill>
                            <a:srgbClr val="26292E"/>
                          </a:solidFill>
                          <a:latin typeface="Calibri"/>
                        </a:rPr>
                        <a:t>—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050" b="0" dirty="0">
                          <a:solidFill>
                            <a:srgbClr val="2E7D32"/>
                          </a:solidFill>
                          <a:latin typeface="Calibri"/>
                        </a:rPr>
                        <a:t>+17.9%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050" b="0" dirty="0">
                          <a:solidFill>
                            <a:srgbClr val="C0392B"/>
                          </a:solidFill>
                          <a:latin typeface="Calibri"/>
                        </a:rPr>
                        <a:t>-6.8%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050" b="0" dirty="0">
                          <a:solidFill>
                            <a:srgbClr val="2E7D32"/>
                          </a:solidFill>
                          <a:latin typeface="Calibri"/>
                        </a:rPr>
                        <a:t>+2.5%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10"/>
                  </a:ext>
                </a:extLst>
              </a:tr>
            </a:tbl>
          </a:graphicData>
        </a:graphic>
      </p:graphicFrame>
      <p:sp>
        <p:nvSpPr>
          <p:cNvPr id="9" name="TextBox 8">
            <a:extLst>
              <a:ext uri="{FF2B5EF4-FFF2-40B4-BE49-F238E27FC236}">
                <a16:creationId xmlns:a16="http://schemas.microsoft.com/office/drawing/2014/main" id="{638C1245-2B94-E895-1548-4E1A61CE948D}"/>
              </a:ext>
            </a:extLst>
          </p:cNvPr>
          <p:cNvSpPr txBox="1"/>
          <p:nvPr/>
        </p:nvSpPr>
        <p:spPr>
          <a:xfrm>
            <a:off x="545658" y="6211039"/>
            <a:ext cx="11064240" cy="43088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171450" indent="-171450" algn="l">
              <a:buFont typeface="Arial" panose="020B0604020202020204" pitchFamily="34" charset="0"/>
              <a:buChar char="•"/>
            </a:pPr>
            <a:r>
              <a:rPr lang="en-US" sz="1100" dirty="0">
                <a:solidFill>
                  <a:sysClr val="windowText" lastClr="000000"/>
                </a:solidFill>
              </a:rPr>
              <a:t> Arrival BKK 2026</a:t>
            </a:r>
            <a:r>
              <a:rPr lang="en-US" sz="1100" baseline="0" dirty="0">
                <a:solidFill>
                  <a:sysClr val="windowText" lastClr="000000"/>
                </a:solidFill>
              </a:rPr>
              <a:t> is higher than 2025 3.3% but when we compare just foreigner showing that in </a:t>
            </a:r>
            <a:r>
              <a:rPr lang="en-US" sz="1100" baseline="0" dirty="0" err="1">
                <a:solidFill>
                  <a:sysClr val="windowText" lastClr="000000"/>
                </a:solidFill>
              </a:rPr>
              <a:t>foriegner</a:t>
            </a:r>
            <a:r>
              <a:rPr lang="en-US" sz="1100" baseline="0" dirty="0">
                <a:solidFill>
                  <a:sysClr val="windowText" lastClr="000000"/>
                </a:solidFill>
              </a:rPr>
              <a:t> arrival is similar to 2025 (-0.1%)</a:t>
            </a:r>
            <a:endParaRPr lang="en-US" sz="1100" dirty="0">
              <a:solidFill>
                <a:sysClr val="windowText" lastClr="000000"/>
              </a:solidFill>
            </a:endParaRPr>
          </a:p>
          <a:p>
            <a:pPr marL="171450" indent="-171450" algn="l">
              <a:buFont typeface="Arial" panose="020B0604020202020204" pitchFamily="34" charset="0"/>
              <a:buChar char="•"/>
            </a:pPr>
            <a:r>
              <a:rPr lang="en-US" sz="1100" baseline="0" dirty="0">
                <a:solidFill>
                  <a:sysClr val="windowText" lastClr="000000"/>
                </a:solidFill>
              </a:rPr>
              <a:t>Revenue from Foreigner is more than 2025 a round +2.5% with missing for data 4 days</a:t>
            </a:r>
          </a:p>
        </p:txBody>
      </p:sp>
    </p:spTree>
    <p:extLst>
      <p:ext uri="{BB962C8B-B14F-4D97-AF65-F5344CB8AC3E}">
        <p14:creationId xmlns:p14="http://schemas.microsoft.com/office/powerpoint/2010/main" val="2771556308"/>
      </p:ext>
    </p:ext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1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292608"/>
            <a:ext cx="8229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b="1" kern="0" spc="200" dirty="0">
                <a:solidFill>
                  <a:srgbClr val="D9A44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SECTION 2 · MARKET (STR)</a:t>
            </a:r>
            <a:endParaRPr lang="en-US" sz="1100" dirty="0"/>
          </a:p>
        </p:txBody>
      </p:sp>
      <p:sp>
        <p:nvSpPr>
          <p:cNvPr id="3" name="Text 1"/>
          <p:cNvSpPr/>
          <p:nvPr/>
        </p:nvSpPr>
        <p:spPr>
          <a:xfrm>
            <a:off x="548640" y="502920"/>
            <a:ext cx="11091672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800" b="1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Bangkok market — Occ / ADR / RevPAR</a:t>
            </a:r>
            <a:endParaRPr lang="en-US" sz="2800" dirty="0"/>
          </a:p>
        </p:txBody>
      </p:sp>
      <p:sp>
        <p:nvSpPr>
          <p:cNvPr id="4" name="Text 2"/>
          <p:cNvSpPr/>
          <p:nvPr/>
        </p:nvSpPr>
        <p:spPr>
          <a:xfrm>
            <a:off x="548640" y="1060704"/>
            <a:ext cx="11091672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5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STR market basis (re-based Jun 2026) · Jan–Jun · 2025 derived from reported % change · prior years not comparable</a:t>
            </a:r>
            <a:endParaRPr lang="en-US" sz="1250" dirty="0"/>
          </a:p>
        </p:txBody>
      </p:sp>
      <p:sp>
        <p:nvSpPr>
          <p:cNvPr id="5" name="Text 3"/>
          <p:cNvSpPr/>
          <p:nvPr/>
        </p:nvSpPr>
        <p:spPr>
          <a:xfrm>
            <a:off x="8165592" y="310896"/>
            <a:ext cx="34747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90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Mitsui Thailand Portfolio · H1 2026</a:t>
            </a:r>
            <a:endParaRPr lang="en-US" sz="900" dirty="0"/>
          </a:p>
        </p:txBody>
      </p:sp>
      <p:graphicFrame>
        <p:nvGraphicFramePr>
          <p:cNvPr id="6" name="Chart 0"/>
          <p:cNvGraphicFramePr/>
          <p:nvPr/>
        </p:nvGraphicFramePr>
        <p:xfrm>
          <a:off x="548640" y="1828800"/>
          <a:ext cx="3611880" cy="3977640"/>
        </p:xfrm>
        <a:graphic>
          <a:graphicData uri="http://schemas.openxmlformats.org/drawingml/2006/chart">
            <c:chart xmlns:c="http://schemas.openxmlformats.org/drawingml/2006/chart" xmlns:r="http://schemas.openxmlformats.org/officeDocument/2006/relationships" r:id="rId3"/>
          </a:graphicData>
        </a:graphic>
      </p:graphicFrame>
      <p:graphicFrame>
        <p:nvGraphicFramePr>
          <p:cNvPr id="7" name="Chart 1"/>
          <p:cNvGraphicFramePr/>
          <p:nvPr/>
        </p:nvGraphicFramePr>
        <p:xfrm>
          <a:off x="4343400" y="1828800"/>
          <a:ext cx="3611880" cy="3977640"/>
        </p:xfrm>
        <a:graphic>
          <a:graphicData uri="http://schemas.openxmlformats.org/drawingml/2006/chart">
            <c:chart xmlns:c="http://schemas.openxmlformats.org/drawingml/2006/chart" xmlns:r="http://schemas.openxmlformats.org/officeDocument/2006/relationships" r:id="rId4"/>
          </a:graphicData>
        </a:graphic>
      </p:graphicFrame>
      <p:graphicFrame>
        <p:nvGraphicFramePr>
          <p:cNvPr id="8" name="Chart 2"/>
          <p:cNvGraphicFramePr/>
          <p:nvPr/>
        </p:nvGraphicFramePr>
        <p:xfrm>
          <a:off x="8138160" y="1828800"/>
          <a:ext cx="3611880" cy="3977640"/>
        </p:xfrm>
        <a:graphic>
          <a:graphicData uri="http://schemas.openxmlformats.org/drawingml/2006/chart">
            <c:chart xmlns:c="http://schemas.openxmlformats.org/drawingml/2006/chart" xmlns:r="http://schemas.openxmlformats.org/officeDocument/2006/relationships" r:id="rId5"/>
          </a:graphicData>
        </a:graphic>
      </p:graphicFrame>
      <p:sp>
        <p:nvSpPr>
          <p:cNvPr id="9" name="Text 4"/>
          <p:cNvSpPr/>
          <p:nvPr/>
        </p:nvSpPr>
        <p:spPr>
          <a:xfrm>
            <a:off x="548640" y="5897880"/>
            <a:ext cx="108813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50" b="1" dirty="0">
                <a:solidFill>
                  <a:srgbClr val="2E7D3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H1 2026 vs 2025 (Compset sheet):   Occ +1.8 pts   ·   </a:t>
            </a:r>
            <a:r>
              <a:rPr lang="en-US" sz="1250" b="1" dirty="0">
                <a:solidFill>
                  <a:srgbClr val="FF00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ADR -1.1%</a:t>
            </a:r>
            <a:r>
              <a:rPr lang="en-US" sz="1250" b="1" dirty="0">
                <a:solidFill>
                  <a:srgbClr val="2E7D3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  ·   RevPAR +1.4%</a:t>
            </a:r>
            <a:endParaRPr lang="en-US" sz="1250" dirty="0"/>
          </a:p>
        </p:txBody>
      </p:sp>
      <p:sp>
        <p:nvSpPr>
          <p:cNvPr id="10" name="Text 5"/>
          <p:cNvSpPr/>
          <p:nvPr/>
        </p:nvSpPr>
        <p:spPr>
          <a:xfrm>
            <a:off x="548640" y="6199632"/>
            <a:ext cx="10881360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50" i="1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Series per the workbook Compset sheet (updated Jul 2026): the broad Bangkok market held rate in H1 (ADR −1.1%) and grew occupancy (+1.8 pts) — the deep discounting sits in our direct serviced-apartment compsets, not the whole market.</a:t>
            </a:r>
            <a:endParaRPr lang="en-US" sz="1050" dirty="0"/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4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292608"/>
            <a:ext cx="8229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b="1" kern="0" spc="200" dirty="0">
                <a:solidFill>
                  <a:srgbClr val="D9A44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SECTION 2 · MARKET (STR)</a:t>
            </a:r>
            <a:endParaRPr lang="en-US" sz="1100" dirty="0"/>
          </a:p>
        </p:txBody>
      </p:sp>
      <p:sp>
        <p:nvSpPr>
          <p:cNvPr id="3" name="Text 1"/>
          <p:cNvSpPr/>
          <p:nvPr/>
        </p:nvSpPr>
        <p:spPr>
          <a:xfrm>
            <a:off x="548640" y="502920"/>
            <a:ext cx="11091672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800" b="1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Us vs our compsets — H1 2026</a:t>
            </a:r>
            <a:endParaRPr lang="en-US" sz="2800" dirty="0"/>
          </a:p>
        </p:txBody>
      </p:sp>
      <p:sp>
        <p:nvSpPr>
          <p:cNvPr id="4" name="Text 2"/>
          <p:cNvSpPr/>
          <p:nvPr/>
        </p:nvSpPr>
        <p:spPr>
          <a:xfrm>
            <a:off x="548640" y="1060704"/>
            <a:ext cx="11091672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5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Each hotel against its own STR competitive set · Jan–Jun · STR basis (differs from result-sheet ADR)</a:t>
            </a:r>
            <a:endParaRPr lang="en-US" sz="1250" dirty="0"/>
          </a:p>
        </p:txBody>
      </p:sp>
      <p:sp>
        <p:nvSpPr>
          <p:cNvPr id="5" name="Text 3"/>
          <p:cNvSpPr/>
          <p:nvPr/>
        </p:nvSpPr>
        <p:spPr>
          <a:xfrm>
            <a:off x="8165592" y="310896"/>
            <a:ext cx="34747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90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Mitsui Thailand Portfolio · H1 2026</a:t>
            </a:r>
            <a:endParaRPr lang="en-US" sz="900" dirty="0"/>
          </a:p>
        </p:txBody>
      </p:sp>
      <p:graphicFrame>
        <p:nvGraphicFramePr>
          <p:cNvPr id="9" name="Table 8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36985682"/>
              </p:ext>
            </p:extLst>
          </p:nvPr>
        </p:nvGraphicFramePr>
        <p:xfrm>
          <a:off x="714956" y="1441570"/>
          <a:ext cx="10762088" cy="210312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109036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1286482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931591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1109036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  <a:gridCol w="1153398">
                  <a:extLst>
                    <a:ext uri="{9D8B030D-6E8A-4147-A177-3AD203B41FA5}">
                      <a16:colId xmlns:a16="http://schemas.microsoft.com/office/drawing/2014/main" val="20004"/>
                    </a:ext>
                  </a:extLst>
                </a:gridCol>
                <a:gridCol w="1064675">
                  <a:extLst>
                    <a:ext uri="{9D8B030D-6E8A-4147-A177-3AD203B41FA5}">
                      <a16:colId xmlns:a16="http://schemas.microsoft.com/office/drawing/2014/main" val="20005"/>
                    </a:ext>
                  </a:extLst>
                </a:gridCol>
                <a:gridCol w="1286482">
                  <a:extLst>
                    <a:ext uri="{9D8B030D-6E8A-4147-A177-3AD203B41FA5}">
                      <a16:colId xmlns:a16="http://schemas.microsoft.com/office/drawing/2014/main" val="20006"/>
                    </a:ext>
                  </a:extLst>
                </a:gridCol>
                <a:gridCol w="1286482">
                  <a:extLst>
                    <a:ext uri="{9D8B030D-6E8A-4147-A177-3AD203B41FA5}">
                      <a16:colId xmlns:a16="http://schemas.microsoft.com/office/drawing/2014/main" val="20007"/>
                    </a:ext>
                  </a:extLst>
                </a:gridCol>
                <a:gridCol w="1534906">
                  <a:extLst>
                    <a:ext uri="{9D8B030D-6E8A-4147-A177-3AD203B41FA5}">
                      <a16:colId xmlns:a16="http://schemas.microsoft.com/office/drawing/2014/main" val="20008"/>
                    </a:ext>
                  </a:extLst>
                </a:gridCol>
              </a:tblGrid>
              <a:tr h="189004">
                <a:tc>
                  <a:txBody>
                    <a:bodyPr/>
                    <a:lstStyle/>
                    <a:p>
                      <a:r>
                        <a:rPr sz="1050" b="1" dirty="0">
                          <a:solidFill>
                            <a:srgbClr val="FFFFFF"/>
                          </a:solidFill>
                          <a:latin typeface="Calibri"/>
                        </a:rPr>
                        <a:t>Hotel</a:t>
                      </a:r>
                    </a:p>
                  </a:txBody>
                  <a:tcPr>
                    <a:solidFill>
                      <a:srgbClr val="1E2761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050" b="1">
                          <a:solidFill>
                            <a:srgbClr val="FFFFFF"/>
                          </a:solidFill>
                          <a:latin typeface="Calibri"/>
                        </a:rPr>
                        <a:t>Series</a:t>
                      </a:r>
                    </a:p>
                  </a:txBody>
                  <a:tcPr>
                    <a:solidFill>
                      <a:srgbClr val="1E2761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050" b="1">
                          <a:solidFill>
                            <a:srgbClr val="FFFFFF"/>
                          </a:solidFill>
                          <a:latin typeface="Calibri"/>
                        </a:rPr>
                        <a:t>Occ H1</a:t>
                      </a:r>
                    </a:p>
                  </a:txBody>
                  <a:tcPr>
                    <a:solidFill>
                      <a:srgbClr val="1E2761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050" b="1">
                          <a:solidFill>
                            <a:srgbClr val="FFFFFF"/>
                          </a:solidFill>
                          <a:latin typeface="Calibri"/>
                        </a:rPr>
                        <a:t>Occ vs LY</a:t>
                      </a:r>
                    </a:p>
                  </a:txBody>
                  <a:tcPr>
                    <a:solidFill>
                      <a:srgbClr val="1E2761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050" b="1">
                          <a:solidFill>
                            <a:srgbClr val="FFFFFF"/>
                          </a:solidFill>
                          <a:latin typeface="Calibri"/>
                        </a:rPr>
                        <a:t>ADR H1 (฿)</a:t>
                      </a:r>
                    </a:p>
                  </a:txBody>
                  <a:tcPr>
                    <a:solidFill>
                      <a:srgbClr val="1E2761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050" b="1">
                          <a:solidFill>
                            <a:srgbClr val="FFFFFF"/>
                          </a:solidFill>
                          <a:latin typeface="Calibri"/>
                        </a:rPr>
                        <a:t>ADR vs LY</a:t>
                      </a:r>
                    </a:p>
                  </a:txBody>
                  <a:tcPr>
                    <a:solidFill>
                      <a:srgbClr val="1E2761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050" b="1">
                          <a:solidFill>
                            <a:srgbClr val="FFFFFF"/>
                          </a:solidFill>
                          <a:latin typeface="Calibri"/>
                        </a:rPr>
                        <a:t>RevPAR H1 (฿)</a:t>
                      </a:r>
                    </a:p>
                  </a:txBody>
                  <a:tcPr>
                    <a:solidFill>
                      <a:srgbClr val="1E2761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050" b="1">
                          <a:solidFill>
                            <a:srgbClr val="FFFFFF"/>
                          </a:solidFill>
                          <a:latin typeface="Calibri"/>
                        </a:rPr>
                        <a:t>RevPAR vs LY</a:t>
                      </a:r>
                    </a:p>
                  </a:txBody>
                  <a:tcPr>
                    <a:solidFill>
                      <a:srgbClr val="1E2761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050" b="1" dirty="0">
                          <a:solidFill>
                            <a:srgbClr val="FFFFFF"/>
                          </a:solidFill>
                          <a:latin typeface="Calibri"/>
                        </a:rPr>
                        <a:t>Rank </a:t>
                      </a:r>
                      <a:r>
                        <a:rPr sz="1050" b="1" dirty="0" err="1">
                          <a:solidFill>
                            <a:srgbClr val="FFFFFF"/>
                          </a:solidFill>
                          <a:latin typeface="Calibri"/>
                        </a:rPr>
                        <a:t>Occ·ADR·RevPAR</a:t>
                      </a:r>
                      <a:endParaRPr sz="1050" b="1" dirty="0">
                        <a:solidFill>
                          <a:srgbClr val="FFFFFF"/>
                        </a:solidFill>
                        <a:latin typeface="Calibri"/>
                      </a:endParaRPr>
                    </a:p>
                  </a:txBody>
                  <a:tcPr>
                    <a:solidFill>
                      <a:srgbClr val="1E276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173254">
                <a:tc>
                  <a:txBody>
                    <a:bodyPr/>
                    <a:lstStyle/>
                    <a:p>
                      <a:r>
                        <a:rPr sz="1050" b="1">
                          <a:solidFill>
                            <a:srgbClr val="26292E"/>
                          </a:solidFill>
                          <a:latin typeface="Calibri"/>
                        </a:rPr>
                        <a:t>SR9</a:t>
                      </a:r>
                    </a:p>
                  </a:txBody>
                  <a:tcPr>
                    <a:solidFill>
                      <a:srgbClr val="F4F6FB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050" b="1">
                          <a:solidFill>
                            <a:srgbClr val="26292E"/>
                          </a:solidFill>
                          <a:latin typeface="Calibri"/>
                        </a:rPr>
                        <a:t>My property</a:t>
                      </a:r>
                    </a:p>
                  </a:txBody>
                  <a:tcPr>
                    <a:solidFill>
                      <a:srgbClr val="F4F6FB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050" b="0">
                          <a:solidFill>
                            <a:srgbClr val="26292E"/>
                          </a:solidFill>
                          <a:latin typeface="Calibri"/>
                        </a:rPr>
                        <a:t>80.8%</a:t>
                      </a:r>
                    </a:p>
                  </a:txBody>
                  <a:tcPr>
                    <a:solidFill>
                      <a:srgbClr val="F4F6FB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050" b="0" dirty="0">
                          <a:solidFill>
                            <a:srgbClr val="2E7D32"/>
                          </a:solidFill>
                          <a:latin typeface="Calibri"/>
                        </a:rPr>
                        <a:t>+4.8%</a:t>
                      </a:r>
                    </a:p>
                  </a:txBody>
                  <a:tcPr>
                    <a:solidFill>
                      <a:srgbClr val="F4F6FB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050" b="0">
                          <a:solidFill>
                            <a:srgbClr val="26292E"/>
                          </a:solidFill>
                          <a:latin typeface="Calibri"/>
                        </a:rPr>
                        <a:t>2,891</a:t>
                      </a:r>
                    </a:p>
                  </a:txBody>
                  <a:tcPr>
                    <a:solidFill>
                      <a:srgbClr val="F4F6FB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050" b="0" dirty="0">
                          <a:solidFill>
                            <a:srgbClr val="C0392B"/>
                          </a:solidFill>
                          <a:latin typeface="Calibri"/>
                        </a:rPr>
                        <a:t>-3.3%</a:t>
                      </a:r>
                    </a:p>
                  </a:txBody>
                  <a:tcPr>
                    <a:solidFill>
                      <a:srgbClr val="F4F6FB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050" b="0">
                          <a:solidFill>
                            <a:srgbClr val="26292E"/>
                          </a:solidFill>
                          <a:latin typeface="Calibri"/>
                        </a:rPr>
                        <a:t>2,336</a:t>
                      </a:r>
                    </a:p>
                  </a:txBody>
                  <a:tcPr>
                    <a:solidFill>
                      <a:srgbClr val="F4F6FB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050" b="0">
                          <a:solidFill>
                            <a:srgbClr val="2E7D32"/>
                          </a:solidFill>
                          <a:latin typeface="Calibri"/>
                        </a:rPr>
                        <a:t>+1.3%</a:t>
                      </a:r>
                    </a:p>
                  </a:txBody>
                  <a:tcPr>
                    <a:solidFill>
                      <a:srgbClr val="F4F6FB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050" b="0">
                          <a:solidFill>
                            <a:srgbClr val="26292E"/>
                          </a:solidFill>
                          <a:latin typeface="Calibri"/>
                        </a:rPr>
                        <a:t>2 of 6 · 2 of 6 · 2 of 6</a:t>
                      </a:r>
                    </a:p>
                  </a:txBody>
                  <a:tcPr>
                    <a:solidFill>
                      <a:srgbClr val="F4F6FB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252006">
                <a:tc>
                  <a:txBody>
                    <a:bodyPr/>
                    <a:lstStyle/>
                    <a:p>
                      <a:r>
                        <a:rPr sz="1050" b="1" dirty="0">
                          <a:solidFill>
                            <a:srgbClr val="26292E"/>
                          </a:solidFill>
                          <a:latin typeface="Calibri"/>
                        </a:rPr>
                        <a:t>(</a:t>
                      </a:r>
                      <a:r>
                        <a:rPr sz="1050" b="1" dirty="0" err="1">
                          <a:solidFill>
                            <a:srgbClr val="26292E"/>
                          </a:solidFill>
                          <a:latin typeface="Calibri"/>
                        </a:rPr>
                        <a:t>Rachada</a:t>
                      </a:r>
                      <a:r>
                        <a:rPr sz="1050" b="1" dirty="0">
                          <a:solidFill>
                            <a:srgbClr val="26292E"/>
                          </a:solidFill>
                          <a:latin typeface="Calibri"/>
                        </a:rPr>
                        <a:t>)</a:t>
                      </a:r>
                    </a:p>
                  </a:txBody>
                  <a:tcPr>
                    <a:solidFill>
                      <a:srgbClr val="F4F6FB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050" b="1">
                          <a:solidFill>
                            <a:srgbClr val="26292E"/>
                          </a:solidFill>
                          <a:latin typeface="Calibri"/>
                        </a:rPr>
                        <a:t>Comp set</a:t>
                      </a:r>
                    </a:p>
                  </a:txBody>
                  <a:tcPr>
                    <a:solidFill>
                      <a:srgbClr val="F4F6FB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050" b="0">
                          <a:solidFill>
                            <a:srgbClr val="6B7280"/>
                          </a:solidFill>
                          <a:latin typeface="Calibri"/>
                        </a:rPr>
                        <a:t>76.6%</a:t>
                      </a:r>
                    </a:p>
                  </a:txBody>
                  <a:tcPr>
                    <a:solidFill>
                      <a:srgbClr val="F4F6FB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050" b="0" dirty="0">
                          <a:solidFill>
                            <a:srgbClr val="2E7D32"/>
                          </a:solidFill>
                          <a:latin typeface="Calibri"/>
                        </a:rPr>
                        <a:t>+1.4%</a:t>
                      </a:r>
                    </a:p>
                  </a:txBody>
                  <a:tcPr>
                    <a:solidFill>
                      <a:srgbClr val="F4F6FB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050" b="0">
                          <a:solidFill>
                            <a:srgbClr val="6B7280"/>
                          </a:solidFill>
                          <a:latin typeface="Calibri"/>
                        </a:rPr>
                        <a:t>2,586</a:t>
                      </a:r>
                    </a:p>
                  </a:txBody>
                  <a:tcPr>
                    <a:solidFill>
                      <a:srgbClr val="F4F6FB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050" b="0" dirty="0">
                          <a:solidFill>
                            <a:srgbClr val="C0392B"/>
                          </a:solidFill>
                          <a:latin typeface="Calibri"/>
                        </a:rPr>
                        <a:t>-18.7%</a:t>
                      </a:r>
                    </a:p>
                  </a:txBody>
                  <a:tcPr>
                    <a:solidFill>
                      <a:srgbClr val="F4F6FB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050" b="0">
                          <a:solidFill>
                            <a:srgbClr val="6B7280"/>
                          </a:solidFill>
                          <a:latin typeface="Calibri"/>
                        </a:rPr>
                        <a:t>1,985</a:t>
                      </a:r>
                    </a:p>
                  </a:txBody>
                  <a:tcPr>
                    <a:solidFill>
                      <a:srgbClr val="F4F6FB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050" b="0" dirty="0">
                          <a:solidFill>
                            <a:srgbClr val="C0392B"/>
                          </a:solidFill>
                          <a:latin typeface="Calibri"/>
                        </a:rPr>
                        <a:t>-17.4%</a:t>
                      </a:r>
                    </a:p>
                  </a:txBody>
                  <a:tcPr>
                    <a:solidFill>
                      <a:srgbClr val="F4F6FB"/>
                    </a:solidFill>
                  </a:tcPr>
                </a:tc>
                <a:tc>
                  <a:txBody>
                    <a:bodyPr/>
                    <a:lstStyle/>
                    <a:p>
                      <a:endParaRPr/>
                    </a:p>
                  </a:txBody>
                  <a:tcPr>
                    <a:solidFill>
                      <a:srgbClr val="F4F6FB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173254">
                <a:tc>
                  <a:txBody>
                    <a:bodyPr/>
                    <a:lstStyle/>
                    <a:p>
                      <a:r>
                        <a:rPr sz="1050" b="1">
                          <a:solidFill>
                            <a:srgbClr val="26292E"/>
                          </a:solidFill>
                          <a:latin typeface="Calibri"/>
                        </a:rPr>
                        <a:t>AES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050" b="1">
                          <a:solidFill>
                            <a:srgbClr val="26292E"/>
                          </a:solidFill>
                          <a:latin typeface="Calibri"/>
                        </a:rPr>
                        <a:t>My property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050" b="0">
                          <a:solidFill>
                            <a:srgbClr val="26292E"/>
                          </a:solidFill>
                          <a:latin typeface="Calibri"/>
                        </a:rPr>
                        <a:t>70.4%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050" b="0" dirty="0">
                          <a:solidFill>
                            <a:srgbClr val="2E7D32"/>
                          </a:solidFill>
                          <a:latin typeface="Calibri"/>
                        </a:rPr>
                        <a:t>+3.8%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050" b="0">
                          <a:solidFill>
                            <a:srgbClr val="26292E"/>
                          </a:solidFill>
                          <a:latin typeface="Calibri"/>
                        </a:rPr>
                        <a:t>3,484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050" b="0" dirty="0">
                          <a:solidFill>
                            <a:srgbClr val="C0392B"/>
                          </a:solidFill>
                          <a:latin typeface="Calibri"/>
                        </a:rPr>
                        <a:t>-5.8%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050" b="0">
                          <a:solidFill>
                            <a:srgbClr val="26292E"/>
                          </a:solidFill>
                          <a:latin typeface="Calibri"/>
                        </a:rPr>
                        <a:t>2,454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050" b="0" dirty="0">
                          <a:solidFill>
                            <a:srgbClr val="C0392B"/>
                          </a:solidFill>
                          <a:latin typeface="Calibri"/>
                        </a:rPr>
                        <a:t>-2.2%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050" b="0">
                          <a:solidFill>
                            <a:srgbClr val="26292E"/>
                          </a:solidFill>
                          <a:latin typeface="Calibri"/>
                        </a:rPr>
                        <a:t>2 of 6 · 4 of 6 · 3 of 6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252006">
                <a:tc>
                  <a:txBody>
                    <a:bodyPr/>
                    <a:lstStyle/>
                    <a:p>
                      <a:r>
                        <a:rPr sz="1050" b="1" dirty="0">
                          <a:solidFill>
                            <a:srgbClr val="26292E"/>
                          </a:solidFill>
                          <a:latin typeface="Calibri"/>
                        </a:rPr>
                        <a:t>(Sathorn)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050" b="1">
                          <a:solidFill>
                            <a:srgbClr val="26292E"/>
                          </a:solidFill>
                          <a:latin typeface="Calibri"/>
                        </a:rPr>
                        <a:t>Comp set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050" b="0">
                          <a:solidFill>
                            <a:srgbClr val="6B7280"/>
                          </a:solidFill>
                          <a:latin typeface="Calibri"/>
                        </a:rPr>
                        <a:t>65.2%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050" b="0" dirty="0">
                          <a:solidFill>
                            <a:srgbClr val="C0392B"/>
                          </a:solidFill>
                          <a:latin typeface="Calibri"/>
                        </a:rPr>
                        <a:t>-5.3%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050" b="0" dirty="0">
                          <a:solidFill>
                            <a:srgbClr val="6B7280"/>
                          </a:solidFill>
                          <a:latin typeface="Calibri"/>
                        </a:rPr>
                        <a:t>3,328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050" b="0" dirty="0">
                          <a:solidFill>
                            <a:srgbClr val="C0392B"/>
                          </a:solidFill>
                          <a:latin typeface="Calibri"/>
                        </a:rPr>
                        <a:t>-2.4%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050" b="0" dirty="0">
                          <a:solidFill>
                            <a:srgbClr val="6B7280"/>
                          </a:solidFill>
                          <a:latin typeface="Calibri"/>
                        </a:rPr>
                        <a:t>2,170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050" b="0" dirty="0">
                          <a:solidFill>
                            <a:srgbClr val="C0392B"/>
                          </a:solidFill>
                          <a:latin typeface="Calibri"/>
                        </a:rPr>
                        <a:t>-7.6%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endParaRPr/>
                    </a:p>
                  </a:txBody>
                  <a:tcPr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  <a:tr h="189004">
                <a:tc>
                  <a:txBody>
                    <a:bodyPr/>
                    <a:lstStyle/>
                    <a:p>
                      <a:r>
                        <a:rPr sz="1050" b="1" dirty="0">
                          <a:solidFill>
                            <a:srgbClr val="26292E"/>
                          </a:solidFill>
                          <a:latin typeface="Calibri"/>
                        </a:rPr>
                        <a:t>LYF</a:t>
                      </a:r>
                    </a:p>
                  </a:txBody>
                  <a:tcPr>
                    <a:solidFill>
                      <a:srgbClr val="F4F6FB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050" b="1">
                          <a:solidFill>
                            <a:srgbClr val="26292E"/>
                          </a:solidFill>
                          <a:latin typeface="Calibri"/>
                        </a:rPr>
                        <a:t>My property</a:t>
                      </a:r>
                    </a:p>
                  </a:txBody>
                  <a:tcPr>
                    <a:solidFill>
                      <a:srgbClr val="F4F6FB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050" b="0">
                          <a:solidFill>
                            <a:srgbClr val="26292E"/>
                          </a:solidFill>
                          <a:latin typeface="Calibri"/>
                        </a:rPr>
                        <a:t>78.1%</a:t>
                      </a:r>
                    </a:p>
                  </a:txBody>
                  <a:tcPr>
                    <a:solidFill>
                      <a:srgbClr val="F4F6FB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050" b="0">
                          <a:solidFill>
                            <a:srgbClr val="C0392B"/>
                          </a:solidFill>
                          <a:latin typeface="Calibri"/>
                        </a:rPr>
                        <a:t>-1.1%</a:t>
                      </a:r>
                    </a:p>
                  </a:txBody>
                  <a:tcPr>
                    <a:solidFill>
                      <a:srgbClr val="F4F6FB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050" b="0">
                          <a:solidFill>
                            <a:srgbClr val="26292E"/>
                          </a:solidFill>
                          <a:latin typeface="Calibri"/>
                        </a:rPr>
                        <a:t>1,374</a:t>
                      </a:r>
                    </a:p>
                  </a:txBody>
                  <a:tcPr>
                    <a:solidFill>
                      <a:srgbClr val="F4F6FB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050" b="0">
                          <a:solidFill>
                            <a:srgbClr val="C0392B"/>
                          </a:solidFill>
                          <a:latin typeface="Calibri"/>
                        </a:rPr>
                        <a:t>-5.0%</a:t>
                      </a:r>
                    </a:p>
                  </a:txBody>
                  <a:tcPr>
                    <a:solidFill>
                      <a:srgbClr val="F4F6FB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050" b="0">
                          <a:solidFill>
                            <a:srgbClr val="26292E"/>
                          </a:solidFill>
                          <a:latin typeface="Calibri"/>
                        </a:rPr>
                        <a:t>1,073</a:t>
                      </a:r>
                    </a:p>
                  </a:txBody>
                  <a:tcPr>
                    <a:solidFill>
                      <a:srgbClr val="F4F6FB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050" b="0">
                          <a:solidFill>
                            <a:srgbClr val="C0392B"/>
                          </a:solidFill>
                          <a:latin typeface="Calibri"/>
                        </a:rPr>
                        <a:t>-6.1%</a:t>
                      </a:r>
                    </a:p>
                  </a:txBody>
                  <a:tcPr>
                    <a:solidFill>
                      <a:srgbClr val="F4F6FB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050" b="0">
                          <a:solidFill>
                            <a:srgbClr val="26292E"/>
                          </a:solidFill>
                          <a:latin typeface="Calibri"/>
                        </a:rPr>
                        <a:t>2 of 5 · 4 of 5 · 4 of 5</a:t>
                      </a:r>
                    </a:p>
                  </a:txBody>
                  <a:tcPr>
                    <a:solidFill>
                      <a:srgbClr val="F4F6FB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5"/>
                  </a:ext>
                </a:extLst>
              </a:tr>
              <a:tr h="252006">
                <a:tc>
                  <a:txBody>
                    <a:bodyPr/>
                    <a:lstStyle/>
                    <a:p>
                      <a:r>
                        <a:rPr sz="1050" b="1">
                          <a:solidFill>
                            <a:srgbClr val="26292E"/>
                          </a:solidFill>
                          <a:latin typeface="Calibri"/>
                        </a:rPr>
                        <a:t>(Nana)</a:t>
                      </a:r>
                    </a:p>
                  </a:txBody>
                  <a:tcPr>
                    <a:solidFill>
                      <a:srgbClr val="F4F6FB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050" b="1">
                          <a:solidFill>
                            <a:srgbClr val="26292E"/>
                          </a:solidFill>
                          <a:latin typeface="Calibri"/>
                        </a:rPr>
                        <a:t>Comp set</a:t>
                      </a:r>
                    </a:p>
                  </a:txBody>
                  <a:tcPr>
                    <a:solidFill>
                      <a:srgbClr val="F4F6FB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050" b="0">
                          <a:solidFill>
                            <a:srgbClr val="6B7280"/>
                          </a:solidFill>
                          <a:latin typeface="Calibri"/>
                        </a:rPr>
                        <a:t>68.8%</a:t>
                      </a:r>
                    </a:p>
                  </a:txBody>
                  <a:tcPr>
                    <a:solidFill>
                      <a:srgbClr val="F4F6FB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050" b="0" dirty="0">
                          <a:solidFill>
                            <a:srgbClr val="2E7D32"/>
                          </a:solidFill>
                          <a:latin typeface="Calibri"/>
                        </a:rPr>
                        <a:t>+3.7%</a:t>
                      </a:r>
                    </a:p>
                  </a:txBody>
                  <a:tcPr>
                    <a:solidFill>
                      <a:srgbClr val="F4F6FB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050" b="0">
                          <a:solidFill>
                            <a:srgbClr val="6B7280"/>
                          </a:solidFill>
                          <a:latin typeface="Calibri"/>
                        </a:rPr>
                        <a:t>2,009</a:t>
                      </a:r>
                    </a:p>
                  </a:txBody>
                  <a:tcPr>
                    <a:solidFill>
                      <a:srgbClr val="F4F6FB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050" b="0" dirty="0">
                          <a:solidFill>
                            <a:srgbClr val="C0392B"/>
                          </a:solidFill>
                          <a:latin typeface="Calibri"/>
                        </a:rPr>
                        <a:t>-2.3%</a:t>
                      </a:r>
                    </a:p>
                  </a:txBody>
                  <a:tcPr>
                    <a:solidFill>
                      <a:srgbClr val="F4F6FB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050" b="0">
                          <a:solidFill>
                            <a:srgbClr val="6B7280"/>
                          </a:solidFill>
                          <a:latin typeface="Calibri"/>
                        </a:rPr>
                        <a:t>1,383</a:t>
                      </a:r>
                    </a:p>
                  </a:txBody>
                  <a:tcPr>
                    <a:solidFill>
                      <a:srgbClr val="F4F6FB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050" b="0" dirty="0">
                          <a:solidFill>
                            <a:srgbClr val="2E7D32"/>
                          </a:solidFill>
                          <a:latin typeface="Calibri"/>
                        </a:rPr>
                        <a:t>+1.2%</a:t>
                      </a:r>
                    </a:p>
                  </a:txBody>
                  <a:tcPr>
                    <a:solidFill>
                      <a:srgbClr val="F4F6FB"/>
                    </a:solidFill>
                  </a:tcPr>
                </a:tc>
                <a:tc>
                  <a:txBody>
                    <a:bodyPr/>
                    <a:lstStyle/>
                    <a:p>
                      <a:endParaRPr dirty="0"/>
                    </a:p>
                  </a:txBody>
                  <a:tcPr>
                    <a:solidFill>
                      <a:srgbClr val="F4F6FB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6"/>
                  </a:ext>
                </a:extLst>
              </a:tr>
            </a:tbl>
          </a:graphicData>
        </a:graphic>
      </p:graphicFrame>
      <p:sp>
        <p:nvSpPr>
          <p:cNvPr id="13" name="Rectangle 12">
            <a:extLst>
              <a:ext uri="{FF2B5EF4-FFF2-40B4-BE49-F238E27FC236}">
                <a16:creationId xmlns:a16="http://schemas.microsoft.com/office/drawing/2014/main" id="{A8D55007-83B3-DAF4-BD6A-18A9D4DC1FC9}"/>
              </a:ext>
            </a:extLst>
          </p:cNvPr>
          <p:cNvSpPr/>
          <p:nvPr/>
        </p:nvSpPr>
        <p:spPr>
          <a:xfrm>
            <a:off x="8639092" y="2868829"/>
            <a:ext cx="554604" cy="668306"/>
          </a:xfrm>
          <a:prstGeom prst="rect">
            <a:avLst/>
          </a:prstGeom>
          <a:noFill/>
          <a:ln>
            <a:solidFill>
              <a:srgbClr val="FF000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4" name="Rectangle 13">
            <a:extLst>
              <a:ext uri="{FF2B5EF4-FFF2-40B4-BE49-F238E27FC236}">
                <a16:creationId xmlns:a16="http://schemas.microsoft.com/office/drawing/2014/main" id="{5A489FBB-D00E-4CDB-B6F6-149F919F052A}"/>
              </a:ext>
            </a:extLst>
          </p:cNvPr>
          <p:cNvSpPr/>
          <p:nvPr/>
        </p:nvSpPr>
        <p:spPr>
          <a:xfrm>
            <a:off x="548640" y="3608296"/>
            <a:ext cx="11091672" cy="3155478"/>
          </a:xfrm>
          <a:prstGeom prst="rect">
            <a:avLst/>
          </a:prstGeom>
          <a:solidFill>
            <a:schemeClr val="bg1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="horz" wrap="square" lIns="91440" tIns="45720" rIns="91440" bIns="45720" numCol="1" spcCol="0" rtlCol="0" fromWordArt="0" anchor="t" anchorCtr="0" forceAA="0" compatLnSpc="1">
            <a:prstTxWarp prst="textNoShape">
              <a:avLst/>
            </a:prstTxWarp>
            <a:noAutofit/>
          </a:bodyPr>
          <a:lstStyle>
            <a:lvl1pPr marL="0" indent="0">
              <a:defRPr sz="11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1pPr>
            <a:lvl2pPr marL="457200" indent="0">
              <a:defRPr sz="11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2pPr>
            <a:lvl3pPr marL="914400" indent="0">
              <a:defRPr sz="11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3pPr>
            <a:lvl4pPr marL="1371600" indent="0">
              <a:defRPr sz="11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4pPr>
            <a:lvl5pPr marL="1828800" indent="0">
              <a:defRPr sz="11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5pPr>
            <a:lvl6pPr marL="2286000" indent="0">
              <a:defRPr sz="11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6pPr>
            <a:lvl7pPr marL="2743200" indent="0">
              <a:defRPr sz="11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7pPr>
            <a:lvl8pPr marL="3200400" indent="0">
              <a:defRPr sz="11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8pPr>
            <a:lvl9pPr marL="3657600" indent="0">
              <a:defRPr sz="11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l"/>
            <a:r>
              <a:rPr lang="en-US" sz="1100" b="1" dirty="0">
                <a:solidFill>
                  <a:sysClr val="windowText" lastClr="000000"/>
                </a:solidFill>
              </a:rPr>
              <a:t>Key Takeaway BKK : </a:t>
            </a:r>
            <a:endParaRPr lang="en-US" sz="1100" baseline="0" dirty="0">
              <a:solidFill>
                <a:sysClr val="windowText" lastClr="000000"/>
              </a:solidFill>
            </a:endParaRPr>
          </a:p>
          <a:p>
            <a:pPr algn="l"/>
            <a:r>
              <a:rPr lang="en-US" sz="1100" baseline="0" dirty="0">
                <a:solidFill>
                  <a:sysClr val="windowText" lastClr="000000"/>
                </a:solidFill>
              </a:rPr>
              <a:t>If look at STR market of Bangkok &gt;&gt;</a:t>
            </a:r>
            <a:endParaRPr lang="en-US" sz="1100" baseline="0" dirty="0">
              <a:solidFill>
                <a:schemeClr val="tx1"/>
              </a:solidFill>
            </a:endParaRPr>
          </a:p>
          <a:p>
            <a:pPr algn="l"/>
            <a:r>
              <a:rPr lang="en-US" sz="1100" baseline="0" dirty="0">
                <a:solidFill>
                  <a:schemeClr val="tx1"/>
                </a:solidFill>
              </a:rPr>
              <a:t>Overall BKK: RevPAR grew by +2% YoY (driven by +3% Occupancy, despite a -1% drop in ADR).</a:t>
            </a:r>
          </a:p>
          <a:p>
            <a:pPr algn="l"/>
            <a:endParaRPr lang="en-US" sz="1100" baseline="0" dirty="0">
              <a:solidFill>
                <a:sysClr val="windowText" lastClr="000000"/>
              </a:solidFill>
            </a:endParaRPr>
          </a:p>
          <a:p>
            <a:r>
              <a:rPr lang="en-US" sz="1100" b="1" baseline="0" dirty="0">
                <a:solidFill>
                  <a:sysClr val="windowText" lastClr="000000"/>
                </a:solidFill>
              </a:rPr>
              <a:t>SR9 &gt;&gt; </a:t>
            </a:r>
            <a:r>
              <a:rPr lang="en-US" sz="1100" b="0" baseline="0" dirty="0">
                <a:solidFill>
                  <a:sysClr val="windowText" lastClr="000000"/>
                </a:solidFill>
              </a:rPr>
              <a:t>occ </a:t>
            </a:r>
            <a:r>
              <a:rPr lang="en-US" dirty="0">
                <a:solidFill>
                  <a:srgbClr val="2E7D32"/>
                </a:solidFill>
              </a:rPr>
              <a:t>+4.8%</a:t>
            </a:r>
            <a:r>
              <a:rPr lang="en-US" sz="1100" b="0" baseline="0" dirty="0">
                <a:solidFill>
                  <a:sysClr val="windowText" lastClr="000000"/>
                </a:solidFill>
              </a:rPr>
              <a:t> ADR -3.3% </a:t>
            </a:r>
            <a:r>
              <a:rPr lang="en-US" dirty="0">
                <a:solidFill>
                  <a:sysClr val="windowText" lastClr="000000"/>
                </a:solidFill>
              </a:rPr>
              <a:t>turning </a:t>
            </a:r>
            <a:r>
              <a:rPr lang="en-US" dirty="0" err="1">
                <a:solidFill>
                  <a:sysClr val="windowText" lastClr="000000"/>
                </a:solidFill>
              </a:rPr>
              <a:t>revpar</a:t>
            </a:r>
            <a:r>
              <a:rPr lang="en-US" dirty="0">
                <a:solidFill>
                  <a:sysClr val="windowText" lastClr="000000"/>
                </a:solidFill>
              </a:rPr>
              <a:t>  </a:t>
            </a:r>
            <a:r>
              <a:rPr lang="en-US" sz="1100" b="0" baseline="0" dirty="0">
                <a:solidFill>
                  <a:sysClr val="windowText" lastClr="000000"/>
                </a:solidFill>
              </a:rPr>
              <a:t>+1.3% </a:t>
            </a:r>
            <a:r>
              <a:rPr lang="en-US" dirty="0">
                <a:solidFill>
                  <a:sysClr val="windowText" lastClr="000000"/>
                </a:solidFill>
              </a:rPr>
              <a:t>vs LY</a:t>
            </a:r>
          </a:p>
          <a:p>
            <a:r>
              <a:rPr lang="en-US" sz="1100" b="0" baseline="0" dirty="0">
                <a:solidFill>
                  <a:sysClr val="windowText" lastClr="000000"/>
                </a:solidFill>
              </a:rPr>
              <a:t>Rama 9 market</a:t>
            </a:r>
            <a:r>
              <a:rPr lang="th-TH" sz="1100" b="0" baseline="0" dirty="0">
                <a:solidFill>
                  <a:sysClr val="windowText" lastClr="000000"/>
                </a:solidFill>
              </a:rPr>
              <a:t> </a:t>
            </a:r>
            <a:r>
              <a:rPr lang="en-US" sz="1100" b="0" baseline="0" dirty="0">
                <a:solidFill>
                  <a:sysClr val="windowText" lastClr="000000"/>
                </a:solidFill>
              </a:rPr>
              <a:t>&gt;&gt; Occ is +1.4% compare to </a:t>
            </a:r>
            <a:r>
              <a:rPr lang="en-US" sz="1100" b="0" baseline="0" dirty="0" err="1">
                <a:solidFill>
                  <a:sysClr val="windowText" lastClr="000000"/>
                </a:solidFill>
              </a:rPr>
              <a:t>lastyear</a:t>
            </a:r>
            <a:r>
              <a:rPr lang="en-US" sz="1100" b="0" baseline="0" dirty="0">
                <a:solidFill>
                  <a:sysClr val="windowText" lastClr="000000"/>
                </a:solidFill>
              </a:rPr>
              <a:t>. but ADR is very lower than last year around -19%, turning </a:t>
            </a:r>
            <a:r>
              <a:rPr lang="en-US" sz="1100" b="0" baseline="0" dirty="0" err="1">
                <a:solidFill>
                  <a:sysClr val="windowText" lastClr="000000"/>
                </a:solidFill>
              </a:rPr>
              <a:t>revpar</a:t>
            </a:r>
            <a:r>
              <a:rPr lang="en-US" sz="1100" b="0" baseline="0" dirty="0">
                <a:solidFill>
                  <a:sysClr val="windowText" lastClr="000000"/>
                </a:solidFill>
              </a:rPr>
              <a:t> -17%</a:t>
            </a:r>
          </a:p>
          <a:p>
            <a:pPr algn="l"/>
            <a:r>
              <a:rPr lang="en-US" sz="1100" b="0" baseline="0" dirty="0">
                <a:solidFill>
                  <a:srgbClr val="00B050"/>
                </a:solidFill>
              </a:rPr>
              <a:t>So, SR9 doing better from the market. While the </a:t>
            </a:r>
            <a:r>
              <a:rPr lang="en-US" sz="1100" b="1" baseline="0" dirty="0">
                <a:solidFill>
                  <a:srgbClr val="00B050"/>
                </a:solidFill>
              </a:rPr>
              <a:t>m</a:t>
            </a:r>
            <a:r>
              <a:rPr lang="en-US" sz="1100" b="0" baseline="0" dirty="0">
                <a:solidFill>
                  <a:srgbClr val="00B050"/>
                </a:solidFill>
              </a:rPr>
              <a:t>arket </a:t>
            </a:r>
            <a:r>
              <a:rPr lang="en-US" sz="1100" b="0" baseline="0" dirty="0" err="1">
                <a:solidFill>
                  <a:srgbClr val="00B050"/>
                </a:solidFill>
              </a:rPr>
              <a:t>Revpar</a:t>
            </a:r>
            <a:r>
              <a:rPr lang="en-US" sz="1100" b="0" baseline="0" dirty="0">
                <a:solidFill>
                  <a:srgbClr val="00B050"/>
                </a:solidFill>
              </a:rPr>
              <a:t> is decreasing but SR9 have </a:t>
            </a:r>
            <a:r>
              <a:rPr lang="en-US" sz="1100" b="0" baseline="0" dirty="0" err="1">
                <a:solidFill>
                  <a:srgbClr val="00B050"/>
                </a:solidFill>
              </a:rPr>
              <a:t>Revpar</a:t>
            </a:r>
            <a:r>
              <a:rPr lang="en-US" sz="1100" b="0" baseline="0" dirty="0">
                <a:solidFill>
                  <a:srgbClr val="00B050"/>
                </a:solidFill>
              </a:rPr>
              <a:t> positive number. The key driver come from the corporate booking. And the supply in the </a:t>
            </a:r>
            <a:r>
              <a:rPr lang="en-US" dirty="0">
                <a:solidFill>
                  <a:srgbClr val="00B050"/>
                </a:solidFill>
              </a:rPr>
              <a:t>area </a:t>
            </a:r>
            <a:r>
              <a:rPr lang="en-US" sz="1100" b="0" baseline="0" dirty="0">
                <a:solidFill>
                  <a:srgbClr val="00B050"/>
                </a:solidFill>
              </a:rPr>
              <a:t>like jubilee is under renovation.</a:t>
            </a:r>
          </a:p>
          <a:p>
            <a:pPr algn="l"/>
            <a:endParaRPr lang="en-US" sz="1100" b="0" baseline="0" dirty="0">
              <a:solidFill>
                <a:sysClr val="windowText" lastClr="000000"/>
              </a:solidFill>
            </a:endParaRPr>
          </a:p>
          <a:p>
            <a:r>
              <a:rPr lang="en-US" sz="1100" b="1" baseline="0" dirty="0">
                <a:solidFill>
                  <a:sysClr val="windowText" lastClr="000000"/>
                </a:solidFill>
              </a:rPr>
              <a:t>AES &gt;&gt; </a:t>
            </a:r>
            <a:r>
              <a:rPr lang="en-US" sz="1100" b="0" baseline="0" dirty="0">
                <a:solidFill>
                  <a:sysClr val="windowText" lastClr="000000"/>
                </a:solidFill>
              </a:rPr>
              <a:t>Occ </a:t>
            </a:r>
            <a:r>
              <a:rPr lang="en-US" dirty="0">
                <a:solidFill>
                  <a:sysClr val="windowText" lastClr="000000"/>
                </a:solidFill>
              </a:rPr>
              <a:t> </a:t>
            </a:r>
            <a:r>
              <a:rPr lang="en-US" dirty="0">
                <a:solidFill>
                  <a:srgbClr val="2E7D32"/>
                </a:solidFill>
              </a:rPr>
              <a:t>+3.8% </a:t>
            </a:r>
            <a:r>
              <a:rPr lang="en-US" sz="1100" b="0" baseline="0" dirty="0">
                <a:solidFill>
                  <a:sysClr val="windowText" lastClr="000000"/>
                </a:solidFill>
              </a:rPr>
              <a:t>ADR -5.85 turning </a:t>
            </a:r>
            <a:r>
              <a:rPr lang="en-US" sz="1100" b="0" baseline="0" dirty="0" err="1">
                <a:solidFill>
                  <a:sysClr val="windowText" lastClr="000000"/>
                </a:solidFill>
              </a:rPr>
              <a:t>revpar</a:t>
            </a:r>
            <a:r>
              <a:rPr lang="en-US" sz="1100" b="0" baseline="0" dirty="0">
                <a:solidFill>
                  <a:sysClr val="windowText" lastClr="000000"/>
                </a:solidFill>
              </a:rPr>
              <a:t> -2.2% </a:t>
            </a:r>
            <a:r>
              <a:rPr lang="en-US" dirty="0">
                <a:solidFill>
                  <a:sysClr val="windowText" lastClr="000000"/>
                </a:solidFill>
              </a:rPr>
              <a:t>vs LY</a:t>
            </a:r>
          </a:p>
          <a:p>
            <a:pPr algn="l"/>
            <a:r>
              <a:rPr lang="en-US" sz="1100" b="0" baseline="0" dirty="0">
                <a:solidFill>
                  <a:sysClr val="windowText" lastClr="000000"/>
                </a:solidFill>
              </a:rPr>
              <a:t>Sathorn market &gt;&gt; Occ is down around -5% and </a:t>
            </a:r>
            <a:r>
              <a:rPr lang="en-US" sz="1100" b="0" baseline="0" dirty="0" err="1">
                <a:solidFill>
                  <a:sysClr val="windowText" lastClr="000000"/>
                </a:solidFill>
              </a:rPr>
              <a:t>Adr</a:t>
            </a:r>
            <a:r>
              <a:rPr lang="en-US" sz="1100" b="0" baseline="0" dirty="0">
                <a:solidFill>
                  <a:sysClr val="windowText" lastClr="000000"/>
                </a:solidFill>
              </a:rPr>
              <a:t> -2% </a:t>
            </a:r>
            <a:r>
              <a:rPr lang="en-US" sz="1100" b="0" baseline="0" dirty="0" err="1">
                <a:solidFill>
                  <a:sysClr val="windowText" lastClr="000000"/>
                </a:solidFill>
              </a:rPr>
              <a:t>comapre</a:t>
            </a:r>
            <a:r>
              <a:rPr lang="en-US" sz="1100" b="0" baseline="0" dirty="0">
                <a:solidFill>
                  <a:sysClr val="windowText" lastClr="000000"/>
                </a:solidFill>
              </a:rPr>
              <a:t> to LY, resulting </a:t>
            </a:r>
            <a:r>
              <a:rPr lang="en-US" sz="1100" b="0" baseline="0" dirty="0" err="1">
                <a:solidFill>
                  <a:sysClr val="windowText" lastClr="000000"/>
                </a:solidFill>
              </a:rPr>
              <a:t>revpar</a:t>
            </a:r>
            <a:r>
              <a:rPr lang="en-US" sz="1100" b="0" baseline="0" dirty="0">
                <a:solidFill>
                  <a:sysClr val="windowText" lastClr="000000"/>
                </a:solidFill>
              </a:rPr>
              <a:t> -7% compare to LY</a:t>
            </a:r>
          </a:p>
          <a:p>
            <a:pPr algn="l"/>
            <a:r>
              <a:rPr lang="en-US" sz="1100" b="0" baseline="0" dirty="0">
                <a:solidFill>
                  <a:srgbClr val="00B050"/>
                </a:solidFill>
              </a:rPr>
              <a:t>So, AES can do occ and </a:t>
            </a:r>
            <a:r>
              <a:rPr lang="en-US" sz="1100" b="0" baseline="0" dirty="0" err="1">
                <a:solidFill>
                  <a:srgbClr val="00B050"/>
                </a:solidFill>
              </a:rPr>
              <a:t>revpar</a:t>
            </a:r>
            <a:r>
              <a:rPr lang="en-US" sz="1100" b="0" baseline="0" dirty="0">
                <a:solidFill>
                  <a:srgbClr val="00B050"/>
                </a:solidFill>
              </a:rPr>
              <a:t> better than the </a:t>
            </a:r>
            <a:r>
              <a:rPr lang="en-US" sz="1100" b="0" baseline="0" dirty="0" err="1">
                <a:solidFill>
                  <a:srgbClr val="00B050"/>
                </a:solidFill>
              </a:rPr>
              <a:t>compset</a:t>
            </a:r>
            <a:r>
              <a:rPr lang="en-US" sz="1100" b="0" baseline="0" dirty="0">
                <a:solidFill>
                  <a:srgbClr val="00B050"/>
                </a:solidFill>
              </a:rPr>
              <a:t> but ADR is lower than the market around change (Gm said that </a:t>
            </a:r>
            <a:r>
              <a:rPr lang="en-US" sz="1100" b="0" baseline="0" dirty="0" err="1">
                <a:solidFill>
                  <a:srgbClr val="00B050"/>
                </a:solidFill>
              </a:rPr>
              <a:t>bc</a:t>
            </a:r>
            <a:r>
              <a:rPr lang="en-US" sz="1100" b="0" baseline="0" dirty="0">
                <a:solidFill>
                  <a:srgbClr val="00B050"/>
                </a:solidFill>
              </a:rPr>
              <a:t> one of them </a:t>
            </a:r>
            <a:r>
              <a:rPr lang="en-US" sz="1100" b="0" baseline="0" dirty="0" err="1">
                <a:solidFill>
                  <a:srgbClr val="00B050"/>
                </a:solidFill>
              </a:rPr>
              <a:t>compset</a:t>
            </a:r>
            <a:r>
              <a:rPr lang="en-US" sz="1100" b="0" baseline="0" dirty="0">
                <a:solidFill>
                  <a:srgbClr val="00B050"/>
                </a:solidFill>
              </a:rPr>
              <a:t> like COMO doesn't drop the rate down so make the ADR average index remain same to last year). AES is align with the market which has a soft market.</a:t>
            </a:r>
          </a:p>
          <a:p>
            <a:pPr algn="l"/>
            <a:endParaRPr lang="en-US" sz="1100" b="0" baseline="0" dirty="0">
              <a:solidFill>
                <a:sysClr val="windowText" lastClr="000000"/>
              </a:solidFill>
            </a:endParaRPr>
          </a:p>
          <a:p>
            <a:pPr algn="l"/>
            <a:r>
              <a:rPr lang="en-US" sz="1100" b="1" baseline="0" dirty="0">
                <a:solidFill>
                  <a:sysClr val="windowText" lastClr="000000"/>
                </a:solidFill>
              </a:rPr>
              <a:t>LYF8 </a:t>
            </a:r>
            <a:r>
              <a:rPr lang="en-US" sz="1100" b="0" baseline="0" dirty="0">
                <a:solidFill>
                  <a:sysClr val="windowText" lastClr="000000"/>
                </a:solidFill>
              </a:rPr>
              <a:t>&gt;&gt;Occ -1.1% ADR -5% drop, </a:t>
            </a:r>
            <a:r>
              <a:rPr lang="en-US" sz="1100" b="0" baseline="0" dirty="0" err="1">
                <a:solidFill>
                  <a:sysClr val="windowText" lastClr="000000"/>
                </a:solidFill>
              </a:rPr>
              <a:t>Revpar</a:t>
            </a:r>
            <a:r>
              <a:rPr lang="en-US" sz="1100" b="0" baseline="0" dirty="0">
                <a:solidFill>
                  <a:sysClr val="windowText" lastClr="000000"/>
                </a:solidFill>
              </a:rPr>
              <a:t> -6.1% vs LY</a:t>
            </a:r>
          </a:p>
          <a:p>
            <a:r>
              <a:rPr lang="en-US" sz="1100" b="0" baseline="0" dirty="0">
                <a:solidFill>
                  <a:sysClr val="windowText" lastClr="000000"/>
                </a:solidFill>
              </a:rPr>
              <a:t>Nana market &gt;&gt; Occ +4% ADR drop </a:t>
            </a:r>
            <a:r>
              <a:rPr lang="th-TH" sz="1100" b="0" baseline="0" dirty="0">
                <a:solidFill>
                  <a:sysClr val="windowText" lastClr="000000"/>
                </a:solidFill>
              </a:rPr>
              <a:t>-</a:t>
            </a:r>
            <a:r>
              <a:rPr lang="en-US" sz="1100" b="0" baseline="0" dirty="0">
                <a:solidFill>
                  <a:sysClr val="windowText" lastClr="000000"/>
                </a:solidFill>
              </a:rPr>
              <a:t>3% </a:t>
            </a:r>
            <a:r>
              <a:rPr lang="en-US" sz="1100" b="0" baseline="0" dirty="0" err="1">
                <a:solidFill>
                  <a:sysClr val="windowText" lastClr="000000"/>
                </a:solidFill>
              </a:rPr>
              <a:t>Revpar</a:t>
            </a:r>
            <a:r>
              <a:rPr lang="en-US" sz="1100" b="0" baseline="0" dirty="0">
                <a:solidFill>
                  <a:sysClr val="windowText" lastClr="000000"/>
                </a:solidFill>
              </a:rPr>
              <a:t> +1% vs LY</a:t>
            </a:r>
          </a:p>
          <a:p>
            <a:r>
              <a:rPr lang="en-US" dirty="0">
                <a:solidFill>
                  <a:srgbClr val="FF0000"/>
                </a:solidFill>
              </a:rPr>
              <a:t>Overall, LS8 performed worse than the market. The market achieved better occupancy +3.7% than last year along with a 1.2% increase in RevPAR, but LS8's occupancy dropped by 1.1% compared to 2025. Also, while the market's ADR dropped by about 2.3%, LS8's ADR dropped by 5%.</a:t>
            </a:r>
            <a:endParaRPr lang="en-US" sz="1100" b="0" baseline="0" dirty="0">
              <a:solidFill>
                <a:sysClr val="windowText" lastClr="000000"/>
              </a:solidFill>
            </a:endParaRPr>
          </a:p>
          <a:p>
            <a:pPr algn="l"/>
            <a:endParaRPr lang="en-US" sz="1100" b="1" baseline="0" dirty="0">
              <a:solidFill>
                <a:sysClr val="windowText" lastClr="000000"/>
              </a:solidFill>
            </a:endParaRPr>
          </a:p>
        </p:txBody>
      </p:sp>
      <p:sp>
        <p:nvSpPr>
          <p:cNvPr id="15" name="Right Brace 14">
            <a:extLst>
              <a:ext uri="{FF2B5EF4-FFF2-40B4-BE49-F238E27FC236}">
                <a16:creationId xmlns:a16="http://schemas.microsoft.com/office/drawing/2014/main" id="{46C4E402-60D4-0AB6-86F9-674E79F2C7E8}"/>
              </a:ext>
            </a:extLst>
          </p:cNvPr>
          <p:cNvSpPr/>
          <p:nvPr/>
        </p:nvSpPr>
        <p:spPr>
          <a:xfrm>
            <a:off x="11477044" y="1725034"/>
            <a:ext cx="292169" cy="1115166"/>
          </a:xfrm>
          <a:prstGeom prst="rightBrace">
            <a:avLst/>
          </a:prstGeom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02060"/>
        </a:soli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C1F7DF7B-61AE-4183-3010-CCE5E2AD7E3E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>
            <a:extLst>
              <a:ext uri="{FF2B5EF4-FFF2-40B4-BE49-F238E27FC236}">
                <a16:creationId xmlns:a16="http://schemas.microsoft.com/office/drawing/2014/main" id="{073B7DB2-D012-32E1-1B91-CDBEEE14DD8D}"/>
              </a:ext>
            </a:extLst>
          </p:cNvPr>
          <p:cNvSpPr/>
          <p:nvPr/>
        </p:nvSpPr>
        <p:spPr>
          <a:xfrm>
            <a:off x="548640" y="1965960"/>
            <a:ext cx="2011680" cy="1554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600" b="1" dirty="0">
                <a:solidFill>
                  <a:srgbClr val="D9A44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1.2</a:t>
            </a:r>
            <a:endParaRPr lang="en-US" sz="9600" dirty="0"/>
          </a:p>
        </p:txBody>
      </p:sp>
      <p:sp>
        <p:nvSpPr>
          <p:cNvPr id="3" name="Text 1">
            <a:extLst>
              <a:ext uri="{FF2B5EF4-FFF2-40B4-BE49-F238E27FC236}">
                <a16:creationId xmlns:a16="http://schemas.microsoft.com/office/drawing/2014/main" id="{AB051A42-3A8D-125D-B9B0-7559C561E523}"/>
              </a:ext>
            </a:extLst>
          </p:cNvPr>
          <p:cNvSpPr/>
          <p:nvPr/>
        </p:nvSpPr>
        <p:spPr>
          <a:xfrm>
            <a:off x="2514600" y="1961949"/>
            <a:ext cx="5958840" cy="271512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4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Pattaya Tourist Arrivals + Revenue from tourists</a:t>
            </a:r>
          </a:p>
          <a:p>
            <a:r>
              <a:rPr lang="en-US" sz="4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Pattaya Hotel Market</a:t>
            </a:r>
            <a:endParaRPr lang="en-US" sz="4000" dirty="0"/>
          </a:p>
          <a:p>
            <a:pPr marL="0" indent="0">
              <a:buNone/>
            </a:pPr>
            <a:endParaRPr lang="en-US" sz="4000" dirty="0"/>
          </a:p>
        </p:txBody>
      </p:sp>
      <p:sp>
        <p:nvSpPr>
          <p:cNvPr id="5" name="Text 3">
            <a:extLst>
              <a:ext uri="{FF2B5EF4-FFF2-40B4-BE49-F238E27FC236}">
                <a16:creationId xmlns:a16="http://schemas.microsoft.com/office/drawing/2014/main" id="{612A9611-A91A-2CCB-AAD3-DAAB4E3CB4AA}"/>
              </a:ext>
            </a:extLst>
          </p:cNvPr>
          <p:cNvSpPr/>
          <p:nvPr/>
        </p:nvSpPr>
        <p:spPr>
          <a:xfrm>
            <a:off x="548640" y="6172200"/>
            <a:ext cx="5486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7C8BC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Mitsui Thailand Portfolio · H1 2026</a:t>
            </a:r>
            <a:endParaRPr lang="en-US" sz="1000" dirty="0"/>
          </a:p>
        </p:txBody>
      </p:sp>
    </p:spTree>
    <p:extLst>
      <p:ext uri="{BB962C8B-B14F-4D97-AF65-F5344CB8AC3E}">
        <p14:creationId xmlns:p14="http://schemas.microsoft.com/office/powerpoint/2010/main" val="493236828"/>
      </p:ext>
    </p:extLst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548640" y="292608"/>
            <a:ext cx="822960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100" b="1">
                <a:solidFill>
                  <a:srgbClr val="D9A441"/>
                </a:solidFill>
                <a:latin typeface="Calibri"/>
              </a:rPr>
              <a:t>SECTION 1 · TOURIST ARRIVALS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48640" y="502920"/>
            <a:ext cx="11064240" cy="566928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2800" b="1">
                <a:solidFill>
                  <a:srgbClr val="1E2761"/>
                </a:solidFill>
                <a:latin typeface="Calibri"/>
              </a:rPr>
              <a:t>Pattaya (Chonburi) — tourist arrivals &amp; revenue from tourists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48640" y="1060704"/>
            <a:ext cx="1106424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250">
                <a:solidFill>
                  <a:srgbClr val="6B7280"/>
                </a:solidFill>
                <a:latin typeface="Calibri"/>
              </a:rPr>
              <a:t>H1 (Jan–Jun) each year · source: MOTS provincial data (Province arrival / Revenue from tourists sheets)</a:t>
            </a:r>
          </a:p>
        </p:txBody>
      </p:sp>
      <p:graphicFrame>
        <p:nvGraphicFramePr>
          <p:cNvPr id="5" name="Chart 4"/>
          <p:cNvGraphicFramePr>
            <a:graphicFrameLocks noGrp="1"/>
          </p:cNvGraphicFramePr>
          <p:nvPr/>
        </p:nvGraphicFramePr>
        <p:xfrm>
          <a:off x="548640" y="1600200"/>
          <a:ext cx="5394960" cy="2331720"/>
        </p:xfrm>
        <a:graphic>
          <a:graphicData uri="http://schemas.openxmlformats.org/drawingml/2006/chart">
            <c:chart xmlns:c="http://schemas.openxmlformats.org/drawingml/2006/chart" xmlns:r="http://schemas.openxmlformats.org/officeDocument/2006/relationships" r:id="rId2"/>
          </a:graphicData>
        </a:graphic>
      </p:graphicFrame>
      <p:graphicFrame>
        <p:nvGraphicFramePr>
          <p:cNvPr id="6" name="Chart 5"/>
          <p:cNvGraphicFramePr>
            <a:graphicFrameLocks noGrp="1"/>
          </p:cNvGraphicFramePr>
          <p:nvPr/>
        </p:nvGraphicFramePr>
        <p:xfrm>
          <a:off x="6217920" y="1600200"/>
          <a:ext cx="5394960" cy="2331720"/>
        </p:xfrm>
        <a:graphic>
          <a:graphicData uri="http://schemas.openxmlformats.org/drawingml/2006/chart">
            <c:chart xmlns:c="http://schemas.openxmlformats.org/drawingml/2006/chart" xmlns:r="http://schemas.openxmlformats.org/officeDocument/2006/relationships" r:id="rId3"/>
          </a:graphicData>
        </a:graphic>
      </p:graphicFrame>
      <p:graphicFrame>
        <p:nvGraphicFramePr>
          <p:cNvPr id="7" name="Table 6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4051548062"/>
              </p:ext>
            </p:extLst>
          </p:nvPr>
        </p:nvGraphicFramePr>
        <p:xfrm>
          <a:off x="548640" y="3931920"/>
          <a:ext cx="11064240" cy="276606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301752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201168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2011680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2011680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  <a:gridCol w="2011680">
                  <a:extLst>
                    <a:ext uri="{9D8B030D-6E8A-4147-A177-3AD203B41FA5}">
                      <a16:colId xmlns:a16="http://schemas.microsoft.com/office/drawing/2014/main" val="20004"/>
                    </a:ext>
                  </a:extLst>
                </a:gridCol>
              </a:tblGrid>
              <a:tr h="228600">
                <a:tc>
                  <a:txBody>
                    <a:bodyPr/>
                    <a:lstStyle/>
                    <a:p>
                      <a:r>
                        <a:rPr sz="1050" b="1">
                          <a:solidFill>
                            <a:srgbClr val="FFFFFF"/>
                          </a:solidFill>
                          <a:latin typeface="Calibri"/>
                        </a:rPr>
                        <a:t>H1</a:t>
                      </a:r>
                    </a:p>
                  </a:txBody>
                  <a:tcPr>
                    <a:solidFill>
                      <a:srgbClr val="1E2761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050" b="1">
                          <a:solidFill>
                            <a:srgbClr val="FFFFFF"/>
                          </a:solidFill>
                          <a:latin typeface="Calibri"/>
                        </a:rPr>
                        <a:t>2023</a:t>
                      </a:r>
                    </a:p>
                  </a:txBody>
                  <a:tcPr>
                    <a:solidFill>
                      <a:srgbClr val="1E2761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050" b="1">
                          <a:solidFill>
                            <a:srgbClr val="FFFFFF"/>
                          </a:solidFill>
                          <a:latin typeface="Calibri"/>
                        </a:rPr>
                        <a:t>2024</a:t>
                      </a:r>
                    </a:p>
                  </a:txBody>
                  <a:tcPr>
                    <a:solidFill>
                      <a:srgbClr val="1E2761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050" b="1">
                          <a:solidFill>
                            <a:srgbClr val="FFFFFF"/>
                          </a:solidFill>
                          <a:latin typeface="Calibri"/>
                        </a:rPr>
                        <a:t>2025</a:t>
                      </a:r>
                    </a:p>
                  </a:txBody>
                  <a:tcPr>
                    <a:solidFill>
                      <a:srgbClr val="1E2761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050" b="1" dirty="0">
                          <a:solidFill>
                            <a:srgbClr val="FFFFFF"/>
                          </a:solidFill>
                          <a:latin typeface="Calibri"/>
                        </a:rPr>
                        <a:t>2026</a:t>
                      </a:r>
                    </a:p>
                  </a:txBody>
                  <a:tcPr>
                    <a:solidFill>
                      <a:srgbClr val="1E276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228600">
                <a:tc>
                  <a:txBody>
                    <a:bodyPr/>
                    <a:lstStyle/>
                    <a:p>
                      <a:r>
                        <a:rPr sz="1050" b="1">
                          <a:solidFill>
                            <a:srgbClr val="26292E"/>
                          </a:solidFill>
                          <a:latin typeface="Calibri"/>
                        </a:rPr>
                        <a:t>Total arrivals (M)</a:t>
                      </a:r>
                    </a:p>
                  </a:txBody>
                  <a:tcPr>
                    <a:solidFill>
                      <a:srgbClr val="F4F6FB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050" b="0">
                          <a:solidFill>
                            <a:srgbClr val="26292E"/>
                          </a:solidFill>
                          <a:latin typeface="Calibri"/>
                        </a:rPr>
                        <a:t>11.82</a:t>
                      </a:r>
                    </a:p>
                  </a:txBody>
                  <a:tcPr>
                    <a:solidFill>
                      <a:srgbClr val="F4F6FB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050" b="0">
                          <a:solidFill>
                            <a:srgbClr val="26292E"/>
                          </a:solidFill>
                          <a:latin typeface="Calibri"/>
                        </a:rPr>
                        <a:t>13.35</a:t>
                      </a:r>
                    </a:p>
                  </a:txBody>
                  <a:tcPr>
                    <a:solidFill>
                      <a:srgbClr val="F4F6FB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050" b="0">
                          <a:solidFill>
                            <a:srgbClr val="26292E"/>
                          </a:solidFill>
                          <a:latin typeface="Calibri"/>
                        </a:rPr>
                        <a:t>13.87</a:t>
                      </a:r>
                    </a:p>
                  </a:txBody>
                  <a:tcPr>
                    <a:solidFill>
                      <a:srgbClr val="F4F6FB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050" b="0">
                          <a:solidFill>
                            <a:srgbClr val="26292E"/>
                          </a:solidFill>
                          <a:latin typeface="Calibri"/>
                        </a:rPr>
                        <a:t>13.51</a:t>
                      </a:r>
                    </a:p>
                  </a:txBody>
                  <a:tcPr>
                    <a:solidFill>
                      <a:srgbClr val="F4F6FB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228600">
                <a:tc>
                  <a:txBody>
                    <a:bodyPr/>
                    <a:lstStyle/>
                    <a:p>
                      <a:r>
                        <a:rPr sz="1050" b="1">
                          <a:solidFill>
                            <a:srgbClr val="26292E"/>
                          </a:solidFill>
                          <a:latin typeface="Calibri"/>
                        </a:rPr>
                        <a:t>- Domestic (M)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050" b="0">
                          <a:solidFill>
                            <a:srgbClr val="26292E"/>
                          </a:solidFill>
                          <a:latin typeface="Calibri"/>
                        </a:rPr>
                        <a:t>7.12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050" b="0">
                          <a:solidFill>
                            <a:srgbClr val="26292E"/>
                          </a:solidFill>
                          <a:latin typeface="Calibri"/>
                        </a:rPr>
                        <a:t>7.57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050" b="0">
                          <a:solidFill>
                            <a:srgbClr val="26292E"/>
                          </a:solidFill>
                          <a:latin typeface="Calibri"/>
                        </a:rPr>
                        <a:t>8.45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050" b="0">
                          <a:solidFill>
                            <a:srgbClr val="26292E"/>
                          </a:solidFill>
                          <a:latin typeface="Calibri"/>
                        </a:rPr>
                        <a:t>8.38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228600">
                <a:tc>
                  <a:txBody>
                    <a:bodyPr/>
                    <a:lstStyle/>
                    <a:p>
                      <a:r>
                        <a:rPr sz="1050" b="1">
                          <a:solidFill>
                            <a:srgbClr val="26292E"/>
                          </a:solidFill>
                          <a:latin typeface="Calibri"/>
                        </a:rPr>
                        <a:t>- International (M)</a:t>
                      </a:r>
                    </a:p>
                  </a:txBody>
                  <a:tcPr>
                    <a:solidFill>
                      <a:srgbClr val="F4F6FB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050" b="0">
                          <a:solidFill>
                            <a:srgbClr val="26292E"/>
                          </a:solidFill>
                          <a:latin typeface="Calibri"/>
                        </a:rPr>
                        <a:t>4.70</a:t>
                      </a:r>
                    </a:p>
                  </a:txBody>
                  <a:tcPr>
                    <a:solidFill>
                      <a:srgbClr val="F4F6FB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050" b="0">
                          <a:solidFill>
                            <a:srgbClr val="26292E"/>
                          </a:solidFill>
                          <a:latin typeface="Calibri"/>
                        </a:rPr>
                        <a:t>5.78</a:t>
                      </a:r>
                    </a:p>
                  </a:txBody>
                  <a:tcPr>
                    <a:solidFill>
                      <a:srgbClr val="F4F6FB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050" b="0">
                          <a:solidFill>
                            <a:srgbClr val="26292E"/>
                          </a:solidFill>
                          <a:latin typeface="Calibri"/>
                        </a:rPr>
                        <a:t>5.42</a:t>
                      </a:r>
                    </a:p>
                  </a:txBody>
                  <a:tcPr>
                    <a:solidFill>
                      <a:srgbClr val="F4F6FB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050" b="0">
                          <a:solidFill>
                            <a:srgbClr val="26292E"/>
                          </a:solidFill>
                          <a:latin typeface="Calibri"/>
                        </a:rPr>
                        <a:t>5.13</a:t>
                      </a:r>
                    </a:p>
                  </a:txBody>
                  <a:tcPr>
                    <a:solidFill>
                      <a:srgbClr val="F4F6FB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228600">
                <a:tc>
                  <a:txBody>
                    <a:bodyPr/>
                    <a:lstStyle/>
                    <a:p>
                      <a:r>
                        <a:rPr sz="1050" b="1">
                          <a:solidFill>
                            <a:srgbClr val="26292E"/>
                          </a:solidFill>
                          <a:latin typeface="Calibri"/>
                        </a:rPr>
                        <a:t>Total arrivals vs LY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050" b="0">
                          <a:solidFill>
                            <a:srgbClr val="26292E"/>
                          </a:solidFill>
                          <a:latin typeface="Calibri"/>
                        </a:rPr>
                        <a:t>—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050" b="0">
                          <a:solidFill>
                            <a:srgbClr val="2E7D32"/>
                          </a:solidFill>
                          <a:latin typeface="Calibri"/>
                        </a:rPr>
                        <a:t>+12.9%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050" b="0" dirty="0">
                          <a:solidFill>
                            <a:srgbClr val="2E7D32"/>
                          </a:solidFill>
                          <a:latin typeface="Calibri"/>
                        </a:rPr>
                        <a:t>+4.0%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050" b="0">
                          <a:solidFill>
                            <a:srgbClr val="C0392B"/>
                          </a:solidFill>
                          <a:latin typeface="Calibri"/>
                        </a:rPr>
                        <a:t>-2.7%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  <a:tr h="228600">
                <a:tc>
                  <a:txBody>
                    <a:bodyPr/>
                    <a:lstStyle/>
                    <a:p>
                      <a:r>
                        <a:rPr sz="1050" b="1" dirty="0">
                          <a:solidFill>
                            <a:srgbClr val="26292E"/>
                          </a:solidFill>
                          <a:latin typeface="Calibri"/>
                        </a:rPr>
                        <a:t>Intl arrivals vs LY</a:t>
                      </a:r>
                    </a:p>
                  </a:txBody>
                  <a:tcPr>
                    <a:solidFill>
                      <a:srgbClr val="F4F6FB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050" b="0">
                          <a:solidFill>
                            <a:srgbClr val="26292E"/>
                          </a:solidFill>
                          <a:latin typeface="Calibri"/>
                        </a:rPr>
                        <a:t>—</a:t>
                      </a:r>
                    </a:p>
                  </a:txBody>
                  <a:tcPr>
                    <a:solidFill>
                      <a:srgbClr val="F4F6FB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050" b="0">
                          <a:solidFill>
                            <a:srgbClr val="2E7D32"/>
                          </a:solidFill>
                          <a:latin typeface="Calibri"/>
                        </a:rPr>
                        <a:t>+23.0%</a:t>
                      </a:r>
                    </a:p>
                  </a:txBody>
                  <a:tcPr>
                    <a:solidFill>
                      <a:srgbClr val="F4F6FB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050" b="0">
                          <a:solidFill>
                            <a:srgbClr val="C0392B"/>
                          </a:solidFill>
                          <a:latin typeface="Calibri"/>
                        </a:rPr>
                        <a:t>-6.2%</a:t>
                      </a:r>
                    </a:p>
                  </a:txBody>
                  <a:tcPr>
                    <a:solidFill>
                      <a:srgbClr val="F4F6FB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050" b="0">
                          <a:solidFill>
                            <a:srgbClr val="C0392B"/>
                          </a:solidFill>
                          <a:latin typeface="Calibri"/>
                        </a:rPr>
                        <a:t>-5.4%</a:t>
                      </a:r>
                    </a:p>
                  </a:txBody>
                  <a:tcPr>
                    <a:solidFill>
                      <a:srgbClr val="F4F6FB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5"/>
                  </a:ext>
                </a:extLst>
              </a:tr>
              <a:tr h="228600">
                <a:tc>
                  <a:txBody>
                    <a:bodyPr/>
                    <a:lstStyle/>
                    <a:p>
                      <a:r>
                        <a:rPr sz="1050" b="1">
                          <a:solidFill>
                            <a:srgbClr val="26292E"/>
                          </a:solidFill>
                          <a:latin typeface="Calibri"/>
                        </a:rPr>
                        <a:t>Total revenue (Bn฿)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050" b="0">
                          <a:solidFill>
                            <a:srgbClr val="26292E"/>
                          </a:solidFill>
                          <a:latin typeface="Calibri"/>
                        </a:rPr>
                        <a:t>147.9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050" b="0">
                          <a:solidFill>
                            <a:srgbClr val="26292E"/>
                          </a:solidFill>
                          <a:latin typeface="Calibri"/>
                        </a:rPr>
                        <a:t>174.8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050" b="0">
                          <a:solidFill>
                            <a:srgbClr val="26292E"/>
                          </a:solidFill>
                          <a:latin typeface="Calibri"/>
                        </a:rPr>
                        <a:t>175.8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050" b="0">
                          <a:solidFill>
                            <a:srgbClr val="26292E"/>
                          </a:solidFill>
                          <a:latin typeface="Calibri"/>
                        </a:rPr>
                        <a:t>170.2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6"/>
                  </a:ext>
                </a:extLst>
              </a:tr>
              <a:tr h="228600">
                <a:tc>
                  <a:txBody>
                    <a:bodyPr/>
                    <a:lstStyle/>
                    <a:p>
                      <a:r>
                        <a:rPr sz="1050" b="1">
                          <a:solidFill>
                            <a:srgbClr val="26292E"/>
                          </a:solidFill>
                          <a:latin typeface="Calibri"/>
                        </a:rPr>
                        <a:t>- Domestic (Bn฿)</a:t>
                      </a:r>
                    </a:p>
                  </a:txBody>
                  <a:tcPr>
                    <a:solidFill>
                      <a:srgbClr val="F4F6FB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050" b="0">
                          <a:solidFill>
                            <a:srgbClr val="26292E"/>
                          </a:solidFill>
                          <a:latin typeface="Calibri"/>
                        </a:rPr>
                        <a:t>42.6</a:t>
                      </a:r>
                    </a:p>
                  </a:txBody>
                  <a:tcPr>
                    <a:solidFill>
                      <a:srgbClr val="F4F6FB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050" b="0">
                          <a:solidFill>
                            <a:srgbClr val="26292E"/>
                          </a:solidFill>
                          <a:latin typeface="Calibri"/>
                        </a:rPr>
                        <a:t>48.2</a:t>
                      </a:r>
                    </a:p>
                  </a:txBody>
                  <a:tcPr>
                    <a:solidFill>
                      <a:srgbClr val="F4F6FB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050" b="0">
                          <a:solidFill>
                            <a:srgbClr val="26292E"/>
                          </a:solidFill>
                          <a:latin typeface="Calibri"/>
                        </a:rPr>
                        <a:t>57.2</a:t>
                      </a:r>
                    </a:p>
                  </a:txBody>
                  <a:tcPr>
                    <a:solidFill>
                      <a:srgbClr val="F4F6FB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050" b="0">
                          <a:solidFill>
                            <a:srgbClr val="26292E"/>
                          </a:solidFill>
                          <a:latin typeface="Calibri"/>
                        </a:rPr>
                        <a:t>56.8</a:t>
                      </a:r>
                    </a:p>
                  </a:txBody>
                  <a:tcPr>
                    <a:solidFill>
                      <a:srgbClr val="F4F6FB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7"/>
                  </a:ext>
                </a:extLst>
              </a:tr>
              <a:tr h="228600">
                <a:tc>
                  <a:txBody>
                    <a:bodyPr/>
                    <a:lstStyle/>
                    <a:p>
                      <a:r>
                        <a:rPr sz="1050" b="1">
                          <a:solidFill>
                            <a:srgbClr val="26292E"/>
                          </a:solidFill>
                          <a:latin typeface="Calibri"/>
                        </a:rPr>
                        <a:t>- International (Bn฿)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050" b="0">
                          <a:solidFill>
                            <a:srgbClr val="26292E"/>
                          </a:solidFill>
                          <a:latin typeface="Calibri"/>
                        </a:rPr>
                        <a:t>105.3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050" b="0">
                          <a:solidFill>
                            <a:srgbClr val="26292E"/>
                          </a:solidFill>
                          <a:latin typeface="Calibri"/>
                        </a:rPr>
                        <a:t>126.6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050" b="0">
                          <a:solidFill>
                            <a:srgbClr val="26292E"/>
                          </a:solidFill>
                          <a:latin typeface="Calibri"/>
                        </a:rPr>
                        <a:t>118.5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050" b="0">
                          <a:solidFill>
                            <a:srgbClr val="26292E"/>
                          </a:solidFill>
                          <a:latin typeface="Calibri"/>
                        </a:rPr>
                        <a:t>113.3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8"/>
                  </a:ext>
                </a:extLst>
              </a:tr>
              <a:tr h="228600">
                <a:tc>
                  <a:txBody>
                    <a:bodyPr/>
                    <a:lstStyle/>
                    <a:p>
                      <a:r>
                        <a:rPr sz="1050" b="1">
                          <a:solidFill>
                            <a:srgbClr val="26292E"/>
                          </a:solidFill>
                          <a:latin typeface="Calibri"/>
                        </a:rPr>
                        <a:t>Total revenue vs LY</a:t>
                      </a:r>
                    </a:p>
                  </a:txBody>
                  <a:tcPr>
                    <a:solidFill>
                      <a:srgbClr val="F4F6FB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050" b="0">
                          <a:solidFill>
                            <a:srgbClr val="26292E"/>
                          </a:solidFill>
                          <a:latin typeface="Calibri"/>
                        </a:rPr>
                        <a:t>—</a:t>
                      </a:r>
                    </a:p>
                  </a:txBody>
                  <a:tcPr>
                    <a:solidFill>
                      <a:srgbClr val="F4F6FB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050" b="0">
                          <a:solidFill>
                            <a:srgbClr val="2E7D32"/>
                          </a:solidFill>
                          <a:latin typeface="Calibri"/>
                        </a:rPr>
                        <a:t>+18.2%</a:t>
                      </a:r>
                    </a:p>
                  </a:txBody>
                  <a:tcPr>
                    <a:solidFill>
                      <a:srgbClr val="F4F6FB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050" b="0">
                          <a:solidFill>
                            <a:srgbClr val="2E7D32"/>
                          </a:solidFill>
                          <a:latin typeface="Calibri"/>
                        </a:rPr>
                        <a:t>+0.5%</a:t>
                      </a:r>
                    </a:p>
                  </a:txBody>
                  <a:tcPr>
                    <a:solidFill>
                      <a:srgbClr val="F4F6FB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050" b="0">
                          <a:solidFill>
                            <a:srgbClr val="C0392B"/>
                          </a:solidFill>
                          <a:latin typeface="Calibri"/>
                        </a:rPr>
                        <a:t>-3.2%</a:t>
                      </a:r>
                    </a:p>
                  </a:txBody>
                  <a:tcPr>
                    <a:solidFill>
                      <a:srgbClr val="F4F6FB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9"/>
                  </a:ext>
                </a:extLst>
              </a:tr>
              <a:tr h="228600">
                <a:tc>
                  <a:txBody>
                    <a:bodyPr/>
                    <a:lstStyle/>
                    <a:p>
                      <a:r>
                        <a:rPr sz="1050" b="1">
                          <a:solidFill>
                            <a:srgbClr val="26292E"/>
                          </a:solidFill>
                          <a:latin typeface="Calibri"/>
                        </a:rPr>
                        <a:t>Intl revenue vs LY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050" b="0">
                          <a:solidFill>
                            <a:srgbClr val="26292E"/>
                          </a:solidFill>
                          <a:latin typeface="Calibri"/>
                        </a:rPr>
                        <a:t>—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050" b="0">
                          <a:solidFill>
                            <a:srgbClr val="2E7D32"/>
                          </a:solidFill>
                          <a:latin typeface="Calibri"/>
                        </a:rPr>
                        <a:t>+20.3%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050" b="0">
                          <a:solidFill>
                            <a:srgbClr val="C0392B"/>
                          </a:solidFill>
                          <a:latin typeface="Calibri"/>
                        </a:rPr>
                        <a:t>-6.4%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050" b="0" dirty="0">
                          <a:solidFill>
                            <a:srgbClr val="C0392B"/>
                          </a:solidFill>
                          <a:latin typeface="Calibri"/>
                        </a:rPr>
                        <a:t>-4.4%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10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4145943107"/>
      </p:ext>
    </p:extLst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2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292608"/>
            <a:ext cx="8229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b="1" kern="0" spc="200" dirty="0">
                <a:solidFill>
                  <a:srgbClr val="D9A44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SECTION 2 · MARKET (STR)</a:t>
            </a:r>
            <a:endParaRPr lang="en-US" sz="1100" dirty="0"/>
          </a:p>
        </p:txBody>
      </p:sp>
      <p:sp>
        <p:nvSpPr>
          <p:cNvPr id="3" name="Text 1"/>
          <p:cNvSpPr/>
          <p:nvPr/>
        </p:nvSpPr>
        <p:spPr>
          <a:xfrm>
            <a:off x="548640" y="502920"/>
            <a:ext cx="11091672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800" b="1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Pattaya market — Occ / ADR / RevPAR</a:t>
            </a:r>
            <a:endParaRPr lang="en-US" sz="2800" dirty="0"/>
          </a:p>
        </p:txBody>
      </p:sp>
      <p:sp>
        <p:nvSpPr>
          <p:cNvPr id="4" name="Text 2"/>
          <p:cNvSpPr/>
          <p:nvPr/>
        </p:nvSpPr>
        <p:spPr>
          <a:xfrm>
            <a:off x="548640" y="1060704"/>
            <a:ext cx="11091672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5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STR market basis (re-based Jun 2026) · Jan–Jun · 2025 derived from reported % change · prior years not comparable</a:t>
            </a:r>
            <a:endParaRPr lang="en-US" sz="1250" dirty="0"/>
          </a:p>
        </p:txBody>
      </p:sp>
      <p:sp>
        <p:nvSpPr>
          <p:cNvPr id="5" name="Text 3"/>
          <p:cNvSpPr/>
          <p:nvPr/>
        </p:nvSpPr>
        <p:spPr>
          <a:xfrm>
            <a:off x="8165592" y="310896"/>
            <a:ext cx="34747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90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Mitsui Thailand Portfolio · H1 2026</a:t>
            </a:r>
            <a:endParaRPr lang="en-US" sz="900" dirty="0"/>
          </a:p>
        </p:txBody>
      </p:sp>
      <p:graphicFrame>
        <p:nvGraphicFramePr>
          <p:cNvPr id="6" name="Chart 0"/>
          <p:cNvGraphicFramePr/>
          <p:nvPr/>
        </p:nvGraphicFramePr>
        <p:xfrm>
          <a:off x="548640" y="1828800"/>
          <a:ext cx="3611880" cy="3977640"/>
        </p:xfrm>
        <a:graphic>
          <a:graphicData uri="http://schemas.openxmlformats.org/drawingml/2006/chart">
            <c:chart xmlns:c="http://schemas.openxmlformats.org/drawingml/2006/chart" xmlns:r="http://schemas.openxmlformats.org/officeDocument/2006/relationships" r:id="rId3"/>
          </a:graphicData>
        </a:graphic>
      </p:graphicFrame>
      <p:graphicFrame>
        <p:nvGraphicFramePr>
          <p:cNvPr id="7" name="Chart 1"/>
          <p:cNvGraphicFramePr/>
          <p:nvPr/>
        </p:nvGraphicFramePr>
        <p:xfrm>
          <a:off x="4343400" y="1828800"/>
          <a:ext cx="3611880" cy="3977640"/>
        </p:xfrm>
        <a:graphic>
          <a:graphicData uri="http://schemas.openxmlformats.org/drawingml/2006/chart">
            <c:chart xmlns:c="http://schemas.openxmlformats.org/drawingml/2006/chart" xmlns:r="http://schemas.openxmlformats.org/officeDocument/2006/relationships" r:id="rId4"/>
          </a:graphicData>
        </a:graphic>
      </p:graphicFrame>
      <p:graphicFrame>
        <p:nvGraphicFramePr>
          <p:cNvPr id="8" name="Chart 2"/>
          <p:cNvGraphicFramePr/>
          <p:nvPr/>
        </p:nvGraphicFramePr>
        <p:xfrm>
          <a:off x="8138160" y="1828800"/>
          <a:ext cx="3611880" cy="3977640"/>
        </p:xfrm>
        <a:graphic>
          <a:graphicData uri="http://schemas.openxmlformats.org/drawingml/2006/chart">
            <c:chart xmlns:c="http://schemas.openxmlformats.org/drawingml/2006/chart" xmlns:r="http://schemas.openxmlformats.org/officeDocument/2006/relationships" r:id="rId5"/>
          </a:graphicData>
        </a:graphic>
      </p:graphicFrame>
      <p:sp>
        <p:nvSpPr>
          <p:cNvPr id="9" name="Text 4"/>
          <p:cNvSpPr/>
          <p:nvPr/>
        </p:nvSpPr>
        <p:spPr>
          <a:xfrm>
            <a:off x="548640" y="5897880"/>
            <a:ext cx="108813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r>
              <a:rPr lang="en-US" sz="1250" b="1" dirty="0">
                <a:solidFill>
                  <a:srgbClr val="2E7D3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H1 2026 vs 2025 (Compset sheet):   </a:t>
            </a:r>
            <a:r>
              <a:rPr lang="en-US" sz="1250" b="1" dirty="0">
                <a:solidFill>
                  <a:srgbClr val="FF00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Occ -2.0 pts   ·   ADR -0.3%   ·   RevPAR -3.3%</a:t>
            </a:r>
            <a:endParaRPr lang="en-US" sz="1250" dirty="0">
              <a:solidFill>
                <a:srgbClr val="FF0000"/>
              </a:solidFill>
            </a:endParaRPr>
          </a:p>
        </p:txBody>
      </p:sp>
      <p:sp>
        <p:nvSpPr>
          <p:cNvPr id="10" name="Text 5"/>
          <p:cNvSpPr/>
          <p:nvPr/>
        </p:nvSpPr>
        <p:spPr>
          <a:xfrm>
            <a:off x="548640" y="6199632"/>
            <a:ext cx="10881360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50" i="1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Series per the workbook Compset sheet (updated Jul 2026): Pattaya softened in H1 — occupancy ran below 2025 through Q2 (−2.0 pts) while rate held broadly flat (ADR −0.3%); RevPAR −3.3%.</a:t>
            </a:r>
            <a:endParaRPr lang="en-US" sz="1050" dirty="0"/>
          </a:p>
        </p:txBody>
      </p:sp>
    </p:spTree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313402B4-BA0A-A98F-53D6-8BB9399755CA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>
            <a:extLst>
              <a:ext uri="{FF2B5EF4-FFF2-40B4-BE49-F238E27FC236}">
                <a16:creationId xmlns:a16="http://schemas.microsoft.com/office/drawing/2014/main" id="{5964EC1C-73E8-93F6-BCCB-B229ADBFEE29}"/>
              </a:ext>
            </a:extLst>
          </p:cNvPr>
          <p:cNvSpPr/>
          <p:nvPr/>
        </p:nvSpPr>
        <p:spPr>
          <a:xfrm>
            <a:off x="548640" y="292608"/>
            <a:ext cx="8229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b="1" kern="0" spc="200" dirty="0">
                <a:solidFill>
                  <a:srgbClr val="D9A44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SECTION 2 · MARKET (STR)</a:t>
            </a:r>
            <a:endParaRPr lang="en-US" sz="1100" dirty="0"/>
          </a:p>
        </p:txBody>
      </p:sp>
      <p:sp>
        <p:nvSpPr>
          <p:cNvPr id="3" name="Text 1">
            <a:extLst>
              <a:ext uri="{FF2B5EF4-FFF2-40B4-BE49-F238E27FC236}">
                <a16:creationId xmlns:a16="http://schemas.microsoft.com/office/drawing/2014/main" id="{CD606F07-A04A-F7D4-E1D2-98692293C51F}"/>
              </a:ext>
            </a:extLst>
          </p:cNvPr>
          <p:cNvSpPr/>
          <p:nvPr/>
        </p:nvSpPr>
        <p:spPr>
          <a:xfrm>
            <a:off x="548640" y="502920"/>
            <a:ext cx="11091672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800" b="1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Us vs our compsets — H1 2026</a:t>
            </a:r>
            <a:endParaRPr lang="en-US" sz="2800" dirty="0"/>
          </a:p>
        </p:txBody>
      </p:sp>
      <p:sp>
        <p:nvSpPr>
          <p:cNvPr id="4" name="Text 2">
            <a:extLst>
              <a:ext uri="{FF2B5EF4-FFF2-40B4-BE49-F238E27FC236}">
                <a16:creationId xmlns:a16="http://schemas.microsoft.com/office/drawing/2014/main" id="{C23D956B-923F-1431-421F-7037179D3215}"/>
              </a:ext>
            </a:extLst>
          </p:cNvPr>
          <p:cNvSpPr/>
          <p:nvPr/>
        </p:nvSpPr>
        <p:spPr>
          <a:xfrm>
            <a:off x="548640" y="1060704"/>
            <a:ext cx="11091672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5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Each hotel against its own STR competitive set · Jan–Jun · STR basis (differs from result-sheet ADR)</a:t>
            </a:r>
            <a:endParaRPr lang="en-US" sz="1250" dirty="0"/>
          </a:p>
        </p:txBody>
      </p:sp>
      <p:sp>
        <p:nvSpPr>
          <p:cNvPr id="5" name="Text 3">
            <a:extLst>
              <a:ext uri="{FF2B5EF4-FFF2-40B4-BE49-F238E27FC236}">
                <a16:creationId xmlns:a16="http://schemas.microsoft.com/office/drawing/2014/main" id="{057F2540-B0AC-3EBC-4990-743D8D8CA5D1}"/>
              </a:ext>
            </a:extLst>
          </p:cNvPr>
          <p:cNvSpPr/>
          <p:nvPr/>
        </p:nvSpPr>
        <p:spPr>
          <a:xfrm>
            <a:off x="8165592" y="310896"/>
            <a:ext cx="34747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90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Mitsui Thailand Portfolio · H1 2026</a:t>
            </a:r>
            <a:endParaRPr lang="en-US" sz="900" dirty="0"/>
          </a:p>
        </p:txBody>
      </p:sp>
      <p:sp>
        <p:nvSpPr>
          <p:cNvPr id="8" name="Text 5">
            <a:extLst>
              <a:ext uri="{FF2B5EF4-FFF2-40B4-BE49-F238E27FC236}">
                <a16:creationId xmlns:a16="http://schemas.microsoft.com/office/drawing/2014/main" id="{F0E3A5FB-83F4-A352-5D60-FBFB0140A50A}"/>
              </a:ext>
            </a:extLst>
          </p:cNvPr>
          <p:cNvSpPr/>
          <p:nvPr/>
        </p:nvSpPr>
        <p:spPr>
          <a:xfrm>
            <a:off x="548640" y="6263640"/>
            <a:ext cx="10881360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50" i="1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Source: CoStar per-property compset reports, June 2026 (SR9/LYF/SP primary comp set; AES secondary comp set). STR ADR basis differs from the result-sheet ADR (breakfast/net treatment) — use % changes, not absolute levels, for comparison.</a:t>
            </a:r>
            <a:endParaRPr lang="en-US" sz="1050" dirty="0"/>
          </a:p>
        </p:txBody>
      </p:sp>
      <p:graphicFrame>
        <p:nvGraphicFramePr>
          <p:cNvPr id="9" name="Table 8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3542244949"/>
              </p:ext>
            </p:extLst>
          </p:nvPr>
        </p:nvGraphicFramePr>
        <p:xfrm>
          <a:off x="521208" y="1563624"/>
          <a:ext cx="11091672" cy="91440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23444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132588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960120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1143000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  <a:gridCol w="1188720">
                  <a:extLst>
                    <a:ext uri="{9D8B030D-6E8A-4147-A177-3AD203B41FA5}">
                      <a16:colId xmlns:a16="http://schemas.microsoft.com/office/drawing/2014/main" val="20004"/>
                    </a:ext>
                  </a:extLst>
                </a:gridCol>
                <a:gridCol w="1097280">
                  <a:extLst>
                    <a:ext uri="{9D8B030D-6E8A-4147-A177-3AD203B41FA5}">
                      <a16:colId xmlns:a16="http://schemas.microsoft.com/office/drawing/2014/main" val="20005"/>
                    </a:ext>
                  </a:extLst>
                </a:gridCol>
                <a:gridCol w="1325880">
                  <a:extLst>
                    <a:ext uri="{9D8B030D-6E8A-4147-A177-3AD203B41FA5}">
                      <a16:colId xmlns:a16="http://schemas.microsoft.com/office/drawing/2014/main" val="20006"/>
                    </a:ext>
                  </a:extLst>
                </a:gridCol>
                <a:gridCol w="1325880">
                  <a:extLst>
                    <a:ext uri="{9D8B030D-6E8A-4147-A177-3AD203B41FA5}">
                      <a16:colId xmlns:a16="http://schemas.microsoft.com/office/drawing/2014/main" val="20007"/>
                    </a:ext>
                  </a:extLst>
                </a:gridCol>
                <a:gridCol w="1490472">
                  <a:extLst>
                    <a:ext uri="{9D8B030D-6E8A-4147-A177-3AD203B41FA5}">
                      <a16:colId xmlns:a16="http://schemas.microsoft.com/office/drawing/2014/main" val="20008"/>
                    </a:ext>
                  </a:extLst>
                </a:gridCol>
              </a:tblGrid>
              <a:tr h="274320">
                <a:tc>
                  <a:txBody>
                    <a:bodyPr/>
                    <a:lstStyle/>
                    <a:p>
                      <a:r>
                        <a:rPr sz="1050" b="1">
                          <a:solidFill>
                            <a:srgbClr val="FFFFFF"/>
                          </a:solidFill>
                          <a:latin typeface="Calibri"/>
                        </a:rPr>
                        <a:t>Hotel</a:t>
                      </a:r>
                    </a:p>
                  </a:txBody>
                  <a:tcPr>
                    <a:solidFill>
                      <a:srgbClr val="1E2761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050" b="1">
                          <a:solidFill>
                            <a:srgbClr val="FFFFFF"/>
                          </a:solidFill>
                          <a:latin typeface="Calibri"/>
                        </a:rPr>
                        <a:t>Series</a:t>
                      </a:r>
                    </a:p>
                  </a:txBody>
                  <a:tcPr>
                    <a:solidFill>
                      <a:srgbClr val="1E2761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050" b="1" dirty="0">
                          <a:solidFill>
                            <a:srgbClr val="FFFFFF"/>
                          </a:solidFill>
                          <a:latin typeface="Calibri"/>
                        </a:rPr>
                        <a:t>Occ H1</a:t>
                      </a:r>
                    </a:p>
                  </a:txBody>
                  <a:tcPr>
                    <a:solidFill>
                      <a:srgbClr val="1E2761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050" b="1">
                          <a:solidFill>
                            <a:srgbClr val="FFFFFF"/>
                          </a:solidFill>
                          <a:latin typeface="Calibri"/>
                        </a:rPr>
                        <a:t>Occ vs LY</a:t>
                      </a:r>
                    </a:p>
                  </a:txBody>
                  <a:tcPr>
                    <a:solidFill>
                      <a:srgbClr val="1E2761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050" b="1">
                          <a:solidFill>
                            <a:srgbClr val="FFFFFF"/>
                          </a:solidFill>
                          <a:latin typeface="Calibri"/>
                        </a:rPr>
                        <a:t>ADR H1 (฿)</a:t>
                      </a:r>
                    </a:p>
                  </a:txBody>
                  <a:tcPr>
                    <a:solidFill>
                      <a:srgbClr val="1E2761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050" b="1">
                          <a:solidFill>
                            <a:srgbClr val="FFFFFF"/>
                          </a:solidFill>
                          <a:latin typeface="Calibri"/>
                        </a:rPr>
                        <a:t>ADR vs LY</a:t>
                      </a:r>
                    </a:p>
                  </a:txBody>
                  <a:tcPr>
                    <a:solidFill>
                      <a:srgbClr val="1E2761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050" b="1">
                          <a:solidFill>
                            <a:srgbClr val="FFFFFF"/>
                          </a:solidFill>
                          <a:latin typeface="Calibri"/>
                        </a:rPr>
                        <a:t>RevPAR H1 (฿)</a:t>
                      </a:r>
                    </a:p>
                  </a:txBody>
                  <a:tcPr>
                    <a:solidFill>
                      <a:srgbClr val="1E2761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050" b="1">
                          <a:solidFill>
                            <a:srgbClr val="FFFFFF"/>
                          </a:solidFill>
                          <a:latin typeface="Calibri"/>
                        </a:rPr>
                        <a:t>RevPAR vs LY</a:t>
                      </a:r>
                    </a:p>
                  </a:txBody>
                  <a:tcPr>
                    <a:solidFill>
                      <a:srgbClr val="1E2761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050" b="1">
                          <a:solidFill>
                            <a:srgbClr val="FFFFFF"/>
                          </a:solidFill>
                          <a:latin typeface="Calibri"/>
                        </a:rPr>
                        <a:t>Rank Occ·ADR·RevPAR</a:t>
                      </a:r>
                    </a:p>
                  </a:txBody>
                  <a:tcPr>
                    <a:solidFill>
                      <a:srgbClr val="1E276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274320">
                <a:tc>
                  <a:txBody>
                    <a:bodyPr/>
                    <a:lstStyle/>
                    <a:p>
                      <a:r>
                        <a:rPr sz="1050" b="1">
                          <a:solidFill>
                            <a:srgbClr val="26292E"/>
                          </a:solidFill>
                          <a:latin typeface="Calibri"/>
                        </a:rPr>
                        <a:t>SP</a:t>
                      </a:r>
                    </a:p>
                  </a:txBody>
                  <a:tcPr>
                    <a:solidFill>
                      <a:srgbClr val="F4F6FB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050" b="1">
                          <a:solidFill>
                            <a:srgbClr val="26292E"/>
                          </a:solidFill>
                          <a:latin typeface="Calibri"/>
                        </a:rPr>
                        <a:t>My property</a:t>
                      </a:r>
                    </a:p>
                  </a:txBody>
                  <a:tcPr>
                    <a:solidFill>
                      <a:srgbClr val="F4F6FB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050" b="0" dirty="0">
                          <a:solidFill>
                            <a:srgbClr val="26292E"/>
                          </a:solidFill>
                          <a:latin typeface="Calibri"/>
                        </a:rPr>
                        <a:t>73.8%</a:t>
                      </a:r>
                    </a:p>
                  </a:txBody>
                  <a:tcPr>
                    <a:solidFill>
                      <a:srgbClr val="F4F6FB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050" b="0" dirty="0">
                          <a:solidFill>
                            <a:srgbClr val="2E7D32"/>
                          </a:solidFill>
                          <a:latin typeface="Calibri"/>
                        </a:rPr>
                        <a:t>+5.3%</a:t>
                      </a:r>
                    </a:p>
                  </a:txBody>
                  <a:tcPr>
                    <a:solidFill>
                      <a:srgbClr val="F4F6FB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050" b="0" dirty="0">
                          <a:solidFill>
                            <a:srgbClr val="26292E"/>
                          </a:solidFill>
                          <a:latin typeface="Calibri"/>
                        </a:rPr>
                        <a:t>3,749</a:t>
                      </a:r>
                    </a:p>
                  </a:txBody>
                  <a:tcPr>
                    <a:solidFill>
                      <a:srgbClr val="F4F6FB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050" b="0" dirty="0">
                          <a:solidFill>
                            <a:srgbClr val="C0392B"/>
                          </a:solidFill>
                          <a:latin typeface="Calibri"/>
                        </a:rPr>
                        <a:t>-4.9%</a:t>
                      </a:r>
                    </a:p>
                  </a:txBody>
                  <a:tcPr>
                    <a:solidFill>
                      <a:srgbClr val="F4F6FB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050" b="0">
                          <a:solidFill>
                            <a:srgbClr val="26292E"/>
                          </a:solidFill>
                          <a:latin typeface="Calibri"/>
                        </a:rPr>
                        <a:t>2,766</a:t>
                      </a:r>
                    </a:p>
                  </a:txBody>
                  <a:tcPr>
                    <a:solidFill>
                      <a:srgbClr val="F4F6FB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050" b="0" dirty="0">
                          <a:solidFill>
                            <a:srgbClr val="2E7D32"/>
                          </a:solidFill>
                          <a:latin typeface="Calibri"/>
                        </a:rPr>
                        <a:t>+0.2%</a:t>
                      </a:r>
                    </a:p>
                  </a:txBody>
                  <a:tcPr>
                    <a:solidFill>
                      <a:srgbClr val="F4F6FB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050" b="0">
                          <a:solidFill>
                            <a:srgbClr val="26292E"/>
                          </a:solidFill>
                          <a:latin typeface="Calibri"/>
                        </a:rPr>
                        <a:t>3 of 6 · 5 of 6 · 4 of 6</a:t>
                      </a:r>
                    </a:p>
                  </a:txBody>
                  <a:tcPr>
                    <a:solidFill>
                      <a:srgbClr val="F4F6FB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274320">
                <a:tc>
                  <a:txBody>
                    <a:bodyPr/>
                    <a:lstStyle/>
                    <a:p>
                      <a:r>
                        <a:rPr sz="1050" b="1">
                          <a:solidFill>
                            <a:srgbClr val="26292E"/>
                          </a:solidFill>
                          <a:latin typeface="Calibri"/>
                        </a:rPr>
                        <a:t>(SP comp set)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050" b="1">
                          <a:solidFill>
                            <a:srgbClr val="26292E"/>
                          </a:solidFill>
                          <a:latin typeface="Calibri"/>
                        </a:rPr>
                        <a:t>Comp set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050" b="0">
                          <a:solidFill>
                            <a:srgbClr val="6B7280"/>
                          </a:solidFill>
                          <a:latin typeface="Calibri"/>
                        </a:rPr>
                        <a:t>71.5%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050" b="0">
                          <a:solidFill>
                            <a:srgbClr val="C0392B"/>
                          </a:solidFill>
                          <a:latin typeface="Calibri"/>
                        </a:rPr>
                        <a:t>-3.3%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050" b="0">
                          <a:solidFill>
                            <a:srgbClr val="6B7280"/>
                          </a:solidFill>
                          <a:latin typeface="Calibri"/>
                        </a:rPr>
                        <a:t>4,214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050" b="0" dirty="0">
                          <a:solidFill>
                            <a:srgbClr val="C0392B"/>
                          </a:solidFill>
                          <a:latin typeface="Calibri"/>
                        </a:rPr>
                        <a:t>-5.8%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050" b="0">
                          <a:solidFill>
                            <a:srgbClr val="6B7280"/>
                          </a:solidFill>
                          <a:latin typeface="Calibri"/>
                        </a:rPr>
                        <a:t>3,011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050" b="0">
                          <a:solidFill>
                            <a:srgbClr val="C0392B"/>
                          </a:solidFill>
                          <a:latin typeface="Calibri"/>
                        </a:rPr>
                        <a:t>-8.9%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endParaRPr dirty="0"/>
                    </a:p>
                  </a:txBody>
                  <a:tcPr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</a:tbl>
          </a:graphicData>
        </a:graphic>
      </p:graphicFrame>
      <p:sp>
        <p:nvSpPr>
          <p:cNvPr id="10" name="Rectangle 9">
            <a:extLst>
              <a:ext uri="{FF2B5EF4-FFF2-40B4-BE49-F238E27FC236}">
                <a16:creationId xmlns:a16="http://schemas.microsoft.com/office/drawing/2014/main" id="{D647BEDE-5832-34EF-F898-BB5E82D7F1CA}"/>
              </a:ext>
            </a:extLst>
          </p:cNvPr>
          <p:cNvSpPr/>
          <p:nvPr/>
        </p:nvSpPr>
        <p:spPr>
          <a:xfrm>
            <a:off x="521208" y="2658230"/>
            <a:ext cx="11119104" cy="2301396"/>
          </a:xfrm>
          <a:prstGeom prst="rect">
            <a:avLst/>
          </a:prstGeom>
          <a:solidFill>
            <a:schemeClr val="bg1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="horz" wrap="square" lIns="91440" tIns="45720" rIns="91440" bIns="45720" numCol="1" spcCol="0" rtlCol="0" fromWordArt="0" anchor="t" anchorCtr="0" forceAA="0" compatLnSpc="1">
            <a:prstTxWarp prst="textNoShape">
              <a:avLst/>
            </a:prstTxWarp>
            <a:noAutofit/>
          </a:bodyPr>
          <a:lstStyle>
            <a:lvl1pPr marL="0" indent="0">
              <a:defRPr sz="11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1pPr>
            <a:lvl2pPr marL="457200" indent="0">
              <a:defRPr sz="11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2pPr>
            <a:lvl3pPr marL="914400" indent="0">
              <a:defRPr sz="11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3pPr>
            <a:lvl4pPr marL="1371600" indent="0">
              <a:defRPr sz="11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4pPr>
            <a:lvl5pPr marL="1828800" indent="0">
              <a:defRPr sz="11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5pPr>
            <a:lvl6pPr marL="2286000" indent="0">
              <a:defRPr sz="11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6pPr>
            <a:lvl7pPr marL="2743200" indent="0">
              <a:defRPr sz="11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7pPr>
            <a:lvl8pPr marL="3200400" indent="0">
              <a:defRPr sz="11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8pPr>
            <a:lvl9pPr marL="3657600" indent="0">
              <a:defRPr sz="11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l"/>
            <a:r>
              <a:rPr sz="1600" b="1" dirty="0">
                <a:solidFill>
                  <a:srgbClr val="1E2761"/>
                </a:solidFill>
                <a:latin typeface="Calibri"/>
              </a:rPr>
              <a:t>Key Takeaway — Pattaya</a:t>
            </a:r>
          </a:p>
          <a:p>
            <a:pPr>
              <a:spcAft>
                <a:spcPts val="600"/>
              </a:spcAft>
            </a:pPr>
            <a:r>
              <a:rPr sz="1300" dirty="0">
                <a:solidFill>
                  <a:srgbClr val="26292E"/>
                </a:solidFill>
                <a:latin typeface="Calibri"/>
              </a:rPr>
              <a:t>• Tourist spending in Pattaya is about −3% below both 2024 and 2025 (June 2026 is still missing 4 days of data).</a:t>
            </a:r>
          </a:p>
          <a:p>
            <a:pPr>
              <a:spcAft>
                <a:spcPts val="600"/>
              </a:spcAft>
            </a:pPr>
            <a:r>
              <a:rPr sz="1300" dirty="0">
                <a:solidFill>
                  <a:srgbClr val="26292E"/>
                </a:solidFill>
                <a:latin typeface="Calibri"/>
              </a:rPr>
              <a:t>• Arrivals in Pattaya are −2.7% vs 2025.</a:t>
            </a:r>
          </a:p>
          <a:p>
            <a:pPr>
              <a:spcAft>
                <a:spcPts val="600"/>
              </a:spcAft>
            </a:pPr>
            <a:r>
              <a:rPr sz="1300" dirty="0">
                <a:solidFill>
                  <a:srgbClr val="26292E"/>
                </a:solidFill>
                <a:latin typeface="Calibri"/>
              </a:rPr>
              <a:t>• Pattaya STR market: occupancy −3%, ADR roughly flat — turning RevPAR −3%.</a:t>
            </a:r>
            <a:endParaRPr lang="en-US" sz="1300" dirty="0">
              <a:solidFill>
                <a:srgbClr val="26292E"/>
              </a:solidFill>
              <a:latin typeface="Calibri"/>
            </a:endParaRPr>
          </a:p>
          <a:p>
            <a:pPr>
              <a:spcAft>
                <a:spcPts val="600"/>
              </a:spcAft>
            </a:pPr>
            <a:endParaRPr sz="1300" dirty="0">
              <a:solidFill>
                <a:srgbClr val="26292E"/>
              </a:solidFill>
              <a:latin typeface="Calibri"/>
            </a:endParaRPr>
          </a:p>
          <a:p>
            <a:pPr>
              <a:spcAft>
                <a:spcPts val="600"/>
              </a:spcAft>
            </a:pPr>
            <a:r>
              <a:rPr sz="1300" dirty="0">
                <a:solidFill>
                  <a:srgbClr val="26292E"/>
                </a:solidFill>
                <a:latin typeface="Calibri"/>
              </a:rPr>
              <a:t>• Narrowing to our property's competitive set: H1 2026 vs 2025 occupancy −3%, ADR −6% — RevPAR −9%.</a:t>
            </a:r>
          </a:p>
          <a:p>
            <a:pPr>
              <a:spcAft>
                <a:spcPts val="600"/>
              </a:spcAft>
            </a:pPr>
            <a:r>
              <a:rPr sz="1300" dirty="0">
                <a:solidFill>
                  <a:srgbClr val="26292E"/>
                </a:solidFill>
                <a:latin typeface="Calibri"/>
              </a:rPr>
              <a:t>• Our property (SP): occupancy </a:t>
            </a:r>
            <a:r>
              <a:rPr lang="en-US" sz="1300" dirty="0">
                <a:solidFill>
                  <a:srgbClr val="26292E"/>
                </a:solidFill>
                <a:latin typeface="Calibri"/>
              </a:rPr>
              <a:t>+5.3% </a:t>
            </a:r>
            <a:r>
              <a:rPr sz="1300" dirty="0">
                <a:solidFill>
                  <a:srgbClr val="26292E"/>
                </a:solidFill>
                <a:latin typeface="Calibri"/>
              </a:rPr>
              <a:t>vs LY, ADR −4.9% — RevPAR +0.2% vs LY.</a:t>
            </a:r>
          </a:p>
          <a:p>
            <a:pPr>
              <a:spcAft>
                <a:spcPts val="600"/>
              </a:spcAft>
            </a:pPr>
            <a:r>
              <a:rPr sz="1300" dirty="0">
                <a:solidFill>
                  <a:srgbClr val="00B050"/>
                </a:solidFill>
                <a:latin typeface="Calibri"/>
              </a:rPr>
              <a:t>• Conclusion: SP is performing better than the market.</a:t>
            </a:r>
          </a:p>
        </p:txBody>
      </p:sp>
    </p:spTree>
    <p:extLst>
      <p:ext uri="{BB962C8B-B14F-4D97-AF65-F5344CB8AC3E}">
        <p14:creationId xmlns:p14="http://schemas.microsoft.com/office/powerpoint/2010/main" val="2730271838"/>
      </p:ext>
    </p:extLst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bg>
      <p:bgPr>
        <a:solidFill>
          <a:srgbClr val="1E276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1965960"/>
            <a:ext cx="2011680" cy="1554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600" b="1" dirty="0">
                <a:solidFill>
                  <a:srgbClr val="D9A44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</a:t>
            </a:r>
            <a:endParaRPr lang="en-US" sz="9600" dirty="0"/>
          </a:p>
        </p:txBody>
      </p:sp>
      <p:sp>
        <p:nvSpPr>
          <p:cNvPr id="3" name="Text 1"/>
          <p:cNvSpPr/>
          <p:nvPr/>
        </p:nvSpPr>
        <p:spPr>
          <a:xfrm>
            <a:off x="2514600" y="2286000"/>
            <a:ext cx="877824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4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ADR Challenge</a:t>
            </a:r>
            <a:endParaRPr lang="en-US" sz="4000" dirty="0"/>
          </a:p>
        </p:txBody>
      </p:sp>
      <p:sp>
        <p:nvSpPr>
          <p:cNvPr id="5" name="Text 3"/>
          <p:cNvSpPr/>
          <p:nvPr/>
        </p:nvSpPr>
        <p:spPr>
          <a:xfrm>
            <a:off x="548640" y="6172200"/>
            <a:ext cx="5486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7C8BC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Mitsui Thailand Portfolio · H1 2026</a:t>
            </a:r>
            <a:endParaRPr lang="en-US" sz="1000" dirty="0"/>
          </a:p>
        </p:txBody>
      </p:sp>
    </p:spTree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3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292608"/>
            <a:ext cx="8229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b="1" kern="0" spc="200" dirty="0">
                <a:solidFill>
                  <a:srgbClr val="D9A44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SECTION 2 · MARKET (STR)</a:t>
            </a:r>
            <a:endParaRPr lang="en-US" sz="1100" dirty="0"/>
          </a:p>
        </p:txBody>
      </p:sp>
      <p:sp>
        <p:nvSpPr>
          <p:cNvPr id="3" name="Text 1"/>
          <p:cNvSpPr/>
          <p:nvPr/>
        </p:nvSpPr>
        <p:spPr>
          <a:xfrm>
            <a:off x="548640" y="502920"/>
            <a:ext cx="11091672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800" b="1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ADR challenge — rate is the story of 2026</a:t>
            </a:r>
            <a:endParaRPr lang="en-US" sz="2800" dirty="0"/>
          </a:p>
        </p:txBody>
      </p:sp>
      <p:sp>
        <p:nvSpPr>
          <p:cNvPr id="4" name="Text 2"/>
          <p:cNvSpPr/>
          <p:nvPr/>
        </p:nvSpPr>
        <p:spPr>
          <a:xfrm>
            <a:off x="548640" y="1060704"/>
            <a:ext cx="11091672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5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Occupancy is holding, rate is not · left = what the data shows, right = why we believe it is happening · TBC items await data</a:t>
            </a:r>
            <a:endParaRPr lang="en-US" sz="1250" dirty="0"/>
          </a:p>
        </p:txBody>
      </p:sp>
      <p:sp>
        <p:nvSpPr>
          <p:cNvPr id="5" name="Text 3"/>
          <p:cNvSpPr/>
          <p:nvPr/>
        </p:nvSpPr>
        <p:spPr>
          <a:xfrm>
            <a:off x="8165592" y="310896"/>
            <a:ext cx="34747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90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Mitsui Thailand Portfolio · H1 2026</a:t>
            </a:r>
            <a:endParaRPr lang="en-US" sz="900" dirty="0"/>
          </a:p>
        </p:txBody>
      </p:sp>
      <p:sp>
        <p:nvSpPr>
          <p:cNvPr id="6" name="Shape 4"/>
          <p:cNvSpPr/>
          <p:nvPr/>
        </p:nvSpPr>
        <p:spPr>
          <a:xfrm>
            <a:off x="548640" y="1691640"/>
            <a:ext cx="5477256" cy="4526280"/>
          </a:xfrm>
          <a:prstGeom prst="roundRect">
            <a:avLst>
              <a:gd name="adj" fmla="val 1212"/>
            </a:avLst>
          </a:prstGeom>
          <a:solidFill>
            <a:srgbClr val="F4F6FB"/>
          </a:solidFill>
          <a:ln w="9525">
            <a:solidFill>
              <a:srgbClr val="E2E7F2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7" name="Text 5"/>
          <p:cNvSpPr/>
          <p:nvPr/>
        </p:nvSpPr>
        <p:spPr>
          <a:xfrm>
            <a:off x="749808" y="1828800"/>
            <a:ext cx="507492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50" b="1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FACTS — what the data shows</a:t>
            </a:r>
            <a:endParaRPr lang="en-US" sz="1450" dirty="0"/>
          </a:p>
        </p:txBody>
      </p:sp>
      <p:sp>
        <p:nvSpPr>
          <p:cNvPr id="8" name="Text 6"/>
          <p:cNvSpPr/>
          <p:nvPr/>
        </p:nvSpPr>
        <p:spPr>
          <a:xfrm>
            <a:off x="749808" y="2240280"/>
            <a:ext cx="5074920" cy="38404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>
              <a:spcAft>
                <a:spcPts val="700"/>
              </a:spcAft>
              <a:buSzPct val="100000"/>
              <a:buChar char="•"/>
            </a:pPr>
            <a:r>
              <a:rPr lang="en-US" sz="1150" dirty="0">
                <a:solidFill>
                  <a:srgbClr val="2629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STR (workbook Compset sheet): the broad markets held RATE in H1 — Bangkok ADR −1.1% (occ +1.8 pts), Pattaya ADR −0.3% (occ −2.0 pts) — while our portfolio ADR fell -4.2%.</a:t>
            </a:r>
            <a:endParaRPr lang="en-US" sz="1150" dirty="0"/>
          </a:p>
          <a:p>
            <a:pPr marL="342900" indent="-342900">
              <a:spcAft>
                <a:spcPts val="700"/>
              </a:spcAft>
              <a:buSzPct val="100000"/>
              <a:buChar char="•"/>
            </a:pPr>
            <a:endParaRPr lang="en-US" sz="1150" dirty="0"/>
          </a:p>
          <a:p>
            <a:pPr marL="342900" indent="-342900">
              <a:spcAft>
                <a:spcPts val="700"/>
              </a:spcAft>
              <a:buSzPct val="100000"/>
              <a:buChar char="•"/>
            </a:pPr>
            <a:endParaRPr lang="en-US" sz="1150" dirty="0"/>
          </a:p>
          <a:p>
            <a:pPr marL="342900" indent="-342900">
              <a:spcAft>
                <a:spcPts val="700"/>
              </a:spcAft>
              <a:buSzPct val="100000"/>
              <a:buChar char="•"/>
            </a:pPr>
            <a:endParaRPr lang="en-US" sz="1150" dirty="0"/>
          </a:p>
          <a:p>
            <a:pPr marL="342900" indent="-342900">
              <a:spcAft>
                <a:spcPts val="700"/>
              </a:spcAft>
              <a:buSzPct val="100000"/>
              <a:buChar char="•"/>
            </a:pPr>
            <a:endParaRPr lang="en-US" sz="1150" dirty="0"/>
          </a:p>
          <a:p>
            <a:pPr marL="342900" indent="-342900">
              <a:spcAft>
                <a:spcPts val="700"/>
              </a:spcAft>
              <a:buSzPct val="100000"/>
              <a:buChar char="•"/>
            </a:pPr>
            <a:endParaRPr lang="en-US" sz="1150" dirty="0"/>
          </a:p>
        </p:txBody>
      </p:sp>
      <p:sp>
        <p:nvSpPr>
          <p:cNvPr id="9" name="Shape 7"/>
          <p:cNvSpPr/>
          <p:nvPr/>
        </p:nvSpPr>
        <p:spPr>
          <a:xfrm>
            <a:off x="6163056" y="1691640"/>
            <a:ext cx="5477256" cy="4526280"/>
          </a:xfrm>
          <a:prstGeom prst="roundRect">
            <a:avLst>
              <a:gd name="adj" fmla="val 1212"/>
            </a:avLst>
          </a:prstGeom>
          <a:solidFill>
            <a:srgbClr val="F4F6FB"/>
          </a:solidFill>
          <a:ln w="9525">
            <a:solidFill>
              <a:srgbClr val="E2E7F2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0" name="Text 8"/>
          <p:cNvSpPr/>
          <p:nvPr/>
        </p:nvSpPr>
        <p:spPr>
          <a:xfrm>
            <a:off x="6364224" y="1828800"/>
            <a:ext cx="507492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50" b="1" dirty="0">
                <a:solidFill>
                  <a:srgbClr val="D9A44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HYPOTHESES — why we believe it is happening</a:t>
            </a:r>
            <a:endParaRPr lang="en-US" sz="1450" dirty="0"/>
          </a:p>
        </p:txBody>
      </p:sp>
      <p:sp>
        <p:nvSpPr>
          <p:cNvPr id="11" name="Text 9"/>
          <p:cNvSpPr/>
          <p:nvPr/>
        </p:nvSpPr>
        <p:spPr>
          <a:xfrm>
            <a:off x="6364224" y="2240280"/>
            <a:ext cx="5074920" cy="38404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>
              <a:spcAft>
                <a:spcPts val="700"/>
              </a:spcAft>
              <a:buSzPct val="100000"/>
              <a:buChar char="•"/>
            </a:pPr>
            <a:r>
              <a:rPr lang="en-US" sz="1150" dirty="0">
                <a:solidFill>
                  <a:srgbClr val="2629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Rate-for-volume strategy: STR shows we discounted far deeper than our compsets and bought occupancy share (MPI above 100 at all four hotels) — was the occupancy gain worth the rate given up? [key question for the GMs]</a:t>
            </a:r>
            <a:endParaRPr lang="en-US" sz="1150" dirty="0"/>
          </a:p>
          <a:p>
            <a:pPr marL="342900" indent="-342900">
              <a:spcAft>
                <a:spcPts val="700"/>
              </a:spcAft>
              <a:buSzPct val="100000"/>
              <a:buChar char="•"/>
            </a:pPr>
            <a:r>
              <a:rPr lang="en-US" sz="1150" dirty="0">
                <a:solidFill>
                  <a:srgbClr val="2629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Mix dilution: losing high-rate Middle East / European long-stay and refilling with Chinese/SEA leisure lowers our achieved ADR even without price cuts — our compsets carry less of that exposure, so their ADR held.</a:t>
            </a:r>
            <a:endParaRPr lang="en-US" sz="1150" dirty="0"/>
          </a:p>
          <a:p>
            <a:pPr marL="342900" indent="-342900">
              <a:spcAft>
                <a:spcPts val="700"/>
              </a:spcAft>
              <a:buSzPct val="100000"/>
              <a:buChar char="•"/>
            </a:pPr>
            <a:r>
              <a:rPr lang="en-US" sz="1150" i="1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Spending power: Chinese and SEA leisure guests book entry-level rooms and shorter stays; a strong THB makes Thailand more expensive in guests' home currencies. [TBC — FX / spend-per-trip evidence]</a:t>
            </a:r>
            <a:endParaRPr lang="en-US" sz="1150" dirty="0"/>
          </a:p>
          <a:p>
            <a:pPr marL="342900" indent="-342900">
              <a:spcAft>
                <a:spcPts val="700"/>
              </a:spcAft>
              <a:buSzPct val="100000"/>
              <a:buChar char="•"/>
            </a:pPr>
            <a:r>
              <a:rPr lang="en-US" sz="1150" dirty="0">
                <a:solidFill>
                  <a:srgbClr val="2629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Booking behaviour changed: guests book further in advance and last-minute premium demand has faded (SR9) — less late-yield upside on peak dates.</a:t>
            </a:r>
            <a:endParaRPr lang="en-US" sz="1150" dirty="0"/>
          </a:p>
          <a:p>
            <a:pPr marL="342900" indent="-342900">
              <a:spcAft>
                <a:spcPts val="700"/>
              </a:spcAft>
              <a:buSzPct val="100000"/>
              <a:buChar char="•"/>
            </a:pPr>
            <a:r>
              <a:rPr lang="en-US" sz="1150" dirty="0">
                <a:solidFill>
                  <a:srgbClr val="2629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Channel mix dilution: OTA flash deals and wholesale rates lift occupancy but cap ADR (LYF ADR ranks 5/5 in its compset; Trip.com flash deal discontinued).</a:t>
            </a:r>
            <a:endParaRPr lang="en-US" sz="1150" dirty="0"/>
          </a:p>
          <a:p>
            <a:pPr marL="342900" indent="-342900">
              <a:spcAft>
                <a:spcPts val="700"/>
              </a:spcAft>
              <a:buSzPct val="100000"/>
              <a:buChar char="•"/>
            </a:pPr>
            <a:r>
              <a:rPr lang="en-US" sz="1150" i="1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New supply: additional rooms in Bangkok keep pressure on rates. [TBC — 2025–26 new openings in Rama 9 / Sathorn /Nana to quantify]</a:t>
            </a:r>
            <a:endParaRPr lang="en-US" sz="1150" dirty="0"/>
          </a:p>
        </p:txBody>
      </p:sp>
      <p:sp>
        <p:nvSpPr>
          <p:cNvPr id="12" name="Text 10"/>
          <p:cNvSpPr/>
          <p:nvPr/>
        </p:nvSpPr>
        <p:spPr>
          <a:xfrm>
            <a:off x="548640" y="6355080"/>
            <a:ext cx="10881360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50" i="1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Draft v2 for discussion — computed figures come from the result sheets, STR and MOTS data in this workbook; [TBC] items to be confirmed by management.</a:t>
            </a:r>
            <a:endParaRPr lang="en-US" sz="1050" dirty="0"/>
          </a:p>
        </p:txBody>
      </p:sp>
    </p:spTree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3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292608"/>
            <a:ext cx="8229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b="1" kern="0" spc="200" dirty="0">
                <a:solidFill>
                  <a:srgbClr val="D9A44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SECTION 2 · MARKET (STR)</a:t>
            </a:r>
            <a:endParaRPr lang="en-US" sz="1100" dirty="0"/>
          </a:p>
        </p:txBody>
      </p:sp>
      <p:sp>
        <p:nvSpPr>
          <p:cNvPr id="3" name="Text 1"/>
          <p:cNvSpPr/>
          <p:nvPr/>
        </p:nvSpPr>
        <p:spPr>
          <a:xfrm>
            <a:off x="548640" y="502920"/>
            <a:ext cx="11091672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800" b="1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ADR by segment — where the rate went, H1 2026 vs H1 2025</a:t>
            </a:r>
            <a:endParaRPr lang="en-US" sz="2800" dirty="0"/>
          </a:p>
        </p:txBody>
      </p:sp>
      <p:sp>
        <p:nvSpPr>
          <p:cNvPr id="4" name="Text 2"/>
          <p:cNvSpPr/>
          <p:nvPr/>
        </p:nvSpPr>
        <p:spPr>
          <a:xfrm>
            <a:off x="548640" y="1060704"/>
            <a:ext cx="11091672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5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ADR = room revenue ÷ room nights per segment · H1 = Jan–Jun · % rooms = segment share of room nights · segments under 1% of rooms omitted</a:t>
            </a:r>
            <a:endParaRPr lang="en-US" sz="1250" dirty="0"/>
          </a:p>
        </p:txBody>
      </p:sp>
      <p:sp>
        <p:nvSpPr>
          <p:cNvPr id="5" name="Text 3"/>
          <p:cNvSpPr/>
          <p:nvPr/>
        </p:nvSpPr>
        <p:spPr>
          <a:xfrm>
            <a:off x="8165592" y="310896"/>
            <a:ext cx="34747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90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Mitsui Thailand Portfolio · H1 2026</a:t>
            </a:r>
            <a:endParaRPr lang="en-US" sz="900" dirty="0"/>
          </a:p>
        </p:txBody>
      </p:sp>
      <p:sp>
        <p:nvSpPr>
          <p:cNvPr id="6" name="TextBox 5"/>
          <p:cNvSpPr txBox="1"/>
          <p:nvPr/>
        </p:nvSpPr>
        <p:spPr>
          <a:xfrm>
            <a:off x="548640" y="1572768"/>
            <a:ext cx="5303520" cy="237744"/>
          </a:xfrm>
          <a:prstGeom prst="rect">
            <a:avLst/>
          </a:prstGeom>
          <a:noFill/>
        </p:spPr>
        <p:txBody>
          <a:bodyPr wrap="none" lIns="0" tIns="0" bIns="0">
            <a:spAutoFit/>
          </a:bodyPr>
          <a:lstStyle/>
          <a:p>
            <a:r>
              <a:rPr sz="1100" b="1">
                <a:solidFill>
                  <a:srgbClr val="1E2761"/>
                </a:solidFill>
                <a:latin typeface="Calibri"/>
              </a:rPr>
              <a:t>Somerset Rama 9 (SR9)</a:t>
            </a:r>
          </a:p>
        </p:txBody>
      </p:sp>
      <p:graphicFrame>
        <p:nvGraphicFramePr>
          <p:cNvPr id="7" name="Table 6"/>
          <p:cNvGraphicFramePr>
            <a:graphicFrameLocks noGrp="1"/>
          </p:cNvGraphicFramePr>
          <p:nvPr/>
        </p:nvGraphicFramePr>
        <p:xfrm>
          <a:off x="548640" y="1847088"/>
          <a:ext cx="5303520" cy="1312163"/>
        </p:xfrm>
        <a:graphic>
          <a:graphicData uri="http://schemas.openxmlformats.org/drawingml/2006/table">
            <a:tbl>
              <a:tblPr>
                <a:tableStyleId>{5C22544A-7EE6-4342-B048-85BDC9FD1C3A}</a:tableStyleId>
              </a:tblPr>
              <a:tblGrid>
                <a:gridCol w="1417320"/>
                <a:gridCol w="731520"/>
                <a:gridCol w="731520"/>
                <a:gridCol w="841248"/>
                <a:gridCol w="841248"/>
                <a:gridCol w="740664"/>
              </a:tblGrid>
              <a:tr h="187452">
                <a:tc>
                  <a:txBody>
                    <a:bodyPr wrap="none"/>
                    <a:lstStyle/>
                    <a:p>
                      <a:pPr algn="l"/>
                      <a:r>
                        <a:rPr sz="800" b="1">
                          <a:solidFill>
                            <a:srgbClr val="FFFFFF"/>
                          </a:solidFill>
                          <a:latin typeface="Calibri"/>
                        </a:rPr>
                        <a:t>Segment</a:t>
                      </a:r>
                    </a:p>
                  </a:txBody>
                  <a:tcPr anchor="ctr" marL="36576" marR="36576" marT="9144" marB="9144">
                    <a:lnL w="6350">
                      <a:solidFill>
                        <a:srgbClr val="E2E7F2"/>
                      </a:solidFill>
                    </a:lnL>
                    <a:lnR w="6350">
                      <a:solidFill>
                        <a:srgbClr val="E2E7F2"/>
                      </a:solidFill>
                    </a:lnR>
                    <a:lnT w="6350">
                      <a:solidFill>
                        <a:srgbClr val="E2E7F2"/>
                      </a:solidFill>
                    </a:lnT>
                    <a:lnB w="6350">
                      <a:solidFill>
                        <a:srgbClr val="E2E7F2"/>
                      </a:solidFill>
                    </a:lnB>
                    <a:solidFill>
                      <a:srgbClr val="1E2761"/>
                    </a:solidFill>
                  </a:tcPr>
                </a:tc>
                <a:tc>
                  <a:txBody>
                    <a:bodyPr wrap="none"/>
                    <a:lstStyle/>
                    <a:p>
                      <a:pPr algn="r"/>
                      <a:r>
                        <a:rPr sz="800" b="1">
                          <a:solidFill>
                            <a:srgbClr val="FFFFFF"/>
                          </a:solidFill>
                          <a:latin typeface="Calibri"/>
                        </a:rPr>
                        <a:t>% rooms 25</a:t>
                      </a:r>
                    </a:p>
                  </a:txBody>
                  <a:tcPr anchor="ctr" marL="36576" marR="36576" marT="9144" marB="9144">
                    <a:lnL w="6350">
                      <a:solidFill>
                        <a:srgbClr val="E2E7F2"/>
                      </a:solidFill>
                    </a:lnL>
                    <a:lnR w="6350">
                      <a:solidFill>
                        <a:srgbClr val="E2E7F2"/>
                      </a:solidFill>
                    </a:lnR>
                    <a:lnT w="6350">
                      <a:solidFill>
                        <a:srgbClr val="E2E7F2"/>
                      </a:solidFill>
                    </a:lnT>
                    <a:lnB w="6350">
                      <a:solidFill>
                        <a:srgbClr val="E2E7F2"/>
                      </a:solidFill>
                    </a:lnB>
                    <a:solidFill>
                      <a:srgbClr val="1E2761"/>
                    </a:solidFill>
                  </a:tcPr>
                </a:tc>
                <a:tc>
                  <a:txBody>
                    <a:bodyPr wrap="none"/>
                    <a:lstStyle/>
                    <a:p>
                      <a:pPr algn="r"/>
                      <a:r>
                        <a:rPr sz="800" b="1">
                          <a:solidFill>
                            <a:srgbClr val="FFFFFF"/>
                          </a:solidFill>
                          <a:latin typeface="Calibri"/>
                        </a:rPr>
                        <a:t>% rooms 26</a:t>
                      </a:r>
                    </a:p>
                  </a:txBody>
                  <a:tcPr anchor="ctr" marL="36576" marR="36576" marT="9144" marB="9144">
                    <a:lnL w="6350">
                      <a:solidFill>
                        <a:srgbClr val="E2E7F2"/>
                      </a:solidFill>
                    </a:lnL>
                    <a:lnR w="6350">
                      <a:solidFill>
                        <a:srgbClr val="E2E7F2"/>
                      </a:solidFill>
                    </a:lnR>
                    <a:lnT w="6350">
                      <a:solidFill>
                        <a:srgbClr val="E2E7F2"/>
                      </a:solidFill>
                    </a:lnT>
                    <a:lnB w="6350">
                      <a:solidFill>
                        <a:srgbClr val="E2E7F2"/>
                      </a:solidFill>
                    </a:lnB>
                    <a:solidFill>
                      <a:srgbClr val="1E2761"/>
                    </a:solidFill>
                  </a:tcPr>
                </a:tc>
                <a:tc>
                  <a:txBody>
                    <a:bodyPr wrap="none"/>
                    <a:lstStyle/>
                    <a:p>
                      <a:pPr algn="r"/>
                      <a:r>
                        <a:rPr sz="800" b="1">
                          <a:solidFill>
                            <a:srgbClr val="FFFFFF"/>
                          </a:solidFill>
                          <a:latin typeface="Calibri"/>
                        </a:rPr>
                        <a:t>ADR H1 '25</a:t>
                      </a:r>
                    </a:p>
                  </a:txBody>
                  <a:tcPr anchor="ctr" marL="36576" marR="36576" marT="9144" marB="9144">
                    <a:lnL w="6350">
                      <a:solidFill>
                        <a:srgbClr val="E2E7F2"/>
                      </a:solidFill>
                    </a:lnL>
                    <a:lnR w="6350">
                      <a:solidFill>
                        <a:srgbClr val="E2E7F2"/>
                      </a:solidFill>
                    </a:lnR>
                    <a:lnT w="6350">
                      <a:solidFill>
                        <a:srgbClr val="E2E7F2"/>
                      </a:solidFill>
                    </a:lnT>
                    <a:lnB w="6350">
                      <a:solidFill>
                        <a:srgbClr val="E2E7F2"/>
                      </a:solidFill>
                    </a:lnB>
                    <a:solidFill>
                      <a:srgbClr val="1E2761"/>
                    </a:solidFill>
                  </a:tcPr>
                </a:tc>
                <a:tc>
                  <a:txBody>
                    <a:bodyPr wrap="none"/>
                    <a:lstStyle/>
                    <a:p>
                      <a:pPr algn="r"/>
                      <a:r>
                        <a:rPr sz="800" b="1">
                          <a:solidFill>
                            <a:srgbClr val="FFFFFF"/>
                          </a:solidFill>
                          <a:latin typeface="Calibri"/>
                        </a:rPr>
                        <a:t>ADR H1 '26</a:t>
                      </a:r>
                    </a:p>
                  </a:txBody>
                  <a:tcPr anchor="ctr" marL="36576" marR="36576" marT="9144" marB="9144">
                    <a:lnL w="6350">
                      <a:solidFill>
                        <a:srgbClr val="E2E7F2"/>
                      </a:solidFill>
                    </a:lnL>
                    <a:lnR w="6350">
                      <a:solidFill>
                        <a:srgbClr val="E2E7F2"/>
                      </a:solidFill>
                    </a:lnR>
                    <a:lnT w="6350">
                      <a:solidFill>
                        <a:srgbClr val="E2E7F2"/>
                      </a:solidFill>
                    </a:lnT>
                    <a:lnB w="6350">
                      <a:solidFill>
                        <a:srgbClr val="E2E7F2"/>
                      </a:solidFill>
                    </a:lnB>
                    <a:solidFill>
                      <a:srgbClr val="1E2761"/>
                    </a:solidFill>
                  </a:tcPr>
                </a:tc>
                <a:tc>
                  <a:txBody>
                    <a:bodyPr wrap="none"/>
                    <a:lstStyle/>
                    <a:p>
                      <a:pPr algn="r"/>
                      <a:r>
                        <a:rPr sz="800" b="1">
                          <a:solidFill>
                            <a:srgbClr val="FFFFFF"/>
                          </a:solidFill>
                          <a:latin typeface="Calibri"/>
                        </a:rPr>
                        <a:t>ADR chg</a:t>
                      </a:r>
                    </a:p>
                  </a:txBody>
                  <a:tcPr anchor="ctr" marL="36576" marR="36576" marT="9144" marB="9144">
                    <a:lnL w="6350">
                      <a:solidFill>
                        <a:srgbClr val="E2E7F2"/>
                      </a:solidFill>
                    </a:lnL>
                    <a:lnR w="6350">
                      <a:solidFill>
                        <a:srgbClr val="E2E7F2"/>
                      </a:solidFill>
                    </a:lnR>
                    <a:lnT w="6350">
                      <a:solidFill>
                        <a:srgbClr val="E2E7F2"/>
                      </a:solidFill>
                    </a:lnT>
                    <a:lnB w="6350">
                      <a:solidFill>
                        <a:srgbClr val="E2E7F2"/>
                      </a:solidFill>
                    </a:lnB>
                    <a:solidFill>
                      <a:srgbClr val="1E2761"/>
                    </a:solidFill>
                  </a:tcPr>
                </a:tc>
              </a:tr>
              <a:tr h="187452">
                <a:tc>
                  <a:txBody>
                    <a:bodyPr wrap="none"/>
                    <a:lstStyle/>
                    <a:p>
                      <a:pPr algn="l"/>
                      <a:r>
                        <a:rPr sz="850" b="1">
                          <a:solidFill>
                            <a:srgbClr val="26292E"/>
                          </a:solidFill>
                          <a:latin typeface="Calibri"/>
                        </a:rPr>
                        <a:t>Online (dynamic)</a:t>
                      </a:r>
                    </a:p>
                  </a:txBody>
                  <a:tcPr anchor="ctr" marL="36576" marR="36576" marT="9144" marB="9144">
                    <a:lnL w="6350">
                      <a:solidFill>
                        <a:srgbClr val="E2E7F2"/>
                      </a:solidFill>
                    </a:lnL>
                    <a:lnR w="6350">
                      <a:solidFill>
                        <a:srgbClr val="E2E7F2"/>
                      </a:solidFill>
                    </a:lnR>
                    <a:lnT w="6350">
                      <a:solidFill>
                        <a:srgbClr val="E2E7F2"/>
                      </a:solidFill>
                    </a:lnT>
                    <a:lnB w="6350">
                      <a:solidFill>
                        <a:srgbClr val="E2E7F2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wrap="none"/>
                    <a:lstStyle/>
                    <a:p>
                      <a:pPr algn="r"/>
                      <a:r>
                        <a:rPr sz="850" b="0">
                          <a:solidFill>
                            <a:srgbClr val="595959"/>
                          </a:solidFill>
                          <a:latin typeface="Calibri"/>
                        </a:rPr>
                        <a:t>34%</a:t>
                      </a:r>
                    </a:p>
                  </a:txBody>
                  <a:tcPr anchor="ctr" marL="36576" marR="36576" marT="9144" marB="9144">
                    <a:lnL w="6350">
                      <a:solidFill>
                        <a:srgbClr val="E2E7F2"/>
                      </a:solidFill>
                    </a:lnL>
                    <a:lnR w="6350">
                      <a:solidFill>
                        <a:srgbClr val="E2E7F2"/>
                      </a:solidFill>
                    </a:lnR>
                    <a:lnT w="6350">
                      <a:solidFill>
                        <a:srgbClr val="E2E7F2"/>
                      </a:solidFill>
                    </a:lnT>
                    <a:lnB w="6350">
                      <a:solidFill>
                        <a:srgbClr val="E2E7F2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wrap="none"/>
                    <a:lstStyle/>
                    <a:p>
                      <a:pPr algn="r"/>
                      <a:r>
                        <a:rPr sz="850" b="0">
                          <a:solidFill>
                            <a:srgbClr val="595959"/>
                          </a:solidFill>
                          <a:latin typeface="Calibri"/>
                        </a:rPr>
                        <a:t>42%</a:t>
                      </a:r>
                    </a:p>
                  </a:txBody>
                  <a:tcPr anchor="ctr" marL="36576" marR="36576" marT="9144" marB="9144">
                    <a:lnL w="6350">
                      <a:solidFill>
                        <a:srgbClr val="E2E7F2"/>
                      </a:solidFill>
                    </a:lnL>
                    <a:lnR w="6350">
                      <a:solidFill>
                        <a:srgbClr val="E2E7F2"/>
                      </a:solidFill>
                    </a:lnR>
                    <a:lnT w="6350">
                      <a:solidFill>
                        <a:srgbClr val="E2E7F2"/>
                      </a:solidFill>
                    </a:lnT>
                    <a:lnB w="6350">
                      <a:solidFill>
                        <a:srgbClr val="E2E7F2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wrap="none"/>
                    <a:lstStyle/>
                    <a:p>
                      <a:pPr algn="r"/>
                      <a:r>
                        <a:rPr sz="850" b="0">
                          <a:solidFill>
                            <a:srgbClr val="26292E"/>
                          </a:solidFill>
                          <a:latin typeface="Calibri"/>
                        </a:rPr>
                        <a:t>3,536</a:t>
                      </a:r>
                    </a:p>
                  </a:txBody>
                  <a:tcPr anchor="ctr" marL="36576" marR="36576" marT="9144" marB="9144">
                    <a:lnL w="6350">
                      <a:solidFill>
                        <a:srgbClr val="E2E7F2"/>
                      </a:solidFill>
                    </a:lnL>
                    <a:lnR w="6350">
                      <a:solidFill>
                        <a:srgbClr val="E2E7F2"/>
                      </a:solidFill>
                    </a:lnR>
                    <a:lnT w="6350">
                      <a:solidFill>
                        <a:srgbClr val="E2E7F2"/>
                      </a:solidFill>
                    </a:lnT>
                    <a:lnB w="6350">
                      <a:solidFill>
                        <a:srgbClr val="E2E7F2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wrap="none"/>
                    <a:lstStyle/>
                    <a:p>
                      <a:pPr algn="r"/>
                      <a:r>
                        <a:rPr sz="850" b="0">
                          <a:solidFill>
                            <a:srgbClr val="26292E"/>
                          </a:solidFill>
                          <a:latin typeface="Calibri"/>
                        </a:rPr>
                        <a:t>3,043</a:t>
                      </a:r>
                    </a:p>
                  </a:txBody>
                  <a:tcPr anchor="ctr" marL="36576" marR="36576" marT="9144" marB="9144">
                    <a:lnL w="6350">
                      <a:solidFill>
                        <a:srgbClr val="E2E7F2"/>
                      </a:solidFill>
                    </a:lnL>
                    <a:lnR w="6350">
                      <a:solidFill>
                        <a:srgbClr val="E2E7F2"/>
                      </a:solidFill>
                    </a:lnR>
                    <a:lnT w="6350">
                      <a:solidFill>
                        <a:srgbClr val="E2E7F2"/>
                      </a:solidFill>
                    </a:lnT>
                    <a:lnB w="6350">
                      <a:solidFill>
                        <a:srgbClr val="E2E7F2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wrap="none"/>
                    <a:lstStyle/>
                    <a:p>
                      <a:pPr algn="r"/>
                      <a:r>
                        <a:rPr sz="850" b="1">
                          <a:solidFill>
                            <a:srgbClr val="C62828"/>
                          </a:solidFill>
                          <a:latin typeface="Calibri"/>
                        </a:rPr>
                        <a:t>-13.9%</a:t>
                      </a:r>
                    </a:p>
                  </a:txBody>
                  <a:tcPr anchor="ctr" marL="36576" marR="36576" marT="9144" marB="9144">
                    <a:lnL w="6350">
                      <a:solidFill>
                        <a:srgbClr val="E2E7F2"/>
                      </a:solidFill>
                    </a:lnL>
                    <a:lnR w="6350">
                      <a:solidFill>
                        <a:srgbClr val="E2E7F2"/>
                      </a:solidFill>
                    </a:lnR>
                    <a:lnT w="6350">
                      <a:solidFill>
                        <a:srgbClr val="E2E7F2"/>
                      </a:solidFill>
                    </a:lnT>
                    <a:lnB w="6350">
                      <a:solidFill>
                        <a:srgbClr val="E2E7F2"/>
                      </a:solidFill>
                    </a:lnB>
                    <a:solidFill>
                      <a:srgbClr val="FFFFFF"/>
                    </a:solidFill>
                  </a:tcPr>
                </a:tc>
              </a:tr>
              <a:tr h="187452">
                <a:tc>
                  <a:txBody>
                    <a:bodyPr wrap="none"/>
                    <a:lstStyle/>
                    <a:p>
                      <a:pPr algn="l"/>
                      <a:r>
                        <a:rPr sz="850" b="0">
                          <a:solidFill>
                            <a:srgbClr val="26292E"/>
                          </a:solidFill>
                          <a:latin typeface="Calibri"/>
                        </a:rPr>
                        <a:t>Corporate LS</a:t>
                      </a:r>
                    </a:p>
                  </a:txBody>
                  <a:tcPr anchor="ctr" marL="36576" marR="36576" marT="9144" marB="9144">
                    <a:lnL w="6350">
                      <a:solidFill>
                        <a:srgbClr val="E2E7F2"/>
                      </a:solidFill>
                    </a:lnL>
                    <a:lnR w="6350">
                      <a:solidFill>
                        <a:srgbClr val="E2E7F2"/>
                      </a:solidFill>
                    </a:lnR>
                    <a:lnT w="6350">
                      <a:solidFill>
                        <a:srgbClr val="E2E7F2"/>
                      </a:solidFill>
                    </a:lnT>
                    <a:lnB w="6350">
                      <a:solidFill>
                        <a:srgbClr val="E2E7F2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wrap="none"/>
                    <a:lstStyle/>
                    <a:p>
                      <a:pPr algn="r"/>
                      <a:r>
                        <a:rPr sz="850" b="0">
                          <a:solidFill>
                            <a:srgbClr val="595959"/>
                          </a:solidFill>
                          <a:latin typeface="Calibri"/>
                        </a:rPr>
                        <a:t>15%</a:t>
                      </a:r>
                    </a:p>
                  </a:txBody>
                  <a:tcPr anchor="ctr" marL="36576" marR="36576" marT="9144" marB="9144">
                    <a:lnL w="6350">
                      <a:solidFill>
                        <a:srgbClr val="E2E7F2"/>
                      </a:solidFill>
                    </a:lnL>
                    <a:lnR w="6350">
                      <a:solidFill>
                        <a:srgbClr val="E2E7F2"/>
                      </a:solidFill>
                    </a:lnR>
                    <a:lnT w="6350">
                      <a:solidFill>
                        <a:srgbClr val="E2E7F2"/>
                      </a:solidFill>
                    </a:lnT>
                    <a:lnB w="6350">
                      <a:solidFill>
                        <a:srgbClr val="E2E7F2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wrap="none"/>
                    <a:lstStyle/>
                    <a:p>
                      <a:pPr algn="r"/>
                      <a:r>
                        <a:rPr sz="850" b="0">
                          <a:solidFill>
                            <a:srgbClr val="595959"/>
                          </a:solidFill>
                          <a:latin typeface="Calibri"/>
                        </a:rPr>
                        <a:t>15%</a:t>
                      </a:r>
                    </a:p>
                  </a:txBody>
                  <a:tcPr anchor="ctr" marL="36576" marR="36576" marT="9144" marB="9144">
                    <a:lnL w="6350">
                      <a:solidFill>
                        <a:srgbClr val="E2E7F2"/>
                      </a:solidFill>
                    </a:lnL>
                    <a:lnR w="6350">
                      <a:solidFill>
                        <a:srgbClr val="E2E7F2"/>
                      </a:solidFill>
                    </a:lnR>
                    <a:lnT w="6350">
                      <a:solidFill>
                        <a:srgbClr val="E2E7F2"/>
                      </a:solidFill>
                    </a:lnT>
                    <a:lnB w="6350">
                      <a:solidFill>
                        <a:srgbClr val="E2E7F2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wrap="none"/>
                    <a:lstStyle/>
                    <a:p>
                      <a:pPr algn="r"/>
                      <a:r>
                        <a:rPr sz="850" b="0">
                          <a:solidFill>
                            <a:srgbClr val="26292E"/>
                          </a:solidFill>
                          <a:latin typeface="Calibri"/>
                        </a:rPr>
                        <a:t>2,134</a:t>
                      </a:r>
                    </a:p>
                  </a:txBody>
                  <a:tcPr anchor="ctr" marL="36576" marR="36576" marT="9144" marB="9144">
                    <a:lnL w="6350">
                      <a:solidFill>
                        <a:srgbClr val="E2E7F2"/>
                      </a:solidFill>
                    </a:lnL>
                    <a:lnR w="6350">
                      <a:solidFill>
                        <a:srgbClr val="E2E7F2"/>
                      </a:solidFill>
                    </a:lnR>
                    <a:lnT w="6350">
                      <a:solidFill>
                        <a:srgbClr val="E2E7F2"/>
                      </a:solidFill>
                    </a:lnT>
                    <a:lnB w="6350">
                      <a:solidFill>
                        <a:srgbClr val="E2E7F2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wrap="none"/>
                    <a:lstStyle/>
                    <a:p>
                      <a:pPr algn="r"/>
                      <a:r>
                        <a:rPr sz="850" b="0">
                          <a:solidFill>
                            <a:srgbClr val="26292E"/>
                          </a:solidFill>
                          <a:latin typeface="Calibri"/>
                        </a:rPr>
                        <a:t>1,994</a:t>
                      </a:r>
                    </a:p>
                  </a:txBody>
                  <a:tcPr anchor="ctr" marL="36576" marR="36576" marT="9144" marB="9144">
                    <a:lnL w="6350">
                      <a:solidFill>
                        <a:srgbClr val="E2E7F2"/>
                      </a:solidFill>
                    </a:lnL>
                    <a:lnR w="6350">
                      <a:solidFill>
                        <a:srgbClr val="E2E7F2"/>
                      </a:solidFill>
                    </a:lnR>
                    <a:lnT w="6350">
                      <a:solidFill>
                        <a:srgbClr val="E2E7F2"/>
                      </a:solidFill>
                    </a:lnT>
                    <a:lnB w="6350">
                      <a:solidFill>
                        <a:srgbClr val="E2E7F2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wrap="none"/>
                    <a:lstStyle/>
                    <a:p>
                      <a:pPr algn="r"/>
                      <a:r>
                        <a:rPr sz="850" b="1">
                          <a:solidFill>
                            <a:srgbClr val="C62828"/>
                          </a:solidFill>
                          <a:latin typeface="Calibri"/>
                        </a:rPr>
                        <a:t>-6.6%</a:t>
                      </a:r>
                    </a:p>
                  </a:txBody>
                  <a:tcPr anchor="ctr" marL="36576" marR="36576" marT="9144" marB="9144">
                    <a:lnL w="6350">
                      <a:solidFill>
                        <a:srgbClr val="E2E7F2"/>
                      </a:solidFill>
                    </a:lnL>
                    <a:lnR w="6350">
                      <a:solidFill>
                        <a:srgbClr val="E2E7F2"/>
                      </a:solidFill>
                    </a:lnR>
                    <a:lnT w="6350">
                      <a:solidFill>
                        <a:srgbClr val="E2E7F2"/>
                      </a:solidFill>
                    </a:lnT>
                    <a:lnB w="6350">
                      <a:solidFill>
                        <a:srgbClr val="E2E7F2"/>
                      </a:solidFill>
                    </a:lnB>
                    <a:solidFill>
                      <a:srgbClr val="FFFFFF"/>
                    </a:solidFill>
                  </a:tcPr>
                </a:tc>
              </a:tr>
              <a:tr h="187452">
                <a:tc>
                  <a:txBody>
                    <a:bodyPr wrap="none"/>
                    <a:lstStyle/>
                    <a:p>
                      <a:pPr algn="l"/>
                      <a:r>
                        <a:rPr sz="850" b="0">
                          <a:solidFill>
                            <a:srgbClr val="26292E"/>
                          </a:solidFill>
                          <a:latin typeface="Calibri"/>
                        </a:rPr>
                        <a:t>Corporate SS</a:t>
                      </a:r>
                    </a:p>
                  </a:txBody>
                  <a:tcPr anchor="ctr" marL="36576" marR="36576" marT="9144" marB="9144">
                    <a:lnL w="6350">
                      <a:solidFill>
                        <a:srgbClr val="E2E7F2"/>
                      </a:solidFill>
                    </a:lnL>
                    <a:lnR w="6350">
                      <a:solidFill>
                        <a:srgbClr val="E2E7F2"/>
                      </a:solidFill>
                    </a:lnR>
                    <a:lnT w="6350">
                      <a:solidFill>
                        <a:srgbClr val="E2E7F2"/>
                      </a:solidFill>
                    </a:lnT>
                    <a:lnB w="6350">
                      <a:solidFill>
                        <a:srgbClr val="E2E7F2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wrap="none"/>
                    <a:lstStyle/>
                    <a:p>
                      <a:pPr algn="r"/>
                      <a:r>
                        <a:rPr sz="850" b="0">
                          <a:solidFill>
                            <a:srgbClr val="595959"/>
                          </a:solidFill>
                          <a:latin typeface="Calibri"/>
                        </a:rPr>
                        <a:t>16%</a:t>
                      </a:r>
                    </a:p>
                  </a:txBody>
                  <a:tcPr anchor="ctr" marL="36576" marR="36576" marT="9144" marB="9144">
                    <a:lnL w="6350">
                      <a:solidFill>
                        <a:srgbClr val="E2E7F2"/>
                      </a:solidFill>
                    </a:lnL>
                    <a:lnR w="6350">
                      <a:solidFill>
                        <a:srgbClr val="E2E7F2"/>
                      </a:solidFill>
                    </a:lnR>
                    <a:lnT w="6350">
                      <a:solidFill>
                        <a:srgbClr val="E2E7F2"/>
                      </a:solidFill>
                    </a:lnT>
                    <a:lnB w="6350">
                      <a:solidFill>
                        <a:srgbClr val="E2E7F2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wrap="none"/>
                    <a:lstStyle/>
                    <a:p>
                      <a:pPr algn="r"/>
                      <a:r>
                        <a:rPr sz="850" b="0">
                          <a:solidFill>
                            <a:srgbClr val="595959"/>
                          </a:solidFill>
                          <a:latin typeface="Calibri"/>
                        </a:rPr>
                        <a:t>14%</a:t>
                      </a:r>
                    </a:p>
                  </a:txBody>
                  <a:tcPr anchor="ctr" marL="36576" marR="36576" marT="9144" marB="9144">
                    <a:lnL w="6350">
                      <a:solidFill>
                        <a:srgbClr val="E2E7F2"/>
                      </a:solidFill>
                    </a:lnL>
                    <a:lnR w="6350">
                      <a:solidFill>
                        <a:srgbClr val="E2E7F2"/>
                      </a:solidFill>
                    </a:lnR>
                    <a:lnT w="6350">
                      <a:solidFill>
                        <a:srgbClr val="E2E7F2"/>
                      </a:solidFill>
                    </a:lnT>
                    <a:lnB w="6350">
                      <a:solidFill>
                        <a:srgbClr val="E2E7F2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wrap="none"/>
                    <a:lstStyle/>
                    <a:p>
                      <a:pPr algn="r"/>
                      <a:r>
                        <a:rPr sz="850" b="0">
                          <a:solidFill>
                            <a:srgbClr val="26292E"/>
                          </a:solidFill>
                          <a:latin typeface="Calibri"/>
                        </a:rPr>
                        <a:t>2,735</a:t>
                      </a:r>
                    </a:p>
                  </a:txBody>
                  <a:tcPr anchor="ctr" marL="36576" marR="36576" marT="9144" marB="9144">
                    <a:lnL w="6350">
                      <a:solidFill>
                        <a:srgbClr val="E2E7F2"/>
                      </a:solidFill>
                    </a:lnL>
                    <a:lnR w="6350">
                      <a:solidFill>
                        <a:srgbClr val="E2E7F2"/>
                      </a:solidFill>
                    </a:lnR>
                    <a:lnT w="6350">
                      <a:solidFill>
                        <a:srgbClr val="E2E7F2"/>
                      </a:solidFill>
                    </a:lnT>
                    <a:lnB w="6350">
                      <a:solidFill>
                        <a:srgbClr val="E2E7F2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wrap="none"/>
                    <a:lstStyle/>
                    <a:p>
                      <a:pPr algn="r"/>
                      <a:r>
                        <a:rPr sz="850" b="0">
                          <a:solidFill>
                            <a:srgbClr val="26292E"/>
                          </a:solidFill>
                          <a:latin typeface="Calibri"/>
                        </a:rPr>
                        <a:t>2,408</a:t>
                      </a:r>
                    </a:p>
                  </a:txBody>
                  <a:tcPr anchor="ctr" marL="36576" marR="36576" marT="9144" marB="9144">
                    <a:lnL w="6350">
                      <a:solidFill>
                        <a:srgbClr val="E2E7F2"/>
                      </a:solidFill>
                    </a:lnL>
                    <a:lnR w="6350">
                      <a:solidFill>
                        <a:srgbClr val="E2E7F2"/>
                      </a:solidFill>
                    </a:lnR>
                    <a:lnT w="6350">
                      <a:solidFill>
                        <a:srgbClr val="E2E7F2"/>
                      </a:solidFill>
                    </a:lnT>
                    <a:lnB w="6350">
                      <a:solidFill>
                        <a:srgbClr val="E2E7F2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wrap="none"/>
                    <a:lstStyle/>
                    <a:p>
                      <a:pPr algn="r"/>
                      <a:r>
                        <a:rPr sz="850" b="1">
                          <a:solidFill>
                            <a:srgbClr val="C62828"/>
                          </a:solidFill>
                          <a:latin typeface="Calibri"/>
                        </a:rPr>
                        <a:t>-11.9%</a:t>
                      </a:r>
                    </a:p>
                  </a:txBody>
                  <a:tcPr anchor="ctr" marL="36576" marR="36576" marT="9144" marB="9144">
                    <a:lnL w="6350">
                      <a:solidFill>
                        <a:srgbClr val="E2E7F2"/>
                      </a:solidFill>
                    </a:lnL>
                    <a:lnR w="6350">
                      <a:solidFill>
                        <a:srgbClr val="E2E7F2"/>
                      </a:solidFill>
                    </a:lnR>
                    <a:lnT w="6350">
                      <a:solidFill>
                        <a:srgbClr val="E2E7F2"/>
                      </a:solidFill>
                    </a:lnT>
                    <a:lnB w="6350">
                      <a:solidFill>
                        <a:srgbClr val="E2E7F2"/>
                      </a:solidFill>
                    </a:lnB>
                    <a:solidFill>
                      <a:srgbClr val="FFFFFF"/>
                    </a:solidFill>
                  </a:tcPr>
                </a:tc>
              </a:tr>
              <a:tr h="187452">
                <a:tc>
                  <a:txBody>
                    <a:bodyPr wrap="none"/>
                    <a:lstStyle/>
                    <a:p>
                      <a:pPr algn="l"/>
                      <a:r>
                        <a:rPr sz="850" b="0">
                          <a:solidFill>
                            <a:srgbClr val="26292E"/>
                          </a:solidFill>
                          <a:latin typeface="Calibri"/>
                        </a:rPr>
                        <a:t>Wholesale</a:t>
                      </a:r>
                    </a:p>
                  </a:txBody>
                  <a:tcPr anchor="ctr" marL="36576" marR="36576" marT="9144" marB="9144">
                    <a:lnL w="6350">
                      <a:solidFill>
                        <a:srgbClr val="E2E7F2"/>
                      </a:solidFill>
                    </a:lnL>
                    <a:lnR w="6350">
                      <a:solidFill>
                        <a:srgbClr val="E2E7F2"/>
                      </a:solidFill>
                    </a:lnR>
                    <a:lnT w="6350">
                      <a:solidFill>
                        <a:srgbClr val="E2E7F2"/>
                      </a:solidFill>
                    </a:lnT>
                    <a:lnB w="6350">
                      <a:solidFill>
                        <a:srgbClr val="E2E7F2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wrap="none"/>
                    <a:lstStyle/>
                    <a:p>
                      <a:pPr algn="r"/>
                      <a:r>
                        <a:rPr sz="850" b="0">
                          <a:solidFill>
                            <a:srgbClr val="595959"/>
                          </a:solidFill>
                          <a:latin typeface="Calibri"/>
                        </a:rPr>
                        <a:t>20%</a:t>
                      </a:r>
                    </a:p>
                  </a:txBody>
                  <a:tcPr anchor="ctr" marL="36576" marR="36576" marT="9144" marB="9144">
                    <a:lnL w="6350">
                      <a:solidFill>
                        <a:srgbClr val="E2E7F2"/>
                      </a:solidFill>
                    </a:lnL>
                    <a:lnR w="6350">
                      <a:solidFill>
                        <a:srgbClr val="E2E7F2"/>
                      </a:solidFill>
                    </a:lnR>
                    <a:lnT w="6350">
                      <a:solidFill>
                        <a:srgbClr val="E2E7F2"/>
                      </a:solidFill>
                    </a:lnT>
                    <a:lnB w="6350">
                      <a:solidFill>
                        <a:srgbClr val="E2E7F2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wrap="none"/>
                    <a:lstStyle/>
                    <a:p>
                      <a:pPr algn="r"/>
                      <a:r>
                        <a:rPr sz="850" b="0">
                          <a:solidFill>
                            <a:srgbClr val="595959"/>
                          </a:solidFill>
                          <a:latin typeface="Calibri"/>
                        </a:rPr>
                        <a:t>14%</a:t>
                      </a:r>
                    </a:p>
                  </a:txBody>
                  <a:tcPr anchor="ctr" marL="36576" marR="36576" marT="9144" marB="9144">
                    <a:lnL w="6350">
                      <a:solidFill>
                        <a:srgbClr val="E2E7F2"/>
                      </a:solidFill>
                    </a:lnL>
                    <a:lnR w="6350">
                      <a:solidFill>
                        <a:srgbClr val="E2E7F2"/>
                      </a:solidFill>
                    </a:lnR>
                    <a:lnT w="6350">
                      <a:solidFill>
                        <a:srgbClr val="E2E7F2"/>
                      </a:solidFill>
                    </a:lnT>
                    <a:lnB w="6350">
                      <a:solidFill>
                        <a:srgbClr val="E2E7F2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wrap="none"/>
                    <a:lstStyle/>
                    <a:p>
                      <a:pPr algn="r"/>
                      <a:r>
                        <a:rPr sz="850" b="0">
                          <a:solidFill>
                            <a:srgbClr val="26292E"/>
                          </a:solidFill>
                          <a:latin typeface="Calibri"/>
                        </a:rPr>
                        <a:t>2,946</a:t>
                      </a:r>
                    </a:p>
                  </a:txBody>
                  <a:tcPr anchor="ctr" marL="36576" marR="36576" marT="9144" marB="9144">
                    <a:lnL w="6350">
                      <a:solidFill>
                        <a:srgbClr val="E2E7F2"/>
                      </a:solidFill>
                    </a:lnL>
                    <a:lnR w="6350">
                      <a:solidFill>
                        <a:srgbClr val="E2E7F2"/>
                      </a:solidFill>
                    </a:lnR>
                    <a:lnT w="6350">
                      <a:solidFill>
                        <a:srgbClr val="E2E7F2"/>
                      </a:solidFill>
                    </a:lnT>
                    <a:lnB w="6350">
                      <a:solidFill>
                        <a:srgbClr val="E2E7F2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wrap="none"/>
                    <a:lstStyle/>
                    <a:p>
                      <a:pPr algn="r"/>
                      <a:r>
                        <a:rPr sz="850" b="0">
                          <a:solidFill>
                            <a:srgbClr val="26292E"/>
                          </a:solidFill>
                          <a:latin typeface="Calibri"/>
                        </a:rPr>
                        <a:t>3,003</a:t>
                      </a:r>
                    </a:p>
                  </a:txBody>
                  <a:tcPr anchor="ctr" marL="36576" marR="36576" marT="9144" marB="9144">
                    <a:lnL w="6350">
                      <a:solidFill>
                        <a:srgbClr val="E2E7F2"/>
                      </a:solidFill>
                    </a:lnL>
                    <a:lnR w="6350">
                      <a:solidFill>
                        <a:srgbClr val="E2E7F2"/>
                      </a:solidFill>
                    </a:lnR>
                    <a:lnT w="6350">
                      <a:solidFill>
                        <a:srgbClr val="E2E7F2"/>
                      </a:solidFill>
                    </a:lnT>
                    <a:lnB w="6350">
                      <a:solidFill>
                        <a:srgbClr val="E2E7F2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wrap="none"/>
                    <a:lstStyle/>
                    <a:p>
                      <a:pPr algn="r"/>
                      <a:r>
                        <a:rPr sz="850" b="1">
                          <a:solidFill>
                            <a:srgbClr val="1E7B34"/>
                          </a:solidFill>
                          <a:latin typeface="Calibri"/>
                        </a:rPr>
                        <a:t>+1.9%</a:t>
                      </a:r>
                    </a:p>
                  </a:txBody>
                  <a:tcPr anchor="ctr" marL="36576" marR="36576" marT="9144" marB="9144">
                    <a:lnL w="6350">
                      <a:solidFill>
                        <a:srgbClr val="E2E7F2"/>
                      </a:solidFill>
                    </a:lnL>
                    <a:lnR w="6350">
                      <a:solidFill>
                        <a:srgbClr val="E2E7F2"/>
                      </a:solidFill>
                    </a:lnR>
                    <a:lnT w="6350">
                      <a:solidFill>
                        <a:srgbClr val="E2E7F2"/>
                      </a:solidFill>
                    </a:lnT>
                    <a:lnB w="6350">
                      <a:solidFill>
                        <a:srgbClr val="E2E7F2"/>
                      </a:solidFill>
                    </a:lnB>
                    <a:solidFill>
                      <a:srgbClr val="FFFFFF"/>
                    </a:solidFill>
                  </a:tcPr>
                </a:tc>
              </a:tr>
              <a:tr h="187452">
                <a:tc>
                  <a:txBody>
                    <a:bodyPr wrap="none"/>
                    <a:lstStyle/>
                    <a:p>
                      <a:pPr algn="l"/>
                      <a:r>
                        <a:rPr sz="850" b="0">
                          <a:solidFill>
                            <a:srgbClr val="26292E"/>
                          </a:solidFill>
                          <a:latin typeface="Calibri"/>
                        </a:rPr>
                        <a:t>ASR</a:t>
                      </a:r>
                    </a:p>
                  </a:txBody>
                  <a:tcPr anchor="ctr" marL="36576" marR="36576" marT="9144" marB="9144">
                    <a:lnL w="6350">
                      <a:solidFill>
                        <a:srgbClr val="E2E7F2"/>
                      </a:solidFill>
                    </a:lnL>
                    <a:lnR w="6350">
                      <a:solidFill>
                        <a:srgbClr val="E2E7F2"/>
                      </a:solidFill>
                    </a:lnR>
                    <a:lnT w="6350">
                      <a:solidFill>
                        <a:srgbClr val="E2E7F2"/>
                      </a:solidFill>
                    </a:lnT>
                    <a:lnB w="6350">
                      <a:solidFill>
                        <a:srgbClr val="E2E7F2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wrap="none"/>
                    <a:lstStyle/>
                    <a:p>
                      <a:pPr algn="r"/>
                      <a:r>
                        <a:rPr sz="850" b="0">
                          <a:solidFill>
                            <a:srgbClr val="595959"/>
                          </a:solidFill>
                          <a:latin typeface="Calibri"/>
                        </a:rPr>
                        <a:t>7%</a:t>
                      </a:r>
                    </a:p>
                  </a:txBody>
                  <a:tcPr anchor="ctr" marL="36576" marR="36576" marT="9144" marB="9144">
                    <a:lnL w="6350">
                      <a:solidFill>
                        <a:srgbClr val="E2E7F2"/>
                      </a:solidFill>
                    </a:lnL>
                    <a:lnR w="6350">
                      <a:solidFill>
                        <a:srgbClr val="E2E7F2"/>
                      </a:solidFill>
                    </a:lnR>
                    <a:lnT w="6350">
                      <a:solidFill>
                        <a:srgbClr val="E2E7F2"/>
                      </a:solidFill>
                    </a:lnT>
                    <a:lnB w="6350">
                      <a:solidFill>
                        <a:srgbClr val="E2E7F2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wrap="none"/>
                    <a:lstStyle/>
                    <a:p>
                      <a:pPr algn="r"/>
                      <a:r>
                        <a:rPr sz="850" b="0">
                          <a:solidFill>
                            <a:srgbClr val="595959"/>
                          </a:solidFill>
                          <a:latin typeface="Calibri"/>
                        </a:rPr>
                        <a:t>9%</a:t>
                      </a:r>
                    </a:p>
                  </a:txBody>
                  <a:tcPr anchor="ctr" marL="36576" marR="36576" marT="9144" marB="9144">
                    <a:lnL w="6350">
                      <a:solidFill>
                        <a:srgbClr val="E2E7F2"/>
                      </a:solidFill>
                    </a:lnL>
                    <a:lnR w="6350">
                      <a:solidFill>
                        <a:srgbClr val="E2E7F2"/>
                      </a:solidFill>
                    </a:lnR>
                    <a:lnT w="6350">
                      <a:solidFill>
                        <a:srgbClr val="E2E7F2"/>
                      </a:solidFill>
                    </a:lnT>
                    <a:lnB w="6350">
                      <a:solidFill>
                        <a:srgbClr val="E2E7F2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wrap="none"/>
                    <a:lstStyle/>
                    <a:p>
                      <a:pPr algn="r"/>
                      <a:r>
                        <a:rPr sz="850" b="0">
                          <a:solidFill>
                            <a:srgbClr val="26292E"/>
                          </a:solidFill>
                          <a:latin typeface="Calibri"/>
                        </a:rPr>
                        <a:t>3,156</a:t>
                      </a:r>
                    </a:p>
                  </a:txBody>
                  <a:tcPr anchor="ctr" marL="36576" marR="36576" marT="9144" marB="9144">
                    <a:lnL w="6350">
                      <a:solidFill>
                        <a:srgbClr val="E2E7F2"/>
                      </a:solidFill>
                    </a:lnL>
                    <a:lnR w="6350">
                      <a:solidFill>
                        <a:srgbClr val="E2E7F2"/>
                      </a:solidFill>
                    </a:lnR>
                    <a:lnT w="6350">
                      <a:solidFill>
                        <a:srgbClr val="E2E7F2"/>
                      </a:solidFill>
                    </a:lnT>
                    <a:lnB w="6350">
                      <a:solidFill>
                        <a:srgbClr val="E2E7F2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wrap="none"/>
                    <a:lstStyle/>
                    <a:p>
                      <a:pPr algn="r"/>
                      <a:r>
                        <a:rPr sz="850" b="0">
                          <a:solidFill>
                            <a:srgbClr val="26292E"/>
                          </a:solidFill>
                          <a:latin typeface="Calibri"/>
                        </a:rPr>
                        <a:t>2,889</a:t>
                      </a:r>
                    </a:p>
                  </a:txBody>
                  <a:tcPr anchor="ctr" marL="36576" marR="36576" marT="9144" marB="9144">
                    <a:lnL w="6350">
                      <a:solidFill>
                        <a:srgbClr val="E2E7F2"/>
                      </a:solidFill>
                    </a:lnL>
                    <a:lnR w="6350">
                      <a:solidFill>
                        <a:srgbClr val="E2E7F2"/>
                      </a:solidFill>
                    </a:lnR>
                    <a:lnT w="6350">
                      <a:solidFill>
                        <a:srgbClr val="E2E7F2"/>
                      </a:solidFill>
                    </a:lnT>
                    <a:lnB w="6350">
                      <a:solidFill>
                        <a:srgbClr val="E2E7F2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wrap="none"/>
                    <a:lstStyle/>
                    <a:p>
                      <a:pPr algn="r"/>
                      <a:r>
                        <a:rPr sz="850" b="1">
                          <a:solidFill>
                            <a:srgbClr val="C62828"/>
                          </a:solidFill>
                          <a:latin typeface="Calibri"/>
                        </a:rPr>
                        <a:t>-8.5%</a:t>
                      </a:r>
                    </a:p>
                  </a:txBody>
                  <a:tcPr anchor="ctr" marL="36576" marR="36576" marT="9144" marB="9144">
                    <a:lnL w="6350">
                      <a:solidFill>
                        <a:srgbClr val="E2E7F2"/>
                      </a:solidFill>
                    </a:lnL>
                    <a:lnR w="6350">
                      <a:solidFill>
                        <a:srgbClr val="E2E7F2"/>
                      </a:solidFill>
                    </a:lnR>
                    <a:lnT w="6350">
                      <a:solidFill>
                        <a:srgbClr val="E2E7F2"/>
                      </a:solidFill>
                    </a:lnT>
                    <a:lnB w="6350">
                      <a:solidFill>
                        <a:srgbClr val="E2E7F2"/>
                      </a:solidFill>
                    </a:lnB>
                    <a:solidFill>
                      <a:srgbClr val="FFFFFF"/>
                    </a:solidFill>
                  </a:tcPr>
                </a:tc>
              </a:tr>
              <a:tr h="187452">
                <a:tc>
                  <a:txBody>
                    <a:bodyPr wrap="none"/>
                    <a:lstStyle/>
                    <a:p>
                      <a:pPr algn="l"/>
                      <a:r>
                        <a:rPr sz="850" b="0">
                          <a:solidFill>
                            <a:srgbClr val="26292E"/>
                          </a:solidFill>
                          <a:latin typeface="Calibri"/>
                        </a:rPr>
                        <a:t>Group</a:t>
                      </a:r>
                    </a:p>
                  </a:txBody>
                  <a:tcPr anchor="ctr" marL="36576" marR="36576" marT="9144" marB="9144">
                    <a:lnL w="6350">
                      <a:solidFill>
                        <a:srgbClr val="E2E7F2"/>
                      </a:solidFill>
                    </a:lnL>
                    <a:lnR w="6350">
                      <a:solidFill>
                        <a:srgbClr val="E2E7F2"/>
                      </a:solidFill>
                    </a:lnR>
                    <a:lnT w="6350">
                      <a:solidFill>
                        <a:srgbClr val="E2E7F2"/>
                      </a:solidFill>
                    </a:lnT>
                    <a:lnB w="6350">
                      <a:solidFill>
                        <a:srgbClr val="E2E7F2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wrap="none"/>
                    <a:lstStyle/>
                    <a:p>
                      <a:pPr algn="r"/>
                      <a:r>
                        <a:rPr sz="850" b="0">
                          <a:solidFill>
                            <a:srgbClr val="595959"/>
                          </a:solidFill>
                          <a:latin typeface="Calibri"/>
                        </a:rPr>
                        <a:t>7%</a:t>
                      </a:r>
                    </a:p>
                  </a:txBody>
                  <a:tcPr anchor="ctr" marL="36576" marR="36576" marT="9144" marB="9144">
                    <a:lnL w="6350">
                      <a:solidFill>
                        <a:srgbClr val="E2E7F2"/>
                      </a:solidFill>
                    </a:lnL>
                    <a:lnR w="6350">
                      <a:solidFill>
                        <a:srgbClr val="E2E7F2"/>
                      </a:solidFill>
                    </a:lnR>
                    <a:lnT w="6350">
                      <a:solidFill>
                        <a:srgbClr val="E2E7F2"/>
                      </a:solidFill>
                    </a:lnT>
                    <a:lnB w="6350">
                      <a:solidFill>
                        <a:srgbClr val="E2E7F2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wrap="none"/>
                    <a:lstStyle/>
                    <a:p>
                      <a:pPr algn="r"/>
                      <a:r>
                        <a:rPr sz="850" b="0">
                          <a:solidFill>
                            <a:srgbClr val="595959"/>
                          </a:solidFill>
                          <a:latin typeface="Calibri"/>
                        </a:rPr>
                        <a:t>6%</a:t>
                      </a:r>
                    </a:p>
                  </a:txBody>
                  <a:tcPr anchor="ctr" marL="36576" marR="36576" marT="9144" marB="9144">
                    <a:lnL w="6350">
                      <a:solidFill>
                        <a:srgbClr val="E2E7F2"/>
                      </a:solidFill>
                    </a:lnL>
                    <a:lnR w="6350">
                      <a:solidFill>
                        <a:srgbClr val="E2E7F2"/>
                      </a:solidFill>
                    </a:lnR>
                    <a:lnT w="6350">
                      <a:solidFill>
                        <a:srgbClr val="E2E7F2"/>
                      </a:solidFill>
                    </a:lnT>
                    <a:lnB w="6350">
                      <a:solidFill>
                        <a:srgbClr val="E2E7F2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wrap="none"/>
                    <a:lstStyle/>
                    <a:p>
                      <a:pPr algn="r"/>
                      <a:r>
                        <a:rPr sz="850" b="0">
                          <a:solidFill>
                            <a:srgbClr val="26292E"/>
                          </a:solidFill>
                          <a:latin typeface="Calibri"/>
                        </a:rPr>
                        <a:t>2,642</a:t>
                      </a:r>
                    </a:p>
                  </a:txBody>
                  <a:tcPr anchor="ctr" marL="36576" marR="36576" marT="9144" marB="9144">
                    <a:lnL w="6350">
                      <a:solidFill>
                        <a:srgbClr val="E2E7F2"/>
                      </a:solidFill>
                    </a:lnL>
                    <a:lnR w="6350">
                      <a:solidFill>
                        <a:srgbClr val="E2E7F2"/>
                      </a:solidFill>
                    </a:lnR>
                    <a:lnT w="6350">
                      <a:solidFill>
                        <a:srgbClr val="E2E7F2"/>
                      </a:solidFill>
                    </a:lnT>
                    <a:lnB w="6350">
                      <a:solidFill>
                        <a:srgbClr val="E2E7F2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wrap="none"/>
                    <a:lstStyle/>
                    <a:p>
                      <a:pPr algn="r"/>
                      <a:r>
                        <a:rPr sz="850" b="0">
                          <a:solidFill>
                            <a:srgbClr val="26292E"/>
                          </a:solidFill>
                          <a:latin typeface="Calibri"/>
                        </a:rPr>
                        <a:t>2,069</a:t>
                      </a:r>
                    </a:p>
                  </a:txBody>
                  <a:tcPr anchor="ctr" marL="36576" marR="36576" marT="9144" marB="9144">
                    <a:lnL w="6350">
                      <a:solidFill>
                        <a:srgbClr val="E2E7F2"/>
                      </a:solidFill>
                    </a:lnL>
                    <a:lnR w="6350">
                      <a:solidFill>
                        <a:srgbClr val="E2E7F2"/>
                      </a:solidFill>
                    </a:lnR>
                    <a:lnT w="6350">
                      <a:solidFill>
                        <a:srgbClr val="E2E7F2"/>
                      </a:solidFill>
                    </a:lnT>
                    <a:lnB w="6350">
                      <a:solidFill>
                        <a:srgbClr val="E2E7F2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wrap="none"/>
                    <a:lstStyle/>
                    <a:p>
                      <a:pPr algn="r"/>
                      <a:r>
                        <a:rPr sz="850" b="1">
                          <a:solidFill>
                            <a:srgbClr val="C62828"/>
                          </a:solidFill>
                          <a:latin typeface="Calibri"/>
                        </a:rPr>
                        <a:t>-21.7%</a:t>
                      </a:r>
                    </a:p>
                  </a:txBody>
                  <a:tcPr anchor="ctr" marL="36576" marR="36576" marT="9144" marB="9144">
                    <a:lnL w="6350">
                      <a:solidFill>
                        <a:srgbClr val="E2E7F2"/>
                      </a:solidFill>
                    </a:lnL>
                    <a:lnR w="6350">
                      <a:solidFill>
                        <a:srgbClr val="E2E7F2"/>
                      </a:solidFill>
                    </a:lnR>
                    <a:lnT w="6350">
                      <a:solidFill>
                        <a:srgbClr val="E2E7F2"/>
                      </a:solidFill>
                    </a:lnT>
                    <a:lnB w="6350">
                      <a:solidFill>
                        <a:srgbClr val="E2E7F2"/>
                      </a:solidFill>
                    </a:lnB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  <p:sp>
        <p:nvSpPr>
          <p:cNvPr id="8" name="TextBox 7"/>
          <p:cNvSpPr txBox="1"/>
          <p:nvPr/>
        </p:nvSpPr>
        <p:spPr>
          <a:xfrm>
            <a:off x="6336792" y="1572768"/>
            <a:ext cx="5303520" cy="237744"/>
          </a:xfrm>
          <a:prstGeom prst="rect">
            <a:avLst/>
          </a:prstGeom>
          <a:noFill/>
        </p:spPr>
        <p:txBody>
          <a:bodyPr wrap="none" lIns="0" tIns="0" bIns="0">
            <a:spAutoFit/>
          </a:bodyPr>
          <a:lstStyle/>
          <a:p>
            <a:r>
              <a:rPr sz="1100" b="1">
                <a:solidFill>
                  <a:srgbClr val="1E2761"/>
                </a:solidFill>
                <a:latin typeface="Calibri"/>
              </a:rPr>
              <a:t>Ascott Embassy Sathorn (AES)</a:t>
            </a:r>
          </a:p>
        </p:txBody>
      </p:sp>
      <p:graphicFrame>
        <p:nvGraphicFramePr>
          <p:cNvPr id="9" name="Table 8"/>
          <p:cNvGraphicFramePr>
            <a:graphicFrameLocks noGrp="1"/>
          </p:cNvGraphicFramePr>
          <p:nvPr/>
        </p:nvGraphicFramePr>
        <p:xfrm>
          <a:off x="6336792" y="1847088"/>
          <a:ext cx="5303520" cy="1312163"/>
        </p:xfrm>
        <a:graphic>
          <a:graphicData uri="http://schemas.openxmlformats.org/drawingml/2006/table">
            <a:tbl>
              <a:tblPr>
                <a:tableStyleId>{5C22544A-7EE6-4342-B048-85BDC9FD1C3A}</a:tableStyleId>
              </a:tblPr>
              <a:tblGrid>
                <a:gridCol w="1417320"/>
                <a:gridCol w="731520"/>
                <a:gridCol w="731520"/>
                <a:gridCol w="841248"/>
                <a:gridCol w="841248"/>
                <a:gridCol w="740664"/>
              </a:tblGrid>
              <a:tr h="187452">
                <a:tc>
                  <a:txBody>
                    <a:bodyPr wrap="none"/>
                    <a:lstStyle/>
                    <a:p>
                      <a:pPr algn="l"/>
                      <a:r>
                        <a:rPr sz="800" b="1">
                          <a:solidFill>
                            <a:srgbClr val="FFFFFF"/>
                          </a:solidFill>
                          <a:latin typeface="Calibri"/>
                        </a:rPr>
                        <a:t>Segment</a:t>
                      </a:r>
                    </a:p>
                  </a:txBody>
                  <a:tcPr anchor="ctr" marL="36576" marR="36576" marT="9144" marB="9144">
                    <a:lnL w="6350">
                      <a:solidFill>
                        <a:srgbClr val="E2E7F2"/>
                      </a:solidFill>
                    </a:lnL>
                    <a:lnR w="6350">
                      <a:solidFill>
                        <a:srgbClr val="E2E7F2"/>
                      </a:solidFill>
                    </a:lnR>
                    <a:lnT w="6350">
                      <a:solidFill>
                        <a:srgbClr val="E2E7F2"/>
                      </a:solidFill>
                    </a:lnT>
                    <a:lnB w="6350">
                      <a:solidFill>
                        <a:srgbClr val="E2E7F2"/>
                      </a:solidFill>
                    </a:lnB>
                    <a:solidFill>
                      <a:srgbClr val="1E2761"/>
                    </a:solidFill>
                  </a:tcPr>
                </a:tc>
                <a:tc>
                  <a:txBody>
                    <a:bodyPr wrap="none"/>
                    <a:lstStyle/>
                    <a:p>
                      <a:pPr algn="r"/>
                      <a:r>
                        <a:rPr sz="800" b="1">
                          <a:solidFill>
                            <a:srgbClr val="FFFFFF"/>
                          </a:solidFill>
                          <a:latin typeface="Calibri"/>
                        </a:rPr>
                        <a:t>% rooms 25</a:t>
                      </a:r>
                    </a:p>
                  </a:txBody>
                  <a:tcPr anchor="ctr" marL="36576" marR="36576" marT="9144" marB="9144">
                    <a:lnL w="6350">
                      <a:solidFill>
                        <a:srgbClr val="E2E7F2"/>
                      </a:solidFill>
                    </a:lnL>
                    <a:lnR w="6350">
                      <a:solidFill>
                        <a:srgbClr val="E2E7F2"/>
                      </a:solidFill>
                    </a:lnR>
                    <a:lnT w="6350">
                      <a:solidFill>
                        <a:srgbClr val="E2E7F2"/>
                      </a:solidFill>
                    </a:lnT>
                    <a:lnB w="6350">
                      <a:solidFill>
                        <a:srgbClr val="E2E7F2"/>
                      </a:solidFill>
                    </a:lnB>
                    <a:solidFill>
                      <a:srgbClr val="1E2761"/>
                    </a:solidFill>
                  </a:tcPr>
                </a:tc>
                <a:tc>
                  <a:txBody>
                    <a:bodyPr wrap="none"/>
                    <a:lstStyle/>
                    <a:p>
                      <a:pPr algn="r"/>
                      <a:r>
                        <a:rPr sz="800" b="1">
                          <a:solidFill>
                            <a:srgbClr val="FFFFFF"/>
                          </a:solidFill>
                          <a:latin typeface="Calibri"/>
                        </a:rPr>
                        <a:t>% rooms 26</a:t>
                      </a:r>
                    </a:p>
                  </a:txBody>
                  <a:tcPr anchor="ctr" marL="36576" marR="36576" marT="9144" marB="9144">
                    <a:lnL w="6350">
                      <a:solidFill>
                        <a:srgbClr val="E2E7F2"/>
                      </a:solidFill>
                    </a:lnL>
                    <a:lnR w="6350">
                      <a:solidFill>
                        <a:srgbClr val="E2E7F2"/>
                      </a:solidFill>
                    </a:lnR>
                    <a:lnT w="6350">
                      <a:solidFill>
                        <a:srgbClr val="E2E7F2"/>
                      </a:solidFill>
                    </a:lnT>
                    <a:lnB w="6350">
                      <a:solidFill>
                        <a:srgbClr val="E2E7F2"/>
                      </a:solidFill>
                    </a:lnB>
                    <a:solidFill>
                      <a:srgbClr val="1E2761"/>
                    </a:solidFill>
                  </a:tcPr>
                </a:tc>
                <a:tc>
                  <a:txBody>
                    <a:bodyPr wrap="none"/>
                    <a:lstStyle/>
                    <a:p>
                      <a:pPr algn="r"/>
                      <a:r>
                        <a:rPr sz="800" b="1">
                          <a:solidFill>
                            <a:srgbClr val="FFFFFF"/>
                          </a:solidFill>
                          <a:latin typeface="Calibri"/>
                        </a:rPr>
                        <a:t>ADR H1 '25</a:t>
                      </a:r>
                    </a:p>
                  </a:txBody>
                  <a:tcPr anchor="ctr" marL="36576" marR="36576" marT="9144" marB="9144">
                    <a:lnL w="6350">
                      <a:solidFill>
                        <a:srgbClr val="E2E7F2"/>
                      </a:solidFill>
                    </a:lnL>
                    <a:lnR w="6350">
                      <a:solidFill>
                        <a:srgbClr val="E2E7F2"/>
                      </a:solidFill>
                    </a:lnR>
                    <a:lnT w="6350">
                      <a:solidFill>
                        <a:srgbClr val="E2E7F2"/>
                      </a:solidFill>
                    </a:lnT>
                    <a:lnB w="6350">
                      <a:solidFill>
                        <a:srgbClr val="E2E7F2"/>
                      </a:solidFill>
                    </a:lnB>
                    <a:solidFill>
                      <a:srgbClr val="1E2761"/>
                    </a:solidFill>
                  </a:tcPr>
                </a:tc>
                <a:tc>
                  <a:txBody>
                    <a:bodyPr wrap="none"/>
                    <a:lstStyle/>
                    <a:p>
                      <a:pPr algn="r"/>
                      <a:r>
                        <a:rPr sz="800" b="1">
                          <a:solidFill>
                            <a:srgbClr val="FFFFFF"/>
                          </a:solidFill>
                          <a:latin typeface="Calibri"/>
                        </a:rPr>
                        <a:t>ADR H1 '26</a:t>
                      </a:r>
                    </a:p>
                  </a:txBody>
                  <a:tcPr anchor="ctr" marL="36576" marR="36576" marT="9144" marB="9144">
                    <a:lnL w="6350">
                      <a:solidFill>
                        <a:srgbClr val="E2E7F2"/>
                      </a:solidFill>
                    </a:lnL>
                    <a:lnR w="6350">
                      <a:solidFill>
                        <a:srgbClr val="E2E7F2"/>
                      </a:solidFill>
                    </a:lnR>
                    <a:lnT w="6350">
                      <a:solidFill>
                        <a:srgbClr val="E2E7F2"/>
                      </a:solidFill>
                    </a:lnT>
                    <a:lnB w="6350">
                      <a:solidFill>
                        <a:srgbClr val="E2E7F2"/>
                      </a:solidFill>
                    </a:lnB>
                    <a:solidFill>
                      <a:srgbClr val="1E2761"/>
                    </a:solidFill>
                  </a:tcPr>
                </a:tc>
                <a:tc>
                  <a:txBody>
                    <a:bodyPr wrap="none"/>
                    <a:lstStyle/>
                    <a:p>
                      <a:pPr algn="r"/>
                      <a:r>
                        <a:rPr sz="800" b="1">
                          <a:solidFill>
                            <a:srgbClr val="FFFFFF"/>
                          </a:solidFill>
                          <a:latin typeface="Calibri"/>
                        </a:rPr>
                        <a:t>ADR chg</a:t>
                      </a:r>
                    </a:p>
                  </a:txBody>
                  <a:tcPr anchor="ctr" marL="36576" marR="36576" marT="9144" marB="9144">
                    <a:lnL w="6350">
                      <a:solidFill>
                        <a:srgbClr val="E2E7F2"/>
                      </a:solidFill>
                    </a:lnL>
                    <a:lnR w="6350">
                      <a:solidFill>
                        <a:srgbClr val="E2E7F2"/>
                      </a:solidFill>
                    </a:lnR>
                    <a:lnT w="6350">
                      <a:solidFill>
                        <a:srgbClr val="E2E7F2"/>
                      </a:solidFill>
                    </a:lnT>
                    <a:lnB w="6350">
                      <a:solidFill>
                        <a:srgbClr val="E2E7F2"/>
                      </a:solidFill>
                    </a:lnB>
                    <a:solidFill>
                      <a:srgbClr val="1E2761"/>
                    </a:solidFill>
                  </a:tcPr>
                </a:tc>
              </a:tr>
              <a:tr h="187452">
                <a:tc>
                  <a:txBody>
                    <a:bodyPr wrap="none"/>
                    <a:lstStyle/>
                    <a:p>
                      <a:pPr algn="l"/>
                      <a:r>
                        <a:rPr sz="850" b="1">
                          <a:solidFill>
                            <a:srgbClr val="26292E"/>
                          </a:solidFill>
                          <a:latin typeface="Calibri"/>
                        </a:rPr>
                        <a:t>Online (dynamic)</a:t>
                      </a:r>
                    </a:p>
                  </a:txBody>
                  <a:tcPr anchor="ctr" marL="36576" marR="36576" marT="9144" marB="9144">
                    <a:lnL w="6350">
                      <a:solidFill>
                        <a:srgbClr val="E2E7F2"/>
                      </a:solidFill>
                    </a:lnL>
                    <a:lnR w="6350">
                      <a:solidFill>
                        <a:srgbClr val="E2E7F2"/>
                      </a:solidFill>
                    </a:lnR>
                    <a:lnT w="6350">
                      <a:solidFill>
                        <a:srgbClr val="E2E7F2"/>
                      </a:solidFill>
                    </a:lnT>
                    <a:lnB w="6350">
                      <a:solidFill>
                        <a:srgbClr val="E2E7F2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wrap="none"/>
                    <a:lstStyle/>
                    <a:p>
                      <a:pPr algn="r"/>
                      <a:r>
                        <a:rPr sz="850" b="0">
                          <a:solidFill>
                            <a:srgbClr val="595959"/>
                          </a:solidFill>
                          <a:latin typeface="Calibri"/>
                        </a:rPr>
                        <a:t>38%</a:t>
                      </a:r>
                    </a:p>
                  </a:txBody>
                  <a:tcPr anchor="ctr" marL="36576" marR="36576" marT="9144" marB="9144">
                    <a:lnL w="6350">
                      <a:solidFill>
                        <a:srgbClr val="E2E7F2"/>
                      </a:solidFill>
                    </a:lnL>
                    <a:lnR w="6350">
                      <a:solidFill>
                        <a:srgbClr val="E2E7F2"/>
                      </a:solidFill>
                    </a:lnR>
                    <a:lnT w="6350">
                      <a:solidFill>
                        <a:srgbClr val="E2E7F2"/>
                      </a:solidFill>
                    </a:lnT>
                    <a:lnB w="6350">
                      <a:solidFill>
                        <a:srgbClr val="E2E7F2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wrap="none"/>
                    <a:lstStyle/>
                    <a:p>
                      <a:pPr algn="r"/>
                      <a:r>
                        <a:rPr sz="850" b="0">
                          <a:solidFill>
                            <a:srgbClr val="595959"/>
                          </a:solidFill>
                          <a:latin typeface="Calibri"/>
                        </a:rPr>
                        <a:t>34%</a:t>
                      </a:r>
                    </a:p>
                  </a:txBody>
                  <a:tcPr anchor="ctr" marL="36576" marR="36576" marT="9144" marB="9144">
                    <a:lnL w="6350">
                      <a:solidFill>
                        <a:srgbClr val="E2E7F2"/>
                      </a:solidFill>
                    </a:lnL>
                    <a:lnR w="6350">
                      <a:solidFill>
                        <a:srgbClr val="E2E7F2"/>
                      </a:solidFill>
                    </a:lnR>
                    <a:lnT w="6350">
                      <a:solidFill>
                        <a:srgbClr val="E2E7F2"/>
                      </a:solidFill>
                    </a:lnT>
                    <a:lnB w="6350">
                      <a:solidFill>
                        <a:srgbClr val="E2E7F2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wrap="none"/>
                    <a:lstStyle/>
                    <a:p>
                      <a:pPr algn="r"/>
                      <a:r>
                        <a:rPr sz="850" b="0">
                          <a:solidFill>
                            <a:srgbClr val="26292E"/>
                          </a:solidFill>
                          <a:latin typeface="Calibri"/>
                        </a:rPr>
                        <a:t>4,365</a:t>
                      </a:r>
                    </a:p>
                  </a:txBody>
                  <a:tcPr anchor="ctr" marL="36576" marR="36576" marT="9144" marB="9144">
                    <a:lnL w="6350">
                      <a:solidFill>
                        <a:srgbClr val="E2E7F2"/>
                      </a:solidFill>
                    </a:lnL>
                    <a:lnR w="6350">
                      <a:solidFill>
                        <a:srgbClr val="E2E7F2"/>
                      </a:solidFill>
                    </a:lnR>
                    <a:lnT w="6350">
                      <a:solidFill>
                        <a:srgbClr val="E2E7F2"/>
                      </a:solidFill>
                    </a:lnT>
                    <a:lnB w="6350">
                      <a:solidFill>
                        <a:srgbClr val="E2E7F2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wrap="none"/>
                    <a:lstStyle/>
                    <a:p>
                      <a:pPr algn="r"/>
                      <a:r>
                        <a:rPr sz="850" b="0">
                          <a:solidFill>
                            <a:srgbClr val="26292E"/>
                          </a:solidFill>
                          <a:latin typeface="Calibri"/>
                        </a:rPr>
                        <a:t>3,883</a:t>
                      </a:r>
                    </a:p>
                  </a:txBody>
                  <a:tcPr anchor="ctr" marL="36576" marR="36576" marT="9144" marB="9144">
                    <a:lnL w="6350">
                      <a:solidFill>
                        <a:srgbClr val="E2E7F2"/>
                      </a:solidFill>
                    </a:lnL>
                    <a:lnR w="6350">
                      <a:solidFill>
                        <a:srgbClr val="E2E7F2"/>
                      </a:solidFill>
                    </a:lnR>
                    <a:lnT w="6350">
                      <a:solidFill>
                        <a:srgbClr val="E2E7F2"/>
                      </a:solidFill>
                    </a:lnT>
                    <a:lnB w="6350">
                      <a:solidFill>
                        <a:srgbClr val="E2E7F2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wrap="none"/>
                    <a:lstStyle/>
                    <a:p>
                      <a:pPr algn="r"/>
                      <a:r>
                        <a:rPr sz="850" b="1">
                          <a:solidFill>
                            <a:srgbClr val="C62828"/>
                          </a:solidFill>
                          <a:latin typeface="Calibri"/>
                        </a:rPr>
                        <a:t>-11.0%</a:t>
                      </a:r>
                    </a:p>
                  </a:txBody>
                  <a:tcPr anchor="ctr" marL="36576" marR="36576" marT="9144" marB="9144">
                    <a:lnL w="6350">
                      <a:solidFill>
                        <a:srgbClr val="E2E7F2"/>
                      </a:solidFill>
                    </a:lnL>
                    <a:lnR w="6350">
                      <a:solidFill>
                        <a:srgbClr val="E2E7F2"/>
                      </a:solidFill>
                    </a:lnR>
                    <a:lnT w="6350">
                      <a:solidFill>
                        <a:srgbClr val="E2E7F2"/>
                      </a:solidFill>
                    </a:lnT>
                    <a:lnB w="6350">
                      <a:solidFill>
                        <a:srgbClr val="E2E7F2"/>
                      </a:solidFill>
                    </a:lnB>
                    <a:solidFill>
                      <a:srgbClr val="FFFFFF"/>
                    </a:solidFill>
                  </a:tcPr>
                </a:tc>
              </a:tr>
              <a:tr h="187452">
                <a:tc>
                  <a:txBody>
                    <a:bodyPr wrap="none"/>
                    <a:lstStyle/>
                    <a:p>
                      <a:pPr algn="l"/>
                      <a:r>
                        <a:rPr sz="850" b="0">
                          <a:solidFill>
                            <a:srgbClr val="26292E"/>
                          </a:solidFill>
                          <a:latin typeface="Calibri"/>
                        </a:rPr>
                        <a:t>Corporate LS</a:t>
                      </a:r>
                    </a:p>
                  </a:txBody>
                  <a:tcPr anchor="ctr" marL="36576" marR="36576" marT="9144" marB="9144">
                    <a:lnL w="6350">
                      <a:solidFill>
                        <a:srgbClr val="E2E7F2"/>
                      </a:solidFill>
                    </a:lnL>
                    <a:lnR w="6350">
                      <a:solidFill>
                        <a:srgbClr val="E2E7F2"/>
                      </a:solidFill>
                    </a:lnR>
                    <a:lnT w="6350">
                      <a:solidFill>
                        <a:srgbClr val="E2E7F2"/>
                      </a:solidFill>
                    </a:lnT>
                    <a:lnB w="6350">
                      <a:solidFill>
                        <a:srgbClr val="E2E7F2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wrap="none"/>
                    <a:lstStyle/>
                    <a:p>
                      <a:pPr algn="r"/>
                      <a:r>
                        <a:rPr sz="850" b="0">
                          <a:solidFill>
                            <a:srgbClr val="595959"/>
                          </a:solidFill>
                          <a:latin typeface="Calibri"/>
                        </a:rPr>
                        <a:t>20%</a:t>
                      </a:r>
                    </a:p>
                  </a:txBody>
                  <a:tcPr anchor="ctr" marL="36576" marR="36576" marT="9144" marB="9144">
                    <a:lnL w="6350">
                      <a:solidFill>
                        <a:srgbClr val="E2E7F2"/>
                      </a:solidFill>
                    </a:lnL>
                    <a:lnR w="6350">
                      <a:solidFill>
                        <a:srgbClr val="E2E7F2"/>
                      </a:solidFill>
                    </a:lnR>
                    <a:lnT w="6350">
                      <a:solidFill>
                        <a:srgbClr val="E2E7F2"/>
                      </a:solidFill>
                    </a:lnT>
                    <a:lnB w="6350">
                      <a:solidFill>
                        <a:srgbClr val="E2E7F2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wrap="none"/>
                    <a:lstStyle/>
                    <a:p>
                      <a:pPr algn="r"/>
                      <a:r>
                        <a:rPr sz="850" b="0">
                          <a:solidFill>
                            <a:srgbClr val="595959"/>
                          </a:solidFill>
                          <a:latin typeface="Calibri"/>
                        </a:rPr>
                        <a:t>26%</a:t>
                      </a:r>
                    </a:p>
                  </a:txBody>
                  <a:tcPr anchor="ctr" marL="36576" marR="36576" marT="9144" marB="9144">
                    <a:lnL w="6350">
                      <a:solidFill>
                        <a:srgbClr val="E2E7F2"/>
                      </a:solidFill>
                    </a:lnL>
                    <a:lnR w="6350">
                      <a:solidFill>
                        <a:srgbClr val="E2E7F2"/>
                      </a:solidFill>
                    </a:lnR>
                    <a:lnT w="6350">
                      <a:solidFill>
                        <a:srgbClr val="E2E7F2"/>
                      </a:solidFill>
                    </a:lnT>
                    <a:lnB w="6350">
                      <a:solidFill>
                        <a:srgbClr val="E2E7F2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wrap="none"/>
                    <a:lstStyle/>
                    <a:p>
                      <a:pPr algn="r"/>
                      <a:r>
                        <a:rPr sz="850" b="0">
                          <a:solidFill>
                            <a:srgbClr val="26292E"/>
                          </a:solidFill>
                          <a:latin typeface="Calibri"/>
                        </a:rPr>
                        <a:t>2,558</a:t>
                      </a:r>
                    </a:p>
                  </a:txBody>
                  <a:tcPr anchor="ctr" marL="36576" marR="36576" marT="9144" marB="9144">
                    <a:lnL w="6350">
                      <a:solidFill>
                        <a:srgbClr val="E2E7F2"/>
                      </a:solidFill>
                    </a:lnL>
                    <a:lnR w="6350">
                      <a:solidFill>
                        <a:srgbClr val="E2E7F2"/>
                      </a:solidFill>
                    </a:lnR>
                    <a:lnT w="6350">
                      <a:solidFill>
                        <a:srgbClr val="E2E7F2"/>
                      </a:solidFill>
                    </a:lnT>
                    <a:lnB w="6350">
                      <a:solidFill>
                        <a:srgbClr val="E2E7F2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wrap="none"/>
                    <a:lstStyle/>
                    <a:p>
                      <a:pPr algn="r"/>
                      <a:r>
                        <a:rPr sz="850" b="0">
                          <a:solidFill>
                            <a:srgbClr val="26292E"/>
                          </a:solidFill>
                          <a:latin typeface="Calibri"/>
                        </a:rPr>
                        <a:t>2,506</a:t>
                      </a:r>
                    </a:p>
                  </a:txBody>
                  <a:tcPr anchor="ctr" marL="36576" marR="36576" marT="9144" marB="9144">
                    <a:lnL w="6350">
                      <a:solidFill>
                        <a:srgbClr val="E2E7F2"/>
                      </a:solidFill>
                    </a:lnL>
                    <a:lnR w="6350">
                      <a:solidFill>
                        <a:srgbClr val="E2E7F2"/>
                      </a:solidFill>
                    </a:lnR>
                    <a:lnT w="6350">
                      <a:solidFill>
                        <a:srgbClr val="E2E7F2"/>
                      </a:solidFill>
                    </a:lnT>
                    <a:lnB w="6350">
                      <a:solidFill>
                        <a:srgbClr val="E2E7F2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wrap="none"/>
                    <a:lstStyle/>
                    <a:p>
                      <a:pPr algn="r"/>
                      <a:r>
                        <a:rPr sz="850" b="1">
                          <a:solidFill>
                            <a:srgbClr val="C62828"/>
                          </a:solidFill>
                          <a:latin typeface="Calibri"/>
                        </a:rPr>
                        <a:t>-2.0%</a:t>
                      </a:r>
                    </a:p>
                  </a:txBody>
                  <a:tcPr anchor="ctr" marL="36576" marR="36576" marT="9144" marB="9144">
                    <a:lnL w="6350">
                      <a:solidFill>
                        <a:srgbClr val="E2E7F2"/>
                      </a:solidFill>
                    </a:lnL>
                    <a:lnR w="6350">
                      <a:solidFill>
                        <a:srgbClr val="E2E7F2"/>
                      </a:solidFill>
                    </a:lnR>
                    <a:lnT w="6350">
                      <a:solidFill>
                        <a:srgbClr val="E2E7F2"/>
                      </a:solidFill>
                    </a:lnT>
                    <a:lnB w="6350">
                      <a:solidFill>
                        <a:srgbClr val="E2E7F2"/>
                      </a:solidFill>
                    </a:lnB>
                    <a:solidFill>
                      <a:srgbClr val="FFFFFF"/>
                    </a:solidFill>
                  </a:tcPr>
                </a:tc>
              </a:tr>
              <a:tr h="187452">
                <a:tc>
                  <a:txBody>
                    <a:bodyPr wrap="none"/>
                    <a:lstStyle/>
                    <a:p>
                      <a:pPr algn="l"/>
                      <a:r>
                        <a:rPr sz="850" b="0">
                          <a:solidFill>
                            <a:srgbClr val="26292E"/>
                          </a:solidFill>
                          <a:latin typeface="Calibri"/>
                        </a:rPr>
                        <a:t>Wholesale</a:t>
                      </a:r>
                    </a:p>
                  </a:txBody>
                  <a:tcPr anchor="ctr" marL="36576" marR="36576" marT="9144" marB="9144">
                    <a:lnL w="6350">
                      <a:solidFill>
                        <a:srgbClr val="E2E7F2"/>
                      </a:solidFill>
                    </a:lnL>
                    <a:lnR w="6350">
                      <a:solidFill>
                        <a:srgbClr val="E2E7F2"/>
                      </a:solidFill>
                    </a:lnR>
                    <a:lnT w="6350">
                      <a:solidFill>
                        <a:srgbClr val="E2E7F2"/>
                      </a:solidFill>
                    </a:lnT>
                    <a:lnB w="6350">
                      <a:solidFill>
                        <a:srgbClr val="E2E7F2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wrap="none"/>
                    <a:lstStyle/>
                    <a:p>
                      <a:pPr algn="r"/>
                      <a:r>
                        <a:rPr sz="850" b="0">
                          <a:solidFill>
                            <a:srgbClr val="595959"/>
                          </a:solidFill>
                          <a:latin typeface="Calibri"/>
                        </a:rPr>
                        <a:t>27%</a:t>
                      </a:r>
                    </a:p>
                  </a:txBody>
                  <a:tcPr anchor="ctr" marL="36576" marR="36576" marT="9144" marB="9144">
                    <a:lnL w="6350">
                      <a:solidFill>
                        <a:srgbClr val="E2E7F2"/>
                      </a:solidFill>
                    </a:lnL>
                    <a:lnR w="6350">
                      <a:solidFill>
                        <a:srgbClr val="E2E7F2"/>
                      </a:solidFill>
                    </a:lnR>
                    <a:lnT w="6350">
                      <a:solidFill>
                        <a:srgbClr val="E2E7F2"/>
                      </a:solidFill>
                    </a:lnT>
                    <a:lnB w="6350">
                      <a:solidFill>
                        <a:srgbClr val="E2E7F2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wrap="none"/>
                    <a:lstStyle/>
                    <a:p>
                      <a:pPr algn="r"/>
                      <a:r>
                        <a:rPr sz="850" b="0">
                          <a:solidFill>
                            <a:srgbClr val="595959"/>
                          </a:solidFill>
                          <a:latin typeface="Calibri"/>
                        </a:rPr>
                        <a:t>16%</a:t>
                      </a:r>
                    </a:p>
                  </a:txBody>
                  <a:tcPr anchor="ctr" marL="36576" marR="36576" marT="9144" marB="9144">
                    <a:lnL w="6350">
                      <a:solidFill>
                        <a:srgbClr val="E2E7F2"/>
                      </a:solidFill>
                    </a:lnL>
                    <a:lnR w="6350">
                      <a:solidFill>
                        <a:srgbClr val="E2E7F2"/>
                      </a:solidFill>
                    </a:lnR>
                    <a:lnT w="6350">
                      <a:solidFill>
                        <a:srgbClr val="E2E7F2"/>
                      </a:solidFill>
                    </a:lnT>
                    <a:lnB w="6350">
                      <a:solidFill>
                        <a:srgbClr val="E2E7F2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wrap="none"/>
                    <a:lstStyle/>
                    <a:p>
                      <a:pPr algn="r"/>
                      <a:r>
                        <a:rPr sz="850" b="0">
                          <a:solidFill>
                            <a:srgbClr val="26292E"/>
                          </a:solidFill>
                          <a:latin typeface="Calibri"/>
                        </a:rPr>
                        <a:t>3,387</a:t>
                      </a:r>
                    </a:p>
                  </a:txBody>
                  <a:tcPr anchor="ctr" marL="36576" marR="36576" marT="9144" marB="9144">
                    <a:lnL w="6350">
                      <a:solidFill>
                        <a:srgbClr val="E2E7F2"/>
                      </a:solidFill>
                    </a:lnL>
                    <a:lnR w="6350">
                      <a:solidFill>
                        <a:srgbClr val="E2E7F2"/>
                      </a:solidFill>
                    </a:lnR>
                    <a:lnT w="6350">
                      <a:solidFill>
                        <a:srgbClr val="E2E7F2"/>
                      </a:solidFill>
                    </a:lnT>
                    <a:lnB w="6350">
                      <a:solidFill>
                        <a:srgbClr val="E2E7F2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wrap="none"/>
                    <a:lstStyle/>
                    <a:p>
                      <a:pPr algn="r"/>
                      <a:r>
                        <a:rPr sz="850" b="0">
                          <a:solidFill>
                            <a:srgbClr val="26292E"/>
                          </a:solidFill>
                          <a:latin typeface="Calibri"/>
                        </a:rPr>
                        <a:t>3,297</a:t>
                      </a:r>
                    </a:p>
                  </a:txBody>
                  <a:tcPr anchor="ctr" marL="36576" marR="36576" marT="9144" marB="9144">
                    <a:lnL w="6350">
                      <a:solidFill>
                        <a:srgbClr val="E2E7F2"/>
                      </a:solidFill>
                    </a:lnL>
                    <a:lnR w="6350">
                      <a:solidFill>
                        <a:srgbClr val="E2E7F2"/>
                      </a:solidFill>
                    </a:lnR>
                    <a:lnT w="6350">
                      <a:solidFill>
                        <a:srgbClr val="E2E7F2"/>
                      </a:solidFill>
                    </a:lnT>
                    <a:lnB w="6350">
                      <a:solidFill>
                        <a:srgbClr val="E2E7F2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wrap="none"/>
                    <a:lstStyle/>
                    <a:p>
                      <a:pPr algn="r"/>
                      <a:r>
                        <a:rPr sz="850" b="1">
                          <a:solidFill>
                            <a:srgbClr val="C62828"/>
                          </a:solidFill>
                          <a:latin typeface="Calibri"/>
                        </a:rPr>
                        <a:t>-2.7%</a:t>
                      </a:r>
                    </a:p>
                  </a:txBody>
                  <a:tcPr anchor="ctr" marL="36576" marR="36576" marT="9144" marB="9144">
                    <a:lnL w="6350">
                      <a:solidFill>
                        <a:srgbClr val="E2E7F2"/>
                      </a:solidFill>
                    </a:lnL>
                    <a:lnR w="6350">
                      <a:solidFill>
                        <a:srgbClr val="E2E7F2"/>
                      </a:solidFill>
                    </a:lnR>
                    <a:lnT w="6350">
                      <a:solidFill>
                        <a:srgbClr val="E2E7F2"/>
                      </a:solidFill>
                    </a:lnT>
                    <a:lnB w="6350">
                      <a:solidFill>
                        <a:srgbClr val="E2E7F2"/>
                      </a:solidFill>
                    </a:lnB>
                    <a:solidFill>
                      <a:srgbClr val="FFFFFF"/>
                    </a:solidFill>
                  </a:tcPr>
                </a:tc>
              </a:tr>
              <a:tr h="187452">
                <a:tc>
                  <a:txBody>
                    <a:bodyPr wrap="none"/>
                    <a:lstStyle/>
                    <a:p>
                      <a:pPr algn="l"/>
                      <a:r>
                        <a:rPr sz="850" b="0">
                          <a:solidFill>
                            <a:srgbClr val="26292E"/>
                          </a:solidFill>
                          <a:latin typeface="Calibri"/>
                        </a:rPr>
                        <a:t>Corporate SS</a:t>
                      </a:r>
                    </a:p>
                  </a:txBody>
                  <a:tcPr anchor="ctr" marL="36576" marR="36576" marT="9144" marB="9144">
                    <a:lnL w="6350">
                      <a:solidFill>
                        <a:srgbClr val="E2E7F2"/>
                      </a:solidFill>
                    </a:lnL>
                    <a:lnR w="6350">
                      <a:solidFill>
                        <a:srgbClr val="E2E7F2"/>
                      </a:solidFill>
                    </a:lnR>
                    <a:lnT w="6350">
                      <a:solidFill>
                        <a:srgbClr val="E2E7F2"/>
                      </a:solidFill>
                    </a:lnT>
                    <a:lnB w="6350">
                      <a:solidFill>
                        <a:srgbClr val="E2E7F2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wrap="none"/>
                    <a:lstStyle/>
                    <a:p>
                      <a:pPr algn="r"/>
                      <a:r>
                        <a:rPr sz="850" b="0">
                          <a:solidFill>
                            <a:srgbClr val="595959"/>
                          </a:solidFill>
                          <a:latin typeface="Calibri"/>
                        </a:rPr>
                        <a:t>7%</a:t>
                      </a:r>
                    </a:p>
                  </a:txBody>
                  <a:tcPr anchor="ctr" marL="36576" marR="36576" marT="9144" marB="9144">
                    <a:lnL w="6350">
                      <a:solidFill>
                        <a:srgbClr val="E2E7F2"/>
                      </a:solidFill>
                    </a:lnL>
                    <a:lnR w="6350">
                      <a:solidFill>
                        <a:srgbClr val="E2E7F2"/>
                      </a:solidFill>
                    </a:lnR>
                    <a:lnT w="6350">
                      <a:solidFill>
                        <a:srgbClr val="E2E7F2"/>
                      </a:solidFill>
                    </a:lnT>
                    <a:lnB w="6350">
                      <a:solidFill>
                        <a:srgbClr val="E2E7F2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wrap="none"/>
                    <a:lstStyle/>
                    <a:p>
                      <a:pPr algn="r"/>
                      <a:r>
                        <a:rPr sz="850" b="0">
                          <a:solidFill>
                            <a:srgbClr val="595959"/>
                          </a:solidFill>
                          <a:latin typeface="Calibri"/>
                        </a:rPr>
                        <a:t>10%</a:t>
                      </a:r>
                    </a:p>
                  </a:txBody>
                  <a:tcPr anchor="ctr" marL="36576" marR="36576" marT="9144" marB="9144">
                    <a:lnL w="6350">
                      <a:solidFill>
                        <a:srgbClr val="E2E7F2"/>
                      </a:solidFill>
                    </a:lnL>
                    <a:lnR w="6350">
                      <a:solidFill>
                        <a:srgbClr val="E2E7F2"/>
                      </a:solidFill>
                    </a:lnR>
                    <a:lnT w="6350">
                      <a:solidFill>
                        <a:srgbClr val="E2E7F2"/>
                      </a:solidFill>
                    </a:lnT>
                    <a:lnB w="6350">
                      <a:solidFill>
                        <a:srgbClr val="E2E7F2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wrap="none"/>
                    <a:lstStyle/>
                    <a:p>
                      <a:pPr algn="r"/>
                      <a:r>
                        <a:rPr sz="850" b="0">
                          <a:solidFill>
                            <a:srgbClr val="26292E"/>
                          </a:solidFill>
                          <a:latin typeface="Calibri"/>
                        </a:rPr>
                        <a:t>3,967</a:t>
                      </a:r>
                    </a:p>
                  </a:txBody>
                  <a:tcPr anchor="ctr" marL="36576" marR="36576" marT="9144" marB="9144">
                    <a:lnL w="6350">
                      <a:solidFill>
                        <a:srgbClr val="E2E7F2"/>
                      </a:solidFill>
                    </a:lnL>
                    <a:lnR w="6350">
                      <a:solidFill>
                        <a:srgbClr val="E2E7F2"/>
                      </a:solidFill>
                    </a:lnR>
                    <a:lnT w="6350">
                      <a:solidFill>
                        <a:srgbClr val="E2E7F2"/>
                      </a:solidFill>
                    </a:lnT>
                    <a:lnB w="6350">
                      <a:solidFill>
                        <a:srgbClr val="E2E7F2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wrap="none"/>
                    <a:lstStyle/>
                    <a:p>
                      <a:pPr algn="r"/>
                      <a:r>
                        <a:rPr sz="850" b="0">
                          <a:solidFill>
                            <a:srgbClr val="26292E"/>
                          </a:solidFill>
                          <a:latin typeface="Calibri"/>
                        </a:rPr>
                        <a:t>3,486</a:t>
                      </a:r>
                    </a:p>
                  </a:txBody>
                  <a:tcPr anchor="ctr" marL="36576" marR="36576" marT="9144" marB="9144">
                    <a:lnL w="6350">
                      <a:solidFill>
                        <a:srgbClr val="E2E7F2"/>
                      </a:solidFill>
                    </a:lnL>
                    <a:lnR w="6350">
                      <a:solidFill>
                        <a:srgbClr val="E2E7F2"/>
                      </a:solidFill>
                    </a:lnR>
                    <a:lnT w="6350">
                      <a:solidFill>
                        <a:srgbClr val="E2E7F2"/>
                      </a:solidFill>
                    </a:lnT>
                    <a:lnB w="6350">
                      <a:solidFill>
                        <a:srgbClr val="E2E7F2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wrap="none"/>
                    <a:lstStyle/>
                    <a:p>
                      <a:pPr algn="r"/>
                      <a:r>
                        <a:rPr sz="850" b="1">
                          <a:solidFill>
                            <a:srgbClr val="C62828"/>
                          </a:solidFill>
                          <a:latin typeface="Calibri"/>
                        </a:rPr>
                        <a:t>-12.1%</a:t>
                      </a:r>
                    </a:p>
                  </a:txBody>
                  <a:tcPr anchor="ctr" marL="36576" marR="36576" marT="9144" marB="9144">
                    <a:lnL w="6350">
                      <a:solidFill>
                        <a:srgbClr val="E2E7F2"/>
                      </a:solidFill>
                    </a:lnL>
                    <a:lnR w="6350">
                      <a:solidFill>
                        <a:srgbClr val="E2E7F2"/>
                      </a:solidFill>
                    </a:lnR>
                    <a:lnT w="6350">
                      <a:solidFill>
                        <a:srgbClr val="E2E7F2"/>
                      </a:solidFill>
                    </a:lnT>
                    <a:lnB w="6350">
                      <a:solidFill>
                        <a:srgbClr val="E2E7F2"/>
                      </a:solidFill>
                    </a:lnB>
                    <a:solidFill>
                      <a:srgbClr val="FFFFFF"/>
                    </a:solidFill>
                  </a:tcPr>
                </a:tc>
              </a:tr>
              <a:tr h="187452">
                <a:tc>
                  <a:txBody>
                    <a:bodyPr wrap="none"/>
                    <a:lstStyle/>
                    <a:p>
                      <a:pPr algn="l"/>
                      <a:r>
                        <a:rPr sz="850" b="0">
                          <a:solidFill>
                            <a:srgbClr val="26292E"/>
                          </a:solidFill>
                          <a:latin typeface="Calibri"/>
                        </a:rPr>
                        <a:t>ASR</a:t>
                      </a:r>
                    </a:p>
                  </a:txBody>
                  <a:tcPr anchor="ctr" marL="36576" marR="36576" marT="9144" marB="9144">
                    <a:lnL w="6350">
                      <a:solidFill>
                        <a:srgbClr val="E2E7F2"/>
                      </a:solidFill>
                    </a:lnL>
                    <a:lnR w="6350">
                      <a:solidFill>
                        <a:srgbClr val="E2E7F2"/>
                      </a:solidFill>
                    </a:lnR>
                    <a:lnT w="6350">
                      <a:solidFill>
                        <a:srgbClr val="E2E7F2"/>
                      </a:solidFill>
                    </a:lnT>
                    <a:lnB w="6350">
                      <a:solidFill>
                        <a:srgbClr val="E2E7F2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wrap="none"/>
                    <a:lstStyle/>
                    <a:p>
                      <a:pPr algn="r"/>
                      <a:r>
                        <a:rPr sz="850" b="0">
                          <a:solidFill>
                            <a:srgbClr val="595959"/>
                          </a:solidFill>
                          <a:latin typeface="Calibri"/>
                        </a:rPr>
                        <a:t>6%</a:t>
                      </a:r>
                    </a:p>
                  </a:txBody>
                  <a:tcPr anchor="ctr" marL="36576" marR="36576" marT="9144" marB="9144">
                    <a:lnL w="6350">
                      <a:solidFill>
                        <a:srgbClr val="E2E7F2"/>
                      </a:solidFill>
                    </a:lnL>
                    <a:lnR w="6350">
                      <a:solidFill>
                        <a:srgbClr val="E2E7F2"/>
                      </a:solidFill>
                    </a:lnR>
                    <a:lnT w="6350">
                      <a:solidFill>
                        <a:srgbClr val="E2E7F2"/>
                      </a:solidFill>
                    </a:lnT>
                    <a:lnB w="6350">
                      <a:solidFill>
                        <a:srgbClr val="E2E7F2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wrap="none"/>
                    <a:lstStyle/>
                    <a:p>
                      <a:pPr algn="r"/>
                      <a:r>
                        <a:rPr sz="850" b="0">
                          <a:solidFill>
                            <a:srgbClr val="595959"/>
                          </a:solidFill>
                          <a:latin typeface="Calibri"/>
                        </a:rPr>
                        <a:t>9%</a:t>
                      </a:r>
                    </a:p>
                  </a:txBody>
                  <a:tcPr anchor="ctr" marL="36576" marR="36576" marT="9144" marB="9144">
                    <a:lnL w="6350">
                      <a:solidFill>
                        <a:srgbClr val="E2E7F2"/>
                      </a:solidFill>
                    </a:lnL>
                    <a:lnR w="6350">
                      <a:solidFill>
                        <a:srgbClr val="E2E7F2"/>
                      </a:solidFill>
                    </a:lnR>
                    <a:lnT w="6350">
                      <a:solidFill>
                        <a:srgbClr val="E2E7F2"/>
                      </a:solidFill>
                    </a:lnT>
                    <a:lnB w="6350">
                      <a:solidFill>
                        <a:srgbClr val="E2E7F2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wrap="none"/>
                    <a:lstStyle/>
                    <a:p>
                      <a:pPr algn="r"/>
                      <a:r>
                        <a:rPr sz="850" b="0">
                          <a:solidFill>
                            <a:srgbClr val="26292E"/>
                          </a:solidFill>
                          <a:latin typeface="Calibri"/>
                        </a:rPr>
                        <a:t>4,379</a:t>
                      </a:r>
                    </a:p>
                  </a:txBody>
                  <a:tcPr anchor="ctr" marL="36576" marR="36576" marT="9144" marB="9144">
                    <a:lnL w="6350">
                      <a:solidFill>
                        <a:srgbClr val="E2E7F2"/>
                      </a:solidFill>
                    </a:lnL>
                    <a:lnR w="6350">
                      <a:solidFill>
                        <a:srgbClr val="E2E7F2"/>
                      </a:solidFill>
                    </a:lnR>
                    <a:lnT w="6350">
                      <a:solidFill>
                        <a:srgbClr val="E2E7F2"/>
                      </a:solidFill>
                    </a:lnT>
                    <a:lnB w="6350">
                      <a:solidFill>
                        <a:srgbClr val="E2E7F2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wrap="none"/>
                    <a:lstStyle/>
                    <a:p>
                      <a:pPr algn="r"/>
                      <a:r>
                        <a:rPr sz="850" b="0">
                          <a:solidFill>
                            <a:srgbClr val="26292E"/>
                          </a:solidFill>
                          <a:latin typeface="Calibri"/>
                        </a:rPr>
                        <a:t>3,830</a:t>
                      </a:r>
                    </a:p>
                  </a:txBody>
                  <a:tcPr anchor="ctr" marL="36576" marR="36576" marT="9144" marB="9144">
                    <a:lnL w="6350">
                      <a:solidFill>
                        <a:srgbClr val="E2E7F2"/>
                      </a:solidFill>
                    </a:lnL>
                    <a:lnR w="6350">
                      <a:solidFill>
                        <a:srgbClr val="E2E7F2"/>
                      </a:solidFill>
                    </a:lnR>
                    <a:lnT w="6350">
                      <a:solidFill>
                        <a:srgbClr val="E2E7F2"/>
                      </a:solidFill>
                    </a:lnT>
                    <a:lnB w="6350">
                      <a:solidFill>
                        <a:srgbClr val="E2E7F2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wrap="none"/>
                    <a:lstStyle/>
                    <a:p>
                      <a:pPr algn="r"/>
                      <a:r>
                        <a:rPr sz="850" b="1">
                          <a:solidFill>
                            <a:srgbClr val="C62828"/>
                          </a:solidFill>
                          <a:latin typeface="Calibri"/>
                        </a:rPr>
                        <a:t>-12.5%</a:t>
                      </a:r>
                    </a:p>
                  </a:txBody>
                  <a:tcPr anchor="ctr" marL="36576" marR="36576" marT="9144" marB="9144">
                    <a:lnL w="6350">
                      <a:solidFill>
                        <a:srgbClr val="E2E7F2"/>
                      </a:solidFill>
                    </a:lnL>
                    <a:lnR w="6350">
                      <a:solidFill>
                        <a:srgbClr val="E2E7F2"/>
                      </a:solidFill>
                    </a:lnR>
                    <a:lnT w="6350">
                      <a:solidFill>
                        <a:srgbClr val="E2E7F2"/>
                      </a:solidFill>
                    </a:lnT>
                    <a:lnB w="6350">
                      <a:solidFill>
                        <a:srgbClr val="E2E7F2"/>
                      </a:solidFill>
                    </a:lnB>
                    <a:solidFill>
                      <a:srgbClr val="FFFFFF"/>
                    </a:solidFill>
                  </a:tcPr>
                </a:tc>
              </a:tr>
              <a:tr h="187452">
                <a:tc>
                  <a:txBody>
                    <a:bodyPr wrap="none"/>
                    <a:lstStyle/>
                    <a:p>
                      <a:pPr algn="l"/>
                      <a:r>
                        <a:rPr sz="850" b="0">
                          <a:solidFill>
                            <a:srgbClr val="26292E"/>
                          </a:solidFill>
                          <a:latin typeface="Calibri"/>
                        </a:rPr>
                        <a:t>Group</a:t>
                      </a:r>
                    </a:p>
                  </a:txBody>
                  <a:tcPr anchor="ctr" marL="36576" marR="36576" marT="9144" marB="9144">
                    <a:lnL w="6350">
                      <a:solidFill>
                        <a:srgbClr val="E2E7F2"/>
                      </a:solidFill>
                    </a:lnL>
                    <a:lnR w="6350">
                      <a:solidFill>
                        <a:srgbClr val="E2E7F2"/>
                      </a:solidFill>
                    </a:lnR>
                    <a:lnT w="6350">
                      <a:solidFill>
                        <a:srgbClr val="E2E7F2"/>
                      </a:solidFill>
                    </a:lnT>
                    <a:lnB w="6350">
                      <a:solidFill>
                        <a:srgbClr val="E2E7F2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wrap="none"/>
                    <a:lstStyle/>
                    <a:p>
                      <a:pPr algn="r"/>
                      <a:r>
                        <a:rPr sz="850" b="0">
                          <a:solidFill>
                            <a:srgbClr val="595959"/>
                          </a:solidFill>
                          <a:latin typeface="Calibri"/>
                        </a:rPr>
                        <a:t>1%</a:t>
                      </a:r>
                    </a:p>
                  </a:txBody>
                  <a:tcPr anchor="ctr" marL="36576" marR="36576" marT="9144" marB="9144">
                    <a:lnL w="6350">
                      <a:solidFill>
                        <a:srgbClr val="E2E7F2"/>
                      </a:solidFill>
                    </a:lnL>
                    <a:lnR w="6350">
                      <a:solidFill>
                        <a:srgbClr val="E2E7F2"/>
                      </a:solidFill>
                    </a:lnR>
                    <a:lnT w="6350">
                      <a:solidFill>
                        <a:srgbClr val="E2E7F2"/>
                      </a:solidFill>
                    </a:lnT>
                    <a:lnB w="6350">
                      <a:solidFill>
                        <a:srgbClr val="E2E7F2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wrap="none"/>
                    <a:lstStyle/>
                    <a:p>
                      <a:pPr algn="r"/>
                      <a:r>
                        <a:rPr sz="850" b="0">
                          <a:solidFill>
                            <a:srgbClr val="595959"/>
                          </a:solidFill>
                          <a:latin typeface="Calibri"/>
                        </a:rPr>
                        <a:t>4%</a:t>
                      </a:r>
                    </a:p>
                  </a:txBody>
                  <a:tcPr anchor="ctr" marL="36576" marR="36576" marT="9144" marB="9144">
                    <a:lnL w="6350">
                      <a:solidFill>
                        <a:srgbClr val="E2E7F2"/>
                      </a:solidFill>
                    </a:lnL>
                    <a:lnR w="6350">
                      <a:solidFill>
                        <a:srgbClr val="E2E7F2"/>
                      </a:solidFill>
                    </a:lnR>
                    <a:lnT w="6350">
                      <a:solidFill>
                        <a:srgbClr val="E2E7F2"/>
                      </a:solidFill>
                    </a:lnT>
                    <a:lnB w="6350">
                      <a:solidFill>
                        <a:srgbClr val="E2E7F2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wrap="none"/>
                    <a:lstStyle/>
                    <a:p>
                      <a:pPr algn="r"/>
                      <a:r>
                        <a:rPr sz="850" b="0">
                          <a:solidFill>
                            <a:srgbClr val="26292E"/>
                          </a:solidFill>
                          <a:latin typeface="Calibri"/>
                        </a:rPr>
                        <a:t>3,486</a:t>
                      </a:r>
                    </a:p>
                  </a:txBody>
                  <a:tcPr anchor="ctr" marL="36576" marR="36576" marT="9144" marB="9144">
                    <a:lnL w="6350">
                      <a:solidFill>
                        <a:srgbClr val="E2E7F2"/>
                      </a:solidFill>
                    </a:lnL>
                    <a:lnR w="6350">
                      <a:solidFill>
                        <a:srgbClr val="E2E7F2"/>
                      </a:solidFill>
                    </a:lnR>
                    <a:lnT w="6350">
                      <a:solidFill>
                        <a:srgbClr val="E2E7F2"/>
                      </a:solidFill>
                    </a:lnT>
                    <a:lnB w="6350">
                      <a:solidFill>
                        <a:srgbClr val="E2E7F2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wrap="none"/>
                    <a:lstStyle/>
                    <a:p>
                      <a:pPr algn="r"/>
                      <a:r>
                        <a:rPr sz="850" b="0">
                          <a:solidFill>
                            <a:srgbClr val="26292E"/>
                          </a:solidFill>
                          <a:latin typeface="Calibri"/>
                        </a:rPr>
                        <a:t>2,572</a:t>
                      </a:r>
                    </a:p>
                  </a:txBody>
                  <a:tcPr anchor="ctr" marL="36576" marR="36576" marT="9144" marB="9144">
                    <a:lnL w="6350">
                      <a:solidFill>
                        <a:srgbClr val="E2E7F2"/>
                      </a:solidFill>
                    </a:lnL>
                    <a:lnR w="6350">
                      <a:solidFill>
                        <a:srgbClr val="E2E7F2"/>
                      </a:solidFill>
                    </a:lnR>
                    <a:lnT w="6350">
                      <a:solidFill>
                        <a:srgbClr val="E2E7F2"/>
                      </a:solidFill>
                    </a:lnT>
                    <a:lnB w="6350">
                      <a:solidFill>
                        <a:srgbClr val="E2E7F2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wrap="none"/>
                    <a:lstStyle/>
                    <a:p>
                      <a:pPr algn="r"/>
                      <a:r>
                        <a:rPr sz="850" b="1">
                          <a:solidFill>
                            <a:srgbClr val="C62828"/>
                          </a:solidFill>
                          <a:latin typeface="Calibri"/>
                        </a:rPr>
                        <a:t>-26.2%</a:t>
                      </a:r>
                    </a:p>
                  </a:txBody>
                  <a:tcPr anchor="ctr" marL="36576" marR="36576" marT="9144" marB="9144">
                    <a:lnL w="6350">
                      <a:solidFill>
                        <a:srgbClr val="E2E7F2"/>
                      </a:solidFill>
                    </a:lnL>
                    <a:lnR w="6350">
                      <a:solidFill>
                        <a:srgbClr val="E2E7F2"/>
                      </a:solidFill>
                    </a:lnR>
                    <a:lnT w="6350">
                      <a:solidFill>
                        <a:srgbClr val="E2E7F2"/>
                      </a:solidFill>
                    </a:lnT>
                    <a:lnB w="6350">
                      <a:solidFill>
                        <a:srgbClr val="E2E7F2"/>
                      </a:solidFill>
                    </a:lnB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  <p:sp>
        <p:nvSpPr>
          <p:cNvPr id="10" name="TextBox 9"/>
          <p:cNvSpPr txBox="1"/>
          <p:nvPr/>
        </p:nvSpPr>
        <p:spPr>
          <a:xfrm>
            <a:off x="548640" y="4041648"/>
            <a:ext cx="5303520" cy="237744"/>
          </a:xfrm>
          <a:prstGeom prst="rect">
            <a:avLst/>
          </a:prstGeom>
          <a:noFill/>
        </p:spPr>
        <p:txBody>
          <a:bodyPr wrap="none" lIns="0" tIns="0" bIns="0">
            <a:spAutoFit/>
          </a:bodyPr>
          <a:lstStyle/>
          <a:p>
            <a:r>
              <a:rPr sz="1100" b="1">
                <a:solidFill>
                  <a:srgbClr val="1E2761"/>
                </a:solidFill>
                <a:latin typeface="Calibri"/>
              </a:rPr>
              <a:t>lyf Sukhumvit 8 (LYF)</a:t>
            </a:r>
          </a:p>
        </p:txBody>
      </p:sp>
      <p:graphicFrame>
        <p:nvGraphicFramePr>
          <p:cNvPr id="11" name="Table 10"/>
          <p:cNvGraphicFramePr>
            <a:graphicFrameLocks noGrp="1"/>
          </p:cNvGraphicFramePr>
          <p:nvPr/>
        </p:nvGraphicFramePr>
        <p:xfrm>
          <a:off x="548640" y="4315968"/>
          <a:ext cx="5303520" cy="937259"/>
        </p:xfrm>
        <a:graphic>
          <a:graphicData uri="http://schemas.openxmlformats.org/drawingml/2006/table">
            <a:tbl>
              <a:tblPr>
                <a:tableStyleId>{5C22544A-7EE6-4342-B048-85BDC9FD1C3A}</a:tableStyleId>
              </a:tblPr>
              <a:tblGrid>
                <a:gridCol w="1417320"/>
                <a:gridCol w="731520"/>
                <a:gridCol w="731520"/>
                <a:gridCol w="841248"/>
                <a:gridCol w="841248"/>
                <a:gridCol w="740664"/>
              </a:tblGrid>
              <a:tr h="187452">
                <a:tc>
                  <a:txBody>
                    <a:bodyPr wrap="none"/>
                    <a:lstStyle/>
                    <a:p>
                      <a:pPr algn="l"/>
                      <a:r>
                        <a:rPr sz="800" b="1">
                          <a:solidFill>
                            <a:srgbClr val="FFFFFF"/>
                          </a:solidFill>
                          <a:latin typeface="Calibri"/>
                        </a:rPr>
                        <a:t>Segment</a:t>
                      </a:r>
                    </a:p>
                  </a:txBody>
                  <a:tcPr anchor="ctr" marL="36576" marR="36576" marT="9144" marB="9144">
                    <a:lnL w="6350">
                      <a:solidFill>
                        <a:srgbClr val="E2E7F2"/>
                      </a:solidFill>
                    </a:lnL>
                    <a:lnR w="6350">
                      <a:solidFill>
                        <a:srgbClr val="E2E7F2"/>
                      </a:solidFill>
                    </a:lnR>
                    <a:lnT w="6350">
                      <a:solidFill>
                        <a:srgbClr val="E2E7F2"/>
                      </a:solidFill>
                    </a:lnT>
                    <a:lnB w="6350">
                      <a:solidFill>
                        <a:srgbClr val="E2E7F2"/>
                      </a:solidFill>
                    </a:lnB>
                    <a:solidFill>
                      <a:srgbClr val="1E2761"/>
                    </a:solidFill>
                  </a:tcPr>
                </a:tc>
                <a:tc>
                  <a:txBody>
                    <a:bodyPr wrap="none"/>
                    <a:lstStyle/>
                    <a:p>
                      <a:pPr algn="r"/>
                      <a:r>
                        <a:rPr sz="800" b="1">
                          <a:solidFill>
                            <a:srgbClr val="FFFFFF"/>
                          </a:solidFill>
                          <a:latin typeface="Calibri"/>
                        </a:rPr>
                        <a:t>% rooms 25</a:t>
                      </a:r>
                    </a:p>
                  </a:txBody>
                  <a:tcPr anchor="ctr" marL="36576" marR="36576" marT="9144" marB="9144">
                    <a:lnL w="6350">
                      <a:solidFill>
                        <a:srgbClr val="E2E7F2"/>
                      </a:solidFill>
                    </a:lnL>
                    <a:lnR w="6350">
                      <a:solidFill>
                        <a:srgbClr val="E2E7F2"/>
                      </a:solidFill>
                    </a:lnR>
                    <a:lnT w="6350">
                      <a:solidFill>
                        <a:srgbClr val="E2E7F2"/>
                      </a:solidFill>
                    </a:lnT>
                    <a:lnB w="6350">
                      <a:solidFill>
                        <a:srgbClr val="E2E7F2"/>
                      </a:solidFill>
                    </a:lnB>
                    <a:solidFill>
                      <a:srgbClr val="1E2761"/>
                    </a:solidFill>
                  </a:tcPr>
                </a:tc>
                <a:tc>
                  <a:txBody>
                    <a:bodyPr wrap="none"/>
                    <a:lstStyle/>
                    <a:p>
                      <a:pPr algn="r"/>
                      <a:r>
                        <a:rPr sz="800" b="1">
                          <a:solidFill>
                            <a:srgbClr val="FFFFFF"/>
                          </a:solidFill>
                          <a:latin typeface="Calibri"/>
                        </a:rPr>
                        <a:t>% rooms 26</a:t>
                      </a:r>
                    </a:p>
                  </a:txBody>
                  <a:tcPr anchor="ctr" marL="36576" marR="36576" marT="9144" marB="9144">
                    <a:lnL w="6350">
                      <a:solidFill>
                        <a:srgbClr val="E2E7F2"/>
                      </a:solidFill>
                    </a:lnL>
                    <a:lnR w="6350">
                      <a:solidFill>
                        <a:srgbClr val="E2E7F2"/>
                      </a:solidFill>
                    </a:lnR>
                    <a:lnT w="6350">
                      <a:solidFill>
                        <a:srgbClr val="E2E7F2"/>
                      </a:solidFill>
                    </a:lnT>
                    <a:lnB w="6350">
                      <a:solidFill>
                        <a:srgbClr val="E2E7F2"/>
                      </a:solidFill>
                    </a:lnB>
                    <a:solidFill>
                      <a:srgbClr val="1E2761"/>
                    </a:solidFill>
                  </a:tcPr>
                </a:tc>
                <a:tc>
                  <a:txBody>
                    <a:bodyPr wrap="none"/>
                    <a:lstStyle/>
                    <a:p>
                      <a:pPr algn="r"/>
                      <a:r>
                        <a:rPr sz="800" b="1">
                          <a:solidFill>
                            <a:srgbClr val="FFFFFF"/>
                          </a:solidFill>
                          <a:latin typeface="Calibri"/>
                        </a:rPr>
                        <a:t>ADR H1 '25</a:t>
                      </a:r>
                    </a:p>
                  </a:txBody>
                  <a:tcPr anchor="ctr" marL="36576" marR="36576" marT="9144" marB="9144">
                    <a:lnL w="6350">
                      <a:solidFill>
                        <a:srgbClr val="E2E7F2"/>
                      </a:solidFill>
                    </a:lnL>
                    <a:lnR w="6350">
                      <a:solidFill>
                        <a:srgbClr val="E2E7F2"/>
                      </a:solidFill>
                    </a:lnR>
                    <a:lnT w="6350">
                      <a:solidFill>
                        <a:srgbClr val="E2E7F2"/>
                      </a:solidFill>
                    </a:lnT>
                    <a:lnB w="6350">
                      <a:solidFill>
                        <a:srgbClr val="E2E7F2"/>
                      </a:solidFill>
                    </a:lnB>
                    <a:solidFill>
                      <a:srgbClr val="1E2761"/>
                    </a:solidFill>
                  </a:tcPr>
                </a:tc>
                <a:tc>
                  <a:txBody>
                    <a:bodyPr wrap="none"/>
                    <a:lstStyle/>
                    <a:p>
                      <a:pPr algn="r"/>
                      <a:r>
                        <a:rPr sz="800" b="1">
                          <a:solidFill>
                            <a:srgbClr val="FFFFFF"/>
                          </a:solidFill>
                          <a:latin typeface="Calibri"/>
                        </a:rPr>
                        <a:t>ADR H1 '26</a:t>
                      </a:r>
                    </a:p>
                  </a:txBody>
                  <a:tcPr anchor="ctr" marL="36576" marR="36576" marT="9144" marB="9144">
                    <a:lnL w="6350">
                      <a:solidFill>
                        <a:srgbClr val="E2E7F2"/>
                      </a:solidFill>
                    </a:lnL>
                    <a:lnR w="6350">
                      <a:solidFill>
                        <a:srgbClr val="E2E7F2"/>
                      </a:solidFill>
                    </a:lnR>
                    <a:lnT w="6350">
                      <a:solidFill>
                        <a:srgbClr val="E2E7F2"/>
                      </a:solidFill>
                    </a:lnT>
                    <a:lnB w="6350">
                      <a:solidFill>
                        <a:srgbClr val="E2E7F2"/>
                      </a:solidFill>
                    </a:lnB>
                    <a:solidFill>
                      <a:srgbClr val="1E2761"/>
                    </a:solidFill>
                  </a:tcPr>
                </a:tc>
                <a:tc>
                  <a:txBody>
                    <a:bodyPr wrap="none"/>
                    <a:lstStyle/>
                    <a:p>
                      <a:pPr algn="r"/>
                      <a:r>
                        <a:rPr sz="800" b="1">
                          <a:solidFill>
                            <a:srgbClr val="FFFFFF"/>
                          </a:solidFill>
                          <a:latin typeface="Calibri"/>
                        </a:rPr>
                        <a:t>ADR chg</a:t>
                      </a:r>
                    </a:p>
                  </a:txBody>
                  <a:tcPr anchor="ctr" marL="36576" marR="36576" marT="9144" marB="9144">
                    <a:lnL w="6350">
                      <a:solidFill>
                        <a:srgbClr val="E2E7F2"/>
                      </a:solidFill>
                    </a:lnL>
                    <a:lnR w="6350">
                      <a:solidFill>
                        <a:srgbClr val="E2E7F2"/>
                      </a:solidFill>
                    </a:lnR>
                    <a:lnT w="6350">
                      <a:solidFill>
                        <a:srgbClr val="E2E7F2"/>
                      </a:solidFill>
                    </a:lnT>
                    <a:lnB w="6350">
                      <a:solidFill>
                        <a:srgbClr val="E2E7F2"/>
                      </a:solidFill>
                    </a:lnB>
                    <a:solidFill>
                      <a:srgbClr val="1E2761"/>
                    </a:solidFill>
                  </a:tcPr>
                </a:tc>
              </a:tr>
              <a:tr h="187452">
                <a:tc>
                  <a:txBody>
                    <a:bodyPr wrap="none"/>
                    <a:lstStyle/>
                    <a:p>
                      <a:pPr algn="l"/>
                      <a:r>
                        <a:rPr sz="850" b="1">
                          <a:solidFill>
                            <a:srgbClr val="26292E"/>
                          </a:solidFill>
                          <a:latin typeface="Calibri"/>
                        </a:rPr>
                        <a:t>Online (dynamic)</a:t>
                      </a:r>
                    </a:p>
                  </a:txBody>
                  <a:tcPr anchor="ctr" marL="36576" marR="36576" marT="9144" marB="9144">
                    <a:lnL w="6350">
                      <a:solidFill>
                        <a:srgbClr val="E2E7F2"/>
                      </a:solidFill>
                    </a:lnL>
                    <a:lnR w="6350">
                      <a:solidFill>
                        <a:srgbClr val="E2E7F2"/>
                      </a:solidFill>
                    </a:lnR>
                    <a:lnT w="6350">
                      <a:solidFill>
                        <a:srgbClr val="E2E7F2"/>
                      </a:solidFill>
                    </a:lnT>
                    <a:lnB w="6350">
                      <a:solidFill>
                        <a:srgbClr val="E2E7F2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wrap="none"/>
                    <a:lstStyle/>
                    <a:p>
                      <a:pPr algn="r"/>
                      <a:r>
                        <a:rPr sz="850" b="0">
                          <a:solidFill>
                            <a:srgbClr val="595959"/>
                          </a:solidFill>
                          <a:latin typeface="Calibri"/>
                        </a:rPr>
                        <a:t>64%</a:t>
                      </a:r>
                    </a:p>
                  </a:txBody>
                  <a:tcPr anchor="ctr" marL="36576" marR="36576" marT="9144" marB="9144">
                    <a:lnL w="6350">
                      <a:solidFill>
                        <a:srgbClr val="E2E7F2"/>
                      </a:solidFill>
                    </a:lnL>
                    <a:lnR w="6350">
                      <a:solidFill>
                        <a:srgbClr val="E2E7F2"/>
                      </a:solidFill>
                    </a:lnR>
                    <a:lnT w="6350">
                      <a:solidFill>
                        <a:srgbClr val="E2E7F2"/>
                      </a:solidFill>
                    </a:lnT>
                    <a:lnB w="6350">
                      <a:solidFill>
                        <a:srgbClr val="E2E7F2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wrap="none"/>
                    <a:lstStyle/>
                    <a:p>
                      <a:pPr algn="r"/>
                      <a:r>
                        <a:rPr sz="850" b="0">
                          <a:solidFill>
                            <a:srgbClr val="595959"/>
                          </a:solidFill>
                          <a:latin typeface="Calibri"/>
                        </a:rPr>
                        <a:t>66%</a:t>
                      </a:r>
                    </a:p>
                  </a:txBody>
                  <a:tcPr anchor="ctr" marL="36576" marR="36576" marT="9144" marB="9144">
                    <a:lnL w="6350">
                      <a:solidFill>
                        <a:srgbClr val="E2E7F2"/>
                      </a:solidFill>
                    </a:lnL>
                    <a:lnR w="6350">
                      <a:solidFill>
                        <a:srgbClr val="E2E7F2"/>
                      </a:solidFill>
                    </a:lnR>
                    <a:lnT w="6350">
                      <a:solidFill>
                        <a:srgbClr val="E2E7F2"/>
                      </a:solidFill>
                    </a:lnT>
                    <a:lnB w="6350">
                      <a:solidFill>
                        <a:srgbClr val="E2E7F2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wrap="none"/>
                    <a:lstStyle/>
                    <a:p>
                      <a:pPr algn="r"/>
                      <a:r>
                        <a:rPr sz="850" b="0">
                          <a:solidFill>
                            <a:srgbClr val="26292E"/>
                          </a:solidFill>
                          <a:latin typeface="Calibri"/>
                        </a:rPr>
                        <a:t>1,559</a:t>
                      </a:r>
                    </a:p>
                  </a:txBody>
                  <a:tcPr anchor="ctr" marL="36576" marR="36576" marT="9144" marB="9144">
                    <a:lnL w="6350">
                      <a:solidFill>
                        <a:srgbClr val="E2E7F2"/>
                      </a:solidFill>
                    </a:lnL>
                    <a:lnR w="6350">
                      <a:solidFill>
                        <a:srgbClr val="E2E7F2"/>
                      </a:solidFill>
                    </a:lnR>
                    <a:lnT w="6350">
                      <a:solidFill>
                        <a:srgbClr val="E2E7F2"/>
                      </a:solidFill>
                    </a:lnT>
                    <a:lnB w="6350">
                      <a:solidFill>
                        <a:srgbClr val="E2E7F2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wrap="none"/>
                    <a:lstStyle/>
                    <a:p>
                      <a:pPr algn="r"/>
                      <a:r>
                        <a:rPr sz="850" b="0">
                          <a:solidFill>
                            <a:srgbClr val="26292E"/>
                          </a:solidFill>
                          <a:latin typeface="Calibri"/>
                        </a:rPr>
                        <a:t>1,430</a:t>
                      </a:r>
                    </a:p>
                  </a:txBody>
                  <a:tcPr anchor="ctr" marL="36576" marR="36576" marT="9144" marB="9144">
                    <a:lnL w="6350">
                      <a:solidFill>
                        <a:srgbClr val="E2E7F2"/>
                      </a:solidFill>
                    </a:lnL>
                    <a:lnR w="6350">
                      <a:solidFill>
                        <a:srgbClr val="E2E7F2"/>
                      </a:solidFill>
                    </a:lnR>
                    <a:lnT w="6350">
                      <a:solidFill>
                        <a:srgbClr val="E2E7F2"/>
                      </a:solidFill>
                    </a:lnT>
                    <a:lnB w="6350">
                      <a:solidFill>
                        <a:srgbClr val="E2E7F2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wrap="none"/>
                    <a:lstStyle/>
                    <a:p>
                      <a:pPr algn="r"/>
                      <a:r>
                        <a:rPr sz="850" b="1">
                          <a:solidFill>
                            <a:srgbClr val="C62828"/>
                          </a:solidFill>
                          <a:latin typeface="Calibri"/>
                        </a:rPr>
                        <a:t>-8.2%</a:t>
                      </a:r>
                    </a:p>
                  </a:txBody>
                  <a:tcPr anchor="ctr" marL="36576" marR="36576" marT="9144" marB="9144">
                    <a:lnL w="6350">
                      <a:solidFill>
                        <a:srgbClr val="E2E7F2"/>
                      </a:solidFill>
                    </a:lnL>
                    <a:lnR w="6350">
                      <a:solidFill>
                        <a:srgbClr val="E2E7F2"/>
                      </a:solidFill>
                    </a:lnR>
                    <a:lnT w="6350">
                      <a:solidFill>
                        <a:srgbClr val="E2E7F2"/>
                      </a:solidFill>
                    </a:lnT>
                    <a:lnB w="6350">
                      <a:solidFill>
                        <a:srgbClr val="E2E7F2"/>
                      </a:solidFill>
                    </a:lnB>
                    <a:solidFill>
                      <a:srgbClr val="FFFFFF"/>
                    </a:solidFill>
                  </a:tcPr>
                </a:tc>
              </a:tr>
              <a:tr h="187452">
                <a:tc>
                  <a:txBody>
                    <a:bodyPr wrap="none"/>
                    <a:lstStyle/>
                    <a:p>
                      <a:pPr algn="l"/>
                      <a:r>
                        <a:rPr sz="850" b="0">
                          <a:solidFill>
                            <a:srgbClr val="26292E"/>
                          </a:solidFill>
                          <a:latin typeface="Calibri"/>
                        </a:rPr>
                        <a:t>Wholesale</a:t>
                      </a:r>
                    </a:p>
                  </a:txBody>
                  <a:tcPr anchor="ctr" marL="36576" marR="36576" marT="9144" marB="9144">
                    <a:lnL w="6350">
                      <a:solidFill>
                        <a:srgbClr val="E2E7F2"/>
                      </a:solidFill>
                    </a:lnL>
                    <a:lnR w="6350">
                      <a:solidFill>
                        <a:srgbClr val="E2E7F2"/>
                      </a:solidFill>
                    </a:lnR>
                    <a:lnT w="6350">
                      <a:solidFill>
                        <a:srgbClr val="E2E7F2"/>
                      </a:solidFill>
                    </a:lnT>
                    <a:lnB w="6350">
                      <a:solidFill>
                        <a:srgbClr val="E2E7F2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wrap="none"/>
                    <a:lstStyle/>
                    <a:p>
                      <a:pPr algn="r"/>
                      <a:r>
                        <a:rPr sz="850" b="0">
                          <a:solidFill>
                            <a:srgbClr val="595959"/>
                          </a:solidFill>
                          <a:latin typeface="Calibri"/>
                        </a:rPr>
                        <a:t>18%</a:t>
                      </a:r>
                    </a:p>
                  </a:txBody>
                  <a:tcPr anchor="ctr" marL="36576" marR="36576" marT="9144" marB="9144">
                    <a:lnL w="6350">
                      <a:solidFill>
                        <a:srgbClr val="E2E7F2"/>
                      </a:solidFill>
                    </a:lnL>
                    <a:lnR w="6350">
                      <a:solidFill>
                        <a:srgbClr val="E2E7F2"/>
                      </a:solidFill>
                    </a:lnR>
                    <a:lnT w="6350">
                      <a:solidFill>
                        <a:srgbClr val="E2E7F2"/>
                      </a:solidFill>
                    </a:lnT>
                    <a:lnB w="6350">
                      <a:solidFill>
                        <a:srgbClr val="E2E7F2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wrap="none"/>
                    <a:lstStyle/>
                    <a:p>
                      <a:pPr algn="r"/>
                      <a:r>
                        <a:rPr sz="850" b="0">
                          <a:solidFill>
                            <a:srgbClr val="595959"/>
                          </a:solidFill>
                          <a:latin typeface="Calibri"/>
                        </a:rPr>
                        <a:t>18%</a:t>
                      </a:r>
                    </a:p>
                  </a:txBody>
                  <a:tcPr anchor="ctr" marL="36576" marR="36576" marT="9144" marB="9144">
                    <a:lnL w="6350">
                      <a:solidFill>
                        <a:srgbClr val="E2E7F2"/>
                      </a:solidFill>
                    </a:lnL>
                    <a:lnR w="6350">
                      <a:solidFill>
                        <a:srgbClr val="E2E7F2"/>
                      </a:solidFill>
                    </a:lnR>
                    <a:lnT w="6350">
                      <a:solidFill>
                        <a:srgbClr val="E2E7F2"/>
                      </a:solidFill>
                    </a:lnT>
                    <a:lnB w="6350">
                      <a:solidFill>
                        <a:srgbClr val="E2E7F2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wrap="none"/>
                    <a:lstStyle/>
                    <a:p>
                      <a:pPr algn="r"/>
                      <a:r>
                        <a:rPr sz="850" b="0">
                          <a:solidFill>
                            <a:srgbClr val="26292E"/>
                          </a:solidFill>
                          <a:latin typeface="Calibri"/>
                        </a:rPr>
                        <a:t>1,221</a:t>
                      </a:r>
                    </a:p>
                  </a:txBody>
                  <a:tcPr anchor="ctr" marL="36576" marR="36576" marT="9144" marB="9144">
                    <a:lnL w="6350">
                      <a:solidFill>
                        <a:srgbClr val="E2E7F2"/>
                      </a:solidFill>
                    </a:lnL>
                    <a:lnR w="6350">
                      <a:solidFill>
                        <a:srgbClr val="E2E7F2"/>
                      </a:solidFill>
                    </a:lnR>
                    <a:lnT w="6350">
                      <a:solidFill>
                        <a:srgbClr val="E2E7F2"/>
                      </a:solidFill>
                    </a:lnT>
                    <a:lnB w="6350">
                      <a:solidFill>
                        <a:srgbClr val="E2E7F2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wrap="none"/>
                    <a:lstStyle/>
                    <a:p>
                      <a:pPr algn="r"/>
                      <a:r>
                        <a:rPr sz="850" b="0">
                          <a:solidFill>
                            <a:srgbClr val="26292E"/>
                          </a:solidFill>
                          <a:latin typeface="Calibri"/>
                        </a:rPr>
                        <a:t>1,249</a:t>
                      </a:r>
                    </a:p>
                  </a:txBody>
                  <a:tcPr anchor="ctr" marL="36576" marR="36576" marT="9144" marB="9144">
                    <a:lnL w="6350">
                      <a:solidFill>
                        <a:srgbClr val="E2E7F2"/>
                      </a:solidFill>
                    </a:lnL>
                    <a:lnR w="6350">
                      <a:solidFill>
                        <a:srgbClr val="E2E7F2"/>
                      </a:solidFill>
                    </a:lnR>
                    <a:lnT w="6350">
                      <a:solidFill>
                        <a:srgbClr val="E2E7F2"/>
                      </a:solidFill>
                    </a:lnT>
                    <a:lnB w="6350">
                      <a:solidFill>
                        <a:srgbClr val="E2E7F2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wrap="none"/>
                    <a:lstStyle/>
                    <a:p>
                      <a:pPr algn="r"/>
                      <a:r>
                        <a:rPr sz="850" b="1">
                          <a:solidFill>
                            <a:srgbClr val="1E7B34"/>
                          </a:solidFill>
                          <a:latin typeface="Calibri"/>
                        </a:rPr>
                        <a:t>+2.3%</a:t>
                      </a:r>
                    </a:p>
                  </a:txBody>
                  <a:tcPr anchor="ctr" marL="36576" marR="36576" marT="9144" marB="9144">
                    <a:lnL w="6350">
                      <a:solidFill>
                        <a:srgbClr val="E2E7F2"/>
                      </a:solidFill>
                    </a:lnL>
                    <a:lnR w="6350">
                      <a:solidFill>
                        <a:srgbClr val="E2E7F2"/>
                      </a:solidFill>
                    </a:lnR>
                    <a:lnT w="6350">
                      <a:solidFill>
                        <a:srgbClr val="E2E7F2"/>
                      </a:solidFill>
                    </a:lnT>
                    <a:lnB w="6350">
                      <a:solidFill>
                        <a:srgbClr val="E2E7F2"/>
                      </a:solidFill>
                    </a:lnB>
                    <a:solidFill>
                      <a:srgbClr val="FFFFFF"/>
                    </a:solidFill>
                  </a:tcPr>
                </a:tc>
              </a:tr>
              <a:tr h="187452">
                <a:tc>
                  <a:txBody>
                    <a:bodyPr wrap="none"/>
                    <a:lstStyle/>
                    <a:p>
                      <a:pPr algn="l"/>
                      <a:r>
                        <a:rPr sz="850" b="0">
                          <a:solidFill>
                            <a:srgbClr val="26292E"/>
                          </a:solidFill>
                          <a:latin typeface="Calibri"/>
                        </a:rPr>
                        <a:t>ASR</a:t>
                      </a:r>
                    </a:p>
                  </a:txBody>
                  <a:tcPr anchor="ctr" marL="36576" marR="36576" marT="9144" marB="9144">
                    <a:lnL w="6350">
                      <a:solidFill>
                        <a:srgbClr val="E2E7F2"/>
                      </a:solidFill>
                    </a:lnL>
                    <a:lnR w="6350">
                      <a:solidFill>
                        <a:srgbClr val="E2E7F2"/>
                      </a:solidFill>
                    </a:lnR>
                    <a:lnT w="6350">
                      <a:solidFill>
                        <a:srgbClr val="E2E7F2"/>
                      </a:solidFill>
                    </a:lnT>
                    <a:lnB w="6350">
                      <a:solidFill>
                        <a:srgbClr val="E2E7F2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wrap="none"/>
                    <a:lstStyle/>
                    <a:p>
                      <a:pPr algn="r"/>
                      <a:r>
                        <a:rPr sz="850" b="0">
                          <a:solidFill>
                            <a:srgbClr val="595959"/>
                          </a:solidFill>
                          <a:latin typeface="Calibri"/>
                        </a:rPr>
                        <a:t>15%</a:t>
                      </a:r>
                    </a:p>
                  </a:txBody>
                  <a:tcPr anchor="ctr" marL="36576" marR="36576" marT="9144" marB="9144">
                    <a:lnL w="6350">
                      <a:solidFill>
                        <a:srgbClr val="E2E7F2"/>
                      </a:solidFill>
                    </a:lnL>
                    <a:lnR w="6350">
                      <a:solidFill>
                        <a:srgbClr val="E2E7F2"/>
                      </a:solidFill>
                    </a:lnR>
                    <a:lnT w="6350">
                      <a:solidFill>
                        <a:srgbClr val="E2E7F2"/>
                      </a:solidFill>
                    </a:lnT>
                    <a:lnB w="6350">
                      <a:solidFill>
                        <a:srgbClr val="E2E7F2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wrap="none"/>
                    <a:lstStyle/>
                    <a:p>
                      <a:pPr algn="r"/>
                      <a:r>
                        <a:rPr sz="850" b="0">
                          <a:solidFill>
                            <a:srgbClr val="595959"/>
                          </a:solidFill>
                          <a:latin typeface="Calibri"/>
                        </a:rPr>
                        <a:t>12%</a:t>
                      </a:r>
                    </a:p>
                  </a:txBody>
                  <a:tcPr anchor="ctr" marL="36576" marR="36576" marT="9144" marB="9144">
                    <a:lnL w="6350">
                      <a:solidFill>
                        <a:srgbClr val="E2E7F2"/>
                      </a:solidFill>
                    </a:lnL>
                    <a:lnR w="6350">
                      <a:solidFill>
                        <a:srgbClr val="E2E7F2"/>
                      </a:solidFill>
                    </a:lnR>
                    <a:lnT w="6350">
                      <a:solidFill>
                        <a:srgbClr val="E2E7F2"/>
                      </a:solidFill>
                    </a:lnT>
                    <a:lnB w="6350">
                      <a:solidFill>
                        <a:srgbClr val="E2E7F2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wrap="none"/>
                    <a:lstStyle/>
                    <a:p>
                      <a:pPr algn="r"/>
                      <a:r>
                        <a:rPr sz="850" b="0">
                          <a:solidFill>
                            <a:srgbClr val="26292E"/>
                          </a:solidFill>
                          <a:latin typeface="Calibri"/>
                        </a:rPr>
                        <a:t>1,325</a:t>
                      </a:r>
                    </a:p>
                  </a:txBody>
                  <a:tcPr anchor="ctr" marL="36576" marR="36576" marT="9144" marB="9144">
                    <a:lnL w="6350">
                      <a:solidFill>
                        <a:srgbClr val="E2E7F2"/>
                      </a:solidFill>
                    </a:lnL>
                    <a:lnR w="6350">
                      <a:solidFill>
                        <a:srgbClr val="E2E7F2"/>
                      </a:solidFill>
                    </a:lnR>
                    <a:lnT w="6350">
                      <a:solidFill>
                        <a:srgbClr val="E2E7F2"/>
                      </a:solidFill>
                    </a:lnT>
                    <a:lnB w="6350">
                      <a:solidFill>
                        <a:srgbClr val="E2E7F2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wrap="none"/>
                    <a:lstStyle/>
                    <a:p>
                      <a:pPr algn="r"/>
                      <a:r>
                        <a:rPr sz="850" b="0">
                          <a:solidFill>
                            <a:srgbClr val="26292E"/>
                          </a:solidFill>
                          <a:latin typeface="Calibri"/>
                        </a:rPr>
                        <a:t>1,295</a:t>
                      </a:r>
                    </a:p>
                  </a:txBody>
                  <a:tcPr anchor="ctr" marL="36576" marR="36576" marT="9144" marB="9144">
                    <a:lnL w="6350">
                      <a:solidFill>
                        <a:srgbClr val="E2E7F2"/>
                      </a:solidFill>
                    </a:lnL>
                    <a:lnR w="6350">
                      <a:solidFill>
                        <a:srgbClr val="E2E7F2"/>
                      </a:solidFill>
                    </a:lnR>
                    <a:lnT w="6350">
                      <a:solidFill>
                        <a:srgbClr val="E2E7F2"/>
                      </a:solidFill>
                    </a:lnT>
                    <a:lnB w="6350">
                      <a:solidFill>
                        <a:srgbClr val="E2E7F2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wrap="none"/>
                    <a:lstStyle/>
                    <a:p>
                      <a:pPr algn="r"/>
                      <a:r>
                        <a:rPr sz="850" b="1">
                          <a:solidFill>
                            <a:srgbClr val="C62828"/>
                          </a:solidFill>
                          <a:latin typeface="Calibri"/>
                        </a:rPr>
                        <a:t>-2.3%</a:t>
                      </a:r>
                    </a:p>
                  </a:txBody>
                  <a:tcPr anchor="ctr" marL="36576" marR="36576" marT="9144" marB="9144">
                    <a:lnL w="6350">
                      <a:solidFill>
                        <a:srgbClr val="E2E7F2"/>
                      </a:solidFill>
                    </a:lnL>
                    <a:lnR w="6350">
                      <a:solidFill>
                        <a:srgbClr val="E2E7F2"/>
                      </a:solidFill>
                    </a:lnR>
                    <a:lnT w="6350">
                      <a:solidFill>
                        <a:srgbClr val="E2E7F2"/>
                      </a:solidFill>
                    </a:lnT>
                    <a:lnB w="6350">
                      <a:solidFill>
                        <a:srgbClr val="E2E7F2"/>
                      </a:solidFill>
                    </a:lnB>
                    <a:solidFill>
                      <a:srgbClr val="FFFFFF"/>
                    </a:solidFill>
                  </a:tcPr>
                </a:tc>
              </a:tr>
              <a:tr h="187452">
                <a:tc>
                  <a:txBody>
                    <a:bodyPr wrap="none"/>
                    <a:lstStyle/>
                    <a:p>
                      <a:pPr algn="l"/>
                      <a:r>
                        <a:rPr sz="850" b="0">
                          <a:solidFill>
                            <a:srgbClr val="26292E"/>
                          </a:solidFill>
                          <a:latin typeface="Calibri"/>
                        </a:rPr>
                        <a:t>Corporate SS</a:t>
                      </a:r>
                    </a:p>
                  </a:txBody>
                  <a:tcPr anchor="ctr" marL="36576" marR="36576" marT="9144" marB="9144">
                    <a:lnL w="6350">
                      <a:solidFill>
                        <a:srgbClr val="E2E7F2"/>
                      </a:solidFill>
                    </a:lnL>
                    <a:lnR w="6350">
                      <a:solidFill>
                        <a:srgbClr val="E2E7F2"/>
                      </a:solidFill>
                    </a:lnR>
                    <a:lnT w="6350">
                      <a:solidFill>
                        <a:srgbClr val="E2E7F2"/>
                      </a:solidFill>
                    </a:lnT>
                    <a:lnB w="6350">
                      <a:solidFill>
                        <a:srgbClr val="E2E7F2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wrap="none"/>
                    <a:lstStyle/>
                    <a:p>
                      <a:pPr algn="r"/>
                      <a:r>
                        <a:rPr sz="850" b="0">
                          <a:solidFill>
                            <a:srgbClr val="595959"/>
                          </a:solidFill>
                          <a:latin typeface="Calibri"/>
                        </a:rPr>
                        <a:t>2%</a:t>
                      </a:r>
                    </a:p>
                  </a:txBody>
                  <a:tcPr anchor="ctr" marL="36576" marR="36576" marT="9144" marB="9144">
                    <a:lnL w="6350">
                      <a:solidFill>
                        <a:srgbClr val="E2E7F2"/>
                      </a:solidFill>
                    </a:lnL>
                    <a:lnR w="6350">
                      <a:solidFill>
                        <a:srgbClr val="E2E7F2"/>
                      </a:solidFill>
                    </a:lnR>
                    <a:lnT w="6350">
                      <a:solidFill>
                        <a:srgbClr val="E2E7F2"/>
                      </a:solidFill>
                    </a:lnT>
                    <a:lnB w="6350">
                      <a:solidFill>
                        <a:srgbClr val="E2E7F2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wrap="none"/>
                    <a:lstStyle/>
                    <a:p>
                      <a:pPr algn="r"/>
                      <a:r>
                        <a:rPr sz="850" b="0">
                          <a:solidFill>
                            <a:srgbClr val="595959"/>
                          </a:solidFill>
                          <a:latin typeface="Calibri"/>
                        </a:rPr>
                        <a:t>3%</a:t>
                      </a:r>
                    </a:p>
                  </a:txBody>
                  <a:tcPr anchor="ctr" marL="36576" marR="36576" marT="9144" marB="9144">
                    <a:lnL w="6350">
                      <a:solidFill>
                        <a:srgbClr val="E2E7F2"/>
                      </a:solidFill>
                    </a:lnL>
                    <a:lnR w="6350">
                      <a:solidFill>
                        <a:srgbClr val="E2E7F2"/>
                      </a:solidFill>
                    </a:lnR>
                    <a:lnT w="6350">
                      <a:solidFill>
                        <a:srgbClr val="E2E7F2"/>
                      </a:solidFill>
                    </a:lnT>
                    <a:lnB w="6350">
                      <a:solidFill>
                        <a:srgbClr val="E2E7F2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wrap="none"/>
                    <a:lstStyle/>
                    <a:p>
                      <a:pPr algn="r"/>
                      <a:r>
                        <a:rPr sz="850" b="0">
                          <a:solidFill>
                            <a:srgbClr val="26292E"/>
                          </a:solidFill>
                          <a:latin typeface="Calibri"/>
                        </a:rPr>
                        <a:t>1,279</a:t>
                      </a:r>
                    </a:p>
                  </a:txBody>
                  <a:tcPr anchor="ctr" marL="36576" marR="36576" marT="9144" marB="9144">
                    <a:lnL w="6350">
                      <a:solidFill>
                        <a:srgbClr val="E2E7F2"/>
                      </a:solidFill>
                    </a:lnL>
                    <a:lnR w="6350">
                      <a:solidFill>
                        <a:srgbClr val="E2E7F2"/>
                      </a:solidFill>
                    </a:lnR>
                    <a:lnT w="6350">
                      <a:solidFill>
                        <a:srgbClr val="E2E7F2"/>
                      </a:solidFill>
                    </a:lnT>
                    <a:lnB w="6350">
                      <a:solidFill>
                        <a:srgbClr val="E2E7F2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wrap="none"/>
                    <a:lstStyle/>
                    <a:p>
                      <a:pPr algn="r"/>
                      <a:r>
                        <a:rPr sz="850" b="0">
                          <a:solidFill>
                            <a:srgbClr val="26292E"/>
                          </a:solidFill>
                          <a:latin typeface="Calibri"/>
                        </a:rPr>
                        <a:t>1,369</a:t>
                      </a:r>
                    </a:p>
                  </a:txBody>
                  <a:tcPr anchor="ctr" marL="36576" marR="36576" marT="9144" marB="9144">
                    <a:lnL w="6350">
                      <a:solidFill>
                        <a:srgbClr val="E2E7F2"/>
                      </a:solidFill>
                    </a:lnL>
                    <a:lnR w="6350">
                      <a:solidFill>
                        <a:srgbClr val="E2E7F2"/>
                      </a:solidFill>
                    </a:lnR>
                    <a:lnT w="6350">
                      <a:solidFill>
                        <a:srgbClr val="E2E7F2"/>
                      </a:solidFill>
                    </a:lnT>
                    <a:lnB w="6350">
                      <a:solidFill>
                        <a:srgbClr val="E2E7F2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wrap="none"/>
                    <a:lstStyle/>
                    <a:p>
                      <a:pPr algn="r"/>
                      <a:r>
                        <a:rPr sz="850" b="1">
                          <a:solidFill>
                            <a:srgbClr val="1E7B34"/>
                          </a:solidFill>
                          <a:latin typeface="Calibri"/>
                        </a:rPr>
                        <a:t>+7.0%</a:t>
                      </a:r>
                    </a:p>
                  </a:txBody>
                  <a:tcPr anchor="ctr" marL="36576" marR="36576" marT="9144" marB="9144">
                    <a:lnL w="6350">
                      <a:solidFill>
                        <a:srgbClr val="E2E7F2"/>
                      </a:solidFill>
                    </a:lnL>
                    <a:lnR w="6350">
                      <a:solidFill>
                        <a:srgbClr val="E2E7F2"/>
                      </a:solidFill>
                    </a:lnR>
                    <a:lnT w="6350">
                      <a:solidFill>
                        <a:srgbClr val="E2E7F2"/>
                      </a:solidFill>
                    </a:lnT>
                    <a:lnB w="6350">
                      <a:solidFill>
                        <a:srgbClr val="E2E7F2"/>
                      </a:solidFill>
                    </a:lnB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  <p:sp>
        <p:nvSpPr>
          <p:cNvPr id="12" name="TextBox 11"/>
          <p:cNvSpPr txBox="1"/>
          <p:nvPr/>
        </p:nvSpPr>
        <p:spPr>
          <a:xfrm>
            <a:off x="6336792" y="4041648"/>
            <a:ext cx="5303520" cy="237744"/>
          </a:xfrm>
          <a:prstGeom prst="rect">
            <a:avLst/>
          </a:prstGeom>
          <a:noFill/>
        </p:spPr>
        <p:txBody>
          <a:bodyPr wrap="none" lIns="0" tIns="0" bIns="0">
            <a:spAutoFit/>
          </a:bodyPr>
          <a:lstStyle/>
          <a:p>
            <a:r>
              <a:rPr sz="1100" b="1">
                <a:solidFill>
                  <a:srgbClr val="1E2761"/>
                </a:solidFill>
                <a:latin typeface="Calibri"/>
              </a:rPr>
              <a:t>Somerset Pattaya (SP)</a:t>
            </a:r>
          </a:p>
        </p:txBody>
      </p:sp>
      <p:graphicFrame>
        <p:nvGraphicFramePr>
          <p:cNvPr id="13" name="Table 12"/>
          <p:cNvGraphicFramePr>
            <a:graphicFrameLocks noGrp="1"/>
          </p:cNvGraphicFramePr>
          <p:nvPr/>
        </p:nvGraphicFramePr>
        <p:xfrm>
          <a:off x="6336792" y="4315968"/>
          <a:ext cx="5303520" cy="1312163"/>
        </p:xfrm>
        <a:graphic>
          <a:graphicData uri="http://schemas.openxmlformats.org/drawingml/2006/table">
            <a:tbl>
              <a:tblPr>
                <a:tableStyleId>{5C22544A-7EE6-4342-B048-85BDC9FD1C3A}</a:tableStyleId>
              </a:tblPr>
              <a:tblGrid>
                <a:gridCol w="1417320"/>
                <a:gridCol w="731520"/>
                <a:gridCol w="731520"/>
                <a:gridCol w="841248"/>
                <a:gridCol w="841248"/>
                <a:gridCol w="740664"/>
              </a:tblGrid>
              <a:tr h="187452">
                <a:tc>
                  <a:txBody>
                    <a:bodyPr wrap="none"/>
                    <a:lstStyle/>
                    <a:p>
                      <a:pPr algn="l"/>
                      <a:r>
                        <a:rPr sz="800" b="1">
                          <a:solidFill>
                            <a:srgbClr val="FFFFFF"/>
                          </a:solidFill>
                          <a:latin typeface="Calibri"/>
                        </a:rPr>
                        <a:t>Segment</a:t>
                      </a:r>
                    </a:p>
                  </a:txBody>
                  <a:tcPr anchor="ctr" marL="36576" marR="36576" marT="9144" marB="9144">
                    <a:lnL w="6350">
                      <a:solidFill>
                        <a:srgbClr val="E2E7F2"/>
                      </a:solidFill>
                    </a:lnL>
                    <a:lnR w="6350">
                      <a:solidFill>
                        <a:srgbClr val="E2E7F2"/>
                      </a:solidFill>
                    </a:lnR>
                    <a:lnT w="6350">
                      <a:solidFill>
                        <a:srgbClr val="E2E7F2"/>
                      </a:solidFill>
                    </a:lnT>
                    <a:lnB w="6350">
                      <a:solidFill>
                        <a:srgbClr val="E2E7F2"/>
                      </a:solidFill>
                    </a:lnB>
                    <a:solidFill>
                      <a:srgbClr val="1E2761"/>
                    </a:solidFill>
                  </a:tcPr>
                </a:tc>
                <a:tc>
                  <a:txBody>
                    <a:bodyPr wrap="none"/>
                    <a:lstStyle/>
                    <a:p>
                      <a:pPr algn="r"/>
                      <a:r>
                        <a:rPr sz="800" b="1">
                          <a:solidFill>
                            <a:srgbClr val="FFFFFF"/>
                          </a:solidFill>
                          <a:latin typeface="Calibri"/>
                        </a:rPr>
                        <a:t>% rooms 25</a:t>
                      </a:r>
                    </a:p>
                  </a:txBody>
                  <a:tcPr anchor="ctr" marL="36576" marR="36576" marT="9144" marB="9144">
                    <a:lnL w="6350">
                      <a:solidFill>
                        <a:srgbClr val="E2E7F2"/>
                      </a:solidFill>
                    </a:lnL>
                    <a:lnR w="6350">
                      <a:solidFill>
                        <a:srgbClr val="E2E7F2"/>
                      </a:solidFill>
                    </a:lnR>
                    <a:lnT w="6350">
                      <a:solidFill>
                        <a:srgbClr val="E2E7F2"/>
                      </a:solidFill>
                    </a:lnT>
                    <a:lnB w="6350">
                      <a:solidFill>
                        <a:srgbClr val="E2E7F2"/>
                      </a:solidFill>
                    </a:lnB>
                    <a:solidFill>
                      <a:srgbClr val="1E2761"/>
                    </a:solidFill>
                  </a:tcPr>
                </a:tc>
                <a:tc>
                  <a:txBody>
                    <a:bodyPr wrap="none"/>
                    <a:lstStyle/>
                    <a:p>
                      <a:pPr algn="r"/>
                      <a:r>
                        <a:rPr sz="800" b="1">
                          <a:solidFill>
                            <a:srgbClr val="FFFFFF"/>
                          </a:solidFill>
                          <a:latin typeface="Calibri"/>
                        </a:rPr>
                        <a:t>% rooms 26</a:t>
                      </a:r>
                    </a:p>
                  </a:txBody>
                  <a:tcPr anchor="ctr" marL="36576" marR="36576" marT="9144" marB="9144">
                    <a:lnL w="6350">
                      <a:solidFill>
                        <a:srgbClr val="E2E7F2"/>
                      </a:solidFill>
                    </a:lnL>
                    <a:lnR w="6350">
                      <a:solidFill>
                        <a:srgbClr val="E2E7F2"/>
                      </a:solidFill>
                    </a:lnR>
                    <a:lnT w="6350">
                      <a:solidFill>
                        <a:srgbClr val="E2E7F2"/>
                      </a:solidFill>
                    </a:lnT>
                    <a:lnB w="6350">
                      <a:solidFill>
                        <a:srgbClr val="E2E7F2"/>
                      </a:solidFill>
                    </a:lnB>
                    <a:solidFill>
                      <a:srgbClr val="1E2761"/>
                    </a:solidFill>
                  </a:tcPr>
                </a:tc>
                <a:tc>
                  <a:txBody>
                    <a:bodyPr wrap="none"/>
                    <a:lstStyle/>
                    <a:p>
                      <a:pPr algn="r"/>
                      <a:r>
                        <a:rPr sz="800" b="1">
                          <a:solidFill>
                            <a:srgbClr val="FFFFFF"/>
                          </a:solidFill>
                          <a:latin typeface="Calibri"/>
                        </a:rPr>
                        <a:t>ADR H1 '25</a:t>
                      </a:r>
                    </a:p>
                  </a:txBody>
                  <a:tcPr anchor="ctr" marL="36576" marR="36576" marT="9144" marB="9144">
                    <a:lnL w="6350">
                      <a:solidFill>
                        <a:srgbClr val="E2E7F2"/>
                      </a:solidFill>
                    </a:lnL>
                    <a:lnR w="6350">
                      <a:solidFill>
                        <a:srgbClr val="E2E7F2"/>
                      </a:solidFill>
                    </a:lnR>
                    <a:lnT w="6350">
                      <a:solidFill>
                        <a:srgbClr val="E2E7F2"/>
                      </a:solidFill>
                    </a:lnT>
                    <a:lnB w="6350">
                      <a:solidFill>
                        <a:srgbClr val="E2E7F2"/>
                      </a:solidFill>
                    </a:lnB>
                    <a:solidFill>
                      <a:srgbClr val="1E2761"/>
                    </a:solidFill>
                  </a:tcPr>
                </a:tc>
                <a:tc>
                  <a:txBody>
                    <a:bodyPr wrap="none"/>
                    <a:lstStyle/>
                    <a:p>
                      <a:pPr algn="r"/>
                      <a:r>
                        <a:rPr sz="800" b="1">
                          <a:solidFill>
                            <a:srgbClr val="FFFFFF"/>
                          </a:solidFill>
                          <a:latin typeface="Calibri"/>
                        </a:rPr>
                        <a:t>ADR H1 '26</a:t>
                      </a:r>
                    </a:p>
                  </a:txBody>
                  <a:tcPr anchor="ctr" marL="36576" marR="36576" marT="9144" marB="9144">
                    <a:lnL w="6350">
                      <a:solidFill>
                        <a:srgbClr val="E2E7F2"/>
                      </a:solidFill>
                    </a:lnL>
                    <a:lnR w="6350">
                      <a:solidFill>
                        <a:srgbClr val="E2E7F2"/>
                      </a:solidFill>
                    </a:lnR>
                    <a:lnT w="6350">
                      <a:solidFill>
                        <a:srgbClr val="E2E7F2"/>
                      </a:solidFill>
                    </a:lnT>
                    <a:lnB w="6350">
                      <a:solidFill>
                        <a:srgbClr val="E2E7F2"/>
                      </a:solidFill>
                    </a:lnB>
                    <a:solidFill>
                      <a:srgbClr val="1E2761"/>
                    </a:solidFill>
                  </a:tcPr>
                </a:tc>
                <a:tc>
                  <a:txBody>
                    <a:bodyPr wrap="none"/>
                    <a:lstStyle/>
                    <a:p>
                      <a:pPr algn="r"/>
                      <a:r>
                        <a:rPr sz="800" b="1">
                          <a:solidFill>
                            <a:srgbClr val="FFFFFF"/>
                          </a:solidFill>
                          <a:latin typeface="Calibri"/>
                        </a:rPr>
                        <a:t>ADR chg</a:t>
                      </a:r>
                    </a:p>
                  </a:txBody>
                  <a:tcPr anchor="ctr" marL="36576" marR="36576" marT="9144" marB="9144">
                    <a:lnL w="6350">
                      <a:solidFill>
                        <a:srgbClr val="E2E7F2"/>
                      </a:solidFill>
                    </a:lnL>
                    <a:lnR w="6350">
                      <a:solidFill>
                        <a:srgbClr val="E2E7F2"/>
                      </a:solidFill>
                    </a:lnR>
                    <a:lnT w="6350">
                      <a:solidFill>
                        <a:srgbClr val="E2E7F2"/>
                      </a:solidFill>
                    </a:lnT>
                    <a:lnB w="6350">
                      <a:solidFill>
                        <a:srgbClr val="E2E7F2"/>
                      </a:solidFill>
                    </a:lnB>
                    <a:solidFill>
                      <a:srgbClr val="1E2761"/>
                    </a:solidFill>
                  </a:tcPr>
                </a:tc>
              </a:tr>
              <a:tr h="187452">
                <a:tc>
                  <a:txBody>
                    <a:bodyPr wrap="none"/>
                    <a:lstStyle/>
                    <a:p>
                      <a:pPr algn="l"/>
                      <a:r>
                        <a:rPr sz="850" b="0">
                          <a:solidFill>
                            <a:srgbClr val="26292E"/>
                          </a:solidFill>
                          <a:latin typeface="Calibri"/>
                        </a:rPr>
                        <a:t>Wholesale</a:t>
                      </a:r>
                    </a:p>
                  </a:txBody>
                  <a:tcPr anchor="ctr" marL="36576" marR="36576" marT="9144" marB="9144">
                    <a:lnL w="6350">
                      <a:solidFill>
                        <a:srgbClr val="E2E7F2"/>
                      </a:solidFill>
                    </a:lnL>
                    <a:lnR w="6350">
                      <a:solidFill>
                        <a:srgbClr val="E2E7F2"/>
                      </a:solidFill>
                    </a:lnR>
                    <a:lnT w="6350">
                      <a:solidFill>
                        <a:srgbClr val="E2E7F2"/>
                      </a:solidFill>
                    </a:lnT>
                    <a:lnB w="6350">
                      <a:solidFill>
                        <a:srgbClr val="E2E7F2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wrap="none"/>
                    <a:lstStyle/>
                    <a:p>
                      <a:pPr algn="r"/>
                      <a:r>
                        <a:rPr sz="850" b="0">
                          <a:solidFill>
                            <a:srgbClr val="595959"/>
                          </a:solidFill>
                          <a:latin typeface="Calibri"/>
                        </a:rPr>
                        <a:t>47%</a:t>
                      </a:r>
                    </a:p>
                  </a:txBody>
                  <a:tcPr anchor="ctr" marL="36576" marR="36576" marT="9144" marB="9144">
                    <a:lnL w="6350">
                      <a:solidFill>
                        <a:srgbClr val="E2E7F2"/>
                      </a:solidFill>
                    </a:lnL>
                    <a:lnR w="6350">
                      <a:solidFill>
                        <a:srgbClr val="E2E7F2"/>
                      </a:solidFill>
                    </a:lnR>
                    <a:lnT w="6350">
                      <a:solidFill>
                        <a:srgbClr val="E2E7F2"/>
                      </a:solidFill>
                    </a:lnT>
                    <a:lnB w="6350">
                      <a:solidFill>
                        <a:srgbClr val="E2E7F2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wrap="none"/>
                    <a:lstStyle/>
                    <a:p>
                      <a:pPr algn="r"/>
                      <a:r>
                        <a:rPr sz="850" b="0">
                          <a:solidFill>
                            <a:srgbClr val="595959"/>
                          </a:solidFill>
                          <a:latin typeface="Calibri"/>
                        </a:rPr>
                        <a:t>45%</a:t>
                      </a:r>
                    </a:p>
                  </a:txBody>
                  <a:tcPr anchor="ctr" marL="36576" marR="36576" marT="9144" marB="9144">
                    <a:lnL w="6350">
                      <a:solidFill>
                        <a:srgbClr val="E2E7F2"/>
                      </a:solidFill>
                    </a:lnL>
                    <a:lnR w="6350">
                      <a:solidFill>
                        <a:srgbClr val="E2E7F2"/>
                      </a:solidFill>
                    </a:lnR>
                    <a:lnT w="6350">
                      <a:solidFill>
                        <a:srgbClr val="E2E7F2"/>
                      </a:solidFill>
                    </a:lnT>
                    <a:lnB w="6350">
                      <a:solidFill>
                        <a:srgbClr val="E2E7F2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wrap="none"/>
                    <a:lstStyle/>
                    <a:p>
                      <a:pPr algn="r"/>
                      <a:r>
                        <a:rPr sz="850" b="0">
                          <a:solidFill>
                            <a:srgbClr val="26292E"/>
                          </a:solidFill>
                          <a:latin typeface="Calibri"/>
                        </a:rPr>
                        <a:t>3,323</a:t>
                      </a:r>
                    </a:p>
                  </a:txBody>
                  <a:tcPr anchor="ctr" marL="36576" marR="36576" marT="9144" marB="9144">
                    <a:lnL w="6350">
                      <a:solidFill>
                        <a:srgbClr val="E2E7F2"/>
                      </a:solidFill>
                    </a:lnL>
                    <a:lnR w="6350">
                      <a:solidFill>
                        <a:srgbClr val="E2E7F2"/>
                      </a:solidFill>
                    </a:lnR>
                    <a:lnT w="6350">
                      <a:solidFill>
                        <a:srgbClr val="E2E7F2"/>
                      </a:solidFill>
                    </a:lnT>
                    <a:lnB w="6350">
                      <a:solidFill>
                        <a:srgbClr val="E2E7F2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wrap="none"/>
                    <a:lstStyle/>
                    <a:p>
                      <a:pPr algn="r"/>
                      <a:r>
                        <a:rPr sz="850" b="0">
                          <a:solidFill>
                            <a:srgbClr val="26292E"/>
                          </a:solidFill>
                          <a:latin typeface="Calibri"/>
                        </a:rPr>
                        <a:t>2,954</a:t>
                      </a:r>
                    </a:p>
                  </a:txBody>
                  <a:tcPr anchor="ctr" marL="36576" marR="36576" marT="9144" marB="9144">
                    <a:lnL w="6350">
                      <a:solidFill>
                        <a:srgbClr val="E2E7F2"/>
                      </a:solidFill>
                    </a:lnL>
                    <a:lnR w="6350">
                      <a:solidFill>
                        <a:srgbClr val="E2E7F2"/>
                      </a:solidFill>
                    </a:lnR>
                    <a:lnT w="6350">
                      <a:solidFill>
                        <a:srgbClr val="E2E7F2"/>
                      </a:solidFill>
                    </a:lnT>
                    <a:lnB w="6350">
                      <a:solidFill>
                        <a:srgbClr val="E2E7F2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wrap="none"/>
                    <a:lstStyle/>
                    <a:p>
                      <a:pPr algn="r"/>
                      <a:r>
                        <a:rPr sz="850" b="1">
                          <a:solidFill>
                            <a:srgbClr val="C62828"/>
                          </a:solidFill>
                          <a:latin typeface="Calibri"/>
                        </a:rPr>
                        <a:t>-11.1%</a:t>
                      </a:r>
                    </a:p>
                  </a:txBody>
                  <a:tcPr anchor="ctr" marL="36576" marR="36576" marT="9144" marB="9144">
                    <a:lnL w="6350">
                      <a:solidFill>
                        <a:srgbClr val="E2E7F2"/>
                      </a:solidFill>
                    </a:lnL>
                    <a:lnR w="6350">
                      <a:solidFill>
                        <a:srgbClr val="E2E7F2"/>
                      </a:solidFill>
                    </a:lnR>
                    <a:lnT w="6350">
                      <a:solidFill>
                        <a:srgbClr val="E2E7F2"/>
                      </a:solidFill>
                    </a:lnT>
                    <a:lnB w="6350">
                      <a:solidFill>
                        <a:srgbClr val="E2E7F2"/>
                      </a:solidFill>
                    </a:lnB>
                    <a:solidFill>
                      <a:srgbClr val="FFFFFF"/>
                    </a:solidFill>
                  </a:tcPr>
                </a:tc>
              </a:tr>
              <a:tr h="187452">
                <a:tc>
                  <a:txBody>
                    <a:bodyPr wrap="none"/>
                    <a:lstStyle/>
                    <a:p>
                      <a:pPr algn="l"/>
                      <a:r>
                        <a:rPr sz="850" b="1">
                          <a:solidFill>
                            <a:srgbClr val="26292E"/>
                          </a:solidFill>
                          <a:latin typeface="Calibri"/>
                        </a:rPr>
                        <a:t>Online (dynamic)</a:t>
                      </a:r>
                    </a:p>
                  </a:txBody>
                  <a:tcPr anchor="ctr" marL="36576" marR="36576" marT="9144" marB="9144">
                    <a:lnL w="6350">
                      <a:solidFill>
                        <a:srgbClr val="E2E7F2"/>
                      </a:solidFill>
                    </a:lnL>
                    <a:lnR w="6350">
                      <a:solidFill>
                        <a:srgbClr val="E2E7F2"/>
                      </a:solidFill>
                    </a:lnR>
                    <a:lnT w="6350">
                      <a:solidFill>
                        <a:srgbClr val="E2E7F2"/>
                      </a:solidFill>
                    </a:lnT>
                    <a:lnB w="6350">
                      <a:solidFill>
                        <a:srgbClr val="E2E7F2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wrap="none"/>
                    <a:lstStyle/>
                    <a:p>
                      <a:pPr algn="r"/>
                      <a:r>
                        <a:rPr sz="850" b="0">
                          <a:solidFill>
                            <a:srgbClr val="595959"/>
                          </a:solidFill>
                          <a:latin typeface="Calibri"/>
                        </a:rPr>
                        <a:t>30%</a:t>
                      </a:r>
                    </a:p>
                  </a:txBody>
                  <a:tcPr anchor="ctr" marL="36576" marR="36576" marT="9144" marB="9144">
                    <a:lnL w="6350">
                      <a:solidFill>
                        <a:srgbClr val="E2E7F2"/>
                      </a:solidFill>
                    </a:lnL>
                    <a:lnR w="6350">
                      <a:solidFill>
                        <a:srgbClr val="E2E7F2"/>
                      </a:solidFill>
                    </a:lnR>
                    <a:lnT w="6350">
                      <a:solidFill>
                        <a:srgbClr val="E2E7F2"/>
                      </a:solidFill>
                    </a:lnT>
                    <a:lnB w="6350">
                      <a:solidFill>
                        <a:srgbClr val="E2E7F2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wrap="none"/>
                    <a:lstStyle/>
                    <a:p>
                      <a:pPr algn="r"/>
                      <a:r>
                        <a:rPr sz="850" b="0">
                          <a:solidFill>
                            <a:srgbClr val="595959"/>
                          </a:solidFill>
                          <a:latin typeface="Calibri"/>
                        </a:rPr>
                        <a:t>29%</a:t>
                      </a:r>
                    </a:p>
                  </a:txBody>
                  <a:tcPr anchor="ctr" marL="36576" marR="36576" marT="9144" marB="9144">
                    <a:lnL w="6350">
                      <a:solidFill>
                        <a:srgbClr val="E2E7F2"/>
                      </a:solidFill>
                    </a:lnL>
                    <a:lnR w="6350">
                      <a:solidFill>
                        <a:srgbClr val="E2E7F2"/>
                      </a:solidFill>
                    </a:lnR>
                    <a:lnT w="6350">
                      <a:solidFill>
                        <a:srgbClr val="E2E7F2"/>
                      </a:solidFill>
                    </a:lnT>
                    <a:lnB w="6350">
                      <a:solidFill>
                        <a:srgbClr val="E2E7F2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wrap="none"/>
                    <a:lstStyle/>
                    <a:p>
                      <a:pPr algn="r"/>
                      <a:r>
                        <a:rPr sz="850" b="0">
                          <a:solidFill>
                            <a:srgbClr val="26292E"/>
                          </a:solidFill>
                          <a:latin typeface="Calibri"/>
                        </a:rPr>
                        <a:t>4,940</a:t>
                      </a:r>
                    </a:p>
                  </a:txBody>
                  <a:tcPr anchor="ctr" marL="36576" marR="36576" marT="9144" marB="9144">
                    <a:lnL w="6350">
                      <a:solidFill>
                        <a:srgbClr val="E2E7F2"/>
                      </a:solidFill>
                    </a:lnL>
                    <a:lnR w="6350">
                      <a:solidFill>
                        <a:srgbClr val="E2E7F2"/>
                      </a:solidFill>
                    </a:lnR>
                    <a:lnT w="6350">
                      <a:solidFill>
                        <a:srgbClr val="E2E7F2"/>
                      </a:solidFill>
                    </a:lnT>
                    <a:lnB w="6350">
                      <a:solidFill>
                        <a:srgbClr val="E2E7F2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wrap="none"/>
                    <a:lstStyle/>
                    <a:p>
                      <a:pPr algn="r"/>
                      <a:r>
                        <a:rPr sz="850" b="0">
                          <a:solidFill>
                            <a:srgbClr val="26292E"/>
                          </a:solidFill>
                          <a:latin typeface="Calibri"/>
                        </a:rPr>
                        <a:t>4,145</a:t>
                      </a:r>
                    </a:p>
                  </a:txBody>
                  <a:tcPr anchor="ctr" marL="36576" marR="36576" marT="9144" marB="9144">
                    <a:lnL w="6350">
                      <a:solidFill>
                        <a:srgbClr val="E2E7F2"/>
                      </a:solidFill>
                    </a:lnL>
                    <a:lnR w="6350">
                      <a:solidFill>
                        <a:srgbClr val="E2E7F2"/>
                      </a:solidFill>
                    </a:lnR>
                    <a:lnT w="6350">
                      <a:solidFill>
                        <a:srgbClr val="E2E7F2"/>
                      </a:solidFill>
                    </a:lnT>
                    <a:lnB w="6350">
                      <a:solidFill>
                        <a:srgbClr val="E2E7F2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wrap="none"/>
                    <a:lstStyle/>
                    <a:p>
                      <a:pPr algn="r"/>
                      <a:r>
                        <a:rPr sz="850" b="1">
                          <a:solidFill>
                            <a:srgbClr val="C62828"/>
                          </a:solidFill>
                          <a:latin typeface="Calibri"/>
                        </a:rPr>
                        <a:t>-16.1%</a:t>
                      </a:r>
                    </a:p>
                  </a:txBody>
                  <a:tcPr anchor="ctr" marL="36576" marR="36576" marT="9144" marB="9144">
                    <a:lnL w="6350">
                      <a:solidFill>
                        <a:srgbClr val="E2E7F2"/>
                      </a:solidFill>
                    </a:lnL>
                    <a:lnR w="6350">
                      <a:solidFill>
                        <a:srgbClr val="E2E7F2"/>
                      </a:solidFill>
                    </a:lnR>
                    <a:lnT w="6350">
                      <a:solidFill>
                        <a:srgbClr val="E2E7F2"/>
                      </a:solidFill>
                    </a:lnT>
                    <a:lnB w="6350">
                      <a:solidFill>
                        <a:srgbClr val="E2E7F2"/>
                      </a:solidFill>
                    </a:lnB>
                    <a:solidFill>
                      <a:srgbClr val="FFFFFF"/>
                    </a:solidFill>
                  </a:tcPr>
                </a:tc>
              </a:tr>
              <a:tr h="187452">
                <a:tc>
                  <a:txBody>
                    <a:bodyPr wrap="none"/>
                    <a:lstStyle/>
                    <a:p>
                      <a:pPr algn="l"/>
                      <a:r>
                        <a:rPr sz="850" b="0">
                          <a:solidFill>
                            <a:srgbClr val="26292E"/>
                          </a:solidFill>
                          <a:latin typeface="Calibri"/>
                        </a:rPr>
                        <a:t>ASR</a:t>
                      </a:r>
                    </a:p>
                  </a:txBody>
                  <a:tcPr anchor="ctr" marL="36576" marR="36576" marT="9144" marB="9144">
                    <a:lnL w="6350">
                      <a:solidFill>
                        <a:srgbClr val="E2E7F2"/>
                      </a:solidFill>
                    </a:lnL>
                    <a:lnR w="6350">
                      <a:solidFill>
                        <a:srgbClr val="E2E7F2"/>
                      </a:solidFill>
                    </a:lnR>
                    <a:lnT w="6350">
                      <a:solidFill>
                        <a:srgbClr val="E2E7F2"/>
                      </a:solidFill>
                    </a:lnT>
                    <a:lnB w="6350">
                      <a:solidFill>
                        <a:srgbClr val="E2E7F2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wrap="none"/>
                    <a:lstStyle/>
                    <a:p>
                      <a:pPr algn="r"/>
                      <a:r>
                        <a:rPr sz="850" b="0">
                          <a:solidFill>
                            <a:srgbClr val="595959"/>
                          </a:solidFill>
                          <a:latin typeface="Calibri"/>
                        </a:rPr>
                        <a:t>11%</a:t>
                      </a:r>
                    </a:p>
                  </a:txBody>
                  <a:tcPr anchor="ctr" marL="36576" marR="36576" marT="9144" marB="9144">
                    <a:lnL w="6350">
                      <a:solidFill>
                        <a:srgbClr val="E2E7F2"/>
                      </a:solidFill>
                    </a:lnL>
                    <a:lnR w="6350">
                      <a:solidFill>
                        <a:srgbClr val="E2E7F2"/>
                      </a:solidFill>
                    </a:lnR>
                    <a:lnT w="6350">
                      <a:solidFill>
                        <a:srgbClr val="E2E7F2"/>
                      </a:solidFill>
                    </a:lnT>
                    <a:lnB w="6350">
                      <a:solidFill>
                        <a:srgbClr val="E2E7F2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wrap="none"/>
                    <a:lstStyle/>
                    <a:p>
                      <a:pPr algn="r"/>
                      <a:r>
                        <a:rPr sz="850" b="0">
                          <a:solidFill>
                            <a:srgbClr val="595959"/>
                          </a:solidFill>
                          <a:latin typeface="Calibri"/>
                        </a:rPr>
                        <a:t>15%</a:t>
                      </a:r>
                    </a:p>
                  </a:txBody>
                  <a:tcPr anchor="ctr" marL="36576" marR="36576" marT="9144" marB="9144">
                    <a:lnL w="6350">
                      <a:solidFill>
                        <a:srgbClr val="E2E7F2"/>
                      </a:solidFill>
                    </a:lnL>
                    <a:lnR w="6350">
                      <a:solidFill>
                        <a:srgbClr val="E2E7F2"/>
                      </a:solidFill>
                    </a:lnR>
                    <a:lnT w="6350">
                      <a:solidFill>
                        <a:srgbClr val="E2E7F2"/>
                      </a:solidFill>
                    </a:lnT>
                    <a:lnB w="6350">
                      <a:solidFill>
                        <a:srgbClr val="E2E7F2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wrap="none"/>
                    <a:lstStyle/>
                    <a:p>
                      <a:pPr algn="r"/>
                      <a:r>
                        <a:rPr sz="850" b="0">
                          <a:solidFill>
                            <a:srgbClr val="26292E"/>
                          </a:solidFill>
                          <a:latin typeface="Calibri"/>
                        </a:rPr>
                        <a:t>4,640</a:t>
                      </a:r>
                    </a:p>
                  </a:txBody>
                  <a:tcPr anchor="ctr" marL="36576" marR="36576" marT="9144" marB="9144">
                    <a:lnL w="6350">
                      <a:solidFill>
                        <a:srgbClr val="E2E7F2"/>
                      </a:solidFill>
                    </a:lnL>
                    <a:lnR w="6350">
                      <a:solidFill>
                        <a:srgbClr val="E2E7F2"/>
                      </a:solidFill>
                    </a:lnR>
                    <a:lnT w="6350">
                      <a:solidFill>
                        <a:srgbClr val="E2E7F2"/>
                      </a:solidFill>
                    </a:lnT>
                    <a:lnB w="6350">
                      <a:solidFill>
                        <a:srgbClr val="E2E7F2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wrap="none"/>
                    <a:lstStyle/>
                    <a:p>
                      <a:pPr algn="r"/>
                      <a:r>
                        <a:rPr sz="850" b="0">
                          <a:solidFill>
                            <a:srgbClr val="26292E"/>
                          </a:solidFill>
                          <a:latin typeface="Calibri"/>
                        </a:rPr>
                        <a:t>4,382</a:t>
                      </a:r>
                    </a:p>
                  </a:txBody>
                  <a:tcPr anchor="ctr" marL="36576" marR="36576" marT="9144" marB="9144">
                    <a:lnL w="6350">
                      <a:solidFill>
                        <a:srgbClr val="E2E7F2"/>
                      </a:solidFill>
                    </a:lnL>
                    <a:lnR w="6350">
                      <a:solidFill>
                        <a:srgbClr val="E2E7F2"/>
                      </a:solidFill>
                    </a:lnR>
                    <a:lnT w="6350">
                      <a:solidFill>
                        <a:srgbClr val="E2E7F2"/>
                      </a:solidFill>
                    </a:lnT>
                    <a:lnB w="6350">
                      <a:solidFill>
                        <a:srgbClr val="E2E7F2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wrap="none"/>
                    <a:lstStyle/>
                    <a:p>
                      <a:pPr algn="r"/>
                      <a:r>
                        <a:rPr sz="850" b="1">
                          <a:solidFill>
                            <a:srgbClr val="C62828"/>
                          </a:solidFill>
                          <a:latin typeface="Calibri"/>
                        </a:rPr>
                        <a:t>-5.5%</a:t>
                      </a:r>
                    </a:p>
                  </a:txBody>
                  <a:tcPr anchor="ctr" marL="36576" marR="36576" marT="9144" marB="9144">
                    <a:lnL w="6350">
                      <a:solidFill>
                        <a:srgbClr val="E2E7F2"/>
                      </a:solidFill>
                    </a:lnL>
                    <a:lnR w="6350">
                      <a:solidFill>
                        <a:srgbClr val="E2E7F2"/>
                      </a:solidFill>
                    </a:lnR>
                    <a:lnT w="6350">
                      <a:solidFill>
                        <a:srgbClr val="E2E7F2"/>
                      </a:solidFill>
                    </a:lnT>
                    <a:lnB w="6350">
                      <a:solidFill>
                        <a:srgbClr val="E2E7F2"/>
                      </a:solidFill>
                    </a:lnB>
                    <a:solidFill>
                      <a:srgbClr val="FFFFFF"/>
                    </a:solidFill>
                  </a:tcPr>
                </a:tc>
              </a:tr>
              <a:tr h="187452">
                <a:tc>
                  <a:txBody>
                    <a:bodyPr wrap="none"/>
                    <a:lstStyle/>
                    <a:p>
                      <a:pPr algn="l"/>
                      <a:r>
                        <a:rPr sz="850" b="0">
                          <a:solidFill>
                            <a:srgbClr val="26292E"/>
                          </a:solidFill>
                          <a:latin typeface="Calibri"/>
                        </a:rPr>
                        <a:t>Corporate LS</a:t>
                      </a:r>
                    </a:p>
                  </a:txBody>
                  <a:tcPr anchor="ctr" marL="36576" marR="36576" marT="9144" marB="9144">
                    <a:lnL w="6350">
                      <a:solidFill>
                        <a:srgbClr val="E2E7F2"/>
                      </a:solidFill>
                    </a:lnL>
                    <a:lnR w="6350">
                      <a:solidFill>
                        <a:srgbClr val="E2E7F2"/>
                      </a:solidFill>
                    </a:lnR>
                    <a:lnT w="6350">
                      <a:solidFill>
                        <a:srgbClr val="E2E7F2"/>
                      </a:solidFill>
                    </a:lnT>
                    <a:lnB w="6350">
                      <a:solidFill>
                        <a:srgbClr val="E2E7F2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wrap="none"/>
                    <a:lstStyle/>
                    <a:p>
                      <a:pPr algn="r"/>
                      <a:r>
                        <a:rPr sz="850" b="0">
                          <a:solidFill>
                            <a:srgbClr val="595959"/>
                          </a:solidFill>
                          <a:latin typeface="Calibri"/>
                        </a:rPr>
                        <a:t>6%</a:t>
                      </a:r>
                    </a:p>
                  </a:txBody>
                  <a:tcPr anchor="ctr" marL="36576" marR="36576" marT="9144" marB="9144">
                    <a:lnL w="6350">
                      <a:solidFill>
                        <a:srgbClr val="E2E7F2"/>
                      </a:solidFill>
                    </a:lnL>
                    <a:lnR w="6350">
                      <a:solidFill>
                        <a:srgbClr val="E2E7F2"/>
                      </a:solidFill>
                    </a:lnR>
                    <a:lnT w="6350">
                      <a:solidFill>
                        <a:srgbClr val="E2E7F2"/>
                      </a:solidFill>
                    </a:lnT>
                    <a:lnB w="6350">
                      <a:solidFill>
                        <a:srgbClr val="E2E7F2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wrap="none"/>
                    <a:lstStyle/>
                    <a:p>
                      <a:pPr algn="r"/>
                      <a:r>
                        <a:rPr sz="850" b="0">
                          <a:solidFill>
                            <a:srgbClr val="595959"/>
                          </a:solidFill>
                          <a:latin typeface="Calibri"/>
                        </a:rPr>
                        <a:t>5%</a:t>
                      </a:r>
                    </a:p>
                  </a:txBody>
                  <a:tcPr anchor="ctr" marL="36576" marR="36576" marT="9144" marB="9144">
                    <a:lnL w="6350">
                      <a:solidFill>
                        <a:srgbClr val="E2E7F2"/>
                      </a:solidFill>
                    </a:lnL>
                    <a:lnR w="6350">
                      <a:solidFill>
                        <a:srgbClr val="E2E7F2"/>
                      </a:solidFill>
                    </a:lnR>
                    <a:lnT w="6350">
                      <a:solidFill>
                        <a:srgbClr val="E2E7F2"/>
                      </a:solidFill>
                    </a:lnT>
                    <a:lnB w="6350">
                      <a:solidFill>
                        <a:srgbClr val="E2E7F2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wrap="none"/>
                    <a:lstStyle/>
                    <a:p>
                      <a:pPr algn="r"/>
                      <a:r>
                        <a:rPr sz="850" b="0">
                          <a:solidFill>
                            <a:srgbClr val="26292E"/>
                          </a:solidFill>
                          <a:latin typeface="Calibri"/>
                        </a:rPr>
                        <a:t>2,643</a:t>
                      </a:r>
                    </a:p>
                  </a:txBody>
                  <a:tcPr anchor="ctr" marL="36576" marR="36576" marT="9144" marB="9144">
                    <a:lnL w="6350">
                      <a:solidFill>
                        <a:srgbClr val="E2E7F2"/>
                      </a:solidFill>
                    </a:lnL>
                    <a:lnR w="6350">
                      <a:solidFill>
                        <a:srgbClr val="E2E7F2"/>
                      </a:solidFill>
                    </a:lnR>
                    <a:lnT w="6350">
                      <a:solidFill>
                        <a:srgbClr val="E2E7F2"/>
                      </a:solidFill>
                    </a:lnT>
                    <a:lnB w="6350">
                      <a:solidFill>
                        <a:srgbClr val="E2E7F2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wrap="none"/>
                    <a:lstStyle/>
                    <a:p>
                      <a:pPr algn="r"/>
                      <a:r>
                        <a:rPr sz="850" b="0">
                          <a:solidFill>
                            <a:srgbClr val="26292E"/>
                          </a:solidFill>
                          <a:latin typeface="Calibri"/>
                        </a:rPr>
                        <a:t>3,155</a:t>
                      </a:r>
                    </a:p>
                  </a:txBody>
                  <a:tcPr anchor="ctr" marL="36576" marR="36576" marT="9144" marB="9144">
                    <a:lnL w="6350">
                      <a:solidFill>
                        <a:srgbClr val="E2E7F2"/>
                      </a:solidFill>
                    </a:lnL>
                    <a:lnR w="6350">
                      <a:solidFill>
                        <a:srgbClr val="E2E7F2"/>
                      </a:solidFill>
                    </a:lnR>
                    <a:lnT w="6350">
                      <a:solidFill>
                        <a:srgbClr val="E2E7F2"/>
                      </a:solidFill>
                    </a:lnT>
                    <a:lnB w="6350">
                      <a:solidFill>
                        <a:srgbClr val="E2E7F2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wrap="none"/>
                    <a:lstStyle/>
                    <a:p>
                      <a:pPr algn="r"/>
                      <a:r>
                        <a:rPr sz="850" b="1">
                          <a:solidFill>
                            <a:srgbClr val="1E7B34"/>
                          </a:solidFill>
                          <a:latin typeface="Calibri"/>
                        </a:rPr>
                        <a:t>+19.4%</a:t>
                      </a:r>
                    </a:p>
                  </a:txBody>
                  <a:tcPr anchor="ctr" marL="36576" marR="36576" marT="9144" marB="9144">
                    <a:lnL w="6350">
                      <a:solidFill>
                        <a:srgbClr val="E2E7F2"/>
                      </a:solidFill>
                    </a:lnL>
                    <a:lnR w="6350">
                      <a:solidFill>
                        <a:srgbClr val="E2E7F2"/>
                      </a:solidFill>
                    </a:lnR>
                    <a:lnT w="6350">
                      <a:solidFill>
                        <a:srgbClr val="E2E7F2"/>
                      </a:solidFill>
                    </a:lnT>
                    <a:lnB w="6350">
                      <a:solidFill>
                        <a:srgbClr val="E2E7F2"/>
                      </a:solidFill>
                    </a:lnB>
                    <a:solidFill>
                      <a:srgbClr val="FFFFFF"/>
                    </a:solidFill>
                  </a:tcPr>
                </a:tc>
              </a:tr>
              <a:tr h="187452">
                <a:tc>
                  <a:txBody>
                    <a:bodyPr wrap="none"/>
                    <a:lstStyle/>
                    <a:p>
                      <a:pPr algn="l"/>
                      <a:r>
                        <a:rPr sz="850" b="0">
                          <a:solidFill>
                            <a:srgbClr val="26292E"/>
                          </a:solidFill>
                          <a:latin typeface="Calibri"/>
                        </a:rPr>
                        <a:t>Corporate SS</a:t>
                      </a:r>
                    </a:p>
                  </a:txBody>
                  <a:tcPr anchor="ctr" marL="36576" marR="36576" marT="9144" marB="9144">
                    <a:lnL w="6350">
                      <a:solidFill>
                        <a:srgbClr val="E2E7F2"/>
                      </a:solidFill>
                    </a:lnL>
                    <a:lnR w="6350">
                      <a:solidFill>
                        <a:srgbClr val="E2E7F2"/>
                      </a:solidFill>
                    </a:lnR>
                    <a:lnT w="6350">
                      <a:solidFill>
                        <a:srgbClr val="E2E7F2"/>
                      </a:solidFill>
                    </a:lnT>
                    <a:lnB w="6350">
                      <a:solidFill>
                        <a:srgbClr val="E2E7F2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wrap="none"/>
                    <a:lstStyle/>
                    <a:p>
                      <a:pPr algn="r"/>
                      <a:r>
                        <a:rPr sz="850" b="0">
                          <a:solidFill>
                            <a:srgbClr val="595959"/>
                          </a:solidFill>
                          <a:latin typeface="Calibri"/>
                        </a:rPr>
                        <a:t>3%</a:t>
                      </a:r>
                    </a:p>
                  </a:txBody>
                  <a:tcPr anchor="ctr" marL="36576" marR="36576" marT="9144" marB="9144">
                    <a:lnL w="6350">
                      <a:solidFill>
                        <a:srgbClr val="E2E7F2"/>
                      </a:solidFill>
                    </a:lnL>
                    <a:lnR w="6350">
                      <a:solidFill>
                        <a:srgbClr val="E2E7F2"/>
                      </a:solidFill>
                    </a:lnR>
                    <a:lnT w="6350">
                      <a:solidFill>
                        <a:srgbClr val="E2E7F2"/>
                      </a:solidFill>
                    </a:lnT>
                    <a:lnB w="6350">
                      <a:solidFill>
                        <a:srgbClr val="E2E7F2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wrap="none"/>
                    <a:lstStyle/>
                    <a:p>
                      <a:pPr algn="r"/>
                      <a:r>
                        <a:rPr sz="850" b="0">
                          <a:solidFill>
                            <a:srgbClr val="595959"/>
                          </a:solidFill>
                          <a:latin typeface="Calibri"/>
                        </a:rPr>
                        <a:t>4%</a:t>
                      </a:r>
                    </a:p>
                  </a:txBody>
                  <a:tcPr anchor="ctr" marL="36576" marR="36576" marT="9144" marB="9144">
                    <a:lnL w="6350">
                      <a:solidFill>
                        <a:srgbClr val="E2E7F2"/>
                      </a:solidFill>
                    </a:lnL>
                    <a:lnR w="6350">
                      <a:solidFill>
                        <a:srgbClr val="E2E7F2"/>
                      </a:solidFill>
                    </a:lnR>
                    <a:lnT w="6350">
                      <a:solidFill>
                        <a:srgbClr val="E2E7F2"/>
                      </a:solidFill>
                    </a:lnT>
                    <a:lnB w="6350">
                      <a:solidFill>
                        <a:srgbClr val="E2E7F2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wrap="none"/>
                    <a:lstStyle/>
                    <a:p>
                      <a:pPr algn="r"/>
                      <a:r>
                        <a:rPr sz="850" b="0">
                          <a:solidFill>
                            <a:srgbClr val="26292E"/>
                          </a:solidFill>
                          <a:latin typeface="Calibri"/>
                        </a:rPr>
                        <a:t>3,493</a:t>
                      </a:r>
                    </a:p>
                  </a:txBody>
                  <a:tcPr anchor="ctr" marL="36576" marR="36576" marT="9144" marB="9144">
                    <a:lnL w="6350">
                      <a:solidFill>
                        <a:srgbClr val="E2E7F2"/>
                      </a:solidFill>
                    </a:lnL>
                    <a:lnR w="6350">
                      <a:solidFill>
                        <a:srgbClr val="E2E7F2"/>
                      </a:solidFill>
                    </a:lnR>
                    <a:lnT w="6350">
                      <a:solidFill>
                        <a:srgbClr val="E2E7F2"/>
                      </a:solidFill>
                    </a:lnT>
                    <a:lnB w="6350">
                      <a:solidFill>
                        <a:srgbClr val="E2E7F2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wrap="none"/>
                    <a:lstStyle/>
                    <a:p>
                      <a:pPr algn="r"/>
                      <a:r>
                        <a:rPr sz="850" b="0">
                          <a:solidFill>
                            <a:srgbClr val="26292E"/>
                          </a:solidFill>
                          <a:latin typeface="Calibri"/>
                        </a:rPr>
                        <a:t>3,570</a:t>
                      </a:r>
                    </a:p>
                  </a:txBody>
                  <a:tcPr anchor="ctr" marL="36576" marR="36576" marT="9144" marB="9144">
                    <a:lnL w="6350">
                      <a:solidFill>
                        <a:srgbClr val="E2E7F2"/>
                      </a:solidFill>
                    </a:lnL>
                    <a:lnR w="6350">
                      <a:solidFill>
                        <a:srgbClr val="E2E7F2"/>
                      </a:solidFill>
                    </a:lnR>
                    <a:lnT w="6350">
                      <a:solidFill>
                        <a:srgbClr val="E2E7F2"/>
                      </a:solidFill>
                    </a:lnT>
                    <a:lnB w="6350">
                      <a:solidFill>
                        <a:srgbClr val="E2E7F2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wrap="none"/>
                    <a:lstStyle/>
                    <a:p>
                      <a:pPr algn="r"/>
                      <a:r>
                        <a:rPr sz="850" b="1">
                          <a:solidFill>
                            <a:srgbClr val="1E7B34"/>
                          </a:solidFill>
                          <a:latin typeface="Calibri"/>
                        </a:rPr>
                        <a:t>+2.2%</a:t>
                      </a:r>
                    </a:p>
                  </a:txBody>
                  <a:tcPr anchor="ctr" marL="36576" marR="36576" marT="9144" marB="9144">
                    <a:lnL w="6350">
                      <a:solidFill>
                        <a:srgbClr val="E2E7F2"/>
                      </a:solidFill>
                    </a:lnL>
                    <a:lnR w="6350">
                      <a:solidFill>
                        <a:srgbClr val="E2E7F2"/>
                      </a:solidFill>
                    </a:lnR>
                    <a:lnT w="6350">
                      <a:solidFill>
                        <a:srgbClr val="E2E7F2"/>
                      </a:solidFill>
                    </a:lnT>
                    <a:lnB w="6350">
                      <a:solidFill>
                        <a:srgbClr val="E2E7F2"/>
                      </a:solidFill>
                    </a:lnB>
                    <a:solidFill>
                      <a:srgbClr val="FFFFFF"/>
                    </a:solidFill>
                  </a:tcPr>
                </a:tc>
              </a:tr>
              <a:tr h="187452">
                <a:tc>
                  <a:txBody>
                    <a:bodyPr wrap="none"/>
                    <a:lstStyle/>
                    <a:p>
                      <a:pPr algn="l"/>
                      <a:r>
                        <a:rPr sz="850" b="0">
                          <a:solidFill>
                            <a:srgbClr val="26292E"/>
                          </a:solidFill>
                          <a:latin typeface="Calibri"/>
                        </a:rPr>
                        <a:t>Group</a:t>
                      </a:r>
                    </a:p>
                  </a:txBody>
                  <a:tcPr anchor="ctr" marL="36576" marR="36576" marT="9144" marB="9144">
                    <a:lnL w="6350">
                      <a:solidFill>
                        <a:srgbClr val="E2E7F2"/>
                      </a:solidFill>
                    </a:lnL>
                    <a:lnR w="6350">
                      <a:solidFill>
                        <a:srgbClr val="E2E7F2"/>
                      </a:solidFill>
                    </a:lnR>
                    <a:lnT w="6350">
                      <a:solidFill>
                        <a:srgbClr val="E2E7F2"/>
                      </a:solidFill>
                    </a:lnT>
                    <a:lnB w="6350">
                      <a:solidFill>
                        <a:srgbClr val="E2E7F2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wrap="none"/>
                    <a:lstStyle/>
                    <a:p>
                      <a:pPr algn="r"/>
                      <a:r>
                        <a:rPr sz="850" b="0">
                          <a:solidFill>
                            <a:srgbClr val="595959"/>
                          </a:solidFill>
                          <a:latin typeface="Calibri"/>
                        </a:rPr>
                        <a:t>3%</a:t>
                      </a:r>
                    </a:p>
                  </a:txBody>
                  <a:tcPr anchor="ctr" marL="36576" marR="36576" marT="9144" marB="9144">
                    <a:lnL w="6350">
                      <a:solidFill>
                        <a:srgbClr val="E2E7F2"/>
                      </a:solidFill>
                    </a:lnL>
                    <a:lnR w="6350">
                      <a:solidFill>
                        <a:srgbClr val="E2E7F2"/>
                      </a:solidFill>
                    </a:lnR>
                    <a:lnT w="6350">
                      <a:solidFill>
                        <a:srgbClr val="E2E7F2"/>
                      </a:solidFill>
                    </a:lnT>
                    <a:lnB w="6350">
                      <a:solidFill>
                        <a:srgbClr val="E2E7F2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wrap="none"/>
                    <a:lstStyle/>
                    <a:p>
                      <a:pPr algn="r"/>
                      <a:r>
                        <a:rPr sz="850" b="0">
                          <a:solidFill>
                            <a:srgbClr val="595959"/>
                          </a:solidFill>
                          <a:latin typeface="Calibri"/>
                        </a:rPr>
                        <a:t>2%</a:t>
                      </a:r>
                    </a:p>
                  </a:txBody>
                  <a:tcPr anchor="ctr" marL="36576" marR="36576" marT="9144" marB="9144">
                    <a:lnL w="6350">
                      <a:solidFill>
                        <a:srgbClr val="E2E7F2"/>
                      </a:solidFill>
                    </a:lnL>
                    <a:lnR w="6350">
                      <a:solidFill>
                        <a:srgbClr val="E2E7F2"/>
                      </a:solidFill>
                    </a:lnR>
                    <a:lnT w="6350">
                      <a:solidFill>
                        <a:srgbClr val="E2E7F2"/>
                      </a:solidFill>
                    </a:lnT>
                    <a:lnB w="6350">
                      <a:solidFill>
                        <a:srgbClr val="E2E7F2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wrap="none"/>
                    <a:lstStyle/>
                    <a:p>
                      <a:pPr algn="r"/>
                      <a:r>
                        <a:rPr sz="850" b="0">
                          <a:solidFill>
                            <a:srgbClr val="26292E"/>
                          </a:solidFill>
                          <a:latin typeface="Calibri"/>
                        </a:rPr>
                        <a:t>3,671</a:t>
                      </a:r>
                    </a:p>
                  </a:txBody>
                  <a:tcPr anchor="ctr" marL="36576" marR="36576" marT="9144" marB="9144">
                    <a:lnL w="6350">
                      <a:solidFill>
                        <a:srgbClr val="E2E7F2"/>
                      </a:solidFill>
                    </a:lnL>
                    <a:lnR w="6350">
                      <a:solidFill>
                        <a:srgbClr val="E2E7F2"/>
                      </a:solidFill>
                    </a:lnR>
                    <a:lnT w="6350">
                      <a:solidFill>
                        <a:srgbClr val="E2E7F2"/>
                      </a:solidFill>
                    </a:lnT>
                    <a:lnB w="6350">
                      <a:solidFill>
                        <a:srgbClr val="E2E7F2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wrap="none"/>
                    <a:lstStyle/>
                    <a:p>
                      <a:pPr algn="r"/>
                      <a:r>
                        <a:rPr sz="850" b="0">
                          <a:solidFill>
                            <a:srgbClr val="26292E"/>
                          </a:solidFill>
                          <a:latin typeface="Calibri"/>
                        </a:rPr>
                        <a:t>2,533</a:t>
                      </a:r>
                    </a:p>
                  </a:txBody>
                  <a:tcPr anchor="ctr" marL="36576" marR="36576" marT="9144" marB="9144">
                    <a:lnL w="6350">
                      <a:solidFill>
                        <a:srgbClr val="E2E7F2"/>
                      </a:solidFill>
                    </a:lnL>
                    <a:lnR w="6350">
                      <a:solidFill>
                        <a:srgbClr val="E2E7F2"/>
                      </a:solidFill>
                    </a:lnR>
                    <a:lnT w="6350">
                      <a:solidFill>
                        <a:srgbClr val="E2E7F2"/>
                      </a:solidFill>
                    </a:lnT>
                    <a:lnB w="6350">
                      <a:solidFill>
                        <a:srgbClr val="E2E7F2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wrap="none"/>
                    <a:lstStyle/>
                    <a:p>
                      <a:pPr algn="r"/>
                      <a:r>
                        <a:rPr sz="850" b="1">
                          <a:solidFill>
                            <a:srgbClr val="C62828"/>
                          </a:solidFill>
                          <a:latin typeface="Calibri"/>
                        </a:rPr>
                        <a:t>-31.0%</a:t>
                      </a:r>
                    </a:p>
                  </a:txBody>
                  <a:tcPr anchor="ctr" marL="36576" marR="36576" marT="9144" marB="9144">
                    <a:lnL w="6350">
                      <a:solidFill>
                        <a:srgbClr val="E2E7F2"/>
                      </a:solidFill>
                    </a:lnL>
                    <a:lnR w="6350">
                      <a:solidFill>
                        <a:srgbClr val="E2E7F2"/>
                      </a:solidFill>
                    </a:lnR>
                    <a:lnT w="6350">
                      <a:solidFill>
                        <a:srgbClr val="E2E7F2"/>
                      </a:solidFill>
                    </a:lnT>
                    <a:lnB w="6350">
                      <a:solidFill>
                        <a:srgbClr val="E2E7F2"/>
                      </a:solidFill>
                    </a:lnB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  <p:sp>
        <p:nvSpPr>
          <p:cNvPr id="14" name="TextBox 13"/>
          <p:cNvSpPr txBox="1"/>
          <p:nvPr/>
        </p:nvSpPr>
        <p:spPr>
          <a:xfrm>
            <a:off x="548640" y="6382512"/>
            <a:ext cx="11091672" cy="365760"/>
          </a:xfrm>
          <a:prstGeom prst="rect">
            <a:avLst/>
          </a:prstGeom>
          <a:noFill/>
        </p:spPr>
        <p:txBody>
          <a:bodyPr wrap="none" lIns="0" tIns="0">
            <a:spAutoFit/>
          </a:bodyPr>
          <a:lstStyle/>
          <a:p>
            <a:r>
              <a:rPr sz="1050" b="1">
                <a:solidFill>
                  <a:srgbClr val="1E2761"/>
                </a:solidFill>
                <a:latin typeface="Calibri"/>
              </a:rPr>
              <a:t>Takeaway: the segment mix hardly moved (% rooms columns) — the ADR decline comes from lower prices inside almost every segment, deepest in Online (dynamic rate): SR9 −13.9% · AES −11.0% · LYF −8.2% · SP −16.1%.</a:t>
            </a:r>
          </a:p>
        </p:txBody>
      </p:sp>
    </p:spTree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5">
    <p:bg>
      <p:bgPr>
        <a:solidFill>
          <a:srgbClr val="1E276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1965960"/>
            <a:ext cx="2011680" cy="1554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600" b="1" dirty="0">
                <a:solidFill>
                  <a:srgbClr val="D9A44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</a:t>
            </a:r>
            <a:endParaRPr lang="en-US" sz="9600" dirty="0"/>
          </a:p>
        </p:txBody>
      </p:sp>
      <p:sp>
        <p:nvSpPr>
          <p:cNvPr id="3" name="Text 1"/>
          <p:cNvSpPr/>
          <p:nvPr/>
        </p:nvSpPr>
        <p:spPr>
          <a:xfrm>
            <a:off x="2514600" y="2286000"/>
            <a:ext cx="877824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4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Portfolio</a:t>
            </a:r>
            <a:endParaRPr lang="en-US" sz="4000" dirty="0"/>
          </a:p>
        </p:txBody>
      </p:sp>
      <p:sp>
        <p:nvSpPr>
          <p:cNvPr id="4" name="Text 2"/>
          <p:cNvSpPr/>
          <p:nvPr/>
        </p:nvSpPr>
        <p:spPr>
          <a:xfrm>
            <a:off x="2542032" y="3246120"/>
            <a:ext cx="841248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dirty="0">
                <a:solidFill>
                  <a:srgbClr val="AFC0E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All four properties — P&amp;L (EBIT) · performance vs budget</a:t>
            </a:r>
            <a:endParaRPr lang="en-US" sz="1400" dirty="0"/>
          </a:p>
        </p:txBody>
      </p:sp>
      <p:sp>
        <p:nvSpPr>
          <p:cNvPr id="5" name="Text 3"/>
          <p:cNvSpPr/>
          <p:nvPr/>
        </p:nvSpPr>
        <p:spPr>
          <a:xfrm>
            <a:off x="548640" y="6172200"/>
            <a:ext cx="5486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7C8BC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Mitsui Thailand Portfolio · H1 2026</a:t>
            </a:r>
            <a:endParaRPr lang="en-US" sz="1000" dirty="0"/>
          </a:p>
        </p:txBody>
      </p:sp>
    </p:spTree>
  </p:cSld>
  <p:clrMapOvr>
    <a:masterClrMapping/>
  </p:clrMapOvr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7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292608"/>
            <a:ext cx="8229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b="1" kern="0" spc="200" dirty="0">
                <a:solidFill>
                  <a:srgbClr val="D9A44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SECTION 3 · PORTFOLIO</a:t>
            </a:r>
            <a:endParaRPr lang="en-US" sz="1100" dirty="0"/>
          </a:p>
        </p:txBody>
      </p:sp>
      <p:sp>
        <p:nvSpPr>
          <p:cNvPr id="3" name="Text 1"/>
          <p:cNvSpPr/>
          <p:nvPr/>
        </p:nvSpPr>
        <p:spPr>
          <a:xfrm>
            <a:off x="548640" y="502920"/>
            <a:ext cx="11091672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800" b="1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Portfolio — all four properties</a:t>
            </a:r>
            <a:endParaRPr lang="en-US" sz="2800" dirty="0"/>
          </a:p>
        </p:txBody>
      </p:sp>
      <p:sp>
        <p:nvSpPr>
          <p:cNvPr id="4" name="Text 2"/>
          <p:cNvSpPr/>
          <p:nvPr/>
        </p:nvSpPr>
        <p:spPr>
          <a:xfrm>
            <a:off x="548640" y="1060704"/>
            <a:ext cx="11091672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5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Weighted by room inventory (1,406 keys) · YTD = Jan–Jun 2026</a:t>
            </a:r>
            <a:endParaRPr lang="en-US" sz="1250" dirty="0"/>
          </a:p>
        </p:txBody>
      </p:sp>
      <p:sp>
        <p:nvSpPr>
          <p:cNvPr id="5" name="Text 3"/>
          <p:cNvSpPr/>
          <p:nvPr/>
        </p:nvSpPr>
        <p:spPr>
          <a:xfrm>
            <a:off x="8165592" y="310896"/>
            <a:ext cx="34747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90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Mitsui Thailand Portfolio · H1 2026</a:t>
            </a:r>
            <a:endParaRPr lang="en-US" sz="900" dirty="0"/>
          </a:p>
        </p:txBody>
      </p:sp>
      <p:graphicFrame>
        <p:nvGraphicFramePr>
          <p:cNvPr id="6" name="Chart 0"/>
          <p:cNvGraphicFramePr/>
          <p:nvPr/>
        </p:nvGraphicFramePr>
        <p:xfrm>
          <a:off x="548640" y="1691640"/>
          <a:ext cx="7223760" cy="2240280"/>
        </p:xfrm>
        <a:graphic>
          <a:graphicData uri="http://schemas.openxmlformats.org/drawingml/2006/chart">
            <c:chart xmlns:c="http://schemas.openxmlformats.org/drawingml/2006/chart" xmlns:r="http://schemas.openxmlformats.org/officeDocument/2006/relationships" r:id="rId3"/>
          </a:graphicData>
        </a:graphic>
      </p:graphicFrame>
      <p:graphicFrame>
        <p:nvGraphicFramePr>
          <p:cNvPr id="18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548640" y="4069080"/>
          <a:ext cx="7223760" cy="2011680"/>
        </p:xfrm>
        <a:graphic>
          <a:graphicData uri="http://schemas.openxmlformats.org/drawingml/2006/table">
            <a:tbl>
              <a:tblPr/>
              <a:tblGrid>
                <a:gridCol w="132588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795528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795528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795528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  <a:gridCol w="795528">
                  <a:extLst>
                    <a:ext uri="{9D8B030D-6E8A-4147-A177-3AD203B41FA5}">
                      <a16:colId xmlns:a16="http://schemas.microsoft.com/office/drawing/2014/main" val="20004"/>
                    </a:ext>
                  </a:extLst>
                </a:gridCol>
                <a:gridCol w="795528">
                  <a:extLst>
                    <a:ext uri="{9D8B030D-6E8A-4147-A177-3AD203B41FA5}">
                      <a16:colId xmlns:a16="http://schemas.microsoft.com/office/drawing/2014/main" val="20005"/>
                    </a:ext>
                  </a:extLst>
                </a:gridCol>
                <a:gridCol w="795528">
                  <a:extLst>
                    <a:ext uri="{9D8B030D-6E8A-4147-A177-3AD203B41FA5}">
                      <a16:colId xmlns:a16="http://schemas.microsoft.com/office/drawing/2014/main" val="20006"/>
                    </a:ext>
                  </a:extLst>
                </a:gridCol>
                <a:gridCol w="1124712">
                  <a:extLst>
                    <a:ext uri="{9D8B030D-6E8A-4147-A177-3AD203B41FA5}">
                      <a16:colId xmlns:a16="http://schemas.microsoft.com/office/drawing/2014/main" val="20007"/>
                    </a:ext>
                  </a:extLst>
                </a:gridCol>
              </a:tblGrid>
              <a:tr h="201168"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9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H1 2026</a:t>
                      </a:r>
                      <a:endParaRPr lang="en-US" sz="9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E2E7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7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7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7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E2761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9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Jan</a:t>
                      </a:r>
                      <a:endParaRPr lang="en-US" sz="9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E2E7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7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7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7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E2761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9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Feb</a:t>
                      </a:r>
                      <a:endParaRPr lang="en-US" sz="9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E2E7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7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7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7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E2761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9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Mar</a:t>
                      </a:r>
                      <a:endParaRPr lang="en-US" sz="9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E2E7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7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7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7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E2761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9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Apr</a:t>
                      </a:r>
                      <a:endParaRPr lang="en-US" sz="9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E2E7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7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7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7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E2761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9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May</a:t>
                      </a:r>
                      <a:endParaRPr lang="en-US" sz="9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E2E7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7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7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7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E2761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9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Jun</a:t>
                      </a:r>
                      <a:endParaRPr lang="en-US" sz="9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E2E7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7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7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7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E2761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9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YTD</a:t>
                      </a:r>
                      <a:endParaRPr lang="en-US" sz="9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E2E7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7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7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7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E276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201168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900" b="1" dirty="0">
                          <a:solidFill>
                            <a:srgbClr val="26292E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Occupancy</a:t>
                      </a:r>
                      <a:endParaRPr lang="en-US" sz="9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E2E7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7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7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7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r">
                        <a:buNone/>
                      </a:pPr>
                      <a:r>
                        <a:rPr lang="en-US" sz="900" dirty="0">
                          <a:solidFill>
                            <a:srgbClr val="26292E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84.7%</a:t>
                      </a:r>
                      <a:endParaRPr lang="en-US" sz="9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E2E7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7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7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7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r">
                        <a:buNone/>
                      </a:pPr>
                      <a:r>
                        <a:rPr lang="en-US" sz="900" dirty="0">
                          <a:solidFill>
                            <a:srgbClr val="26292E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90.2%</a:t>
                      </a:r>
                      <a:endParaRPr lang="en-US" sz="9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E2E7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7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7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7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r">
                        <a:buNone/>
                      </a:pPr>
                      <a:r>
                        <a:rPr lang="en-US" sz="900" dirty="0">
                          <a:solidFill>
                            <a:srgbClr val="26292E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78.1%</a:t>
                      </a:r>
                      <a:endParaRPr lang="en-US" sz="9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E2E7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7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7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7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r">
                        <a:buNone/>
                      </a:pPr>
                      <a:r>
                        <a:rPr lang="en-US" sz="900" dirty="0">
                          <a:solidFill>
                            <a:srgbClr val="26292E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67.7%</a:t>
                      </a:r>
                      <a:endParaRPr lang="en-US" sz="9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E2E7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7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7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7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r">
                        <a:buNone/>
                      </a:pPr>
                      <a:r>
                        <a:rPr lang="en-US" sz="900" dirty="0">
                          <a:solidFill>
                            <a:srgbClr val="26292E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67.4%</a:t>
                      </a:r>
                      <a:endParaRPr lang="en-US" sz="9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E2E7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7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7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7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r">
                        <a:buNone/>
                      </a:pPr>
                      <a:r>
                        <a:rPr lang="en-US" sz="900" dirty="0">
                          <a:solidFill>
                            <a:srgbClr val="26292E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67.4%</a:t>
                      </a:r>
                      <a:endParaRPr lang="en-US" sz="9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E2E7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7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7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7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r">
                        <a:buNone/>
                      </a:pPr>
                      <a:r>
                        <a:rPr lang="en-US" sz="900" b="1" dirty="0">
                          <a:solidFill>
                            <a:srgbClr val="1E2761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75.8%</a:t>
                      </a:r>
                      <a:endParaRPr lang="en-US" sz="9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E2E7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7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7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7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201168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900" b="0" dirty="0">
                          <a:solidFill>
                            <a:srgbClr val="595959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 MF Projection</a:t>
                      </a:r>
                      <a:endParaRPr lang="en-US" sz="9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E2E7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7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7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7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r">
                        <a:buNone/>
                      </a:pPr>
                      <a:r>
                        <a:rPr lang="en-US" sz="900" dirty="0">
                          <a:solidFill>
                            <a:srgbClr val="595959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83.3%</a:t>
                      </a:r>
                      <a:endParaRPr lang="en-US" sz="9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E2E7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7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7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7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r">
                        <a:buNone/>
                      </a:pPr>
                      <a:r>
                        <a:rPr lang="en-US" sz="900" dirty="0">
                          <a:solidFill>
                            <a:srgbClr val="595959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87.0%</a:t>
                      </a:r>
                      <a:endParaRPr lang="en-US" sz="9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E2E7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7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7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7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r">
                        <a:buNone/>
                      </a:pPr>
                      <a:r>
                        <a:rPr lang="en-US" sz="900" dirty="0">
                          <a:solidFill>
                            <a:srgbClr val="595959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72.0%</a:t>
                      </a:r>
                      <a:endParaRPr lang="en-US" sz="9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E2E7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7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7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7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r">
                        <a:buNone/>
                      </a:pPr>
                      <a:r>
                        <a:rPr lang="en-US" sz="900" dirty="0">
                          <a:solidFill>
                            <a:srgbClr val="595959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74.6%</a:t>
                      </a:r>
                      <a:endParaRPr lang="en-US" sz="9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E2E7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7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7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7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r">
                        <a:buNone/>
                      </a:pPr>
                      <a:r>
                        <a:rPr lang="en-US" sz="900" dirty="0">
                          <a:solidFill>
                            <a:srgbClr val="595959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72.1%</a:t>
                      </a:r>
                      <a:endParaRPr lang="en-US" sz="9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E2E7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7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7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7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r">
                        <a:buNone/>
                      </a:pPr>
                      <a:r>
                        <a:rPr lang="en-US" sz="900" dirty="0">
                          <a:solidFill>
                            <a:srgbClr val="595959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70.9%</a:t>
                      </a:r>
                      <a:endParaRPr lang="en-US" sz="9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E2E7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7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7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7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r">
                        <a:buNone/>
                      </a:pPr>
                      <a:r>
                        <a:rPr lang="en-US" sz="900" b="1" dirty="0">
                          <a:solidFill>
                            <a:srgbClr val="595959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76.5%</a:t>
                      </a:r>
                      <a:endParaRPr lang="en-US" sz="9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E2E7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7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7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7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201168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900" b="0" dirty="0">
                          <a:solidFill>
                            <a:srgbClr val="595959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 Actual 2025</a:t>
                      </a:r>
                      <a:endParaRPr lang="en-US" sz="9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E2E7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7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7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7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r">
                        <a:buNone/>
                      </a:pPr>
                      <a:r>
                        <a:rPr lang="en-US" sz="900" dirty="0">
                          <a:solidFill>
                            <a:srgbClr val="595959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85.3%</a:t>
                      </a:r>
                      <a:endParaRPr lang="en-US" sz="9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E2E7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7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7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7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r">
                        <a:buNone/>
                      </a:pPr>
                      <a:r>
                        <a:rPr lang="en-US" sz="900" dirty="0">
                          <a:solidFill>
                            <a:srgbClr val="595959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83.6%</a:t>
                      </a:r>
                      <a:endParaRPr lang="en-US" sz="9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E2E7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7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7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7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r">
                        <a:buNone/>
                      </a:pPr>
                      <a:r>
                        <a:rPr lang="en-US" sz="900" dirty="0">
                          <a:solidFill>
                            <a:srgbClr val="595959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67.0%</a:t>
                      </a:r>
                      <a:endParaRPr lang="en-US" sz="9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E2E7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7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7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7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r">
                        <a:buNone/>
                      </a:pPr>
                      <a:r>
                        <a:rPr lang="en-US" sz="900" dirty="0">
                          <a:solidFill>
                            <a:srgbClr val="595959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68.0%</a:t>
                      </a:r>
                      <a:endParaRPr lang="en-US" sz="9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E2E7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7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7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7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r">
                        <a:buNone/>
                      </a:pPr>
                      <a:r>
                        <a:rPr lang="en-US" sz="900" dirty="0">
                          <a:solidFill>
                            <a:srgbClr val="595959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69.0%</a:t>
                      </a:r>
                      <a:endParaRPr lang="en-US" sz="9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E2E7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7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7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7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r">
                        <a:buNone/>
                      </a:pPr>
                      <a:r>
                        <a:rPr lang="en-US" sz="900" dirty="0">
                          <a:solidFill>
                            <a:srgbClr val="595959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66.0%</a:t>
                      </a:r>
                      <a:endParaRPr lang="en-US" sz="9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E2E7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7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7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7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r">
                        <a:buNone/>
                      </a:pPr>
                      <a:r>
                        <a:rPr lang="en-US" sz="900" b="1" dirty="0">
                          <a:solidFill>
                            <a:srgbClr val="595959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73.1%</a:t>
                      </a:r>
                      <a:endParaRPr lang="en-US" sz="9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E2E7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7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7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7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201168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900" b="1" dirty="0">
                          <a:solidFill>
                            <a:srgbClr val="26292E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ADR (฿)</a:t>
                      </a:r>
                      <a:endParaRPr lang="en-US" sz="9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E2E7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7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7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7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6FB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r">
                        <a:buNone/>
                      </a:pPr>
                      <a:r>
                        <a:rPr lang="en-US" sz="900" dirty="0">
                          <a:solidFill>
                            <a:srgbClr val="26292E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3,223</a:t>
                      </a:r>
                      <a:endParaRPr lang="en-US" sz="9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E2E7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7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7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7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6FB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r">
                        <a:buNone/>
                      </a:pPr>
                      <a:r>
                        <a:rPr lang="en-US" sz="900" dirty="0">
                          <a:solidFill>
                            <a:srgbClr val="26292E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3,305</a:t>
                      </a:r>
                      <a:endParaRPr lang="en-US" sz="9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E2E7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7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7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7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6FB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r">
                        <a:buNone/>
                      </a:pPr>
                      <a:r>
                        <a:rPr lang="en-US" sz="900" dirty="0">
                          <a:solidFill>
                            <a:srgbClr val="26292E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2,900</a:t>
                      </a:r>
                      <a:endParaRPr lang="en-US" sz="9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E2E7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7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7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7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6FB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r">
                        <a:buNone/>
                      </a:pPr>
                      <a:r>
                        <a:rPr lang="en-US" sz="900" dirty="0">
                          <a:solidFill>
                            <a:srgbClr val="26292E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3,087</a:t>
                      </a:r>
                      <a:endParaRPr lang="en-US" sz="9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E2E7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7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7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7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6FB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r">
                        <a:buNone/>
                      </a:pPr>
                      <a:r>
                        <a:rPr lang="en-US" sz="900" dirty="0">
                          <a:solidFill>
                            <a:srgbClr val="26292E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2,734</a:t>
                      </a:r>
                      <a:endParaRPr lang="en-US" sz="9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E2E7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7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7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7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6FB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r">
                        <a:buNone/>
                      </a:pPr>
                      <a:r>
                        <a:rPr lang="en-US" sz="900" dirty="0">
                          <a:solidFill>
                            <a:srgbClr val="26292E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2,756</a:t>
                      </a:r>
                      <a:endParaRPr lang="en-US" sz="9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E2E7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7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7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7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6FB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r">
                        <a:buNone/>
                      </a:pPr>
                      <a:r>
                        <a:rPr lang="en-US" sz="900" b="1" dirty="0">
                          <a:solidFill>
                            <a:srgbClr val="1E2761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3,018</a:t>
                      </a:r>
                      <a:endParaRPr lang="en-US" sz="9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E2E7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7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7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7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6FB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201168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900" b="0" dirty="0">
                          <a:solidFill>
                            <a:srgbClr val="595959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 MF Projection</a:t>
                      </a:r>
                      <a:endParaRPr lang="en-US" sz="9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E2E7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7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7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7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6FB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r">
                        <a:buNone/>
                      </a:pPr>
                      <a:r>
                        <a:rPr lang="en-US" sz="900" dirty="0">
                          <a:solidFill>
                            <a:srgbClr val="595959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3,402</a:t>
                      </a:r>
                      <a:endParaRPr lang="en-US" sz="9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E2E7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7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7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7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6FB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r">
                        <a:buNone/>
                      </a:pPr>
                      <a:r>
                        <a:rPr lang="en-US" sz="900" dirty="0">
                          <a:solidFill>
                            <a:srgbClr val="595959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3,369</a:t>
                      </a:r>
                      <a:endParaRPr lang="en-US" sz="9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E2E7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7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7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7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6FB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r">
                        <a:buNone/>
                      </a:pPr>
                      <a:r>
                        <a:rPr lang="en-US" sz="900" dirty="0">
                          <a:solidFill>
                            <a:srgbClr val="595959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3,050</a:t>
                      </a:r>
                      <a:endParaRPr lang="en-US" sz="9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E2E7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7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7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7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6FB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r">
                        <a:buNone/>
                      </a:pPr>
                      <a:r>
                        <a:rPr lang="en-US" sz="900" dirty="0">
                          <a:solidFill>
                            <a:srgbClr val="595959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3,138</a:t>
                      </a:r>
                      <a:endParaRPr lang="en-US" sz="9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E2E7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7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7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7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6FB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r">
                        <a:buNone/>
                      </a:pPr>
                      <a:r>
                        <a:rPr lang="en-US" sz="900" dirty="0">
                          <a:solidFill>
                            <a:srgbClr val="595959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2,856</a:t>
                      </a:r>
                      <a:endParaRPr lang="en-US" sz="9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E2E7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7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7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7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6FB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r">
                        <a:buNone/>
                      </a:pPr>
                      <a:r>
                        <a:rPr lang="en-US" sz="900" dirty="0">
                          <a:solidFill>
                            <a:srgbClr val="595959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2,843</a:t>
                      </a:r>
                      <a:endParaRPr lang="en-US" sz="9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E2E7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7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7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7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6FB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r">
                        <a:buNone/>
                      </a:pPr>
                      <a:r>
                        <a:rPr lang="en-US" sz="900" b="1" dirty="0">
                          <a:solidFill>
                            <a:srgbClr val="595959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3,123</a:t>
                      </a:r>
                      <a:endParaRPr lang="en-US" sz="9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E2E7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7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7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7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6FB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201168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900" b="0" dirty="0">
                          <a:solidFill>
                            <a:srgbClr val="595959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 Actual 2025</a:t>
                      </a:r>
                      <a:endParaRPr lang="en-US" sz="9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E2E7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7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7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7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6FB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r">
                        <a:buNone/>
                      </a:pPr>
                      <a:r>
                        <a:rPr lang="en-US" sz="900" dirty="0">
                          <a:solidFill>
                            <a:srgbClr val="595959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3,584</a:t>
                      </a:r>
                      <a:endParaRPr lang="en-US" sz="9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E2E7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7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7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7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6FB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r">
                        <a:buNone/>
                      </a:pPr>
                      <a:r>
                        <a:rPr lang="en-US" sz="900" dirty="0">
                          <a:solidFill>
                            <a:srgbClr val="595959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3,340</a:t>
                      </a:r>
                      <a:endParaRPr lang="en-US" sz="9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E2E7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7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7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7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6FB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r">
                        <a:buNone/>
                      </a:pPr>
                      <a:r>
                        <a:rPr lang="en-US" sz="900" dirty="0">
                          <a:solidFill>
                            <a:srgbClr val="595959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3,053</a:t>
                      </a:r>
                      <a:endParaRPr lang="en-US" sz="9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E2E7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7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7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7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6FB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r">
                        <a:buNone/>
                      </a:pPr>
                      <a:r>
                        <a:rPr lang="en-US" sz="900" dirty="0">
                          <a:solidFill>
                            <a:srgbClr val="595959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3,134</a:t>
                      </a:r>
                      <a:endParaRPr lang="en-US" sz="9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E2E7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7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7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7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6FB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r">
                        <a:buNone/>
                      </a:pPr>
                      <a:r>
                        <a:rPr lang="en-US" sz="900" dirty="0">
                          <a:solidFill>
                            <a:srgbClr val="595959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2,835</a:t>
                      </a:r>
                      <a:endParaRPr lang="en-US" sz="9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E2E7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7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7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7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6FB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r">
                        <a:buNone/>
                      </a:pPr>
                      <a:r>
                        <a:rPr lang="en-US" sz="900" dirty="0">
                          <a:solidFill>
                            <a:srgbClr val="595959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2,805</a:t>
                      </a:r>
                      <a:endParaRPr lang="en-US" sz="9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E2E7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7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7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7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6FB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r">
                        <a:buNone/>
                      </a:pPr>
                      <a:r>
                        <a:rPr lang="en-US" sz="900" b="1" dirty="0">
                          <a:solidFill>
                            <a:srgbClr val="595959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3,150</a:t>
                      </a:r>
                      <a:endParaRPr lang="en-US" sz="9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E2E7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7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7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7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6FB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201168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900" b="1" dirty="0">
                          <a:solidFill>
                            <a:srgbClr val="26292E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RevPAR (฿)</a:t>
                      </a:r>
                      <a:endParaRPr lang="en-US" sz="9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E2E7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7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7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7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r">
                        <a:buNone/>
                      </a:pPr>
                      <a:r>
                        <a:rPr lang="en-US" sz="900" dirty="0">
                          <a:solidFill>
                            <a:srgbClr val="26292E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2,731</a:t>
                      </a:r>
                      <a:endParaRPr lang="en-US" sz="9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E2E7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7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7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7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r">
                        <a:buNone/>
                      </a:pPr>
                      <a:r>
                        <a:rPr lang="en-US" sz="900" dirty="0">
                          <a:solidFill>
                            <a:srgbClr val="26292E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2,982</a:t>
                      </a:r>
                      <a:endParaRPr lang="en-US" sz="9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E2E7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7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7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7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r">
                        <a:buNone/>
                      </a:pPr>
                      <a:r>
                        <a:rPr lang="en-US" sz="900" dirty="0">
                          <a:solidFill>
                            <a:srgbClr val="26292E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2,265</a:t>
                      </a:r>
                      <a:endParaRPr lang="en-US" sz="9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E2E7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7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7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7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r">
                        <a:buNone/>
                      </a:pPr>
                      <a:r>
                        <a:rPr lang="en-US" sz="900" dirty="0">
                          <a:solidFill>
                            <a:srgbClr val="26292E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2,091</a:t>
                      </a:r>
                      <a:endParaRPr lang="en-US" sz="9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E2E7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7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7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7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r">
                        <a:buNone/>
                      </a:pPr>
                      <a:r>
                        <a:rPr lang="en-US" sz="900" dirty="0">
                          <a:solidFill>
                            <a:srgbClr val="26292E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1,842</a:t>
                      </a:r>
                      <a:endParaRPr lang="en-US" sz="9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E2E7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7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7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7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r">
                        <a:buNone/>
                      </a:pPr>
                      <a:r>
                        <a:rPr lang="en-US" sz="900" dirty="0">
                          <a:solidFill>
                            <a:srgbClr val="26292E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1,857</a:t>
                      </a:r>
                      <a:endParaRPr lang="en-US" sz="9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E2E7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7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7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7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r">
                        <a:buNone/>
                      </a:pPr>
                      <a:r>
                        <a:rPr lang="en-US" sz="900" b="1" dirty="0">
                          <a:solidFill>
                            <a:srgbClr val="1E2761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2,287</a:t>
                      </a:r>
                      <a:endParaRPr lang="en-US" sz="9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E2E7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7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7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7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201168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900" b="0" dirty="0">
                          <a:solidFill>
                            <a:srgbClr val="595959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 MF Projection</a:t>
                      </a:r>
                      <a:endParaRPr lang="en-US" sz="9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E2E7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7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7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7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r">
                        <a:buNone/>
                      </a:pPr>
                      <a:r>
                        <a:rPr lang="en-US" sz="900" dirty="0">
                          <a:solidFill>
                            <a:srgbClr val="595959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2,833</a:t>
                      </a:r>
                      <a:endParaRPr lang="en-US" sz="9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E2E7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7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7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7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r">
                        <a:buNone/>
                      </a:pPr>
                      <a:r>
                        <a:rPr lang="en-US" sz="900" dirty="0">
                          <a:solidFill>
                            <a:srgbClr val="595959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2,930</a:t>
                      </a:r>
                      <a:endParaRPr lang="en-US" sz="9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E2E7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7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7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7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r">
                        <a:buNone/>
                      </a:pPr>
                      <a:r>
                        <a:rPr lang="en-US" sz="900" dirty="0">
                          <a:solidFill>
                            <a:srgbClr val="595959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2,196</a:t>
                      </a:r>
                      <a:endParaRPr lang="en-US" sz="9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E2E7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7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7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7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r">
                        <a:buNone/>
                      </a:pPr>
                      <a:r>
                        <a:rPr lang="en-US" sz="900" dirty="0">
                          <a:solidFill>
                            <a:srgbClr val="595959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2,340</a:t>
                      </a:r>
                      <a:endParaRPr lang="en-US" sz="9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E2E7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7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7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7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r">
                        <a:buNone/>
                      </a:pPr>
                      <a:r>
                        <a:rPr lang="en-US" sz="900" dirty="0">
                          <a:solidFill>
                            <a:srgbClr val="595959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2,058</a:t>
                      </a:r>
                      <a:endParaRPr lang="en-US" sz="9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E2E7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7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7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7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r">
                        <a:buNone/>
                      </a:pPr>
                      <a:r>
                        <a:rPr lang="en-US" sz="900" dirty="0">
                          <a:solidFill>
                            <a:srgbClr val="595959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2,016</a:t>
                      </a:r>
                      <a:endParaRPr lang="en-US" sz="9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E2E7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7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7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7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r">
                        <a:buNone/>
                      </a:pPr>
                      <a:r>
                        <a:rPr lang="en-US" sz="900" b="1" dirty="0">
                          <a:solidFill>
                            <a:srgbClr val="595959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2,389</a:t>
                      </a:r>
                      <a:endParaRPr lang="en-US" sz="9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E2E7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7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7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7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201168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900" b="0" dirty="0">
                          <a:solidFill>
                            <a:srgbClr val="595959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 Actual 2025</a:t>
                      </a:r>
                      <a:endParaRPr lang="en-US" sz="9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E2E7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7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7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7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r">
                        <a:buNone/>
                      </a:pPr>
                      <a:r>
                        <a:rPr lang="en-US" sz="900" dirty="0">
                          <a:solidFill>
                            <a:srgbClr val="595959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3,058</a:t>
                      </a:r>
                      <a:endParaRPr lang="en-US" sz="9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E2E7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7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7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7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r">
                        <a:buNone/>
                      </a:pPr>
                      <a:r>
                        <a:rPr lang="en-US" sz="900" dirty="0">
                          <a:solidFill>
                            <a:srgbClr val="595959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2,793</a:t>
                      </a:r>
                      <a:endParaRPr lang="en-US" sz="9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E2E7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7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7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7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r">
                        <a:buNone/>
                      </a:pPr>
                      <a:r>
                        <a:rPr lang="en-US" sz="900" dirty="0">
                          <a:solidFill>
                            <a:srgbClr val="595959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2,045</a:t>
                      </a:r>
                      <a:endParaRPr lang="en-US" sz="9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E2E7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7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7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7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r">
                        <a:buNone/>
                      </a:pPr>
                      <a:r>
                        <a:rPr lang="en-US" sz="900" dirty="0">
                          <a:solidFill>
                            <a:srgbClr val="595959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2,131</a:t>
                      </a:r>
                      <a:endParaRPr lang="en-US" sz="9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E2E7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7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7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7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r">
                        <a:buNone/>
                      </a:pPr>
                      <a:r>
                        <a:rPr lang="en-US" sz="900" dirty="0">
                          <a:solidFill>
                            <a:srgbClr val="595959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1,956</a:t>
                      </a:r>
                      <a:endParaRPr lang="en-US" sz="9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E2E7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7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7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7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r">
                        <a:buNone/>
                      </a:pPr>
                      <a:r>
                        <a:rPr lang="en-US" sz="900" dirty="0">
                          <a:solidFill>
                            <a:srgbClr val="595959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1,852</a:t>
                      </a:r>
                      <a:endParaRPr lang="en-US" sz="9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E2E7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7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7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7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r">
                        <a:buNone/>
                      </a:pPr>
                      <a:r>
                        <a:rPr lang="en-US" sz="900" b="1" dirty="0">
                          <a:solidFill>
                            <a:srgbClr val="595959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2,301</a:t>
                      </a:r>
                      <a:endParaRPr lang="en-US" sz="9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E2E7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7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7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7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</a:tbl>
          </a:graphicData>
        </a:graphic>
      </p:graphicFrame>
      <p:sp>
        <p:nvSpPr>
          <p:cNvPr id="8" name="Shape 4"/>
          <p:cNvSpPr/>
          <p:nvPr/>
        </p:nvSpPr>
        <p:spPr>
          <a:xfrm>
            <a:off x="8092440" y="1828800"/>
            <a:ext cx="3520440" cy="1261872"/>
          </a:xfrm>
          <a:prstGeom prst="roundRect">
            <a:avLst>
              <a:gd name="adj" fmla="val 4348"/>
            </a:avLst>
          </a:prstGeom>
          <a:solidFill>
            <a:srgbClr val="F4F6FB"/>
          </a:solidFill>
          <a:ln w="9525">
            <a:solidFill>
              <a:srgbClr val="E2E7F2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9" name="Text 5"/>
          <p:cNvSpPr/>
          <p:nvPr/>
        </p:nvSpPr>
        <p:spPr>
          <a:xfrm>
            <a:off x="8238744" y="1920240"/>
            <a:ext cx="3227832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50" b="1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OCCUPANCY · YTD</a:t>
            </a:r>
            <a:endParaRPr lang="en-US" sz="1050" dirty="0"/>
          </a:p>
        </p:txBody>
      </p:sp>
      <p:sp>
        <p:nvSpPr>
          <p:cNvPr id="10" name="Text 6"/>
          <p:cNvSpPr/>
          <p:nvPr/>
        </p:nvSpPr>
        <p:spPr>
          <a:xfrm>
            <a:off x="8238744" y="2139696"/>
            <a:ext cx="3227832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400" b="1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75.8%</a:t>
            </a:r>
            <a:endParaRPr lang="en-US" sz="2400" dirty="0"/>
          </a:p>
        </p:txBody>
      </p:sp>
      <p:sp>
        <p:nvSpPr>
          <p:cNvPr id="11" name="Text 7"/>
          <p:cNvSpPr/>
          <p:nvPr/>
        </p:nvSpPr>
        <p:spPr>
          <a:xfrm>
            <a:off x="8238744" y="2596896"/>
            <a:ext cx="3227832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50" dirty="0">
                <a:solidFill>
                  <a:srgbClr val="C0392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-0.7 pts vs budget</a:t>
            </a:r>
            <a:r>
              <a:rPr lang="en-US" sz="105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· </a:t>
            </a:r>
            <a:r>
              <a:rPr lang="en-US" sz="1050" dirty="0">
                <a:solidFill>
                  <a:srgbClr val="2E7D3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+2.7 pts vs LY</a:t>
            </a:r>
            <a:endParaRPr lang="en-US" sz="1050" dirty="0"/>
          </a:p>
        </p:txBody>
      </p:sp>
      <p:sp>
        <p:nvSpPr>
          <p:cNvPr id="12" name="Shape 8"/>
          <p:cNvSpPr/>
          <p:nvPr/>
        </p:nvSpPr>
        <p:spPr>
          <a:xfrm>
            <a:off x="8092440" y="3236976"/>
            <a:ext cx="3520440" cy="1261872"/>
          </a:xfrm>
          <a:prstGeom prst="roundRect">
            <a:avLst>
              <a:gd name="adj" fmla="val 4348"/>
            </a:avLst>
          </a:prstGeom>
          <a:solidFill>
            <a:srgbClr val="F4F6FB"/>
          </a:solidFill>
          <a:ln w="9525">
            <a:solidFill>
              <a:srgbClr val="E2E7F2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3" name="Text 9"/>
          <p:cNvSpPr/>
          <p:nvPr/>
        </p:nvSpPr>
        <p:spPr>
          <a:xfrm>
            <a:off x="8238744" y="3328416"/>
            <a:ext cx="3227832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50" b="1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ADR · YTD</a:t>
            </a:r>
            <a:endParaRPr lang="en-US" sz="1050" dirty="0"/>
          </a:p>
        </p:txBody>
      </p:sp>
      <p:sp>
        <p:nvSpPr>
          <p:cNvPr id="14" name="Text 10"/>
          <p:cNvSpPr/>
          <p:nvPr/>
        </p:nvSpPr>
        <p:spPr>
          <a:xfrm>
            <a:off x="8238744" y="3547872"/>
            <a:ext cx="3227832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400" b="1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฿3,018</a:t>
            </a:r>
            <a:endParaRPr lang="en-US" sz="2400" dirty="0"/>
          </a:p>
        </p:txBody>
      </p:sp>
      <p:sp>
        <p:nvSpPr>
          <p:cNvPr id="15" name="Text 11"/>
          <p:cNvSpPr/>
          <p:nvPr/>
        </p:nvSpPr>
        <p:spPr>
          <a:xfrm>
            <a:off x="8238744" y="4005072"/>
            <a:ext cx="3227832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50" dirty="0">
                <a:solidFill>
                  <a:srgbClr val="C0392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-3.4% vs budget</a:t>
            </a:r>
            <a:r>
              <a:rPr lang="en-US" sz="105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· </a:t>
            </a:r>
            <a:r>
              <a:rPr lang="en-US" sz="1050" dirty="0">
                <a:solidFill>
                  <a:srgbClr val="C0392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-4.2% vs LY</a:t>
            </a:r>
            <a:endParaRPr lang="en-US" sz="1050" dirty="0"/>
          </a:p>
        </p:txBody>
      </p:sp>
      <p:sp>
        <p:nvSpPr>
          <p:cNvPr id="16" name="Shape 12"/>
          <p:cNvSpPr/>
          <p:nvPr/>
        </p:nvSpPr>
        <p:spPr>
          <a:xfrm>
            <a:off x="8092440" y="4645152"/>
            <a:ext cx="3520440" cy="1261872"/>
          </a:xfrm>
          <a:prstGeom prst="roundRect">
            <a:avLst>
              <a:gd name="adj" fmla="val 4348"/>
            </a:avLst>
          </a:prstGeom>
          <a:solidFill>
            <a:srgbClr val="F4F6FB"/>
          </a:solidFill>
          <a:ln w="9525">
            <a:solidFill>
              <a:srgbClr val="E2E7F2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7" name="Text 13"/>
          <p:cNvSpPr/>
          <p:nvPr/>
        </p:nvSpPr>
        <p:spPr>
          <a:xfrm>
            <a:off x="8238744" y="4736592"/>
            <a:ext cx="3227832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50" b="1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REVPAR · YTD</a:t>
            </a:r>
            <a:endParaRPr lang="en-US" sz="1050" dirty="0"/>
          </a:p>
        </p:txBody>
      </p:sp>
      <p:sp>
        <p:nvSpPr>
          <p:cNvPr id="7" name="Text 14"/>
          <p:cNvSpPr/>
          <p:nvPr/>
        </p:nvSpPr>
        <p:spPr>
          <a:xfrm>
            <a:off x="8238744" y="4956048"/>
            <a:ext cx="3227832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400" b="1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฿2,287</a:t>
            </a:r>
            <a:endParaRPr lang="en-US" sz="2400" dirty="0"/>
          </a:p>
        </p:txBody>
      </p:sp>
      <p:sp>
        <p:nvSpPr>
          <p:cNvPr id="19" name="Text 15"/>
          <p:cNvSpPr/>
          <p:nvPr/>
        </p:nvSpPr>
        <p:spPr>
          <a:xfrm>
            <a:off x="8238744" y="5413248"/>
            <a:ext cx="3227832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50" dirty="0">
                <a:solidFill>
                  <a:srgbClr val="C0392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-4.3% vs budget</a:t>
            </a:r>
            <a:r>
              <a:rPr lang="en-US" sz="105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· </a:t>
            </a:r>
            <a:r>
              <a:rPr lang="en-US" sz="1050" dirty="0">
                <a:solidFill>
                  <a:srgbClr val="C0392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-0.6% vs LY</a:t>
            </a:r>
            <a:endParaRPr lang="en-US" sz="1050" dirty="0"/>
          </a:p>
        </p:txBody>
      </p:sp>
      <p:sp>
        <p:nvSpPr>
          <p:cNvPr id="20" name="Text 16"/>
          <p:cNvSpPr/>
          <p:nvPr/>
        </p:nvSpPr>
        <p:spPr>
          <a:xfrm>
            <a:off x="548640" y="6172200"/>
            <a:ext cx="10881360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50" i="1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Portfolio RevPAR is ~4% behind budget, driven mainly by rate (ADR −3.4%); occupancy is near plan (−0.7 pts). Vs last year RevPAR is broadly flat. April was the softest month — driven by AES (−16% RevPAR vs budget, ≈half the gap) and LYF (occupancy 50% vs 83% budgeted), not really the market: the re-based Bangkok market actually grew RevPAR in April (+3.0%) and Pattaya was level — the April miss was property-specific.</a:t>
            </a:r>
            <a:endParaRPr lang="en-US" sz="1050" dirty="0"/>
          </a:p>
        </p:txBody>
      </p:sp>
    </p:spTree>
  </p:cSld>
  <p:clrMapOvr>
    <a:masterClrMapping/>
  </p:clrMapOvr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6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292608"/>
            <a:ext cx="8229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b="1" kern="0" spc="200" dirty="0">
                <a:solidFill>
                  <a:srgbClr val="D9A44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SECTION 3 · PORTFOLIO</a:t>
            </a:r>
            <a:endParaRPr lang="en-US" sz="1100" dirty="0"/>
          </a:p>
        </p:txBody>
      </p:sp>
      <p:sp>
        <p:nvSpPr>
          <p:cNvPr id="3" name="Text 1"/>
          <p:cNvSpPr/>
          <p:nvPr/>
        </p:nvSpPr>
        <p:spPr>
          <a:xfrm>
            <a:off x="548640" y="502920"/>
            <a:ext cx="11091672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800" b="1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Portfolio — P&amp;L, H1 2026</a:t>
            </a:r>
            <a:endParaRPr lang="en-US" sz="2800" dirty="0"/>
          </a:p>
        </p:txBody>
      </p:sp>
      <p:sp>
        <p:nvSpPr>
          <p:cNvPr id="4" name="Text 2"/>
          <p:cNvSpPr/>
          <p:nvPr/>
        </p:nvSpPr>
        <p:spPr>
          <a:xfrm>
            <a:off x="548640" y="1060704"/>
            <a:ext cx="11091672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5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YTD Jan–Jun vs MF budget · monthly P&amp;L: actual 2026 vs Budget (MF) and actual 2025 · ฿M</a:t>
            </a:r>
            <a:endParaRPr lang="en-US" sz="1250" dirty="0"/>
          </a:p>
        </p:txBody>
      </p:sp>
      <p:sp>
        <p:nvSpPr>
          <p:cNvPr id="5" name="Text 3"/>
          <p:cNvSpPr/>
          <p:nvPr/>
        </p:nvSpPr>
        <p:spPr>
          <a:xfrm>
            <a:off x="8165592" y="310896"/>
            <a:ext cx="34747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90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Mitsui Thailand Portfolio · H1 2026</a:t>
            </a:r>
            <a:endParaRPr lang="en-US" sz="900" dirty="0"/>
          </a:p>
        </p:txBody>
      </p:sp>
      <p:graphicFrame>
        <p:nvGraphicFramePr>
          <p:cNvPr id="6" name="Chart 0"/>
          <p:cNvGraphicFramePr/>
          <p:nvPr/>
        </p:nvGraphicFramePr>
        <p:xfrm>
          <a:off x="548640" y="1783080"/>
          <a:ext cx="5394960" cy="2011680"/>
        </p:xfrm>
        <a:graphic>
          <a:graphicData uri="http://schemas.openxmlformats.org/drawingml/2006/chart">
            <c:chart xmlns:c="http://schemas.openxmlformats.org/drawingml/2006/chart" xmlns:r="http://schemas.openxmlformats.org/officeDocument/2006/relationships" r:id="rId3"/>
          </a:graphicData>
        </a:graphic>
      </p:graphicFrame>
      <p:graphicFrame>
        <p:nvGraphicFramePr>
          <p:cNvPr id="17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548640" y="3886200"/>
          <a:ext cx="5394960" cy="2414016"/>
        </p:xfrm>
        <a:graphic>
          <a:graphicData uri="http://schemas.openxmlformats.org/drawingml/2006/table">
            <a:tbl>
              <a:tblPr/>
              <a:tblGrid>
                <a:gridCol w="932688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603504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603504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603504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  <a:gridCol w="603504">
                  <a:extLst>
                    <a:ext uri="{9D8B030D-6E8A-4147-A177-3AD203B41FA5}">
                      <a16:colId xmlns:a16="http://schemas.microsoft.com/office/drawing/2014/main" val="20004"/>
                    </a:ext>
                  </a:extLst>
                </a:gridCol>
                <a:gridCol w="603504">
                  <a:extLst>
                    <a:ext uri="{9D8B030D-6E8A-4147-A177-3AD203B41FA5}">
                      <a16:colId xmlns:a16="http://schemas.microsoft.com/office/drawing/2014/main" val="20005"/>
                    </a:ext>
                  </a:extLst>
                </a:gridCol>
                <a:gridCol w="603504">
                  <a:extLst>
                    <a:ext uri="{9D8B030D-6E8A-4147-A177-3AD203B41FA5}">
                      <a16:colId xmlns:a16="http://schemas.microsoft.com/office/drawing/2014/main" val="20006"/>
                    </a:ext>
                  </a:extLst>
                </a:gridCol>
                <a:gridCol w="841248">
                  <a:extLst>
                    <a:ext uri="{9D8B030D-6E8A-4147-A177-3AD203B41FA5}">
                      <a16:colId xmlns:a16="http://schemas.microsoft.com/office/drawing/2014/main" val="20007"/>
                    </a:ext>
                  </a:extLst>
                </a:gridCol>
              </a:tblGrid>
              <a:tr h="150876"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75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฿M</a:t>
                      </a:r>
                      <a:endParaRPr lang="en-US" sz="7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27432" marR="27432" marT="9144" marB="9144" anchor="ctr">
                    <a:lnL w="6350" cap="flat" cmpd="sng" algn="ctr">
                      <a:solidFill>
                        <a:srgbClr val="E2E7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7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7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7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E2761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75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Jan</a:t>
                      </a:r>
                      <a:endParaRPr lang="en-US" sz="7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27432" marR="27432" marT="9144" marB="9144" anchor="ctr">
                    <a:lnL w="6350" cap="flat" cmpd="sng" algn="ctr">
                      <a:solidFill>
                        <a:srgbClr val="E2E7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7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7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7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E2761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75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Feb</a:t>
                      </a:r>
                      <a:endParaRPr lang="en-US" sz="7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27432" marR="27432" marT="9144" marB="9144" anchor="ctr">
                    <a:lnL w="6350" cap="flat" cmpd="sng" algn="ctr">
                      <a:solidFill>
                        <a:srgbClr val="E2E7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7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7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7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E2761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75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Mar</a:t>
                      </a:r>
                      <a:endParaRPr lang="en-US" sz="7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27432" marR="27432" marT="9144" marB="9144" anchor="ctr">
                    <a:lnL w="6350" cap="flat" cmpd="sng" algn="ctr">
                      <a:solidFill>
                        <a:srgbClr val="E2E7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7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7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7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E2761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75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Apr</a:t>
                      </a:r>
                      <a:endParaRPr lang="en-US" sz="7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27432" marR="27432" marT="9144" marB="9144" anchor="ctr">
                    <a:lnL w="6350" cap="flat" cmpd="sng" algn="ctr">
                      <a:solidFill>
                        <a:srgbClr val="E2E7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7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7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7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E2761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75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May</a:t>
                      </a:r>
                      <a:endParaRPr lang="en-US" sz="7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27432" marR="27432" marT="9144" marB="9144" anchor="ctr">
                    <a:lnL w="6350" cap="flat" cmpd="sng" algn="ctr">
                      <a:solidFill>
                        <a:srgbClr val="E2E7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7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7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7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E2761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75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Jun</a:t>
                      </a:r>
                      <a:endParaRPr lang="en-US" sz="7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27432" marR="27432" marT="9144" marB="9144" anchor="ctr">
                    <a:lnL w="6350" cap="flat" cmpd="sng" algn="ctr">
                      <a:solidFill>
                        <a:srgbClr val="E2E7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7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7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7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E2761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75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H1</a:t>
                      </a:r>
                      <a:endParaRPr lang="en-US" sz="7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27432" marR="27432" marT="9144" marB="9144" anchor="ctr">
                    <a:lnL w="6350" cap="flat" cmpd="sng" algn="ctr">
                      <a:solidFill>
                        <a:srgbClr val="E2E7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7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7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7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E276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150876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750" b="1" dirty="0">
                          <a:solidFill>
                            <a:srgbClr val="26292E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Revenue ’26</a:t>
                      </a:r>
                      <a:endParaRPr lang="en-US" sz="7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27432" marR="27432" marT="9144" marB="9144" anchor="ctr">
                    <a:lnL w="6350" cap="flat" cmpd="sng" algn="ctr">
                      <a:solidFill>
                        <a:srgbClr val="E2E7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7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7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7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r">
                        <a:buNone/>
                      </a:pPr>
                      <a:r>
                        <a:rPr lang="en-US" sz="750" dirty="0">
                          <a:solidFill>
                            <a:srgbClr val="26292E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118.4</a:t>
                      </a:r>
                      <a:endParaRPr lang="en-US" sz="7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27432" marR="27432" marT="9144" marB="9144" anchor="ctr">
                    <a:lnL w="6350" cap="flat" cmpd="sng" algn="ctr">
                      <a:solidFill>
                        <a:srgbClr val="E2E7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7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7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7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r">
                        <a:buNone/>
                      </a:pPr>
                      <a:r>
                        <a:rPr lang="en-US" sz="750" dirty="0">
                          <a:solidFill>
                            <a:srgbClr val="26292E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116.7</a:t>
                      </a:r>
                      <a:endParaRPr lang="en-US" sz="7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27432" marR="27432" marT="9144" marB="9144" anchor="ctr">
                    <a:lnL w="6350" cap="flat" cmpd="sng" algn="ctr">
                      <a:solidFill>
                        <a:srgbClr val="E2E7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7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7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7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r">
                        <a:buNone/>
                      </a:pPr>
                      <a:r>
                        <a:rPr lang="en-US" sz="750" dirty="0">
                          <a:solidFill>
                            <a:srgbClr val="26292E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99.3</a:t>
                      </a:r>
                      <a:endParaRPr lang="en-US" sz="7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27432" marR="27432" marT="9144" marB="9144" anchor="ctr">
                    <a:lnL w="6350" cap="flat" cmpd="sng" algn="ctr">
                      <a:solidFill>
                        <a:srgbClr val="E2E7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7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7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7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r">
                        <a:buNone/>
                      </a:pPr>
                      <a:r>
                        <a:rPr lang="en-US" sz="750" dirty="0">
                          <a:solidFill>
                            <a:srgbClr val="26292E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88.4</a:t>
                      </a:r>
                      <a:endParaRPr lang="en-US" sz="7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27432" marR="27432" marT="9144" marB="9144" anchor="ctr">
                    <a:lnL w="6350" cap="flat" cmpd="sng" algn="ctr">
                      <a:solidFill>
                        <a:srgbClr val="E2E7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7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7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7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r">
                        <a:buNone/>
                      </a:pPr>
                      <a:r>
                        <a:rPr lang="en-US" sz="750" dirty="0">
                          <a:solidFill>
                            <a:srgbClr val="26292E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80.5</a:t>
                      </a:r>
                      <a:endParaRPr lang="en-US" sz="7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27432" marR="27432" marT="9144" marB="9144" anchor="ctr">
                    <a:lnL w="6350" cap="flat" cmpd="sng" algn="ctr">
                      <a:solidFill>
                        <a:srgbClr val="E2E7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7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7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7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r">
                        <a:buNone/>
                      </a:pPr>
                      <a:r>
                        <a:rPr lang="en-US" sz="750" dirty="0">
                          <a:solidFill>
                            <a:srgbClr val="26292E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78.6</a:t>
                      </a:r>
                      <a:endParaRPr lang="en-US" sz="7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27432" marR="27432" marT="9144" marB="9144" anchor="ctr">
                    <a:lnL w="6350" cap="flat" cmpd="sng" algn="ctr">
                      <a:solidFill>
                        <a:srgbClr val="E2E7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7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7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7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r">
                        <a:buNone/>
                      </a:pPr>
                      <a:r>
                        <a:rPr lang="en-US" sz="750" b="1" dirty="0">
                          <a:solidFill>
                            <a:srgbClr val="1E2761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581.9</a:t>
                      </a:r>
                      <a:endParaRPr lang="en-US" sz="7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27432" marR="27432" marT="9144" marB="9144" anchor="ctr">
                    <a:lnL w="6350" cap="flat" cmpd="sng" algn="ctr">
                      <a:solidFill>
                        <a:srgbClr val="E2E7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7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7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7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150876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750" dirty="0">
                          <a:solidFill>
                            <a:srgbClr val="6B728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Revenue ’25</a:t>
                      </a:r>
                      <a:endParaRPr lang="en-US" sz="7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27432" marR="27432" marT="9144" marB="9144" anchor="ctr">
                    <a:lnL w="6350" cap="flat" cmpd="sng" algn="ctr">
                      <a:solidFill>
                        <a:srgbClr val="E2E7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7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7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7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r">
                        <a:buNone/>
                      </a:pPr>
                      <a:r>
                        <a:rPr lang="en-US" sz="750" dirty="0">
                          <a:solidFill>
                            <a:srgbClr val="6B728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133.8</a:t>
                      </a:r>
                      <a:endParaRPr lang="en-US" sz="7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27432" marR="27432" marT="9144" marB="9144" anchor="ctr">
                    <a:lnL w="6350" cap="flat" cmpd="sng" algn="ctr">
                      <a:solidFill>
                        <a:srgbClr val="E2E7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7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7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7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r">
                        <a:buNone/>
                      </a:pPr>
                      <a:r>
                        <a:rPr lang="en-US" sz="750" dirty="0">
                          <a:solidFill>
                            <a:srgbClr val="6B728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110.1</a:t>
                      </a:r>
                      <a:endParaRPr lang="en-US" sz="7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27432" marR="27432" marT="9144" marB="9144" anchor="ctr">
                    <a:lnL w="6350" cap="flat" cmpd="sng" algn="ctr">
                      <a:solidFill>
                        <a:srgbClr val="E2E7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7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7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7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r">
                        <a:buNone/>
                      </a:pPr>
                      <a:r>
                        <a:rPr lang="en-US" sz="750" dirty="0">
                          <a:solidFill>
                            <a:srgbClr val="6B728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90.0</a:t>
                      </a:r>
                      <a:endParaRPr lang="en-US" sz="7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27432" marR="27432" marT="9144" marB="9144" anchor="ctr">
                    <a:lnL w="6350" cap="flat" cmpd="sng" algn="ctr">
                      <a:solidFill>
                        <a:srgbClr val="E2E7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7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7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7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r">
                        <a:buNone/>
                      </a:pPr>
                      <a:r>
                        <a:rPr lang="en-US" sz="750" dirty="0">
                          <a:solidFill>
                            <a:srgbClr val="6B728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91.4</a:t>
                      </a:r>
                      <a:endParaRPr lang="en-US" sz="7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27432" marR="27432" marT="9144" marB="9144" anchor="ctr">
                    <a:lnL w="6350" cap="flat" cmpd="sng" algn="ctr">
                      <a:solidFill>
                        <a:srgbClr val="E2E7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7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7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7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r">
                        <a:buNone/>
                      </a:pPr>
                      <a:r>
                        <a:rPr lang="en-US" sz="750" dirty="0">
                          <a:solidFill>
                            <a:srgbClr val="6B728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85.7</a:t>
                      </a:r>
                      <a:endParaRPr lang="en-US" sz="7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27432" marR="27432" marT="9144" marB="9144" anchor="ctr">
                    <a:lnL w="6350" cap="flat" cmpd="sng" algn="ctr">
                      <a:solidFill>
                        <a:srgbClr val="E2E7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7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7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7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r">
                        <a:buNone/>
                      </a:pPr>
                      <a:r>
                        <a:rPr lang="en-US" sz="750" dirty="0">
                          <a:solidFill>
                            <a:srgbClr val="6B728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79.3</a:t>
                      </a:r>
                      <a:endParaRPr lang="en-US" sz="7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27432" marR="27432" marT="9144" marB="9144" anchor="ctr">
                    <a:lnL w="6350" cap="flat" cmpd="sng" algn="ctr">
                      <a:solidFill>
                        <a:srgbClr val="E2E7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7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7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7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r">
                        <a:buNone/>
                      </a:pPr>
                      <a:r>
                        <a:rPr lang="en-US" sz="750" b="1" dirty="0">
                          <a:solidFill>
                            <a:srgbClr val="6B728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590.4</a:t>
                      </a:r>
                      <a:endParaRPr lang="en-US" sz="7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27432" marR="27432" marT="9144" marB="9144" anchor="ctr">
                    <a:lnL w="6350" cap="flat" cmpd="sng" algn="ctr">
                      <a:solidFill>
                        <a:srgbClr val="E2E7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7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7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7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150876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750" b="1" dirty="0">
                          <a:solidFill>
                            <a:srgbClr val="26292E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OPEX ’26</a:t>
                      </a:r>
                      <a:endParaRPr lang="en-US" sz="7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27432" marR="27432" marT="9144" marB="9144" anchor="ctr">
                    <a:lnL w="6350" cap="flat" cmpd="sng" algn="ctr">
                      <a:solidFill>
                        <a:srgbClr val="E2E7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7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7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7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6FB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r">
                        <a:buNone/>
                      </a:pPr>
                      <a:r>
                        <a:rPr lang="en-US" sz="750" dirty="0">
                          <a:solidFill>
                            <a:srgbClr val="26292E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-48.1</a:t>
                      </a:r>
                      <a:endParaRPr lang="en-US" sz="7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27432" marR="27432" marT="9144" marB="9144" anchor="ctr">
                    <a:lnL w="6350" cap="flat" cmpd="sng" algn="ctr">
                      <a:solidFill>
                        <a:srgbClr val="E2E7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7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7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7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6FB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r">
                        <a:buNone/>
                      </a:pPr>
                      <a:r>
                        <a:rPr lang="en-US" sz="750" dirty="0">
                          <a:solidFill>
                            <a:srgbClr val="26292E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-46.5</a:t>
                      </a:r>
                      <a:endParaRPr lang="en-US" sz="7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27432" marR="27432" marT="9144" marB="9144" anchor="ctr">
                    <a:lnL w="6350" cap="flat" cmpd="sng" algn="ctr">
                      <a:solidFill>
                        <a:srgbClr val="E2E7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7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7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7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6FB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r">
                        <a:buNone/>
                      </a:pPr>
                      <a:r>
                        <a:rPr lang="en-US" sz="750" dirty="0">
                          <a:solidFill>
                            <a:srgbClr val="26292E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-44.2</a:t>
                      </a:r>
                      <a:endParaRPr lang="en-US" sz="7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27432" marR="27432" marT="9144" marB="9144" anchor="ctr">
                    <a:lnL w="6350" cap="flat" cmpd="sng" algn="ctr">
                      <a:solidFill>
                        <a:srgbClr val="E2E7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7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7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7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6FB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r">
                        <a:buNone/>
                      </a:pPr>
                      <a:r>
                        <a:rPr lang="en-US" sz="750" dirty="0">
                          <a:solidFill>
                            <a:srgbClr val="26292E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-42.7</a:t>
                      </a:r>
                      <a:endParaRPr lang="en-US" sz="7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27432" marR="27432" marT="9144" marB="9144" anchor="ctr">
                    <a:lnL w="6350" cap="flat" cmpd="sng" algn="ctr">
                      <a:solidFill>
                        <a:srgbClr val="E2E7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7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7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7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6FB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r">
                        <a:buNone/>
                      </a:pPr>
                      <a:r>
                        <a:rPr lang="en-US" sz="750" dirty="0">
                          <a:solidFill>
                            <a:srgbClr val="26292E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-41.2</a:t>
                      </a:r>
                      <a:endParaRPr lang="en-US" sz="7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27432" marR="27432" marT="9144" marB="9144" anchor="ctr">
                    <a:lnL w="6350" cap="flat" cmpd="sng" algn="ctr">
                      <a:solidFill>
                        <a:srgbClr val="E2E7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7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7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7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6FB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r">
                        <a:buNone/>
                      </a:pPr>
                      <a:r>
                        <a:rPr lang="en-US" sz="750" dirty="0">
                          <a:solidFill>
                            <a:srgbClr val="26292E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-41.2</a:t>
                      </a:r>
                      <a:endParaRPr lang="en-US" sz="7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27432" marR="27432" marT="9144" marB="9144" anchor="ctr">
                    <a:lnL w="6350" cap="flat" cmpd="sng" algn="ctr">
                      <a:solidFill>
                        <a:srgbClr val="E2E7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7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7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7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6FB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r">
                        <a:buNone/>
                      </a:pPr>
                      <a:r>
                        <a:rPr lang="en-US" sz="750" b="1" dirty="0">
                          <a:solidFill>
                            <a:srgbClr val="1E2761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-263.9</a:t>
                      </a:r>
                      <a:endParaRPr lang="en-US" sz="7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27432" marR="27432" marT="9144" marB="9144" anchor="ctr">
                    <a:lnL w="6350" cap="flat" cmpd="sng" algn="ctr">
                      <a:solidFill>
                        <a:srgbClr val="E2E7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7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7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7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6FB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  <a:tr h="150876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750" dirty="0">
                          <a:solidFill>
                            <a:srgbClr val="6B728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OPEX Budget</a:t>
                      </a:r>
                      <a:endParaRPr lang="en-US" sz="7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27432" marR="27432" marT="9144" marB="9144" anchor="ctr">
                    <a:lnL w="6350" cap="flat" cmpd="sng" algn="ctr">
                      <a:solidFill>
                        <a:srgbClr val="E2E7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7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7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7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6FB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r">
                        <a:buNone/>
                      </a:pPr>
                      <a:r>
                        <a:rPr lang="en-US" sz="750" dirty="0">
                          <a:solidFill>
                            <a:srgbClr val="6B728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-52.6</a:t>
                      </a:r>
                      <a:endParaRPr lang="en-US" sz="7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27432" marR="27432" marT="9144" marB="9144" anchor="ctr">
                    <a:lnL w="6350" cap="flat" cmpd="sng" algn="ctr">
                      <a:solidFill>
                        <a:srgbClr val="E2E7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7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7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7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6FB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r">
                        <a:buNone/>
                      </a:pPr>
                      <a:r>
                        <a:rPr lang="en-US" sz="750" dirty="0">
                          <a:solidFill>
                            <a:srgbClr val="6B728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-50.7</a:t>
                      </a:r>
                      <a:endParaRPr lang="en-US" sz="7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27432" marR="27432" marT="9144" marB="9144" anchor="ctr">
                    <a:lnL w="6350" cap="flat" cmpd="sng" algn="ctr">
                      <a:solidFill>
                        <a:srgbClr val="E2E7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7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7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7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6FB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r">
                        <a:buNone/>
                      </a:pPr>
                      <a:r>
                        <a:rPr lang="en-US" sz="750" dirty="0">
                          <a:solidFill>
                            <a:srgbClr val="6B728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-48.6</a:t>
                      </a:r>
                      <a:endParaRPr lang="en-US" sz="7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27432" marR="27432" marT="9144" marB="9144" anchor="ctr">
                    <a:lnL w="6350" cap="flat" cmpd="sng" algn="ctr">
                      <a:solidFill>
                        <a:srgbClr val="E2E7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7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7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7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6FB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r">
                        <a:buNone/>
                      </a:pPr>
                      <a:r>
                        <a:rPr lang="en-US" sz="750" dirty="0">
                          <a:solidFill>
                            <a:srgbClr val="6B728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-48.9</a:t>
                      </a:r>
                      <a:endParaRPr lang="en-US" sz="7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27432" marR="27432" marT="9144" marB="9144" anchor="ctr">
                    <a:lnL w="6350" cap="flat" cmpd="sng" algn="ctr">
                      <a:solidFill>
                        <a:srgbClr val="E2E7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7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7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7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6FB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r">
                        <a:buNone/>
                      </a:pPr>
                      <a:r>
                        <a:rPr lang="en-US" sz="750" dirty="0">
                          <a:solidFill>
                            <a:srgbClr val="6B728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-48.4</a:t>
                      </a:r>
                      <a:endParaRPr lang="en-US" sz="7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27432" marR="27432" marT="9144" marB="9144" anchor="ctr">
                    <a:lnL w="6350" cap="flat" cmpd="sng" algn="ctr">
                      <a:solidFill>
                        <a:srgbClr val="E2E7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7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7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7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6FB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r">
                        <a:buNone/>
                      </a:pPr>
                      <a:r>
                        <a:rPr lang="en-US" sz="750" dirty="0">
                          <a:solidFill>
                            <a:srgbClr val="6B728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-47.4</a:t>
                      </a:r>
                      <a:endParaRPr lang="en-US" sz="7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27432" marR="27432" marT="9144" marB="9144" anchor="ctr">
                    <a:lnL w="6350" cap="flat" cmpd="sng" algn="ctr">
                      <a:solidFill>
                        <a:srgbClr val="E2E7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7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7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7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6FB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r">
                        <a:buNone/>
                      </a:pPr>
                      <a:r>
                        <a:rPr lang="en-US" sz="750" b="1" dirty="0">
                          <a:solidFill>
                            <a:srgbClr val="6B728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-296.6</a:t>
                      </a:r>
                      <a:endParaRPr lang="en-US" sz="7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27432" marR="27432" marT="9144" marB="9144" anchor="ctr">
                    <a:lnL w="6350" cap="flat" cmpd="sng" algn="ctr">
                      <a:solidFill>
                        <a:srgbClr val="E2E7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7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7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7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6FB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5"/>
                  </a:ext>
                </a:extLst>
              </a:tr>
              <a:tr h="150876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750" dirty="0">
                          <a:solidFill>
                            <a:srgbClr val="6B728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OPEX ’25</a:t>
                      </a:r>
                      <a:endParaRPr lang="en-US" sz="7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27432" marR="27432" marT="9144" marB="9144" anchor="ctr">
                    <a:lnL w="6350" cap="flat" cmpd="sng" algn="ctr">
                      <a:solidFill>
                        <a:srgbClr val="E2E7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7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7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7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6FB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r">
                        <a:buNone/>
                      </a:pPr>
                      <a:r>
                        <a:rPr lang="en-US" sz="750" dirty="0">
                          <a:solidFill>
                            <a:srgbClr val="6B728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-53.5</a:t>
                      </a:r>
                      <a:endParaRPr lang="en-US" sz="7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27432" marR="27432" marT="9144" marB="9144" anchor="ctr">
                    <a:lnL w="6350" cap="flat" cmpd="sng" algn="ctr">
                      <a:solidFill>
                        <a:srgbClr val="E2E7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7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7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7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6FB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r">
                        <a:buNone/>
                      </a:pPr>
                      <a:r>
                        <a:rPr lang="en-US" sz="750" dirty="0">
                          <a:solidFill>
                            <a:srgbClr val="6B728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-47.9</a:t>
                      </a:r>
                      <a:endParaRPr lang="en-US" sz="7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27432" marR="27432" marT="9144" marB="9144" anchor="ctr">
                    <a:lnL w="6350" cap="flat" cmpd="sng" algn="ctr">
                      <a:solidFill>
                        <a:srgbClr val="E2E7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7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7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7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6FB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r">
                        <a:buNone/>
                      </a:pPr>
                      <a:r>
                        <a:rPr lang="en-US" sz="750" dirty="0">
                          <a:solidFill>
                            <a:srgbClr val="6B728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-41.2</a:t>
                      </a:r>
                      <a:endParaRPr lang="en-US" sz="7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27432" marR="27432" marT="9144" marB="9144" anchor="ctr">
                    <a:lnL w="6350" cap="flat" cmpd="sng" algn="ctr">
                      <a:solidFill>
                        <a:srgbClr val="E2E7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7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7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7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6FB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r">
                        <a:buNone/>
                      </a:pPr>
                      <a:r>
                        <a:rPr lang="en-US" sz="750" dirty="0">
                          <a:solidFill>
                            <a:srgbClr val="6B728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-43.5</a:t>
                      </a:r>
                      <a:endParaRPr lang="en-US" sz="7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27432" marR="27432" marT="9144" marB="9144" anchor="ctr">
                    <a:lnL w="6350" cap="flat" cmpd="sng" algn="ctr">
                      <a:solidFill>
                        <a:srgbClr val="E2E7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7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7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7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6FB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r">
                        <a:buNone/>
                      </a:pPr>
                      <a:r>
                        <a:rPr lang="en-US" sz="750" dirty="0">
                          <a:solidFill>
                            <a:srgbClr val="6B728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-42.5</a:t>
                      </a:r>
                      <a:endParaRPr lang="en-US" sz="7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27432" marR="27432" marT="9144" marB="9144" anchor="ctr">
                    <a:lnL w="6350" cap="flat" cmpd="sng" algn="ctr">
                      <a:solidFill>
                        <a:srgbClr val="E2E7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7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7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7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6FB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r">
                        <a:buNone/>
                      </a:pPr>
                      <a:r>
                        <a:rPr lang="en-US" sz="750" dirty="0">
                          <a:solidFill>
                            <a:srgbClr val="6B728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-40.9</a:t>
                      </a:r>
                      <a:endParaRPr lang="en-US" sz="7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27432" marR="27432" marT="9144" marB="9144" anchor="ctr">
                    <a:lnL w="6350" cap="flat" cmpd="sng" algn="ctr">
                      <a:solidFill>
                        <a:srgbClr val="E2E7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7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7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7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6FB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r">
                        <a:buNone/>
                      </a:pPr>
                      <a:r>
                        <a:rPr lang="en-US" sz="750" b="1" dirty="0">
                          <a:solidFill>
                            <a:srgbClr val="6B728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-269.4</a:t>
                      </a:r>
                      <a:endParaRPr lang="en-US" sz="7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27432" marR="27432" marT="9144" marB="9144" anchor="ctr">
                    <a:lnL w="6350" cap="flat" cmpd="sng" algn="ctr">
                      <a:solidFill>
                        <a:srgbClr val="E2E7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7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7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7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6FB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5"/>
                  </a:ext>
                </a:extLst>
              </a:tr>
              <a:tr h="150876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750" b="1" dirty="0">
                          <a:solidFill>
                            <a:srgbClr val="26292E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GOP ’26</a:t>
                      </a:r>
                      <a:endParaRPr lang="en-US" sz="7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27432" marR="27432" marT="9144" marB="9144" anchor="ctr">
                    <a:lnL w="6350" cap="flat" cmpd="sng" algn="ctr">
                      <a:solidFill>
                        <a:srgbClr val="E2E7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7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7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7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r">
                        <a:buNone/>
                      </a:pPr>
                      <a:r>
                        <a:rPr lang="en-US" sz="750" dirty="0">
                          <a:solidFill>
                            <a:srgbClr val="26292E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70.4</a:t>
                      </a:r>
                      <a:endParaRPr lang="en-US" sz="7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27432" marR="27432" marT="9144" marB="9144" anchor="ctr">
                    <a:lnL w="6350" cap="flat" cmpd="sng" algn="ctr">
                      <a:solidFill>
                        <a:srgbClr val="E2E7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7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7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7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r">
                        <a:buNone/>
                      </a:pPr>
                      <a:r>
                        <a:rPr lang="en-US" sz="750" dirty="0">
                          <a:solidFill>
                            <a:srgbClr val="26292E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70.2</a:t>
                      </a:r>
                      <a:endParaRPr lang="en-US" sz="7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27432" marR="27432" marT="9144" marB="9144" anchor="ctr">
                    <a:lnL w="6350" cap="flat" cmpd="sng" algn="ctr">
                      <a:solidFill>
                        <a:srgbClr val="E2E7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7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7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7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r">
                        <a:buNone/>
                      </a:pPr>
                      <a:r>
                        <a:rPr lang="en-US" sz="750" dirty="0">
                          <a:solidFill>
                            <a:srgbClr val="26292E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55.1</a:t>
                      </a:r>
                      <a:endParaRPr lang="en-US" sz="7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27432" marR="27432" marT="9144" marB="9144" anchor="ctr">
                    <a:lnL w="6350" cap="flat" cmpd="sng" algn="ctr">
                      <a:solidFill>
                        <a:srgbClr val="E2E7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7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7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7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r">
                        <a:buNone/>
                      </a:pPr>
                      <a:r>
                        <a:rPr lang="en-US" sz="750" dirty="0">
                          <a:solidFill>
                            <a:srgbClr val="26292E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45.6</a:t>
                      </a:r>
                      <a:endParaRPr lang="en-US" sz="7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27432" marR="27432" marT="9144" marB="9144" anchor="ctr">
                    <a:lnL w="6350" cap="flat" cmpd="sng" algn="ctr">
                      <a:solidFill>
                        <a:srgbClr val="E2E7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7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7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7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r">
                        <a:buNone/>
                      </a:pPr>
                      <a:r>
                        <a:rPr lang="en-US" sz="750" dirty="0">
                          <a:solidFill>
                            <a:srgbClr val="26292E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39.4</a:t>
                      </a:r>
                      <a:endParaRPr lang="en-US" sz="7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27432" marR="27432" marT="9144" marB="9144" anchor="ctr">
                    <a:lnL w="6350" cap="flat" cmpd="sng" algn="ctr">
                      <a:solidFill>
                        <a:srgbClr val="E2E7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7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7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7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r">
                        <a:buNone/>
                      </a:pPr>
                      <a:r>
                        <a:rPr lang="en-US" sz="750" dirty="0">
                          <a:solidFill>
                            <a:srgbClr val="26292E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37.4</a:t>
                      </a:r>
                      <a:endParaRPr lang="en-US" sz="7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27432" marR="27432" marT="9144" marB="9144" anchor="ctr">
                    <a:lnL w="6350" cap="flat" cmpd="sng" algn="ctr">
                      <a:solidFill>
                        <a:srgbClr val="E2E7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7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7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7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r">
                        <a:buNone/>
                      </a:pPr>
                      <a:r>
                        <a:rPr lang="en-US" sz="750" b="1" dirty="0">
                          <a:solidFill>
                            <a:srgbClr val="1E2761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318.0</a:t>
                      </a:r>
                      <a:endParaRPr lang="en-US" sz="7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27432" marR="27432" marT="9144" marB="9144" anchor="ctr">
                    <a:lnL w="6350" cap="flat" cmpd="sng" algn="ctr">
                      <a:solidFill>
                        <a:srgbClr val="E2E7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7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7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7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7"/>
                  </a:ext>
                </a:extLst>
              </a:tr>
              <a:tr h="150876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750" dirty="0">
                          <a:solidFill>
                            <a:srgbClr val="6B728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GOP Budget</a:t>
                      </a:r>
                      <a:endParaRPr lang="en-US" sz="7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27432" marR="27432" marT="9144" marB="9144" anchor="ctr">
                    <a:lnL w="6350" cap="flat" cmpd="sng" algn="ctr">
                      <a:solidFill>
                        <a:srgbClr val="E2E7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7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7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7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r">
                        <a:buNone/>
                      </a:pPr>
                      <a:r>
                        <a:rPr lang="en-US" sz="750" dirty="0">
                          <a:solidFill>
                            <a:srgbClr val="6B728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77.7</a:t>
                      </a:r>
                      <a:endParaRPr lang="en-US" sz="7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27432" marR="27432" marT="9144" marB="9144" anchor="ctr">
                    <a:lnL w="6350" cap="flat" cmpd="sng" algn="ctr">
                      <a:solidFill>
                        <a:srgbClr val="E2E7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7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7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7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r">
                        <a:buNone/>
                      </a:pPr>
                      <a:r>
                        <a:rPr lang="en-US" sz="750" dirty="0">
                          <a:solidFill>
                            <a:srgbClr val="6B728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70.9</a:t>
                      </a:r>
                      <a:endParaRPr lang="en-US" sz="7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27432" marR="27432" marT="9144" marB="9144" anchor="ctr">
                    <a:lnL w="6350" cap="flat" cmpd="sng" algn="ctr">
                      <a:solidFill>
                        <a:srgbClr val="E2E7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7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7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7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r">
                        <a:buNone/>
                      </a:pPr>
                      <a:r>
                        <a:rPr lang="en-US" sz="750" dirty="0">
                          <a:solidFill>
                            <a:srgbClr val="6B728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53.1</a:t>
                      </a:r>
                      <a:endParaRPr lang="en-US" sz="7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27432" marR="27432" marT="9144" marB="9144" anchor="ctr">
                    <a:lnL w="6350" cap="flat" cmpd="sng" algn="ctr">
                      <a:solidFill>
                        <a:srgbClr val="E2E7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7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7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7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r">
                        <a:buNone/>
                      </a:pPr>
                      <a:r>
                        <a:rPr lang="en-US" sz="750" dirty="0">
                          <a:solidFill>
                            <a:srgbClr val="6B728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55.0</a:t>
                      </a:r>
                      <a:endParaRPr lang="en-US" sz="7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27432" marR="27432" marT="9144" marB="9144" anchor="ctr">
                    <a:lnL w="6350" cap="flat" cmpd="sng" algn="ctr">
                      <a:solidFill>
                        <a:srgbClr val="E2E7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7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7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7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r">
                        <a:buNone/>
                      </a:pPr>
                      <a:r>
                        <a:rPr lang="en-US" sz="750" dirty="0">
                          <a:solidFill>
                            <a:srgbClr val="6B728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47.6</a:t>
                      </a:r>
                      <a:endParaRPr lang="en-US" sz="7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27432" marR="27432" marT="9144" marB="9144" anchor="ctr">
                    <a:lnL w="6350" cap="flat" cmpd="sng" algn="ctr">
                      <a:solidFill>
                        <a:srgbClr val="E2E7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7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7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7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r">
                        <a:buNone/>
                      </a:pPr>
                      <a:r>
                        <a:rPr lang="en-US" sz="750" dirty="0">
                          <a:solidFill>
                            <a:srgbClr val="6B728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43.9</a:t>
                      </a:r>
                      <a:endParaRPr lang="en-US" sz="7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27432" marR="27432" marT="9144" marB="9144" anchor="ctr">
                    <a:lnL w="6350" cap="flat" cmpd="sng" algn="ctr">
                      <a:solidFill>
                        <a:srgbClr val="E2E7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7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7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7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r">
                        <a:buNone/>
                      </a:pPr>
                      <a:r>
                        <a:rPr lang="en-US" sz="750" b="1" dirty="0">
                          <a:solidFill>
                            <a:srgbClr val="6B728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348.1</a:t>
                      </a:r>
                      <a:endParaRPr lang="en-US" sz="7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27432" marR="27432" marT="9144" marB="9144" anchor="ctr">
                    <a:lnL w="6350" cap="flat" cmpd="sng" algn="ctr">
                      <a:solidFill>
                        <a:srgbClr val="E2E7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7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7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7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8"/>
                  </a:ext>
                </a:extLst>
              </a:tr>
              <a:tr h="150876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750" dirty="0">
                          <a:solidFill>
                            <a:srgbClr val="6B728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GOP ’25</a:t>
                      </a:r>
                      <a:endParaRPr lang="en-US" sz="7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27432" marR="27432" marT="9144" marB="9144" anchor="ctr">
                    <a:lnL w="6350" cap="flat" cmpd="sng" algn="ctr">
                      <a:solidFill>
                        <a:srgbClr val="E2E7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7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7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7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r">
                        <a:buNone/>
                      </a:pPr>
                      <a:r>
                        <a:rPr lang="en-US" sz="750" dirty="0">
                          <a:solidFill>
                            <a:srgbClr val="6B728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80.4</a:t>
                      </a:r>
                      <a:endParaRPr lang="en-US" sz="7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27432" marR="27432" marT="9144" marB="9144" anchor="ctr">
                    <a:lnL w="6350" cap="flat" cmpd="sng" algn="ctr">
                      <a:solidFill>
                        <a:srgbClr val="E2E7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7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7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7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r">
                        <a:buNone/>
                      </a:pPr>
                      <a:r>
                        <a:rPr lang="en-US" sz="750" dirty="0">
                          <a:solidFill>
                            <a:srgbClr val="6B728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62.2</a:t>
                      </a:r>
                      <a:endParaRPr lang="en-US" sz="7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27432" marR="27432" marT="9144" marB="9144" anchor="ctr">
                    <a:lnL w="6350" cap="flat" cmpd="sng" algn="ctr">
                      <a:solidFill>
                        <a:srgbClr val="E2E7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7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7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7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r">
                        <a:buNone/>
                      </a:pPr>
                      <a:r>
                        <a:rPr lang="en-US" sz="750" dirty="0">
                          <a:solidFill>
                            <a:srgbClr val="6B728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48.8</a:t>
                      </a:r>
                      <a:endParaRPr lang="en-US" sz="7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27432" marR="27432" marT="9144" marB="9144" anchor="ctr">
                    <a:lnL w="6350" cap="flat" cmpd="sng" algn="ctr">
                      <a:solidFill>
                        <a:srgbClr val="E2E7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7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7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7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r">
                        <a:buNone/>
                      </a:pPr>
                      <a:r>
                        <a:rPr lang="en-US" sz="750" dirty="0">
                          <a:solidFill>
                            <a:srgbClr val="6B728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47.9</a:t>
                      </a:r>
                      <a:endParaRPr lang="en-US" sz="7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27432" marR="27432" marT="9144" marB="9144" anchor="ctr">
                    <a:lnL w="6350" cap="flat" cmpd="sng" algn="ctr">
                      <a:solidFill>
                        <a:srgbClr val="E2E7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7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7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7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r">
                        <a:buNone/>
                      </a:pPr>
                      <a:r>
                        <a:rPr lang="en-US" sz="750" dirty="0">
                          <a:solidFill>
                            <a:srgbClr val="6B728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43.2</a:t>
                      </a:r>
                      <a:endParaRPr lang="en-US" sz="7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27432" marR="27432" marT="9144" marB="9144" anchor="ctr">
                    <a:lnL w="6350" cap="flat" cmpd="sng" algn="ctr">
                      <a:solidFill>
                        <a:srgbClr val="E2E7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7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7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7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r">
                        <a:buNone/>
                      </a:pPr>
                      <a:r>
                        <a:rPr lang="en-US" sz="750" dirty="0">
                          <a:solidFill>
                            <a:srgbClr val="6B728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38.4</a:t>
                      </a:r>
                      <a:endParaRPr lang="en-US" sz="7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27432" marR="27432" marT="9144" marB="9144" anchor="ctr">
                    <a:lnL w="6350" cap="flat" cmpd="sng" algn="ctr">
                      <a:solidFill>
                        <a:srgbClr val="E2E7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7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7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7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r">
                        <a:buNone/>
                      </a:pPr>
                      <a:r>
                        <a:rPr lang="en-US" sz="750" b="1" dirty="0">
                          <a:solidFill>
                            <a:srgbClr val="6B728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320.9</a:t>
                      </a:r>
                      <a:endParaRPr lang="en-US" sz="7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27432" marR="27432" marT="9144" marB="9144" anchor="ctr">
                    <a:lnL w="6350" cap="flat" cmpd="sng" algn="ctr">
                      <a:solidFill>
                        <a:srgbClr val="E2E7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7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7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7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8"/>
                  </a:ext>
                </a:extLst>
              </a:tr>
              <a:tr h="150876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750" b="1" dirty="0">
                          <a:solidFill>
                            <a:srgbClr val="26292E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EBIT ’26</a:t>
                      </a:r>
                      <a:endParaRPr lang="en-US" sz="7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27432" marR="27432" marT="9144" marB="9144" anchor="ctr">
                    <a:lnL w="6350" cap="flat" cmpd="sng" algn="ctr">
                      <a:solidFill>
                        <a:srgbClr val="E2E7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7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7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7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6FB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r">
                        <a:buNone/>
                      </a:pPr>
                      <a:r>
                        <a:rPr lang="en-US" sz="750" dirty="0">
                          <a:solidFill>
                            <a:srgbClr val="26292E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39.3</a:t>
                      </a:r>
                      <a:endParaRPr lang="en-US" sz="7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27432" marR="27432" marT="9144" marB="9144" anchor="ctr">
                    <a:lnL w="6350" cap="flat" cmpd="sng" algn="ctr">
                      <a:solidFill>
                        <a:srgbClr val="E2E7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7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7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7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6FB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r">
                        <a:buNone/>
                      </a:pPr>
                      <a:r>
                        <a:rPr lang="en-US" sz="750" dirty="0">
                          <a:solidFill>
                            <a:srgbClr val="26292E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38.7</a:t>
                      </a:r>
                      <a:endParaRPr lang="en-US" sz="7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27432" marR="27432" marT="9144" marB="9144" anchor="ctr">
                    <a:lnL w="6350" cap="flat" cmpd="sng" algn="ctr">
                      <a:solidFill>
                        <a:srgbClr val="E2E7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7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7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7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6FB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r">
                        <a:buNone/>
                      </a:pPr>
                      <a:r>
                        <a:rPr lang="en-US" sz="750" dirty="0">
                          <a:solidFill>
                            <a:srgbClr val="26292E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25.6</a:t>
                      </a:r>
                      <a:endParaRPr lang="en-US" sz="7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27432" marR="27432" marT="9144" marB="9144" anchor="ctr">
                    <a:lnL w="6350" cap="flat" cmpd="sng" algn="ctr">
                      <a:solidFill>
                        <a:srgbClr val="E2E7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7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7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7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6FB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r">
                        <a:buNone/>
                      </a:pPr>
                      <a:r>
                        <a:rPr lang="en-US" sz="750" dirty="0">
                          <a:solidFill>
                            <a:srgbClr val="26292E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17.3</a:t>
                      </a:r>
                      <a:endParaRPr lang="en-US" sz="7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27432" marR="27432" marT="9144" marB="9144" anchor="ctr">
                    <a:lnL w="6350" cap="flat" cmpd="sng" algn="ctr">
                      <a:solidFill>
                        <a:srgbClr val="E2E7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7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7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7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6FB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r">
                        <a:buNone/>
                      </a:pPr>
                      <a:r>
                        <a:rPr lang="en-US" sz="750" dirty="0">
                          <a:solidFill>
                            <a:srgbClr val="26292E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10.8</a:t>
                      </a:r>
                      <a:endParaRPr lang="en-US" sz="7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27432" marR="27432" marT="9144" marB="9144" anchor="ctr">
                    <a:lnL w="6350" cap="flat" cmpd="sng" algn="ctr">
                      <a:solidFill>
                        <a:srgbClr val="E2E7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7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7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7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6FB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r">
                        <a:buNone/>
                      </a:pPr>
                      <a:r>
                        <a:rPr lang="en-US" sz="750" dirty="0">
                          <a:solidFill>
                            <a:srgbClr val="26292E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11.6</a:t>
                      </a:r>
                      <a:endParaRPr lang="en-US" sz="7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27432" marR="27432" marT="9144" marB="9144" anchor="ctr">
                    <a:lnL w="6350" cap="flat" cmpd="sng" algn="ctr">
                      <a:solidFill>
                        <a:srgbClr val="E2E7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7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7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7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6FB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r">
                        <a:buNone/>
                      </a:pPr>
                      <a:r>
                        <a:rPr lang="en-US" sz="750" b="1" dirty="0">
                          <a:solidFill>
                            <a:srgbClr val="1E2761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143.2</a:t>
                      </a:r>
                      <a:endParaRPr lang="en-US" sz="7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27432" marR="27432" marT="9144" marB="9144" anchor="ctr">
                    <a:lnL w="6350" cap="flat" cmpd="sng" algn="ctr">
                      <a:solidFill>
                        <a:srgbClr val="E2E7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7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7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7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6FB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10"/>
                  </a:ext>
                </a:extLst>
              </a:tr>
              <a:tr h="150876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750" dirty="0">
                          <a:solidFill>
                            <a:srgbClr val="6B728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EBIT Budget</a:t>
                      </a:r>
                      <a:endParaRPr lang="en-US" sz="7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27432" marR="27432" marT="9144" marB="9144" anchor="ctr">
                    <a:lnL w="6350" cap="flat" cmpd="sng" algn="ctr">
                      <a:solidFill>
                        <a:srgbClr val="E2E7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7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7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7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6FB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r">
                        <a:buNone/>
                      </a:pPr>
                      <a:r>
                        <a:rPr lang="en-US" sz="750" dirty="0">
                          <a:solidFill>
                            <a:srgbClr val="6B728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45.0</a:t>
                      </a:r>
                      <a:endParaRPr lang="en-US" sz="7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27432" marR="27432" marT="9144" marB="9144" anchor="ctr">
                    <a:lnL w="6350" cap="flat" cmpd="sng" algn="ctr">
                      <a:solidFill>
                        <a:srgbClr val="E2E7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7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7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7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6FB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r">
                        <a:buNone/>
                      </a:pPr>
                      <a:r>
                        <a:rPr lang="en-US" sz="750" dirty="0">
                          <a:solidFill>
                            <a:srgbClr val="6B728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38.7</a:t>
                      </a:r>
                      <a:endParaRPr lang="en-US" sz="7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27432" marR="27432" marT="9144" marB="9144" anchor="ctr">
                    <a:lnL w="6350" cap="flat" cmpd="sng" algn="ctr">
                      <a:solidFill>
                        <a:srgbClr val="E2E7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7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7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7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6FB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r">
                        <a:buNone/>
                      </a:pPr>
                      <a:r>
                        <a:rPr lang="en-US" sz="750" dirty="0">
                          <a:solidFill>
                            <a:srgbClr val="6B728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22.3</a:t>
                      </a:r>
                      <a:endParaRPr lang="en-US" sz="7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27432" marR="27432" marT="9144" marB="9144" anchor="ctr">
                    <a:lnL w="6350" cap="flat" cmpd="sng" algn="ctr">
                      <a:solidFill>
                        <a:srgbClr val="E2E7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7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7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7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6FB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r">
                        <a:buNone/>
                      </a:pPr>
                      <a:r>
                        <a:rPr lang="en-US" sz="750" dirty="0">
                          <a:solidFill>
                            <a:srgbClr val="6B728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24.0</a:t>
                      </a:r>
                      <a:endParaRPr lang="en-US" sz="7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27432" marR="27432" marT="9144" marB="9144" anchor="ctr">
                    <a:lnL w="6350" cap="flat" cmpd="sng" algn="ctr">
                      <a:solidFill>
                        <a:srgbClr val="E2E7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7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7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7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6FB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r">
                        <a:buNone/>
                      </a:pPr>
                      <a:r>
                        <a:rPr lang="en-US" sz="750" dirty="0">
                          <a:solidFill>
                            <a:srgbClr val="6B728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17.2</a:t>
                      </a:r>
                      <a:endParaRPr lang="en-US" sz="7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27432" marR="27432" marT="9144" marB="9144" anchor="ctr">
                    <a:lnL w="6350" cap="flat" cmpd="sng" algn="ctr">
                      <a:solidFill>
                        <a:srgbClr val="E2E7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7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7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7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6FB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r">
                        <a:buNone/>
                      </a:pPr>
                      <a:r>
                        <a:rPr lang="en-US" sz="750" dirty="0">
                          <a:solidFill>
                            <a:srgbClr val="6B728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13.7</a:t>
                      </a:r>
                      <a:endParaRPr lang="en-US" sz="7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27432" marR="27432" marT="9144" marB="9144" anchor="ctr">
                    <a:lnL w="6350" cap="flat" cmpd="sng" algn="ctr">
                      <a:solidFill>
                        <a:srgbClr val="E2E7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7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7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7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6FB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r">
                        <a:buNone/>
                      </a:pPr>
                      <a:r>
                        <a:rPr lang="en-US" sz="750" b="1" dirty="0">
                          <a:solidFill>
                            <a:srgbClr val="6B728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160.9</a:t>
                      </a:r>
                      <a:endParaRPr lang="en-US" sz="7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27432" marR="27432" marT="9144" marB="9144" anchor="ctr">
                    <a:lnL w="6350" cap="flat" cmpd="sng" algn="ctr">
                      <a:solidFill>
                        <a:srgbClr val="E2E7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7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7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7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6FB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11"/>
                  </a:ext>
                </a:extLst>
              </a:tr>
              <a:tr h="150876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750" dirty="0">
                          <a:solidFill>
                            <a:srgbClr val="6B728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EBIT ’25</a:t>
                      </a:r>
                      <a:endParaRPr lang="en-US" sz="7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27432" marR="27432" marT="9144" marB="9144" anchor="ctr">
                    <a:lnL w="6350" cap="flat" cmpd="sng" algn="ctr">
                      <a:solidFill>
                        <a:srgbClr val="E2E7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7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7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7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6FB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r">
                        <a:buNone/>
                      </a:pPr>
                      <a:r>
                        <a:rPr lang="en-US" sz="750" dirty="0">
                          <a:solidFill>
                            <a:srgbClr val="6B728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48.6</a:t>
                      </a:r>
                      <a:endParaRPr lang="en-US" sz="7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27432" marR="27432" marT="9144" marB="9144" anchor="ctr">
                    <a:lnL w="6350" cap="flat" cmpd="sng" algn="ctr">
                      <a:solidFill>
                        <a:srgbClr val="E2E7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7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7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7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6FB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r">
                        <a:buNone/>
                      </a:pPr>
                      <a:r>
                        <a:rPr lang="en-US" sz="750" dirty="0">
                          <a:solidFill>
                            <a:srgbClr val="6B728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33.7</a:t>
                      </a:r>
                      <a:endParaRPr lang="en-US" sz="7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27432" marR="27432" marT="9144" marB="9144" anchor="ctr">
                    <a:lnL w="6350" cap="flat" cmpd="sng" algn="ctr">
                      <a:solidFill>
                        <a:srgbClr val="E2E7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7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7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7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6FB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r">
                        <a:buNone/>
                      </a:pPr>
                      <a:r>
                        <a:rPr lang="en-US" sz="750" dirty="0">
                          <a:solidFill>
                            <a:srgbClr val="6B728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19.7</a:t>
                      </a:r>
                      <a:endParaRPr lang="en-US" sz="7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27432" marR="27432" marT="9144" marB="9144" anchor="ctr">
                    <a:lnL w="6350" cap="flat" cmpd="sng" algn="ctr">
                      <a:solidFill>
                        <a:srgbClr val="E2E7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7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7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7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6FB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r">
                        <a:buNone/>
                      </a:pPr>
                      <a:r>
                        <a:rPr lang="en-US" sz="750" dirty="0">
                          <a:solidFill>
                            <a:srgbClr val="6B728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19.6</a:t>
                      </a:r>
                      <a:endParaRPr lang="en-US" sz="7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27432" marR="27432" marT="9144" marB="9144" anchor="ctr">
                    <a:lnL w="6350" cap="flat" cmpd="sng" algn="ctr">
                      <a:solidFill>
                        <a:srgbClr val="E2E7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7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7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7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6FB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r">
                        <a:buNone/>
                      </a:pPr>
                      <a:r>
                        <a:rPr lang="en-US" sz="750" dirty="0">
                          <a:solidFill>
                            <a:srgbClr val="6B728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15.2</a:t>
                      </a:r>
                      <a:endParaRPr lang="en-US" sz="7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27432" marR="27432" marT="9144" marB="9144" anchor="ctr">
                    <a:lnL w="6350" cap="flat" cmpd="sng" algn="ctr">
                      <a:solidFill>
                        <a:srgbClr val="E2E7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7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7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7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6FB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r">
                        <a:buNone/>
                      </a:pPr>
                      <a:r>
                        <a:rPr lang="en-US" sz="750" dirty="0">
                          <a:solidFill>
                            <a:srgbClr val="6B728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10.3</a:t>
                      </a:r>
                      <a:endParaRPr lang="en-US" sz="7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27432" marR="27432" marT="9144" marB="9144" anchor="ctr">
                    <a:lnL w="6350" cap="flat" cmpd="sng" algn="ctr">
                      <a:solidFill>
                        <a:srgbClr val="E2E7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7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7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7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6FB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r">
                        <a:buNone/>
                      </a:pPr>
                      <a:r>
                        <a:rPr lang="en-US" sz="750" b="1" dirty="0">
                          <a:solidFill>
                            <a:srgbClr val="6B728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147.1</a:t>
                      </a:r>
                      <a:endParaRPr lang="en-US" sz="7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27432" marR="27432" marT="9144" marB="9144" anchor="ctr">
                    <a:lnL w="6350" cap="flat" cmpd="sng" algn="ctr">
                      <a:solidFill>
                        <a:srgbClr val="E2E7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7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7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7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6FB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11"/>
                  </a:ext>
                </a:extLst>
              </a:tr>
              <a:tr h="150876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750" b="1" dirty="0">
                          <a:solidFill>
                            <a:srgbClr val="26292E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NPAT ’26</a:t>
                      </a:r>
                      <a:endParaRPr lang="en-US" sz="7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27432" marR="27432" marT="9144" marB="9144" anchor="ctr">
                    <a:lnL w="6350" cap="flat" cmpd="sng" algn="ctr">
                      <a:solidFill>
                        <a:srgbClr val="E2E7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7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7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7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r">
                        <a:buNone/>
                      </a:pPr>
                      <a:r>
                        <a:rPr lang="en-US" sz="750" dirty="0">
                          <a:solidFill>
                            <a:srgbClr val="26292E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11.8</a:t>
                      </a:r>
                      <a:endParaRPr lang="en-US" sz="7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27432" marR="27432" marT="9144" marB="9144" anchor="ctr">
                    <a:lnL w="6350" cap="flat" cmpd="sng" algn="ctr">
                      <a:solidFill>
                        <a:srgbClr val="E2E7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7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7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7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r">
                        <a:buNone/>
                      </a:pPr>
                      <a:r>
                        <a:rPr lang="en-US" sz="750" dirty="0">
                          <a:solidFill>
                            <a:srgbClr val="26292E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15.4</a:t>
                      </a:r>
                      <a:endParaRPr lang="en-US" sz="7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27432" marR="27432" marT="9144" marB="9144" anchor="ctr">
                    <a:lnL w="6350" cap="flat" cmpd="sng" algn="ctr">
                      <a:solidFill>
                        <a:srgbClr val="E2E7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7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7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7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r">
                        <a:buNone/>
                      </a:pPr>
                      <a:r>
                        <a:rPr lang="en-US" sz="750" dirty="0">
                          <a:solidFill>
                            <a:srgbClr val="26292E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1.9</a:t>
                      </a:r>
                      <a:endParaRPr lang="en-US" sz="7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27432" marR="27432" marT="9144" marB="9144" anchor="ctr">
                    <a:lnL w="6350" cap="flat" cmpd="sng" algn="ctr">
                      <a:solidFill>
                        <a:srgbClr val="E2E7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7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7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7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r">
                        <a:buNone/>
                      </a:pPr>
                      <a:r>
                        <a:rPr lang="en-US" sz="750" dirty="0">
                          <a:solidFill>
                            <a:srgbClr val="26292E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-3.9</a:t>
                      </a:r>
                      <a:endParaRPr lang="en-US" sz="7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27432" marR="27432" marT="9144" marB="9144" anchor="ctr">
                    <a:lnL w="6350" cap="flat" cmpd="sng" algn="ctr">
                      <a:solidFill>
                        <a:srgbClr val="E2E7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7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7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7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r">
                        <a:buNone/>
                      </a:pPr>
                      <a:r>
                        <a:rPr lang="en-US" sz="750" dirty="0">
                          <a:solidFill>
                            <a:srgbClr val="26292E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-8.5</a:t>
                      </a:r>
                      <a:endParaRPr lang="en-US" sz="7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27432" marR="27432" marT="9144" marB="9144" anchor="ctr">
                    <a:lnL w="6350" cap="flat" cmpd="sng" algn="ctr">
                      <a:solidFill>
                        <a:srgbClr val="E2E7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7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7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7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r">
                        <a:buNone/>
                      </a:pPr>
                      <a:r>
                        <a:rPr lang="en-US" sz="750" dirty="0">
                          <a:solidFill>
                            <a:srgbClr val="26292E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-8.8</a:t>
                      </a:r>
                      <a:endParaRPr lang="en-US" sz="7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27432" marR="27432" marT="9144" marB="9144" anchor="ctr">
                    <a:lnL w="6350" cap="flat" cmpd="sng" algn="ctr">
                      <a:solidFill>
                        <a:srgbClr val="E2E7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7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7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7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r">
                        <a:buNone/>
                      </a:pPr>
                      <a:r>
                        <a:rPr lang="en-US" sz="750" b="1" dirty="0">
                          <a:solidFill>
                            <a:srgbClr val="1E2761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7.9</a:t>
                      </a:r>
                      <a:endParaRPr lang="en-US" sz="7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27432" marR="27432" marT="9144" marB="9144" anchor="ctr">
                    <a:lnL w="6350" cap="flat" cmpd="sng" algn="ctr">
                      <a:solidFill>
                        <a:srgbClr val="E2E7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7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7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7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13"/>
                  </a:ext>
                </a:extLst>
              </a:tr>
              <a:tr h="150876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750" dirty="0">
                          <a:solidFill>
                            <a:srgbClr val="6B728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NPAT ’25</a:t>
                      </a:r>
                      <a:endParaRPr lang="en-US" sz="7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27432" marR="27432" marT="9144" marB="9144" anchor="ctr">
                    <a:lnL w="6350" cap="flat" cmpd="sng" algn="ctr">
                      <a:solidFill>
                        <a:srgbClr val="E2E7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7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7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7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r">
                        <a:buNone/>
                      </a:pPr>
                      <a:r>
                        <a:rPr lang="en-US" sz="750" dirty="0">
                          <a:solidFill>
                            <a:srgbClr val="6B728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16.8</a:t>
                      </a:r>
                      <a:endParaRPr lang="en-US" sz="7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27432" marR="27432" marT="9144" marB="9144" anchor="ctr">
                    <a:lnL w="6350" cap="flat" cmpd="sng" algn="ctr">
                      <a:solidFill>
                        <a:srgbClr val="E2E7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7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7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7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r">
                        <a:buNone/>
                      </a:pPr>
                      <a:r>
                        <a:rPr lang="en-US" sz="750" dirty="0">
                          <a:solidFill>
                            <a:srgbClr val="6B728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8.2</a:t>
                      </a:r>
                      <a:endParaRPr lang="en-US" sz="7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27432" marR="27432" marT="9144" marB="9144" anchor="ctr">
                    <a:lnL w="6350" cap="flat" cmpd="sng" algn="ctr">
                      <a:solidFill>
                        <a:srgbClr val="E2E7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7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7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7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r">
                        <a:buNone/>
                      </a:pPr>
                      <a:r>
                        <a:rPr lang="en-US" sz="750" dirty="0">
                          <a:solidFill>
                            <a:srgbClr val="6B728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-9.7</a:t>
                      </a:r>
                      <a:endParaRPr lang="en-US" sz="7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27432" marR="27432" marT="9144" marB="9144" anchor="ctr">
                    <a:lnL w="6350" cap="flat" cmpd="sng" algn="ctr">
                      <a:solidFill>
                        <a:srgbClr val="E2E7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7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7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7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r">
                        <a:buNone/>
                      </a:pPr>
                      <a:r>
                        <a:rPr lang="en-US" sz="750" dirty="0">
                          <a:solidFill>
                            <a:srgbClr val="6B728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-4.8</a:t>
                      </a:r>
                      <a:endParaRPr lang="en-US" sz="7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27432" marR="27432" marT="9144" marB="9144" anchor="ctr">
                    <a:lnL w="6350" cap="flat" cmpd="sng" algn="ctr">
                      <a:solidFill>
                        <a:srgbClr val="E2E7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7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7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7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r">
                        <a:buNone/>
                      </a:pPr>
                      <a:r>
                        <a:rPr lang="en-US" sz="750" dirty="0">
                          <a:solidFill>
                            <a:srgbClr val="6B728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-9.1</a:t>
                      </a:r>
                      <a:endParaRPr lang="en-US" sz="7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27432" marR="27432" marT="9144" marB="9144" anchor="ctr">
                    <a:lnL w="6350" cap="flat" cmpd="sng" algn="ctr">
                      <a:solidFill>
                        <a:srgbClr val="E2E7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7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7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7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r">
                        <a:buNone/>
                      </a:pPr>
                      <a:r>
                        <a:rPr lang="en-US" sz="750" dirty="0">
                          <a:solidFill>
                            <a:srgbClr val="6B728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-14.0</a:t>
                      </a:r>
                      <a:endParaRPr lang="en-US" sz="7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27432" marR="27432" marT="9144" marB="9144" anchor="ctr">
                    <a:lnL w="6350" cap="flat" cmpd="sng" algn="ctr">
                      <a:solidFill>
                        <a:srgbClr val="E2E7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7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7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7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r">
                        <a:buNone/>
                      </a:pPr>
                      <a:r>
                        <a:rPr lang="en-US" sz="750" b="1" dirty="0">
                          <a:solidFill>
                            <a:srgbClr val="6B728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-12.6</a:t>
                      </a:r>
                      <a:endParaRPr lang="en-US" sz="7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27432" marR="27432" marT="9144" marB="9144" anchor="ctr">
                    <a:lnL w="6350" cap="flat" cmpd="sng" algn="ctr">
                      <a:solidFill>
                        <a:srgbClr val="E2E7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7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7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7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14"/>
                  </a:ext>
                </a:extLst>
              </a:tr>
            </a:tbl>
          </a:graphicData>
        </a:graphic>
      </p:graphicFrame>
      <p:graphicFrame>
        <p:nvGraphicFramePr>
          <p:cNvPr id="33" name="Table 1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5897880" y="1783080"/>
          <a:ext cx="5742432" cy="2468880"/>
        </p:xfrm>
        <a:graphic>
          <a:graphicData uri="http://schemas.openxmlformats.org/drawingml/2006/table">
            <a:tbl>
              <a:tblPr/>
              <a:tblGrid>
                <a:gridCol w="1024128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694944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694944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731520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  <a:gridCol w="658368">
                  <a:extLst>
                    <a:ext uri="{9D8B030D-6E8A-4147-A177-3AD203B41FA5}">
                      <a16:colId xmlns:a16="http://schemas.microsoft.com/office/drawing/2014/main" val="20004"/>
                    </a:ext>
                  </a:extLst>
                </a:gridCol>
                <a:gridCol w="676656">
                  <a:extLst>
                    <a:ext uri="{9D8B030D-6E8A-4147-A177-3AD203B41FA5}">
                      <a16:colId xmlns:a16="http://schemas.microsoft.com/office/drawing/2014/main" val="20005"/>
                    </a:ext>
                  </a:extLst>
                </a:gridCol>
                <a:gridCol w="621792">
                  <a:extLst>
                    <a:ext uri="{9D8B030D-6E8A-4147-A177-3AD203B41FA5}">
                      <a16:colId xmlns:a16="http://schemas.microsoft.com/office/drawing/2014/main" val="20006"/>
                    </a:ext>
                  </a:extLst>
                </a:gridCol>
                <a:gridCol w="640080">
                  <a:extLst>
                    <a:ext uri="{9D8B030D-6E8A-4147-A177-3AD203B41FA5}">
                      <a16:colId xmlns:a16="http://schemas.microsoft.com/office/drawing/2014/main" val="20007"/>
                    </a:ext>
                  </a:extLst>
                </a:gridCol>
              </a:tblGrid>
              <a:tr h="283464"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85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H1 2026 (YTD)</a:t>
                      </a:r>
                      <a:endParaRPr lang="en-US" sz="8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E2E7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7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7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7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E2761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85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Actual</a:t>
                      </a:r>
                      <a:endParaRPr lang="en-US" sz="8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E2E7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7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7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7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E2761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85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MF budget</a:t>
                      </a:r>
                      <a:endParaRPr lang="en-US" sz="8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E2E7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7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7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7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E2761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85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vs MF budget</a:t>
                      </a:r>
                      <a:endParaRPr lang="en-US" sz="8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E2E7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7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7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7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E2761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85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H1 2025</a:t>
                      </a:r>
                      <a:endParaRPr lang="en-US" sz="8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E2E7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7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7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7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E2761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85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vs H1 25</a:t>
                      </a:r>
                      <a:endParaRPr lang="en-US" sz="8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E2E7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7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7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7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E2761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85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H1 2024</a:t>
                      </a:r>
                      <a:endParaRPr lang="en-US" sz="8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E2E7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7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7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7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E2761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85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vs H1 24</a:t>
                      </a:r>
                      <a:endParaRPr lang="en-US" sz="8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E2E7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7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7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7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E276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283464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850" b="1" dirty="0">
                          <a:solidFill>
                            <a:srgbClr val="26292E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Revenue</a:t>
                      </a:r>
                      <a:endParaRPr lang="en-US" sz="8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E2E7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7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7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7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r">
                        <a:buNone/>
                      </a:pPr>
                      <a:r>
                        <a:rPr lang="en-US" sz="850" b="1" dirty="0">
                          <a:solidFill>
                            <a:srgbClr val="1E2761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฿581.9M</a:t>
                      </a:r>
                      <a:endParaRPr lang="en-US" sz="8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E2E7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7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7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7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r">
                        <a:buNone/>
                      </a:pPr>
                      <a:r>
                        <a:rPr lang="en-US" sz="850" dirty="0">
                          <a:solidFill>
                            <a:srgbClr val="26292E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—</a:t>
                      </a:r>
                      <a:endParaRPr lang="en-US" sz="8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E2E7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7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7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7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r">
                        <a:buNone/>
                      </a:pPr>
                      <a:r>
                        <a:rPr lang="en-US" sz="850" b="1" dirty="0">
                          <a:solidFill>
                            <a:srgbClr val="6B728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—</a:t>
                      </a:r>
                      <a:endParaRPr lang="en-US" sz="8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E2E7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7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7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7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r">
                        <a:buNone/>
                      </a:pPr>
                      <a:r>
                        <a:rPr lang="en-US" sz="850" dirty="0">
                          <a:solidFill>
                            <a:srgbClr val="26292E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฿590.4M</a:t>
                      </a:r>
                      <a:endParaRPr lang="en-US" sz="8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E2E7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7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7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7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r">
                        <a:buNone/>
                      </a:pPr>
                      <a:r>
                        <a:rPr lang="en-US" sz="850" b="1" dirty="0">
                          <a:solidFill>
                            <a:srgbClr val="C0392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-1.4%</a:t>
                      </a:r>
                      <a:endParaRPr lang="en-US" sz="8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E2E7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7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7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7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r">
                        <a:buNone/>
                      </a:pPr>
                      <a:r>
                        <a:rPr lang="en-US" sz="850" dirty="0">
                          <a:solidFill>
                            <a:srgbClr val="6B728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฿663.3M</a:t>
                      </a:r>
                      <a:endParaRPr lang="en-US" sz="8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E2E7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7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7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7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r">
                        <a:buNone/>
                      </a:pPr>
                      <a:r>
                        <a:rPr lang="en-US" sz="850" b="1" dirty="0">
                          <a:solidFill>
                            <a:srgbClr val="C0392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-12.3%</a:t>
                      </a:r>
                      <a:endParaRPr lang="en-US" sz="8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E2E7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7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7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7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283464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850" b="1" dirty="0">
                          <a:solidFill>
                            <a:srgbClr val="26292E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OPEX</a:t>
                      </a:r>
                      <a:endParaRPr lang="en-US" sz="8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E2E7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7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7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7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6FB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r">
                        <a:buNone/>
                      </a:pPr>
                      <a:r>
                        <a:rPr lang="en-US" sz="850" b="1" dirty="0">
                          <a:solidFill>
                            <a:srgbClr val="1E2761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−฿263.9M</a:t>
                      </a:r>
                      <a:endParaRPr lang="en-US" sz="8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E2E7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7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7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7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6FB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r">
                        <a:buNone/>
                      </a:pPr>
                      <a:r>
                        <a:rPr lang="en-US" sz="850" dirty="0">
                          <a:solidFill>
                            <a:srgbClr val="26292E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−฿296.6M</a:t>
                      </a:r>
                      <a:endParaRPr lang="en-US" sz="8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E2E7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7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7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7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6FB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r">
                        <a:buNone/>
                      </a:pPr>
                      <a:r>
                        <a:rPr lang="en-US" sz="850" b="1" dirty="0">
                          <a:solidFill>
                            <a:srgbClr val="2E7D32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-11.0%</a:t>
                      </a:r>
                      <a:endParaRPr lang="en-US" sz="8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E2E7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7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7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7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6FB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r">
                        <a:buNone/>
                      </a:pPr>
                      <a:r>
                        <a:rPr lang="en-US" sz="850" dirty="0">
                          <a:solidFill>
                            <a:srgbClr val="26292E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−฿269.4M</a:t>
                      </a:r>
                      <a:endParaRPr lang="en-US" sz="8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E2E7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7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7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7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6FB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r">
                        <a:buNone/>
                      </a:pPr>
                      <a:r>
                        <a:rPr lang="en-US" sz="850" b="1" dirty="0">
                          <a:solidFill>
                            <a:srgbClr val="2E7D32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-2.1%</a:t>
                      </a:r>
                      <a:endParaRPr lang="en-US" sz="8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E2E7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7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7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7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6FB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r">
                        <a:buNone/>
                      </a:pPr>
                      <a:r>
                        <a:rPr lang="en-US" sz="850" dirty="0">
                          <a:solidFill>
                            <a:srgbClr val="6B728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−฿285.3M</a:t>
                      </a:r>
                      <a:endParaRPr lang="en-US" sz="8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E2E7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7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7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7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6FB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r">
                        <a:buNone/>
                      </a:pPr>
                      <a:r>
                        <a:rPr lang="en-US" sz="850" b="1" dirty="0">
                          <a:solidFill>
                            <a:srgbClr val="2E7D32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-7.5%</a:t>
                      </a:r>
                      <a:endParaRPr lang="en-US" sz="8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E2E7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7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7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7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6FB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283464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850" b="1" dirty="0">
                          <a:solidFill>
                            <a:srgbClr val="26292E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GOP (EBITDA)</a:t>
                      </a:r>
                      <a:endParaRPr lang="en-US" sz="8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E2E7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7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7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7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r">
                        <a:buNone/>
                      </a:pPr>
                      <a:r>
                        <a:rPr lang="en-US" sz="850" b="1" dirty="0">
                          <a:solidFill>
                            <a:srgbClr val="1E2761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฿318.0M</a:t>
                      </a:r>
                      <a:endParaRPr lang="en-US" sz="8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E2E7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7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7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7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r">
                        <a:buNone/>
                      </a:pPr>
                      <a:r>
                        <a:rPr lang="en-US" sz="850" dirty="0">
                          <a:solidFill>
                            <a:srgbClr val="26292E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฿348.1M</a:t>
                      </a:r>
                      <a:endParaRPr lang="en-US" sz="8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E2E7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7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7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7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r">
                        <a:buNone/>
                      </a:pPr>
                      <a:r>
                        <a:rPr lang="en-US" sz="850" b="1" dirty="0">
                          <a:solidFill>
                            <a:srgbClr val="C0392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-8.6%</a:t>
                      </a:r>
                      <a:endParaRPr lang="en-US" sz="8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E2E7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7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7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7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r">
                        <a:buNone/>
                      </a:pPr>
                      <a:r>
                        <a:rPr lang="en-US" sz="850" dirty="0">
                          <a:solidFill>
                            <a:srgbClr val="26292E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฿320.9M</a:t>
                      </a:r>
                      <a:endParaRPr lang="en-US" sz="8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E2E7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7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7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7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r">
                        <a:buNone/>
                      </a:pPr>
                      <a:r>
                        <a:rPr lang="en-US" sz="850" b="1" dirty="0">
                          <a:solidFill>
                            <a:srgbClr val="C0392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-0.9%</a:t>
                      </a:r>
                      <a:endParaRPr lang="en-US" sz="8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E2E7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7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7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7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r">
                        <a:buNone/>
                      </a:pPr>
                      <a:r>
                        <a:rPr lang="en-US" sz="850" dirty="0">
                          <a:solidFill>
                            <a:srgbClr val="6B728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฿378.0M</a:t>
                      </a:r>
                      <a:endParaRPr lang="en-US" sz="8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E2E7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7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7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7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r">
                        <a:buNone/>
                      </a:pPr>
                      <a:r>
                        <a:rPr lang="en-US" sz="850" b="1" dirty="0">
                          <a:solidFill>
                            <a:srgbClr val="C0392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-15.9%</a:t>
                      </a:r>
                      <a:endParaRPr lang="en-US" sz="8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E2E7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7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7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7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283464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850" b="1" dirty="0">
                          <a:solidFill>
                            <a:srgbClr val="26292E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GOP margin</a:t>
                      </a:r>
                      <a:endParaRPr lang="en-US" sz="8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E2E7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7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7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7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6FB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r">
                        <a:buNone/>
                      </a:pPr>
                      <a:r>
                        <a:rPr lang="en-US" sz="850" b="1" dirty="0">
                          <a:solidFill>
                            <a:srgbClr val="1E2761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54.7%</a:t>
                      </a:r>
                      <a:endParaRPr lang="en-US" sz="8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E2E7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7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7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7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6FB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r">
                        <a:buNone/>
                      </a:pPr>
                      <a:r>
                        <a:rPr lang="en-US" sz="850" dirty="0">
                          <a:solidFill>
                            <a:srgbClr val="26292E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—</a:t>
                      </a:r>
                      <a:endParaRPr lang="en-US" sz="8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E2E7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7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7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7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6FB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r">
                        <a:buNone/>
                      </a:pPr>
                      <a:r>
                        <a:rPr lang="en-US" sz="850" b="1" dirty="0">
                          <a:solidFill>
                            <a:srgbClr val="6B728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—</a:t>
                      </a:r>
                      <a:endParaRPr lang="en-US" sz="8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E2E7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7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7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7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6FB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r">
                        <a:buNone/>
                      </a:pPr>
                      <a:r>
                        <a:rPr lang="en-US" sz="850" dirty="0">
                          <a:solidFill>
                            <a:srgbClr val="26292E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54.4%</a:t>
                      </a:r>
                      <a:endParaRPr lang="en-US" sz="8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E2E7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7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7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7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6FB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r">
                        <a:buNone/>
                      </a:pPr>
                      <a:r>
                        <a:rPr lang="en-US" sz="850" b="1" dirty="0">
                          <a:solidFill>
                            <a:srgbClr val="2E7D32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+0.3 pts</a:t>
                      </a:r>
                      <a:endParaRPr lang="en-US" sz="8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E2E7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7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7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7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6FB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r">
                        <a:buNone/>
                      </a:pPr>
                      <a:r>
                        <a:rPr lang="en-US" sz="850" dirty="0">
                          <a:solidFill>
                            <a:srgbClr val="6B728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57.0%</a:t>
                      </a:r>
                      <a:endParaRPr lang="en-US" sz="8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E2E7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7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7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7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6FB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r">
                        <a:buNone/>
                      </a:pPr>
                      <a:r>
                        <a:rPr lang="en-US" sz="850" b="1" dirty="0">
                          <a:solidFill>
                            <a:srgbClr val="C0392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-2.3 pts</a:t>
                      </a:r>
                      <a:endParaRPr lang="en-US" sz="8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E2E7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7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7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7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6FB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  <a:tr h="283464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850" b="1" dirty="0">
                          <a:solidFill>
                            <a:srgbClr val="26292E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JV expense</a:t>
                      </a:r>
                      <a:endParaRPr lang="en-US" sz="8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E2E7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7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7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7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r">
                        <a:buNone/>
                      </a:pPr>
                      <a:r>
                        <a:rPr lang="en-US" sz="850" b="1" dirty="0">
                          <a:solidFill>
                            <a:srgbClr val="1E2761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−฿174.8M</a:t>
                      </a:r>
                      <a:endParaRPr lang="en-US" sz="8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E2E7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7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7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7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r">
                        <a:buNone/>
                      </a:pPr>
                      <a:r>
                        <a:rPr lang="en-US" sz="850" dirty="0">
                          <a:solidFill>
                            <a:srgbClr val="26292E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−฿187.1M</a:t>
                      </a:r>
                      <a:endParaRPr lang="en-US" sz="8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E2E7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7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7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7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r">
                        <a:buNone/>
                      </a:pPr>
                      <a:r>
                        <a:rPr lang="en-US" sz="850" b="1" dirty="0">
                          <a:solidFill>
                            <a:srgbClr val="2E7D32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-6.6%</a:t>
                      </a:r>
                      <a:endParaRPr lang="en-US" sz="8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E2E7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7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7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7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r">
                        <a:buNone/>
                      </a:pPr>
                      <a:r>
                        <a:rPr lang="en-US" sz="850" dirty="0">
                          <a:solidFill>
                            <a:srgbClr val="26292E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−฿173.8M</a:t>
                      </a:r>
                      <a:endParaRPr lang="en-US" sz="8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E2E7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7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7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7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r">
                        <a:buNone/>
                      </a:pPr>
                      <a:r>
                        <a:rPr lang="en-US" sz="850" b="1" dirty="0">
                          <a:solidFill>
                            <a:srgbClr val="C0392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+0.5%</a:t>
                      </a:r>
                      <a:endParaRPr lang="en-US" sz="8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E2E7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7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7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7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r">
                        <a:buNone/>
                      </a:pPr>
                      <a:r>
                        <a:rPr lang="en-US" sz="850" dirty="0">
                          <a:solidFill>
                            <a:srgbClr val="6B728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−฿182.4M</a:t>
                      </a:r>
                      <a:endParaRPr lang="en-US" sz="8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E2E7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7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7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7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r">
                        <a:buNone/>
                      </a:pPr>
                      <a:r>
                        <a:rPr lang="en-US" sz="850" b="1" dirty="0">
                          <a:solidFill>
                            <a:srgbClr val="2E7D32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-4.2%</a:t>
                      </a:r>
                      <a:endParaRPr lang="en-US" sz="8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E2E7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7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7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7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5"/>
                  </a:ext>
                </a:extLst>
              </a:tr>
              <a:tr h="283464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850" b="1" dirty="0">
                          <a:solidFill>
                            <a:srgbClr val="26292E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EBIT</a:t>
                      </a:r>
                      <a:endParaRPr lang="en-US" sz="8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E2E7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7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7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7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6FB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r">
                        <a:buNone/>
                      </a:pPr>
                      <a:r>
                        <a:rPr lang="en-US" sz="850" b="1" dirty="0">
                          <a:solidFill>
                            <a:srgbClr val="1E2761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฿143.2M</a:t>
                      </a:r>
                      <a:endParaRPr lang="en-US" sz="8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E2E7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7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7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7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6FB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r">
                        <a:buNone/>
                      </a:pPr>
                      <a:r>
                        <a:rPr lang="en-US" sz="850" dirty="0">
                          <a:solidFill>
                            <a:srgbClr val="26292E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฿160.9M</a:t>
                      </a:r>
                      <a:endParaRPr lang="en-US" sz="8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E2E7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7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7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7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6FB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r">
                        <a:buNone/>
                      </a:pPr>
                      <a:r>
                        <a:rPr lang="en-US" sz="850" b="1" dirty="0">
                          <a:solidFill>
                            <a:srgbClr val="C0392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-11.0%</a:t>
                      </a:r>
                      <a:endParaRPr lang="en-US" sz="8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E2E7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7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7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7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6FB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r">
                        <a:buNone/>
                      </a:pPr>
                      <a:r>
                        <a:rPr lang="en-US" sz="850" dirty="0">
                          <a:solidFill>
                            <a:srgbClr val="26292E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฿147.1M</a:t>
                      </a:r>
                      <a:endParaRPr lang="en-US" sz="8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E2E7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7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7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7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6FB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r">
                        <a:buNone/>
                      </a:pPr>
                      <a:r>
                        <a:rPr lang="en-US" sz="850" b="1" dirty="0">
                          <a:solidFill>
                            <a:srgbClr val="C0392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-2.6%</a:t>
                      </a:r>
                      <a:endParaRPr lang="en-US" sz="8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E2E7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7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7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7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6FB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r">
                        <a:buNone/>
                      </a:pPr>
                      <a:r>
                        <a:rPr lang="en-US" sz="850" dirty="0">
                          <a:solidFill>
                            <a:srgbClr val="6B728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฿195.6M</a:t>
                      </a:r>
                      <a:endParaRPr lang="en-US" sz="8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E2E7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7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7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7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6FB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r">
                        <a:buNone/>
                      </a:pPr>
                      <a:r>
                        <a:rPr lang="en-US" sz="850" b="1" dirty="0">
                          <a:solidFill>
                            <a:srgbClr val="C0392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-26.7%</a:t>
                      </a:r>
                      <a:endParaRPr lang="en-US" sz="8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E2E7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7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7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7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6FB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6"/>
                  </a:ext>
                </a:extLst>
              </a:tr>
              <a:tr h="283464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850" b="1" dirty="0">
                          <a:solidFill>
                            <a:srgbClr val="26292E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NPAT</a:t>
                      </a:r>
                      <a:endParaRPr lang="en-US" sz="8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E2E7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7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7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7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r">
                        <a:buNone/>
                      </a:pPr>
                      <a:r>
                        <a:rPr lang="en-US" sz="850" b="1" dirty="0">
                          <a:solidFill>
                            <a:srgbClr val="1E2761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฿7.9M</a:t>
                      </a:r>
                      <a:endParaRPr lang="en-US" sz="8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E2E7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7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7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7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r">
                        <a:buNone/>
                      </a:pPr>
                      <a:r>
                        <a:rPr lang="en-US" sz="850" dirty="0">
                          <a:solidFill>
                            <a:srgbClr val="26292E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—</a:t>
                      </a:r>
                      <a:endParaRPr lang="en-US" sz="8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E2E7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7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7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7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r">
                        <a:buNone/>
                      </a:pPr>
                      <a:r>
                        <a:rPr lang="en-US" sz="850" b="1" dirty="0">
                          <a:solidFill>
                            <a:srgbClr val="6B728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—</a:t>
                      </a:r>
                      <a:endParaRPr lang="en-US" sz="8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E2E7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7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7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7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r">
                        <a:buNone/>
                      </a:pPr>
                      <a:r>
                        <a:rPr lang="en-US" sz="850" dirty="0">
                          <a:solidFill>
                            <a:srgbClr val="26292E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−฿12.6M</a:t>
                      </a:r>
                      <a:endParaRPr lang="en-US" sz="8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E2E7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7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7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7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r">
                        <a:buNone/>
                      </a:pPr>
                      <a:r>
                        <a:rPr lang="en-US" sz="850" b="1" dirty="0">
                          <a:solidFill>
                            <a:srgbClr val="2E7D32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+฿20.6M</a:t>
                      </a:r>
                      <a:endParaRPr lang="en-US" sz="8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E2E7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7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7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7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r">
                        <a:buNone/>
                      </a:pPr>
                      <a:r>
                        <a:rPr lang="en-US" sz="850" dirty="0">
                          <a:solidFill>
                            <a:srgbClr val="6B728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฿20.9M</a:t>
                      </a:r>
                      <a:endParaRPr lang="en-US" sz="8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E2E7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7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7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7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r">
                        <a:buNone/>
                      </a:pPr>
                      <a:r>
                        <a:rPr lang="en-US" sz="850" b="1" dirty="0">
                          <a:solidFill>
                            <a:srgbClr val="C0392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−฿12.9M</a:t>
                      </a:r>
                      <a:endParaRPr lang="en-US" sz="8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E2E7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7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7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7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7"/>
                  </a:ext>
                </a:extLst>
              </a:tr>
            </a:tbl>
          </a:graphicData>
        </a:graphic>
      </p:graphicFrame>
      <p:sp>
        <p:nvSpPr>
          <p:cNvPr id="9" name="Shape 4"/>
          <p:cNvSpPr/>
          <p:nvPr/>
        </p:nvSpPr>
        <p:spPr>
          <a:xfrm>
            <a:off x="6126480" y="4206240"/>
            <a:ext cx="2651760" cy="1207008"/>
          </a:xfrm>
          <a:prstGeom prst="roundRect">
            <a:avLst>
              <a:gd name="adj" fmla="val 4545"/>
            </a:avLst>
          </a:prstGeom>
          <a:solidFill>
            <a:srgbClr val="F4F6FB"/>
          </a:solidFill>
          <a:ln w="9525">
            <a:solidFill>
              <a:srgbClr val="E2E7F2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0" name="Text 5"/>
          <p:cNvSpPr/>
          <p:nvPr/>
        </p:nvSpPr>
        <p:spPr>
          <a:xfrm>
            <a:off x="6272784" y="4297680"/>
            <a:ext cx="2359152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50" b="1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REVENUE H1 2026</a:t>
            </a:r>
            <a:endParaRPr lang="en-US" sz="1050" dirty="0"/>
          </a:p>
        </p:txBody>
      </p:sp>
      <p:sp>
        <p:nvSpPr>
          <p:cNvPr id="11" name="Text 6"/>
          <p:cNvSpPr/>
          <p:nvPr/>
        </p:nvSpPr>
        <p:spPr>
          <a:xfrm>
            <a:off x="6272784" y="4517136"/>
            <a:ext cx="2359152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400" b="1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฿581.9M</a:t>
            </a:r>
            <a:endParaRPr lang="en-US" sz="2400" dirty="0"/>
          </a:p>
        </p:txBody>
      </p:sp>
      <p:sp>
        <p:nvSpPr>
          <p:cNvPr id="12" name="Text 7"/>
          <p:cNvSpPr/>
          <p:nvPr/>
        </p:nvSpPr>
        <p:spPr>
          <a:xfrm>
            <a:off x="6272784" y="4974336"/>
            <a:ext cx="2359152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50" dirty="0">
                <a:solidFill>
                  <a:srgbClr val="C0392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-1.4% vs H1 2025</a:t>
            </a:r>
            <a:endParaRPr lang="en-US" sz="1050" dirty="0"/>
          </a:p>
        </p:txBody>
      </p:sp>
      <p:sp>
        <p:nvSpPr>
          <p:cNvPr id="13" name="Shape 8"/>
          <p:cNvSpPr/>
          <p:nvPr/>
        </p:nvSpPr>
        <p:spPr>
          <a:xfrm>
            <a:off x="8988552" y="4206240"/>
            <a:ext cx="2651760" cy="1207008"/>
          </a:xfrm>
          <a:prstGeom prst="roundRect">
            <a:avLst>
              <a:gd name="adj" fmla="val 4545"/>
            </a:avLst>
          </a:prstGeom>
          <a:solidFill>
            <a:srgbClr val="F4F6FB"/>
          </a:solidFill>
          <a:ln w="9525">
            <a:solidFill>
              <a:srgbClr val="E2E7F2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4" name="Text 9"/>
          <p:cNvSpPr/>
          <p:nvPr/>
        </p:nvSpPr>
        <p:spPr>
          <a:xfrm>
            <a:off x="9134856" y="4297680"/>
            <a:ext cx="2359152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50" b="1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EBIT H1 2026</a:t>
            </a:r>
            <a:endParaRPr lang="en-US" sz="1050" dirty="0"/>
          </a:p>
        </p:txBody>
      </p:sp>
      <p:sp>
        <p:nvSpPr>
          <p:cNvPr id="15" name="Text 10"/>
          <p:cNvSpPr/>
          <p:nvPr/>
        </p:nvSpPr>
        <p:spPr>
          <a:xfrm>
            <a:off x="9134856" y="4517136"/>
            <a:ext cx="2359152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400" b="1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฿143.2M</a:t>
            </a:r>
            <a:endParaRPr lang="en-US" sz="2400" dirty="0"/>
          </a:p>
        </p:txBody>
      </p:sp>
      <p:sp>
        <p:nvSpPr>
          <p:cNvPr id="16" name="Text 11"/>
          <p:cNvSpPr/>
          <p:nvPr/>
        </p:nvSpPr>
        <p:spPr>
          <a:xfrm>
            <a:off x="9134856" y="4974336"/>
            <a:ext cx="2359152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50" dirty="0">
                <a:solidFill>
                  <a:srgbClr val="C0392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−฿3.8M vs H1 2025 (฿147.1M)</a:t>
            </a:r>
            <a:endParaRPr lang="en-US" sz="1050" dirty="0"/>
          </a:p>
        </p:txBody>
      </p:sp>
      <p:sp>
        <p:nvSpPr>
          <p:cNvPr id="7" name="Text 12"/>
          <p:cNvSpPr/>
          <p:nvPr/>
        </p:nvSpPr>
        <p:spPr>
          <a:xfrm>
            <a:off x="548640" y="6355080"/>
            <a:ext cx="10881360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50" i="1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GOP = gross operating profit (≈ EBITDA). MF budget = Mitsui Fudosan budget. All figures are Jan–Jun sums of the monthly P&amp;L blocks in the result sheets; budget rows exist for OPEX, GOP and EBIT only (revenue, GOP margin and NPAT show —). JV expense derived as EBIT − GOP. Source: result FY24/FY25/FY26 sheets (official record).</a:t>
            </a:r>
            <a:endParaRPr lang="en-US" sz="1050" dirty="0"/>
          </a:p>
        </p:txBody>
      </p:sp>
    </p:spTree>
  </p:cSld>
  <p:clrMapOvr>
    <a:masterClrMapping/>
  </p:clrMapOvr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8">
    <p:bg>
      <p:bgPr>
        <a:solidFill>
          <a:srgbClr val="1E276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1965960"/>
            <a:ext cx="2011680" cy="1554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600" b="1" dirty="0">
                <a:solidFill>
                  <a:srgbClr val="D9A44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</a:t>
            </a:r>
            <a:endParaRPr lang="en-US" sz="9600" dirty="0"/>
          </a:p>
        </p:txBody>
      </p:sp>
      <p:sp>
        <p:nvSpPr>
          <p:cNvPr id="3" name="Text 1"/>
          <p:cNvSpPr/>
          <p:nvPr/>
        </p:nvSpPr>
        <p:spPr>
          <a:xfrm>
            <a:off x="2514600" y="2286000"/>
            <a:ext cx="877824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4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Somerset Rama 9 Bangkok (SR9)</a:t>
            </a:r>
            <a:endParaRPr lang="en-US" sz="4000" dirty="0"/>
          </a:p>
        </p:txBody>
      </p:sp>
      <p:sp>
        <p:nvSpPr>
          <p:cNvPr id="4" name="Text 2"/>
          <p:cNvSpPr/>
          <p:nvPr/>
        </p:nvSpPr>
        <p:spPr>
          <a:xfrm>
            <a:off x="2542032" y="3246120"/>
            <a:ext cx="841248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dirty="0">
                <a:solidFill>
                  <a:srgbClr val="AFC0E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P&amp;L (EBIT) · Performance vs budget · Segmentation · Guest nationality</a:t>
            </a:r>
            <a:endParaRPr lang="en-US" sz="1400" dirty="0"/>
          </a:p>
        </p:txBody>
      </p:sp>
      <p:sp>
        <p:nvSpPr>
          <p:cNvPr id="5" name="Text 3"/>
          <p:cNvSpPr/>
          <p:nvPr/>
        </p:nvSpPr>
        <p:spPr>
          <a:xfrm>
            <a:off x="548640" y="6172200"/>
            <a:ext cx="5486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7C8BC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Mitsui Thailand Portfolio · H1 2026</a:t>
            </a:r>
            <a:endParaRPr lang="en-US" sz="1000" dirty="0"/>
          </a:p>
        </p:txBody>
      </p:sp>
    </p:spTree>
  </p:cSld>
  <p:clrMapOvr>
    <a:masterClrMapping/>
  </p:clrMapOvr>
</p:sld>
</file>

<file path=ppt/slides/slide2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0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292608"/>
            <a:ext cx="8229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b="1" kern="0" spc="200" dirty="0">
                <a:solidFill>
                  <a:srgbClr val="D9A44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SECTION 4 · SOMERSET RAMA 9 BANGKOK (SR9)</a:t>
            </a:r>
            <a:endParaRPr lang="en-US" sz="1100" dirty="0"/>
          </a:p>
        </p:txBody>
      </p:sp>
      <p:sp>
        <p:nvSpPr>
          <p:cNvPr id="3" name="Text 1"/>
          <p:cNvSpPr/>
          <p:nvPr/>
        </p:nvSpPr>
        <p:spPr>
          <a:xfrm>
            <a:off x="548640" y="502920"/>
            <a:ext cx="11091672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800" b="1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Somerset Rama 9 Bangkok (SR9)</a:t>
            </a:r>
            <a:endParaRPr lang="en-US" sz="2800" dirty="0"/>
          </a:p>
        </p:txBody>
      </p:sp>
      <p:sp>
        <p:nvSpPr>
          <p:cNvPr id="4" name="Text 2"/>
          <p:cNvSpPr/>
          <p:nvPr/>
        </p:nvSpPr>
        <p:spPr>
          <a:xfrm>
            <a:off x="548640" y="1060704"/>
            <a:ext cx="11091672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5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464 keys · monthly + YTD Jan–Jun · actual vs MF Projection and actual 2025</a:t>
            </a:r>
            <a:endParaRPr lang="en-US" sz="1250" dirty="0"/>
          </a:p>
        </p:txBody>
      </p:sp>
      <p:sp>
        <p:nvSpPr>
          <p:cNvPr id="5" name="Text 3"/>
          <p:cNvSpPr/>
          <p:nvPr/>
        </p:nvSpPr>
        <p:spPr>
          <a:xfrm>
            <a:off x="8165592" y="310896"/>
            <a:ext cx="34747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90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Mitsui Thailand Portfolio · H1 2026</a:t>
            </a:r>
            <a:endParaRPr lang="en-US" sz="900" dirty="0"/>
          </a:p>
        </p:txBody>
      </p:sp>
      <p:graphicFrame>
        <p:nvGraphicFramePr>
          <p:cNvPr id="6" name="Chart 0"/>
          <p:cNvGraphicFramePr/>
          <p:nvPr/>
        </p:nvGraphicFramePr>
        <p:xfrm>
          <a:off x="548640" y="1691640"/>
          <a:ext cx="7223760" cy="2240280"/>
        </p:xfrm>
        <a:graphic>
          <a:graphicData uri="http://schemas.openxmlformats.org/drawingml/2006/chart">
            <c:chart xmlns:c="http://schemas.openxmlformats.org/drawingml/2006/chart" xmlns:r="http://schemas.openxmlformats.org/officeDocument/2006/relationships" r:id="rId3"/>
          </a:graphicData>
        </a:graphic>
      </p:graphicFrame>
      <p:graphicFrame>
        <p:nvGraphicFramePr>
          <p:cNvPr id="21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548640" y="4069080"/>
          <a:ext cx="7223760" cy="2011680"/>
        </p:xfrm>
        <a:graphic>
          <a:graphicData uri="http://schemas.openxmlformats.org/drawingml/2006/table">
            <a:tbl>
              <a:tblPr/>
              <a:tblGrid>
                <a:gridCol w="132588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795528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795528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795528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  <a:gridCol w="795528">
                  <a:extLst>
                    <a:ext uri="{9D8B030D-6E8A-4147-A177-3AD203B41FA5}">
                      <a16:colId xmlns:a16="http://schemas.microsoft.com/office/drawing/2014/main" val="20004"/>
                    </a:ext>
                  </a:extLst>
                </a:gridCol>
                <a:gridCol w="795528">
                  <a:extLst>
                    <a:ext uri="{9D8B030D-6E8A-4147-A177-3AD203B41FA5}">
                      <a16:colId xmlns:a16="http://schemas.microsoft.com/office/drawing/2014/main" val="20005"/>
                    </a:ext>
                  </a:extLst>
                </a:gridCol>
                <a:gridCol w="795528">
                  <a:extLst>
                    <a:ext uri="{9D8B030D-6E8A-4147-A177-3AD203B41FA5}">
                      <a16:colId xmlns:a16="http://schemas.microsoft.com/office/drawing/2014/main" val="20006"/>
                    </a:ext>
                  </a:extLst>
                </a:gridCol>
                <a:gridCol w="1124712">
                  <a:extLst>
                    <a:ext uri="{9D8B030D-6E8A-4147-A177-3AD203B41FA5}">
                      <a16:colId xmlns:a16="http://schemas.microsoft.com/office/drawing/2014/main" val="20007"/>
                    </a:ext>
                  </a:extLst>
                </a:gridCol>
              </a:tblGrid>
              <a:tr h="201168"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9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H1 2026</a:t>
                      </a:r>
                      <a:endParaRPr lang="en-US" sz="9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E2E7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7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7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7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E2761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9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Jan</a:t>
                      </a:r>
                      <a:endParaRPr lang="en-US" sz="9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E2E7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7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7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7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E2761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9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Feb</a:t>
                      </a:r>
                      <a:endParaRPr lang="en-US" sz="9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E2E7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7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7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7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E2761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9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Mar</a:t>
                      </a:r>
                      <a:endParaRPr lang="en-US" sz="9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E2E7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7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7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7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E2761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9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Apr</a:t>
                      </a:r>
                      <a:endParaRPr lang="en-US" sz="9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E2E7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7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7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7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E2761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9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May</a:t>
                      </a:r>
                      <a:endParaRPr lang="en-US" sz="9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E2E7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7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7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7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E2761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9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Jun</a:t>
                      </a:r>
                      <a:endParaRPr lang="en-US" sz="9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E2E7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7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7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7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E2761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9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YTD</a:t>
                      </a:r>
                      <a:endParaRPr lang="en-US" sz="9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E2E7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7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7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7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E276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201168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900" b="1" dirty="0">
                          <a:solidFill>
                            <a:srgbClr val="26292E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Occupancy</a:t>
                      </a:r>
                      <a:endParaRPr lang="en-US" sz="9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E2E7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7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7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7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r">
                        <a:buNone/>
                      </a:pPr>
                      <a:r>
                        <a:rPr lang="en-US" sz="900" dirty="0">
                          <a:solidFill>
                            <a:srgbClr val="26292E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87.0%</a:t>
                      </a:r>
                      <a:endParaRPr lang="en-US" sz="9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E2E7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7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7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7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r">
                        <a:buNone/>
                      </a:pPr>
                      <a:r>
                        <a:rPr lang="en-US" sz="900" dirty="0">
                          <a:solidFill>
                            <a:srgbClr val="26292E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90.5%</a:t>
                      </a:r>
                      <a:endParaRPr lang="en-US" sz="9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E2E7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7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7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7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r">
                        <a:buNone/>
                      </a:pPr>
                      <a:r>
                        <a:rPr lang="en-US" sz="900" dirty="0">
                          <a:solidFill>
                            <a:srgbClr val="26292E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80.0%</a:t>
                      </a:r>
                      <a:endParaRPr lang="en-US" sz="9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E2E7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7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7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7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r">
                        <a:buNone/>
                      </a:pPr>
                      <a:r>
                        <a:rPr lang="en-US" sz="900" dirty="0">
                          <a:solidFill>
                            <a:srgbClr val="26292E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76.5%</a:t>
                      </a:r>
                      <a:endParaRPr lang="en-US" sz="9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E2E7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7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7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7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r">
                        <a:buNone/>
                      </a:pPr>
                      <a:r>
                        <a:rPr lang="en-US" sz="900" dirty="0">
                          <a:solidFill>
                            <a:srgbClr val="26292E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75.0%</a:t>
                      </a:r>
                      <a:endParaRPr lang="en-US" sz="9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E2E7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7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7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7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r">
                        <a:buNone/>
                      </a:pPr>
                      <a:r>
                        <a:rPr lang="en-US" sz="900" dirty="0">
                          <a:solidFill>
                            <a:srgbClr val="26292E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76.5%</a:t>
                      </a:r>
                      <a:endParaRPr lang="en-US" sz="9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E2E7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7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7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7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r">
                        <a:buNone/>
                      </a:pPr>
                      <a:r>
                        <a:rPr lang="en-US" sz="900" b="1" dirty="0">
                          <a:solidFill>
                            <a:srgbClr val="1E2761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80.8%</a:t>
                      </a:r>
                      <a:endParaRPr lang="en-US" sz="9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E2E7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7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7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7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201168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900" b="0" dirty="0">
                          <a:solidFill>
                            <a:srgbClr val="595959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 MF Projection</a:t>
                      </a:r>
                      <a:endParaRPr lang="en-US" sz="9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E2E7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7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7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7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r">
                        <a:buNone/>
                      </a:pPr>
                      <a:r>
                        <a:rPr lang="en-US" sz="900" dirty="0">
                          <a:solidFill>
                            <a:srgbClr val="595959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86.7%</a:t>
                      </a:r>
                      <a:endParaRPr lang="en-US" sz="9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E2E7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7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7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7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r">
                        <a:buNone/>
                      </a:pPr>
                      <a:r>
                        <a:rPr lang="en-US" sz="900" dirty="0">
                          <a:solidFill>
                            <a:srgbClr val="595959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89.7%</a:t>
                      </a:r>
                      <a:endParaRPr lang="en-US" sz="9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E2E7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7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7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7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r">
                        <a:buNone/>
                      </a:pPr>
                      <a:r>
                        <a:rPr lang="en-US" sz="900" dirty="0">
                          <a:solidFill>
                            <a:srgbClr val="595959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78.2%</a:t>
                      </a:r>
                      <a:endParaRPr lang="en-US" sz="9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E2E7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7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7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7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r">
                        <a:buNone/>
                      </a:pPr>
                      <a:r>
                        <a:rPr lang="en-US" sz="900" dirty="0">
                          <a:solidFill>
                            <a:srgbClr val="595959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74.1%</a:t>
                      </a:r>
                      <a:endParaRPr lang="en-US" sz="9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E2E7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7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7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7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r">
                        <a:buNone/>
                      </a:pPr>
                      <a:r>
                        <a:rPr lang="en-US" sz="900" dirty="0">
                          <a:solidFill>
                            <a:srgbClr val="595959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76.9%</a:t>
                      </a:r>
                      <a:endParaRPr lang="en-US" sz="9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E2E7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7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7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7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r">
                        <a:buNone/>
                      </a:pPr>
                      <a:r>
                        <a:rPr lang="en-US" sz="900" dirty="0">
                          <a:solidFill>
                            <a:srgbClr val="595959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75.6%</a:t>
                      </a:r>
                      <a:endParaRPr lang="en-US" sz="9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E2E7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7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7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7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r">
                        <a:buNone/>
                      </a:pPr>
                      <a:r>
                        <a:rPr lang="en-US" sz="900" b="1" dirty="0">
                          <a:solidFill>
                            <a:srgbClr val="595959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80.1%</a:t>
                      </a:r>
                      <a:endParaRPr lang="en-US" sz="9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E2E7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7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7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7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201168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900" b="0" dirty="0">
                          <a:solidFill>
                            <a:srgbClr val="595959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 Actual 2025</a:t>
                      </a:r>
                      <a:endParaRPr lang="en-US" sz="9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E2E7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7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7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7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r">
                        <a:buNone/>
                      </a:pPr>
                      <a:r>
                        <a:rPr lang="en-US" sz="900" dirty="0">
                          <a:solidFill>
                            <a:srgbClr val="595959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84.7%</a:t>
                      </a:r>
                      <a:endParaRPr lang="en-US" sz="9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E2E7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7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7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7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r">
                        <a:buNone/>
                      </a:pPr>
                      <a:r>
                        <a:rPr lang="en-US" sz="900" dirty="0">
                          <a:solidFill>
                            <a:srgbClr val="595959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87.7%</a:t>
                      </a:r>
                      <a:endParaRPr lang="en-US" sz="9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E2E7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7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7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7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r">
                        <a:buNone/>
                      </a:pPr>
                      <a:r>
                        <a:rPr lang="en-US" sz="900" dirty="0">
                          <a:solidFill>
                            <a:srgbClr val="595959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75.2%</a:t>
                      </a:r>
                      <a:endParaRPr lang="en-US" sz="9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E2E7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7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7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7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r">
                        <a:buNone/>
                      </a:pPr>
                      <a:r>
                        <a:rPr lang="en-US" sz="900" dirty="0">
                          <a:solidFill>
                            <a:srgbClr val="595959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67.1%</a:t>
                      </a:r>
                      <a:endParaRPr lang="en-US" sz="9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E2E7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7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7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7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r">
                        <a:buNone/>
                      </a:pPr>
                      <a:r>
                        <a:rPr lang="en-US" sz="900" dirty="0">
                          <a:solidFill>
                            <a:srgbClr val="595959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74.9%</a:t>
                      </a:r>
                      <a:endParaRPr lang="en-US" sz="9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E2E7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7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7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7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r">
                        <a:buNone/>
                      </a:pPr>
                      <a:r>
                        <a:rPr lang="en-US" sz="900" dirty="0">
                          <a:solidFill>
                            <a:srgbClr val="595959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73.6%</a:t>
                      </a:r>
                      <a:endParaRPr lang="en-US" sz="9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E2E7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7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7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7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r">
                        <a:buNone/>
                      </a:pPr>
                      <a:r>
                        <a:rPr lang="en-US" sz="900" b="1" dirty="0">
                          <a:solidFill>
                            <a:srgbClr val="595959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77.1%</a:t>
                      </a:r>
                      <a:endParaRPr lang="en-US" sz="9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E2E7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7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7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7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201168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900" b="1" dirty="0">
                          <a:solidFill>
                            <a:srgbClr val="26292E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ADR (฿)</a:t>
                      </a:r>
                      <a:endParaRPr lang="en-US" sz="9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E2E7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7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7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7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6FB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r">
                        <a:buNone/>
                      </a:pPr>
                      <a:r>
                        <a:rPr lang="en-US" sz="900" dirty="0">
                          <a:solidFill>
                            <a:srgbClr val="26292E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2,970</a:t>
                      </a:r>
                      <a:endParaRPr lang="en-US" sz="9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E2E7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7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7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7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6FB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r">
                        <a:buNone/>
                      </a:pPr>
                      <a:r>
                        <a:rPr lang="en-US" sz="900" dirty="0">
                          <a:solidFill>
                            <a:srgbClr val="26292E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3,139</a:t>
                      </a:r>
                      <a:endParaRPr lang="en-US" sz="9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E2E7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7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7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7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6FB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r">
                        <a:buNone/>
                      </a:pPr>
                      <a:r>
                        <a:rPr lang="en-US" sz="900" dirty="0">
                          <a:solidFill>
                            <a:srgbClr val="26292E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2,856</a:t>
                      </a:r>
                      <a:endParaRPr lang="en-US" sz="9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E2E7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7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7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7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6FB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r">
                        <a:buNone/>
                      </a:pPr>
                      <a:r>
                        <a:rPr lang="en-US" sz="900" dirty="0">
                          <a:solidFill>
                            <a:srgbClr val="26292E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2,965</a:t>
                      </a:r>
                      <a:endParaRPr lang="en-US" sz="9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E2E7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7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7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7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6FB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r">
                        <a:buNone/>
                      </a:pPr>
                      <a:r>
                        <a:rPr lang="en-US" sz="900" dirty="0">
                          <a:solidFill>
                            <a:srgbClr val="26292E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2,707</a:t>
                      </a:r>
                      <a:endParaRPr lang="en-US" sz="9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E2E7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7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7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7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6FB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r">
                        <a:buNone/>
                      </a:pPr>
                      <a:r>
                        <a:rPr lang="en-US" sz="900" dirty="0">
                          <a:solidFill>
                            <a:srgbClr val="26292E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2,672</a:t>
                      </a:r>
                      <a:endParaRPr lang="en-US" sz="9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E2E7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7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7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7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6FB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r">
                        <a:buNone/>
                      </a:pPr>
                      <a:r>
                        <a:rPr lang="en-US" sz="900" b="1" dirty="0">
                          <a:solidFill>
                            <a:srgbClr val="1E2761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2,891</a:t>
                      </a:r>
                      <a:endParaRPr lang="en-US" sz="9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E2E7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7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7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7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6FB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201168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900" b="0" dirty="0">
                          <a:solidFill>
                            <a:srgbClr val="595959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 MF Projection</a:t>
                      </a:r>
                      <a:endParaRPr lang="en-US" sz="9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E2E7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7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7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7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6FB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r">
                        <a:buNone/>
                      </a:pPr>
                      <a:r>
                        <a:rPr lang="en-US" sz="900" dirty="0">
                          <a:solidFill>
                            <a:srgbClr val="595959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3,318</a:t>
                      </a:r>
                      <a:endParaRPr lang="en-US" sz="9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E2E7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7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7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7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6FB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r">
                        <a:buNone/>
                      </a:pPr>
                      <a:r>
                        <a:rPr lang="en-US" sz="900" dirty="0">
                          <a:solidFill>
                            <a:srgbClr val="595959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3,008</a:t>
                      </a:r>
                      <a:endParaRPr lang="en-US" sz="9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E2E7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7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7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7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6FB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r">
                        <a:buNone/>
                      </a:pPr>
                      <a:r>
                        <a:rPr lang="en-US" sz="900" dirty="0">
                          <a:solidFill>
                            <a:srgbClr val="595959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2,910</a:t>
                      </a:r>
                      <a:endParaRPr lang="en-US" sz="9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E2E7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7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7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7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6FB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r">
                        <a:buNone/>
                      </a:pPr>
                      <a:r>
                        <a:rPr lang="en-US" sz="900" dirty="0">
                          <a:solidFill>
                            <a:srgbClr val="595959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2,995</a:t>
                      </a:r>
                      <a:endParaRPr lang="en-US" sz="9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E2E7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7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7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7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6FB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r">
                        <a:buNone/>
                      </a:pPr>
                      <a:r>
                        <a:rPr lang="en-US" sz="900" dirty="0">
                          <a:solidFill>
                            <a:srgbClr val="595959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2,715</a:t>
                      </a:r>
                      <a:endParaRPr lang="en-US" sz="9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E2E7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7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7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7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6FB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r">
                        <a:buNone/>
                      </a:pPr>
                      <a:r>
                        <a:rPr lang="en-US" sz="900" dirty="0">
                          <a:solidFill>
                            <a:srgbClr val="595959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2,746</a:t>
                      </a:r>
                      <a:endParaRPr lang="en-US" sz="9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E2E7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7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7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7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6FB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r">
                        <a:buNone/>
                      </a:pPr>
                      <a:r>
                        <a:rPr lang="en-US" sz="900" b="1" dirty="0">
                          <a:solidFill>
                            <a:srgbClr val="595959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2,958</a:t>
                      </a:r>
                      <a:endParaRPr lang="en-US" sz="9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E2E7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7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7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7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6FB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201168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900" b="0" dirty="0">
                          <a:solidFill>
                            <a:srgbClr val="595959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 Actual 2025</a:t>
                      </a:r>
                      <a:endParaRPr lang="en-US" sz="9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E2E7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7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7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7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6FB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r">
                        <a:buNone/>
                      </a:pPr>
                      <a:r>
                        <a:rPr lang="en-US" sz="900" dirty="0">
                          <a:solidFill>
                            <a:srgbClr val="595959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3,342</a:t>
                      </a:r>
                      <a:endParaRPr lang="en-US" sz="9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E2E7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7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7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7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6FB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r">
                        <a:buNone/>
                      </a:pPr>
                      <a:r>
                        <a:rPr lang="en-US" sz="900" dirty="0">
                          <a:solidFill>
                            <a:srgbClr val="595959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3,059</a:t>
                      </a:r>
                      <a:endParaRPr lang="en-US" sz="9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E2E7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7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7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7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6FB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r">
                        <a:buNone/>
                      </a:pPr>
                      <a:r>
                        <a:rPr lang="en-US" sz="900" dirty="0">
                          <a:solidFill>
                            <a:srgbClr val="595959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2,931</a:t>
                      </a:r>
                      <a:endParaRPr lang="en-US" sz="9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E2E7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7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7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7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6FB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r">
                        <a:buNone/>
                      </a:pPr>
                      <a:r>
                        <a:rPr lang="en-US" sz="900" dirty="0">
                          <a:solidFill>
                            <a:srgbClr val="595959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3,005</a:t>
                      </a:r>
                      <a:endParaRPr lang="en-US" sz="9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E2E7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7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7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7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6FB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r">
                        <a:buNone/>
                      </a:pPr>
                      <a:r>
                        <a:rPr lang="en-US" sz="900" dirty="0">
                          <a:solidFill>
                            <a:srgbClr val="595959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2,764</a:t>
                      </a:r>
                      <a:endParaRPr lang="en-US" sz="9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E2E7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7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7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7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6FB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r">
                        <a:buNone/>
                      </a:pPr>
                      <a:r>
                        <a:rPr lang="en-US" sz="900" dirty="0">
                          <a:solidFill>
                            <a:srgbClr val="595959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2,778</a:t>
                      </a:r>
                      <a:endParaRPr lang="en-US" sz="9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E2E7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7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7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7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6FB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r">
                        <a:buNone/>
                      </a:pPr>
                      <a:r>
                        <a:rPr lang="en-US" sz="900" b="1" dirty="0">
                          <a:solidFill>
                            <a:srgbClr val="595959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2,990</a:t>
                      </a:r>
                      <a:endParaRPr lang="en-US" sz="9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E2E7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7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7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7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6FB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201168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900" b="1" dirty="0">
                          <a:solidFill>
                            <a:srgbClr val="26292E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RevPAR (฿)</a:t>
                      </a:r>
                      <a:endParaRPr lang="en-US" sz="9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E2E7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7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7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7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r">
                        <a:buNone/>
                      </a:pPr>
                      <a:r>
                        <a:rPr lang="en-US" sz="900" dirty="0">
                          <a:solidFill>
                            <a:srgbClr val="26292E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2,585</a:t>
                      </a:r>
                      <a:endParaRPr lang="en-US" sz="9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E2E7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7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7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7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r">
                        <a:buNone/>
                      </a:pPr>
                      <a:r>
                        <a:rPr lang="en-US" sz="900" dirty="0">
                          <a:solidFill>
                            <a:srgbClr val="26292E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2,841</a:t>
                      </a:r>
                      <a:endParaRPr lang="en-US" sz="9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E2E7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7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7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7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r">
                        <a:buNone/>
                      </a:pPr>
                      <a:r>
                        <a:rPr lang="en-US" sz="900" dirty="0">
                          <a:solidFill>
                            <a:srgbClr val="26292E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2,284</a:t>
                      </a:r>
                      <a:endParaRPr lang="en-US" sz="9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E2E7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7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7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7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r">
                        <a:buNone/>
                      </a:pPr>
                      <a:r>
                        <a:rPr lang="en-US" sz="900" dirty="0">
                          <a:solidFill>
                            <a:srgbClr val="26292E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2,268</a:t>
                      </a:r>
                      <a:endParaRPr lang="en-US" sz="9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E2E7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7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7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7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r">
                        <a:buNone/>
                      </a:pPr>
                      <a:r>
                        <a:rPr lang="en-US" sz="900" dirty="0">
                          <a:solidFill>
                            <a:srgbClr val="26292E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2,029</a:t>
                      </a:r>
                      <a:endParaRPr lang="en-US" sz="9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E2E7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7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7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7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r">
                        <a:buNone/>
                      </a:pPr>
                      <a:r>
                        <a:rPr lang="en-US" sz="900" dirty="0">
                          <a:solidFill>
                            <a:srgbClr val="26292E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2,045</a:t>
                      </a:r>
                      <a:endParaRPr lang="en-US" sz="9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E2E7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7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7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7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r">
                        <a:buNone/>
                      </a:pPr>
                      <a:r>
                        <a:rPr lang="en-US" sz="900" b="1" dirty="0">
                          <a:solidFill>
                            <a:srgbClr val="1E2761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2,336</a:t>
                      </a:r>
                      <a:endParaRPr lang="en-US" sz="9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E2E7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7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7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7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201168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900" b="0" dirty="0">
                          <a:solidFill>
                            <a:srgbClr val="595959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 MF Projection</a:t>
                      </a:r>
                      <a:endParaRPr lang="en-US" sz="9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E2E7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7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7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7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r">
                        <a:buNone/>
                      </a:pPr>
                      <a:r>
                        <a:rPr lang="en-US" sz="900" dirty="0">
                          <a:solidFill>
                            <a:srgbClr val="595959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2,876</a:t>
                      </a:r>
                      <a:endParaRPr lang="en-US" sz="9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E2E7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7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7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7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r">
                        <a:buNone/>
                      </a:pPr>
                      <a:r>
                        <a:rPr lang="en-US" sz="900" dirty="0">
                          <a:solidFill>
                            <a:srgbClr val="595959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2,699</a:t>
                      </a:r>
                      <a:endParaRPr lang="en-US" sz="9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E2E7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7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7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7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r">
                        <a:buNone/>
                      </a:pPr>
                      <a:r>
                        <a:rPr lang="en-US" sz="900" dirty="0">
                          <a:solidFill>
                            <a:srgbClr val="595959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2,276</a:t>
                      </a:r>
                      <a:endParaRPr lang="en-US" sz="9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E2E7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7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7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7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r">
                        <a:buNone/>
                      </a:pPr>
                      <a:r>
                        <a:rPr lang="en-US" sz="900" dirty="0">
                          <a:solidFill>
                            <a:srgbClr val="595959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2,218</a:t>
                      </a:r>
                      <a:endParaRPr lang="en-US" sz="9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E2E7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7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7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7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r">
                        <a:buNone/>
                      </a:pPr>
                      <a:r>
                        <a:rPr lang="en-US" sz="900" dirty="0">
                          <a:solidFill>
                            <a:srgbClr val="595959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2,088</a:t>
                      </a:r>
                      <a:endParaRPr lang="en-US" sz="9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E2E7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7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7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7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r">
                        <a:buNone/>
                      </a:pPr>
                      <a:r>
                        <a:rPr lang="en-US" sz="900" dirty="0">
                          <a:solidFill>
                            <a:srgbClr val="595959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2,077</a:t>
                      </a:r>
                      <a:endParaRPr lang="en-US" sz="9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E2E7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7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7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7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r">
                        <a:buNone/>
                      </a:pPr>
                      <a:r>
                        <a:rPr lang="en-US" sz="900" b="1" dirty="0">
                          <a:solidFill>
                            <a:srgbClr val="595959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2,369</a:t>
                      </a:r>
                      <a:endParaRPr lang="en-US" sz="9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E2E7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7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7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7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201168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900" b="0" dirty="0">
                          <a:solidFill>
                            <a:srgbClr val="595959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 Actual 2025</a:t>
                      </a:r>
                      <a:endParaRPr lang="en-US" sz="9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E2E7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7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7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7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r">
                        <a:buNone/>
                      </a:pPr>
                      <a:r>
                        <a:rPr lang="en-US" sz="900" dirty="0">
                          <a:solidFill>
                            <a:srgbClr val="595959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2,830</a:t>
                      </a:r>
                      <a:endParaRPr lang="en-US" sz="9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E2E7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7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7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7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r">
                        <a:buNone/>
                      </a:pPr>
                      <a:r>
                        <a:rPr lang="en-US" sz="900" dirty="0">
                          <a:solidFill>
                            <a:srgbClr val="595959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2,684</a:t>
                      </a:r>
                      <a:endParaRPr lang="en-US" sz="9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E2E7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7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7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7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r">
                        <a:buNone/>
                      </a:pPr>
                      <a:r>
                        <a:rPr lang="en-US" sz="900" dirty="0">
                          <a:solidFill>
                            <a:srgbClr val="595959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2,204</a:t>
                      </a:r>
                      <a:endParaRPr lang="en-US" sz="9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E2E7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7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7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7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r">
                        <a:buNone/>
                      </a:pPr>
                      <a:r>
                        <a:rPr lang="en-US" sz="900" dirty="0">
                          <a:solidFill>
                            <a:srgbClr val="595959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2,015</a:t>
                      </a:r>
                      <a:endParaRPr lang="en-US" sz="9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E2E7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7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7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7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r">
                        <a:buNone/>
                      </a:pPr>
                      <a:r>
                        <a:rPr lang="en-US" sz="900" dirty="0">
                          <a:solidFill>
                            <a:srgbClr val="595959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2,070</a:t>
                      </a:r>
                      <a:endParaRPr lang="en-US" sz="9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E2E7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7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7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7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r">
                        <a:buNone/>
                      </a:pPr>
                      <a:r>
                        <a:rPr lang="en-US" sz="900" dirty="0">
                          <a:solidFill>
                            <a:srgbClr val="595959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2,046</a:t>
                      </a:r>
                      <a:endParaRPr lang="en-US" sz="9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E2E7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7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7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7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r">
                        <a:buNone/>
                      </a:pPr>
                      <a:r>
                        <a:rPr lang="en-US" sz="900" b="1" dirty="0">
                          <a:solidFill>
                            <a:srgbClr val="595959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2,305</a:t>
                      </a:r>
                      <a:endParaRPr lang="en-US" sz="9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E2E7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7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7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7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</a:tbl>
          </a:graphicData>
        </a:graphic>
      </p:graphicFrame>
      <p:sp>
        <p:nvSpPr>
          <p:cNvPr id="8" name="Shape 4"/>
          <p:cNvSpPr/>
          <p:nvPr/>
        </p:nvSpPr>
        <p:spPr>
          <a:xfrm>
            <a:off x="8092440" y="1828800"/>
            <a:ext cx="3520440" cy="1261872"/>
          </a:xfrm>
          <a:prstGeom prst="roundRect">
            <a:avLst>
              <a:gd name="adj" fmla="val 4348"/>
            </a:avLst>
          </a:prstGeom>
          <a:solidFill>
            <a:srgbClr val="F4F6FB"/>
          </a:solidFill>
          <a:ln w="9525">
            <a:solidFill>
              <a:srgbClr val="E2E7F2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9" name="Text 5"/>
          <p:cNvSpPr/>
          <p:nvPr/>
        </p:nvSpPr>
        <p:spPr>
          <a:xfrm>
            <a:off x="8238744" y="1920240"/>
            <a:ext cx="3227832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50" b="1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OCCUPANCY · YTD</a:t>
            </a:r>
            <a:endParaRPr lang="en-US" sz="1050" dirty="0"/>
          </a:p>
        </p:txBody>
      </p:sp>
      <p:sp>
        <p:nvSpPr>
          <p:cNvPr id="10" name="Text 6"/>
          <p:cNvSpPr/>
          <p:nvPr/>
        </p:nvSpPr>
        <p:spPr>
          <a:xfrm>
            <a:off x="8238744" y="2139696"/>
            <a:ext cx="3227832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400" b="1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80.8%</a:t>
            </a:r>
            <a:endParaRPr lang="en-US" sz="2400" dirty="0"/>
          </a:p>
        </p:txBody>
      </p:sp>
      <p:sp>
        <p:nvSpPr>
          <p:cNvPr id="11" name="Text 7"/>
          <p:cNvSpPr/>
          <p:nvPr/>
        </p:nvSpPr>
        <p:spPr>
          <a:xfrm>
            <a:off x="8238744" y="2596896"/>
            <a:ext cx="3227832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50" dirty="0">
                <a:solidFill>
                  <a:srgbClr val="2E7D3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+0.7 pts vs budget</a:t>
            </a:r>
            <a:r>
              <a:rPr lang="en-US" sz="105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· </a:t>
            </a:r>
            <a:r>
              <a:rPr lang="en-US" sz="1050" dirty="0">
                <a:solidFill>
                  <a:srgbClr val="2E7D3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+3.7 pts vs LY</a:t>
            </a:r>
            <a:endParaRPr lang="en-US" sz="1050" dirty="0"/>
          </a:p>
        </p:txBody>
      </p:sp>
      <p:sp>
        <p:nvSpPr>
          <p:cNvPr id="12" name="Shape 8"/>
          <p:cNvSpPr/>
          <p:nvPr/>
        </p:nvSpPr>
        <p:spPr>
          <a:xfrm>
            <a:off x="8092440" y="3236976"/>
            <a:ext cx="3520440" cy="1261872"/>
          </a:xfrm>
          <a:prstGeom prst="roundRect">
            <a:avLst>
              <a:gd name="adj" fmla="val 4348"/>
            </a:avLst>
          </a:prstGeom>
          <a:solidFill>
            <a:srgbClr val="F4F6FB"/>
          </a:solidFill>
          <a:ln w="9525">
            <a:solidFill>
              <a:srgbClr val="E2E7F2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3" name="Text 9"/>
          <p:cNvSpPr/>
          <p:nvPr/>
        </p:nvSpPr>
        <p:spPr>
          <a:xfrm>
            <a:off x="8238744" y="3328416"/>
            <a:ext cx="3227832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50" b="1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ADR · YTD</a:t>
            </a:r>
            <a:endParaRPr lang="en-US" sz="1050" dirty="0"/>
          </a:p>
        </p:txBody>
      </p:sp>
      <p:sp>
        <p:nvSpPr>
          <p:cNvPr id="14" name="Text 10"/>
          <p:cNvSpPr/>
          <p:nvPr/>
        </p:nvSpPr>
        <p:spPr>
          <a:xfrm>
            <a:off x="8238744" y="3547872"/>
            <a:ext cx="3227832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400" b="1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฿2,891</a:t>
            </a:r>
            <a:endParaRPr lang="en-US" sz="2400" dirty="0"/>
          </a:p>
        </p:txBody>
      </p:sp>
      <p:sp>
        <p:nvSpPr>
          <p:cNvPr id="15" name="Text 11"/>
          <p:cNvSpPr/>
          <p:nvPr/>
        </p:nvSpPr>
        <p:spPr>
          <a:xfrm>
            <a:off x="8238744" y="4005072"/>
            <a:ext cx="3227832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50" dirty="0">
                <a:solidFill>
                  <a:srgbClr val="C0392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-2.3% vs budget</a:t>
            </a:r>
            <a:r>
              <a:rPr lang="en-US" sz="105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· </a:t>
            </a:r>
            <a:r>
              <a:rPr lang="en-US" sz="1050" dirty="0">
                <a:solidFill>
                  <a:srgbClr val="C0392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-3.3% vs LY</a:t>
            </a:r>
            <a:endParaRPr lang="en-US" sz="1050" dirty="0"/>
          </a:p>
        </p:txBody>
      </p:sp>
      <p:sp>
        <p:nvSpPr>
          <p:cNvPr id="16" name="Shape 12"/>
          <p:cNvSpPr/>
          <p:nvPr/>
        </p:nvSpPr>
        <p:spPr>
          <a:xfrm>
            <a:off x="8092440" y="4645152"/>
            <a:ext cx="3520440" cy="1261872"/>
          </a:xfrm>
          <a:prstGeom prst="roundRect">
            <a:avLst>
              <a:gd name="adj" fmla="val 4348"/>
            </a:avLst>
          </a:prstGeom>
          <a:solidFill>
            <a:srgbClr val="F4F6FB"/>
          </a:solidFill>
          <a:ln w="9525">
            <a:solidFill>
              <a:srgbClr val="E2E7F2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7" name="Text 13"/>
          <p:cNvSpPr/>
          <p:nvPr/>
        </p:nvSpPr>
        <p:spPr>
          <a:xfrm>
            <a:off x="8238744" y="4736592"/>
            <a:ext cx="3227832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50" b="1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REVPAR · YTD</a:t>
            </a:r>
            <a:endParaRPr lang="en-US" sz="1050" dirty="0"/>
          </a:p>
        </p:txBody>
      </p:sp>
      <p:sp>
        <p:nvSpPr>
          <p:cNvPr id="18" name="Text 14"/>
          <p:cNvSpPr/>
          <p:nvPr/>
        </p:nvSpPr>
        <p:spPr>
          <a:xfrm>
            <a:off x="8238744" y="4956048"/>
            <a:ext cx="3227832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400" b="1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฿2,336</a:t>
            </a:r>
            <a:endParaRPr lang="en-US" sz="2400" dirty="0"/>
          </a:p>
        </p:txBody>
      </p:sp>
      <p:sp>
        <p:nvSpPr>
          <p:cNvPr id="19" name="Text 15"/>
          <p:cNvSpPr/>
          <p:nvPr/>
        </p:nvSpPr>
        <p:spPr>
          <a:xfrm>
            <a:off x="8238744" y="5413248"/>
            <a:ext cx="3227832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50" dirty="0">
                <a:solidFill>
                  <a:srgbClr val="C0392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-1.4% vs budget</a:t>
            </a:r>
            <a:r>
              <a:rPr lang="en-US" sz="105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· </a:t>
            </a:r>
            <a:r>
              <a:rPr lang="en-US" sz="1050" dirty="0">
                <a:solidFill>
                  <a:srgbClr val="2E7D3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+1.3% vs LY</a:t>
            </a:r>
            <a:endParaRPr lang="en-US" sz="1050" dirty="0"/>
          </a:p>
        </p:txBody>
      </p:sp>
      <p:sp>
        <p:nvSpPr>
          <p:cNvPr id="20" name="Text 16"/>
          <p:cNvSpPr/>
          <p:nvPr/>
        </p:nvSpPr>
        <p:spPr>
          <a:xfrm>
            <a:off x="548640" y="6172200"/>
            <a:ext cx="10881360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50" i="1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SR9 runs close to budget all year; Feb outperformed strongly, May–Jun slightly behind on rate.</a:t>
            </a:r>
            <a:endParaRPr lang="en-US" sz="1050" dirty="0"/>
          </a:p>
        </p:txBody>
      </p:sp>
      <p:sp>
        <p:nvSpPr>
          <p:cNvPr id="7" name="TextBox 6">
            <a:extLst>
              <a:ext uri="{FF2B5EF4-FFF2-40B4-BE49-F238E27FC236}">
                <a16:creationId xmlns:a16="http://schemas.microsoft.com/office/drawing/2014/main" id="{B6CBC93C-ECD8-46AB-78C9-FE407A0F0935}"/>
              </a:ext>
            </a:extLst>
          </p:cNvPr>
          <p:cNvSpPr txBox="1"/>
          <p:nvPr/>
        </p:nvSpPr>
        <p:spPr>
          <a:xfrm>
            <a:off x="8357420" y="1324094"/>
            <a:ext cx="2684206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dirty="0">
                <a:solidFill>
                  <a:srgbClr val="FF0000"/>
                </a:solidFill>
              </a:rPr>
              <a:t>Budget</a:t>
            </a:r>
          </a:p>
        </p:txBody>
      </p:sp>
    </p:spTree>
  </p:cSld>
  <p:clrMapOvr>
    <a:masterClrMapping/>
  </p:clrMapOvr>
</p:sld>
</file>

<file path=ppt/slides/slide2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1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292608"/>
            <a:ext cx="8229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b="1" kern="0" spc="200" dirty="0">
                <a:solidFill>
                  <a:srgbClr val="D9A44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SECTION 4 · SOMERSET RAMA 9 BANGKOK (SR9)</a:t>
            </a:r>
            <a:endParaRPr lang="en-US" sz="1100" dirty="0"/>
          </a:p>
        </p:txBody>
      </p:sp>
      <p:sp>
        <p:nvSpPr>
          <p:cNvPr id="3" name="Text 1"/>
          <p:cNvSpPr/>
          <p:nvPr/>
        </p:nvSpPr>
        <p:spPr>
          <a:xfrm>
            <a:off x="548640" y="502920"/>
            <a:ext cx="11091672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800" b="1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Somerset Rama 9 Bangkok (SR9) — room nights by segment</a:t>
            </a:r>
            <a:endParaRPr lang="en-US" sz="2800" dirty="0"/>
          </a:p>
        </p:txBody>
      </p:sp>
      <p:sp>
        <p:nvSpPr>
          <p:cNvPr id="4" name="Text 2"/>
          <p:cNvSpPr/>
          <p:nvPr/>
        </p:nvSpPr>
        <p:spPr>
          <a:xfrm>
            <a:off x="548640" y="1060704"/>
            <a:ext cx="11091672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5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Monthly mix 2026 (left) · YTD share (right) · table: room nights by month — 2026 vs 2025, mix and H1 change</a:t>
            </a:r>
            <a:endParaRPr lang="en-US" sz="1250" dirty="0"/>
          </a:p>
        </p:txBody>
      </p:sp>
      <p:sp>
        <p:nvSpPr>
          <p:cNvPr id="5" name="Text 3"/>
          <p:cNvSpPr/>
          <p:nvPr/>
        </p:nvSpPr>
        <p:spPr>
          <a:xfrm>
            <a:off x="8165592" y="310896"/>
            <a:ext cx="34747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90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Mitsui Thailand Portfolio · H1 2026</a:t>
            </a:r>
            <a:endParaRPr lang="en-US" sz="900" dirty="0"/>
          </a:p>
        </p:txBody>
      </p:sp>
      <p:graphicFrame>
        <p:nvGraphicFramePr>
          <p:cNvPr id="6" name="Chart 0"/>
          <p:cNvGraphicFramePr/>
          <p:nvPr/>
        </p:nvGraphicFramePr>
        <p:xfrm>
          <a:off x="548640" y="1627632"/>
          <a:ext cx="6675120" cy="1783080"/>
        </p:xfrm>
        <a:graphic>
          <a:graphicData uri="http://schemas.openxmlformats.org/drawingml/2006/chart">
            <c:chart xmlns:c="http://schemas.openxmlformats.org/drawingml/2006/chart" xmlns:r="http://schemas.openxmlformats.org/officeDocument/2006/relationships" r:id="rId3"/>
          </a:graphicData>
        </a:graphic>
      </p:graphicFrame>
      <p:graphicFrame>
        <p:nvGraphicFramePr>
          <p:cNvPr id="7" name="Chart 1"/>
          <p:cNvGraphicFramePr/>
          <p:nvPr/>
        </p:nvGraphicFramePr>
        <p:xfrm>
          <a:off x="7635240" y="1627632"/>
          <a:ext cx="4023360" cy="1783080"/>
        </p:xfrm>
        <a:graphic>
          <a:graphicData uri="http://schemas.openxmlformats.org/drawingml/2006/chart">
            <c:chart xmlns:c="http://schemas.openxmlformats.org/drawingml/2006/chart" xmlns:r="http://schemas.openxmlformats.org/officeDocument/2006/relationships" r:id="rId4"/>
          </a:graphicData>
        </a:graphic>
      </p:graphicFrame>
      <p:sp>
        <p:nvSpPr>
          <p:cNvPr id="8" name="Text 4"/>
          <p:cNvSpPr/>
          <p:nvPr/>
        </p:nvSpPr>
        <p:spPr>
          <a:xfrm>
            <a:off x="548640" y="6629399"/>
            <a:ext cx="10881360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50" i="1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Largest segment YTD: Online (42% of room nights). Gray rows = same month 2025 · Chg % = H1 2026 vs H1 2025 room nights.</a:t>
            </a:r>
            <a:endParaRPr lang="en-US" sz="1050" dirty="0"/>
          </a:p>
        </p:txBody>
      </p:sp>
      <p:graphicFrame>
        <p:nvGraphicFramePr>
          <p:cNvPr id="9" name="Table 8"/>
          <p:cNvGraphicFramePr>
            <a:graphicFrameLocks noGrp="1"/>
          </p:cNvGraphicFramePr>
          <p:nvPr/>
        </p:nvGraphicFramePr>
        <p:xfrm>
          <a:off x="548640" y="3493008"/>
          <a:ext cx="11091672" cy="3090672"/>
        </p:xfrm>
        <a:graphic>
          <a:graphicData uri="http://schemas.openxmlformats.org/drawingml/2006/table">
            <a:tbl>
              <a:tblPr>
                <a:tableStyleId>{5C22544A-7EE6-4342-B048-85BDC9FD1C3A}</a:tableStyleId>
              </a:tblPr>
              <a:tblGrid>
                <a:gridCol w="1737360"/>
                <a:gridCol w="1170432"/>
                <a:gridCol w="1170432"/>
                <a:gridCol w="1170432"/>
                <a:gridCol w="1170432"/>
                <a:gridCol w="1170432"/>
                <a:gridCol w="1170432"/>
                <a:gridCol w="960120"/>
                <a:gridCol w="640080"/>
                <a:gridCol w="731520"/>
              </a:tblGrid>
              <a:tr h="147174">
                <a:tc>
                  <a:txBody>
                    <a:bodyPr wrap="none"/>
                    <a:lstStyle/>
                    <a:p>
                      <a:pPr algn="l"/>
                      <a:r>
                        <a:rPr sz="750" b="1">
                          <a:solidFill>
                            <a:srgbClr val="FFFFFF"/>
                          </a:solidFill>
                          <a:latin typeface="Calibri"/>
                        </a:rPr>
                        <a:t>Segment</a:t>
                      </a:r>
                    </a:p>
                  </a:txBody>
                  <a:tcPr anchor="ctr" marL="27432" marR="27432" marT="4572" marB="4572">
                    <a:lnL w="6350">
                      <a:solidFill>
                        <a:srgbClr val="E2E7F2"/>
                      </a:solidFill>
                    </a:lnL>
                    <a:lnR w="6350">
                      <a:solidFill>
                        <a:srgbClr val="E2E7F2"/>
                      </a:solidFill>
                    </a:lnR>
                    <a:lnT w="6350">
                      <a:solidFill>
                        <a:srgbClr val="E2E7F2"/>
                      </a:solidFill>
                    </a:lnT>
                    <a:lnB w="6350">
                      <a:solidFill>
                        <a:srgbClr val="E2E7F2"/>
                      </a:solidFill>
                    </a:lnB>
                    <a:solidFill>
                      <a:srgbClr val="1E2761"/>
                    </a:solidFill>
                  </a:tcPr>
                </a:tc>
                <a:tc>
                  <a:txBody>
                    <a:bodyPr wrap="none"/>
                    <a:lstStyle/>
                    <a:p>
                      <a:pPr algn="r"/>
                      <a:r>
                        <a:rPr sz="750" b="1">
                          <a:solidFill>
                            <a:srgbClr val="FFFFFF"/>
                          </a:solidFill>
                          <a:latin typeface="Calibri"/>
                        </a:rPr>
                        <a:t>Jan</a:t>
                      </a:r>
                    </a:p>
                  </a:txBody>
                  <a:tcPr anchor="ctr" marL="27432" marR="27432" marT="4572" marB="4572">
                    <a:lnL w="6350">
                      <a:solidFill>
                        <a:srgbClr val="E2E7F2"/>
                      </a:solidFill>
                    </a:lnL>
                    <a:lnR w="6350">
                      <a:solidFill>
                        <a:srgbClr val="E2E7F2"/>
                      </a:solidFill>
                    </a:lnR>
                    <a:lnT w="6350">
                      <a:solidFill>
                        <a:srgbClr val="E2E7F2"/>
                      </a:solidFill>
                    </a:lnT>
                    <a:lnB w="6350">
                      <a:solidFill>
                        <a:srgbClr val="E2E7F2"/>
                      </a:solidFill>
                    </a:lnB>
                    <a:solidFill>
                      <a:srgbClr val="1E2761"/>
                    </a:solidFill>
                  </a:tcPr>
                </a:tc>
                <a:tc>
                  <a:txBody>
                    <a:bodyPr wrap="none"/>
                    <a:lstStyle/>
                    <a:p>
                      <a:pPr algn="r"/>
                      <a:r>
                        <a:rPr sz="750" b="1">
                          <a:solidFill>
                            <a:srgbClr val="FFFFFF"/>
                          </a:solidFill>
                          <a:latin typeface="Calibri"/>
                        </a:rPr>
                        <a:t>Feb</a:t>
                      </a:r>
                    </a:p>
                  </a:txBody>
                  <a:tcPr anchor="ctr" marL="27432" marR="27432" marT="4572" marB="4572">
                    <a:lnL w="6350">
                      <a:solidFill>
                        <a:srgbClr val="E2E7F2"/>
                      </a:solidFill>
                    </a:lnL>
                    <a:lnR w="6350">
                      <a:solidFill>
                        <a:srgbClr val="E2E7F2"/>
                      </a:solidFill>
                    </a:lnR>
                    <a:lnT w="6350">
                      <a:solidFill>
                        <a:srgbClr val="E2E7F2"/>
                      </a:solidFill>
                    </a:lnT>
                    <a:lnB w="6350">
                      <a:solidFill>
                        <a:srgbClr val="E2E7F2"/>
                      </a:solidFill>
                    </a:lnB>
                    <a:solidFill>
                      <a:srgbClr val="1E2761"/>
                    </a:solidFill>
                  </a:tcPr>
                </a:tc>
                <a:tc>
                  <a:txBody>
                    <a:bodyPr wrap="none"/>
                    <a:lstStyle/>
                    <a:p>
                      <a:pPr algn="r"/>
                      <a:r>
                        <a:rPr sz="750" b="1">
                          <a:solidFill>
                            <a:srgbClr val="FFFFFF"/>
                          </a:solidFill>
                          <a:latin typeface="Calibri"/>
                        </a:rPr>
                        <a:t>Mar</a:t>
                      </a:r>
                    </a:p>
                  </a:txBody>
                  <a:tcPr anchor="ctr" marL="27432" marR="27432" marT="4572" marB="4572">
                    <a:lnL w="6350">
                      <a:solidFill>
                        <a:srgbClr val="E2E7F2"/>
                      </a:solidFill>
                    </a:lnL>
                    <a:lnR w="6350">
                      <a:solidFill>
                        <a:srgbClr val="E2E7F2"/>
                      </a:solidFill>
                    </a:lnR>
                    <a:lnT w="6350">
                      <a:solidFill>
                        <a:srgbClr val="E2E7F2"/>
                      </a:solidFill>
                    </a:lnT>
                    <a:lnB w="6350">
                      <a:solidFill>
                        <a:srgbClr val="E2E7F2"/>
                      </a:solidFill>
                    </a:lnB>
                    <a:solidFill>
                      <a:srgbClr val="1E2761"/>
                    </a:solidFill>
                  </a:tcPr>
                </a:tc>
                <a:tc>
                  <a:txBody>
                    <a:bodyPr wrap="none"/>
                    <a:lstStyle/>
                    <a:p>
                      <a:pPr algn="r"/>
                      <a:r>
                        <a:rPr sz="750" b="1">
                          <a:solidFill>
                            <a:srgbClr val="FFFFFF"/>
                          </a:solidFill>
                          <a:latin typeface="Calibri"/>
                        </a:rPr>
                        <a:t>Apr</a:t>
                      </a:r>
                    </a:p>
                  </a:txBody>
                  <a:tcPr anchor="ctr" marL="27432" marR="27432" marT="4572" marB="4572">
                    <a:lnL w="6350">
                      <a:solidFill>
                        <a:srgbClr val="E2E7F2"/>
                      </a:solidFill>
                    </a:lnL>
                    <a:lnR w="6350">
                      <a:solidFill>
                        <a:srgbClr val="E2E7F2"/>
                      </a:solidFill>
                    </a:lnR>
                    <a:lnT w="6350">
                      <a:solidFill>
                        <a:srgbClr val="E2E7F2"/>
                      </a:solidFill>
                    </a:lnT>
                    <a:lnB w="6350">
                      <a:solidFill>
                        <a:srgbClr val="E2E7F2"/>
                      </a:solidFill>
                    </a:lnB>
                    <a:solidFill>
                      <a:srgbClr val="1E2761"/>
                    </a:solidFill>
                  </a:tcPr>
                </a:tc>
                <a:tc>
                  <a:txBody>
                    <a:bodyPr wrap="none"/>
                    <a:lstStyle/>
                    <a:p>
                      <a:pPr algn="r"/>
                      <a:r>
                        <a:rPr sz="750" b="1">
                          <a:solidFill>
                            <a:srgbClr val="FFFFFF"/>
                          </a:solidFill>
                          <a:latin typeface="Calibri"/>
                        </a:rPr>
                        <a:t>May</a:t>
                      </a:r>
                    </a:p>
                  </a:txBody>
                  <a:tcPr anchor="ctr" marL="27432" marR="27432" marT="4572" marB="4572">
                    <a:lnL w="6350">
                      <a:solidFill>
                        <a:srgbClr val="E2E7F2"/>
                      </a:solidFill>
                    </a:lnL>
                    <a:lnR w="6350">
                      <a:solidFill>
                        <a:srgbClr val="E2E7F2"/>
                      </a:solidFill>
                    </a:lnR>
                    <a:lnT w="6350">
                      <a:solidFill>
                        <a:srgbClr val="E2E7F2"/>
                      </a:solidFill>
                    </a:lnT>
                    <a:lnB w="6350">
                      <a:solidFill>
                        <a:srgbClr val="E2E7F2"/>
                      </a:solidFill>
                    </a:lnB>
                    <a:solidFill>
                      <a:srgbClr val="1E2761"/>
                    </a:solidFill>
                  </a:tcPr>
                </a:tc>
                <a:tc>
                  <a:txBody>
                    <a:bodyPr wrap="none"/>
                    <a:lstStyle/>
                    <a:p>
                      <a:pPr algn="r"/>
                      <a:r>
                        <a:rPr sz="750" b="1">
                          <a:solidFill>
                            <a:srgbClr val="FFFFFF"/>
                          </a:solidFill>
                          <a:latin typeface="Calibri"/>
                        </a:rPr>
                        <a:t>Jun</a:t>
                      </a:r>
                    </a:p>
                  </a:txBody>
                  <a:tcPr anchor="ctr" marL="27432" marR="27432" marT="4572" marB="4572">
                    <a:lnL w="6350">
                      <a:solidFill>
                        <a:srgbClr val="E2E7F2"/>
                      </a:solidFill>
                    </a:lnL>
                    <a:lnR w="6350">
                      <a:solidFill>
                        <a:srgbClr val="E2E7F2"/>
                      </a:solidFill>
                    </a:lnR>
                    <a:lnT w="6350">
                      <a:solidFill>
                        <a:srgbClr val="E2E7F2"/>
                      </a:solidFill>
                    </a:lnT>
                    <a:lnB w="6350">
                      <a:solidFill>
                        <a:srgbClr val="E2E7F2"/>
                      </a:solidFill>
                    </a:lnB>
                    <a:solidFill>
                      <a:srgbClr val="1E2761"/>
                    </a:solidFill>
                  </a:tcPr>
                </a:tc>
                <a:tc>
                  <a:txBody>
                    <a:bodyPr wrap="none"/>
                    <a:lstStyle/>
                    <a:p>
                      <a:pPr algn="r"/>
                      <a:r>
                        <a:rPr sz="750" b="1">
                          <a:solidFill>
                            <a:srgbClr val="FFFFFF"/>
                          </a:solidFill>
                          <a:latin typeface="Calibri"/>
                        </a:rPr>
                        <a:t>H1</a:t>
                      </a:r>
                    </a:p>
                  </a:txBody>
                  <a:tcPr anchor="ctr" marL="27432" marR="27432" marT="4572" marB="4572">
                    <a:lnL w="6350">
                      <a:solidFill>
                        <a:srgbClr val="E2E7F2"/>
                      </a:solidFill>
                    </a:lnL>
                    <a:lnR w="6350">
                      <a:solidFill>
                        <a:srgbClr val="E2E7F2"/>
                      </a:solidFill>
                    </a:lnR>
                    <a:lnT w="6350">
                      <a:solidFill>
                        <a:srgbClr val="E2E7F2"/>
                      </a:solidFill>
                    </a:lnT>
                    <a:lnB w="6350">
                      <a:solidFill>
                        <a:srgbClr val="E2E7F2"/>
                      </a:solidFill>
                    </a:lnB>
                    <a:solidFill>
                      <a:srgbClr val="1E2761"/>
                    </a:solidFill>
                  </a:tcPr>
                </a:tc>
                <a:tc>
                  <a:txBody>
                    <a:bodyPr wrap="none"/>
                    <a:lstStyle/>
                    <a:p>
                      <a:pPr algn="r"/>
                      <a:r>
                        <a:rPr sz="750" b="1">
                          <a:solidFill>
                            <a:srgbClr val="FFFFFF"/>
                          </a:solidFill>
                          <a:latin typeface="Calibri"/>
                        </a:rPr>
                        <a:t>Mix</a:t>
                      </a:r>
                    </a:p>
                  </a:txBody>
                  <a:tcPr anchor="ctr" marL="27432" marR="27432" marT="4572" marB="4572">
                    <a:lnL w="6350">
                      <a:solidFill>
                        <a:srgbClr val="E2E7F2"/>
                      </a:solidFill>
                    </a:lnL>
                    <a:lnR w="6350">
                      <a:solidFill>
                        <a:srgbClr val="E2E7F2"/>
                      </a:solidFill>
                    </a:lnR>
                    <a:lnT w="6350">
                      <a:solidFill>
                        <a:srgbClr val="E2E7F2"/>
                      </a:solidFill>
                    </a:lnT>
                    <a:lnB w="6350">
                      <a:solidFill>
                        <a:srgbClr val="E2E7F2"/>
                      </a:solidFill>
                    </a:lnB>
                    <a:solidFill>
                      <a:srgbClr val="1E2761"/>
                    </a:solidFill>
                  </a:tcPr>
                </a:tc>
                <a:tc>
                  <a:txBody>
                    <a:bodyPr wrap="none"/>
                    <a:lstStyle/>
                    <a:p>
                      <a:pPr algn="r"/>
                      <a:r>
                        <a:rPr sz="750" b="1">
                          <a:solidFill>
                            <a:srgbClr val="FFFFFF"/>
                          </a:solidFill>
                          <a:latin typeface="Calibri"/>
                        </a:rPr>
                        <a:t>Chg %</a:t>
                      </a:r>
                    </a:p>
                  </a:txBody>
                  <a:tcPr anchor="ctr" marL="27432" marR="27432" marT="4572" marB="4572">
                    <a:lnL w="6350">
                      <a:solidFill>
                        <a:srgbClr val="E2E7F2"/>
                      </a:solidFill>
                    </a:lnL>
                    <a:lnR w="6350">
                      <a:solidFill>
                        <a:srgbClr val="E2E7F2"/>
                      </a:solidFill>
                    </a:lnR>
                    <a:lnT w="6350">
                      <a:solidFill>
                        <a:srgbClr val="E2E7F2"/>
                      </a:solidFill>
                    </a:lnT>
                    <a:lnB w="6350">
                      <a:solidFill>
                        <a:srgbClr val="E2E7F2"/>
                      </a:solidFill>
                    </a:lnB>
                    <a:solidFill>
                      <a:srgbClr val="1E2761"/>
                    </a:solidFill>
                  </a:tcPr>
                </a:tc>
              </a:tr>
              <a:tr h="147174">
                <a:tc>
                  <a:txBody>
                    <a:bodyPr wrap="none"/>
                    <a:lstStyle/>
                    <a:p>
                      <a:pPr algn="l"/>
                      <a:r>
                        <a:rPr sz="750" b="1">
                          <a:solidFill>
                            <a:srgbClr val="26292E"/>
                          </a:solidFill>
                          <a:latin typeface="Calibri"/>
                        </a:rPr>
                        <a:t>Corporate SS</a:t>
                      </a:r>
                    </a:p>
                  </a:txBody>
                  <a:tcPr anchor="ctr" marL="27432" marR="27432" marT="4572" marB="4572">
                    <a:lnL w="6350">
                      <a:solidFill>
                        <a:srgbClr val="E2E7F2"/>
                      </a:solidFill>
                    </a:lnL>
                    <a:lnR w="6350">
                      <a:solidFill>
                        <a:srgbClr val="E2E7F2"/>
                      </a:solidFill>
                    </a:lnR>
                    <a:lnT w="6350">
                      <a:solidFill>
                        <a:srgbClr val="E2E7F2"/>
                      </a:solidFill>
                    </a:lnT>
                    <a:lnB w="6350">
                      <a:solidFill>
                        <a:srgbClr val="E2E7F2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wrap="none"/>
                    <a:lstStyle/>
                    <a:p>
                      <a:pPr algn="r"/>
                      <a:r>
                        <a:rPr sz="750" b="0">
                          <a:solidFill>
                            <a:srgbClr val="26292E"/>
                          </a:solidFill>
                          <a:latin typeface="Calibri"/>
                        </a:rPr>
                        <a:t>1,270</a:t>
                      </a:r>
                    </a:p>
                  </a:txBody>
                  <a:tcPr anchor="ctr" marL="27432" marR="27432" marT="4572" marB="4572">
                    <a:lnL w="6350">
                      <a:solidFill>
                        <a:srgbClr val="E2E7F2"/>
                      </a:solidFill>
                    </a:lnL>
                    <a:lnR w="6350">
                      <a:solidFill>
                        <a:srgbClr val="E2E7F2"/>
                      </a:solidFill>
                    </a:lnR>
                    <a:lnT w="6350">
                      <a:solidFill>
                        <a:srgbClr val="E2E7F2"/>
                      </a:solidFill>
                    </a:lnT>
                    <a:lnB w="6350">
                      <a:solidFill>
                        <a:srgbClr val="E2E7F2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wrap="none"/>
                    <a:lstStyle/>
                    <a:p>
                      <a:pPr algn="r"/>
                      <a:r>
                        <a:rPr sz="750" b="0">
                          <a:solidFill>
                            <a:srgbClr val="26292E"/>
                          </a:solidFill>
                          <a:latin typeface="Calibri"/>
                        </a:rPr>
                        <a:t>1,549</a:t>
                      </a:r>
                    </a:p>
                  </a:txBody>
                  <a:tcPr anchor="ctr" marL="27432" marR="27432" marT="4572" marB="4572">
                    <a:lnL w="6350">
                      <a:solidFill>
                        <a:srgbClr val="E2E7F2"/>
                      </a:solidFill>
                    </a:lnL>
                    <a:lnR w="6350">
                      <a:solidFill>
                        <a:srgbClr val="E2E7F2"/>
                      </a:solidFill>
                    </a:lnR>
                    <a:lnT w="6350">
                      <a:solidFill>
                        <a:srgbClr val="E2E7F2"/>
                      </a:solidFill>
                    </a:lnT>
                    <a:lnB w="6350">
                      <a:solidFill>
                        <a:srgbClr val="E2E7F2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wrap="none"/>
                    <a:lstStyle/>
                    <a:p>
                      <a:pPr algn="r"/>
                      <a:r>
                        <a:rPr sz="750" b="0">
                          <a:solidFill>
                            <a:srgbClr val="26292E"/>
                          </a:solidFill>
                          <a:latin typeface="Calibri"/>
                        </a:rPr>
                        <a:t>1,849</a:t>
                      </a:r>
                    </a:p>
                  </a:txBody>
                  <a:tcPr anchor="ctr" marL="27432" marR="27432" marT="4572" marB="4572">
                    <a:lnL w="6350">
                      <a:solidFill>
                        <a:srgbClr val="E2E7F2"/>
                      </a:solidFill>
                    </a:lnL>
                    <a:lnR w="6350">
                      <a:solidFill>
                        <a:srgbClr val="E2E7F2"/>
                      </a:solidFill>
                    </a:lnR>
                    <a:lnT w="6350">
                      <a:solidFill>
                        <a:srgbClr val="E2E7F2"/>
                      </a:solidFill>
                    </a:lnT>
                    <a:lnB w="6350">
                      <a:solidFill>
                        <a:srgbClr val="E2E7F2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wrap="none"/>
                    <a:lstStyle/>
                    <a:p>
                      <a:pPr algn="r"/>
                      <a:r>
                        <a:rPr sz="750" b="0">
                          <a:solidFill>
                            <a:srgbClr val="26292E"/>
                          </a:solidFill>
                          <a:latin typeface="Calibri"/>
                        </a:rPr>
                        <a:t>1,541</a:t>
                      </a:r>
                    </a:p>
                  </a:txBody>
                  <a:tcPr anchor="ctr" marL="27432" marR="27432" marT="4572" marB="4572">
                    <a:lnL w="6350">
                      <a:solidFill>
                        <a:srgbClr val="E2E7F2"/>
                      </a:solidFill>
                    </a:lnL>
                    <a:lnR w="6350">
                      <a:solidFill>
                        <a:srgbClr val="E2E7F2"/>
                      </a:solidFill>
                    </a:lnR>
                    <a:lnT w="6350">
                      <a:solidFill>
                        <a:srgbClr val="E2E7F2"/>
                      </a:solidFill>
                    </a:lnT>
                    <a:lnB w="6350">
                      <a:solidFill>
                        <a:srgbClr val="E2E7F2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wrap="none"/>
                    <a:lstStyle/>
                    <a:p>
                      <a:pPr algn="r"/>
                      <a:r>
                        <a:rPr sz="750" b="0">
                          <a:solidFill>
                            <a:srgbClr val="26292E"/>
                          </a:solidFill>
                          <a:latin typeface="Calibri"/>
                        </a:rPr>
                        <a:t>1,597</a:t>
                      </a:r>
                    </a:p>
                  </a:txBody>
                  <a:tcPr anchor="ctr" marL="27432" marR="27432" marT="4572" marB="4572">
                    <a:lnL w="6350">
                      <a:solidFill>
                        <a:srgbClr val="E2E7F2"/>
                      </a:solidFill>
                    </a:lnL>
                    <a:lnR w="6350">
                      <a:solidFill>
                        <a:srgbClr val="E2E7F2"/>
                      </a:solidFill>
                    </a:lnR>
                    <a:lnT w="6350">
                      <a:solidFill>
                        <a:srgbClr val="E2E7F2"/>
                      </a:solidFill>
                    </a:lnT>
                    <a:lnB w="6350">
                      <a:solidFill>
                        <a:srgbClr val="E2E7F2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wrap="none"/>
                    <a:lstStyle/>
                    <a:p>
                      <a:pPr algn="r"/>
                      <a:r>
                        <a:rPr sz="750" b="0">
                          <a:solidFill>
                            <a:srgbClr val="26292E"/>
                          </a:solidFill>
                          <a:latin typeface="Calibri"/>
                        </a:rPr>
                        <a:t>1,484</a:t>
                      </a:r>
                    </a:p>
                  </a:txBody>
                  <a:tcPr anchor="ctr" marL="27432" marR="27432" marT="4572" marB="4572">
                    <a:lnL w="6350">
                      <a:solidFill>
                        <a:srgbClr val="E2E7F2"/>
                      </a:solidFill>
                    </a:lnL>
                    <a:lnR w="6350">
                      <a:solidFill>
                        <a:srgbClr val="E2E7F2"/>
                      </a:solidFill>
                    </a:lnR>
                    <a:lnT w="6350">
                      <a:solidFill>
                        <a:srgbClr val="E2E7F2"/>
                      </a:solidFill>
                    </a:lnT>
                    <a:lnB w="6350">
                      <a:solidFill>
                        <a:srgbClr val="E2E7F2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wrap="none"/>
                    <a:lstStyle/>
                    <a:p>
                      <a:pPr algn="r"/>
                      <a:r>
                        <a:rPr sz="750" b="1">
                          <a:solidFill>
                            <a:srgbClr val="26292E"/>
                          </a:solidFill>
                          <a:latin typeface="Calibri"/>
                        </a:rPr>
                        <a:t>9,290</a:t>
                      </a:r>
                    </a:p>
                  </a:txBody>
                  <a:tcPr anchor="ctr" marL="27432" marR="27432" marT="4572" marB="4572">
                    <a:lnL w="6350">
                      <a:solidFill>
                        <a:srgbClr val="E2E7F2"/>
                      </a:solidFill>
                    </a:lnL>
                    <a:lnR w="6350">
                      <a:solidFill>
                        <a:srgbClr val="E2E7F2"/>
                      </a:solidFill>
                    </a:lnR>
                    <a:lnT w="6350">
                      <a:solidFill>
                        <a:srgbClr val="E2E7F2"/>
                      </a:solidFill>
                    </a:lnT>
                    <a:lnB w="6350">
                      <a:solidFill>
                        <a:srgbClr val="E2E7F2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wrap="none"/>
                    <a:lstStyle/>
                    <a:p>
                      <a:pPr algn="r"/>
                      <a:r>
                        <a:rPr sz="750" b="0">
                          <a:solidFill>
                            <a:srgbClr val="26292E"/>
                          </a:solidFill>
                          <a:latin typeface="Calibri"/>
                        </a:rPr>
                        <a:t>14%</a:t>
                      </a:r>
                    </a:p>
                  </a:txBody>
                  <a:tcPr anchor="ctr" marL="27432" marR="27432" marT="4572" marB="4572">
                    <a:lnL w="6350">
                      <a:solidFill>
                        <a:srgbClr val="E2E7F2"/>
                      </a:solidFill>
                    </a:lnL>
                    <a:lnR w="6350">
                      <a:solidFill>
                        <a:srgbClr val="E2E7F2"/>
                      </a:solidFill>
                    </a:lnR>
                    <a:lnT w="6350">
                      <a:solidFill>
                        <a:srgbClr val="E2E7F2"/>
                      </a:solidFill>
                    </a:lnT>
                    <a:lnB w="6350">
                      <a:solidFill>
                        <a:srgbClr val="E2E7F2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wrap="none"/>
                    <a:lstStyle/>
                    <a:p>
                      <a:pPr algn="r"/>
                      <a:r>
                        <a:rPr sz="750" b="1">
                          <a:solidFill>
                            <a:srgbClr val="C62828"/>
                          </a:solidFill>
                          <a:latin typeface="Calibri"/>
                        </a:rPr>
                        <a:t>-7%</a:t>
                      </a:r>
                    </a:p>
                  </a:txBody>
                  <a:tcPr anchor="ctr" marL="27432" marR="27432" marT="4572" marB="4572">
                    <a:lnL w="6350">
                      <a:solidFill>
                        <a:srgbClr val="E2E7F2"/>
                      </a:solidFill>
                    </a:lnL>
                    <a:lnR w="6350">
                      <a:solidFill>
                        <a:srgbClr val="E2E7F2"/>
                      </a:solidFill>
                    </a:lnR>
                    <a:lnT w="6350">
                      <a:solidFill>
                        <a:srgbClr val="E2E7F2"/>
                      </a:solidFill>
                    </a:lnT>
                    <a:lnB w="6350">
                      <a:solidFill>
                        <a:srgbClr val="E2E7F2"/>
                      </a:solidFill>
                    </a:lnB>
                    <a:solidFill>
                      <a:srgbClr val="FFFFFF"/>
                    </a:solidFill>
                  </a:tcPr>
                </a:tc>
              </a:tr>
              <a:tr h="147174">
                <a:tc>
                  <a:txBody>
                    <a:bodyPr wrap="none"/>
                    <a:lstStyle/>
                    <a:p>
                      <a:pPr algn="l"/>
                      <a:r>
                        <a:rPr sz="750" b="0">
                          <a:solidFill>
                            <a:srgbClr val="595959"/>
                          </a:solidFill>
                          <a:latin typeface="Calibri"/>
                        </a:rPr>
                        <a:t>   ’25</a:t>
                      </a:r>
                    </a:p>
                  </a:txBody>
                  <a:tcPr anchor="ctr" marL="27432" marR="27432" marT="4572" marB="4572">
                    <a:lnL w="6350">
                      <a:solidFill>
                        <a:srgbClr val="E2E7F2"/>
                      </a:solidFill>
                    </a:lnL>
                    <a:lnR w="6350">
                      <a:solidFill>
                        <a:srgbClr val="E2E7F2"/>
                      </a:solidFill>
                    </a:lnR>
                    <a:lnT w="6350">
                      <a:solidFill>
                        <a:srgbClr val="E2E7F2"/>
                      </a:solidFill>
                    </a:lnT>
                    <a:lnB w="6350">
                      <a:solidFill>
                        <a:srgbClr val="E2E7F2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wrap="none"/>
                    <a:lstStyle/>
                    <a:p>
                      <a:pPr algn="r"/>
                      <a:r>
                        <a:rPr sz="750" b="0">
                          <a:solidFill>
                            <a:srgbClr val="595959"/>
                          </a:solidFill>
                          <a:latin typeface="Calibri"/>
                        </a:rPr>
                        <a:t>1,323</a:t>
                      </a:r>
                    </a:p>
                  </a:txBody>
                  <a:tcPr anchor="ctr" marL="27432" marR="27432" marT="4572" marB="4572">
                    <a:lnL w="6350">
                      <a:solidFill>
                        <a:srgbClr val="E2E7F2"/>
                      </a:solidFill>
                    </a:lnL>
                    <a:lnR w="6350">
                      <a:solidFill>
                        <a:srgbClr val="E2E7F2"/>
                      </a:solidFill>
                    </a:lnR>
                    <a:lnT w="6350">
                      <a:solidFill>
                        <a:srgbClr val="E2E7F2"/>
                      </a:solidFill>
                    </a:lnT>
                    <a:lnB w="6350">
                      <a:solidFill>
                        <a:srgbClr val="E2E7F2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wrap="none"/>
                    <a:lstStyle/>
                    <a:p>
                      <a:pPr algn="r"/>
                      <a:r>
                        <a:rPr sz="750" b="0">
                          <a:solidFill>
                            <a:srgbClr val="595959"/>
                          </a:solidFill>
                          <a:latin typeface="Calibri"/>
                        </a:rPr>
                        <a:t>1,535</a:t>
                      </a:r>
                    </a:p>
                  </a:txBody>
                  <a:tcPr anchor="ctr" marL="27432" marR="27432" marT="4572" marB="4572">
                    <a:lnL w="6350">
                      <a:solidFill>
                        <a:srgbClr val="E2E7F2"/>
                      </a:solidFill>
                    </a:lnL>
                    <a:lnR w="6350">
                      <a:solidFill>
                        <a:srgbClr val="E2E7F2"/>
                      </a:solidFill>
                    </a:lnR>
                    <a:lnT w="6350">
                      <a:solidFill>
                        <a:srgbClr val="E2E7F2"/>
                      </a:solidFill>
                    </a:lnT>
                    <a:lnB w="6350">
                      <a:solidFill>
                        <a:srgbClr val="E2E7F2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wrap="none"/>
                    <a:lstStyle/>
                    <a:p>
                      <a:pPr algn="r"/>
                      <a:r>
                        <a:rPr sz="750" b="0">
                          <a:solidFill>
                            <a:srgbClr val="595959"/>
                          </a:solidFill>
                          <a:latin typeface="Calibri"/>
                        </a:rPr>
                        <a:t>2,178</a:t>
                      </a:r>
                    </a:p>
                  </a:txBody>
                  <a:tcPr anchor="ctr" marL="27432" marR="27432" marT="4572" marB="4572">
                    <a:lnL w="6350">
                      <a:solidFill>
                        <a:srgbClr val="E2E7F2"/>
                      </a:solidFill>
                    </a:lnL>
                    <a:lnR w="6350">
                      <a:solidFill>
                        <a:srgbClr val="E2E7F2"/>
                      </a:solidFill>
                    </a:lnR>
                    <a:lnT w="6350">
                      <a:solidFill>
                        <a:srgbClr val="E2E7F2"/>
                      </a:solidFill>
                    </a:lnT>
                    <a:lnB w="6350">
                      <a:solidFill>
                        <a:srgbClr val="E2E7F2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wrap="none"/>
                    <a:lstStyle/>
                    <a:p>
                      <a:pPr algn="r"/>
                      <a:r>
                        <a:rPr sz="750" b="0">
                          <a:solidFill>
                            <a:srgbClr val="595959"/>
                          </a:solidFill>
                          <a:latin typeface="Calibri"/>
                        </a:rPr>
                        <a:t>1,460</a:t>
                      </a:r>
                    </a:p>
                  </a:txBody>
                  <a:tcPr anchor="ctr" marL="27432" marR="27432" marT="4572" marB="4572">
                    <a:lnL w="6350">
                      <a:solidFill>
                        <a:srgbClr val="E2E7F2"/>
                      </a:solidFill>
                    </a:lnL>
                    <a:lnR w="6350">
                      <a:solidFill>
                        <a:srgbClr val="E2E7F2"/>
                      </a:solidFill>
                    </a:lnR>
                    <a:lnT w="6350">
                      <a:solidFill>
                        <a:srgbClr val="E2E7F2"/>
                      </a:solidFill>
                    </a:lnT>
                    <a:lnB w="6350">
                      <a:solidFill>
                        <a:srgbClr val="E2E7F2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wrap="none"/>
                    <a:lstStyle/>
                    <a:p>
                      <a:pPr algn="r"/>
                      <a:r>
                        <a:rPr sz="750" b="0">
                          <a:solidFill>
                            <a:srgbClr val="595959"/>
                          </a:solidFill>
                          <a:latin typeface="Calibri"/>
                        </a:rPr>
                        <a:t>1,844</a:t>
                      </a:r>
                    </a:p>
                  </a:txBody>
                  <a:tcPr anchor="ctr" marL="27432" marR="27432" marT="4572" marB="4572">
                    <a:lnL w="6350">
                      <a:solidFill>
                        <a:srgbClr val="E2E7F2"/>
                      </a:solidFill>
                    </a:lnL>
                    <a:lnR w="6350">
                      <a:solidFill>
                        <a:srgbClr val="E2E7F2"/>
                      </a:solidFill>
                    </a:lnR>
                    <a:lnT w="6350">
                      <a:solidFill>
                        <a:srgbClr val="E2E7F2"/>
                      </a:solidFill>
                    </a:lnT>
                    <a:lnB w="6350">
                      <a:solidFill>
                        <a:srgbClr val="E2E7F2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wrap="none"/>
                    <a:lstStyle/>
                    <a:p>
                      <a:pPr algn="r"/>
                      <a:r>
                        <a:rPr sz="750" b="0">
                          <a:solidFill>
                            <a:srgbClr val="595959"/>
                          </a:solidFill>
                          <a:latin typeface="Calibri"/>
                        </a:rPr>
                        <a:t>1,699</a:t>
                      </a:r>
                    </a:p>
                  </a:txBody>
                  <a:tcPr anchor="ctr" marL="27432" marR="27432" marT="4572" marB="4572">
                    <a:lnL w="6350">
                      <a:solidFill>
                        <a:srgbClr val="E2E7F2"/>
                      </a:solidFill>
                    </a:lnL>
                    <a:lnR w="6350">
                      <a:solidFill>
                        <a:srgbClr val="E2E7F2"/>
                      </a:solidFill>
                    </a:lnR>
                    <a:lnT w="6350">
                      <a:solidFill>
                        <a:srgbClr val="E2E7F2"/>
                      </a:solidFill>
                    </a:lnT>
                    <a:lnB w="6350">
                      <a:solidFill>
                        <a:srgbClr val="E2E7F2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wrap="none"/>
                    <a:lstStyle/>
                    <a:p>
                      <a:pPr algn="r"/>
                      <a:r>
                        <a:rPr sz="750" b="0">
                          <a:solidFill>
                            <a:srgbClr val="595959"/>
                          </a:solidFill>
                          <a:latin typeface="Calibri"/>
                        </a:rPr>
                        <a:t>10,039</a:t>
                      </a:r>
                    </a:p>
                  </a:txBody>
                  <a:tcPr anchor="ctr" marL="27432" marR="27432" marT="4572" marB="4572">
                    <a:lnL w="6350">
                      <a:solidFill>
                        <a:srgbClr val="E2E7F2"/>
                      </a:solidFill>
                    </a:lnL>
                    <a:lnR w="6350">
                      <a:solidFill>
                        <a:srgbClr val="E2E7F2"/>
                      </a:solidFill>
                    </a:lnR>
                    <a:lnT w="6350">
                      <a:solidFill>
                        <a:srgbClr val="E2E7F2"/>
                      </a:solidFill>
                    </a:lnT>
                    <a:lnB w="6350">
                      <a:solidFill>
                        <a:srgbClr val="E2E7F2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wrap="none"/>
                    <a:lstStyle/>
                    <a:p>
                      <a:pPr algn="r"/>
                      <a:r>
                        <a:rPr sz="750" b="0">
                          <a:solidFill>
                            <a:srgbClr val="595959"/>
                          </a:solidFill>
                          <a:latin typeface="Calibri"/>
                        </a:rPr>
                        <a:t>16%</a:t>
                      </a:r>
                    </a:p>
                  </a:txBody>
                  <a:tcPr anchor="ctr" marL="27432" marR="27432" marT="4572" marB="4572">
                    <a:lnL w="6350">
                      <a:solidFill>
                        <a:srgbClr val="E2E7F2"/>
                      </a:solidFill>
                    </a:lnL>
                    <a:lnR w="6350">
                      <a:solidFill>
                        <a:srgbClr val="E2E7F2"/>
                      </a:solidFill>
                    </a:lnR>
                    <a:lnT w="6350">
                      <a:solidFill>
                        <a:srgbClr val="E2E7F2"/>
                      </a:solidFill>
                    </a:lnT>
                    <a:lnB w="6350">
                      <a:solidFill>
                        <a:srgbClr val="E2E7F2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wrap="none"/>
                    <a:lstStyle/>
                    <a:p>
                      <a:pPr algn="l"/>
                      <a:r>
                        <a:rPr sz="750" b="0">
                          <a:solidFill>
                            <a:srgbClr val="26292E"/>
                          </a:solidFill>
                          <a:latin typeface="Calibri"/>
                        </a:rPr>
                        <a:t/>
                      </a:r>
                    </a:p>
                  </a:txBody>
                  <a:tcPr anchor="ctr" marL="27432" marR="27432" marT="4572" marB="4572">
                    <a:lnL w="6350">
                      <a:solidFill>
                        <a:srgbClr val="E2E7F2"/>
                      </a:solidFill>
                    </a:lnL>
                    <a:lnR w="6350">
                      <a:solidFill>
                        <a:srgbClr val="E2E7F2"/>
                      </a:solidFill>
                    </a:lnR>
                    <a:lnT w="6350">
                      <a:solidFill>
                        <a:srgbClr val="E2E7F2"/>
                      </a:solidFill>
                    </a:lnT>
                    <a:lnB w="6350">
                      <a:solidFill>
                        <a:srgbClr val="E2E7F2"/>
                      </a:solidFill>
                    </a:lnB>
                    <a:solidFill>
                      <a:srgbClr val="FFFFFF"/>
                    </a:solidFill>
                  </a:tcPr>
                </a:tc>
              </a:tr>
              <a:tr h="147174">
                <a:tc>
                  <a:txBody>
                    <a:bodyPr wrap="none"/>
                    <a:lstStyle/>
                    <a:p>
                      <a:pPr algn="l"/>
                      <a:r>
                        <a:rPr sz="750" b="1">
                          <a:solidFill>
                            <a:srgbClr val="26292E"/>
                          </a:solidFill>
                          <a:latin typeface="Calibri"/>
                        </a:rPr>
                        <a:t>Corporate LS</a:t>
                      </a:r>
                    </a:p>
                  </a:txBody>
                  <a:tcPr anchor="ctr" marL="27432" marR="27432" marT="4572" marB="4572">
                    <a:lnL w="6350">
                      <a:solidFill>
                        <a:srgbClr val="E2E7F2"/>
                      </a:solidFill>
                    </a:lnL>
                    <a:lnR w="6350">
                      <a:solidFill>
                        <a:srgbClr val="E2E7F2"/>
                      </a:solidFill>
                    </a:lnR>
                    <a:lnT w="6350">
                      <a:solidFill>
                        <a:srgbClr val="E2E7F2"/>
                      </a:solidFill>
                    </a:lnT>
                    <a:lnB w="6350">
                      <a:solidFill>
                        <a:srgbClr val="E2E7F2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wrap="none"/>
                    <a:lstStyle/>
                    <a:p>
                      <a:pPr algn="r"/>
                      <a:r>
                        <a:rPr sz="750" b="0">
                          <a:solidFill>
                            <a:srgbClr val="26292E"/>
                          </a:solidFill>
                          <a:latin typeface="Calibri"/>
                        </a:rPr>
                        <a:t>1,416</a:t>
                      </a:r>
                    </a:p>
                  </a:txBody>
                  <a:tcPr anchor="ctr" marL="27432" marR="27432" marT="4572" marB="4572">
                    <a:lnL w="6350">
                      <a:solidFill>
                        <a:srgbClr val="E2E7F2"/>
                      </a:solidFill>
                    </a:lnL>
                    <a:lnR w="6350">
                      <a:solidFill>
                        <a:srgbClr val="E2E7F2"/>
                      </a:solidFill>
                    </a:lnR>
                    <a:lnT w="6350">
                      <a:solidFill>
                        <a:srgbClr val="E2E7F2"/>
                      </a:solidFill>
                    </a:lnT>
                    <a:lnB w="6350">
                      <a:solidFill>
                        <a:srgbClr val="E2E7F2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wrap="none"/>
                    <a:lstStyle/>
                    <a:p>
                      <a:pPr algn="r"/>
                      <a:r>
                        <a:rPr sz="750" b="0">
                          <a:solidFill>
                            <a:srgbClr val="26292E"/>
                          </a:solidFill>
                          <a:latin typeface="Calibri"/>
                        </a:rPr>
                        <a:t>1,303</a:t>
                      </a:r>
                    </a:p>
                  </a:txBody>
                  <a:tcPr anchor="ctr" marL="27432" marR="27432" marT="4572" marB="4572">
                    <a:lnL w="6350">
                      <a:solidFill>
                        <a:srgbClr val="E2E7F2"/>
                      </a:solidFill>
                    </a:lnL>
                    <a:lnR w="6350">
                      <a:solidFill>
                        <a:srgbClr val="E2E7F2"/>
                      </a:solidFill>
                    </a:lnR>
                    <a:lnT w="6350">
                      <a:solidFill>
                        <a:srgbClr val="E2E7F2"/>
                      </a:solidFill>
                    </a:lnT>
                    <a:lnB w="6350">
                      <a:solidFill>
                        <a:srgbClr val="E2E7F2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wrap="none"/>
                    <a:lstStyle/>
                    <a:p>
                      <a:pPr algn="r"/>
                      <a:r>
                        <a:rPr sz="750" b="0">
                          <a:solidFill>
                            <a:srgbClr val="26292E"/>
                          </a:solidFill>
                          <a:latin typeface="Calibri"/>
                        </a:rPr>
                        <a:t>1,323</a:t>
                      </a:r>
                    </a:p>
                  </a:txBody>
                  <a:tcPr anchor="ctr" marL="27432" marR="27432" marT="4572" marB="4572">
                    <a:lnL w="6350">
                      <a:solidFill>
                        <a:srgbClr val="E2E7F2"/>
                      </a:solidFill>
                    </a:lnL>
                    <a:lnR w="6350">
                      <a:solidFill>
                        <a:srgbClr val="E2E7F2"/>
                      </a:solidFill>
                    </a:lnR>
                    <a:lnT w="6350">
                      <a:solidFill>
                        <a:srgbClr val="E2E7F2"/>
                      </a:solidFill>
                    </a:lnT>
                    <a:lnB w="6350">
                      <a:solidFill>
                        <a:srgbClr val="E2E7F2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wrap="none"/>
                    <a:lstStyle/>
                    <a:p>
                      <a:pPr algn="r"/>
                      <a:r>
                        <a:rPr sz="750" b="0">
                          <a:solidFill>
                            <a:srgbClr val="26292E"/>
                          </a:solidFill>
                          <a:latin typeface="Calibri"/>
                        </a:rPr>
                        <a:t>1,437</a:t>
                      </a:r>
                    </a:p>
                  </a:txBody>
                  <a:tcPr anchor="ctr" marL="27432" marR="27432" marT="4572" marB="4572">
                    <a:lnL w="6350">
                      <a:solidFill>
                        <a:srgbClr val="E2E7F2"/>
                      </a:solidFill>
                    </a:lnL>
                    <a:lnR w="6350">
                      <a:solidFill>
                        <a:srgbClr val="E2E7F2"/>
                      </a:solidFill>
                    </a:lnR>
                    <a:lnT w="6350">
                      <a:solidFill>
                        <a:srgbClr val="E2E7F2"/>
                      </a:solidFill>
                    </a:lnT>
                    <a:lnB w="6350">
                      <a:solidFill>
                        <a:srgbClr val="E2E7F2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wrap="none"/>
                    <a:lstStyle/>
                    <a:p>
                      <a:pPr algn="r"/>
                      <a:r>
                        <a:rPr sz="750" b="0">
                          <a:solidFill>
                            <a:srgbClr val="26292E"/>
                          </a:solidFill>
                          <a:latin typeface="Calibri"/>
                        </a:rPr>
                        <a:t>1,936</a:t>
                      </a:r>
                    </a:p>
                  </a:txBody>
                  <a:tcPr anchor="ctr" marL="27432" marR="27432" marT="4572" marB="4572">
                    <a:lnL w="6350">
                      <a:solidFill>
                        <a:srgbClr val="E2E7F2"/>
                      </a:solidFill>
                    </a:lnL>
                    <a:lnR w="6350">
                      <a:solidFill>
                        <a:srgbClr val="E2E7F2"/>
                      </a:solidFill>
                    </a:lnR>
                    <a:lnT w="6350">
                      <a:solidFill>
                        <a:srgbClr val="E2E7F2"/>
                      </a:solidFill>
                    </a:lnT>
                    <a:lnB w="6350">
                      <a:solidFill>
                        <a:srgbClr val="E2E7F2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wrap="none"/>
                    <a:lstStyle/>
                    <a:p>
                      <a:pPr algn="r"/>
                      <a:r>
                        <a:rPr sz="750" b="0">
                          <a:solidFill>
                            <a:srgbClr val="26292E"/>
                          </a:solidFill>
                          <a:latin typeface="Calibri"/>
                        </a:rPr>
                        <a:t>2,208</a:t>
                      </a:r>
                    </a:p>
                  </a:txBody>
                  <a:tcPr anchor="ctr" marL="27432" marR="27432" marT="4572" marB="4572">
                    <a:lnL w="6350">
                      <a:solidFill>
                        <a:srgbClr val="E2E7F2"/>
                      </a:solidFill>
                    </a:lnL>
                    <a:lnR w="6350">
                      <a:solidFill>
                        <a:srgbClr val="E2E7F2"/>
                      </a:solidFill>
                    </a:lnR>
                    <a:lnT w="6350">
                      <a:solidFill>
                        <a:srgbClr val="E2E7F2"/>
                      </a:solidFill>
                    </a:lnT>
                    <a:lnB w="6350">
                      <a:solidFill>
                        <a:srgbClr val="E2E7F2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wrap="none"/>
                    <a:lstStyle/>
                    <a:p>
                      <a:pPr algn="r"/>
                      <a:r>
                        <a:rPr sz="750" b="1">
                          <a:solidFill>
                            <a:srgbClr val="26292E"/>
                          </a:solidFill>
                          <a:latin typeface="Calibri"/>
                        </a:rPr>
                        <a:t>9,623</a:t>
                      </a:r>
                    </a:p>
                  </a:txBody>
                  <a:tcPr anchor="ctr" marL="27432" marR="27432" marT="4572" marB="4572">
                    <a:lnL w="6350">
                      <a:solidFill>
                        <a:srgbClr val="E2E7F2"/>
                      </a:solidFill>
                    </a:lnL>
                    <a:lnR w="6350">
                      <a:solidFill>
                        <a:srgbClr val="E2E7F2"/>
                      </a:solidFill>
                    </a:lnR>
                    <a:lnT w="6350">
                      <a:solidFill>
                        <a:srgbClr val="E2E7F2"/>
                      </a:solidFill>
                    </a:lnT>
                    <a:lnB w="6350">
                      <a:solidFill>
                        <a:srgbClr val="E2E7F2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wrap="none"/>
                    <a:lstStyle/>
                    <a:p>
                      <a:pPr algn="r"/>
                      <a:r>
                        <a:rPr sz="750" b="0">
                          <a:solidFill>
                            <a:srgbClr val="26292E"/>
                          </a:solidFill>
                          <a:latin typeface="Calibri"/>
                        </a:rPr>
                        <a:t>15%</a:t>
                      </a:r>
                    </a:p>
                  </a:txBody>
                  <a:tcPr anchor="ctr" marL="27432" marR="27432" marT="4572" marB="4572">
                    <a:lnL w="6350">
                      <a:solidFill>
                        <a:srgbClr val="E2E7F2"/>
                      </a:solidFill>
                    </a:lnL>
                    <a:lnR w="6350">
                      <a:solidFill>
                        <a:srgbClr val="E2E7F2"/>
                      </a:solidFill>
                    </a:lnR>
                    <a:lnT w="6350">
                      <a:solidFill>
                        <a:srgbClr val="E2E7F2"/>
                      </a:solidFill>
                    </a:lnT>
                    <a:lnB w="6350">
                      <a:solidFill>
                        <a:srgbClr val="E2E7F2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wrap="none"/>
                    <a:lstStyle/>
                    <a:p>
                      <a:pPr algn="r"/>
                      <a:r>
                        <a:rPr sz="750" b="1">
                          <a:solidFill>
                            <a:srgbClr val="1E7B34"/>
                          </a:solidFill>
                          <a:latin typeface="Calibri"/>
                        </a:rPr>
                        <a:t>+4%</a:t>
                      </a:r>
                    </a:p>
                  </a:txBody>
                  <a:tcPr anchor="ctr" marL="27432" marR="27432" marT="4572" marB="4572">
                    <a:lnL w="6350">
                      <a:solidFill>
                        <a:srgbClr val="E2E7F2"/>
                      </a:solidFill>
                    </a:lnL>
                    <a:lnR w="6350">
                      <a:solidFill>
                        <a:srgbClr val="E2E7F2"/>
                      </a:solidFill>
                    </a:lnR>
                    <a:lnT w="6350">
                      <a:solidFill>
                        <a:srgbClr val="E2E7F2"/>
                      </a:solidFill>
                    </a:lnT>
                    <a:lnB w="6350">
                      <a:solidFill>
                        <a:srgbClr val="E2E7F2"/>
                      </a:solidFill>
                    </a:lnB>
                    <a:solidFill>
                      <a:srgbClr val="FFFFFF"/>
                    </a:solidFill>
                  </a:tcPr>
                </a:tc>
              </a:tr>
              <a:tr h="147174">
                <a:tc>
                  <a:txBody>
                    <a:bodyPr wrap="none"/>
                    <a:lstStyle/>
                    <a:p>
                      <a:pPr algn="l"/>
                      <a:r>
                        <a:rPr sz="750" b="0">
                          <a:solidFill>
                            <a:srgbClr val="595959"/>
                          </a:solidFill>
                          <a:latin typeface="Calibri"/>
                        </a:rPr>
                        <a:t>   ’25</a:t>
                      </a:r>
                    </a:p>
                  </a:txBody>
                  <a:tcPr anchor="ctr" marL="27432" marR="27432" marT="4572" marB="4572">
                    <a:lnL w="6350">
                      <a:solidFill>
                        <a:srgbClr val="E2E7F2"/>
                      </a:solidFill>
                    </a:lnL>
                    <a:lnR w="6350">
                      <a:solidFill>
                        <a:srgbClr val="E2E7F2"/>
                      </a:solidFill>
                    </a:lnR>
                    <a:lnT w="6350">
                      <a:solidFill>
                        <a:srgbClr val="E2E7F2"/>
                      </a:solidFill>
                    </a:lnT>
                    <a:lnB w="6350">
                      <a:solidFill>
                        <a:srgbClr val="E2E7F2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wrap="none"/>
                    <a:lstStyle/>
                    <a:p>
                      <a:pPr algn="r"/>
                      <a:r>
                        <a:rPr sz="750" b="0">
                          <a:solidFill>
                            <a:srgbClr val="595959"/>
                          </a:solidFill>
                          <a:latin typeface="Calibri"/>
                        </a:rPr>
                        <a:t>2,018</a:t>
                      </a:r>
                    </a:p>
                  </a:txBody>
                  <a:tcPr anchor="ctr" marL="27432" marR="27432" marT="4572" marB="4572">
                    <a:lnL w="6350">
                      <a:solidFill>
                        <a:srgbClr val="E2E7F2"/>
                      </a:solidFill>
                    </a:lnL>
                    <a:lnR w="6350">
                      <a:solidFill>
                        <a:srgbClr val="E2E7F2"/>
                      </a:solidFill>
                    </a:lnR>
                    <a:lnT w="6350">
                      <a:solidFill>
                        <a:srgbClr val="E2E7F2"/>
                      </a:solidFill>
                    </a:lnT>
                    <a:lnB w="6350">
                      <a:solidFill>
                        <a:srgbClr val="E2E7F2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wrap="none"/>
                    <a:lstStyle/>
                    <a:p>
                      <a:pPr algn="r"/>
                      <a:r>
                        <a:rPr sz="750" b="0">
                          <a:solidFill>
                            <a:srgbClr val="595959"/>
                          </a:solidFill>
                          <a:latin typeface="Calibri"/>
                        </a:rPr>
                        <a:t>1,254</a:t>
                      </a:r>
                    </a:p>
                  </a:txBody>
                  <a:tcPr anchor="ctr" marL="27432" marR="27432" marT="4572" marB="4572">
                    <a:lnL w="6350">
                      <a:solidFill>
                        <a:srgbClr val="E2E7F2"/>
                      </a:solidFill>
                    </a:lnL>
                    <a:lnR w="6350">
                      <a:solidFill>
                        <a:srgbClr val="E2E7F2"/>
                      </a:solidFill>
                    </a:lnR>
                    <a:lnT w="6350">
                      <a:solidFill>
                        <a:srgbClr val="E2E7F2"/>
                      </a:solidFill>
                    </a:lnT>
                    <a:lnB w="6350">
                      <a:solidFill>
                        <a:srgbClr val="E2E7F2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wrap="none"/>
                    <a:lstStyle/>
                    <a:p>
                      <a:pPr algn="r"/>
                      <a:r>
                        <a:rPr sz="750" b="0">
                          <a:solidFill>
                            <a:srgbClr val="595959"/>
                          </a:solidFill>
                          <a:latin typeface="Calibri"/>
                        </a:rPr>
                        <a:t>1,078</a:t>
                      </a:r>
                    </a:p>
                  </a:txBody>
                  <a:tcPr anchor="ctr" marL="27432" marR="27432" marT="4572" marB="4572">
                    <a:lnL w="6350">
                      <a:solidFill>
                        <a:srgbClr val="E2E7F2"/>
                      </a:solidFill>
                    </a:lnL>
                    <a:lnR w="6350">
                      <a:solidFill>
                        <a:srgbClr val="E2E7F2"/>
                      </a:solidFill>
                    </a:lnR>
                    <a:lnT w="6350">
                      <a:solidFill>
                        <a:srgbClr val="E2E7F2"/>
                      </a:solidFill>
                    </a:lnT>
                    <a:lnB w="6350">
                      <a:solidFill>
                        <a:srgbClr val="E2E7F2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wrap="none"/>
                    <a:lstStyle/>
                    <a:p>
                      <a:pPr algn="r"/>
                      <a:r>
                        <a:rPr sz="750" b="0">
                          <a:solidFill>
                            <a:srgbClr val="595959"/>
                          </a:solidFill>
                          <a:latin typeface="Calibri"/>
                        </a:rPr>
                        <a:t>1,148</a:t>
                      </a:r>
                    </a:p>
                  </a:txBody>
                  <a:tcPr anchor="ctr" marL="27432" marR="27432" marT="4572" marB="4572">
                    <a:lnL w="6350">
                      <a:solidFill>
                        <a:srgbClr val="E2E7F2"/>
                      </a:solidFill>
                    </a:lnL>
                    <a:lnR w="6350">
                      <a:solidFill>
                        <a:srgbClr val="E2E7F2"/>
                      </a:solidFill>
                    </a:lnR>
                    <a:lnT w="6350">
                      <a:solidFill>
                        <a:srgbClr val="E2E7F2"/>
                      </a:solidFill>
                    </a:lnT>
                    <a:lnB w="6350">
                      <a:solidFill>
                        <a:srgbClr val="E2E7F2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wrap="none"/>
                    <a:lstStyle/>
                    <a:p>
                      <a:pPr algn="r"/>
                      <a:r>
                        <a:rPr sz="750" b="0">
                          <a:solidFill>
                            <a:srgbClr val="595959"/>
                          </a:solidFill>
                          <a:latin typeface="Calibri"/>
                        </a:rPr>
                        <a:t>1,799</a:t>
                      </a:r>
                    </a:p>
                  </a:txBody>
                  <a:tcPr anchor="ctr" marL="27432" marR="27432" marT="4572" marB="4572">
                    <a:lnL w="6350">
                      <a:solidFill>
                        <a:srgbClr val="E2E7F2"/>
                      </a:solidFill>
                    </a:lnL>
                    <a:lnR w="6350">
                      <a:solidFill>
                        <a:srgbClr val="E2E7F2"/>
                      </a:solidFill>
                    </a:lnR>
                    <a:lnT w="6350">
                      <a:solidFill>
                        <a:srgbClr val="E2E7F2"/>
                      </a:solidFill>
                    </a:lnT>
                    <a:lnB w="6350">
                      <a:solidFill>
                        <a:srgbClr val="E2E7F2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wrap="none"/>
                    <a:lstStyle/>
                    <a:p>
                      <a:pPr algn="r"/>
                      <a:r>
                        <a:rPr sz="750" b="0">
                          <a:solidFill>
                            <a:srgbClr val="595959"/>
                          </a:solidFill>
                          <a:latin typeface="Calibri"/>
                        </a:rPr>
                        <a:t>1,932</a:t>
                      </a:r>
                    </a:p>
                  </a:txBody>
                  <a:tcPr anchor="ctr" marL="27432" marR="27432" marT="4572" marB="4572">
                    <a:lnL w="6350">
                      <a:solidFill>
                        <a:srgbClr val="E2E7F2"/>
                      </a:solidFill>
                    </a:lnL>
                    <a:lnR w="6350">
                      <a:solidFill>
                        <a:srgbClr val="E2E7F2"/>
                      </a:solidFill>
                    </a:lnR>
                    <a:lnT w="6350">
                      <a:solidFill>
                        <a:srgbClr val="E2E7F2"/>
                      </a:solidFill>
                    </a:lnT>
                    <a:lnB w="6350">
                      <a:solidFill>
                        <a:srgbClr val="E2E7F2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wrap="none"/>
                    <a:lstStyle/>
                    <a:p>
                      <a:pPr algn="r"/>
                      <a:r>
                        <a:rPr sz="750" b="0">
                          <a:solidFill>
                            <a:srgbClr val="595959"/>
                          </a:solidFill>
                          <a:latin typeface="Calibri"/>
                        </a:rPr>
                        <a:t>9,229</a:t>
                      </a:r>
                    </a:p>
                  </a:txBody>
                  <a:tcPr anchor="ctr" marL="27432" marR="27432" marT="4572" marB="4572">
                    <a:lnL w="6350">
                      <a:solidFill>
                        <a:srgbClr val="E2E7F2"/>
                      </a:solidFill>
                    </a:lnL>
                    <a:lnR w="6350">
                      <a:solidFill>
                        <a:srgbClr val="E2E7F2"/>
                      </a:solidFill>
                    </a:lnR>
                    <a:lnT w="6350">
                      <a:solidFill>
                        <a:srgbClr val="E2E7F2"/>
                      </a:solidFill>
                    </a:lnT>
                    <a:lnB w="6350">
                      <a:solidFill>
                        <a:srgbClr val="E2E7F2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wrap="none"/>
                    <a:lstStyle/>
                    <a:p>
                      <a:pPr algn="r"/>
                      <a:r>
                        <a:rPr sz="750" b="0">
                          <a:solidFill>
                            <a:srgbClr val="595959"/>
                          </a:solidFill>
                          <a:latin typeface="Calibri"/>
                        </a:rPr>
                        <a:t>15%</a:t>
                      </a:r>
                    </a:p>
                  </a:txBody>
                  <a:tcPr anchor="ctr" marL="27432" marR="27432" marT="4572" marB="4572">
                    <a:lnL w="6350">
                      <a:solidFill>
                        <a:srgbClr val="E2E7F2"/>
                      </a:solidFill>
                    </a:lnL>
                    <a:lnR w="6350">
                      <a:solidFill>
                        <a:srgbClr val="E2E7F2"/>
                      </a:solidFill>
                    </a:lnR>
                    <a:lnT w="6350">
                      <a:solidFill>
                        <a:srgbClr val="E2E7F2"/>
                      </a:solidFill>
                    </a:lnT>
                    <a:lnB w="6350">
                      <a:solidFill>
                        <a:srgbClr val="E2E7F2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wrap="none"/>
                    <a:lstStyle/>
                    <a:p>
                      <a:pPr algn="l"/>
                      <a:r>
                        <a:rPr sz="750" b="0">
                          <a:solidFill>
                            <a:srgbClr val="26292E"/>
                          </a:solidFill>
                          <a:latin typeface="Calibri"/>
                        </a:rPr>
                        <a:t/>
                      </a:r>
                    </a:p>
                  </a:txBody>
                  <a:tcPr anchor="ctr" marL="27432" marR="27432" marT="4572" marB="4572">
                    <a:lnL w="6350">
                      <a:solidFill>
                        <a:srgbClr val="E2E7F2"/>
                      </a:solidFill>
                    </a:lnL>
                    <a:lnR w="6350">
                      <a:solidFill>
                        <a:srgbClr val="E2E7F2"/>
                      </a:solidFill>
                    </a:lnR>
                    <a:lnT w="6350">
                      <a:solidFill>
                        <a:srgbClr val="E2E7F2"/>
                      </a:solidFill>
                    </a:lnT>
                    <a:lnB w="6350">
                      <a:solidFill>
                        <a:srgbClr val="E2E7F2"/>
                      </a:solidFill>
                    </a:lnB>
                    <a:solidFill>
                      <a:srgbClr val="FFFFFF"/>
                    </a:solidFill>
                  </a:tcPr>
                </a:tc>
              </a:tr>
              <a:tr h="147174">
                <a:tc>
                  <a:txBody>
                    <a:bodyPr wrap="none"/>
                    <a:lstStyle/>
                    <a:p>
                      <a:pPr algn="l"/>
                      <a:r>
                        <a:rPr sz="750" b="1">
                          <a:solidFill>
                            <a:srgbClr val="26292E"/>
                          </a:solidFill>
                          <a:latin typeface="Calibri"/>
                        </a:rPr>
                        <a:t>Online</a:t>
                      </a:r>
                    </a:p>
                  </a:txBody>
                  <a:tcPr anchor="ctr" marL="27432" marR="27432" marT="4572" marB="4572">
                    <a:lnL w="6350">
                      <a:solidFill>
                        <a:srgbClr val="E2E7F2"/>
                      </a:solidFill>
                    </a:lnL>
                    <a:lnR w="6350">
                      <a:solidFill>
                        <a:srgbClr val="E2E7F2"/>
                      </a:solidFill>
                    </a:lnR>
                    <a:lnT w="6350">
                      <a:solidFill>
                        <a:srgbClr val="E2E7F2"/>
                      </a:solidFill>
                    </a:lnT>
                    <a:lnB w="6350">
                      <a:solidFill>
                        <a:srgbClr val="E2E7F2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wrap="none"/>
                    <a:lstStyle/>
                    <a:p>
                      <a:pPr algn="r"/>
                      <a:r>
                        <a:rPr sz="750" b="0">
                          <a:solidFill>
                            <a:srgbClr val="26292E"/>
                          </a:solidFill>
                          <a:latin typeface="Calibri"/>
                        </a:rPr>
                        <a:t>5,457</a:t>
                      </a:r>
                    </a:p>
                  </a:txBody>
                  <a:tcPr anchor="ctr" marL="27432" marR="27432" marT="4572" marB="4572">
                    <a:lnL w="6350">
                      <a:solidFill>
                        <a:srgbClr val="E2E7F2"/>
                      </a:solidFill>
                    </a:lnL>
                    <a:lnR w="6350">
                      <a:solidFill>
                        <a:srgbClr val="E2E7F2"/>
                      </a:solidFill>
                    </a:lnR>
                    <a:lnT w="6350">
                      <a:solidFill>
                        <a:srgbClr val="E2E7F2"/>
                      </a:solidFill>
                    </a:lnT>
                    <a:lnB w="6350">
                      <a:solidFill>
                        <a:srgbClr val="E2E7F2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wrap="none"/>
                    <a:lstStyle/>
                    <a:p>
                      <a:pPr algn="r"/>
                      <a:r>
                        <a:rPr sz="750" b="0">
                          <a:solidFill>
                            <a:srgbClr val="26292E"/>
                          </a:solidFill>
                          <a:latin typeface="Calibri"/>
                        </a:rPr>
                        <a:t>4,414</a:t>
                      </a:r>
                    </a:p>
                  </a:txBody>
                  <a:tcPr anchor="ctr" marL="27432" marR="27432" marT="4572" marB="4572">
                    <a:lnL w="6350">
                      <a:solidFill>
                        <a:srgbClr val="E2E7F2"/>
                      </a:solidFill>
                    </a:lnL>
                    <a:lnR w="6350">
                      <a:solidFill>
                        <a:srgbClr val="E2E7F2"/>
                      </a:solidFill>
                    </a:lnR>
                    <a:lnT w="6350">
                      <a:solidFill>
                        <a:srgbClr val="E2E7F2"/>
                      </a:solidFill>
                    </a:lnT>
                    <a:lnB w="6350">
                      <a:solidFill>
                        <a:srgbClr val="E2E7F2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wrap="none"/>
                    <a:lstStyle/>
                    <a:p>
                      <a:pPr algn="r"/>
                      <a:r>
                        <a:rPr sz="750" b="0">
                          <a:solidFill>
                            <a:srgbClr val="26292E"/>
                          </a:solidFill>
                          <a:latin typeface="Calibri"/>
                        </a:rPr>
                        <a:t>4,854</a:t>
                      </a:r>
                    </a:p>
                  </a:txBody>
                  <a:tcPr anchor="ctr" marL="27432" marR="27432" marT="4572" marB="4572">
                    <a:lnL w="6350">
                      <a:solidFill>
                        <a:srgbClr val="E2E7F2"/>
                      </a:solidFill>
                    </a:lnL>
                    <a:lnR w="6350">
                      <a:solidFill>
                        <a:srgbClr val="E2E7F2"/>
                      </a:solidFill>
                    </a:lnR>
                    <a:lnT w="6350">
                      <a:solidFill>
                        <a:srgbClr val="E2E7F2"/>
                      </a:solidFill>
                    </a:lnT>
                    <a:lnB w="6350">
                      <a:solidFill>
                        <a:srgbClr val="E2E7F2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wrap="none"/>
                    <a:lstStyle/>
                    <a:p>
                      <a:pPr algn="r"/>
                      <a:r>
                        <a:rPr sz="750" b="0">
                          <a:solidFill>
                            <a:srgbClr val="26292E"/>
                          </a:solidFill>
                          <a:latin typeface="Calibri"/>
                        </a:rPr>
                        <a:t>4,174</a:t>
                      </a:r>
                    </a:p>
                  </a:txBody>
                  <a:tcPr anchor="ctr" marL="27432" marR="27432" marT="4572" marB="4572">
                    <a:lnL w="6350">
                      <a:solidFill>
                        <a:srgbClr val="E2E7F2"/>
                      </a:solidFill>
                    </a:lnL>
                    <a:lnR w="6350">
                      <a:solidFill>
                        <a:srgbClr val="E2E7F2"/>
                      </a:solidFill>
                    </a:lnR>
                    <a:lnT w="6350">
                      <a:solidFill>
                        <a:srgbClr val="E2E7F2"/>
                      </a:solidFill>
                    </a:lnT>
                    <a:lnB w="6350">
                      <a:solidFill>
                        <a:srgbClr val="E2E7F2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wrap="none"/>
                    <a:lstStyle/>
                    <a:p>
                      <a:pPr algn="r"/>
                      <a:r>
                        <a:rPr sz="750" b="0">
                          <a:solidFill>
                            <a:srgbClr val="26292E"/>
                          </a:solidFill>
                          <a:latin typeface="Calibri"/>
                        </a:rPr>
                        <a:t>4,085</a:t>
                      </a:r>
                    </a:p>
                  </a:txBody>
                  <a:tcPr anchor="ctr" marL="27432" marR="27432" marT="4572" marB="4572">
                    <a:lnL w="6350">
                      <a:solidFill>
                        <a:srgbClr val="E2E7F2"/>
                      </a:solidFill>
                    </a:lnL>
                    <a:lnR w="6350">
                      <a:solidFill>
                        <a:srgbClr val="E2E7F2"/>
                      </a:solidFill>
                    </a:lnR>
                    <a:lnT w="6350">
                      <a:solidFill>
                        <a:srgbClr val="E2E7F2"/>
                      </a:solidFill>
                    </a:lnT>
                    <a:lnB w="6350">
                      <a:solidFill>
                        <a:srgbClr val="E2E7F2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wrap="none"/>
                    <a:lstStyle/>
                    <a:p>
                      <a:pPr algn="r"/>
                      <a:r>
                        <a:rPr sz="750" b="0">
                          <a:solidFill>
                            <a:srgbClr val="26292E"/>
                          </a:solidFill>
                          <a:latin typeface="Calibri"/>
                        </a:rPr>
                        <a:t>4,517</a:t>
                      </a:r>
                    </a:p>
                  </a:txBody>
                  <a:tcPr anchor="ctr" marL="27432" marR="27432" marT="4572" marB="4572">
                    <a:lnL w="6350">
                      <a:solidFill>
                        <a:srgbClr val="E2E7F2"/>
                      </a:solidFill>
                    </a:lnL>
                    <a:lnR w="6350">
                      <a:solidFill>
                        <a:srgbClr val="E2E7F2"/>
                      </a:solidFill>
                    </a:lnR>
                    <a:lnT w="6350">
                      <a:solidFill>
                        <a:srgbClr val="E2E7F2"/>
                      </a:solidFill>
                    </a:lnT>
                    <a:lnB w="6350">
                      <a:solidFill>
                        <a:srgbClr val="E2E7F2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wrap="none"/>
                    <a:lstStyle/>
                    <a:p>
                      <a:pPr algn="r"/>
                      <a:r>
                        <a:rPr sz="750" b="1">
                          <a:solidFill>
                            <a:srgbClr val="26292E"/>
                          </a:solidFill>
                          <a:latin typeface="Calibri"/>
                        </a:rPr>
                        <a:t>27,501</a:t>
                      </a:r>
                    </a:p>
                  </a:txBody>
                  <a:tcPr anchor="ctr" marL="27432" marR="27432" marT="4572" marB="4572">
                    <a:lnL w="6350">
                      <a:solidFill>
                        <a:srgbClr val="E2E7F2"/>
                      </a:solidFill>
                    </a:lnL>
                    <a:lnR w="6350">
                      <a:solidFill>
                        <a:srgbClr val="E2E7F2"/>
                      </a:solidFill>
                    </a:lnR>
                    <a:lnT w="6350">
                      <a:solidFill>
                        <a:srgbClr val="E2E7F2"/>
                      </a:solidFill>
                    </a:lnT>
                    <a:lnB w="6350">
                      <a:solidFill>
                        <a:srgbClr val="E2E7F2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wrap="none"/>
                    <a:lstStyle/>
                    <a:p>
                      <a:pPr algn="r"/>
                      <a:r>
                        <a:rPr sz="750" b="0">
                          <a:solidFill>
                            <a:srgbClr val="26292E"/>
                          </a:solidFill>
                          <a:latin typeface="Calibri"/>
                        </a:rPr>
                        <a:t>42%</a:t>
                      </a:r>
                    </a:p>
                  </a:txBody>
                  <a:tcPr anchor="ctr" marL="27432" marR="27432" marT="4572" marB="4572">
                    <a:lnL w="6350">
                      <a:solidFill>
                        <a:srgbClr val="E2E7F2"/>
                      </a:solidFill>
                    </a:lnL>
                    <a:lnR w="6350">
                      <a:solidFill>
                        <a:srgbClr val="E2E7F2"/>
                      </a:solidFill>
                    </a:lnR>
                    <a:lnT w="6350">
                      <a:solidFill>
                        <a:srgbClr val="E2E7F2"/>
                      </a:solidFill>
                    </a:lnT>
                    <a:lnB w="6350">
                      <a:solidFill>
                        <a:srgbClr val="E2E7F2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wrap="none"/>
                    <a:lstStyle/>
                    <a:p>
                      <a:pPr algn="r"/>
                      <a:r>
                        <a:rPr sz="750" b="1">
                          <a:solidFill>
                            <a:srgbClr val="1E7B34"/>
                          </a:solidFill>
                          <a:latin typeface="Calibri"/>
                        </a:rPr>
                        <a:t>+30%</a:t>
                      </a:r>
                    </a:p>
                  </a:txBody>
                  <a:tcPr anchor="ctr" marL="27432" marR="27432" marT="4572" marB="4572">
                    <a:lnL w="6350">
                      <a:solidFill>
                        <a:srgbClr val="E2E7F2"/>
                      </a:solidFill>
                    </a:lnL>
                    <a:lnR w="6350">
                      <a:solidFill>
                        <a:srgbClr val="E2E7F2"/>
                      </a:solidFill>
                    </a:lnR>
                    <a:lnT w="6350">
                      <a:solidFill>
                        <a:srgbClr val="E2E7F2"/>
                      </a:solidFill>
                    </a:lnT>
                    <a:lnB w="6350">
                      <a:solidFill>
                        <a:srgbClr val="E2E7F2"/>
                      </a:solidFill>
                    </a:lnB>
                    <a:solidFill>
                      <a:srgbClr val="FFFFFF"/>
                    </a:solidFill>
                  </a:tcPr>
                </a:tc>
              </a:tr>
              <a:tr h="147174">
                <a:tc>
                  <a:txBody>
                    <a:bodyPr wrap="none"/>
                    <a:lstStyle/>
                    <a:p>
                      <a:pPr algn="l"/>
                      <a:r>
                        <a:rPr sz="750" b="0">
                          <a:solidFill>
                            <a:srgbClr val="595959"/>
                          </a:solidFill>
                          <a:latin typeface="Calibri"/>
                        </a:rPr>
                        <a:t>   ’25</a:t>
                      </a:r>
                    </a:p>
                  </a:txBody>
                  <a:tcPr anchor="ctr" marL="27432" marR="27432" marT="4572" marB="4572">
                    <a:lnL w="6350">
                      <a:solidFill>
                        <a:srgbClr val="E2E7F2"/>
                      </a:solidFill>
                    </a:lnL>
                    <a:lnR w="6350">
                      <a:solidFill>
                        <a:srgbClr val="E2E7F2"/>
                      </a:solidFill>
                    </a:lnR>
                    <a:lnT w="6350">
                      <a:solidFill>
                        <a:srgbClr val="E2E7F2"/>
                      </a:solidFill>
                    </a:lnT>
                    <a:lnB w="6350">
                      <a:solidFill>
                        <a:srgbClr val="E2E7F2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wrap="none"/>
                    <a:lstStyle/>
                    <a:p>
                      <a:pPr algn="r"/>
                      <a:r>
                        <a:rPr sz="750" b="0">
                          <a:solidFill>
                            <a:srgbClr val="595959"/>
                          </a:solidFill>
                          <a:latin typeface="Calibri"/>
                        </a:rPr>
                        <a:t>4,873</a:t>
                      </a:r>
                    </a:p>
                  </a:txBody>
                  <a:tcPr anchor="ctr" marL="27432" marR="27432" marT="4572" marB="4572">
                    <a:lnL w="6350">
                      <a:solidFill>
                        <a:srgbClr val="E2E7F2"/>
                      </a:solidFill>
                    </a:lnL>
                    <a:lnR w="6350">
                      <a:solidFill>
                        <a:srgbClr val="E2E7F2"/>
                      </a:solidFill>
                    </a:lnR>
                    <a:lnT w="6350">
                      <a:solidFill>
                        <a:srgbClr val="E2E7F2"/>
                      </a:solidFill>
                    </a:lnT>
                    <a:lnB w="6350">
                      <a:solidFill>
                        <a:srgbClr val="E2E7F2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wrap="none"/>
                    <a:lstStyle/>
                    <a:p>
                      <a:pPr algn="r"/>
                      <a:r>
                        <a:rPr sz="750" b="0">
                          <a:solidFill>
                            <a:srgbClr val="595959"/>
                          </a:solidFill>
                          <a:latin typeface="Calibri"/>
                        </a:rPr>
                        <a:t>4,273</a:t>
                      </a:r>
                    </a:p>
                  </a:txBody>
                  <a:tcPr anchor="ctr" marL="27432" marR="27432" marT="4572" marB="4572">
                    <a:lnL w="6350">
                      <a:solidFill>
                        <a:srgbClr val="E2E7F2"/>
                      </a:solidFill>
                    </a:lnL>
                    <a:lnR w="6350">
                      <a:solidFill>
                        <a:srgbClr val="E2E7F2"/>
                      </a:solidFill>
                    </a:lnR>
                    <a:lnT w="6350">
                      <a:solidFill>
                        <a:srgbClr val="E2E7F2"/>
                      </a:solidFill>
                    </a:lnT>
                    <a:lnB w="6350">
                      <a:solidFill>
                        <a:srgbClr val="E2E7F2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wrap="none"/>
                    <a:lstStyle/>
                    <a:p>
                      <a:pPr algn="r"/>
                      <a:r>
                        <a:rPr sz="750" b="0">
                          <a:solidFill>
                            <a:srgbClr val="595959"/>
                          </a:solidFill>
                          <a:latin typeface="Calibri"/>
                        </a:rPr>
                        <a:t>3,589</a:t>
                      </a:r>
                    </a:p>
                  </a:txBody>
                  <a:tcPr anchor="ctr" marL="27432" marR="27432" marT="4572" marB="4572">
                    <a:lnL w="6350">
                      <a:solidFill>
                        <a:srgbClr val="E2E7F2"/>
                      </a:solidFill>
                    </a:lnL>
                    <a:lnR w="6350">
                      <a:solidFill>
                        <a:srgbClr val="E2E7F2"/>
                      </a:solidFill>
                    </a:lnR>
                    <a:lnT w="6350">
                      <a:solidFill>
                        <a:srgbClr val="E2E7F2"/>
                      </a:solidFill>
                    </a:lnT>
                    <a:lnB w="6350">
                      <a:solidFill>
                        <a:srgbClr val="E2E7F2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wrap="none"/>
                    <a:lstStyle/>
                    <a:p>
                      <a:pPr algn="r"/>
                      <a:r>
                        <a:rPr sz="750" b="0">
                          <a:solidFill>
                            <a:srgbClr val="595959"/>
                          </a:solidFill>
                          <a:latin typeface="Calibri"/>
                        </a:rPr>
                        <a:t>3,161</a:t>
                      </a:r>
                    </a:p>
                  </a:txBody>
                  <a:tcPr anchor="ctr" marL="27432" marR="27432" marT="4572" marB="4572">
                    <a:lnL w="6350">
                      <a:solidFill>
                        <a:srgbClr val="E2E7F2"/>
                      </a:solidFill>
                    </a:lnL>
                    <a:lnR w="6350">
                      <a:solidFill>
                        <a:srgbClr val="E2E7F2"/>
                      </a:solidFill>
                    </a:lnR>
                    <a:lnT w="6350">
                      <a:solidFill>
                        <a:srgbClr val="E2E7F2"/>
                      </a:solidFill>
                    </a:lnT>
                    <a:lnB w="6350">
                      <a:solidFill>
                        <a:srgbClr val="E2E7F2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wrap="none"/>
                    <a:lstStyle/>
                    <a:p>
                      <a:pPr algn="r"/>
                      <a:r>
                        <a:rPr sz="750" b="0">
                          <a:solidFill>
                            <a:srgbClr val="595959"/>
                          </a:solidFill>
                          <a:latin typeface="Calibri"/>
                        </a:rPr>
                        <a:t>2,549</a:t>
                      </a:r>
                    </a:p>
                  </a:txBody>
                  <a:tcPr anchor="ctr" marL="27432" marR="27432" marT="4572" marB="4572">
                    <a:lnL w="6350">
                      <a:solidFill>
                        <a:srgbClr val="E2E7F2"/>
                      </a:solidFill>
                    </a:lnL>
                    <a:lnR w="6350">
                      <a:solidFill>
                        <a:srgbClr val="E2E7F2"/>
                      </a:solidFill>
                    </a:lnR>
                    <a:lnT w="6350">
                      <a:solidFill>
                        <a:srgbClr val="E2E7F2"/>
                      </a:solidFill>
                    </a:lnT>
                    <a:lnB w="6350">
                      <a:solidFill>
                        <a:srgbClr val="E2E7F2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wrap="none"/>
                    <a:lstStyle/>
                    <a:p>
                      <a:pPr algn="r"/>
                      <a:r>
                        <a:rPr sz="750" b="0">
                          <a:solidFill>
                            <a:srgbClr val="595959"/>
                          </a:solidFill>
                          <a:latin typeface="Calibri"/>
                        </a:rPr>
                        <a:t>2,780</a:t>
                      </a:r>
                    </a:p>
                  </a:txBody>
                  <a:tcPr anchor="ctr" marL="27432" marR="27432" marT="4572" marB="4572">
                    <a:lnL w="6350">
                      <a:solidFill>
                        <a:srgbClr val="E2E7F2"/>
                      </a:solidFill>
                    </a:lnL>
                    <a:lnR w="6350">
                      <a:solidFill>
                        <a:srgbClr val="E2E7F2"/>
                      </a:solidFill>
                    </a:lnR>
                    <a:lnT w="6350">
                      <a:solidFill>
                        <a:srgbClr val="E2E7F2"/>
                      </a:solidFill>
                    </a:lnT>
                    <a:lnB w="6350">
                      <a:solidFill>
                        <a:srgbClr val="E2E7F2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wrap="none"/>
                    <a:lstStyle/>
                    <a:p>
                      <a:pPr algn="r"/>
                      <a:r>
                        <a:rPr sz="750" b="0">
                          <a:solidFill>
                            <a:srgbClr val="595959"/>
                          </a:solidFill>
                          <a:latin typeface="Calibri"/>
                        </a:rPr>
                        <a:t>21,225</a:t>
                      </a:r>
                    </a:p>
                  </a:txBody>
                  <a:tcPr anchor="ctr" marL="27432" marR="27432" marT="4572" marB="4572">
                    <a:lnL w="6350">
                      <a:solidFill>
                        <a:srgbClr val="E2E7F2"/>
                      </a:solidFill>
                    </a:lnL>
                    <a:lnR w="6350">
                      <a:solidFill>
                        <a:srgbClr val="E2E7F2"/>
                      </a:solidFill>
                    </a:lnR>
                    <a:lnT w="6350">
                      <a:solidFill>
                        <a:srgbClr val="E2E7F2"/>
                      </a:solidFill>
                    </a:lnT>
                    <a:lnB w="6350">
                      <a:solidFill>
                        <a:srgbClr val="E2E7F2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wrap="none"/>
                    <a:lstStyle/>
                    <a:p>
                      <a:pPr algn="r"/>
                      <a:r>
                        <a:rPr sz="750" b="0">
                          <a:solidFill>
                            <a:srgbClr val="595959"/>
                          </a:solidFill>
                          <a:latin typeface="Calibri"/>
                        </a:rPr>
                        <a:t>34%</a:t>
                      </a:r>
                    </a:p>
                  </a:txBody>
                  <a:tcPr anchor="ctr" marL="27432" marR="27432" marT="4572" marB="4572">
                    <a:lnL w="6350">
                      <a:solidFill>
                        <a:srgbClr val="E2E7F2"/>
                      </a:solidFill>
                    </a:lnL>
                    <a:lnR w="6350">
                      <a:solidFill>
                        <a:srgbClr val="E2E7F2"/>
                      </a:solidFill>
                    </a:lnR>
                    <a:lnT w="6350">
                      <a:solidFill>
                        <a:srgbClr val="E2E7F2"/>
                      </a:solidFill>
                    </a:lnT>
                    <a:lnB w="6350">
                      <a:solidFill>
                        <a:srgbClr val="E2E7F2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wrap="none"/>
                    <a:lstStyle/>
                    <a:p>
                      <a:pPr algn="l"/>
                      <a:r>
                        <a:rPr sz="750" b="0">
                          <a:solidFill>
                            <a:srgbClr val="26292E"/>
                          </a:solidFill>
                          <a:latin typeface="Calibri"/>
                        </a:rPr>
                        <a:t/>
                      </a:r>
                    </a:p>
                  </a:txBody>
                  <a:tcPr anchor="ctr" marL="27432" marR="27432" marT="4572" marB="4572">
                    <a:lnL w="6350">
                      <a:solidFill>
                        <a:srgbClr val="E2E7F2"/>
                      </a:solidFill>
                    </a:lnL>
                    <a:lnR w="6350">
                      <a:solidFill>
                        <a:srgbClr val="E2E7F2"/>
                      </a:solidFill>
                    </a:lnR>
                    <a:lnT w="6350">
                      <a:solidFill>
                        <a:srgbClr val="E2E7F2"/>
                      </a:solidFill>
                    </a:lnT>
                    <a:lnB w="6350">
                      <a:solidFill>
                        <a:srgbClr val="E2E7F2"/>
                      </a:solidFill>
                    </a:lnB>
                    <a:solidFill>
                      <a:srgbClr val="FFFFFF"/>
                    </a:solidFill>
                  </a:tcPr>
                </a:tc>
              </a:tr>
              <a:tr h="147174">
                <a:tc>
                  <a:txBody>
                    <a:bodyPr wrap="none"/>
                    <a:lstStyle/>
                    <a:p>
                      <a:pPr algn="l"/>
                      <a:r>
                        <a:rPr sz="750" b="1">
                          <a:solidFill>
                            <a:srgbClr val="26292E"/>
                          </a:solidFill>
                          <a:latin typeface="Calibri"/>
                        </a:rPr>
                        <a:t>ASR</a:t>
                      </a:r>
                    </a:p>
                  </a:txBody>
                  <a:tcPr anchor="ctr" marL="27432" marR="27432" marT="4572" marB="4572">
                    <a:lnL w="6350">
                      <a:solidFill>
                        <a:srgbClr val="E2E7F2"/>
                      </a:solidFill>
                    </a:lnL>
                    <a:lnR w="6350">
                      <a:solidFill>
                        <a:srgbClr val="E2E7F2"/>
                      </a:solidFill>
                    </a:lnR>
                    <a:lnT w="6350">
                      <a:solidFill>
                        <a:srgbClr val="E2E7F2"/>
                      </a:solidFill>
                    </a:lnT>
                    <a:lnB w="6350">
                      <a:solidFill>
                        <a:srgbClr val="E2E7F2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wrap="none"/>
                    <a:lstStyle/>
                    <a:p>
                      <a:pPr algn="r"/>
                      <a:r>
                        <a:rPr sz="750" b="0">
                          <a:solidFill>
                            <a:srgbClr val="26292E"/>
                          </a:solidFill>
                          <a:latin typeface="Calibri"/>
                        </a:rPr>
                        <a:t>837</a:t>
                      </a:r>
                    </a:p>
                  </a:txBody>
                  <a:tcPr anchor="ctr" marL="27432" marR="27432" marT="4572" marB="4572">
                    <a:lnL w="6350">
                      <a:solidFill>
                        <a:srgbClr val="E2E7F2"/>
                      </a:solidFill>
                    </a:lnL>
                    <a:lnR w="6350">
                      <a:solidFill>
                        <a:srgbClr val="E2E7F2"/>
                      </a:solidFill>
                    </a:lnR>
                    <a:lnT w="6350">
                      <a:solidFill>
                        <a:srgbClr val="E2E7F2"/>
                      </a:solidFill>
                    </a:lnT>
                    <a:lnB w="6350">
                      <a:solidFill>
                        <a:srgbClr val="E2E7F2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wrap="none"/>
                    <a:lstStyle/>
                    <a:p>
                      <a:pPr algn="r"/>
                      <a:r>
                        <a:rPr sz="750" b="0">
                          <a:solidFill>
                            <a:srgbClr val="26292E"/>
                          </a:solidFill>
                          <a:latin typeface="Calibri"/>
                        </a:rPr>
                        <a:t>958</a:t>
                      </a:r>
                    </a:p>
                  </a:txBody>
                  <a:tcPr anchor="ctr" marL="27432" marR="27432" marT="4572" marB="4572">
                    <a:lnL w="6350">
                      <a:solidFill>
                        <a:srgbClr val="E2E7F2"/>
                      </a:solidFill>
                    </a:lnL>
                    <a:lnR w="6350">
                      <a:solidFill>
                        <a:srgbClr val="E2E7F2"/>
                      </a:solidFill>
                    </a:lnR>
                    <a:lnT w="6350">
                      <a:solidFill>
                        <a:srgbClr val="E2E7F2"/>
                      </a:solidFill>
                    </a:lnT>
                    <a:lnB w="6350">
                      <a:solidFill>
                        <a:srgbClr val="E2E7F2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wrap="none"/>
                    <a:lstStyle/>
                    <a:p>
                      <a:pPr algn="r"/>
                      <a:r>
                        <a:rPr sz="750" b="0">
                          <a:solidFill>
                            <a:srgbClr val="26292E"/>
                          </a:solidFill>
                          <a:latin typeface="Calibri"/>
                        </a:rPr>
                        <a:t>972</a:t>
                      </a:r>
                    </a:p>
                  </a:txBody>
                  <a:tcPr anchor="ctr" marL="27432" marR="27432" marT="4572" marB="4572">
                    <a:lnL w="6350">
                      <a:solidFill>
                        <a:srgbClr val="E2E7F2"/>
                      </a:solidFill>
                    </a:lnL>
                    <a:lnR w="6350">
                      <a:solidFill>
                        <a:srgbClr val="E2E7F2"/>
                      </a:solidFill>
                    </a:lnR>
                    <a:lnT w="6350">
                      <a:solidFill>
                        <a:srgbClr val="E2E7F2"/>
                      </a:solidFill>
                    </a:lnT>
                    <a:lnB w="6350">
                      <a:solidFill>
                        <a:srgbClr val="E2E7F2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wrap="none"/>
                    <a:lstStyle/>
                    <a:p>
                      <a:pPr algn="r"/>
                      <a:r>
                        <a:rPr sz="750" b="0">
                          <a:solidFill>
                            <a:srgbClr val="26292E"/>
                          </a:solidFill>
                          <a:latin typeface="Calibri"/>
                        </a:rPr>
                        <a:t>1,070</a:t>
                      </a:r>
                    </a:p>
                  </a:txBody>
                  <a:tcPr anchor="ctr" marL="27432" marR="27432" marT="4572" marB="4572">
                    <a:lnL w="6350">
                      <a:solidFill>
                        <a:srgbClr val="E2E7F2"/>
                      </a:solidFill>
                    </a:lnL>
                    <a:lnR w="6350">
                      <a:solidFill>
                        <a:srgbClr val="E2E7F2"/>
                      </a:solidFill>
                    </a:lnR>
                    <a:lnT w="6350">
                      <a:solidFill>
                        <a:srgbClr val="E2E7F2"/>
                      </a:solidFill>
                    </a:lnT>
                    <a:lnB w="6350">
                      <a:solidFill>
                        <a:srgbClr val="E2E7F2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wrap="none"/>
                    <a:lstStyle/>
                    <a:p>
                      <a:pPr algn="r"/>
                      <a:r>
                        <a:rPr sz="750" b="0">
                          <a:solidFill>
                            <a:srgbClr val="26292E"/>
                          </a:solidFill>
                          <a:latin typeface="Calibri"/>
                        </a:rPr>
                        <a:t>1,123</a:t>
                      </a:r>
                    </a:p>
                  </a:txBody>
                  <a:tcPr anchor="ctr" marL="27432" marR="27432" marT="4572" marB="4572">
                    <a:lnL w="6350">
                      <a:solidFill>
                        <a:srgbClr val="E2E7F2"/>
                      </a:solidFill>
                    </a:lnL>
                    <a:lnR w="6350">
                      <a:solidFill>
                        <a:srgbClr val="E2E7F2"/>
                      </a:solidFill>
                    </a:lnR>
                    <a:lnT w="6350">
                      <a:solidFill>
                        <a:srgbClr val="E2E7F2"/>
                      </a:solidFill>
                    </a:lnT>
                    <a:lnB w="6350">
                      <a:solidFill>
                        <a:srgbClr val="E2E7F2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wrap="none"/>
                    <a:lstStyle/>
                    <a:p>
                      <a:pPr algn="r"/>
                      <a:r>
                        <a:rPr sz="750" b="0">
                          <a:solidFill>
                            <a:srgbClr val="26292E"/>
                          </a:solidFill>
                          <a:latin typeface="Calibri"/>
                        </a:rPr>
                        <a:t>876</a:t>
                      </a:r>
                    </a:p>
                  </a:txBody>
                  <a:tcPr anchor="ctr" marL="27432" marR="27432" marT="4572" marB="4572">
                    <a:lnL w="6350">
                      <a:solidFill>
                        <a:srgbClr val="E2E7F2"/>
                      </a:solidFill>
                    </a:lnL>
                    <a:lnR w="6350">
                      <a:solidFill>
                        <a:srgbClr val="E2E7F2"/>
                      </a:solidFill>
                    </a:lnR>
                    <a:lnT w="6350">
                      <a:solidFill>
                        <a:srgbClr val="E2E7F2"/>
                      </a:solidFill>
                    </a:lnT>
                    <a:lnB w="6350">
                      <a:solidFill>
                        <a:srgbClr val="E2E7F2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wrap="none"/>
                    <a:lstStyle/>
                    <a:p>
                      <a:pPr algn="r"/>
                      <a:r>
                        <a:rPr sz="750" b="1">
                          <a:solidFill>
                            <a:srgbClr val="26292E"/>
                          </a:solidFill>
                          <a:latin typeface="Calibri"/>
                        </a:rPr>
                        <a:t>5,836</a:t>
                      </a:r>
                    </a:p>
                  </a:txBody>
                  <a:tcPr anchor="ctr" marL="27432" marR="27432" marT="4572" marB="4572">
                    <a:lnL w="6350">
                      <a:solidFill>
                        <a:srgbClr val="E2E7F2"/>
                      </a:solidFill>
                    </a:lnL>
                    <a:lnR w="6350">
                      <a:solidFill>
                        <a:srgbClr val="E2E7F2"/>
                      </a:solidFill>
                    </a:lnR>
                    <a:lnT w="6350">
                      <a:solidFill>
                        <a:srgbClr val="E2E7F2"/>
                      </a:solidFill>
                    </a:lnT>
                    <a:lnB w="6350">
                      <a:solidFill>
                        <a:srgbClr val="E2E7F2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wrap="none"/>
                    <a:lstStyle/>
                    <a:p>
                      <a:pPr algn="r"/>
                      <a:r>
                        <a:rPr sz="750" b="0">
                          <a:solidFill>
                            <a:srgbClr val="26292E"/>
                          </a:solidFill>
                          <a:latin typeface="Calibri"/>
                        </a:rPr>
                        <a:t>9%</a:t>
                      </a:r>
                    </a:p>
                  </a:txBody>
                  <a:tcPr anchor="ctr" marL="27432" marR="27432" marT="4572" marB="4572">
                    <a:lnL w="6350">
                      <a:solidFill>
                        <a:srgbClr val="E2E7F2"/>
                      </a:solidFill>
                    </a:lnL>
                    <a:lnR w="6350">
                      <a:solidFill>
                        <a:srgbClr val="E2E7F2"/>
                      </a:solidFill>
                    </a:lnR>
                    <a:lnT w="6350">
                      <a:solidFill>
                        <a:srgbClr val="E2E7F2"/>
                      </a:solidFill>
                    </a:lnT>
                    <a:lnB w="6350">
                      <a:solidFill>
                        <a:srgbClr val="E2E7F2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wrap="none"/>
                    <a:lstStyle/>
                    <a:p>
                      <a:pPr algn="r"/>
                      <a:r>
                        <a:rPr sz="750" b="1">
                          <a:solidFill>
                            <a:srgbClr val="1E7B34"/>
                          </a:solidFill>
                          <a:latin typeface="Calibri"/>
                        </a:rPr>
                        <a:t>+26%</a:t>
                      </a:r>
                    </a:p>
                  </a:txBody>
                  <a:tcPr anchor="ctr" marL="27432" marR="27432" marT="4572" marB="4572">
                    <a:lnL w="6350">
                      <a:solidFill>
                        <a:srgbClr val="E2E7F2"/>
                      </a:solidFill>
                    </a:lnL>
                    <a:lnR w="6350">
                      <a:solidFill>
                        <a:srgbClr val="E2E7F2"/>
                      </a:solidFill>
                    </a:lnR>
                    <a:lnT w="6350">
                      <a:solidFill>
                        <a:srgbClr val="E2E7F2"/>
                      </a:solidFill>
                    </a:lnT>
                    <a:lnB w="6350">
                      <a:solidFill>
                        <a:srgbClr val="E2E7F2"/>
                      </a:solidFill>
                    </a:lnB>
                    <a:solidFill>
                      <a:srgbClr val="FFFFFF"/>
                    </a:solidFill>
                  </a:tcPr>
                </a:tc>
              </a:tr>
              <a:tr h="147174">
                <a:tc>
                  <a:txBody>
                    <a:bodyPr wrap="none"/>
                    <a:lstStyle/>
                    <a:p>
                      <a:pPr algn="l"/>
                      <a:r>
                        <a:rPr sz="750" b="0">
                          <a:solidFill>
                            <a:srgbClr val="595959"/>
                          </a:solidFill>
                          <a:latin typeface="Calibri"/>
                        </a:rPr>
                        <a:t>   ’25</a:t>
                      </a:r>
                    </a:p>
                  </a:txBody>
                  <a:tcPr anchor="ctr" marL="27432" marR="27432" marT="4572" marB="4572">
                    <a:lnL w="6350">
                      <a:solidFill>
                        <a:srgbClr val="E2E7F2"/>
                      </a:solidFill>
                    </a:lnL>
                    <a:lnR w="6350">
                      <a:solidFill>
                        <a:srgbClr val="E2E7F2"/>
                      </a:solidFill>
                    </a:lnR>
                    <a:lnT w="6350">
                      <a:solidFill>
                        <a:srgbClr val="E2E7F2"/>
                      </a:solidFill>
                    </a:lnT>
                    <a:lnB w="6350">
                      <a:solidFill>
                        <a:srgbClr val="E2E7F2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wrap="none"/>
                    <a:lstStyle/>
                    <a:p>
                      <a:pPr algn="r"/>
                      <a:r>
                        <a:rPr sz="750" b="0">
                          <a:solidFill>
                            <a:srgbClr val="595959"/>
                          </a:solidFill>
                          <a:latin typeface="Calibri"/>
                        </a:rPr>
                        <a:t>481</a:t>
                      </a:r>
                    </a:p>
                  </a:txBody>
                  <a:tcPr anchor="ctr" marL="27432" marR="27432" marT="4572" marB="4572">
                    <a:lnL w="6350">
                      <a:solidFill>
                        <a:srgbClr val="E2E7F2"/>
                      </a:solidFill>
                    </a:lnL>
                    <a:lnR w="6350">
                      <a:solidFill>
                        <a:srgbClr val="E2E7F2"/>
                      </a:solidFill>
                    </a:lnR>
                    <a:lnT w="6350">
                      <a:solidFill>
                        <a:srgbClr val="E2E7F2"/>
                      </a:solidFill>
                    </a:lnT>
                    <a:lnB w="6350">
                      <a:solidFill>
                        <a:srgbClr val="E2E7F2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wrap="none"/>
                    <a:lstStyle/>
                    <a:p>
                      <a:pPr algn="r"/>
                      <a:r>
                        <a:rPr sz="750" b="0">
                          <a:solidFill>
                            <a:srgbClr val="595959"/>
                          </a:solidFill>
                          <a:latin typeface="Calibri"/>
                        </a:rPr>
                        <a:t>1,056</a:t>
                      </a:r>
                    </a:p>
                  </a:txBody>
                  <a:tcPr anchor="ctr" marL="27432" marR="27432" marT="4572" marB="4572">
                    <a:lnL w="6350">
                      <a:solidFill>
                        <a:srgbClr val="E2E7F2"/>
                      </a:solidFill>
                    </a:lnL>
                    <a:lnR w="6350">
                      <a:solidFill>
                        <a:srgbClr val="E2E7F2"/>
                      </a:solidFill>
                    </a:lnR>
                    <a:lnT w="6350">
                      <a:solidFill>
                        <a:srgbClr val="E2E7F2"/>
                      </a:solidFill>
                    </a:lnT>
                    <a:lnB w="6350">
                      <a:solidFill>
                        <a:srgbClr val="E2E7F2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wrap="none"/>
                    <a:lstStyle/>
                    <a:p>
                      <a:pPr algn="r"/>
                      <a:r>
                        <a:rPr sz="750" b="0">
                          <a:solidFill>
                            <a:srgbClr val="595959"/>
                          </a:solidFill>
                          <a:latin typeface="Calibri"/>
                        </a:rPr>
                        <a:t>760</a:t>
                      </a:r>
                    </a:p>
                  </a:txBody>
                  <a:tcPr anchor="ctr" marL="27432" marR="27432" marT="4572" marB="4572">
                    <a:lnL w="6350">
                      <a:solidFill>
                        <a:srgbClr val="E2E7F2"/>
                      </a:solidFill>
                    </a:lnL>
                    <a:lnR w="6350">
                      <a:solidFill>
                        <a:srgbClr val="E2E7F2"/>
                      </a:solidFill>
                    </a:lnR>
                    <a:lnT w="6350">
                      <a:solidFill>
                        <a:srgbClr val="E2E7F2"/>
                      </a:solidFill>
                    </a:lnT>
                    <a:lnB w="6350">
                      <a:solidFill>
                        <a:srgbClr val="E2E7F2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wrap="none"/>
                    <a:lstStyle/>
                    <a:p>
                      <a:pPr algn="r"/>
                      <a:r>
                        <a:rPr sz="750" b="0">
                          <a:solidFill>
                            <a:srgbClr val="595959"/>
                          </a:solidFill>
                          <a:latin typeface="Calibri"/>
                        </a:rPr>
                        <a:t>835</a:t>
                      </a:r>
                    </a:p>
                  </a:txBody>
                  <a:tcPr anchor="ctr" marL="27432" marR="27432" marT="4572" marB="4572">
                    <a:lnL w="6350">
                      <a:solidFill>
                        <a:srgbClr val="E2E7F2"/>
                      </a:solidFill>
                    </a:lnL>
                    <a:lnR w="6350">
                      <a:solidFill>
                        <a:srgbClr val="E2E7F2"/>
                      </a:solidFill>
                    </a:lnR>
                    <a:lnT w="6350">
                      <a:solidFill>
                        <a:srgbClr val="E2E7F2"/>
                      </a:solidFill>
                    </a:lnT>
                    <a:lnB w="6350">
                      <a:solidFill>
                        <a:srgbClr val="E2E7F2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wrap="none"/>
                    <a:lstStyle/>
                    <a:p>
                      <a:pPr algn="r"/>
                      <a:r>
                        <a:rPr sz="750" b="0">
                          <a:solidFill>
                            <a:srgbClr val="595959"/>
                          </a:solidFill>
                          <a:latin typeface="Calibri"/>
                        </a:rPr>
                        <a:t>786</a:t>
                      </a:r>
                    </a:p>
                  </a:txBody>
                  <a:tcPr anchor="ctr" marL="27432" marR="27432" marT="4572" marB="4572">
                    <a:lnL w="6350">
                      <a:solidFill>
                        <a:srgbClr val="E2E7F2"/>
                      </a:solidFill>
                    </a:lnL>
                    <a:lnR w="6350">
                      <a:solidFill>
                        <a:srgbClr val="E2E7F2"/>
                      </a:solidFill>
                    </a:lnR>
                    <a:lnT w="6350">
                      <a:solidFill>
                        <a:srgbClr val="E2E7F2"/>
                      </a:solidFill>
                    </a:lnT>
                    <a:lnB w="6350">
                      <a:solidFill>
                        <a:srgbClr val="E2E7F2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wrap="none"/>
                    <a:lstStyle/>
                    <a:p>
                      <a:pPr algn="r"/>
                      <a:r>
                        <a:rPr sz="750" b="0">
                          <a:solidFill>
                            <a:srgbClr val="595959"/>
                          </a:solidFill>
                          <a:latin typeface="Calibri"/>
                        </a:rPr>
                        <a:t>696</a:t>
                      </a:r>
                    </a:p>
                  </a:txBody>
                  <a:tcPr anchor="ctr" marL="27432" marR="27432" marT="4572" marB="4572">
                    <a:lnL w="6350">
                      <a:solidFill>
                        <a:srgbClr val="E2E7F2"/>
                      </a:solidFill>
                    </a:lnL>
                    <a:lnR w="6350">
                      <a:solidFill>
                        <a:srgbClr val="E2E7F2"/>
                      </a:solidFill>
                    </a:lnR>
                    <a:lnT w="6350">
                      <a:solidFill>
                        <a:srgbClr val="E2E7F2"/>
                      </a:solidFill>
                    </a:lnT>
                    <a:lnB w="6350">
                      <a:solidFill>
                        <a:srgbClr val="E2E7F2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wrap="none"/>
                    <a:lstStyle/>
                    <a:p>
                      <a:pPr algn="r"/>
                      <a:r>
                        <a:rPr sz="750" b="0">
                          <a:solidFill>
                            <a:srgbClr val="595959"/>
                          </a:solidFill>
                          <a:latin typeface="Calibri"/>
                        </a:rPr>
                        <a:t>4,614</a:t>
                      </a:r>
                    </a:p>
                  </a:txBody>
                  <a:tcPr anchor="ctr" marL="27432" marR="27432" marT="4572" marB="4572">
                    <a:lnL w="6350">
                      <a:solidFill>
                        <a:srgbClr val="E2E7F2"/>
                      </a:solidFill>
                    </a:lnL>
                    <a:lnR w="6350">
                      <a:solidFill>
                        <a:srgbClr val="E2E7F2"/>
                      </a:solidFill>
                    </a:lnR>
                    <a:lnT w="6350">
                      <a:solidFill>
                        <a:srgbClr val="E2E7F2"/>
                      </a:solidFill>
                    </a:lnT>
                    <a:lnB w="6350">
                      <a:solidFill>
                        <a:srgbClr val="E2E7F2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wrap="none"/>
                    <a:lstStyle/>
                    <a:p>
                      <a:pPr algn="r"/>
                      <a:r>
                        <a:rPr sz="750" b="0">
                          <a:solidFill>
                            <a:srgbClr val="595959"/>
                          </a:solidFill>
                          <a:latin typeface="Calibri"/>
                        </a:rPr>
                        <a:t>7%</a:t>
                      </a:r>
                    </a:p>
                  </a:txBody>
                  <a:tcPr anchor="ctr" marL="27432" marR="27432" marT="4572" marB="4572">
                    <a:lnL w="6350">
                      <a:solidFill>
                        <a:srgbClr val="E2E7F2"/>
                      </a:solidFill>
                    </a:lnL>
                    <a:lnR w="6350">
                      <a:solidFill>
                        <a:srgbClr val="E2E7F2"/>
                      </a:solidFill>
                    </a:lnR>
                    <a:lnT w="6350">
                      <a:solidFill>
                        <a:srgbClr val="E2E7F2"/>
                      </a:solidFill>
                    </a:lnT>
                    <a:lnB w="6350">
                      <a:solidFill>
                        <a:srgbClr val="E2E7F2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wrap="none"/>
                    <a:lstStyle/>
                    <a:p>
                      <a:pPr algn="l"/>
                      <a:r>
                        <a:rPr sz="750" b="0">
                          <a:solidFill>
                            <a:srgbClr val="26292E"/>
                          </a:solidFill>
                          <a:latin typeface="Calibri"/>
                        </a:rPr>
                        <a:t/>
                      </a:r>
                    </a:p>
                  </a:txBody>
                  <a:tcPr anchor="ctr" marL="27432" marR="27432" marT="4572" marB="4572">
                    <a:lnL w="6350">
                      <a:solidFill>
                        <a:srgbClr val="E2E7F2"/>
                      </a:solidFill>
                    </a:lnL>
                    <a:lnR w="6350">
                      <a:solidFill>
                        <a:srgbClr val="E2E7F2"/>
                      </a:solidFill>
                    </a:lnR>
                    <a:lnT w="6350">
                      <a:solidFill>
                        <a:srgbClr val="E2E7F2"/>
                      </a:solidFill>
                    </a:lnT>
                    <a:lnB w="6350">
                      <a:solidFill>
                        <a:srgbClr val="E2E7F2"/>
                      </a:solidFill>
                    </a:lnB>
                    <a:solidFill>
                      <a:srgbClr val="FFFFFF"/>
                    </a:solidFill>
                  </a:tcPr>
                </a:tc>
              </a:tr>
              <a:tr h="147174">
                <a:tc>
                  <a:txBody>
                    <a:bodyPr wrap="none"/>
                    <a:lstStyle/>
                    <a:p>
                      <a:pPr algn="l"/>
                      <a:r>
                        <a:rPr sz="750" b="1">
                          <a:solidFill>
                            <a:srgbClr val="26292E"/>
                          </a:solidFill>
                          <a:latin typeface="Calibri"/>
                        </a:rPr>
                        <a:t>Wholesale</a:t>
                      </a:r>
                    </a:p>
                  </a:txBody>
                  <a:tcPr anchor="ctr" marL="27432" marR="27432" marT="4572" marB="4572">
                    <a:lnL w="6350">
                      <a:solidFill>
                        <a:srgbClr val="E2E7F2"/>
                      </a:solidFill>
                    </a:lnL>
                    <a:lnR w="6350">
                      <a:solidFill>
                        <a:srgbClr val="E2E7F2"/>
                      </a:solidFill>
                    </a:lnR>
                    <a:lnT w="6350">
                      <a:solidFill>
                        <a:srgbClr val="E2E7F2"/>
                      </a:solidFill>
                    </a:lnT>
                    <a:lnB w="6350">
                      <a:solidFill>
                        <a:srgbClr val="E2E7F2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wrap="none"/>
                    <a:lstStyle/>
                    <a:p>
                      <a:pPr algn="r"/>
                      <a:r>
                        <a:rPr sz="750" b="0">
                          <a:solidFill>
                            <a:srgbClr val="26292E"/>
                          </a:solidFill>
                          <a:latin typeface="Calibri"/>
                        </a:rPr>
                        <a:t>1,828</a:t>
                      </a:r>
                    </a:p>
                  </a:txBody>
                  <a:tcPr anchor="ctr" marL="27432" marR="27432" marT="4572" marB="4572">
                    <a:lnL w="6350">
                      <a:solidFill>
                        <a:srgbClr val="E2E7F2"/>
                      </a:solidFill>
                    </a:lnL>
                    <a:lnR w="6350">
                      <a:solidFill>
                        <a:srgbClr val="E2E7F2"/>
                      </a:solidFill>
                    </a:lnR>
                    <a:lnT w="6350">
                      <a:solidFill>
                        <a:srgbClr val="E2E7F2"/>
                      </a:solidFill>
                    </a:lnT>
                    <a:lnB w="6350">
                      <a:solidFill>
                        <a:srgbClr val="E2E7F2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wrap="none"/>
                    <a:lstStyle/>
                    <a:p>
                      <a:pPr algn="r"/>
                      <a:r>
                        <a:rPr sz="750" b="0">
                          <a:solidFill>
                            <a:srgbClr val="26292E"/>
                          </a:solidFill>
                          <a:latin typeface="Calibri"/>
                        </a:rPr>
                        <a:t>2,664</a:t>
                      </a:r>
                    </a:p>
                  </a:txBody>
                  <a:tcPr anchor="ctr" marL="27432" marR="27432" marT="4572" marB="4572">
                    <a:lnL w="6350">
                      <a:solidFill>
                        <a:srgbClr val="E2E7F2"/>
                      </a:solidFill>
                    </a:lnL>
                    <a:lnR w="6350">
                      <a:solidFill>
                        <a:srgbClr val="E2E7F2"/>
                      </a:solidFill>
                    </a:lnR>
                    <a:lnT w="6350">
                      <a:solidFill>
                        <a:srgbClr val="E2E7F2"/>
                      </a:solidFill>
                    </a:lnT>
                    <a:lnB w="6350">
                      <a:solidFill>
                        <a:srgbClr val="E2E7F2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wrap="none"/>
                    <a:lstStyle/>
                    <a:p>
                      <a:pPr algn="r"/>
                      <a:r>
                        <a:rPr sz="750" b="0">
                          <a:solidFill>
                            <a:srgbClr val="26292E"/>
                          </a:solidFill>
                          <a:latin typeface="Calibri"/>
                        </a:rPr>
                        <a:t>1,360</a:t>
                      </a:r>
                    </a:p>
                  </a:txBody>
                  <a:tcPr anchor="ctr" marL="27432" marR="27432" marT="4572" marB="4572">
                    <a:lnL w="6350">
                      <a:solidFill>
                        <a:srgbClr val="E2E7F2"/>
                      </a:solidFill>
                    </a:lnL>
                    <a:lnR w="6350">
                      <a:solidFill>
                        <a:srgbClr val="E2E7F2"/>
                      </a:solidFill>
                    </a:lnR>
                    <a:lnT w="6350">
                      <a:solidFill>
                        <a:srgbClr val="E2E7F2"/>
                      </a:solidFill>
                    </a:lnT>
                    <a:lnB w="6350">
                      <a:solidFill>
                        <a:srgbClr val="E2E7F2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wrap="none"/>
                    <a:lstStyle/>
                    <a:p>
                      <a:pPr algn="r"/>
                      <a:r>
                        <a:rPr sz="750" b="0">
                          <a:solidFill>
                            <a:srgbClr val="26292E"/>
                          </a:solidFill>
                          <a:latin typeface="Calibri"/>
                        </a:rPr>
                        <a:t>1,531</a:t>
                      </a:r>
                    </a:p>
                  </a:txBody>
                  <a:tcPr anchor="ctr" marL="27432" marR="27432" marT="4572" marB="4572">
                    <a:lnL w="6350">
                      <a:solidFill>
                        <a:srgbClr val="E2E7F2"/>
                      </a:solidFill>
                    </a:lnL>
                    <a:lnR w="6350">
                      <a:solidFill>
                        <a:srgbClr val="E2E7F2"/>
                      </a:solidFill>
                    </a:lnR>
                    <a:lnT w="6350">
                      <a:solidFill>
                        <a:srgbClr val="E2E7F2"/>
                      </a:solidFill>
                    </a:lnT>
                    <a:lnB w="6350">
                      <a:solidFill>
                        <a:srgbClr val="E2E7F2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wrap="none"/>
                    <a:lstStyle/>
                    <a:p>
                      <a:pPr algn="r"/>
                      <a:r>
                        <a:rPr sz="750" b="0">
                          <a:solidFill>
                            <a:srgbClr val="26292E"/>
                          </a:solidFill>
                          <a:latin typeface="Calibri"/>
                        </a:rPr>
                        <a:t>851</a:t>
                      </a:r>
                    </a:p>
                  </a:txBody>
                  <a:tcPr anchor="ctr" marL="27432" marR="27432" marT="4572" marB="4572">
                    <a:lnL w="6350">
                      <a:solidFill>
                        <a:srgbClr val="E2E7F2"/>
                      </a:solidFill>
                    </a:lnL>
                    <a:lnR w="6350">
                      <a:solidFill>
                        <a:srgbClr val="E2E7F2"/>
                      </a:solidFill>
                    </a:lnR>
                    <a:lnT w="6350">
                      <a:solidFill>
                        <a:srgbClr val="E2E7F2"/>
                      </a:solidFill>
                    </a:lnT>
                    <a:lnB w="6350">
                      <a:solidFill>
                        <a:srgbClr val="E2E7F2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wrap="none"/>
                    <a:lstStyle/>
                    <a:p>
                      <a:pPr algn="r"/>
                      <a:r>
                        <a:rPr sz="750" b="0">
                          <a:solidFill>
                            <a:srgbClr val="26292E"/>
                          </a:solidFill>
                          <a:latin typeface="Calibri"/>
                        </a:rPr>
                        <a:t>802</a:t>
                      </a:r>
                    </a:p>
                  </a:txBody>
                  <a:tcPr anchor="ctr" marL="27432" marR="27432" marT="4572" marB="4572">
                    <a:lnL w="6350">
                      <a:solidFill>
                        <a:srgbClr val="E2E7F2"/>
                      </a:solidFill>
                    </a:lnL>
                    <a:lnR w="6350">
                      <a:solidFill>
                        <a:srgbClr val="E2E7F2"/>
                      </a:solidFill>
                    </a:lnR>
                    <a:lnT w="6350">
                      <a:solidFill>
                        <a:srgbClr val="E2E7F2"/>
                      </a:solidFill>
                    </a:lnT>
                    <a:lnB w="6350">
                      <a:solidFill>
                        <a:srgbClr val="E2E7F2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wrap="none"/>
                    <a:lstStyle/>
                    <a:p>
                      <a:pPr algn="r"/>
                      <a:r>
                        <a:rPr sz="750" b="1">
                          <a:solidFill>
                            <a:srgbClr val="26292E"/>
                          </a:solidFill>
                          <a:latin typeface="Calibri"/>
                        </a:rPr>
                        <a:t>9,036</a:t>
                      </a:r>
                    </a:p>
                  </a:txBody>
                  <a:tcPr anchor="ctr" marL="27432" marR="27432" marT="4572" marB="4572">
                    <a:lnL w="6350">
                      <a:solidFill>
                        <a:srgbClr val="E2E7F2"/>
                      </a:solidFill>
                    </a:lnL>
                    <a:lnR w="6350">
                      <a:solidFill>
                        <a:srgbClr val="E2E7F2"/>
                      </a:solidFill>
                    </a:lnR>
                    <a:lnT w="6350">
                      <a:solidFill>
                        <a:srgbClr val="E2E7F2"/>
                      </a:solidFill>
                    </a:lnT>
                    <a:lnB w="6350">
                      <a:solidFill>
                        <a:srgbClr val="E2E7F2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wrap="none"/>
                    <a:lstStyle/>
                    <a:p>
                      <a:pPr algn="r"/>
                      <a:r>
                        <a:rPr sz="750" b="0">
                          <a:solidFill>
                            <a:srgbClr val="26292E"/>
                          </a:solidFill>
                          <a:latin typeface="Calibri"/>
                        </a:rPr>
                        <a:t>14%</a:t>
                      </a:r>
                    </a:p>
                  </a:txBody>
                  <a:tcPr anchor="ctr" marL="27432" marR="27432" marT="4572" marB="4572">
                    <a:lnL w="6350">
                      <a:solidFill>
                        <a:srgbClr val="E2E7F2"/>
                      </a:solidFill>
                    </a:lnL>
                    <a:lnR w="6350">
                      <a:solidFill>
                        <a:srgbClr val="E2E7F2"/>
                      </a:solidFill>
                    </a:lnR>
                    <a:lnT w="6350">
                      <a:solidFill>
                        <a:srgbClr val="E2E7F2"/>
                      </a:solidFill>
                    </a:lnT>
                    <a:lnB w="6350">
                      <a:solidFill>
                        <a:srgbClr val="E2E7F2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wrap="none"/>
                    <a:lstStyle/>
                    <a:p>
                      <a:pPr algn="r"/>
                      <a:r>
                        <a:rPr sz="750" b="1">
                          <a:solidFill>
                            <a:srgbClr val="C62828"/>
                          </a:solidFill>
                          <a:latin typeface="Calibri"/>
                        </a:rPr>
                        <a:t>-29%</a:t>
                      </a:r>
                    </a:p>
                  </a:txBody>
                  <a:tcPr anchor="ctr" marL="27432" marR="27432" marT="4572" marB="4572">
                    <a:lnL w="6350">
                      <a:solidFill>
                        <a:srgbClr val="E2E7F2"/>
                      </a:solidFill>
                    </a:lnL>
                    <a:lnR w="6350">
                      <a:solidFill>
                        <a:srgbClr val="E2E7F2"/>
                      </a:solidFill>
                    </a:lnR>
                    <a:lnT w="6350">
                      <a:solidFill>
                        <a:srgbClr val="E2E7F2"/>
                      </a:solidFill>
                    </a:lnT>
                    <a:lnB w="6350">
                      <a:solidFill>
                        <a:srgbClr val="E2E7F2"/>
                      </a:solidFill>
                    </a:lnB>
                    <a:solidFill>
                      <a:srgbClr val="FFFFFF"/>
                    </a:solidFill>
                  </a:tcPr>
                </a:tc>
              </a:tr>
              <a:tr h="147174">
                <a:tc>
                  <a:txBody>
                    <a:bodyPr wrap="none"/>
                    <a:lstStyle/>
                    <a:p>
                      <a:pPr algn="l"/>
                      <a:r>
                        <a:rPr sz="750" b="0">
                          <a:solidFill>
                            <a:srgbClr val="595959"/>
                          </a:solidFill>
                          <a:latin typeface="Calibri"/>
                        </a:rPr>
                        <a:t>   ’25</a:t>
                      </a:r>
                    </a:p>
                  </a:txBody>
                  <a:tcPr anchor="ctr" marL="27432" marR="27432" marT="4572" marB="4572">
                    <a:lnL w="6350">
                      <a:solidFill>
                        <a:srgbClr val="E2E7F2"/>
                      </a:solidFill>
                    </a:lnL>
                    <a:lnR w="6350">
                      <a:solidFill>
                        <a:srgbClr val="E2E7F2"/>
                      </a:solidFill>
                    </a:lnR>
                    <a:lnT w="6350">
                      <a:solidFill>
                        <a:srgbClr val="E2E7F2"/>
                      </a:solidFill>
                    </a:lnT>
                    <a:lnB w="6350">
                      <a:solidFill>
                        <a:srgbClr val="E2E7F2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wrap="none"/>
                    <a:lstStyle/>
                    <a:p>
                      <a:pPr algn="r"/>
                      <a:r>
                        <a:rPr sz="750" b="0">
                          <a:solidFill>
                            <a:srgbClr val="595959"/>
                          </a:solidFill>
                          <a:latin typeface="Calibri"/>
                        </a:rPr>
                        <a:t>2,016</a:t>
                      </a:r>
                    </a:p>
                  </a:txBody>
                  <a:tcPr anchor="ctr" marL="27432" marR="27432" marT="4572" marB="4572">
                    <a:lnL w="6350">
                      <a:solidFill>
                        <a:srgbClr val="E2E7F2"/>
                      </a:solidFill>
                    </a:lnL>
                    <a:lnR w="6350">
                      <a:solidFill>
                        <a:srgbClr val="E2E7F2"/>
                      </a:solidFill>
                    </a:lnR>
                    <a:lnT w="6350">
                      <a:solidFill>
                        <a:srgbClr val="E2E7F2"/>
                      </a:solidFill>
                    </a:lnT>
                    <a:lnB w="6350">
                      <a:solidFill>
                        <a:srgbClr val="E2E7F2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wrap="none"/>
                    <a:lstStyle/>
                    <a:p>
                      <a:pPr algn="r"/>
                      <a:r>
                        <a:rPr sz="750" b="0">
                          <a:solidFill>
                            <a:srgbClr val="595959"/>
                          </a:solidFill>
                          <a:latin typeface="Calibri"/>
                        </a:rPr>
                        <a:t>1,622</a:t>
                      </a:r>
                    </a:p>
                  </a:txBody>
                  <a:tcPr anchor="ctr" marL="27432" marR="27432" marT="4572" marB="4572">
                    <a:lnL w="6350">
                      <a:solidFill>
                        <a:srgbClr val="E2E7F2"/>
                      </a:solidFill>
                    </a:lnL>
                    <a:lnR w="6350">
                      <a:solidFill>
                        <a:srgbClr val="E2E7F2"/>
                      </a:solidFill>
                    </a:lnR>
                    <a:lnT w="6350">
                      <a:solidFill>
                        <a:srgbClr val="E2E7F2"/>
                      </a:solidFill>
                    </a:lnT>
                    <a:lnB w="6350">
                      <a:solidFill>
                        <a:srgbClr val="E2E7F2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wrap="none"/>
                    <a:lstStyle/>
                    <a:p>
                      <a:pPr algn="r"/>
                      <a:r>
                        <a:rPr sz="750" b="0">
                          <a:solidFill>
                            <a:srgbClr val="595959"/>
                          </a:solidFill>
                          <a:latin typeface="Calibri"/>
                        </a:rPr>
                        <a:t>1,880</a:t>
                      </a:r>
                    </a:p>
                  </a:txBody>
                  <a:tcPr anchor="ctr" marL="27432" marR="27432" marT="4572" marB="4572">
                    <a:lnL w="6350">
                      <a:solidFill>
                        <a:srgbClr val="E2E7F2"/>
                      </a:solidFill>
                    </a:lnL>
                    <a:lnR w="6350">
                      <a:solidFill>
                        <a:srgbClr val="E2E7F2"/>
                      </a:solidFill>
                    </a:lnR>
                    <a:lnT w="6350">
                      <a:solidFill>
                        <a:srgbClr val="E2E7F2"/>
                      </a:solidFill>
                    </a:lnT>
                    <a:lnB w="6350">
                      <a:solidFill>
                        <a:srgbClr val="E2E7F2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wrap="none"/>
                    <a:lstStyle/>
                    <a:p>
                      <a:pPr algn="r"/>
                      <a:r>
                        <a:rPr sz="750" b="0">
                          <a:solidFill>
                            <a:srgbClr val="595959"/>
                          </a:solidFill>
                          <a:latin typeface="Calibri"/>
                        </a:rPr>
                        <a:t>1,956</a:t>
                      </a:r>
                    </a:p>
                  </a:txBody>
                  <a:tcPr anchor="ctr" marL="27432" marR="27432" marT="4572" marB="4572">
                    <a:lnL w="6350">
                      <a:solidFill>
                        <a:srgbClr val="E2E7F2"/>
                      </a:solidFill>
                    </a:lnL>
                    <a:lnR w="6350">
                      <a:solidFill>
                        <a:srgbClr val="E2E7F2"/>
                      </a:solidFill>
                    </a:lnR>
                    <a:lnT w="6350">
                      <a:solidFill>
                        <a:srgbClr val="E2E7F2"/>
                      </a:solidFill>
                    </a:lnT>
                    <a:lnB w="6350">
                      <a:solidFill>
                        <a:srgbClr val="E2E7F2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wrap="none"/>
                    <a:lstStyle/>
                    <a:p>
                      <a:pPr algn="r"/>
                      <a:r>
                        <a:rPr sz="750" b="0">
                          <a:solidFill>
                            <a:srgbClr val="595959"/>
                          </a:solidFill>
                          <a:latin typeface="Calibri"/>
                        </a:rPr>
                        <a:t>2,755</a:t>
                      </a:r>
                    </a:p>
                  </a:txBody>
                  <a:tcPr anchor="ctr" marL="27432" marR="27432" marT="4572" marB="4572">
                    <a:lnL w="6350">
                      <a:solidFill>
                        <a:srgbClr val="E2E7F2"/>
                      </a:solidFill>
                    </a:lnL>
                    <a:lnR w="6350">
                      <a:solidFill>
                        <a:srgbClr val="E2E7F2"/>
                      </a:solidFill>
                    </a:lnR>
                    <a:lnT w="6350">
                      <a:solidFill>
                        <a:srgbClr val="E2E7F2"/>
                      </a:solidFill>
                    </a:lnT>
                    <a:lnB w="6350">
                      <a:solidFill>
                        <a:srgbClr val="E2E7F2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wrap="none"/>
                    <a:lstStyle/>
                    <a:p>
                      <a:pPr algn="r"/>
                      <a:r>
                        <a:rPr sz="750" b="0">
                          <a:solidFill>
                            <a:srgbClr val="595959"/>
                          </a:solidFill>
                          <a:latin typeface="Calibri"/>
                        </a:rPr>
                        <a:t>2,426</a:t>
                      </a:r>
                    </a:p>
                  </a:txBody>
                  <a:tcPr anchor="ctr" marL="27432" marR="27432" marT="4572" marB="4572">
                    <a:lnL w="6350">
                      <a:solidFill>
                        <a:srgbClr val="E2E7F2"/>
                      </a:solidFill>
                    </a:lnL>
                    <a:lnR w="6350">
                      <a:solidFill>
                        <a:srgbClr val="E2E7F2"/>
                      </a:solidFill>
                    </a:lnR>
                    <a:lnT w="6350">
                      <a:solidFill>
                        <a:srgbClr val="E2E7F2"/>
                      </a:solidFill>
                    </a:lnT>
                    <a:lnB w="6350">
                      <a:solidFill>
                        <a:srgbClr val="E2E7F2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wrap="none"/>
                    <a:lstStyle/>
                    <a:p>
                      <a:pPr algn="r"/>
                      <a:r>
                        <a:rPr sz="750" b="0">
                          <a:solidFill>
                            <a:srgbClr val="595959"/>
                          </a:solidFill>
                          <a:latin typeface="Calibri"/>
                        </a:rPr>
                        <a:t>12,655</a:t>
                      </a:r>
                    </a:p>
                  </a:txBody>
                  <a:tcPr anchor="ctr" marL="27432" marR="27432" marT="4572" marB="4572">
                    <a:lnL w="6350">
                      <a:solidFill>
                        <a:srgbClr val="E2E7F2"/>
                      </a:solidFill>
                    </a:lnL>
                    <a:lnR w="6350">
                      <a:solidFill>
                        <a:srgbClr val="E2E7F2"/>
                      </a:solidFill>
                    </a:lnR>
                    <a:lnT w="6350">
                      <a:solidFill>
                        <a:srgbClr val="E2E7F2"/>
                      </a:solidFill>
                    </a:lnT>
                    <a:lnB w="6350">
                      <a:solidFill>
                        <a:srgbClr val="E2E7F2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wrap="none"/>
                    <a:lstStyle/>
                    <a:p>
                      <a:pPr algn="r"/>
                      <a:r>
                        <a:rPr sz="750" b="0">
                          <a:solidFill>
                            <a:srgbClr val="595959"/>
                          </a:solidFill>
                          <a:latin typeface="Calibri"/>
                        </a:rPr>
                        <a:t>20%</a:t>
                      </a:r>
                    </a:p>
                  </a:txBody>
                  <a:tcPr anchor="ctr" marL="27432" marR="27432" marT="4572" marB="4572">
                    <a:lnL w="6350">
                      <a:solidFill>
                        <a:srgbClr val="E2E7F2"/>
                      </a:solidFill>
                    </a:lnL>
                    <a:lnR w="6350">
                      <a:solidFill>
                        <a:srgbClr val="E2E7F2"/>
                      </a:solidFill>
                    </a:lnR>
                    <a:lnT w="6350">
                      <a:solidFill>
                        <a:srgbClr val="E2E7F2"/>
                      </a:solidFill>
                    </a:lnT>
                    <a:lnB w="6350">
                      <a:solidFill>
                        <a:srgbClr val="E2E7F2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wrap="none"/>
                    <a:lstStyle/>
                    <a:p>
                      <a:pPr algn="l"/>
                      <a:r>
                        <a:rPr sz="750" b="0">
                          <a:solidFill>
                            <a:srgbClr val="26292E"/>
                          </a:solidFill>
                          <a:latin typeface="Calibri"/>
                        </a:rPr>
                        <a:t/>
                      </a:r>
                    </a:p>
                  </a:txBody>
                  <a:tcPr anchor="ctr" marL="27432" marR="27432" marT="4572" marB="4572">
                    <a:lnL w="6350">
                      <a:solidFill>
                        <a:srgbClr val="E2E7F2"/>
                      </a:solidFill>
                    </a:lnL>
                    <a:lnR w="6350">
                      <a:solidFill>
                        <a:srgbClr val="E2E7F2"/>
                      </a:solidFill>
                    </a:lnR>
                    <a:lnT w="6350">
                      <a:solidFill>
                        <a:srgbClr val="E2E7F2"/>
                      </a:solidFill>
                    </a:lnT>
                    <a:lnB w="6350">
                      <a:solidFill>
                        <a:srgbClr val="E2E7F2"/>
                      </a:solidFill>
                    </a:lnB>
                    <a:solidFill>
                      <a:srgbClr val="FFFFFF"/>
                    </a:solidFill>
                  </a:tcPr>
                </a:tc>
              </a:tr>
              <a:tr h="147174">
                <a:tc>
                  <a:txBody>
                    <a:bodyPr wrap="none"/>
                    <a:lstStyle/>
                    <a:p>
                      <a:pPr algn="l"/>
                      <a:r>
                        <a:rPr sz="750" b="1">
                          <a:solidFill>
                            <a:srgbClr val="26292E"/>
                          </a:solidFill>
                          <a:latin typeface="Calibri"/>
                        </a:rPr>
                        <a:t>Group Corporate</a:t>
                      </a:r>
                    </a:p>
                  </a:txBody>
                  <a:tcPr anchor="ctr" marL="27432" marR="27432" marT="4572" marB="4572">
                    <a:lnL w="6350">
                      <a:solidFill>
                        <a:srgbClr val="E2E7F2"/>
                      </a:solidFill>
                    </a:lnL>
                    <a:lnR w="6350">
                      <a:solidFill>
                        <a:srgbClr val="E2E7F2"/>
                      </a:solidFill>
                    </a:lnR>
                    <a:lnT w="6350">
                      <a:solidFill>
                        <a:srgbClr val="E2E7F2"/>
                      </a:solidFill>
                    </a:lnT>
                    <a:lnB w="6350">
                      <a:solidFill>
                        <a:srgbClr val="E2E7F2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wrap="none"/>
                    <a:lstStyle/>
                    <a:p>
                      <a:pPr algn="r"/>
                      <a:r>
                        <a:rPr sz="750" b="0">
                          <a:solidFill>
                            <a:srgbClr val="26292E"/>
                          </a:solidFill>
                          <a:latin typeface="Calibri"/>
                        </a:rPr>
                        <a:t>338</a:t>
                      </a:r>
                    </a:p>
                  </a:txBody>
                  <a:tcPr anchor="ctr" marL="27432" marR="27432" marT="4572" marB="4572">
                    <a:lnL w="6350">
                      <a:solidFill>
                        <a:srgbClr val="E2E7F2"/>
                      </a:solidFill>
                    </a:lnL>
                    <a:lnR w="6350">
                      <a:solidFill>
                        <a:srgbClr val="E2E7F2"/>
                      </a:solidFill>
                    </a:lnR>
                    <a:lnT w="6350">
                      <a:solidFill>
                        <a:srgbClr val="E2E7F2"/>
                      </a:solidFill>
                    </a:lnT>
                    <a:lnB w="6350">
                      <a:solidFill>
                        <a:srgbClr val="E2E7F2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wrap="none"/>
                    <a:lstStyle/>
                    <a:p>
                      <a:pPr algn="r"/>
                      <a:r>
                        <a:rPr sz="750" b="0">
                          <a:solidFill>
                            <a:srgbClr val="26292E"/>
                          </a:solidFill>
                          <a:latin typeface="Calibri"/>
                        </a:rPr>
                        <a:t>69</a:t>
                      </a:r>
                    </a:p>
                  </a:txBody>
                  <a:tcPr anchor="ctr" marL="27432" marR="27432" marT="4572" marB="4572">
                    <a:lnL w="6350">
                      <a:solidFill>
                        <a:srgbClr val="E2E7F2"/>
                      </a:solidFill>
                    </a:lnL>
                    <a:lnR w="6350">
                      <a:solidFill>
                        <a:srgbClr val="E2E7F2"/>
                      </a:solidFill>
                    </a:lnR>
                    <a:lnT w="6350">
                      <a:solidFill>
                        <a:srgbClr val="E2E7F2"/>
                      </a:solidFill>
                    </a:lnT>
                    <a:lnB w="6350">
                      <a:solidFill>
                        <a:srgbClr val="E2E7F2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wrap="none"/>
                    <a:lstStyle/>
                    <a:p>
                      <a:pPr algn="r"/>
                      <a:r>
                        <a:rPr sz="750" b="0">
                          <a:solidFill>
                            <a:srgbClr val="26292E"/>
                          </a:solidFill>
                          <a:latin typeface="Calibri"/>
                        </a:rPr>
                        <a:t>252</a:t>
                      </a:r>
                    </a:p>
                  </a:txBody>
                  <a:tcPr anchor="ctr" marL="27432" marR="27432" marT="4572" marB="4572">
                    <a:lnL w="6350">
                      <a:solidFill>
                        <a:srgbClr val="E2E7F2"/>
                      </a:solidFill>
                    </a:lnL>
                    <a:lnR w="6350">
                      <a:solidFill>
                        <a:srgbClr val="E2E7F2"/>
                      </a:solidFill>
                    </a:lnR>
                    <a:lnT w="6350">
                      <a:solidFill>
                        <a:srgbClr val="E2E7F2"/>
                      </a:solidFill>
                    </a:lnT>
                    <a:lnB w="6350">
                      <a:solidFill>
                        <a:srgbClr val="E2E7F2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wrap="none"/>
                    <a:lstStyle/>
                    <a:p>
                      <a:pPr algn="r"/>
                      <a:r>
                        <a:rPr sz="750" b="0">
                          <a:solidFill>
                            <a:srgbClr val="26292E"/>
                          </a:solidFill>
                          <a:latin typeface="Calibri"/>
                        </a:rPr>
                        <a:t>73</a:t>
                      </a:r>
                    </a:p>
                  </a:txBody>
                  <a:tcPr anchor="ctr" marL="27432" marR="27432" marT="4572" marB="4572">
                    <a:lnL w="6350">
                      <a:solidFill>
                        <a:srgbClr val="E2E7F2"/>
                      </a:solidFill>
                    </a:lnL>
                    <a:lnR w="6350">
                      <a:solidFill>
                        <a:srgbClr val="E2E7F2"/>
                      </a:solidFill>
                    </a:lnR>
                    <a:lnT w="6350">
                      <a:solidFill>
                        <a:srgbClr val="E2E7F2"/>
                      </a:solidFill>
                    </a:lnT>
                    <a:lnB w="6350">
                      <a:solidFill>
                        <a:srgbClr val="E2E7F2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wrap="none"/>
                    <a:lstStyle/>
                    <a:p>
                      <a:pPr algn="r"/>
                      <a:r>
                        <a:rPr sz="750" b="0">
                          <a:solidFill>
                            <a:srgbClr val="26292E"/>
                          </a:solidFill>
                          <a:latin typeface="Calibri"/>
                        </a:rPr>
                        <a:t>41</a:t>
                      </a:r>
                    </a:p>
                  </a:txBody>
                  <a:tcPr anchor="ctr" marL="27432" marR="27432" marT="4572" marB="4572">
                    <a:lnL w="6350">
                      <a:solidFill>
                        <a:srgbClr val="E2E7F2"/>
                      </a:solidFill>
                    </a:lnL>
                    <a:lnR w="6350">
                      <a:solidFill>
                        <a:srgbClr val="E2E7F2"/>
                      </a:solidFill>
                    </a:lnR>
                    <a:lnT w="6350">
                      <a:solidFill>
                        <a:srgbClr val="E2E7F2"/>
                      </a:solidFill>
                    </a:lnT>
                    <a:lnB w="6350">
                      <a:solidFill>
                        <a:srgbClr val="E2E7F2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wrap="none"/>
                    <a:lstStyle/>
                    <a:p>
                      <a:pPr algn="r"/>
                      <a:r>
                        <a:rPr sz="750" b="0">
                          <a:solidFill>
                            <a:srgbClr val="26292E"/>
                          </a:solidFill>
                          <a:latin typeface="Calibri"/>
                        </a:rPr>
                        <a:t>100</a:t>
                      </a:r>
                    </a:p>
                  </a:txBody>
                  <a:tcPr anchor="ctr" marL="27432" marR="27432" marT="4572" marB="4572">
                    <a:lnL w="6350">
                      <a:solidFill>
                        <a:srgbClr val="E2E7F2"/>
                      </a:solidFill>
                    </a:lnL>
                    <a:lnR w="6350">
                      <a:solidFill>
                        <a:srgbClr val="E2E7F2"/>
                      </a:solidFill>
                    </a:lnR>
                    <a:lnT w="6350">
                      <a:solidFill>
                        <a:srgbClr val="E2E7F2"/>
                      </a:solidFill>
                    </a:lnT>
                    <a:lnB w="6350">
                      <a:solidFill>
                        <a:srgbClr val="E2E7F2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wrap="none"/>
                    <a:lstStyle/>
                    <a:p>
                      <a:pPr algn="r"/>
                      <a:r>
                        <a:rPr sz="750" b="1">
                          <a:solidFill>
                            <a:srgbClr val="26292E"/>
                          </a:solidFill>
                          <a:latin typeface="Calibri"/>
                        </a:rPr>
                        <a:t>873</a:t>
                      </a:r>
                    </a:p>
                  </a:txBody>
                  <a:tcPr anchor="ctr" marL="27432" marR="27432" marT="4572" marB="4572">
                    <a:lnL w="6350">
                      <a:solidFill>
                        <a:srgbClr val="E2E7F2"/>
                      </a:solidFill>
                    </a:lnL>
                    <a:lnR w="6350">
                      <a:solidFill>
                        <a:srgbClr val="E2E7F2"/>
                      </a:solidFill>
                    </a:lnR>
                    <a:lnT w="6350">
                      <a:solidFill>
                        <a:srgbClr val="E2E7F2"/>
                      </a:solidFill>
                    </a:lnT>
                    <a:lnB w="6350">
                      <a:solidFill>
                        <a:srgbClr val="E2E7F2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wrap="none"/>
                    <a:lstStyle/>
                    <a:p>
                      <a:pPr algn="r"/>
                      <a:r>
                        <a:rPr sz="750" b="0">
                          <a:solidFill>
                            <a:srgbClr val="26292E"/>
                          </a:solidFill>
                          <a:latin typeface="Calibri"/>
                        </a:rPr>
                        <a:t>1%</a:t>
                      </a:r>
                    </a:p>
                  </a:txBody>
                  <a:tcPr anchor="ctr" marL="27432" marR="27432" marT="4572" marB="4572">
                    <a:lnL w="6350">
                      <a:solidFill>
                        <a:srgbClr val="E2E7F2"/>
                      </a:solidFill>
                    </a:lnL>
                    <a:lnR w="6350">
                      <a:solidFill>
                        <a:srgbClr val="E2E7F2"/>
                      </a:solidFill>
                    </a:lnR>
                    <a:lnT w="6350">
                      <a:solidFill>
                        <a:srgbClr val="E2E7F2"/>
                      </a:solidFill>
                    </a:lnT>
                    <a:lnB w="6350">
                      <a:solidFill>
                        <a:srgbClr val="E2E7F2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wrap="none"/>
                    <a:lstStyle/>
                    <a:p>
                      <a:pPr algn="r"/>
                      <a:r>
                        <a:rPr sz="750" b="1">
                          <a:solidFill>
                            <a:srgbClr val="C62828"/>
                          </a:solidFill>
                          <a:latin typeface="Calibri"/>
                        </a:rPr>
                        <a:t>-35%</a:t>
                      </a:r>
                    </a:p>
                  </a:txBody>
                  <a:tcPr anchor="ctr" marL="27432" marR="27432" marT="4572" marB="4572">
                    <a:lnL w="6350">
                      <a:solidFill>
                        <a:srgbClr val="E2E7F2"/>
                      </a:solidFill>
                    </a:lnL>
                    <a:lnR w="6350">
                      <a:solidFill>
                        <a:srgbClr val="E2E7F2"/>
                      </a:solidFill>
                    </a:lnR>
                    <a:lnT w="6350">
                      <a:solidFill>
                        <a:srgbClr val="E2E7F2"/>
                      </a:solidFill>
                    </a:lnT>
                    <a:lnB w="6350">
                      <a:solidFill>
                        <a:srgbClr val="E2E7F2"/>
                      </a:solidFill>
                    </a:lnB>
                    <a:solidFill>
                      <a:srgbClr val="FFFFFF"/>
                    </a:solidFill>
                  </a:tcPr>
                </a:tc>
              </a:tr>
              <a:tr h="147174">
                <a:tc>
                  <a:txBody>
                    <a:bodyPr wrap="none"/>
                    <a:lstStyle/>
                    <a:p>
                      <a:pPr algn="l"/>
                      <a:r>
                        <a:rPr sz="750" b="0">
                          <a:solidFill>
                            <a:srgbClr val="595959"/>
                          </a:solidFill>
                          <a:latin typeface="Calibri"/>
                        </a:rPr>
                        <a:t>   ’25</a:t>
                      </a:r>
                    </a:p>
                  </a:txBody>
                  <a:tcPr anchor="ctr" marL="27432" marR="27432" marT="4572" marB="4572">
                    <a:lnL w="6350">
                      <a:solidFill>
                        <a:srgbClr val="E2E7F2"/>
                      </a:solidFill>
                    </a:lnL>
                    <a:lnR w="6350">
                      <a:solidFill>
                        <a:srgbClr val="E2E7F2"/>
                      </a:solidFill>
                    </a:lnR>
                    <a:lnT w="6350">
                      <a:solidFill>
                        <a:srgbClr val="E2E7F2"/>
                      </a:solidFill>
                    </a:lnT>
                    <a:lnB w="6350">
                      <a:solidFill>
                        <a:srgbClr val="E2E7F2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wrap="none"/>
                    <a:lstStyle/>
                    <a:p>
                      <a:pPr algn="r"/>
                      <a:r>
                        <a:rPr sz="750" b="0">
                          <a:solidFill>
                            <a:srgbClr val="595959"/>
                          </a:solidFill>
                          <a:latin typeface="Calibri"/>
                        </a:rPr>
                        <a:t>263</a:t>
                      </a:r>
                    </a:p>
                  </a:txBody>
                  <a:tcPr anchor="ctr" marL="27432" marR="27432" marT="4572" marB="4572">
                    <a:lnL w="6350">
                      <a:solidFill>
                        <a:srgbClr val="E2E7F2"/>
                      </a:solidFill>
                    </a:lnL>
                    <a:lnR w="6350">
                      <a:solidFill>
                        <a:srgbClr val="E2E7F2"/>
                      </a:solidFill>
                    </a:lnR>
                    <a:lnT w="6350">
                      <a:solidFill>
                        <a:srgbClr val="E2E7F2"/>
                      </a:solidFill>
                    </a:lnT>
                    <a:lnB w="6350">
                      <a:solidFill>
                        <a:srgbClr val="E2E7F2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wrap="none"/>
                    <a:lstStyle/>
                    <a:p>
                      <a:pPr algn="r"/>
                      <a:r>
                        <a:rPr sz="750" b="0">
                          <a:solidFill>
                            <a:srgbClr val="595959"/>
                          </a:solidFill>
                          <a:latin typeface="Calibri"/>
                        </a:rPr>
                        <a:t>417</a:t>
                      </a:r>
                    </a:p>
                  </a:txBody>
                  <a:tcPr anchor="ctr" marL="27432" marR="27432" marT="4572" marB="4572">
                    <a:lnL w="6350">
                      <a:solidFill>
                        <a:srgbClr val="E2E7F2"/>
                      </a:solidFill>
                    </a:lnL>
                    <a:lnR w="6350">
                      <a:solidFill>
                        <a:srgbClr val="E2E7F2"/>
                      </a:solidFill>
                    </a:lnR>
                    <a:lnT w="6350">
                      <a:solidFill>
                        <a:srgbClr val="E2E7F2"/>
                      </a:solidFill>
                    </a:lnT>
                    <a:lnB w="6350">
                      <a:solidFill>
                        <a:srgbClr val="E2E7F2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wrap="none"/>
                    <a:lstStyle/>
                    <a:p>
                      <a:pPr algn="r"/>
                      <a:r>
                        <a:rPr sz="750" b="0">
                          <a:solidFill>
                            <a:srgbClr val="595959"/>
                          </a:solidFill>
                          <a:latin typeface="Calibri"/>
                        </a:rPr>
                        <a:t>45</a:t>
                      </a:r>
                    </a:p>
                  </a:txBody>
                  <a:tcPr anchor="ctr" marL="27432" marR="27432" marT="4572" marB="4572">
                    <a:lnL w="6350">
                      <a:solidFill>
                        <a:srgbClr val="E2E7F2"/>
                      </a:solidFill>
                    </a:lnL>
                    <a:lnR w="6350">
                      <a:solidFill>
                        <a:srgbClr val="E2E7F2"/>
                      </a:solidFill>
                    </a:lnR>
                    <a:lnT w="6350">
                      <a:solidFill>
                        <a:srgbClr val="E2E7F2"/>
                      </a:solidFill>
                    </a:lnT>
                    <a:lnB w="6350">
                      <a:solidFill>
                        <a:srgbClr val="E2E7F2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wrap="none"/>
                    <a:lstStyle/>
                    <a:p>
                      <a:pPr algn="r"/>
                      <a:r>
                        <a:rPr sz="750" b="0">
                          <a:solidFill>
                            <a:srgbClr val="595959"/>
                          </a:solidFill>
                          <a:latin typeface="Calibri"/>
                        </a:rPr>
                        <a:t>227</a:t>
                      </a:r>
                    </a:p>
                  </a:txBody>
                  <a:tcPr anchor="ctr" marL="27432" marR="27432" marT="4572" marB="4572">
                    <a:lnL w="6350">
                      <a:solidFill>
                        <a:srgbClr val="E2E7F2"/>
                      </a:solidFill>
                    </a:lnL>
                    <a:lnR w="6350">
                      <a:solidFill>
                        <a:srgbClr val="E2E7F2"/>
                      </a:solidFill>
                    </a:lnR>
                    <a:lnT w="6350">
                      <a:solidFill>
                        <a:srgbClr val="E2E7F2"/>
                      </a:solidFill>
                    </a:lnT>
                    <a:lnB w="6350">
                      <a:solidFill>
                        <a:srgbClr val="E2E7F2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wrap="none"/>
                    <a:lstStyle/>
                    <a:p>
                      <a:pPr algn="r"/>
                      <a:r>
                        <a:rPr sz="750" b="0">
                          <a:solidFill>
                            <a:srgbClr val="595959"/>
                          </a:solidFill>
                          <a:latin typeface="Calibri"/>
                        </a:rPr>
                        <a:t>373</a:t>
                      </a:r>
                    </a:p>
                  </a:txBody>
                  <a:tcPr anchor="ctr" marL="27432" marR="27432" marT="4572" marB="4572">
                    <a:lnL w="6350">
                      <a:solidFill>
                        <a:srgbClr val="E2E7F2"/>
                      </a:solidFill>
                    </a:lnL>
                    <a:lnR w="6350">
                      <a:solidFill>
                        <a:srgbClr val="E2E7F2"/>
                      </a:solidFill>
                    </a:lnR>
                    <a:lnT w="6350">
                      <a:solidFill>
                        <a:srgbClr val="E2E7F2"/>
                      </a:solidFill>
                    </a:lnT>
                    <a:lnB w="6350">
                      <a:solidFill>
                        <a:srgbClr val="E2E7F2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wrap="none"/>
                    <a:lstStyle/>
                    <a:p>
                      <a:pPr algn="r"/>
                      <a:r>
                        <a:rPr sz="750" b="0">
                          <a:solidFill>
                            <a:srgbClr val="595959"/>
                          </a:solidFill>
                          <a:latin typeface="Calibri"/>
                        </a:rPr>
                        <a:t>17</a:t>
                      </a:r>
                    </a:p>
                  </a:txBody>
                  <a:tcPr anchor="ctr" marL="27432" marR="27432" marT="4572" marB="4572">
                    <a:lnL w="6350">
                      <a:solidFill>
                        <a:srgbClr val="E2E7F2"/>
                      </a:solidFill>
                    </a:lnL>
                    <a:lnR w="6350">
                      <a:solidFill>
                        <a:srgbClr val="E2E7F2"/>
                      </a:solidFill>
                    </a:lnR>
                    <a:lnT w="6350">
                      <a:solidFill>
                        <a:srgbClr val="E2E7F2"/>
                      </a:solidFill>
                    </a:lnT>
                    <a:lnB w="6350">
                      <a:solidFill>
                        <a:srgbClr val="E2E7F2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wrap="none"/>
                    <a:lstStyle/>
                    <a:p>
                      <a:pPr algn="r"/>
                      <a:r>
                        <a:rPr sz="750" b="0">
                          <a:solidFill>
                            <a:srgbClr val="595959"/>
                          </a:solidFill>
                          <a:latin typeface="Calibri"/>
                        </a:rPr>
                        <a:t>1,342</a:t>
                      </a:r>
                    </a:p>
                  </a:txBody>
                  <a:tcPr anchor="ctr" marL="27432" marR="27432" marT="4572" marB="4572">
                    <a:lnL w="6350">
                      <a:solidFill>
                        <a:srgbClr val="E2E7F2"/>
                      </a:solidFill>
                    </a:lnL>
                    <a:lnR w="6350">
                      <a:solidFill>
                        <a:srgbClr val="E2E7F2"/>
                      </a:solidFill>
                    </a:lnR>
                    <a:lnT w="6350">
                      <a:solidFill>
                        <a:srgbClr val="E2E7F2"/>
                      </a:solidFill>
                    </a:lnT>
                    <a:lnB w="6350">
                      <a:solidFill>
                        <a:srgbClr val="E2E7F2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wrap="none"/>
                    <a:lstStyle/>
                    <a:p>
                      <a:pPr algn="r"/>
                      <a:r>
                        <a:rPr sz="750" b="0">
                          <a:solidFill>
                            <a:srgbClr val="595959"/>
                          </a:solidFill>
                          <a:latin typeface="Calibri"/>
                        </a:rPr>
                        <a:t>2%</a:t>
                      </a:r>
                    </a:p>
                  </a:txBody>
                  <a:tcPr anchor="ctr" marL="27432" marR="27432" marT="4572" marB="4572">
                    <a:lnL w="6350">
                      <a:solidFill>
                        <a:srgbClr val="E2E7F2"/>
                      </a:solidFill>
                    </a:lnL>
                    <a:lnR w="6350">
                      <a:solidFill>
                        <a:srgbClr val="E2E7F2"/>
                      </a:solidFill>
                    </a:lnR>
                    <a:lnT w="6350">
                      <a:solidFill>
                        <a:srgbClr val="E2E7F2"/>
                      </a:solidFill>
                    </a:lnT>
                    <a:lnB w="6350">
                      <a:solidFill>
                        <a:srgbClr val="E2E7F2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wrap="none"/>
                    <a:lstStyle/>
                    <a:p>
                      <a:pPr algn="l"/>
                      <a:r>
                        <a:rPr sz="750" b="0">
                          <a:solidFill>
                            <a:srgbClr val="26292E"/>
                          </a:solidFill>
                          <a:latin typeface="Calibri"/>
                        </a:rPr>
                        <a:t/>
                      </a:r>
                    </a:p>
                  </a:txBody>
                  <a:tcPr anchor="ctr" marL="27432" marR="27432" marT="4572" marB="4572">
                    <a:lnL w="6350">
                      <a:solidFill>
                        <a:srgbClr val="E2E7F2"/>
                      </a:solidFill>
                    </a:lnL>
                    <a:lnR w="6350">
                      <a:solidFill>
                        <a:srgbClr val="E2E7F2"/>
                      </a:solidFill>
                    </a:lnR>
                    <a:lnT w="6350">
                      <a:solidFill>
                        <a:srgbClr val="E2E7F2"/>
                      </a:solidFill>
                    </a:lnT>
                    <a:lnB w="6350">
                      <a:solidFill>
                        <a:srgbClr val="E2E7F2"/>
                      </a:solidFill>
                    </a:lnB>
                    <a:solidFill>
                      <a:srgbClr val="FFFFFF"/>
                    </a:solidFill>
                  </a:tcPr>
                </a:tc>
              </a:tr>
              <a:tr h="147174">
                <a:tc>
                  <a:txBody>
                    <a:bodyPr wrap="none"/>
                    <a:lstStyle/>
                    <a:p>
                      <a:pPr algn="l"/>
                      <a:r>
                        <a:rPr sz="750" b="1">
                          <a:solidFill>
                            <a:srgbClr val="26292E"/>
                          </a:solidFill>
                          <a:latin typeface="Calibri"/>
                        </a:rPr>
                        <a:t>Group Leisure</a:t>
                      </a:r>
                    </a:p>
                  </a:txBody>
                  <a:tcPr anchor="ctr" marL="27432" marR="27432" marT="4572" marB="4572">
                    <a:lnL w="6350">
                      <a:solidFill>
                        <a:srgbClr val="E2E7F2"/>
                      </a:solidFill>
                    </a:lnL>
                    <a:lnR w="6350">
                      <a:solidFill>
                        <a:srgbClr val="E2E7F2"/>
                      </a:solidFill>
                    </a:lnR>
                    <a:lnT w="6350">
                      <a:solidFill>
                        <a:srgbClr val="E2E7F2"/>
                      </a:solidFill>
                    </a:lnT>
                    <a:lnB w="6350">
                      <a:solidFill>
                        <a:srgbClr val="E2E7F2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wrap="none"/>
                    <a:lstStyle/>
                    <a:p>
                      <a:pPr algn="r"/>
                      <a:r>
                        <a:rPr sz="750" b="0">
                          <a:solidFill>
                            <a:srgbClr val="26292E"/>
                          </a:solidFill>
                          <a:latin typeface="Calibri"/>
                        </a:rPr>
                        <a:t>426</a:t>
                      </a:r>
                    </a:p>
                  </a:txBody>
                  <a:tcPr anchor="ctr" marL="27432" marR="27432" marT="4572" marB="4572">
                    <a:lnL w="6350">
                      <a:solidFill>
                        <a:srgbClr val="E2E7F2"/>
                      </a:solidFill>
                    </a:lnL>
                    <a:lnR w="6350">
                      <a:solidFill>
                        <a:srgbClr val="E2E7F2"/>
                      </a:solidFill>
                    </a:lnR>
                    <a:lnT w="6350">
                      <a:solidFill>
                        <a:srgbClr val="E2E7F2"/>
                      </a:solidFill>
                    </a:lnT>
                    <a:lnB w="6350">
                      <a:solidFill>
                        <a:srgbClr val="E2E7F2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wrap="none"/>
                    <a:lstStyle/>
                    <a:p>
                      <a:pPr algn="r"/>
                      <a:r>
                        <a:rPr sz="750" b="0">
                          <a:solidFill>
                            <a:srgbClr val="26292E"/>
                          </a:solidFill>
                          <a:latin typeface="Calibri"/>
                        </a:rPr>
                        <a:t>105</a:t>
                      </a:r>
                    </a:p>
                  </a:txBody>
                  <a:tcPr anchor="ctr" marL="27432" marR="27432" marT="4572" marB="4572">
                    <a:lnL w="6350">
                      <a:solidFill>
                        <a:srgbClr val="E2E7F2"/>
                      </a:solidFill>
                    </a:lnL>
                    <a:lnR w="6350">
                      <a:solidFill>
                        <a:srgbClr val="E2E7F2"/>
                      </a:solidFill>
                    </a:lnR>
                    <a:lnT w="6350">
                      <a:solidFill>
                        <a:srgbClr val="E2E7F2"/>
                      </a:solidFill>
                    </a:lnT>
                    <a:lnB w="6350">
                      <a:solidFill>
                        <a:srgbClr val="E2E7F2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wrap="none"/>
                    <a:lstStyle/>
                    <a:p>
                      <a:pPr algn="r"/>
                      <a:r>
                        <a:rPr sz="750" b="0">
                          <a:solidFill>
                            <a:srgbClr val="26292E"/>
                          </a:solidFill>
                          <a:latin typeface="Calibri"/>
                        </a:rPr>
                        <a:t>188</a:t>
                      </a:r>
                    </a:p>
                  </a:txBody>
                  <a:tcPr anchor="ctr" marL="27432" marR="27432" marT="4572" marB="4572">
                    <a:lnL w="6350">
                      <a:solidFill>
                        <a:srgbClr val="E2E7F2"/>
                      </a:solidFill>
                    </a:lnL>
                    <a:lnR w="6350">
                      <a:solidFill>
                        <a:srgbClr val="E2E7F2"/>
                      </a:solidFill>
                    </a:lnR>
                    <a:lnT w="6350">
                      <a:solidFill>
                        <a:srgbClr val="E2E7F2"/>
                      </a:solidFill>
                    </a:lnT>
                    <a:lnB w="6350">
                      <a:solidFill>
                        <a:srgbClr val="E2E7F2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wrap="none"/>
                    <a:lstStyle/>
                    <a:p>
                      <a:pPr algn="r"/>
                      <a:r>
                        <a:rPr sz="750" b="0">
                          <a:solidFill>
                            <a:srgbClr val="26292E"/>
                          </a:solidFill>
                          <a:latin typeface="Calibri"/>
                        </a:rPr>
                        <a:t>294</a:t>
                      </a:r>
                    </a:p>
                  </a:txBody>
                  <a:tcPr anchor="ctr" marL="27432" marR="27432" marT="4572" marB="4572">
                    <a:lnL w="6350">
                      <a:solidFill>
                        <a:srgbClr val="E2E7F2"/>
                      </a:solidFill>
                    </a:lnL>
                    <a:lnR w="6350">
                      <a:solidFill>
                        <a:srgbClr val="E2E7F2"/>
                      </a:solidFill>
                    </a:lnR>
                    <a:lnT w="6350">
                      <a:solidFill>
                        <a:srgbClr val="E2E7F2"/>
                      </a:solidFill>
                    </a:lnT>
                    <a:lnB w="6350">
                      <a:solidFill>
                        <a:srgbClr val="E2E7F2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wrap="none"/>
                    <a:lstStyle/>
                    <a:p>
                      <a:pPr algn="r"/>
                      <a:r>
                        <a:rPr sz="750" b="0">
                          <a:solidFill>
                            <a:srgbClr val="26292E"/>
                          </a:solidFill>
                          <a:latin typeface="Calibri"/>
                        </a:rPr>
                        <a:t>373</a:t>
                      </a:r>
                    </a:p>
                  </a:txBody>
                  <a:tcPr anchor="ctr" marL="27432" marR="27432" marT="4572" marB="4572">
                    <a:lnL w="6350">
                      <a:solidFill>
                        <a:srgbClr val="E2E7F2"/>
                      </a:solidFill>
                    </a:lnL>
                    <a:lnR w="6350">
                      <a:solidFill>
                        <a:srgbClr val="E2E7F2"/>
                      </a:solidFill>
                    </a:lnR>
                    <a:lnT w="6350">
                      <a:solidFill>
                        <a:srgbClr val="E2E7F2"/>
                      </a:solidFill>
                    </a:lnT>
                    <a:lnB w="6350">
                      <a:solidFill>
                        <a:srgbClr val="E2E7F2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wrap="none"/>
                    <a:lstStyle/>
                    <a:p>
                      <a:pPr algn="r"/>
                      <a:r>
                        <a:rPr sz="750" b="0">
                          <a:solidFill>
                            <a:srgbClr val="26292E"/>
                          </a:solidFill>
                          <a:latin typeface="Calibri"/>
                        </a:rPr>
                        <a:t>133</a:t>
                      </a:r>
                    </a:p>
                  </a:txBody>
                  <a:tcPr anchor="ctr" marL="27432" marR="27432" marT="4572" marB="4572">
                    <a:lnL w="6350">
                      <a:solidFill>
                        <a:srgbClr val="E2E7F2"/>
                      </a:solidFill>
                    </a:lnL>
                    <a:lnR w="6350">
                      <a:solidFill>
                        <a:srgbClr val="E2E7F2"/>
                      </a:solidFill>
                    </a:lnR>
                    <a:lnT w="6350">
                      <a:solidFill>
                        <a:srgbClr val="E2E7F2"/>
                      </a:solidFill>
                    </a:lnT>
                    <a:lnB w="6350">
                      <a:solidFill>
                        <a:srgbClr val="E2E7F2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wrap="none"/>
                    <a:lstStyle/>
                    <a:p>
                      <a:pPr algn="r"/>
                      <a:r>
                        <a:rPr sz="750" b="1">
                          <a:solidFill>
                            <a:srgbClr val="26292E"/>
                          </a:solidFill>
                          <a:latin typeface="Calibri"/>
                        </a:rPr>
                        <a:t>1,519</a:t>
                      </a:r>
                    </a:p>
                  </a:txBody>
                  <a:tcPr anchor="ctr" marL="27432" marR="27432" marT="4572" marB="4572">
                    <a:lnL w="6350">
                      <a:solidFill>
                        <a:srgbClr val="E2E7F2"/>
                      </a:solidFill>
                    </a:lnL>
                    <a:lnR w="6350">
                      <a:solidFill>
                        <a:srgbClr val="E2E7F2"/>
                      </a:solidFill>
                    </a:lnR>
                    <a:lnT w="6350">
                      <a:solidFill>
                        <a:srgbClr val="E2E7F2"/>
                      </a:solidFill>
                    </a:lnT>
                    <a:lnB w="6350">
                      <a:solidFill>
                        <a:srgbClr val="E2E7F2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wrap="none"/>
                    <a:lstStyle/>
                    <a:p>
                      <a:pPr algn="r"/>
                      <a:r>
                        <a:rPr sz="750" b="0">
                          <a:solidFill>
                            <a:srgbClr val="26292E"/>
                          </a:solidFill>
                          <a:latin typeface="Calibri"/>
                        </a:rPr>
                        <a:t>2%</a:t>
                      </a:r>
                    </a:p>
                  </a:txBody>
                  <a:tcPr anchor="ctr" marL="27432" marR="27432" marT="4572" marB="4572">
                    <a:lnL w="6350">
                      <a:solidFill>
                        <a:srgbClr val="E2E7F2"/>
                      </a:solidFill>
                    </a:lnL>
                    <a:lnR w="6350">
                      <a:solidFill>
                        <a:srgbClr val="E2E7F2"/>
                      </a:solidFill>
                    </a:lnR>
                    <a:lnT w="6350">
                      <a:solidFill>
                        <a:srgbClr val="E2E7F2"/>
                      </a:solidFill>
                    </a:lnT>
                    <a:lnB w="6350">
                      <a:solidFill>
                        <a:srgbClr val="E2E7F2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wrap="none"/>
                    <a:lstStyle/>
                    <a:p>
                      <a:pPr algn="r"/>
                      <a:r>
                        <a:rPr sz="750" b="1">
                          <a:solidFill>
                            <a:srgbClr val="1E7B34"/>
                          </a:solidFill>
                          <a:latin typeface="Calibri"/>
                        </a:rPr>
                        <a:t>+163%</a:t>
                      </a:r>
                    </a:p>
                  </a:txBody>
                  <a:tcPr anchor="ctr" marL="27432" marR="27432" marT="4572" marB="4572">
                    <a:lnL w="6350">
                      <a:solidFill>
                        <a:srgbClr val="E2E7F2"/>
                      </a:solidFill>
                    </a:lnL>
                    <a:lnR w="6350">
                      <a:solidFill>
                        <a:srgbClr val="E2E7F2"/>
                      </a:solidFill>
                    </a:lnR>
                    <a:lnT w="6350">
                      <a:solidFill>
                        <a:srgbClr val="E2E7F2"/>
                      </a:solidFill>
                    </a:lnT>
                    <a:lnB w="6350">
                      <a:solidFill>
                        <a:srgbClr val="E2E7F2"/>
                      </a:solidFill>
                    </a:lnB>
                    <a:solidFill>
                      <a:srgbClr val="FFFFFF"/>
                    </a:solidFill>
                  </a:tcPr>
                </a:tc>
              </a:tr>
              <a:tr h="147174">
                <a:tc>
                  <a:txBody>
                    <a:bodyPr wrap="none"/>
                    <a:lstStyle/>
                    <a:p>
                      <a:pPr algn="l"/>
                      <a:r>
                        <a:rPr sz="750" b="0">
                          <a:solidFill>
                            <a:srgbClr val="595959"/>
                          </a:solidFill>
                          <a:latin typeface="Calibri"/>
                        </a:rPr>
                        <a:t>   ’25</a:t>
                      </a:r>
                    </a:p>
                  </a:txBody>
                  <a:tcPr anchor="ctr" marL="27432" marR="27432" marT="4572" marB="4572">
                    <a:lnL w="6350">
                      <a:solidFill>
                        <a:srgbClr val="E2E7F2"/>
                      </a:solidFill>
                    </a:lnL>
                    <a:lnR w="6350">
                      <a:solidFill>
                        <a:srgbClr val="E2E7F2"/>
                      </a:solidFill>
                    </a:lnR>
                    <a:lnT w="6350">
                      <a:solidFill>
                        <a:srgbClr val="E2E7F2"/>
                      </a:solidFill>
                    </a:lnT>
                    <a:lnB w="6350">
                      <a:solidFill>
                        <a:srgbClr val="E2E7F2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wrap="none"/>
                    <a:lstStyle/>
                    <a:p>
                      <a:pPr algn="r"/>
                      <a:r>
                        <a:rPr sz="750" b="0">
                          <a:solidFill>
                            <a:srgbClr val="595959"/>
                          </a:solidFill>
                          <a:latin typeface="Calibri"/>
                        </a:rPr>
                        <a:t>118</a:t>
                      </a:r>
                    </a:p>
                  </a:txBody>
                  <a:tcPr anchor="ctr" marL="27432" marR="27432" marT="4572" marB="4572">
                    <a:lnL w="6350">
                      <a:solidFill>
                        <a:srgbClr val="E2E7F2"/>
                      </a:solidFill>
                    </a:lnL>
                    <a:lnR w="6350">
                      <a:solidFill>
                        <a:srgbClr val="E2E7F2"/>
                      </a:solidFill>
                    </a:lnR>
                    <a:lnT w="6350">
                      <a:solidFill>
                        <a:srgbClr val="E2E7F2"/>
                      </a:solidFill>
                    </a:lnT>
                    <a:lnB w="6350">
                      <a:solidFill>
                        <a:srgbClr val="E2E7F2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wrap="none"/>
                    <a:lstStyle/>
                    <a:p>
                      <a:pPr algn="r"/>
                      <a:r>
                        <a:rPr sz="750" b="0">
                          <a:solidFill>
                            <a:srgbClr val="595959"/>
                          </a:solidFill>
                          <a:latin typeface="Calibri"/>
                        </a:rPr>
                        <a:t>120</a:t>
                      </a:r>
                    </a:p>
                  </a:txBody>
                  <a:tcPr anchor="ctr" marL="27432" marR="27432" marT="4572" marB="4572">
                    <a:lnL w="6350">
                      <a:solidFill>
                        <a:srgbClr val="E2E7F2"/>
                      </a:solidFill>
                    </a:lnL>
                    <a:lnR w="6350">
                      <a:solidFill>
                        <a:srgbClr val="E2E7F2"/>
                      </a:solidFill>
                    </a:lnR>
                    <a:lnT w="6350">
                      <a:solidFill>
                        <a:srgbClr val="E2E7F2"/>
                      </a:solidFill>
                    </a:lnT>
                    <a:lnB w="6350">
                      <a:solidFill>
                        <a:srgbClr val="E2E7F2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wrap="none"/>
                    <a:lstStyle/>
                    <a:p>
                      <a:pPr algn="r"/>
                      <a:r>
                        <a:rPr sz="750" b="0">
                          <a:solidFill>
                            <a:srgbClr val="595959"/>
                          </a:solidFill>
                          <a:latin typeface="Calibri"/>
                        </a:rPr>
                        <a:t>157</a:t>
                      </a:r>
                    </a:p>
                  </a:txBody>
                  <a:tcPr anchor="ctr" marL="27432" marR="27432" marT="4572" marB="4572">
                    <a:lnL w="6350">
                      <a:solidFill>
                        <a:srgbClr val="E2E7F2"/>
                      </a:solidFill>
                    </a:lnL>
                    <a:lnR w="6350">
                      <a:solidFill>
                        <a:srgbClr val="E2E7F2"/>
                      </a:solidFill>
                    </a:lnR>
                    <a:lnT w="6350">
                      <a:solidFill>
                        <a:srgbClr val="E2E7F2"/>
                      </a:solidFill>
                    </a:lnT>
                    <a:lnB w="6350">
                      <a:solidFill>
                        <a:srgbClr val="E2E7F2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wrap="none"/>
                    <a:lstStyle/>
                    <a:p>
                      <a:pPr algn="r"/>
                      <a:r>
                        <a:rPr sz="750" b="0">
                          <a:solidFill>
                            <a:srgbClr val="595959"/>
                          </a:solidFill>
                          <a:latin typeface="Calibri"/>
                        </a:rPr>
                        <a:t>80</a:t>
                      </a:r>
                    </a:p>
                  </a:txBody>
                  <a:tcPr anchor="ctr" marL="27432" marR="27432" marT="4572" marB="4572">
                    <a:lnL w="6350">
                      <a:solidFill>
                        <a:srgbClr val="E2E7F2"/>
                      </a:solidFill>
                    </a:lnL>
                    <a:lnR w="6350">
                      <a:solidFill>
                        <a:srgbClr val="E2E7F2"/>
                      </a:solidFill>
                    </a:lnR>
                    <a:lnT w="6350">
                      <a:solidFill>
                        <a:srgbClr val="E2E7F2"/>
                      </a:solidFill>
                    </a:lnT>
                    <a:lnB w="6350">
                      <a:solidFill>
                        <a:srgbClr val="E2E7F2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wrap="none"/>
                    <a:lstStyle/>
                    <a:p>
                      <a:pPr algn="r"/>
                      <a:r>
                        <a:rPr sz="750" b="0">
                          <a:solidFill>
                            <a:srgbClr val="595959"/>
                          </a:solidFill>
                          <a:latin typeface="Calibri"/>
                        </a:rPr>
                        <a:t>24</a:t>
                      </a:r>
                    </a:p>
                  </a:txBody>
                  <a:tcPr anchor="ctr" marL="27432" marR="27432" marT="4572" marB="4572">
                    <a:lnL w="6350">
                      <a:solidFill>
                        <a:srgbClr val="E2E7F2"/>
                      </a:solidFill>
                    </a:lnL>
                    <a:lnR w="6350">
                      <a:solidFill>
                        <a:srgbClr val="E2E7F2"/>
                      </a:solidFill>
                    </a:lnR>
                    <a:lnT w="6350">
                      <a:solidFill>
                        <a:srgbClr val="E2E7F2"/>
                      </a:solidFill>
                    </a:lnT>
                    <a:lnB w="6350">
                      <a:solidFill>
                        <a:srgbClr val="E2E7F2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wrap="none"/>
                    <a:lstStyle/>
                    <a:p>
                      <a:pPr algn="r"/>
                      <a:r>
                        <a:rPr sz="750" b="0">
                          <a:solidFill>
                            <a:srgbClr val="595959"/>
                          </a:solidFill>
                          <a:latin typeface="Calibri"/>
                        </a:rPr>
                        <a:t>79</a:t>
                      </a:r>
                    </a:p>
                  </a:txBody>
                  <a:tcPr anchor="ctr" marL="27432" marR="27432" marT="4572" marB="4572">
                    <a:lnL w="6350">
                      <a:solidFill>
                        <a:srgbClr val="E2E7F2"/>
                      </a:solidFill>
                    </a:lnL>
                    <a:lnR w="6350">
                      <a:solidFill>
                        <a:srgbClr val="E2E7F2"/>
                      </a:solidFill>
                    </a:lnR>
                    <a:lnT w="6350">
                      <a:solidFill>
                        <a:srgbClr val="E2E7F2"/>
                      </a:solidFill>
                    </a:lnT>
                    <a:lnB w="6350">
                      <a:solidFill>
                        <a:srgbClr val="E2E7F2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wrap="none"/>
                    <a:lstStyle/>
                    <a:p>
                      <a:pPr algn="r"/>
                      <a:r>
                        <a:rPr sz="750" b="0">
                          <a:solidFill>
                            <a:srgbClr val="595959"/>
                          </a:solidFill>
                          <a:latin typeface="Calibri"/>
                        </a:rPr>
                        <a:t>578</a:t>
                      </a:r>
                    </a:p>
                  </a:txBody>
                  <a:tcPr anchor="ctr" marL="27432" marR="27432" marT="4572" marB="4572">
                    <a:lnL w="6350">
                      <a:solidFill>
                        <a:srgbClr val="E2E7F2"/>
                      </a:solidFill>
                    </a:lnL>
                    <a:lnR w="6350">
                      <a:solidFill>
                        <a:srgbClr val="E2E7F2"/>
                      </a:solidFill>
                    </a:lnR>
                    <a:lnT w="6350">
                      <a:solidFill>
                        <a:srgbClr val="E2E7F2"/>
                      </a:solidFill>
                    </a:lnT>
                    <a:lnB w="6350">
                      <a:solidFill>
                        <a:srgbClr val="E2E7F2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wrap="none"/>
                    <a:lstStyle/>
                    <a:p>
                      <a:pPr algn="r"/>
                      <a:r>
                        <a:rPr sz="750" b="0">
                          <a:solidFill>
                            <a:srgbClr val="595959"/>
                          </a:solidFill>
                          <a:latin typeface="Calibri"/>
                        </a:rPr>
                        <a:t>1%</a:t>
                      </a:r>
                    </a:p>
                  </a:txBody>
                  <a:tcPr anchor="ctr" marL="27432" marR="27432" marT="4572" marB="4572">
                    <a:lnL w="6350">
                      <a:solidFill>
                        <a:srgbClr val="E2E7F2"/>
                      </a:solidFill>
                    </a:lnL>
                    <a:lnR w="6350">
                      <a:solidFill>
                        <a:srgbClr val="E2E7F2"/>
                      </a:solidFill>
                    </a:lnR>
                    <a:lnT w="6350">
                      <a:solidFill>
                        <a:srgbClr val="E2E7F2"/>
                      </a:solidFill>
                    </a:lnT>
                    <a:lnB w="6350">
                      <a:solidFill>
                        <a:srgbClr val="E2E7F2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wrap="none"/>
                    <a:lstStyle/>
                    <a:p>
                      <a:pPr algn="l"/>
                      <a:r>
                        <a:rPr sz="750" b="0">
                          <a:solidFill>
                            <a:srgbClr val="26292E"/>
                          </a:solidFill>
                          <a:latin typeface="Calibri"/>
                        </a:rPr>
                        <a:t/>
                      </a:r>
                    </a:p>
                  </a:txBody>
                  <a:tcPr anchor="ctr" marL="27432" marR="27432" marT="4572" marB="4572">
                    <a:lnL w="6350">
                      <a:solidFill>
                        <a:srgbClr val="E2E7F2"/>
                      </a:solidFill>
                    </a:lnL>
                    <a:lnR w="6350">
                      <a:solidFill>
                        <a:srgbClr val="E2E7F2"/>
                      </a:solidFill>
                    </a:lnR>
                    <a:lnT w="6350">
                      <a:solidFill>
                        <a:srgbClr val="E2E7F2"/>
                      </a:solidFill>
                    </a:lnT>
                    <a:lnB w="6350">
                      <a:solidFill>
                        <a:srgbClr val="E2E7F2"/>
                      </a:solidFill>
                    </a:lnB>
                    <a:solidFill>
                      <a:srgbClr val="FFFFFF"/>
                    </a:solidFill>
                  </a:tcPr>
                </a:tc>
              </a:tr>
              <a:tr h="147174">
                <a:tc>
                  <a:txBody>
                    <a:bodyPr wrap="none"/>
                    <a:lstStyle/>
                    <a:p>
                      <a:pPr algn="l"/>
                      <a:r>
                        <a:rPr sz="750" b="1">
                          <a:solidFill>
                            <a:srgbClr val="26292E"/>
                          </a:solidFill>
                          <a:latin typeface="Calibri"/>
                        </a:rPr>
                        <a:t>Group Series</a:t>
                      </a:r>
                    </a:p>
                  </a:txBody>
                  <a:tcPr anchor="ctr" marL="27432" marR="27432" marT="4572" marB="4572">
                    <a:lnL w="6350">
                      <a:solidFill>
                        <a:srgbClr val="E2E7F2"/>
                      </a:solidFill>
                    </a:lnL>
                    <a:lnR w="6350">
                      <a:solidFill>
                        <a:srgbClr val="E2E7F2"/>
                      </a:solidFill>
                    </a:lnR>
                    <a:lnT w="6350">
                      <a:solidFill>
                        <a:srgbClr val="E2E7F2"/>
                      </a:solidFill>
                    </a:lnT>
                    <a:lnB w="6350">
                      <a:solidFill>
                        <a:srgbClr val="E2E7F2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wrap="none"/>
                    <a:lstStyle/>
                    <a:p>
                      <a:pPr algn="r"/>
                      <a:r>
                        <a:rPr sz="750" b="0">
                          <a:solidFill>
                            <a:srgbClr val="26292E"/>
                          </a:solidFill>
                          <a:latin typeface="Calibri"/>
                        </a:rPr>
                        <a:t>526</a:t>
                      </a:r>
                    </a:p>
                  </a:txBody>
                  <a:tcPr anchor="ctr" marL="27432" marR="27432" marT="4572" marB="4572">
                    <a:lnL w="6350">
                      <a:solidFill>
                        <a:srgbClr val="E2E7F2"/>
                      </a:solidFill>
                    </a:lnL>
                    <a:lnR w="6350">
                      <a:solidFill>
                        <a:srgbClr val="E2E7F2"/>
                      </a:solidFill>
                    </a:lnR>
                    <a:lnT w="6350">
                      <a:solidFill>
                        <a:srgbClr val="E2E7F2"/>
                      </a:solidFill>
                    </a:lnT>
                    <a:lnB w="6350">
                      <a:solidFill>
                        <a:srgbClr val="E2E7F2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wrap="none"/>
                    <a:lstStyle/>
                    <a:p>
                      <a:pPr algn="r"/>
                      <a:r>
                        <a:rPr sz="750" b="0">
                          <a:solidFill>
                            <a:srgbClr val="26292E"/>
                          </a:solidFill>
                          <a:latin typeface="Calibri"/>
                        </a:rPr>
                        <a:t>213</a:t>
                      </a:r>
                    </a:p>
                  </a:txBody>
                  <a:tcPr anchor="ctr" marL="27432" marR="27432" marT="4572" marB="4572">
                    <a:lnL w="6350">
                      <a:solidFill>
                        <a:srgbClr val="E2E7F2"/>
                      </a:solidFill>
                    </a:lnL>
                    <a:lnR w="6350">
                      <a:solidFill>
                        <a:srgbClr val="E2E7F2"/>
                      </a:solidFill>
                    </a:lnR>
                    <a:lnT w="6350">
                      <a:solidFill>
                        <a:srgbClr val="E2E7F2"/>
                      </a:solidFill>
                    </a:lnT>
                    <a:lnB w="6350">
                      <a:solidFill>
                        <a:srgbClr val="E2E7F2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wrap="none"/>
                    <a:lstStyle/>
                    <a:p>
                      <a:pPr algn="r"/>
                      <a:r>
                        <a:rPr sz="750" b="0">
                          <a:solidFill>
                            <a:srgbClr val="26292E"/>
                          </a:solidFill>
                          <a:latin typeface="Calibri"/>
                        </a:rPr>
                        <a:t>207</a:t>
                      </a:r>
                    </a:p>
                  </a:txBody>
                  <a:tcPr anchor="ctr" marL="27432" marR="27432" marT="4572" marB="4572">
                    <a:lnL w="6350">
                      <a:solidFill>
                        <a:srgbClr val="E2E7F2"/>
                      </a:solidFill>
                    </a:lnL>
                    <a:lnR w="6350">
                      <a:solidFill>
                        <a:srgbClr val="E2E7F2"/>
                      </a:solidFill>
                    </a:lnR>
                    <a:lnT w="6350">
                      <a:solidFill>
                        <a:srgbClr val="E2E7F2"/>
                      </a:solidFill>
                    </a:lnT>
                    <a:lnB w="6350">
                      <a:solidFill>
                        <a:srgbClr val="E2E7F2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wrap="none"/>
                    <a:lstStyle/>
                    <a:p>
                      <a:pPr algn="r"/>
                      <a:r>
                        <a:rPr sz="750" b="0">
                          <a:solidFill>
                            <a:srgbClr val="26292E"/>
                          </a:solidFill>
                          <a:latin typeface="Calibri"/>
                        </a:rPr>
                        <a:t>90</a:t>
                      </a:r>
                    </a:p>
                  </a:txBody>
                  <a:tcPr anchor="ctr" marL="27432" marR="27432" marT="4572" marB="4572">
                    <a:lnL w="6350">
                      <a:solidFill>
                        <a:srgbClr val="E2E7F2"/>
                      </a:solidFill>
                    </a:lnL>
                    <a:lnR w="6350">
                      <a:solidFill>
                        <a:srgbClr val="E2E7F2"/>
                      </a:solidFill>
                    </a:lnR>
                    <a:lnT w="6350">
                      <a:solidFill>
                        <a:srgbClr val="E2E7F2"/>
                      </a:solidFill>
                    </a:lnT>
                    <a:lnB w="6350">
                      <a:solidFill>
                        <a:srgbClr val="E2E7F2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wrap="none"/>
                    <a:lstStyle/>
                    <a:p>
                      <a:pPr algn="r"/>
                      <a:r>
                        <a:rPr sz="750" b="0">
                          <a:solidFill>
                            <a:srgbClr val="26292E"/>
                          </a:solidFill>
                          <a:latin typeface="Calibri"/>
                        </a:rPr>
                        <a:t>332</a:t>
                      </a:r>
                    </a:p>
                  </a:txBody>
                  <a:tcPr anchor="ctr" marL="27432" marR="27432" marT="4572" marB="4572">
                    <a:lnL w="6350">
                      <a:solidFill>
                        <a:srgbClr val="E2E7F2"/>
                      </a:solidFill>
                    </a:lnL>
                    <a:lnR w="6350">
                      <a:solidFill>
                        <a:srgbClr val="E2E7F2"/>
                      </a:solidFill>
                    </a:lnR>
                    <a:lnT w="6350">
                      <a:solidFill>
                        <a:srgbClr val="E2E7F2"/>
                      </a:solidFill>
                    </a:lnT>
                    <a:lnB w="6350">
                      <a:solidFill>
                        <a:srgbClr val="E2E7F2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wrap="none"/>
                    <a:lstStyle/>
                    <a:p>
                      <a:pPr algn="r"/>
                      <a:r>
                        <a:rPr sz="750" b="0">
                          <a:solidFill>
                            <a:srgbClr val="26292E"/>
                          </a:solidFill>
                          <a:latin typeface="Calibri"/>
                        </a:rPr>
                        <a:t>95</a:t>
                      </a:r>
                    </a:p>
                  </a:txBody>
                  <a:tcPr anchor="ctr" marL="27432" marR="27432" marT="4572" marB="4572">
                    <a:lnL w="6350">
                      <a:solidFill>
                        <a:srgbClr val="E2E7F2"/>
                      </a:solidFill>
                    </a:lnL>
                    <a:lnR w="6350">
                      <a:solidFill>
                        <a:srgbClr val="E2E7F2"/>
                      </a:solidFill>
                    </a:lnR>
                    <a:lnT w="6350">
                      <a:solidFill>
                        <a:srgbClr val="E2E7F2"/>
                      </a:solidFill>
                    </a:lnT>
                    <a:lnB w="6350">
                      <a:solidFill>
                        <a:srgbClr val="E2E7F2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wrap="none"/>
                    <a:lstStyle/>
                    <a:p>
                      <a:pPr algn="r"/>
                      <a:r>
                        <a:rPr sz="750" b="1">
                          <a:solidFill>
                            <a:srgbClr val="26292E"/>
                          </a:solidFill>
                          <a:latin typeface="Calibri"/>
                        </a:rPr>
                        <a:t>1,463</a:t>
                      </a:r>
                    </a:p>
                  </a:txBody>
                  <a:tcPr anchor="ctr" marL="27432" marR="27432" marT="4572" marB="4572">
                    <a:lnL w="6350">
                      <a:solidFill>
                        <a:srgbClr val="E2E7F2"/>
                      </a:solidFill>
                    </a:lnL>
                    <a:lnR w="6350">
                      <a:solidFill>
                        <a:srgbClr val="E2E7F2"/>
                      </a:solidFill>
                    </a:lnR>
                    <a:lnT w="6350">
                      <a:solidFill>
                        <a:srgbClr val="E2E7F2"/>
                      </a:solidFill>
                    </a:lnT>
                    <a:lnB w="6350">
                      <a:solidFill>
                        <a:srgbClr val="E2E7F2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wrap="none"/>
                    <a:lstStyle/>
                    <a:p>
                      <a:pPr algn="r"/>
                      <a:r>
                        <a:rPr sz="750" b="0">
                          <a:solidFill>
                            <a:srgbClr val="26292E"/>
                          </a:solidFill>
                          <a:latin typeface="Calibri"/>
                        </a:rPr>
                        <a:t>2%</a:t>
                      </a:r>
                    </a:p>
                  </a:txBody>
                  <a:tcPr anchor="ctr" marL="27432" marR="27432" marT="4572" marB="4572">
                    <a:lnL w="6350">
                      <a:solidFill>
                        <a:srgbClr val="E2E7F2"/>
                      </a:solidFill>
                    </a:lnL>
                    <a:lnR w="6350">
                      <a:solidFill>
                        <a:srgbClr val="E2E7F2"/>
                      </a:solidFill>
                    </a:lnR>
                    <a:lnT w="6350">
                      <a:solidFill>
                        <a:srgbClr val="E2E7F2"/>
                      </a:solidFill>
                    </a:lnT>
                    <a:lnB w="6350">
                      <a:solidFill>
                        <a:srgbClr val="E2E7F2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wrap="none"/>
                    <a:lstStyle/>
                    <a:p>
                      <a:pPr algn="r"/>
                      <a:r>
                        <a:rPr sz="750" b="1">
                          <a:solidFill>
                            <a:srgbClr val="C62828"/>
                          </a:solidFill>
                          <a:latin typeface="Calibri"/>
                        </a:rPr>
                        <a:t>-39%</a:t>
                      </a:r>
                    </a:p>
                  </a:txBody>
                  <a:tcPr anchor="ctr" marL="27432" marR="27432" marT="4572" marB="4572">
                    <a:lnL w="6350">
                      <a:solidFill>
                        <a:srgbClr val="E2E7F2"/>
                      </a:solidFill>
                    </a:lnL>
                    <a:lnR w="6350">
                      <a:solidFill>
                        <a:srgbClr val="E2E7F2"/>
                      </a:solidFill>
                    </a:lnR>
                    <a:lnT w="6350">
                      <a:solidFill>
                        <a:srgbClr val="E2E7F2"/>
                      </a:solidFill>
                    </a:lnT>
                    <a:lnB w="6350">
                      <a:solidFill>
                        <a:srgbClr val="E2E7F2"/>
                      </a:solidFill>
                    </a:lnB>
                    <a:solidFill>
                      <a:srgbClr val="FFFFFF"/>
                    </a:solidFill>
                  </a:tcPr>
                </a:tc>
              </a:tr>
              <a:tr h="147174">
                <a:tc>
                  <a:txBody>
                    <a:bodyPr wrap="none"/>
                    <a:lstStyle/>
                    <a:p>
                      <a:pPr algn="l"/>
                      <a:r>
                        <a:rPr sz="750" b="0">
                          <a:solidFill>
                            <a:srgbClr val="595959"/>
                          </a:solidFill>
                          <a:latin typeface="Calibri"/>
                        </a:rPr>
                        <a:t>   ’25</a:t>
                      </a:r>
                    </a:p>
                  </a:txBody>
                  <a:tcPr anchor="ctr" marL="27432" marR="27432" marT="4572" marB="4572">
                    <a:lnL w="6350">
                      <a:solidFill>
                        <a:srgbClr val="E2E7F2"/>
                      </a:solidFill>
                    </a:lnL>
                    <a:lnR w="6350">
                      <a:solidFill>
                        <a:srgbClr val="E2E7F2"/>
                      </a:solidFill>
                    </a:lnR>
                    <a:lnT w="6350">
                      <a:solidFill>
                        <a:srgbClr val="E2E7F2"/>
                      </a:solidFill>
                    </a:lnT>
                    <a:lnB w="6350">
                      <a:solidFill>
                        <a:srgbClr val="E2E7F2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wrap="none"/>
                    <a:lstStyle/>
                    <a:p>
                      <a:pPr algn="r"/>
                      <a:r>
                        <a:rPr sz="750" b="0">
                          <a:solidFill>
                            <a:srgbClr val="595959"/>
                          </a:solidFill>
                          <a:latin typeface="Calibri"/>
                        </a:rPr>
                        <a:t>590</a:t>
                      </a:r>
                    </a:p>
                  </a:txBody>
                  <a:tcPr anchor="ctr" marL="27432" marR="27432" marT="4572" marB="4572">
                    <a:lnL w="6350">
                      <a:solidFill>
                        <a:srgbClr val="E2E7F2"/>
                      </a:solidFill>
                    </a:lnL>
                    <a:lnR w="6350">
                      <a:solidFill>
                        <a:srgbClr val="E2E7F2"/>
                      </a:solidFill>
                    </a:lnR>
                    <a:lnT w="6350">
                      <a:solidFill>
                        <a:srgbClr val="E2E7F2"/>
                      </a:solidFill>
                    </a:lnT>
                    <a:lnB w="6350">
                      <a:solidFill>
                        <a:srgbClr val="E2E7F2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wrap="none"/>
                    <a:lstStyle/>
                    <a:p>
                      <a:pPr algn="r"/>
                      <a:r>
                        <a:rPr sz="750" b="0">
                          <a:solidFill>
                            <a:srgbClr val="595959"/>
                          </a:solidFill>
                          <a:latin typeface="Calibri"/>
                        </a:rPr>
                        <a:t>652</a:t>
                      </a:r>
                    </a:p>
                  </a:txBody>
                  <a:tcPr anchor="ctr" marL="27432" marR="27432" marT="4572" marB="4572">
                    <a:lnL w="6350">
                      <a:solidFill>
                        <a:srgbClr val="E2E7F2"/>
                      </a:solidFill>
                    </a:lnL>
                    <a:lnR w="6350">
                      <a:solidFill>
                        <a:srgbClr val="E2E7F2"/>
                      </a:solidFill>
                    </a:lnR>
                    <a:lnT w="6350">
                      <a:solidFill>
                        <a:srgbClr val="E2E7F2"/>
                      </a:solidFill>
                    </a:lnT>
                    <a:lnB w="6350">
                      <a:solidFill>
                        <a:srgbClr val="E2E7F2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wrap="none"/>
                    <a:lstStyle/>
                    <a:p>
                      <a:pPr algn="r"/>
                      <a:r>
                        <a:rPr sz="750" b="0">
                          <a:solidFill>
                            <a:srgbClr val="595959"/>
                          </a:solidFill>
                          <a:latin typeface="Calibri"/>
                        </a:rPr>
                        <a:t>679</a:t>
                      </a:r>
                    </a:p>
                  </a:txBody>
                  <a:tcPr anchor="ctr" marL="27432" marR="27432" marT="4572" marB="4572">
                    <a:lnL w="6350">
                      <a:solidFill>
                        <a:srgbClr val="E2E7F2"/>
                      </a:solidFill>
                    </a:lnL>
                    <a:lnR w="6350">
                      <a:solidFill>
                        <a:srgbClr val="E2E7F2"/>
                      </a:solidFill>
                    </a:lnR>
                    <a:lnT w="6350">
                      <a:solidFill>
                        <a:srgbClr val="E2E7F2"/>
                      </a:solidFill>
                    </a:lnT>
                    <a:lnB w="6350">
                      <a:solidFill>
                        <a:srgbClr val="E2E7F2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wrap="none"/>
                    <a:lstStyle/>
                    <a:p>
                      <a:pPr algn="r"/>
                      <a:r>
                        <a:rPr sz="750" b="0">
                          <a:solidFill>
                            <a:srgbClr val="595959"/>
                          </a:solidFill>
                          <a:latin typeface="Calibri"/>
                        </a:rPr>
                        <a:t>67</a:t>
                      </a:r>
                    </a:p>
                  </a:txBody>
                  <a:tcPr anchor="ctr" marL="27432" marR="27432" marT="4572" marB="4572">
                    <a:lnL w="6350">
                      <a:solidFill>
                        <a:srgbClr val="E2E7F2"/>
                      </a:solidFill>
                    </a:lnL>
                    <a:lnR w="6350">
                      <a:solidFill>
                        <a:srgbClr val="E2E7F2"/>
                      </a:solidFill>
                    </a:lnR>
                    <a:lnT w="6350">
                      <a:solidFill>
                        <a:srgbClr val="E2E7F2"/>
                      </a:solidFill>
                    </a:lnT>
                    <a:lnB w="6350">
                      <a:solidFill>
                        <a:srgbClr val="E2E7F2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wrap="none"/>
                    <a:lstStyle/>
                    <a:p>
                      <a:pPr algn="r"/>
                      <a:r>
                        <a:rPr sz="750" b="0">
                          <a:solidFill>
                            <a:srgbClr val="595959"/>
                          </a:solidFill>
                          <a:latin typeface="Calibri"/>
                        </a:rPr>
                        <a:t>195</a:t>
                      </a:r>
                    </a:p>
                  </a:txBody>
                  <a:tcPr anchor="ctr" marL="27432" marR="27432" marT="4572" marB="4572">
                    <a:lnL w="6350">
                      <a:solidFill>
                        <a:srgbClr val="E2E7F2"/>
                      </a:solidFill>
                    </a:lnL>
                    <a:lnR w="6350">
                      <a:solidFill>
                        <a:srgbClr val="E2E7F2"/>
                      </a:solidFill>
                    </a:lnR>
                    <a:lnT w="6350">
                      <a:solidFill>
                        <a:srgbClr val="E2E7F2"/>
                      </a:solidFill>
                    </a:lnT>
                    <a:lnB w="6350">
                      <a:solidFill>
                        <a:srgbClr val="E2E7F2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wrap="none"/>
                    <a:lstStyle/>
                    <a:p>
                      <a:pPr algn="r"/>
                      <a:r>
                        <a:rPr sz="750" b="0">
                          <a:solidFill>
                            <a:srgbClr val="595959"/>
                          </a:solidFill>
                          <a:latin typeface="Calibri"/>
                        </a:rPr>
                        <a:t>200</a:t>
                      </a:r>
                    </a:p>
                  </a:txBody>
                  <a:tcPr anchor="ctr" marL="27432" marR="27432" marT="4572" marB="4572">
                    <a:lnL w="6350">
                      <a:solidFill>
                        <a:srgbClr val="E2E7F2"/>
                      </a:solidFill>
                    </a:lnL>
                    <a:lnR w="6350">
                      <a:solidFill>
                        <a:srgbClr val="E2E7F2"/>
                      </a:solidFill>
                    </a:lnR>
                    <a:lnT w="6350">
                      <a:solidFill>
                        <a:srgbClr val="E2E7F2"/>
                      </a:solidFill>
                    </a:lnT>
                    <a:lnB w="6350">
                      <a:solidFill>
                        <a:srgbClr val="E2E7F2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wrap="none"/>
                    <a:lstStyle/>
                    <a:p>
                      <a:pPr algn="r"/>
                      <a:r>
                        <a:rPr sz="750" b="0">
                          <a:solidFill>
                            <a:srgbClr val="595959"/>
                          </a:solidFill>
                          <a:latin typeface="Calibri"/>
                        </a:rPr>
                        <a:t>2,383</a:t>
                      </a:r>
                    </a:p>
                  </a:txBody>
                  <a:tcPr anchor="ctr" marL="27432" marR="27432" marT="4572" marB="4572">
                    <a:lnL w="6350">
                      <a:solidFill>
                        <a:srgbClr val="E2E7F2"/>
                      </a:solidFill>
                    </a:lnL>
                    <a:lnR w="6350">
                      <a:solidFill>
                        <a:srgbClr val="E2E7F2"/>
                      </a:solidFill>
                    </a:lnR>
                    <a:lnT w="6350">
                      <a:solidFill>
                        <a:srgbClr val="E2E7F2"/>
                      </a:solidFill>
                    </a:lnT>
                    <a:lnB w="6350">
                      <a:solidFill>
                        <a:srgbClr val="E2E7F2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wrap="none"/>
                    <a:lstStyle/>
                    <a:p>
                      <a:pPr algn="r"/>
                      <a:r>
                        <a:rPr sz="750" b="0">
                          <a:solidFill>
                            <a:srgbClr val="595959"/>
                          </a:solidFill>
                          <a:latin typeface="Calibri"/>
                        </a:rPr>
                        <a:t>4%</a:t>
                      </a:r>
                    </a:p>
                  </a:txBody>
                  <a:tcPr anchor="ctr" marL="27432" marR="27432" marT="4572" marB="4572">
                    <a:lnL w="6350">
                      <a:solidFill>
                        <a:srgbClr val="E2E7F2"/>
                      </a:solidFill>
                    </a:lnL>
                    <a:lnR w="6350">
                      <a:solidFill>
                        <a:srgbClr val="E2E7F2"/>
                      </a:solidFill>
                    </a:lnR>
                    <a:lnT w="6350">
                      <a:solidFill>
                        <a:srgbClr val="E2E7F2"/>
                      </a:solidFill>
                    </a:lnT>
                    <a:lnB w="6350">
                      <a:solidFill>
                        <a:srgbClr val="E2E7F2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wrap="none"/>
                    <a:lstStyle/>
                    <a:p>
                      <a:pPr algn="l"/>
                      <a:r>
                        <a:rPr sz="750" b="0">
                          <a:solidFill>
                            <a:srgbClr val="26292E"/>
                          </a:solidFill>
                          <a:latin typeface="Calibri"/>
                        </a:rPr>
                        <a:t/>
                      </a:r>
                    </a:p>
                  </a:txBody>
                  <a:tcPr anchor="ctr" marL="27432" marR="27432" marT="4572" marB="4572">
                    <a:lnL w="6350">
                      <a:solidFill>
                        <a:srgbClr val="E2E7F2"/>
                      </a:solidFill>
                    </a:lnL>
                    <a:lnR w="6350">
                      <a:solidFill>
                        <a:srgbClr val="E2E7F2"/>
                      </a:solidFill>
                    </a:lnR>
                    <a:lnT w="6350">
                      <a:solidFill>
                        <a:srgbClr val="E2E7F2"/>
                      </a:solidFill>
                    </a:lnT>
                    <a:lnB w="6350">
                      <a:solidFill>
                        <a:srgbClr val="E2E7F2"/>
                      </a:solidFill>
                    </a:lnB>
                    <a:solidFill>
                      <a:srgbClr val="FFFFFF"/>
                    </a:solidFill>
                  </a:tcPr>
                </a:tc>
              </a:tr>
              <a:tr h="147174">
                <a:tc>
                  <a:txBody>
                    <a:bodyPr wrap="none"/>
                    <a:lstStyle/>
                    <a:p>
                      <a:pPr algn="l"/>
                      <a:r>
                        <a:rPr sz="750" b="1">
                          <a:solidFill>
                            <a:srgbClr val="26292E"/>
                          </a:solidFill>
                          <a:latin typeface="Calibri"/>
                        </a:rPr>
                        <a:t>Employee</a:t>
                      </a:r>
                    </a:p>
                  </a:txBody>
                  <a:tcPr anchor="ctr" marL="27432" marR="27432" marT="4572" marB="4572">
                    <a:lnL w="6350">
                      <a:solidFill>
                        <a:srgbClr val="E2E7F2"/>
                      </a:solidFill>
                    </a:lnL>
                    <a:lnR w="6350">
                      <a:solidFill>
                        <a:srgbClr val="E2E7F2"/>
                      </a:solidFill>
                    </a:lnR>
                    <a:lnT w="6350">
                      <a:solidFill>
                        <a:srgbClr val="E2E7F2"/>
                      </a:solidFill>
                    </a:lnT>
                    <a:lnB w="6350">
                      <a:solidFill>
                        <a:srgbClr val="E2E7F2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wrap="none"/>
                    <a:lstStyle/>
                    <a:p>
                      <a:pPr algn="r"/>
                      <a:r>
                        <a:rPr sz="750" b="0">
                          <a:solidFill>
                            <a:srgbClr val="26292E"/>
                          </a:solidFill>
                          <a:latin typeface="Calibri"/>
                        </a:rPr>
                        <a:t>1</a:t>
                      </a:r>
                    </a:p>
                  </a:txBody>
                  <a:tcPr anchor="ctr" marL="27432" marR="27432" marT="4572" marB="4572">
                    <a:lnL w="6350">
                      <a:solidFill>
                        <a:srgbClr val="E2E7F2"/>
                      </a:solidFill>
                    </a:lnL>
                    <a:lnR w="6350">
                      <a:solidFill>
                        <a:srgbClr val="E2E7F2"/>
                      </a:solidFill>
                    </a:lnR>
                    <a:lnT w="6350">
                      <a:solidFill>
                        <a:srgbClr val="E2E7F2"/>
                      </a:solidFill>
                    </a:lnT>
                    <a:lnB w="6350">
                      <a:solidFill>
                        <a:srgbClr val="E2E7F2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wrap="none"/>
                    <a:lstStyle/>
                    <a:p>
                      <a:pPr algn="r"/>
                      <a:r>
                        <a:rPr sz="750" b="0">
                          <a:solidFill>
                            <a:srgbClr val="26292E"/>
                          </a:solidFill>
                          <a:latin typeface="Calibri"/>
                        </a:rPr>
                        <a:t>–</a:t>
                      </a:r>
                    </a:p>
                  </a:txBody>
                  <a:tcPr anchor="ctr" marL="27432" marR="27432" marT="4572" marB="4572">
                    <a:lnL w="6350">
                      <a:solidFill>
                        <a:srgbClr val="E2E7F2"/>
                      </a:solidFill>
                    </a:lnL>
                    <a:lnR w="6350">
                      <a:solidFill>
                        <a:srgbClr val="E2E7F2"/>
                      </a:solidFill>
                    </a:lnR>
                    <a:lnT w="6350">
                      <a:solidFill>
                        <a:srgbClr val="E2E7F2"/>
                      </a:solidFill>
                    </a:lnT>
                    <a:lnB w="6350">
                      <a:solidFill>
                        <a:srgbClr val="E2E7F2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wrap="none"/>
                    <a:lstStyle/>
                    <a:p>
                      <a:pPr algn="r"/>
                      <a:r>
                        <a:rPr sz="750" b="0">
                          <a:solidFill>
                            <a:srgbClr val="26292E"/>
                          </a:solidFill>
                          <a:latin typeface="Calibri"/>
                        </a:rPr>
                        <a:t>25</a:t>
                      </a:r>
                    </a:p>
                  </a:txBody>
                  <a:tcPr anchor="ctr" marL="27432" marR="27432" marT="4572" marB="4572">
                    <a:lnL w="6350">
                      <a:solidFill>
                        <a:srgbClr val="E2E7F2"/>
                      </a:solidFill>
                    </a:lnL>
                    <a:lnR w="6350">
                      <a:solidFill>
                        <a:srgbClr val="E2E7F2"/>
                      </a:solidFill>
                    </a:lnR>
                    <a:lnT w="6350">
                      <a:solidFill>
                        <a:srgbClr val="E2E7F2"/>
                      </a:solidFill>
                    </a:lnT>
                    <a:lnB w="6350">
                      <a:solidFill>
                        <a:srgbClr val="E2E7F2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wrap="none"/>
                    <a:lstStyle/>
                    <a:p>
                      <a:pPr algn="r"/>
                      <a:r>
                        <a:rPr sz="750" b="0">
                          <a:solidFill>
                            <a:srgbClr val="26292E"/>
                          </a:solidFill>
                          <a:latin typeface="Calibri"/>
                        </a:rPr>
                        <a:t>–</a:t>
                      </a:r>
                    </a:p>
                  </a:txBody>
                  <a:tcPr anchor="ctr" marL="27432" marR="27432" marT="4572" marB="4572">
                    <a:lnL w="6350">
                      <a:solidFill>
                        <a:srgbClr val="E2E7F2"/>
                      </a:solidFill>
                    </a:lnL>
                    <a:lnR w="6350">
                      <a:solidFill>
                        <a:srgbClr val="E2E7F2"/>
                      </a:solidFill>
                    </a:lnR>
                    <a:lnT w="6350">
                      <a:solidFill>
                        <a:srgbClr val="E2E7F2"/>
                      </a:solidFill>
                    </a:lnT>
                    <a:lnB w="6350">
                      <a:solidFill>
                        <a:srgbClr val="E2E7F2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wrap="none"/>
                    <a:lstStyle/>
                    <a:p>
                      <a:pPr algn="r"/>
                      <a:r>
                        <a:rPr sz="750" b="0">
                          <a:solidFill>
                            <a:srgbClr val="26292E"/>
                          </a:solidFill>
                          <a:latin typeface="Calibri"/>
                        </a:rPr>
                        <a:t>4</a:t>
                      </a:r>
                    </a:p>
                  </a:txBody>
                  <a:tcPr anchor="ctr" marL="27432" marR="27432" marT="4572" marB="4572">
                    <a:lnL w="6350">
                      <a:solidFill>
                        <a:srgbClr val="E2E7F2"/>
                      </a:solidFill>
                    </a:lnL>
                    <a:lnR w="6350">
                      <a:solidFill>
                        <a:srgbClr val="E2E7F2"/>
                      </a:solidFill>
                    </a:lnR>
                    <a:lnT w="6350">
                      <a:solidFill>
                        <a:srgbClr val="E2E7F2"/>
                      </a:solidFill>
                    </a:lnT>
                    <a:lnB w="6350">
                      <a:solidFill>
                        <a:srgbClr val="E2E7F2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wrap="none"/>
                    <a:lstStyle/>
                    <a:p>
                      <a:pPr algn="r"/>
                      <a:r>
                        <a:rPr sz="750" b="0">
                          <a:solidFill>
                            <a:srgbClr val="26292E"/>
                          </a:solidFill>
                          <a:latin typeface="Calibri"/>
                        </a:rPr>
                        <a:t>4</a:t>
                      </a:r>
                    </a:p>
                  </a:txBody>
                  <a:tcPr anchor="ctr" marL="27432" marR="27432" marT="4572" marB="4572">
                    <a:lnL w="6350">
                      <a:solidFill>
                        <a:srgbClr val="E2E7F2"/>
                      </a:solidFill>
                    </a:lnL>
                    <a:lnR w="6350">
                      <a:solidFill>
                        <a:srgbClr val="E2E7F2"/>
                      </a:solidFill>
                    </a:lnR>
                    <a:lnT w="6350">
                      <a:solidFill>
                        <a:srgbClr val="E2E7F2"/>
                      </a:solidFill>
                    </a:lnT>
                    <a:lnB w="6350">
                      <a:solidFill>
                        <a:srgbClr val="E2E7F2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wrap="none"/>
                    <a:lstStyle/>
                    <a:p>
                      <a:pPr algn="r"/>
                      <a:r>
                        <a:rPr sz="750" b="1">
                          <a:solidFill>
                            <a:srgbClr val="26292E"/>
                          </a:solidFill>
                          <a:latin typeface="Calibri"/>
                        </a:rPr>
                        <a:t>34</a:t>
                      </a:r>
                    </a:p>
                  </a:txBody>
                  <a:tcPr anchor="ctr" marL="27432" marR="27432" marT="4572" marB="4572">
                    <a:lnL w="6350">
                      <a:solidFill>
                        <a:srgbClr val="E2E7F2"/>
                      </a:solidFill>
                    </a:lnL>
                    <a:lnR w="6350">
                      <a:solidFill>
                        <a:srgbClr val="E2E7F2"/>
                      </a:solidFill>
                    </a:lnR>
                    <a:lnT w="6350">
                      <a:solidFill>
                        <a:srgbClr val="E2E7F2"/>
                      </a:solidFill>
                    </a:lnT>
                    <a:lnB w="6350">
                      <a:solidFill>
                        <a:srgbClr val="E2E7F2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wrap="none"/>
                    <a:lstStyle/>
                    <a:p>
                      <a:pPr algn="r"/>
                      <a:r>
                        <a:rPr sz="750" b="0">
                          <a:solidFill>
                            <a:srgbClr val="26292E"/>
                          </a:solidFill>
                          <a:latin typeface="Calibri"/>
                        </a:rPr>
                        <a:t>0%</a:t>
                      </a:r>
                    </a:p>
                  </a:txBody>
                  <a:tcPr anchor="ctr" marL="27432" marR="27432" marT="4572" marB="4572">
                    <a:lnL w="6350">
                      <a:solidFill>
                        <a:srgbClr val="E2E7F2"/>
                      </a:solidFill>
                    </a:lnL>
                    <a:lnR w="6350">
                      <a:solidFill>
                        <a:srgbClr val="E2E7F2"/>
                      </a:solidFill>
                    </a:lnR>
                    <a:lnT w="6350">
                      <a:solidFill>
                        <a:srgbClr val="E2E7F2"/>
                      </a:solidFill>
                    </a:lnT>
                    <a:lnB w="6350">
                      <a:solidFill>
                        <a:srgbClr val="E2E7F2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wrap="none"/>
                    <a:lstStyle/>
                    <a:p>
                      <a:pPr algn="r"/>
                      <a:r>
                        <a:rPr sz="750" b="1">
                          <a:solidFill>
                            <a:srgbClr val="C62828"/>
                          </a:solidFill>
                          <a:latin typeface="Calibri"/>
                        </a:rPr>
                        <a:t>-6%</a:t>
                      </a:r>
                    </a:p>
                  </a:txBody>
                  <a:tcPr anchor="ctr" marL="27432" marR="27432" marT="4572" marB="4572">
                    <a:lnL w="6350">
                      <a:solidFill>
                        <a:srgbClr val="E2E7F2"/>
                      </a:solidFill>
                    </a:lnL>
                    <a:lnR w="6350">
                      <a:solidFill>
                        <a:srgbClr val="E2E7F2"/>
                      </a:solidFill>
                    </a:lnR>
                    <a:lnT w="6350">
                      <a:solidFill>
                        <a:srgbClr val="E2E7F2"/>
                      </a:solidFill>
                    </a:lnT>
                    <a:lnB w="6350">
                      <a:solidFill>
                        <a:srgbClr val="E2E7F2"/>
                      </a:solidFill>
                    </a:lnB>
                    <a:solidFill>
                      <a:srgbClr val="FFFFFF"/>
                    </a:solidFill>
                  </a:tcPr>
                </a:tc>
              </a:tr>
              <a:tr h="147174">
                <a:tc>
                  <a:txBody>
                    <a:bodyPr wrap="none"/>
                    <a:lstStyle/>
                    <a:p>
                      <a:pPr algn="l"/>
                      <a:r>
                        <a:rPr sz="750" b="0">
                          <a:solidFill>
                            <a:srgbClr val="595959"/>
                          </a:solidFill>
                          <a:latin typeface="Calibri"/>
                        </a:rPr>
                        <a:t>   ’25</a:t>
                      </a:r>
                    </a:p>
                  </a:txBody>
                  <a:tcPr anchor="ctr" marL="27432" marR="27432" marT="4572" marB="4572">
                    <a:lnL w="6350">
                      <a:solidFill>
                        <a:srgbClr val="E2E7F2"/>
                      </a:solidFill>
                    </a:lnL>
                    <a:lnR w="6350">
                      <a:solidFill>
                        <a:srgbClr val="E2E7F2"/>
                      </a:solidFill>
                    </a:lnR>
                    <a:lnT w="6350">
                      <a:solidFill>
                        <a:srgbClr val="E2E7F2"/>
                      </a:solidFill>
                    </a:lnT>
                    <a:lnB w="6350">
                      <a:solidFill>
                        <a:srgbClr val="E2E7F2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wrap="none"/>
                    <a:lstStyle/>
                    <a:p>
                      <a:pPr algn="r"/>
                      <a:r>
                        <a:rPr sz="750" b="0">
                          <a:solidFill>
                            <a:srgbClr val="595959"/>
                          </a:solidFill>
                          <a:latin typeface="Calibri"/>
                        </a:rPr>
                        <a:t>–</a:t>
                      </a:r>
                    </a:p>
                  </a:txBody>
                  <a:tcPr anchor="ctr" marL="27432" marR="27432" marT="4572" marB="4572">
                    <a:lnL w="6350">
                      <a:solidFill>
                        <a:srgbClr val="E2E7F2"/>
                      </a:solidFill>
                    </a:lnL>
                    <a:lnR w="6350">
                      <a:solidFill>
                        <a:srgbClr val="E2E7F2"/>
                      </a:solidFill>
                    </a:lnR>
                    <a:lnT w="6350">
                      <a:solidFill>
                        <a:srgbClr val="E2E7F2"/>
                      </a:solidFill>
                    </a:lnT>
                    <a:lnB w="6350">
                      <a:solidFill>
                        <a:srgbClr val="E2E7F2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wrap="none"/>
                    <a:lstStyle/>
                    <a:p>
                      <a:pPr algn="r"/>
                      <a:r>
                        <a:rPr sz="750" b="0">
                          <a:solidFill>
                            <a:srgbClr val="595959"/>
                          </a:solidFill>
                          <a:latin typeface="Calibri"/>
                        </a:rPr>
                        <a:t>3</a:t>
                      </a:r>
                    </a:p>
                  </a:txBody>
                  <a:tcPr anchor="ctr" marL="27432" marR="27432" marT="4572" marB="4572">
                    <a:lnL w="6350">
                      <a:solidFill>
                        <a:srgbClr val="E2E7F2"/>
                      </a:solidFill>
                    </a:lnL>
                    <a:lnR w="6350">
                      <a:solidFill>
                        <a:srgbClr val="E2E7F2"/>
                      </a:solidFill>
                    </a:lnR>
                    <a:lnT w="6350">
                      <a:solidFill>
                        <a:srgbClr val="E2E7F2"/>
                      </a:solidFill>
                    </a:lnT>
                    <a:lnB w="6350">
                      <a:solidFill>
                        <a:srgbClr val="E2E7F2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wrap="none"/>
                    <a:lstStyle/>
                    <a:p>
                      <a:pPr algn="r"/>
                      <a:r>
                        <a:rPr sz="750" b="0">
                          <a:solidFill>
                            <a:srgbClr val="595959"/>
                          </a:solidFill>
                          <a:latin typeface="Calibri"/>
                        </a:rPr>
                        <a:t>9</a:t>
                      </a:r>
                    </a:p>
                  </a:txBody>
                  <a:tcPr anchor="ctr" marL="27432" marR="27432" marT="4572" marB="4572">
                    <a:lnL w="6350">
                      <a:solidFill>
                        <a:srgbClr val="E2E7F2"/>
                      </a:solidFill>
                    </a:lnL>
                    <a:lnR w="6350">
                      <a:solidFill>
                        <a:srgbClr val="E2E7F2"/>
                      </a:solidFill>
                    </a:lnR>
                    <a:lnT w="6350">
                      <a:solidFill>
                        <a:srgbClr val="E2E7F2"/>
                      </a:solidFill>
                    </a:lnT>
                    <a:lnB w="6350">
                      <a:solidFill>
                        <a:srgbClr val="E2E7F2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wrap="none"/>
                    <a:lstStyle/>
                    <a:p>
                      <a:pPr algn="r"/>
                      <a:r>
                        <a:rPr sz="750" b="0">
                          <a:solidFill>
                            <a:srgbClr val="595959"/>
                          </a:solidFill>
                          <a:latin typeface="Calibri"/>
                        </a:rPr>
                        <a:t>18</a:t>
                      </a:r>
                    </a:p>
                  </a:txBody>
                  <a:tcPr anchor="ctr" marL="27432" marR="27432" marT="4572" marB="4572">
                    <a:lnL w="6350">
                      <a:solidFill>
                        <a:srgbClr val="E2E7F2"/>
                      </a:solidFill>
                    </a:lnL>
                    <a:lnR w="6350">
                      <a:solidFill>
                        <a:srgbClr val="E2E7F2"/>
                      </a:solidFill>
                    </a:lnR>
                    <a:lnT w="6350">
                      <a:solidFill>
                        <a:srgbClr val="E2E7F2"/>
                      </a:solidFill>
                    </a:lnT>
                    <a:lnB w="6350">
                      <a:solidFill>
                        <a:srgbClr val="E2E7F2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wrap="none"/>
                    <a:lstStyle/>
                    <a:p>
                      <a:pPr algn="r"/>
                      <a:r>
                        <a:rPr sz="750" b="0">
                          <a:solidFill>
                            <a:srgbClr val="595959"/>
                          </a:solidFill>
                          <a:latin typeface="Calibri"/>
                        </a:rPr>
                        <a:t>6</a:t>
                      </a:r>
                    </a:p>
                  </a:txBody>
                  <a:tcPr anchor="ctr" marL="27432" marR="27432" marT="4572" marB="4572">
                    <a:lnL w="6350">
                      <a:solidFill>
                        <a:srgbClr val="E2E7F2"/>
                      </a:solidFill>
                    </a:lnL>
                    <a:lnR w="6350">
                      <a:solidFill>
                        <a:srgbClr val="E2E7F2"/>
                      </a:solidFill>
                    </a:lnR>
                    <a:lnT w="6350">
                      <a:solidFill>
                        <a:srgbClr val="E2E7F2"/>
                      </a:solidFill>
                    </a:lnT>
                    <a:lnB w="6350">
                      <a:solidFill>
                        <a:srgbClr val="E2E7F2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wrap="none"/>
                    <a:lstStyle/>
                    <a:p>
                      <a:pPr algn="r"/>
                      <a:r>
                        <a:rPr sz="750" b="0">
                          <a:solidFill>
                            <a:srgbClr val="595959"/>
                          </a:solidFill>
                          <a:latin typeface="Calibri"/>
                        </a:rPr>
                        <a:t>–</a:t>
                      </a:r>
                    </a:p>
                  </a:txBody>
                  <a:tcPr anchor="ctr" marL="27432" marR="27432" marT="4572" marB="4572">
                    <a:lnL w="6350">
                      <a:solidFill>
                        <a:srgbClr val="E2E7F2"/>
                      </a:solidFill>
                    </a:lnL>
                    <a:lnR w="6350">
                      <a:solidFill>
                        <a:srgbClr val="E2E7F2"/>
                      </a:solidFill>
                    </a:lnR>
                    <a:lnT w="6350">
                      <a:solidFill>
                        <a:srgbClr val="E2E7F2"/>
                      </a:solidFill>
                    </a:lnT>
                    <a:lnB w="6350">
                      <a:solidFill>
                        <a:srgbClr val="E2E7F2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wrap="none"/>
                    <a:lstStyle/>
                    <a:p>
                      <a:pPr algn="r"/>
                      <a:r>
                        <a:rPr sz="750" b="0">
                          <a:solidFill>
                            <a:srgbClr val="595959"/>
                          </a:solidFill>
                          <a:latin typeface="Calibri"/>
                        </a:rPr>
                        <a:t>36</a:t>
                      </a:r>
                    </a:p>
                  </a:txBody>
                  <a:tcPr anchor="ctr" marL="27432" marR="27432" marT="4572" marB="4572">
                    <a:lnL w="6350">
                      <a:solidFill>
                        <a:srgbClr val="E2E7F2"/>
                      </a:solidFill>
                    </a:lnL>
                    <a:lnR w="6350">
                      <a:solidFill>
                        <a:srgbClr val="E2E7F2"/>
                      </a:solidFill>
                    </a:lnR>
                    <a:lnT w="6350">
                      <a:solidFill>
                        <a:srgbClr val="E2E7F2"/>
                      </a:solidFill>
                    </a:lnT>
                    <a:lnB w="6350">
                      <a:solidFill>
                        <a:srgbClr val="E2E7F2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wrap="none"/>
                    <a:lstStyle/>
                    <a:p>
                      <a:pPr algn="r"/>
                      <a:r>
                        <a:rPr sz="750" b="0">
                          <a:solidFill>
                            <a:srgbClr val="595959"/>
                          </a:solidFill>
                          <a:latin typeface="Calibri"/>
                        </a:rPr>
                        <a:t>0%</a:t>
                      </a:r>
                    </a:p>
                  </a:txBody>
                  <a:tcPr anchor="ctr" marL="27432" marR="27432" marT="4572" marB="4572">
                    <a:lnL w="6350">
                      <a:solidFill>
                        <a:srgbClr val="E2E7F2"/>
                      </a:solidFill>
                    </a:lnL>
                    <a:lnR w="6350">
                      <a:solidFill>
                        <a:srgbClr val="E2E7F2"/>
                      </a:solidFill>
                    </a:lnR>
                    <a:lnT w="6350">
                      <a:solidFill>
                        <a:srgbClr val="E2E7F2"/>
                      </a:solidFill>
                    </a:lnT>
                    <a:lnB w="6350">
                      <a:solidFill>
                        <a:srgbClr val="E2E7F2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wrap="none"/>
                    <a:lstStyle/>
                    <a:p>
                      <a:pPr algn="l"/>
                      <a:r>
                        <a:rPr sz="750" b="0">
                          <a:solidFill>
                            <a:srgbClr val="26292E"/>
                          </a:solidFill>
                          <a:latin typeface="Calibri"/>
                        </a:rPr>
                        <a:t/>
                      </a:r>
                    </a:p>
                  </a:txBody>
                  <a:tcPr anchor="ctr" marL="27432" marR="27432" marT="4572" marB="4572">
                    <a:lnL w="6350">
                      <a:solidFill>
                        <a:srgbClr val="E2E7F2"/>
                      </a:solidFill>
                    </a:lnL>
                    <a:lnR w="6350">
                      <a:solidFill>
                        <a:srgbClr val="E2E7F2"/>
                      </a:solidFill>
                    </a:lnR>
                    <a:lnT w="6350">
                      <a:solidFill>
                        <a:srgbClr val="E2E7F2"/>
                      </a:solidFill>
                    </a:lnT>
                    <a:lnB w="6350">
                      <a:solidFill>
                        <a:srgbClr val="E2E7F2"/>
                      </a:solidFill>
                    </a:lnB>
                    <a:solidFill>
                      <a:srgbClr val="FFFFFF"/>
                    </a:solidFill>
                  </a:tcPr>
                </a:tc>
              </a:tr>
              <a:tr h="147174">
                <a:tc>
                  <a:txBody>
                    <a:bodyPr wrap="none"/>
                    <a:lstStyle/>
                    <a:p>
                      <a:pPr algn="l"/>
                      <a:r>
                        <a:rPr sz="750" b="1">
                          <a:solidFill>
                            <a:srgbClr val="26292E"/>
                          </a:solidFill>
                          <a:latin typeface="Calibri"/>
                        </a:rPr>
                        <a:t>Total</a:t>
                      </a:r>
                    </a:p>
                  </a:txBody>
                  <a:tcPr anchor="ctr" marL="27432" marR="27432" marT="4572" marB="4572">
                    <a:lnL w="6350">
                      <a:solidFill>
                        <a:srgbClr val="E2E7F2"/>
                      </a:solidFill>
                    </a:lnL>
                    <a:lnR w="6350">
                      <a:solidFill>
                        <a:srgbClr val="E2E7F2"/>
                      </a:solidFill>
                    </a:lnR>
                    <a:lnT w="6350">
                      <a:solidFill>
                        <a:srgbClr val="E2E7F2"/>
                      </a:solidFill>
                    </a:lnT>
                    <a:lnB w="6350">
                      <a:solidFill>
                        <a:srgbClr val="E2E7F2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wrap="none"/>
                    <a:lstStyle/>
                    <a:p>
                      <a:pPr algn="r"/>
                      <a:r>
                        <a:rPr sz="750" b="1">
                          <a:solidFill>
                            <a:srgbClr val="26292E"/>
                          </a:solidFill>
                          <a:latin typeface="Calibri"/>
                        </a:rPr>
                        <a:t>12,099</a:t>
                      </a:r>
                    </a:p>
                  </a:txBody>
                  <a:tcPr anchor="ctr" marL="27432" marR="27432" marT="4572" marB="4572">
                    <a:lnL w="6350">
                      <a:solidFill>
                        <a:srgbClr val="E2E7F2"/>
                      </a:solidFill>
                    </a:lnL>
                    <a:lnR w="6350">
                      <a:solidFill>
                        <a:srgbClr val="E2E7F2"/>
                      </a:solidFill>
                    </a:lnR>
                    <a:lnT w="6350">
                      <a:solidFill>
                        <a:srgbClr val="E2E7F2"/>
                      </a:solidFill>
                    </a:lnT>
                    <a:lnB w="6350">
                      <a:solidFill>
                        <a:srgbClr val="E2E7F2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wrap="none"/>
                    <a:lstStyle/>
                    <a:p>
                      <a:pPr algn="r"/>
                      <a:r>
                        <a:rPr sz="750" b="1">
                          <a:solidFill>
                            <a:srgbClr val="26292E"/>
                          </a:solidFill>
                          <a:latin typeface="Calibri"/>
                        </a:rPr>
                        <a:t>11,275</a:t>
                      </a:r>
                    </a:p>
                  </a:txBody>
                  <a:tcPr anchor="ctr" marL="27432" marR="27432" marT="4572" marB="4572">
                    <a:lnL w="6350">
                      <a:solidFill>
                        <a:srgbClr val="E2E7F2"/>
                      </a:solidFill>
                    </a:lnL>
                    <a:lnR w="6350">
                      <a:solidFill>
                        <a:srgbClr val="E2E7F2"/>
                      </a:solidFill>
                    </a:lnR>
                    <a:lnT w="6350">
                      <a:solidFill>
                        <a:srgbClr val="E2E7F2"/>
                      </a:solidFill>
                    </a:lnT>
                    <a:lnB w="6350">
                      <a:solidFill>
                        <a:srgbClr val="E2E7F2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wrap="none"/>
                    <a:lstStyle/>
                    <a:p>
                      <a:pPr algn="r"/>
                      <a:r>
                        <a:rPr sz="750" b="1">
                          <a:solidFill>
                            <a:srgbClr val="26292E"/>
                          </a:solidFill>
                          <a:latin typeface="Calibri"/>
                        </a:rPr>
                        <a:t>11,030</a:t>
                      </a:r>
                    </a:p>
                  </a:txBody>
                  <a:tcPr anchor="ctr" marL="27432" marR="27432" marT="4572" marB="4572">
                    <a:lnL w="6350">
                      <a:solidFill>
                        <a:srgbClr val="E2E7F2"/>
                      </a:solidFill>
                    </a:lnL>
                    <a:lnR w="6350">
                      <a:solidFill>
                        <a:srgbClr val="E2E7F2"/>
                      </a:solidFill>
                    </a:lnR>
                    <a:lnT w="6350">
                      <a:solidFill>
                        <a:srgbClr val="E2E7F2"/>
                      </a:solidFill>
                    </a:lnT>
                    <a:lnB w="6350">
                      <a:solidFill>
                        <a:srgbClr val="E2E7F2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wrap="none"/>
                    <a:lstStyle/>
                    <a:p>
                      <a:pPr algn="r"/>
                      <a:r>
                        <a:rPr sz="750" b="1">
                          <a:solidFill>
                            <a:srgbClr val="26292E"/>
                          </a:solidFill>
                          <a:latin typeface="Calibri"/>
                        </a:rPr>
                        <a:t>10,210</a:t>
                      </a:r>
                    </a:p>
                  </a:txBody>
                  <a:tcPr anchor="ctr" marL="27432" marR="27432" marT="4572" marB="4572">
                    <a:lnL w="6350">
                      <a:solidFill>
                        <a:srgbClr val="E2E7F2"/>
                      </a:solidFill>
                    </a:lnL>
                    <a:lnR w="6350">
                      <a:solidFill>
                        <a:srgbClr val="E2E7F2"/>
                      </a:solidFill>
                    </a:lnR>
                    <a:lnT w="6350">
                      <a:solidFill>
                        <a:srgbClr val="E2E7F2"/>
                      </a:solidFill>
                    </a:lnT>
                    <a:lnB w="6350">
                      <a:solidFill>
                        <a:srgbClr val="E2E7F2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wrap="none"/>
                    <a:lstStyle/>
                    <a:p>
                      <a:pPr algn="r"/>
                      <a:r>
                        <a:rPr sz="750" b="1">
                          <a:solidFill>
                            <a:srgbClr val="26292E"/>
                          </a:solidFill>
                          <a:latin typeface="Calibri"/>
                        </a:rPr>
                        <a:t>10,342</a:t>
                      </a:r>
                    </a:p>
                  </a:txBody>
                  <a:tcPr anchor="ctr" marL="27432" marR="27432" marT="4572" marB="4572">
                    <a:lnL w="6350">
                      <a:solidFill>
                        <a:srgbClr val="E2E7F2"/>
                      </a:solidFill>
                    </a:lnL>
                    <a:lnR w="6350">
                      <a:solidFill>
                        <a:srgbClr val="E2E7F2"/>
                      </a:solidFill>
                    </a:lnR>
                    <a:lnT w="6350">
                      <a:solidFill>
                        <a:srgbClr val="E2E7F2"/>
                      </a:solidFill>
                    </a:lnT>
                    <a:lnB w="6350">
                      <a:solidFill>
                        <a:srgbClr val="E2E7F2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wrap="none"/>
                    <a:lstStyle/>
                    <a:p>
                      <a:pPr algn="r"/>
                      <a:r>
                        <a:rPr sz="750" b="1">
                          <a:solidFill>
                            <a:srgbClr val="26292E"/>
                          </a:solidFill>
                          <a:latin typeface="Calibri"/>
                        </a:rPr>
                        <a:t>10,219</a:t>
                      </a:r>
                    </a:p>
                  </a:txBody>
                  <a:tcPr anchor="ctr" marL="27432" marR="27432" marT="4572" marB="4572">
                    <a:lnL w="6350">
                      <a:solidFill>
                        <a:srgbClr val="E2E7F2"/>
                      </a:solidFill>
                    </a:lnL>
                    <a:lnR w="6350">
                      <a:solidFill>
                        <a:srgbClr val="E2E7F2"/>
                      </a:solidFill>
                    </a:lnR>
                    <a:lnT w="6350">
                      <a:solidFill>
                        <a:srgbClr val="E2E7F2"/>
                      </a:solidFill>
                    </a:lnT>
                    <a:lnB w="6350">
                      <a:solidFill>
                        <a:srgbClr val="E2E7F2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wrap="none"/>
                    <a:lstStyle/>
                    <a:p>
                      <a:pPr algn="r"/>
                      <a:r>
                        <a:rPr sz="750" b="1">
                          <a:solidFill>
                            <a:srgbClr val="26292E"/>
                          </a:solidFill>
                          <a:latin typeface="Calibri"/>
                        </a:rPr>
                        <a:t>65,175</a:t>
                      </a:r>
                    </a:p>
                  </a:txBody>
                  <a:tcPr anchor="ctr" marL="27432" marR="27432" marT="4572" marB="4572">
                    <a:lnL w="6350">
                      <a:solidFill>
                        <a:srgbClr val="E2E7F2"/>
                      </a:solidFill>
                    </a:lnL>
                    <a:lnR w="6350">
                      <a:solidFill>
                        <a:srgbClr val="E2E7F2"/>
                      </a:solidFill>
                    </a:lnR>
                    <a:lnT w="6350">
                      <a:solidFill>
                        <a:srgbClr val="E2E7F2"/>
                      </a:solidFill>
                    </a:lnT>
                    <a:lnB w="6350">
                      <a:solidFill>
                        <a:srgbClr val="E2E7F2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wrap="none"/>
                    <a:lstStyle/>
                    <a:p>
                      <a:pPr algn="r"/>
                      <a:r>
                        <a:rPr sz="750" b="0">
                          <a:solidFill>
                            <a:srgbClr val="26292E"/>
                          </a:solidFill>
                          <a:latin typeface="Calibri"/>
                        </a:rPr>
                        <a:t>100%</a:t>
                      </a:r>
                    </a:p>
                  </a:txBody>
                  <a:tcPr anchor="ctr" marL="27432" marR="27432" marT="4572" marB="4572">
                    <a:lnL w="6350">
                      <a:solidFill>
                        <a:srgbClr val="E2E7F2"/>
                      </a:solidFill>
                    </a:lnL>
                    <a:lnR w="6350">
                      <a:solidFill>
                        <a:srgbClr val="E2E7F2"/>
                      </a:solidFill>
                    </a:lnR>
                    <a:lnT w="6350">
                      <a:solidFill>
                        <a:srgbClr val="E2E7F2"/>
                      </a:solidFill>
                    </a:lnT>
                    <a:lnB w="6350">
                      <a:solidFill>
                        <a:srgbClr val="E2E7F2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wrap="none"/>
                    <a:lstStyle/>
                    <a:p>
                      <a:pPr algn="r"/>
                      <a:r>
                        <a:rPr sz="750" b="1">
                          <a:solidFill>
                            <a:srgbClr val="1E7B34"/>
                          </a:solidFill>
                          <a:latin typeface="Calibri"/>
                        </a:rPr>
                        <a:t>+5%</a:t>
                      </a:r>
                    </a:p>
                  </a:txBody>
                  <a:tcPr anchor="ctr" marL="27432" marR="27432" marT="4572" marB="4572">
                    <a:lnL w="6350">
                      <a:solidFill>
                        <a:srgbClr val="E2E7F2"/>
                      </a:solidFill>
                    </a:lnL>
                    <a:lnR w="6350">
                      <a:solidFill>
                        <a:srgbClr val="E2E7F2"/>
                      </a:solidFill>
                    </a:lnR>
                    <a:lnT w="6350">
                      <a:solidFill>
                        <a:srgbClr val="E2E7F2"/>
                      </a:solidFill>
                    </a:lnT>
                    <a:lnB w="6350">
                      <a:solidFill>
                        <a:srgbClr val="E2E7F2"/>
                      </a:solidFill>
                    </a:lnB>
                    <a:solidFill>
                      <a:srgbClr val="FFFFFF"/>
                    </a:solidFill>
                  </a:tcPr>
                </a:tc>
              </a:tr>
              <a:tr h="147174">
                <a:tc>
                  <a:txBody>
                    <a:bodyPr wrap="none"/>
                    <a:lstStyle/>
                    <a:p>
                      <a:pPr algn="l"/>
                      <a:r>
                        <a:rPr sz="750" b="0">
                          <a:solidFill>
                            <a:srgbClr val="595959"/>
                          </a:solidFill>
                          <a:latin typeface="Calibri"/>
                        </a:rPr>
                        <a:t>   ’25</a:t>
                      </a:r>
                    </a:p>
                  </a:txBody>
                  <a:tcPr anchor="ctr" marL="27432" marR="27432" marT="4572" marB="4572">
                    <a:lnL w="6350">
                      <a:solidFill>
                        <a:srgbClr val="E2E7F2"/>
                      </a:solidFill>
                    </a:lnL>
                    <a:lnR w="6350">
                      <a:solidFill>
                        <a:srgbClr val="E2E7F2"/>
                      </a:solidFill>
                    </a:lnR>
                    <a:lnT w="6350">
                      <a:solidFill>
                        <a:srgbClr val="E2E7F2"/>
                      </a:solidFill>
                    </a:lnT>
                    <a:lnB w="6350">
                      <a:solidFill>
                        <a:srgbClr val="E2E7F2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wrap="none"/>
                    <a:lstStyle/>
                    <a:p>
                      <a:pPr algn="r"/>
                      <a:r>
                        <a:rPr sz="750" b="0">
                          <a:solidFill>
                            <a:srgbClr val="595959"/>
                          </a:solidFill>
                          <a:latin typeface="Calibri"/>
                        </a:rPr>
                        <a:t>11,682</a:t>
                      </a:r>
                    </a:p>
                  </a:txBody>
                  <a:tcPr anchor="ctr" marL="27432" marR="27432" marT="4572" marB="4572">
                    <a:lnL w="6350">
                      <a:solidFill>
                        <a:srgbClr val="E2E7F2"/>
                      </a:solidFill>
                    </a:lnL>
                    <a:lnR w="6350">
                      <a:solidFill>
                        <a:srgbClr val="E2E7F2"/>
                      </a:solidFill>
                    </a:lnR>
                    <a:lnT w="6350">
                      <a:solidFill>
                        <a:srgbClr val="E2E7F2"/>
                      </a:solidFill>
                    </a:lnT>
                    <a:lnB w="6350">
                      <a:solidFill>
                        <a:srgbClr val="E2E7F2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wrap="none"/>
                    <a:lstStyle/>
                    <a:p>
                      <a:pPr algn="r"/>
                      <a:r>
                        <a:rPr sz="750" b="0">
                          <a:solidFill>
                            <a:srgbClr val="595959"/>
                          </a:solidFill>
                          <a:latin typeface="Calibri"/>
                        </a:rPr>
                        <a:t>10,932</a:t>
                      </a:r>
                    </a:p>
                  </a:txBody>
                  <a:tcPr anchor="ctr" marL="27432" marR="27432" marT="4572" marB="4572">
                    <a:lnL w="6350">
                      <a:solidFill>
                        <a:srgbClr val="E2E7F2"/>
                      </a:solidFill>
                    </a:lnL>
                    <a:lnR w="6350">
                      <a:solidFill>
                        <a:srgbClr val="E2E7F2"/>
                      </a:solidFill>
                    </a:lnR>
                    <a:lnT w="6350">
                      <a:solidFill>
                        <a:srgbClr val="E2E7F2"/>
                      </a:solidFill>
                    </a:lnT>
                    <a:lnB w="6350">
                      <a:solidFill>
                        <a:srgbClr val="E2E7F2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wrap="none"/>
                    <a:lstStyle/>
                    <a:p>
                      <a:pPr algn="r"/>
                      <a:r>
                        <a:rPr sz="750" b="0">
                          <a:solidFill>
                            <a:srgbClr val="595959"/>
                          </a:solidFill>
                          <a:latin typeface="Calibri"/>
                        </a:rPr>
                        <a:t>10,375</a:t>
                      </a:r>
                    </a:p>
                  </a:txBody>
                  <a:tcPr anchor="ctr" marL="27432" marR="27432" marT="4572" marB="4572">
                    <a:lnL w="6350">
                      <a:solidFill>
                        <a:srgbClr val="E2E7F2"/>
                      </a:solidFill>
                    </a:lnL>
                    <a:lnR w="6350">
                      <a:solidFill>
                        <a:srgbClr val="E2E7F2"/>
                      </a:solidFill>
                    </a:lnR>
                    <a:lnT w="6350">
                      <a:solidFill>
                        <a:srgbClr val="E2E7F2"/>
                      </a:solidFill>
                    </a:lnT>
                    <a:lnB w="6350">
                      <a:solidFill>
                        <a:srgbClr val="E2E7F2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wrap="none"/>
                    <a:lstStyle/>
                    <a:p>
                      <a:pPr algn="r"/>
                      <a:r>
                        <a:rPr sz="750" b="0">
                          <a:solidFill>
                            <a:srgbClr val="595959"/>
                          </a:solidFill>
                          <a:latin typeface="Calibri"/>
                        </a:rPr>
                        <a:t>8,952</a:t>
                      </a:r>
                    </a:p>
                  </a:txBody>
                  <a:tcPr anchor="ctr" marL="27432" marR="27432" marT="4572" marB="4572">
                    <a:lnL w="6350">
                      <a:solidFill>
                        <a:srgbClr val="E2E7F2"/>
                      </a:solidFill>
                    </a:lnL>
                    <a:lnR w="6350">
                      <a:solidFill>
                        <a:srgbClr val="E2E7F2"/>
                      </a:solidFill>
                    </a:lnR>
                    <a:lnT w="6350">
                      <a:solidFill>
                        <a:srgbClr val="E2E7F2"/>
                      </a:solidFill>
                    </a:lnT>
                    <a:lnB w="6350">
                      <a:solidFill>
                        <a:srgbClr val="E2E7F2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wrap="none"/>
                    <a:lstStyle/>
                    <a:p>
                      <a:pPr algn="r"/>
                      <a:r>
                        <a:rPr sz="750" b="0">
                          <a:solidFill>
                            <a:srgbClr val="595959"/>
                          </a:solidFill>
                          <a:latin typeface="Calibri"/>
                        </a:rPr>
                        <a:t>10,331</a:t>
                      </a:r>
                    </a:p>
                  </a:txBody>
                  <a:tcPr anchor="ctr" marL="27432" marR="27432" marT="4572" marB="4572">
                    <a:lnL w="6350">
                      <a:solidFill>
                        <a:srgbClr val="E2E7F2"/>
                      </a:solidFill>
                    </a:lnL>
                    <a:lnR w="6350">
                      <a:solidFill>
                        <a:srgbClr val="E2E7F2"/>
                      </a:solidFill>
                    </a:lnR>
                    <a:lnT w="6350">
                      <a:solidFill>
                        <a:srgbClr val="E2E7F2"/>
                      </a:solidFill>
                    </a:lnT>
                    <a:lnB w="6350">
                      <a:solidFill>
                        <a:srgbClr val="E2E7F2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wrap="none"/>
                    <a:lstStyle/>
                    <a:p>
                      <a:pPr algn="r"/>
                      <a:r>
                        <a:rPr sz="750" b="0">
                          <a:solidFill>
                            <a:srgbClr val="595959"/>
                          </a:solidFill>
                          <a:latin typeface="Calibri"/>
                        </a:rPr>
                        <a:t>9,829</a:t>
                      </a:r>
                    </a:p>
                  </a:txBody>
                  <a:tcPr anchor="ctr" marL="27432" marR="27432" marT="4572" marB="4572">
                    <a:lnL w="6350">
                      <a:solidFill>
                        <a:srgbClr val="E2E7F2"/>
                      </a:solidFill>
                    </a:lnL>
                    <a:lnR w="6350">
                      <a:solidFill>
                        <a:srgbClr val="E2E7F2"/>
                      </a:solidFill>
                    </a:lnR>
                    <a:lnT w="6350">
                      <a:solidFill>
                        <a:srgbClr val="E2E7F2"/>
                      </a:solidFill>
                    </a:lnT>
                    <a:lnB w="6350">
                      <a:solidFill>
                        <a:srgbClr val="E2E7F2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wrap="none"/>
                    <a:lstStyle/>
                    <a:p>
                      <a:pPr algn="r"/>
                      <a:r>
                        <a:rPr sz="750" b="0">
                          <a:solidFill>
                            <a:srgbClr val="595959"/>
                          </a:solidFill>
                          <a:latin typeface="Calibri"/>
                        </a:rPr>
                        <a:t>62,101</a:t>
                      </a:r>
                    </a:p>
                  </a:txBody>
                  <a:tcPr anchor="ctr" marL="27432" marR="27432" marT="4572" marB="4572">
                    <a:lnL w="6350">
                      <a:solidFill>
                        <a:srgbClr val="E2E7F2"/>
                      </a:solidFill>
                    </a:lnL>
                    <a:lnR w="6350">
                      <a:solidFill>
                        <a:srgbClr val="E2E7F2"/>
                      </a:solidFill>
                    </a:lnR>
                    <a:lnT w="6350">
                      <a:solidFill>
                        <a:srgbClr val="E2E7F2"/>
                      </a:solidFill>
                    </a:lnT>
                    <a:lnB w="6350">
                      <a:solidFill>
                        <a:srgbClr val="E2E7F2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wrap="none"/>
                    <a:lstStyle/>
                    <a:p>
                      <a:pPr algn="r"/>
                      <a:r>
                        <a:rPr sz="750" b="0">
                          <a:solidFill>
                            <a:srgbClr val="595959"/>
                          </a:solidFill>
                          <a:latin typeface="Calibri"/>
                        </a:rPr>
                        <a:t>100%</a:t>
                      </a:r>
                    </a:p>
                  </a:txBody>
                  <a:tcPr anchor="ctr" marL="27432" marR="27432" marT="4572" marB="4572">
                    <a:lnL w="6350">
                      <a:solidFill>
                        <a:srgbClr val="E2E7F2"/>
                      </a:solidFill>
                    </a:lnL>
                    <a:lnR w="6350">
                      <a:solidFill>
                        <a:srgbClr val="E2E7F2"/>
                      </a:solidFill>
                    </a:lnR>
                    <a:lnT w="6350">
                      <a:solidFill>
                        <a:srgbClr val="E2E7F2"/>
                      </a:solidFill>
                    </a:lnT>
                    <a:lnB w="6350">
                      <a:solidFill>
                        <a:srgbClr val="E2E7F2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wrap="none"/>
                    <a:lstStyle/>
                    <a:p>
                      <a:pPr algn="l"/>
                      <a:r>
                        <a:rPr sz="750" b="0">
                          <a:solidFill>
                            <a:srgbClr val="26292E"/>
                          </a:solidFill>
                          <a:latin typeface="Calibri"/>
                        </a:rPr>
                        <a:t/>
                      </a:r>
                    </a:p>
                  </a:txBody>
                  <a:tcPr anchor="ctr" marL="27432" marR="27432" marT="4572" marB="4572">
                    <a:lnL w="6350">
                      <a:solidFill>
                        <a:srgbClr val="E2E7F2"/>
                      </a:solidFill>
                    </a:lnL>
                    <a:lnR w="6350">
                      <a:solidFill>
                        <a:srgbClr val="E2E7F2"/>
                      </a:solidFill>
                    </a:lnR>
                    <a:lnT w="6350">
                      <a:solidFill>
                        <a:srgbClr val="E2E7F2"/>
                      </a:solidFill>
                    </a:lnT>
                    <a:lnB w="6350">
                      <a:solidFill>
                        <a:srgbClr val="E2E7F2"/>
                      </a:solidFill>
                    </a:lnB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</p:spTree>
  </p:cSld>
  <p:clrMapOvr>
    <a:masterClrMapping/>
  </p:clrMapOvr>
</p:sld>
</file>

<file path=ppt/slides/slide2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1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292608"/>
            <a:ext cx="8229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b="1" kern="0" spc="200" dirty="0">
                <a:solidFill>
                  <a:srgbClr val="D9A44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SECTION 4 · SOMERSET RAMA 9 BANGKOK (SR9)</a:t>
            </a:r>
            <a:endParaRPr lang="en-US" sz="1100" dirty="0"/>
          </a:p>
        </p:txBody>
      </p:sp>
      <p:sp>
        <p:nvSpPr>
          <p:cNvPr id="3" name="Text 1"/>
          <p:cNvSpPr/>
          <p:nvPr/>
        </p:nvSpPr>
        <p:spPr>
          <a:xfrm>
            <a:off x="548640" y="502920"/>
            <a:ext cx="11091672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800" b="1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Somerset Rama 9 Bangkok (SR9) — ADR by segment (฿ / room night)</a:t>
            </a:r>
            <a:endParaRPr lang="en-US" sz="2800" dirty="0"/>
          </a:p>
        </p:txBody>
      </p:sp>
      <p:sp>
        <p:nvSpPr>
          <p:cNvPr id="4" name="Text 2"/>
          <p:cNvSpPr/>
          <p:nvPr/>
        </p:nvSpPr>
        <p:spPr>
          <a:xfrm>
            <a:off x="548640" y="1060704"/>
            <a:ext cx="11091672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5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ADR = segment revenue ÷ segment room nights · monthly 2026 vs 2025 (gray) · H1 = Jan–Jun · Chg % = H1 2026 vs H1 2025</a:t>
            </a:r>
            <a:endParaRPr lang="en-US" sz="1250" dirty="0"/>
          </a:p>
        </p:txBody>
      </p:sp>
      <p:sp>
        <p:nvSpPr>
          <p:cNvPr id="5" name="Text 3"/>
          <p:cNvSpPr/>
          <p:nvPr/>
        </p:nvSpPr>
        <p:spPr>
          <a:xfrm>
            <a:off x="8165592" y="310896"/>
            <a:ext cx="34747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90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Mitsui Thailand Portfolio · H1 2026</a:t>
            </a:r>
            <a:endParaRPr lang="en-US" sz="900" dirty="0"/>
          </a:p>
        </p:txBody>
      </p:sp>
      <p:sp>
        <p:nvSpPr>
          <p:cNvPr id="8" name="Text 4"/>
          <p:cNvSpPr/>
          <p:nvPr/>
        </p:nvSpPr>
        <p:spPr>
          <a:xfrm>
            <a:off x="548640" y="6400800"/>
            <a:ext cx="10881360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50" i="1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</a:t>
            </a:r>
            <a:endParaRPr lang="en-US" sz="1050" dirty="0"/>
          </a:p>
        </p:txBody>
      </p:sp>
      <p:graphicFrame>
        <p:nvGraphicFramePr>
          <p:cNvPr id="9" name="Table 8"/>
          <p:cNvGraphicFramePr>
            <a:graphicFrameLocks noGrp="1"/>
          </p:cNvGraphicFramePr>
          <p:nvPr/>
        </p:nvGraphicFramePr>
        <p:xfrm>
          <a:off x="548640" y="1645920"/>
          <a:ext cx="11091672" cy="4512564"/>
        </p:xfrm>
        <a:graphic>
          <a:graphicData uri="http://schemas.openxmlformats.org/drawingml/2006/table">
            <a:tbl>
              <a:tblPr>
                <a:tableStyleId>{5C22544A-7EE6-4342-B048-85BDC9FD1C3A}</a:tableStyleId>
              </a:tblPr>
              <a:tblGrid>
                <a:gridCol w="1737360"/>
                <a:gridCol w="1234440"/>
                <a:gridCol w="1234440"/>
                <a:gridCol w="1234440"/>
                <a:gridCol w="1234440"/>
                <a:gridCol w="1234440"/>
                <a:gridCol w="1234440"/>
                <a:gridCol w="960120"/>
                <a:gridCol w="987552"/>
              </a:tblGrid>
              <a:tr h="214884">
                <a:tc>
                  <a:txBody>
                    <a:bodyPr wrap="none"/>
                    <a:lstStyle/>
                    <a:p>
                      <a:pPr algn="l"/>
                      <a:r>
                        <a:rPr sz="850" b="1">
                          <a:solidFill>
                            <a:srgbClr val="FFFFFF"/>
                          </a:solidFill>
                          <a:latin typeface="Calibri"/>
                        </a:rPr>
                        <a:t>Segment</a:t>
                      </a:r>
                    </a:p>
                  </a:txBody>
                  <a:tcPr anchor="ctr" marL="27432" marR="27432" marT="4572" marB="4572">
                    <a:lnL w="6350">
                      <a:solidFill>
                        <a:srgbClr val="E2E7F2"/>
                      </a:solidFill>
                    </a:lnL>
                    <a:lnR w="6350">
                      <a:solidFill>
                        <a:srgbClr val="E2E7F2"/>
                      </a:solidFill>
                    </a:lnR>
                    <a:lnT w="6350">
                      <a:solidFill>
                        <a:srgbClr val="E2E7F2"/>
                      </a:solidFill>
                    </a:lnT>
                    <a:lnB w="6350">
                      <a:solidFill>
                        <a:srgbClr val="E2E7F2"/>
                      </a:solidFill>
                    </a:lnB>
                    <a:solidFill>
                      <a:srgbClr val="1E2761"/>
                    </a:solidFill>
                  </a:tcPr>
                </a:tc>
                <a:tc>
                  <a:txBody>
                    <a:bodyPr wrap="none"/>
                    <a:lstStyle/>
                    <a:p>
                      <a:pPr algn="r"/>
                      <a:r>
                        <a:rPr sz="850" b="1">
                          <a:solidFill>
                            <a:srgbClr val="FFFFFF"/>
                          </a:solidFill>
                          <a:latin typeface="Calibri"/>
                        </a:rPr>
                        <a:t>Jan</a:t>
                      </a:r>
                    </a:p>
                  </a:txBody>
                  <a:tcPr anchor="ctr" marL="27432" marR="27432" marT="4572" marB="4572">
                    <a:lnL w="6350">
                      <a:solidFill>
                        <a:srgbClr val="E2E7F2"/>
                      </a:solidFill>
                    </a:lnL>
                    <a:lnR w="6350">
                      <a:solidFill>
                        <a:srgbClr val="E2E7F2"/>
                      </a:solidFill>
                    </a:lnR>
                    <a:lnT w="6350">
                      <a:solidFill>
                        <a:srgbClr val="E2E7F2"/>
                      </a:solidFill>
                    </a:lnT>
                    <a:lnB w="6350">
                      <a:solidFill>
                        <a:srgbClr val="E2E7F2"/>
                      </a:solidFill>
                    </a:lnB>
                    <a:solidFill>
                      <a:srgbClr val="1E2761"/>
                    </a:solidFill>
                  </a:tcPr>
                </a:tc>
                <a:tc>
                  <a:txBody>
                    <a:bodyPr wrap="none"/>
                    <a:lstStyle/>
                    <a:p>
                      <a:pPr algn="r"/>
                      <a:r>
                        <a:rPr sz="850" b="1">
                          <a:solidFill>
                            <a:srgbClr val="FFFFFF"/>
                          </a:solidFill>
                          <a:latin typeface="Calibri"/>
                        </a:rPr>
                        <a:t>Feb</a:t>
                      </a:r>
                    </a:p>
                  </a:txBody>
                  <a:tcPr anchor="ctr" marL="27432" marR="27432" marT="4572" marB="4572">
                    <a:lnL w="6350">
                      <a:solidFill>
                        <a:srgbClr val="E2E7F2"/>
                      </a:solidFill>
                    </a:lnL>
                    <a:lnR w="6350">
                      <a:solidFill>
                        <a:srgbClr val="E2E7F2"/>
                      </a:solidFill>
                    </a:lnR>
                    <a:lnT w="6350">
                      <a:solidFill>
                        <a:srgbClr val="E2E7F2"/>
                      </a:solidFill>
                    </a:lnT>
                    <a:lnB w="6350">
                      <a:solidFill>
                        <a:srgbClr val="E2E7F2"/>
                      </a:solidFill>
                    </a:lnB>
                    <a:solidFill>
                      <a:srgbClr val="1E2761"/>
                    </a:solidFill>
                  </a:tcPr>
                </a:tc>
                <a:tc>
                  <a:txBody>
                    <a:bodyPr wrap="none"/>
                    <a:lstStyle/>
                    <a:p>
                      <a:pPr algn="r"/>
                      <a:r>
                        <a:rPr sz="850" b="1">
                          <a:solidFill>
                            <a:srgbClr val="FFFFFF"/>
                          </a:solidFill>
                          <a:latin typeface="Calibri"/>
                        </a:rPr>
                        <a:t>Mar</a:t>
                      </a:r>
                    </a:p>
                  </a:txBody>
                  <a:tcPr anchor="ctr" marL="27432" marR="27432" marT="4572" marB="4572">
                    <a:lnL w="6350">
                      <a:solidFill>
                        <a:srgbClr val="E2E7F2"/>
                      </a:solidFill>
                    </a:lnL>
                    <a:lnR w="6350">
                      <a:solidFill>
                        <a:srgbClr val="E2E7F2"/>
                      </a:solidFill>
                    </a:lnR>
                    <a:lnT w="6350">
                      <a:solidFill>
                        <a:srgbClr val="E2E7F2"/>
                      </a:solidFill>
                    </a:lnT>
                    <a:lnB w="6350">
                      <a:solidFill>
                        <a:srgbClr val="E2E7F2"/>
                      </a:solidFill>
                    </a:lnB>
                    <a:solidFill>
                      <a:srgbClr val="1E2761"/>
                    </a:solidFill>
                  </a:tcPr>
                </a:tc>
                <a:tc>
                  <a:txBody>
                    <a:bodyPr wrap="none"/>
                    <a:lstStyle/>
                    <a:p>
                      <a:pPr algn="r"/>
                      <a:r>
                        <a:rPr sz="850" b="1">
                          <a:solidFill>
                            <a:srgbClr val="FFFFFF"/>
                          </a:solidFill>
                          <a:latin typeface="Calibri"/>
                        </a:rPr>
                        <a:t>Apr</a:t>
                      </a:r>
                    </a:p>
                  </a:txBody>
                  <a:tcPr anchor="ctr" marL="27432" marR="27432" marT="4572" marB="4572">
                    <a:lnL w="6350">
                      <a:solidFill>
                        <a:srgbClr val="E2E7F2"/>
                      </a:solidFill>
                    </a:lnL>
                    <a:lnR w="6350">
                      <a:solidFill>
                        <a:srgbClr val="E2E7F2"/>
                      </a:solidFill>
                    </a:lnR>
                    <a:lnT w="6350">
                      <a:solidFill>
                        <a:srgbClr val="E2E7F2"/>
                      </a:solidFill>
                    </a:lnT>
                    <a:lnB w="6350">
                      <a:solidFill>
                        <a:srgbClr val="E2E7F2"/>
                      </a:solidFill>
                    </a:lnB>
                    <a:solidFill>
                      <a:srgbClr val="1E2761"/>
                    </a:solidFill>
                  </a:tcPr>
                </a:tc>
                <a:tc>
                  <a:txBody>
                    <a:bodyPr wrap="none"/>
                    <a:lstStyle/>
                    <a:p>
                      <a:pPr algn="r"/>
                      <a:r>
                        <a:rPr sz="850" b="1">
                          <a:solidFill>
                            <a:srgbClr val="FFFFFF"/>
                          </a:solidFill>
                          <a:latin typeface="Calibri"/>
                        </a:rPr>
                        <a:t>May</a:t>
                      </a:r>
                    </a:p>
                  </a:txBody>
                  <a:tcPr anchor="ctr" marL="27432" marR="27432" marT="4572" marB="4572">
                    <a:lnL w="6350">
                      <a:solidFill>
                        <a:srgbClr val="E2E7F2"/>
                      </a:solidFill>
                    </a:lnL>
                    <a:lnR w="6350">
                      <a:solidFill>
                        <a:srgbClr val="E2E7F2"/>
                      </a:solidFill>
                    </a:lnR>
                    <a:lnT w="6350">
                      <a:solidFill>
                        <a:srgbClr val="E2E7F2"/>
                      </a:solidFill>
                    </a:lnT>
                    <a:lnB w="6350">
                      <a:solidFill>
                        <a:srgbClr val="E2E7F2"/>
                      </a:solidFill>
                    </a:lnB>
                    <a:solidFill>
                      <a:srgbClr val="1E2761"/>
                    </a:solidFill>
                  </a:tcPr>
                </a:tc>
                <a:tc>
                  <a:txBody>
                    <a:bodyPr wrap="none"/>
                    <a:lstStyle/>
                    <a:p>
                      <a:pPr algn="r"/>
                      <a:r>
                        <a:rPr sz="850" b="1">
                          <a:solidFill>
                            <a:srgbClr val="FFFFFF"/>
                          </a:solidFill>
                          <a:latin typeface="Calibri"/>
                        </a:rPr>
                        <a:t>Jun</a:t>
                      </a:r>
                    </a:p>
                  </a:txBody>
                  <a:tcPr anchor="ctr" marL="27432" marR="27432" marT="4572" marB="4572">
                    <a:lnL w="6350">
                      <a:solidFill>
                        <a:srgbClr val="E2E7F2"/>
                      </a:solidFill>
                    </a:lnL>
                    <a:lnR w="6350">
                      <a:solidFill>
                        <a:srgbClr val="E2E7F2"/>
                      </a:solidFill>
                    </a:lnR>
                    <a:lnT w="6350">
                      <a:solidFill>
                        <a:srgbClr val="E2E7F2"/>
                      </a:solidFill>
                    </a:lnT>
                    <a:lnB w="6350">
                      <a:solidFill>
                        <a:srgbClr val="E2E7F2"/>
                      </a:solidFill>
                    </a:lnB>
                    <a:solidFill>
                      <a:srgbClr val="1E2761"/>
                    </a:solidFill>
                  </a:tcPr>
                </a:tc>
                <a:tc>
                  <a:txBody>
                    <a:bodyPr wrap="none"/>
                    <a:lstStyle/>
                    <a:p>
                      <a:pPr algn="r"/>
                      <a:r>
                        <a:rPr sz="850" b="1">
                          <a:solidFill>
                            <a:srgbClr val="FFFFFF"/>
                          </a:solidFill>
                          <a:latin typeface="Calibri"/>
                        </a:rPr>
                        <a:t>H1</a:t>
                      </a:r>
                    </a:p>
                  </a:txBody>
                  <a:tcPr anchor="ctr" marL="27432" marR="27432" marT="4572" marB="4572">
                    <a:lnL w="6350">
                      <a:solidFill>
                        <a:srgbClr val="E2E7F2"/>
                      </a:solidFill>
                    </a:lnL>
                    <a:lnR w="6350">
                      <a:solidFill>
                        <a:srgbClr val="E2E7F2"/>
                      </a:solidFill>
                    </a:lnR>
                    <a:lnT w="6350">
                      <a:solidFill>
                        <a:srgbClr val="E2E7F2"/>
                      </a:solidFill>
                    </a:lnT>
                    <a:lnB w="6350">
                      <a:solidFill>
                        <a:srgbClr val="E2E7F2"/>
                      </a:solidFill>
                    </a:lnB>
                    <a:solidFill>
                      <a:srgbClr val="1E2761"/>
                    </a:solidFill>
                  </a:tcPr>
                </a:tc>
                <a:tc>
                  <a:txBody>
                    <a:bodyPr wrap="none"/>
                    <a:lstStyle/>
                    <a:p>
                      <a:pPr algn="r"/>
                      <a:r>
                        <a:rPr sz="850" b="1">
                          <a:solidFill>
                            <a:srgbClr val="FFFFFF"/>
                          </a:solidFill>
                          <a:latin typeface="Calibri"/>
                        </a:rPr>
                        <a:t>Chg %</a:t>
                      </a:r>
                    </a:p>
                  </a:txBody>
                  <a:tcPr anchor="ctr" marL="27432" marR="27432" marT="4572" marB="4572">
                    <a:lnL w="6350">
                      <a:solidFill>
                        <a:srgbClr val="E2E7F2"/>
                      </a:solidFill>
                    </a:lnL>
                    <a:lnR w="6350">
                      <a:solidFill>
                        <a:srgbClr val="E2E7F2"/>
                      </a:solidFill>
                    </a:lnR>
                    <a:lnT w="6350">
                      <a:solidFill>
                        <a:srgbClr val="E2E7F2"/>
                      </a:solidFill>
                    </a:lnT>
                    <a:lnB w="6350">
                      <a:solidFill>
                        <a:srgbClr val="E2E7F2"/>
                      </a:solidFill>
                    </a:lnB>
                    <a:solidFill>
                      <a:srgbClr val="1E2761"/>
                    </a:solidFill>
                  </a:tcPr>
                </a:tc>
              </a:tr>
              <a:tr h="214884">
                <a:tc>
                  <a:txBody>
                    <a:bodyPr wrap="none"/>
                    <a:lstStyle/>
                    <a:p>
                      <a:pPr algn="l"/>
                      <a:r>
                        <a:rPr sz="850" b="1">
                          <a:solidFill>
                            <a:srgbClr val="26292E"/>
                          </a:solidFill>
                          <a:latin typeface="Calibri"/>
                        </a:rPr>
                        <a:t>Corporate SS</a:t>
                      </a:r>
                    </a:p>
                  </a:txBody>
                  <a:tcPr anchor="ctr" marL="27432" marR="27432" marT="4572" marB="4572">
                    <a:lnL w="6350">
                      <a:solidFill>
                        <a:srgbClr val="E2E7F2"/>
                      </a:solidFill>
                    </a:lnL>
                    <a:lnR w="6350">
                      <a:solidFill>
                        <a:srgbClr val="E2E7F2"/>
                      </a:solidFill>
                    </a:lnR>
                    <a:lnT w="6350">
                      <a:solidFill>
                        <a:srgbClr val="E2E7F2"/>
                      </a:solidFill>
                    </a:lnT>
                    <a:lnB w="6350">
                      <a:solidFill>
                        <a:srgbClr val="E2E7F2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wrap="none"/>
                    <a:lstStyle/>
                    <a:p>
                      <a:pPr algn="r"/>
                      <a:r>
                        <a:rPr sz="850" b="0">
                          <a:solidFill>
                            <a:srgbClr val="26292E"/>
                          </a:solidFill>
                          <a:latin typeface="Calibri"/>
                        </a:rPr>
                        <a:t>2,483</a:t>
                      </a:r>
                    </a:p>
                  </a:txBody>
                  <a:tcPr anchor="ctr" marL="27432" marR="27432" marT="4572" marB="4572">
                    <a:lnL w="6350">
                      <a:solidFill>
                        <a:srgbClr val="E2E7F2"/>
                      </a:solidFill>
                    </a:lnL>
                    <a:lnR w="6350">
                      <a:solidFill>
                        <a:srgbClr val="E2E7F2"/>
                      </a:solidFill>
                    </a:lnR>
                    <a:lnT w="6350">
                      <a:solidFill>
                        <a:srgbClr val="E2E7F2"/>
                      </a:solidFill>
                    </a:lnT>
                    <a:lnB w="6350">
                      <a:solidFill>
                        <a:srgbClr val="E2E7F2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wrap="none"/>
                    <a:lstStyle/>
                    <a:p>
                      <a:pPr algn="r"/>
                      <a:r>
                        <a:rPr sz="850" b="0">
                          <a:solidFill>
                            <a:srgbClr val="26292E"/>
                          </a:solidFill>
                          <a:latin typeface="Calibri"/>
                        </a:rPr>
                        <a:t>2,484</a:t>
                      </a:r>
                    </a:p>
                  </a:txBody>
                  <a:tcPr anchor="ctr" marL="27432" marR="27432" marT="4572" marB="4572">
                    <a:lnL w="6350">
                      <a:solidFill>
                        <a:srgbClr val="E2E7F2"/>
                      </a:solidFill>
                    </a:lnL>
                    <a:lnR w="6350">
                      <a:solidFill>
                        <a:srgbClr val="E2E7F2"/>
                      </a:solidFill>
                    </a:lnR>
                    <a:lnT w="6350">
                      <a:solidFill>
                        <a:srgbClr val="E2E7F2"/>
                      </a:solidFill>
                    </a:lnT>
                    <a:lnB w="6350">
                      <a:solidFill>
                        <a:srgbClr val="E2E7F2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wrap="none"/>
                    <a:lstStyle/>
                    <a:p>
                      <a:pPr algn="r"/>
                      <a:r>
                        <a:rPr sz="850" b="0">
                          <a:solidFill>
                            <a:srgbClr val="26292E"/>
                          </a:solidFill>
                          <a:latin typeface="Calibri"/>
                        </a:rPr>
                        <a:t>2,378</a:t>
                      </a:r>
                    </a:p>
                  </a:txBody>
                  <a:tcPr anchor="ctr" marL="27432" marR="27432" marT="4572" marB="4572">
                    <a:lnL w="6350">
                      <a:solidFill>
                        <a:srgbClr val="E2E7F2"/>
                      </a:solidFill>
                    </a:lnL>
                    <a:lnR w="6350">
                      <a:solidFill>
                        <a:srgbClr val="E2E7F2"/>
                      </a:solidFill>
                    </a:lnR>
                    <a:lnT w="6350">
                      <a:solidFill>
                        <a:srgbClr val="E2E7F2"/>
                      </a:solidFill>
                    </a:lnT>
                    <a:lnB w="6350">
                      <a:solidFill>
                        <a:srgbClr val="E2E7F2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wrap="none"/>
                    <a:lstStyle/>
                    <a:p>
                      <a:pPr algn="r"/>
                      <a:r>
                        <a:rPr sz="850" b="0">
                          <a:solidFill>
                            <a:srgbClr val="26292E"/>
                          </a:solidFill>
                          <a:latin typeface="Calibri"/>
                        </a:rPr>
                        <a:t>2,398</a:t>
                      </a:r>
                    </a:p>
                  </a:txBody>
                  <a:tcPr anchor="ctr" marL="27432" marR="27432" marT="4572" marB="4572">
                    <a:lnL w="6350">
                      <a:solidFill>
                        <a:srgbClr val="E2E7F2"/>
                      </a:solidFill>
                    </a:lnL>
                    <a:lnR w="6350">
                      <a:solidFill>
                        <a:srgbClr val="E2E7F2"/>
                      </a:solidFill>
                    </a:lnR>
                    <a:lnT w="6350">
                      <a:solidFill>
                        <a:srgbClr val="E2E7F2"/>
                      </a:solidFill>
                    </a:lnT>
                    <a:lnB w="6350">
                      <a:solidFill>
                        <a:srgbClr val="E2E7F2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wrap="none"/>
                    <a:lstStyle/>
                    <a:p>
                      <a:pPr algn="r"/>
                      <a:r>
                        <a:rPr sz="850" b="0">
                          <a:solidFill>
                            <a:srgbClr val="26292E"/>
                          </a:solidFill>
                          <a:latin typeface="Calibri"/>
                        </a:rPr>
                        <a:t>2,367</a:t>
                      </a:r>
                    </a:p>
                  </a:txBody>
                  <a:tcPr anchor="ctr" marL="27432" marR="27432" marT="4572" marB="4572">
                    <a:lnL w="6350">
                      <a:solidFill>
                        <a:srgbClr val="E2E7F2"/>
                      </a:solidFill>
                    </a:lnL>
                    <a:lnR w="6350">
                      <a:solidFill>
                        <a:srgbClr val="E2E7F2"/>
                      </a:solidFill>
                    </a:lnR>
                    <a:lnT w="6350">
                      <a:solidFill>
                        <a:srgbClr val="E2E7F2"/>
                      </a:solidFill>
                    </a:lnT>
                    <a:lnB w="6350">
                      <a:solidFill>
                        <a:srgbClr val="E2E7F2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wrap="none"/>
                    <a:lstStyle/>
                    <a:p>
                      <a:pPr algn="r"/>
                      <a:r>
                        <a:rPr sz="850" b="0">
                          <a:solidFill>
                            <a:srgbClr val="26292E"/>
                          </a:solidFill>
                          <a:latin typeface="Calibri"/>
                        </a:rPr>
                        <a:t>2,358</a:t>
                      </a:r>
                    </a:p>
                  </a:txBody>
                  <a:tcPr anchor="ctr" marL="27432" marR="27432" marT="4572" marB="4572">
                    <a:lnL w="6350">
                      <a:solidFill>
                        <a:srgbClr val="E2E7F2"/>
                      </a:solidFill>
                    </a:lnL>
                    <a:lnR w="6350">
                      <a:solidFill>
                        <a:srgbClr val="E2E7F2"/>
                      </a:solidFill>
                    </a:lnR>
                    <a:lnT w="6350">
                      <a:solidFill>
                        <a:srgbClr val="E2E7F2"/>
                      </a:solidFill>
                    </a:lnT>
                    <a:lnB w="6350">
                      <a:solidFill>
                        <a:srgbClr val="E2E7F2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wrap="none"/>
                    <a:lstStyle/>
                    <a:p>
                      <a:pPr algn="r"/>
                      <a:r>
                        <a:rPr sz="850" b="1">
                          <a:solidFill>
                            <a:srgbClr val="26292E"/>
                          </a:solidFill>
                          <a:latin typeface="Calibri"/>
                        </a:rPr>
                        <a:t>2,408</a:t>
                      </a:r>
                    </a:p>
                  </a:txBody>
                  <a:tcPr anchor="ctr" marL="27432" marR="27432" marT="4572" marB="4572">
                    <a:lnL w="6350">
                      <a:solidFill>
                        <a:srgbClr val="E2E7F2"/>
                      </a:solidFill>
                    </a:lnL>
                    <a:lnR w="6350">
                      <a:solidFill>
                        <a:srgbClr val="E2E7F2"/>
                      </a:solidFill>
                    </a:lnR>
                    <a:lnT w="6350">
                      <a:solidFill>
                        <a:srgbClr val="E2E7F2"/>
                      </a:solidFill>
                    </a:lnT>
                    <a:lnB w="6350">
                      <a:solidFill>
                        <a:srgbClr val="E2E7F2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wrap="none"/>
                    <a:lstStyle/>
                    <a:p>
                      <a:pPr algn="r"/>
                      <a:r>
                        <a:rPr sz="850" b="1">
                          <a:solidFill>
                            <a:srgbClr val="C62828"/>
                          </a:solidFill>
                          <a:latin typeface="Calibri"/>
                        </a:rPr>
                        <a:t>-11.9%</a:t>
                      </a:r>
                    </a:p>
                  </a:txBody>
                  <a:tcPr anchor="ctr" marL="27432" marR="27432" marT="4572" marB="4572">
                    <a:lnL w="6350">
                      <a:solidFill>
                        <a:srgbClr val="E2E7F2"/>
                      </a:solidFill>
                    </a:lnL>
                    <a:lnR w="6350">
                      <a:solidFill>
                        <a:srgbClr val="E2E7F2"/>
                      </a:solidFill>
                    </a:lnR>
                    <a:lnT w="6350">
                      <a:solidFill>
                        <a:srgbClr val="E2E7F2"/>
                      </a:solidFill>
                    </a:lnT>
                    <a:lnB w="6350">
                      <a:solidFill>
                        <a:srgbClr val="E2E7F2"/>
                      </a:solidFill>
                    </a:lnB>
                    <a:solidFill>
                      <a:srgbClr val="FFFFFF"/>
                    </a:solidFill>
                  </a:tcPr>
                </a:tc>
              </a:tr>
              <a:tr h="214884">
                <a:tc>
                  <a:txBody>
                    <a:bodyPr wrap="none"/>
                    <a:lstStyle/>
                    <a:p>
                      <a:pPr algn="l"/>
                      <a:r>
                        <a:rPr sz="850" b="0">
                          <a:solidFill>
                            <a:srgbClr val="595959"/>
                          </a:solidFill>
                          <a:latin typeface="Calibri"/>
                        </a:rPr>
                        <a:t>   ’25</a:t>
                      </a:r>
                    </a:p>
                  </a:txBody>
                  <a:tcPr anchor="ctr" marL="27432" marR="27432" marT="4572" marB="4572">
                    <a:lnL w="6350">
                      <a:solidFill>
                        <a:srgbClr val="E2E7F2"/>
                      </a:solidFill>
                    </a:lnL>
                    <a:lnR w="6350">
                      <a:solidFill>
                        <a:srgbClr val="E2E7F2"/>
                      </a:solidFill>
                    </a:lnR>
                    <a:lnT w="6350">
                      <a:solidFill>
                        <a:srgbClr val="E2E7F2"/>
                      </a:solidFill>
                    </a:lnT>
                    <a:lnB w="6350">
                      <a:solidFill>
                        <a:srgbClr val="E2E7F2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wrap="none"/>
                    <a:lstStyle/>
                    <a:p>
                      <a:pPr algn="r"/>
                      <a:r>
                        <a:rPr sz="850" b="0">
                          <a:solidFill>
                            <a:srgbClr val="595959"/>
                          </a:solidFill>
                          <a:latin typeface="Calibri"/>
                        </a:rPr>
                        <a:t>2,994</a:t>
                      </a:r>
                    </a:p>
                  </a:txBody>
                  <a:tcPr anchor="ctr" marL="27432" marR="27432" marT="4572" marB="4572">
                    <a:lnL w="6350">
                      <a:solidFill>
                        <a:srgbClr val="E2E7F2"/>
                      </a:solidFill>
                    </a:lnL>
                    <a:lnR w="6350">
                      <a:solidFill>
                        <a:srgbClr val="E2E7F2"/>
                      </a:solidFill>
                    </a:lnR>
                    <a:lnT w="6350">
                      <a:solidFill>
                        <a:srgbClr val="E2E7F2"/>
                      </a:solidFill>
                    </a:lnT>
                    <a:lnB w="6350">
                      <a:solidFill>
                        <a:srgbClr val="E2E7F2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wrap="none"/>
                    <a:lstStyle/>
                    <a:p>
                      <a:pPr algn="r"/>
                      <a:r>
                        <a:rPr sz="850" b="0">
                          <a:solidFill>
                            <a:srgbClr val="595959"/>
                          </a:solidFill>
                          <a:latin typeface="Calibri"/>
                        </a:rPr>
                        <a:t>2,800</a:t>
                      </a:r>
                    </a:p>
                  </a:txBody>
                  <a:tcPr anchor="ctr" marL="27432" marR="27432" marT="4572" marB="4572">
                    <a:lnL w="6350">
                      <a:solidFill>
                        <a:srgbClr val="E2E7F2"/>
                      </a:solidFill>
                    </a:lnL>
                    <a:lnR w="6350">
                      <a:solidFill>
                        <a:srgbClr val="E2E7F2"/>
                      </a:solidFill>
                    </a:lnR>
                    <a:lnT w="6350">
                      <a:solidFill>
                        <a:srgbClr val="E2E7F2"/>
                      </a:solidFill>
                    </a:lnT>
                    <a:lnB w="6350">
                      <a:solidFill>
                        <a:srgbClr val="E2E7F2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wrap="none"/>
                    <a:lstStyle/>
                    <a:p>
                      <a:pPr algn="r"/>
                      <a:r>
                        <a:rPr sz="850" b="0">
                          <a:solidFill>
                            <a:srgbClr val="595959"/>
                          </a:solidFill>
                          <a:latin typeface="Calibri"/>
                        </a:rPr>
                        <a:t>2,723</a:t>
                      </a:r>
                    </a:p>
                  </a:txBody>
                  <a:tcPr anchor="ctr" marL="27432" marR="27432" marT="4572" marB="4572">
                    <a:lnL w="6350">
                      <a:solidFill>
                        <a:srgbClr val="E2E7F2"/>
                      </a:solidFill>
                    </a:lnL>
                    <a:lnR w="6350">
                      <a:solidFill>
                        <a:srgbClr val="E2E7F2"/>
                      </a:solidFill>
                    </a:lnR>
                    <a:lnT w="6350">
                      <a:solidFill>
                        <a:srgbClr val="E2E7F2"/>
                      </a:solidFill>
                    </a:lnT>
                    <a:lnB w="6350">
                      <a:solidFill>
                        <a:srgbClr val="E2E7F2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wrap="none"/>
                    <a:lstStyle/>
                    <a:p>
                      <a:pPr algn="r"/>
                      <a:r>
                        <a:rPr sz="850" b="0">
                          <a:solidFill>
                            <a:srgbClr val="595959"/>
                          </a:solidFill>
                          <a:latin typeface="Calibri"/>
                        </a:rPr>
                        <a:t>2,692</a:t>
                      </a:r>
                    </a:p>
                  </a:txBody>
                  <a:tcPr anchor="ctr" marL="27432" marR="27432" marT="4572" marB="4572">
                    <a:lnL w="6350">
                      <a:solidFill>
                        <a:srgbClr val="E2E7F2"/>
                      </a:solidFill>
                    </a:lnL>
                    <a:lnR w="6350">
                      <a:solidFill>
                        <a:srgbClr val="E2E7F2"/>
                      </a:solidFill>
                    </a:lnR>
                    <a:lnT w="6350">
                      <a:solidFill>
                        <a:srgbClr val="E2E7F2"/>
                      </a:solidFill>
                    </a:lnT>
                    <a:lnB w="6350">
                      <a:solidFill>
                        <a:srgbClr val="E2E7F2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wrap="none"/>
                    <a:lstStyle/>
                    <a:p>
                      <a:pPr algn="r"/>
                      <a:r>
                        <a:rPr sz="850" b="0">
                          <a:solidFill>
                            <a:srgbClr val="595959"/>
                          </a:solidFill>
                          <a:latin typeface="Calibri"/>
                        </a:rPr>
                        <a:t>2,610</a:t>
                      </a:r>
                    </a:p>
                  </a:txBody>
                  <a:tcPr anchor="ctr" marL="27432" marR="27432" marT="4572" marB="4572">
                    <a:lnL w="6350">
                      <a:solidFill>
                        <a:srgbClr val="E2E7F2"/>
                      </a:solidFill>
                    </a:lnL>
                    <a:lnR w="6350">
                      <a:solidFill>
                        <a:srgbClr val="E2E7F2"/>
                      </a:solidFill>
                    </a:lnR>
                    <a:lnT w="6350">
                      <a:solidFill>
                        <a:srgbClr val="E2E7F2"/>
                      </a:solidFill>
                    </a:lnT>
                    <a:lnB w="6350">
                      <a:solidFill>
                        <a:srgbClr val="E2E7F2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wrap="none"/>
                    <a:lstStyle/>
                    <a:p>
                      <a:pPr algn="r"/>
                      <a:r>
                        <a:rPr sz="850" b="0">
                          <a:solidFill>
                            <a:srgbClr val="595959"/>
                          </a:solidFill>
                          <a:latin typeface="Calibri"/>
                        </a:rPr>
                        <a:t>2,661</a:t>
                      </a:r>
                    </a:p>
                  </a:txBody>
                  <a:tcPr anchor="ctr" marL="27432" marR="27432" marT="4572" marB="4572">
                    <a:lnL w="6350">
                      <a:solidFill>
                        <a:srgbClr val="E2E7F2"/>
                      </a:solidFill>
                    </a:lnL>
                    <a:lnR w="6350">
                      <a:solidFill>
                        <a:srgbClr val="E2E7F2"/>
                      </a:solidFill>
                    </a:lnR>
                    <a:lnT w="6350">
                      <a:solidFill>
                        <a:srgbClr val="E2E7F2"/>
                      </a:solidFill>
                    </a:lnT>
                    <a:lnB w="6350">
                      <a:solidFill>
                        <a:srgbClr val="E2E7F2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wrap="none"/>
                    <a:lstStyle/>
                    <a:p>
                      <a:pPr algn="r"/>
                      <a:r>
                        <a:rPr sz="850" b="0">
                          <a:solidFill>
                            <a:srgbClr val="595959"/>
                          </a:solidFill>
                          <a:latin typeface="Calibri"/>
                        </a:rPr>
                        <a:t>2,735</a:t>
                      </a:r>
                    </a:p>
                  </a:txBody>
                  <a:tcPr anchor="ctr" marL="27432" marR="27432" marT="4572" marB="4572">
                    <a:lnL w="6350">
                      <a:solidFill>
                        <a:srgbClr val="E2E7F2"/>
                      </a:solidFill>
                    </a:lnL>
                    <a:lnR w="6350">
                      <a:solidFill>
                        <a:srgbClr val="E2E7F2"/>
                      </a:solidFill>
                    </a:lnR>
                    <a:lnT w="6350">
                      <a:solidFill>
                        <a:srgbClr val="E2E7F2"/>
                      </a:solidFill>
                    </a:lnT>
                    <a:lnB w="6350">
                      <a:solidFill>
                        <a:srgbClr val="E2E7F2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wrap="none"/>
                    <a:lstStyle/>
                    <a:p>
                      <a:pPr algn="l"/>
                      <a:r>
                        <a:rPr sz="850" b="0">
                          <a:solidFill>
                            <a:srgbClr val="26292E"/>
                          </a:solidFill>
                          <a:latin typeface="Calibri"/>
                        </a:rPr>
                        <a:t/>
                      </a:r>
                    </a:p>
                  </a:txBody>
                  <a:tcPr anchor="ctr" marL="27432" marR="27432" marT="4572" marB="4572">
                    <a:lnL w="6350">
                      <a:solidFill>
                        <a:srgbClr val="E2E7F2"/>
                      </a:solidFill>
                    </a:lnL>
                    <a:lnR w="6350">
                      <a:solidFill>
                        <a:srgbClr val="E2E7F2"/>
                      </a:solidFill>
                    </a:lnR>
                    <a:lnT w="6350">
                      <a:solidFill>
                        <a:srgbClr val="E2E7F2"/>
                      </a:solidFill>
                    </a:lnT>
                    <a:lnB w="6350">
                      <a:solidFill>
                        <a:srgbClr val="E2E7F2"/>
                      </a:solidFill>
                    </a:lnB>
                    <a:solidFill>
                      <a:srgbClr val="FFFFFF"/>
                    </a:solidFill>
                  </a:tcPr>
                </a:tc>
              </a:tr>
              <a:tr h="214884">
                <a:tc>
                  <a:txBody>
                    <a:bodyPr wrap="none"/>
                    <a:lstStyle/>
                    <a:p>
                      <a:pPr algn="l"/>
                      <a:r>
                        <a:rPr sz="850" b="1">
                          <a:solidFill>
                            <a:srgbClr val="26292E"/>
                          </a:solidFill>
                          <a:latin typeface="Calibri"/>
                        </a:rPr>
                        <a:t>Corporate LS</a:t>
                      </a:r>
                    </a:p>
                  </a:txBody>
                  <a:tcPr anchor="ctr" marL="27432" marR="27432" marT="4572" marB="4572">
                    <a:lnL w="6350">
                      <a:solidFill>
                        <a:srgbClr val="E2E7F2"/>
                      </a:solidFill>
                    </a:lnL>
                    <a:lnR w="6350">
                      <a:solidFill>
                        <a:srgbClr val="E2E7F2"/>
                      </a:solidFill>
                    </a:lnR>
                    <a:lnT w="6350">
                      <a:solidFill>
                        <a:srgbClr val="E2E7F2"/>
                      </a:solidFill>
                    </a:lnT>
                    <a:lnB w="6350">
                      <a:solidFill>
                        <a:srgbClr val="E2E7F2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wrap="none"/>
                    <a:lstStyle/>
                    <a:p>
                      <a:pPr algn="r"/>
                      <a:r>
                        <a:rPr sz="850" b="0">
                          <a:solidFill>
                            <a:srgbClr val="26292E"/>
                          </a:solidFill>
                          <a:latin typeface="Calibri"/>
                        </a:rPr>
                        <a:t>2,098</a:t>
                      </a:r>
                    </a:p>
                  </a:txBody>
                  <a:tcPr anchor="ctr" marL="27432" marR="27432" marT="4572" marB="4572">
                    <a:lnL w="6350">
                      <a:solidFill>
                        <a:srgbClr val="E2E7F2"/>
                      </a:solidFill>
                    </a:lnL>
                    <a:lnR w="6350">
                      <a:solidFill>
                        <a:srgbClr val="E2E7F2"/>
                      </a:solidFill>
                    </a:lnR>
                    <a:lnT w="6350">
                      <a:solidFill>
                        <a:srgbClr val="E2E7F2"/>
                      </a:solidFill>
                    </a:lnT>
                    <a:lnB w="6350">
                      <a:solidFill>
                        <a:srgbClr val="E2E7F2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wrap="none"/>
                    <a:lstStyle/>
                    <a:p>
                      <a:pPr algn="r"/>
                      <a:r>
                        <a:rPr sz="850" b="0">
                          <a:solidFill>
                            <a:srgbClr val="26292E"/>
                          </a:solidFill>
                          <a:latin typeface="Calibri"/>
                        </a:rPr>
                        <a:t>2,071</a:t>
                      </a:r>
                    </a:p>
                  </a:txBody>
                  <a:tcPr anchor="ctr" marL="27432" marR="27432" marT="4572" marB="4572">
                    <a:lnL w="6350">
                      <a:solidFill>
                        <a:srgbClr val="E2E7F2"/>
                      </a:solidFill>
                    </a:lnL>
                    <a:lnR w="6350">
                      <a:solidFill>
                        <a:srgbClr val="E2E7F2"/>
                      </a:solidFill>
                    </a:lnR>
                    <a:lnT w="6350">
                      <a:solidFill>
                        <a:srgbClr val="E2E7F2"/>
                      </a:solidFill>
                    </a:lnT>
                    <a:lnB w="6350">
                      <a:solidFill>
                        <a:srgbClr val="E2E7F2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wrap="none"/>
                    <a:lstStyle/>
                    <a:p>
                      <a:pPr algn="r"/>
                      <a:r>
                        <a:rPr sz="850" b="0">
                          <a:solidFill>
                            <a:srgbClr val="26292E"/>
                          </a:solidFill>
                          <a:latin typeface="Calibri"/>
                        </a:rPr>
                        <a:t>1,927</a:t>
                      </a:r>
                    </a:p>
                  </a:txBody>
                  <a:tcPr anchor="ctr" marL="27432" marR="27432" marT="4572" marB="4572">
                    <a:lnL w="6350">
                      <a:solidFill>
                        <a:srgbClr val="E2E7F2"/>
                      </a:solidFill>
                    </a:lnL>
                    <a:lnR w="6350">
                      <a:solidFill>
                        <a:srgbClr val="E2E7F2"/>
                      </a:solidFill>
                    </a:lnR>
                    <a:lnT w="6350">
                      <a:solidFill>
                        <a:srgbClr val="E2E7F2"/>
                      </a:solidFill>
                    </a:lnT>
                    <a:lnB w="6350">
                      <a:solidFill>
                        <a:srgbClr val="E2E7F2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wrap="none"/>
                    <a:lstStyle/>
                    <a:p>
                      <a:pPr algn="r"/>
                      <a:r>
                        <a:rPr sz="850" b="0">
                          <a:solidFill>
                            <a:srgbClr val="26292E"/>
                          </a:solidFill>
                          <a:latin typeface="Calibri"/>
                        </a:rPr>
                        <a:t>2,015</a:t>
                      </a:r>
                    </a:p>
                  </a:txBody>
                  <a:tcPr anchor="ctr" marL="27432" marR="27432" marT="4572" marB="4572">
                    <a:lnL w="6350">
                      <a:solidFill>
                        <a:srgbClr val="E2E7F2"/>
                      </a:solidFill>
                    </a:lnL>
                    <a:lnR w="6350">
                      <a:solidFill>
                        <a:srgbClr val="E2E7F2"/>
                      </a:solidFill>
                    </a:lnR>
                    <a:lnT w="6350">
                      <a:solidFill>
                        <a:srgbClr val="E2E7F2"/>
                      </a:solidFill>
                    </a:lnT>
                    <a:lnB w="6350">
                      <a:solidFill>
                        <a:srgbClr val="E2E7F2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wrap="none"/>
                    <a:lstStyle/>
                    <a:p>
                      <a:pPr algn="r"/>
                      <a:r>
                        <a:rPr sz="850" b="0">
                          <a:solidFill>
                            <a:srgbClr val="26292E"/>
                          </a:solidFill>
                          <a:latin typeface="Calibri"/>
                        </a:rPr>
                        <a:t>2,008</a:t>
                      </a:r>
                    </a:p>
                  </a:txBody>
                  <a:tcPr anchor="ctr" marL="27432" marR="27432" marT="4572" marB="4572">
                    <a:lnL w="6350">
                      <a:solidFill>
                        <a:srgbClr val="E2E7F2"/>
                      </a:solidFill>
                    </a:lnL>
                    <a:lnR w="6350">
                      <a:solidFill>
                        <a:srgbClr val="E2E7F2"/>
                      </a:solidFill>
                    </a:lnR>
                    <a:lnT w="6350">
                      <a:solidFill>
                        <a:srgbClr val="E2E7F2"/>
                      </a:solidFill>
                    </a:lnT>
                    <a:lnB w="6350">
                      <a:solidFill>
                        <a:srgbClr val="E2E7F2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wrap="none"/>
                    <a:lstStyle/>
                    <a:p>
                      <a:pPr algn="r"/>
                      <a:r>
                        <a:rPr sz="850" b="0">
                          <a:solidFill>
                            <a:srgbClr val="26292E"/>
                          </a:solidFill>
                          <a:latin typeface="Calibri"/>
                        </a:rPr>
                        <a:t>1,894</a:t>
                      </a:r>
                    </a:p>
                  </a:txBody>
                  <a:tcPr anchor="ctr" marL="27432" marR="27432" marT="4572" marB="4572">
                    <a:lnL w="6350">
                      <a:solidFill>
                        <a:srgbClr val="E2E7F2"/>
                      </a:solidFill>
                    </a:lnL>
                    <a:lnR w="6350">
                      <a:solidFill>
                        <a:srgbClr val="E2E7F2"/>
                      </a:solidFill>
                    </a:lnR>
                    <a:lnT w="6350">
                      <a:solidFill>
                        <a:srgbClr val="E2E7F2"/>
                      </a:solidFill>
                    </a:lnT>
                    <a:lnB w="6350">
                      <a:solidFill>
                        <a:srgbClr val="E2E7F2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wrap="none"/>
                    <a:lstStyle/>
                    <a:p>
                      <a:pPr algn="r"/>
                      <a:r>
                        <a:rPr sz="850" b="1">
                          <a:solidFill>
                            <a:srgbClr val="26292E"/>
                          </a:solidFill>
                          <a:latin typeface="Calibri"/>
                        </a:rPr>
                        <a:t>1,994</a:t>
                      </a:r>
                    </a:p>
                  </a:txBody>
                  <a:tcPr anchor="ctr" marL="27432" marR="27432" marT="4572" marB="4572">
                    <a:lnL w="6350">
                      <a:solidFill>
                        <a:srgbClr val="E2E7F2"/>
                      </a:solidFill>
                    </a:lnL>
                    <a:lnR w="6350">
                      <a:solidFill>
                        <a:srgbClr val="E2E7F2"/>
                      </a:solidFill>
                    </a:lnR>
                    <a:lnT w="6350">
                      <a:solidFill>
                        <a:srgbClr val="E2E7F2"/>
                      </a:solidFill>
                    </a:lnT>
                    <a:lnB w="6350">
                      <a:solidFill>
                        <a:srgbClr val="E2E7F2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wrap="none"/>
                    <a:lstStyle/>
                    <a:p>
                      <a:pPr algn="r"/>
                      <a:r>
                        <a:rPr sz="850" b="1">
                          <a:solidFill>
                            <a:srgbClr val="C62828"/>
                          </a:solidFill>
                          <a:latin typeface="Calibri"/>
                        </a:rPr>
                        <a:t>-6.6%</a:t>
                      </a:r>
                    </a:p>
                  </a:txBody>
                  <a:tcPr anchor="ctr" marL="27432" marR="27432" marT="4572" marB="4572">
                    <a:lnL w="6350">
                      <a:solidFill>
                        <a:srgbClr val="E2E7F2"/>
                      </a:solidFill>
                    </a:lnL>
                    <a:lnR w="6350">
                      <a:solidFill>
                        <a:srgbClr val="E2E7F2"/>
                      </a:solidFill>
                    </a:lnR>
                    <a:lnT w="6350">
                      <a:solidFill>
                        <a:srgbClr val="E2E7F2"/>
                      </a:solidFill>
                    </a:lnT>
                    <a:lnB w="6350">
                      <a:solidFill>
                        <a:srgbClr val="E2E7F2"/>
                      </a:solidFill>
                    </a:lnB>
                    <a:solidFill>
                      <a:srgbClr val="FFFFFF"/>
                    </a:solidFill>
                  </a:tcPr>
                </a:tc>
              </a:tr>
              <a:tr h="214884">
                <a:tc>
                  <a:txBody>
                    <a:bodyPr wrap="none"/>
                    <a:lstStyle/>
                    <a:p>
                      <a:pPr algn="l"/>
                      <a:r>
                        <a:rPr sz="850" b="0">
                          <a:solidFill>
                            <a:srgbClr val="595959"/>
                          </a:solidFill>
                          <a:latin typeface="Calibri"/>
                        </a:rPr>
                        <a:t>   ’25</a:t>
                      </a:r>
                    </a:p>
                  </a:txBody>
                  <a:tcPr anchor="ctr" marL="27432" marR="27432" marT="4572" marB="4572">
                    <a:lnL w="6350">
                      <a:solidFill>
                        <a:srgbClr val="E2E7F2"/>
                      </a:solidFill>
                    </a:lnL>
                    <a:lnR w="6350">
                      <a:solidFill>
                        <a:srgbClr val="E2E7F2"/>
                      </a:solidFill>
                    </a:lnR>
                    <a:lnT w="6350">
                      <a:solidFill>
                        <a:srgbClr val="E2E7F2"/>
                      </a:solidFill>
                    </a:lnT>
                    <a:lnB w="6350">
                      <a:solidFill>
                        <a:srgbClr val="E2E7F2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wrap="none"/>
                    <a:lstStyle/>
                    <a:p>
                      <a:pPr algn="r"/>
                      <a:r>
                        <a:rPr sz="850" b="0">
                          <a:solidFill>
                            <a:srgbClr val="595959"/>
                          </a:solidFill>
                          <a:latin typeface="Calibri"/>
                        </a:rPr>
                        <a:t>2,062</a:t>
                      </a:r>
                    </a:p>
                  </a:txBody>
                  <a:tcPr anchor="ctr" marL="27432" marR="27432" marT="4572" marB="4572">
                    <a:lnL w="6350">
                      <a:solidFill>
                        <a:srgbClr val="E2E7F2"/>
                      </a:solidFill>
                    </a:lnL>
                    <a:lnR w="6350">
                      <a:solidFill>
                        <a:srgbClr val="E2E7F2"/>
                      </a:solidFill>
                    </a:lnR>
                    <a:lnT w="6350">
                      <a:solidFill>
                        <a:srgbClr val="E2E7F2"/>
                      </a:solidFill>
                    </a:lnT>
                    <a:lnB w="6350">
                      <a:solidFill>
                        <a:srgbClr val="E2E7F2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wrap="none"/>
                    <a:lstStyle/>
                    <a:p>
                      <a:pPr algn="r"/>
                      <a:r>
                        <a:rPr sz="850" b="0">
                          <a:solidFill>
                            <a:srgbClr val="595959"/>
                          </a:solidFill>
                          <a:latin typeface="Calibri"/>
                        </a:rPr>
                        <a:t>2,236</a:t>
                      </a:r>
                    </a:p>
                  </a:txBody>
                  <a:tcPr anchor="ctr" marL="27432" marR="27432" marT="4572" marB="4572">
                    <a:lnL w="6350">
                      <a:solidFill>
                        <a:srgbClr val="E2E7F2"/>
                      </a:solidFill>
                    </a:lnL>
                    <a:lnR w="6350">
                      <a:solidFill>
                        <a:srgbClr val="E2E7F2"/>
                      </a:solidFill>
                    </a:lnR>
                    <a:lnT w="6350">
                      <a:solidFill>
                        <a:srgbClr val="E2E7F2"/>
                      </a:solidFill>
                    </a:lnT>
                    <a:lnB w="6350">
                      <a:solidFill>
                        <a:srgbClr val="E2E7F2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wrap="none"/>
                    <a:lstStyle/>
                    <a:p>
                      <a:pPr algn="r"/>
                      <a:r>
                        <a:rPr sz="850" b="0">
                          <a:solidFill>
                            <a:srgbClr val="595959"/>
                          </a:solidFill>
                          <a:latin typeface="Calibri"/>
                        </a:rPr>
                        <a:t>2,267</a:t>
                      </a:r>
                    </a:p>
                  </a:txBody>
                  <a:tcPr anchor="ctr" marL="27432" marR="27432" marT="4572" marB="4572">
                    <a:lnL w="6350">
                      <a:solidFill>
                        <a:srgbClr val="E2E7F2"/>
                      </a:solidFill>
                    </a:lnL>
                    <a:lnR w="6350">
                      <a:solidFill>
                        <a:srgbClr val="E2E7F2"/>
                      </a:solidFill>
                    </a:lnR>
                    <a:lnT w="6350">
                      <a:solidFill>
                        <a:srgbClr val="E2E7F2"/>
                      </a:solidFill>
                    </a:lnT>
                    <a:lnB w="6350">
                      <a:solidFill>
                        <a:srgbClr val="E2E7F2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wrap="none"/>
                    <a:lstStyle/>
                    <a:p>
                      <a:pPr algn="r"/>
                      <a:r>
                        <a:rPr sz="850" b="0">
                          <a:solidFill>
                            <a:srgbClr val="595959"/>
                          </a:solidFill>
                          <a:latin typeface="Calibri"/>
                        </a:rPr>
                        <a:t>2,240</a:t>
                      </a:r>
                    </a:p>
                  </a:txBody>
                  <a:tcPr anchor="ctr" marL="27432" marR="27432" marT="4572" marB="4572">
                    <a:lnL w="6350">
                      <a:solidFill>
                        <a:srgbClr val="E2E7F2"/>
                      </a:solidFill>
                    </a:lnL>
                    <a:lnR w="6350">
                      <a:solidFill>
                        <a:srgbClr val="E2E7F2"/>
                      </a:solidFill>
                    </a:lnR>
                    <a:lnT w="6350">
                      <a:solidFill>
                        <a:srgbClr val="E2E7F2"/>
                      </a:solidFill>
                    </a:lnT>
                    <a:lnB w="6350">
                      <a:solidFill>
                        <a:srgbClr val="E2E7F2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wrap="none"/>
                    <a:lstStyle/>
                    <a:p>
                      <a:pPr algn="r"/>
                      <a:r>
                        <a:rPr sz="850" b="0">
                          <a:solidFill>
                            <a:srgbClr val="595959"/>
                          </a:solidFill>
                          <a:latin typeface="Calibri"/>
                        </a:rPr>
                        <a:t>2,056</a:t>
                      </a:r>
                    </a:p>
                  </a:txBody>
                  <a:tcPr anchor="ctr" marL="27432" marR="27432" marT="4572" marB="4572">
                    <a:lnL w="6350">
                      <a:solidFill>
                        <a:srgbClr val="E2E7F2"/>
                      </a:solidFill>
                    </a:lnL>
                    <a:lnR w="6350">
                      <a:solidFill>
                        <a:srgbClr val="E2E7F2"/>
                      </a:solidFill>
                    </a:lnR>
                    <a:lnT w="6350">
                      <a:solidFill>
                        <a:srgbClr val="E2E7F2"/>
                      </a:solidFill>
                    </a:lnT>
                    <a:lnB w="6350">
                      <a:solidFill>
                        <a:srgbClr val="E2E7F2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wrap="none"/>
                    <a:lstStyle/>
                    <a:p>
                      <a:pPr algn="r"/>
                      <a:r>
                        <a:rPr sz="850" b="0">
                          <a:solidFill>
                            <a:srgbClr val="595959"/>
                          </a:solidFill>
                          <a:latin typeface="Calibri"/>
                        </a:rPr>
                        <a:t>2,079</a:t>
                      </a:r>
                    </a:p>
                  </a:txBody>
                  <a:tcPr anchor="ctr" marL="27432" marR="27432" marT="4572" marB="4572">
                    <a:lnL w="6350">
                      <a:solidFill>
                        <a:srgbClr val="E2E7F2"/>
                      </a:solidFill>
                    </a:lnL>
                    <a:lnR w="6350">
                      <a:solidFill>
                        <a:srgbClr val="E2E7F2"/>
                      </a:solidFill>
                    </a:lnR>
                    <a:lnT w="6350">
                      <a:solidFill>
                        <a:srgbClr val="E2E7F2"/>
                      </a:solidFill>
                    </a:lnT>
                    <a:lnB w="6350">
                      <a:solidFill>
                        <a:srgbClr val="E2E7F2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wrap="none"/>
                    <a:lstStyle/>
                    <a:p>
                      <a:pPr algn="r"/>
                      <a:r>
                        <a:rPr sz="850" b="0">
                          <a:solidFill>
                            <a:srgbClr val="595959"/>
                          </a:solidFill>
                          <a:latin typeface="Calibri"/>
                        </a:rPr>
                        <a:t>2,134</a:t>
                      </a:r>
                    </a:p>
                  </a:txBody>
                  <a:tcPr anchor="ctr" marL="27432" marR="27432" marT="4572" marB="4572">
                    <a:lnL w="6350">
                      <a:solidFill>
                        <a:srgbClr val="E2E7F2"/>
                      </a:solidFill>
                    </a:lnL>
                    <a:lnR w="6350">
                      <a:solidFill>
                        <a:srgbClr val="E2E7F2"/>
                      </a:solidFill>
                    </a:lnR>
                    <a:lnT w="6350">
                      <a:solidFill>
                        <a:srgbClr val="E2E7F2"/>
                      </a:solidFill>
                    </a:lnT>
                    <a:lnB w="6350">
                      <a:solidFill>
                        <a:srgbClr val="E2E7F2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wrap="none"/>
                    <a:lstStyle/>
                    <a:p>
                      <a:pPr algn="l"/>
                      <a:r>
                        <a:rPr sz="850" b="0">
                          <a:solidFill>
                            <a:srgbClr val="26292E"/>
                          </a:solidFill>
                          <a:latin typeface="Calibri"/>
                        </a:rPr>
                        <a:t/>
                      </a:r>
                    </a:p>
                  </a:txBody>
                  <a:tcPr anchor="ctr" marL="27432" marR="27432" marT="4572" marB="4572">
                    <a:lnL w="6350">
                      <a:solidFill>
                        <a:srgbClr val="E2E7F2"/>
                      </a:solidFill>
                    </a:lnL>
                    <a:lnR w="6350">
                      <a:solidFill>
                        <a:srgbClr val="E2E7F2"/>
                      </a:solidFill>
                    </a:lnR>
                    <a:lnT w="6350">
                      <a:solidFill>
                        <a:srgbClr val="E2E7F2"/>
                      </a:solidFill>
                    </a:lnT>
                    <a:lnB w="6350">
                      <a:solidFill>
                        <a:srgbClr val="E2E7F2"/>
                      </a:solidFill>
                    </a:lnB>
                    <a:solidFill>
                      <a:srgbClr val="FFFFFF"/>
                    </a:solidFill>
                  </a:tcPr>
                </a:tc>
              </a:tr>
              <a:tr h="214884">
                <a:tc>
                  <a:txBody>
                    <a:bodyPr wrap="none"/>
                    <a:lstStyle/>
                    <a:p>
                      <a:pPr algn="l"/>
                      <a:r>
                        <a:rPr sz="850" b="1">
                          <a:solidFill>
                            <a:srgbClr val="26292E"/>
                          </a:solidFill>
                          <a:latin typeface="Calibri"/>
                        </a:rPr>
                        <a:t>Online</a:t>
                      </a:r>
                    </a:p>
                  </a:txBody>
                  <a:tcPr anchor="ctr" marL="27432" marR="27432" marT="4572" marB="4572">
                    <a:lnL w="6350">
                      <a:solidFill>
                        <a:srgbClr val="E2E7F2"/>
                      </a:solidFill>
                    </a:lnL>
                    <a:lnR w="6350">
                      <a:solidFill>
                        <a:srgbClr val="E2E7F2"/>
                      </a:solidFill>
                    </a:lnR>
                    <a:lnT w="6350">
                      <a:solidFill>
                        <a:srgbClr val="E2E7F2"/>
                      </a:solidFill>
                    </a:lnT>
                    <a:lnB w="6350">
                      <a:solidFill>
                        <a:srgbClr val="E2E7F2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wrap="none"/>
                    <a:lstStyle/>
                    <a:p>
                      <a:pPr algn="r"/>
                      <a:r>
                        <a:rPr sz="850" b="0">
                          <a:solidFill>
                            <a:srgbClr val="26292E"/>
                          </a:solidFill>
                          <a:latin typeface="Calibri"/>
                        </a:rPr>
                        <a:t>3,085</a:t>
                      </a:r>
                    </a:p>
                  </a:txBody>
                  <a:tcPr anchor="ctr" marL="27432" marR="27432" marT="4572" marB="4572">
                    <a:lnL w="6350">
                      <a:solidFill>
                        <a:srgbClr val="E2E7F2"/>
                      </a:solidFill>
                    </a:lnL>
                    <a:lnR w="6350">
                      <a:solidFill>
                        <a:srgbClr val="E2E7F2"/>
                      </a:solidFill>
                    </a:lnR>
                    <a:lnT w="6350">
                      <a:solidFill>
                        <a:srgbClr val="E2E7F2"/>
                      </a:solidFill>
                    </a:lnT>
                    <a:lnB w="6350">
                      <a:solidFill>
                        <a:srgbClr val="E2E7F2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wrap="none"/>
                    <a:lstStyle/>
                    <a:p>
                      <a:pPr algn="r"/>
                      <a:r>
                        <a:rPr sz="850" b="0">
                          <a:solidFill>
                            <a:srgbClr val="26292E"/>
                          </a:solidFill>
                          <a:latin typeface="Calibri"/>
                        </a:rPr>
                        <a:t>3,368</a:t>
                      </a:r>
                    </a:p>
                  </a:txBody>
                  <a:tcPr anchor="ctr" marL="27432" marR="27432" marT="4572" marB="4572">
                    <a:lnL w="6350">
                      <a:solidFill>
                        <a:srgbClr val="E2E7F2"/>
                      </a:solidFill>
                    </a:lnL>
                    <a:lnR w="6350">
                      <a:solidFill>
                        <a:srgbClr val="E2E7F2"/>
                      </a:solidFill>
                    </a:lnR>
                    <a:lnT w="6350">
                      <a:solidFill>
                        <a:srgbClr val="E2E7F2"/>
                      </a:solidFill>
                    </a:lnT>
                    <a:lnB w="6350">
                      <a:solidFill>
                        <a:srgbClr val="E2E7F2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wrap="none"/>
                    <a:lstStyle/>
                    <a:p>
                      <a:pPr algn="r"/>
                      <a:r>
                        <a:rPr sz="850" b="0">
                          <a:solidFill>
                            <a:srgbClr val="26292E"/>
                          </a:solidFill>
                          <a:latin typeface="Calibri"/>
                        </a:rPr>
                        <a:t>2,982</a:t>
                      </a:r>
                    </a:p>
                  </a:txBody>
                  <a:tcPr anchor="ctr" marL="27432" marR="27432" marT="4572" marB="4572">
                    <a:lnL w="6350">
                      <a:solidFill>
                        <a:srgbClr val="E2E7F2"/>
                      </a:solidFill>
                    </a:lnL>
                    <a:lnR w="6350">
                      <a:solidFill>
                        <a:srgbClr val="E2E7F2"/>
                      </a:solidFill>
                    </a:lnR>
                    <a:lnT w="6350">
                      <a:solidFill>
                        <a:srgbClr val="E2E7F2"/>
                      </a:solidFill>
                    </a:lnT>
                    <a:lnB w="6350">
                      <a:solidFill>
                        <a:srgbClr val="E2E7F2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wrap="none"/>
                    <a:lstStyle/>
                    <a:p>
                      <a:pPr algn="r"/>
                      <a:r>
                        <a:rPr sz="850" b="0">
                          <a:solidFill>
                            <a:srgbClr val="26292E"/>
                          </a:solidFill>
                          <a:latin typeface="Calibri"/>
                        </a:rPr>
                        <a:t>3,270</a:t>
                      </a:r>
                    </a:p>
                  </a:txBody>
                  <a:tcPr anchor="ctr" marL="27432" marR="27432" marT="4572" marB="4572">
                    <a:lnL w="6350">
                      <a:solidFill>
                        <a:srgbClr val="E2E7F2"/>
                      </a:solidFill>
                    </a:lnL>
                    <a:lnR w="6350">
                      <a:solidFill>
                        <a:srgbClr val="E2E7F2"/>
                      </a:solidFill>
                    </a:lnR>
                    <a:lnT w="6350">
                      <a:solidFill>
                        <a:srgbClr val="E2E7F2"/>
                      </a:solidFill>
                    </a:lnT>
                    <a:lnB w="6350">
                      <a:solidFill>
                        <a:srgbClr val="E2E7F2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wrap="none"/>
                    <a:lstStyle/>
                    <a:p>
                      <a:pPr algn="r"/>
                      <a:r>
                        <a:rPr sz="850" b="0">
                          <a:solidFill>
                            <a:srgbClr val="26292E"/>
                          </a:solidFill>
                          <a:latin typeface="Calibri"/>
                        </a:rPr>
                        <a:t>2,850</a:t>
                      </a:r>
                    </a:p>
                  </a:txBody>
                  <a:tcPr anchor="ctr" marL="27432" marR="27432" marT="4572" marB="4572">
                    <a:lnL w="6350">
                      <a:solidFill>
                        <a:srgbClr val="E2E7F2"/>
                      </a:solidFill>
                    </a:lnL>
                    <a:lnR w="6350">
                      <a:solidFill>
                        <a:srgbClr val="E2E7F2"/>
                      </a:solidFill>
                    </a:lnR>
                    <a:lnT w="6350">
                      <a:solidFill>
                        <a:srgbClr val="E2E7F2"/>
                      </a:solidFill>
                    </a:lnT>
                    <a:lnB w="6350">
                      <a:solidFill>
                        <a:srgbClr val="E2E7F2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wrap="none"/>
                    <a:lstStyle/>
                    <a:p>
                      <a:pPr algn="r"/>
                      <a:r>
                        <a:rPr sz="850" b="0">
                          <a:solidFill>
                            <a:srgbClr val="26292E"/>
                          </a:solidFill>
                          <a:latin typeface="Calibri"/>
                        </a:rPr>
                        <a:t>2,706</a:t>
                      </a:r>
                    </a:p>
                  </a:txBody>
                  <a:tcPr anchor="ctr" marL="27432" marR="27432" marT="4572" marB="4572">
                    <a:lnL w="6350">
                      <a:solidFill>
                        <a:srgbClr val="E2E7F2"/>
                      </a:solidFill>
                    </a:lnL>
                    <a:lnR w="6350">
                      <a:solidFill>
                        <a:srgbClr val="E2E7F2"/>
                      </a:solidFill>
                    </a:lnR>
                    <a:lnT w="6350">
                      <a:solidFill>
                        <a:srgbClr val="E2E7F2"/>
                      </a:solidFill>
                    </a:lnT>
                    <a:lnB w="6350">
                      <a:solidFill>
                        <a:srgbClr val="E2E7F2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wrap="none"/>
                    <a:lstStyle/>
                    <a:p>
                      <a:pPr algn="r"/>
                      <a:r>
                        <a:rPr sz="850" b="1">
                          <a:solidFill>
                            <a:srgbClr val="26292E"/>
                          </a:solidFill>
                          <a:latin typeface="Calibri"/>
                        </a:rPr>
                        <a:t>3,043</a:t>
                      </a:r>
                    </a:p>
                  </a:txBody>
                  <a:tcPr anchor="ctr" marL="27432" marR="27432" marT="4572" marB="4572">
                    <a:lnL w="6350">
                      <a:solidFill>
                        <a:srgbClr val="E2E7F2"/>
                      </a:solidFill>
                    </a:lnL>
                    <a:lnR w="6350">
                      <a:solidFill>
                        <a:srgbClr val="E2E7F2"/>
                      </a:solidFill>
                    </a:lnR>
                    <a:lnT w="6350">
                      <a:solidFill>
                        <a:srgbClr val="E2E7F2"/>
                      </a:solidFill>
                    </a:lnT>
                    <a:lnB w="6350">
                      <a:solidFill>
                        <a:srgbClr val="E2E7F2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wrap="none"/>
                    <a:lstStyle/>
                    <a:p>
                      <a:pPr algn="r"/>
                      <a:r>
                        <a:rPr sz="850" b="1">
                          <a:solidFill>
                            <a:srgbClr val="C62828"/>
                          </a:solidFill>
                          <a:latin typeface="Calibri"/>
                        </a:rPr>
                        <a:t>-13.9%</a:t>
                      </a:r>
                    </a:p>
                  </a:txBody>
                  <a:tcPr anchor="ctr" marL="27432" marR="27432" marT="4572" marB="4572">
                    <a:lnL w="6350">
                      <a:solidFill>
                        <a:srgbClr val="E2E7F2"/>
                      </a:solidFill>
                    </a:lnL>
                    <a:lnR w="6350">
                      <a:solidFill>
                        <a:srgbClr val="E2E7F2"/>
                      </a:solidFill>
                    </a:lnR>
                    <a:lnT w="6350">
                      <a:solidFill>
                        <a:srgbClr val="E2E7F2"/>
                      </a:solidFill>
                    </a:lnT>
                    <a:lnB w="6350">
                      <a:solidFill>
                        <a:srgbClr val="E2E7F2"/>
                      </a:solidFill>
                    </a:lnB>
                    <a:solidFill>
                      <a:srgbClr val="FFFFFF"/>
                    </a:solidFill>
                  </a:tcPr>
                </a:tc>
              </a:tr>
              <a:tr h="214884">
                <a:tc>
                  <a:txBody>
                    <a:bodyPr wrap="none"/>
                    <a:lstStyle/>
                    <a:p>
                      <a:pPr algn="l"/>
                      <a:r>
                        <a:rPr sz="850" b="0">
                          <a:solidFill>
                            <a:srgbClr val="595959"/>
                          </a:solidFill>
                          <a:latin typeface="Calibri"/>
                        </a:rPr>
                        <a:t>   ’25</a:t>
                      </a:r>
                    </a:p>
                  </a:txBody>
                  <a:tcPr anchor="ctr" marL="27432" marR="27432" marT="4572" marB="4572">
                    <a:lnL w="6350">
                      <a:solidFill>
                        <a:srgbClr val="E2E7F2"/>
                      </a:solidFill>
                    </a:lnL>
                    <a:lnR w="6350">
                      <a:solidFill>
                        <a:srgbClr val="E2E7F2"/>
                      </a:solidFill>
                    </a:lnR>
                    <a:lnT w="6350">
                      <a:solidFill>
                        <a:srgbClr val="E2E7F2"/>
                      </a:solidFill>
                    </a:lnT>
                    <a:lnB w="6350">
                      <a:solidFill>
                        <a:srgbClr val="E2E7F2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wrap="none"/>
                    <a:lstStyle/>
                    <a:p>
                      <a:pPr algn="r"/>
                      <a:r>
                        <a:rPr sz="850" b="0">
                          <a:solidFill>
                            <a:srgbClr val="595959"/>
                          </a:solidFill>
                          <a:latin typeface="Calibri"/>
                        </a:rPr>
                        <a:t>4,020</a:t>
                      </a:r>
                    </a:p>
                  </a:txBody>
                  <a:tcPr anchor="ctr" marL="27432" marR="27432" marT="4572" marB="4572">
                    <a:lnL w="6350">
                      <a:solidFill>
                        <a:srgbClr val="E2E7F2"/>
                      </a:solidFill>
                    </a:lnL>
                    <a:lnR w="6350">
                      <a:solidFill>
                        <a:srgbClr val="E2E7F2"/>
                      </a:solidFill>
                    </a:lnR>
                    <a:lnT w="6350">
                      <a:solidFill>
                        <a:srgbClr val="E2E7F2"/>
                      </a:solidFill>
                    </a:lnT>
                    <a:lnB w="6350">
                      <a:solidFill>
                        <a:srgbClr val="E2E7F2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wrap="none"/>
                    <a:lstStyle/>
                    <a:p>
                      <a:pPr algn="r"/>
                      <a:r>
                        <a:rPr sz="850" b="0">
                          <a:solidFill>
                            <a:srgbClr val="595959"/>
                          </a:solidFill>
                          <a:latin typeface="Calibri"/>
                        </a:rPr>
                        <a:t>3,453</a:t>
                      </a:r>
                    </a:p>
                  </a:txBody>
                  <a:tcPr anchor="ctr" marL="27432" marR="27432" marT="4572" marB="4572">
                    <a:lnL w="6350">
                      <a:solidFill>
                        <a:srgbClr val="E2E7F2"/>
                      </a:solidFill>
                    </a:lnL>
                    <a:lnR w="6350">
                      <a:solidFill>
                        <a:srgbClr val="E2E7F2"/>
                      </a:solidFill>
                    </a:lnR>
                    <a:lnT w="6350">
                      <a:solidFill>
                        <a:srgbClr val="E2E7F2"/>
                      </a:solidFill>
                    </a:lnT>
                    <a:lnB w="6350">
                      <a:solidFill>
                        <a:srgbClr val="E2E7F2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wrap="none"/>
                    <a:lstStyle/>
                    <a:p>
                      <a:pPr algn="r"/>
                      <a:r>
                        <a:rPr sz="850" b="0">
                          <a:solidFill>
                            <a:srgbClr val="595959"/>
                          </a:solidFill>
                          <a:latin typeface="Calibri"/>
                        </a:rPr>
                        <a:t>3,339</a:t>
                      </a:r>
                    </a:p>
                  </a:txBody>
                  <a:tcPr anchor="ctr" marL="27432" marR="27432" marT="4572" marB="4572">
                    <a:lnL w="6350">
                      <a:solidFill>
                        <a:srgbClr val="E2E7F2"/>
                      </a:solidFill>
                    </a:lnL>
                    <a:lnR w="6350">
                      <a:solidFill>
                        <a:srgbClr val="E2E7F2"/>
                      </a:solidFill>
                    </a:lnR>
                    <a:lnT w="6350">
                      <a:solidFill>
                        <a:srgbClr val="E2E7F2"/>
                      </a:solidFill>
                    </a:lnT>
                    <a:lnB w="6350">
                      <a:solidFill>
                        <a:srgbClr val="E2E7F2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wrap="none"/>
                    <a:lstStyle/>
                    <a:p>
                      <a:pPr algn="r"/>
                      <a:r>
                        <a:rPr sz="850" b="0">
                          <a:solidFill>
                            <a:srgbClr val="595959"/>
                          </a:solidFill>
                          <a:latin typeface="Calibri"/>
                        </a:rPr>
                        <a:t>3,384</a:t>
                      </a:r>
                    </a:p>
                  </a:txBody>
                  <a:tcPr anchor="ctr" marL="27432" marR="27432" marT="4572" marB="4572">
                    <a:lnL w="6350">
                      <a:solidFill>
                        <a:srgbClr val="E2E7F2"/>
                      </a:solidFill>
                    </a:lnL>
                    <a:lnR w="6350">
                      <a:solidFill>
                        <a:srgbClr val="E2E7F2"/>
                      </a:solidFill>
                    </a:lnR>
                    <a:lnT w="6350">
                      <a:solidFill>
                        <a:srgbClr val="E2E7F2"/>
                      </a:solidFill>
                    </a:lnT>
                    <a:lnB w="6350">
                      <a:solidFill>
                        <a:srgbClr val="E2E7F2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wrap="none"/>
                    <a:lstStyle/>
                    <a:p>
                      <a:pPr algn="r"/>
                      <a:r>
                        <a:rPr sz="850" b="0">
                          <a:solidFill>
                            <a:srgbClr val="595959"/>
                          </a:solidFill>
                          <a:latin typeface="Calibri"/>
                        </a:rPr>
                        <a:t>3,430</a:t>
                      </a:r>
                    </a:p>
                  </a:txBody>
                  <a:tcPr anchor="ctr" marL="27432" marR="27432" marT="4572" marB="4572">
                    <a:lnL w="6350">
                      <a:solidFill>
                        <a:srgbClr val="E2E7F2"/>
                      </a:solidFill>
                    </a:lnL>
                    <a:lnR w="6350">
                      <a:solidFill>
                        <a:srgbClr val="E2E7F2"/>
                      </a:solidFill>
                    </a:lnR>
                    <a:lnT w="6350">
                      <a:solidFill>
                        <a:srgbClr val="E2E7F2"/>
                      </a:solidFill>
                    </a:lnT>
                    <a:lnB w="6350">
                      <a:solidFill>
                        <a:srgbClr val="E2E7F2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wrap="none"/>
                    <a:lstStyle/>
                    <a:p>
                      <a:pPr algn="r"/>
                      <a:r>
                        <a:rPr sz="850" b="0">
                          <a:solidFill>
                            <a:srgbClr val="595959"/>
                          </a:solidFill>
                          <a:latin typeface="Calibri"/>
                        </a:rPr>
                        <a:t>3,342</a:t>
                      </a:r>
                    </a:p>
                  </a:txBody>
                  <a:tcPr anchor="ctr" marL="27432" marR="27432" marT="4572" marB="4572">
                    <a:lnL w="6350">
                      <a:solidFill>
                        <a:srgbClr val="E2E7F2"/>
                      </a:solidFill>
                    </a:lnL>
                    <a:lnR w="6350">
                      <a:solidFill>
                        <a:srgbClr val="E2E7F2"/>
                      </a:solidFill>
                    </a:lnR>
                    <a:lnT w="6350">
                      <a:solidFill>
                        <a:srgbClr val="E2E7F2"/>
                      </a:solidFill>
                    </a:lnT>
                    <a:lnB w="6350">
                      <a:solidFill>
                        <a:srgbClr val="E2E7F2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wrap="none"/>
                    <a:lstStyle/>
                    <a:p>
                      <a:pPr algn="r"/>
                      <a:r>
                        <a:rPr sz="850" b="0">
                          <a:solidFill>
                            <a:srgbClr val="595959"/>
                          </a:solidFill>
                          <a:latin typeface="Calibri"/>
                        </a:rPr>
                        <a:t>3,536</a:t>
                      </a:r>
                    </a:p>
                  </a:txBody>
                  <a:tcPr anchor="ctr" marL="27432" marR="27432" marT="4572" marB="4572">
                    <a:lnL w="6350">
                      <a:solidFill>
                        <a:srgbClr val="E2E7F2"/>
                      </a:solidFill>
                    </a:lnL>
                    <a:lnR w="6350">
                      <a:solidFill>
                        <a:srgbClr val="E2E7F2"/>
                      </a:solidFill>
                    </a:lnR>
                    <a:lnT w="6350">
                      <a:solidFill>
                        <a:srgbClr val="E2E7F2"/>
                      </a:solidFill>
                    </a:lnT>
                    <a:lnB w="6350">
                      <a:solidFill>
                        <a:srgbClr val="E2E7F2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wrap="none"/>
                    <a:lstStyle/>
                    <a:p>
                      <a:pPr algn="l"/>
                      <a:r>
                        <a:rPr sz="850" b="0">
                          <a:solidFill>
                            <a:srgbClr val="26292E"/>
                          </a:solidFill>
                          <a:latin typeface="Calibri"/>
                        </a:rPr>
                        <a:t/>
                      </a:r>
                    </a:p>
                  </a:txBody>
                  <a:tcPr anchor="ctr" marL="27432" marR="27432" marT="4572" marB="4572">
                    <a:lnL w="6350">
                      <a:solidFill>
                        <a:srgbClr val="E2E7F2"/>
                      </a:solidFill>
                    </a:lnL>
                    <a:lnR w="6350">
                      <a:solidFill>
                        <a:srgbClr val="E2E7F2"/>
                      </a:solidFill>
                    </a:lnR>
                    <a:lnT w="6350">
                      <a:solidFill>
                        <a:srgbClr val="E2E7F2"/>
                      </a:solidFill>
                    </a:lnT>
                    <a:lnB w="6350">
                      <a:solidFill>
                        <a:srgbClr val="E2E7F2"/>
                      </a:solidFill>
                    </a:lnB>
                    <a:solidFill>
                      <a:srgbClr val="FFFFFF"/>
                    </a:solidFill>
                  </a:tcPr>
                </a:tc>
              </a:tr>
              <a:tr h="214884">
                <a:tc>
                  <a:txBody>
                    <a:bodyPr wrap="none"/>
                    <a:lstStyle/>
                    <a:p>
                      <a:pPr algn="l"/>
                      <a:r>
                        <a:rPr sz="850" b="1">
                          <a:solidFill>
                            <a:srgbClr val="26292E"/>
                          </a:solidFill>
                          <a:latin typeface="Calibri"/>
                        </a:rPr>
                        <a:t>ASR</a:t>
                      </a:r>
                    </a:p>
                  </a:txBody>
                  <a:tcPr anchor="ctr" marL="27432" marR="27432" marT="4572" marB="4572">
                    <a:lnL w="6350">
                      <a:solidFill>
                        <a:srgbClr val="E2E7F2"/>
                      </a:solidFill>
                    </a:lnL>
                    <a:lnR w="6350">
                      <a:solidFill>
                        <a:srgbClr val="E2E7F2"/>
                      </a:solidFill>
                    </a:lnR>
                    <a:lnT w="6350">
                      <a:solidFill>
                        <a:srgbClr val="E2E7F2"/>
                      </a:solidFill>
                    </a:lnT>
                    <a:lnB w="6350">
                      <a:solidFill>
                        <a:srgbClr val="E2E7F2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wrap="none"/>
                    <a:lstStyle/>
                    <a:p>
                      <a:pPr algn="r"/>
                      <a:r>
                        <a:rPr sz="850" b="0">
                          <a:solidFill>
                            <a:srgbClr val="26292E"/>
                          </a:solidFill>
                          <a:latin typeface="Calibri"/>
                        </a:rPr>
                        <a:t>3,125</a:t>
                      </a:r>
                    </a:p>
                  </a:txBody>
                  <a:tcPr anchor="ctr" marL="27432" marR="27432" marT="4572" marB="4572">
                    <a:lnL w="6350">
                      <a:solidFill>
                        <a:srgbClr val="E2E7F2"/>
                      </a:solidFill>
                    </a:lnL>
                    <a:lnR w="6350">
                      <a:solidFill>
                        <a:srgbClr val="E2E7F2"/>
                      </a:solidFill>
                    </a:lnR>
                    <a:lnT w="6350">
                      <a:solidFill>
                        <a:srgbClr val="E2E7F2"/>
                      </a:solidFill>
                    </a:lnT>
                    <a:lnB w="6350">
                      <a:solidFill>
                        <a:srgbClr val="E2E7F2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wrap="none"/>
                    <a:lstStyle/>
                    <a:p>
                      <a:pPr algn="r"/>
                      <a:r>
                        <a:rPr sz="850" b="0">
                          <a:solidFill>
                            <a:srgbClr val="26292E"/>
                          </a:solidFill>
                          <a:latin typeface="Calibri"/>
                        </a:rPr>
                        <a:t>3,277</a:t>
                      </a:r>
                    </a:p>
                  </a:txBody>
                  <a:tcPr anchor="ctr" marL="27432" marR="27432" marT="4572" marB="4572">
                    <a:lnL w="6350">
                      <a:solidFill>
                        <a:srgbClr val="E2E7F2"/>
                      </a:solidFill>
                    </a:lnL>
                    <a:lnR w="6350">
                      <a:solidFill>
                        <a:srgbClr val="E2E7F2"/>
                      </a:solidFill>
                    </a:lnR>
                    <a:lnT w="6350">
                      <a:solidFill>
                        <a:srgbClr val="E2E7F2"/>
                      </a:solidFill>
                    </a:lnT>
                    <a:lnB w="6350">
                      <a:solidFill>
                        <a:srgbClr val="E2E7F2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wrap="none"/>
                    <a:lstStyle/>
                    <a:p>
                      <a:pPr algn="r"/>
                      <a:r>
                        <a:rPr sz="850" b="0">
                          <a:solidFill>
                            <a:srgbClr val="26292E"/>
                          </a:solidFill>
                          <a:latin typeface="Calibri"/>
                        </a:rPr>
                        <a:t>2,845</a:t>
                      </a:r>
                    </a:p>
                  </a:txBody>
                  <a:tcPr anchor="ctr" marL="27432" marR="27432" marT="4572" marB="4572">
                    <a:lnL w="6350">
                      <a:solidFill>
                        <a:srgbClr val="E2E7F2"/>
                      </a:solidFill>
                    </a:lnL>
                    <a:lnR w="6350">
                      <a:solidFill>
                        <a:srgbClr val="E2E7F2"/>
                      </a:solidFill>
                    </a:lnR>
                    <a:lnT w="6350">
                      <a:solidFill>
                        <a:srgbClr val="E2E7F2"/>
                      </a:solidFill>
                    </a:lnT>
                    <a:lnB w="6350">
                      <a:solidFill>
                        <a:srgbClr val="E2E7F2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wrap="none"/>
                    <a:lstStyle/>
                    <a:p>
                      <a:pPr algn="r"/>
                      <a:r>
                        <a:rPr sz="850" b="0">
                          <a:solidFill>
                            <a:srgbClr val="26292E"/>
                          </a:solidFill>
                          <a:latin typeface="Calibri"/>
                        </a:rPr>
                        <a:t>2,772</a:t>
                      </a:r>
                    </a:p>
                  </a:txBody>
                  <a:tcPr anchor="ctr" marL="27432" marR="27432" marT="4572" marB="4572">
                    <a:lnL w="6350">
                      <a:solidFill>
                        <a:srgbClr val="E2E7F2"/>
                      </a:solidFill>
                    </a:lnL>
                    <a:lnR w="6350">
                      <a:solidFill>
                        <a:srgbClr val="E2E7F2"/>
                      </a:solidFill>
                    </a:lnR>
                    <a:lnT w="6350">
                      <a:solidFill>
                        <a:srgbClr val="E2E7F2"/>
                      </a:solidFill>
                    </a:lnT>
                    <a:lnB w="6350">
                      <a:solidFill>
                        <a:srgbClr val="E2E7F2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wrap="none"/>
                    <a:lstStyle/>
                    <a:p>
                      <a:pPr algn="r"/>
                      <a:r>
                        <a:rPr sz="850" b="0">
                          <a:solidFill>
                            <a:srgbClr val="26292E"/>
                          </a:solidFill>
                          <a:latin typeface="Calibri"/>
                        </a:rPr>
                        <a:t>2,527</a:t>
                      </a:r>
                    </a:p>
                  </a:txBody>
                  <a:tcPr anchor="ctr" marL="27432" marR="27432" marT="4572" marB="4572">
                    <a:lnL w="6350">
                      <a:solidFill>
                        <a:srgbClr val="E2E7F2"/>
                      </a:solidFill>
                    </a:lnL>
                    <a:lnR w="6350">
                      <a:solidFill>
                        <a:srgbClr val="E2E7F2"/>
                      </a:solidFill>
                    </a:lnR>
                    <a:lnT w="6350">
                      <a:solidFill>
                        <a:srgbClr val="E2E7F2"/>
                      </a:solidFill>
                    </a:lnT>
                    <a:lnB w="6350">
                      <a:solidFill>
                        <a:srgbClr val="E2E7F2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wrap="none"/>
                    <a:lstStyle/>
                    <a:p>
                      <a:pPr algn="r"/>
                      <a:r>
                        <a:rPr sz="850" b="0">
                          <a:solidFill>
                            <a:srgbClr val="26292E"/>
                          </a:solidFill>
                          <a:latin typeface="Calibri"/>
                        </a:rPr>
                        <a:t>2,893</a:t>
                      </a:r>
                    </a:p>
                  </a:txBody>
                  <a:tcPr anchor="ctr" marL="27432" marR="27432" marT="4572" marB="4572">
                    <a:lnL w="6350">
                      <a:solidFill>
                        <a:srgbClr val="E2E7F2"/>
                      </a:solidFill>
                    </a:lnL>
                    <a:lnR w="6350">
                      <a:solidFill>
                        <a:srgbClr val="E2E7F2"/>
                      </a:solidFill>
                    </a:lnR>
                    <a:lnT w="6350">
                      <a:solidFill>
                        <a:srgbClr val="E2E7F2"/>
                      </a:solidFill>
                    </a:lnT>
                    <a:lnB w="6350">
                      <a:solidFill>
                        <a:srgbClr val="E2E7F2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wrap="none"/>
                    <a:lstStyle/>
                    <a:p>
                      <a:pPr algn="r"/>
                      <a:r>
                        <a:rPr sz="850" b="1">
                          <a:solidFill>
                            <a:srgbClr val="26292E"/>
                          </a:solidFill>
                          <a:latin typeface="Calibri"/>
                        </a:rPr>
                        <a:t>2,889</a:t>
                      </a:r>
                    </a:p>
                  </a:txBody>
                  <a:tcPr anchor="ctr" marL="27432" marR="27432" marT="4572" marB="4572">
                    <a:lnL w="6350">
                      <a:solidFill>
                        <a:srgbClr val="E2E7F2"/>
                      </a:solidFill>
                    </a:lnL>
                    <a:lnR w="6350">
                      <a:solidFill>
                        <a:srgbClr val="E2E7F2"/>
                      </a:solidFill>
                    </a:lnR>
                    <a:lnT w="6350">
                      <a:solidFill>
                        <a:srgbClr val="E2E7F2"/>
                      </a:solidFill>
                    </a:lnT>
                    <a:lnB w="6350">
                      <a:solidFill>
                        <a:srgbClr val="E2E7F2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wrap="none"/>
                    <a:lstStyle/>
                    <a:p>
                      <a:pPr algn="r"/>
                      <a:r>
                        <a:rPr sz="850" b="1">
                          <a:solidFill>
                            <a:srgbClr val="C62828"/>
                          </a:solidFill>
                          <a:latin typeface="Calibri"/>
                        </a:rPr>
                        <a:t>-8.5%</a:t>
                      </a:r>
                    </a:p>
                  </a:txBody>
                  <a:tcPr anchor="ctr" marL="27432" marR="27432" marT="4572" marB="4572">
                    <a:lnL w="6350">
                      <a:solidFill>
                        <a:srgbClr val="E2E7F2"/>
                      </a:solidFill>
                    </a:lnL>
                    <a:lnR w="6350">
                      <a:solidFill>
                        <a:srgbClr val="E2E7F2"/>
                      </a:solidFill>
                    </a:lnR>
                    <a:lnT w="6350">
                      <a:solidFill>
                        <a:srgbClr val="E2E7F2"/>
                      </a:solidFill>
                    </a:lnT>
                    <a:lnB w="6350">
                      <a:solidFill>
                        <a:srgbClr val="E2E7F2"/>
                      </a:solidFill>
                    </a:lnB>
                    <a:solidFill>
                      <a:srgbClr val="FFFFFF"/>
                    </a:solidFill>
                  </a:tcPr>
                </a:tc>
              </a:tr>
              <a:tr h="214884">
                <a:tc>
                  <a:txBody>
                    <a:bodyPr wrap="none"/>
                    <a:lstStyle/>
                    <a:p>
                      <a:pPr algn="l"/>
                      <a:r>
                        <a:rPr sz="850" b="0">
                          <a:solidFill>
                            <a:srgbClr val="595959"/>
                          </a:solidFill>
                          <a:latin typeface="Calibri"/>
                        </a:rPr>
                        <a:t>   ’25</a:t>
                      </a:r>
                    </a:p>
                  </a:txBody>
                  <a:tcPr anchor="ctr" marL="27432" marR="27432" marT="4572" marB="4572">
                    <a:lnL w="6350">
                      <a:solidFill>
                        <a:srgbClr val="E2E7F2"/>
                      </a:solidFill>
                    </a:lnL>
                    <a:lnR w="6350">
                      <a:solidFill>
                        <a:srgbClr val="E2E7F2"/>
                      </a:solidFill>
                    </a:lnR>
                    <a:lnT w="6350">
                      <a:solidFill>
                        <a:srgbClr val="E2E7F2"/>
                      </a:solidFill>
                    </a:lnT>
                    <a:lnB w="6350">
                      <a:solidFill>
                        <a:srgbClr val="E2E7F2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wrap="none"/>
                    <a:lstStyle/>
                    <a:p>
                      <a:pPr algn="r"/>
                      <a:r>
                        <a:rPr sz="850" b="0">
                          <a:solidFill>
                            <a:srgbClr val="595959"/>
                          </a:solidFill>
                          <a:latin typeface="Calibri"/>
                        </a:rPr>
                        <a:t>3,972</a:t>
                      </a:r>
                    </a:p>
                  </a:txBody>
                  <a:tcPr anchor="ctr" marL="27432" marR="27432" marT="4572" marB="4572">
                    <a:lnL w="6350">
                      <a:solidFill>
                        <a:srgbClr val="E2E7F2"/>
                      </a:solidFill>
                    </a:lnL>
                    <a:lnR w="6350">
                      <a:solidFill>
                        <a:srgbClr val="E2E7F2"/>
                      </a:solidFill>
                    </a:lnR>
                    <a:lnT w="6350">
                      <a:solidFill>
                        <a:srgbClr val="E2E7F2"/>
                      </a:solidFill>
                    </a:lnT>
                    <a:lnB w="6350">
                      <a:solidFill>
                        <a:srgbClr val="E2E7F2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wrap="none"/>
                    <a:lstStyle/>
                    <a:p>
                      <a:pPr algn="r"/>
                      <a:r>
                        <a:rPr sz="850" b="0">
                          <a:solidFill>
                            <a:srgbClr val="595959"/>
                          </a:solidFill>
                          <a:latin typeface="Calibri"/>
                        </a:rPr>
                        <a:t>2,957</a:t>
                      </a:r>
                    </a:p>
                  </a:txBody>
                  <a:tcPr anchor="ctr" marL="27432" marR="27432" marT="4572" marB="4572">
                    <a:lnL w="6350">
                      <a:solidFill>
                        <a:srgbClr val="E2E7F2"/>
                      </a:solidFill>
                    </a:lnL>
                    <a:lnR w="6350">
                      <a:solidFill>
                        <a:srgbClr val="E2E7F2"/>
                      </a:solidFill>
                    </a:lnR>
                    <a:lnT w="6350">
                      <a:solidFill>
                        <a:srgbClr val="E2E7F2"/>
                      </a:solidFill>
                    </a:lnT>
                    <a:lnB w="6350">
                      <a:solidFill>
                        <a:srgbClr val="E2E7F2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wrap="none"/>
                    <a:lstStyle/>
                    <a:p>
                      <a:pPr algn="r"/>
                      <a:r>
                        <a:rPr sz="850" b="0">
                          <a:solidFill>
                            <a:srgbClr val="595959"/>
                          </a:solidFill>
                          <a:latin typeface="Calibri"/>
                        </a:rPr>
                        <a:t>2,944</a:t>
                      </a:r>
                    </a:p>
                  </a:txBody>
                  <a:tcPr anchor="ctr" marL="27432" marR="27432" marT="4572" marB="4572">
                    <a:lnL w="6350">
                      <a:solidFill>
                        <a:srgbClr val="E2E7F2"/>
                      </a:solidFill>
                    </a:lnL>
                    <a:lnR w="6350">
                      <a:solidFill>
                        <a:srgbClr val="E2E7F2"/>
                      </a:solidFill>
                    </a:lnR>
                    <a:lnT w="6350">
                      <a:solidFill>
                        <a:srgbClr val="E2E7F2"/>
                      </a:solidFill>
                    </a:lnT>
                    <a:lnB w="6350">
                      <a:solidFill>
                        <a:srgbClr val="E2E7F2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wrap="none"/>
                    <a:lstStyle/>
                    <a:p>
                      <a:pPr algn="r"/>
                      <a:r>
                        <a:rPr sz="850" b="0">
                          <a:solidFill>
                            <a:srgbClr val="595959"/>
                          </a:solidFill>
                          <a:latin typeface="Calibri"/>
                        </a:rPr>
                        <a:t>3,027</a:t>
                      </a:r>
                    </a:p>
                  </a:txBody>
                  <a:tcPr anchor="ctr" marL="27432" marR="27432" marT="4572" marB="4572">
                    <a:lnL w="6350">
                      <a:solidFill>
                        <a:srgbClr val="E2E7F2"/>
                      </a:solidFill>
                    </a:lnL>
                    <a:lnR w="6350">
                      <a:solidFill>
                        <a:srgbClr val="E2E7F2"/>
                      </a:solidFill>
                    </a:lnR>
                    <a:lnT w="6350">
                      <a:solidFill>
                        <a:srgbClr val="E2E7F2"/>
                      </a:solidFill>
                    </a:lnT>
                    <a:lnB w="6350">
                      <a:solidFill>
                        <a:srgbClr val="E2E7F2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wrap="none"/>
                    <a:lstStyle/>
                    <a:p>
                      <a:pPr algn="r"/>
                      <a:r>
                        <a:rPr sz="850" b="0">
                          <a:solidFill>
                            <a:srgbClr val="595959"/>
                          </a:solidFill>
                          <a:latin typeface="Calibri"/>
                        </a:rPr>
                        <a:t>3,060</a:t>
                      </a:r>
                    </a:p>
                  </a:txBody>
                  <a:tcPr anchor="ctr" marL="27432" marR="27432" marT="4572" marB="4572">
                    <a:lnL w="6350">
                      <a:solidFill>
                        <a:srgbClr val="E2E7F2"/>
                      </a:solidFill>
                    </a:lnL>
                    <a:lnR w="6350">
                      <a:solidFill>
                        <a:srgbClr val="E2E7F2"/>
                      </a:solidFill>
                    </a:lnR>
                    <a:lnT w="6350">
                      <a:solidFill>
                        <a:srgbClr val="E2E7F2"/>
                      </a:solidFill>
                    </a:lnT>
                    <a:lnB w="6350">
                      <a:solidFill>
                        <a:srgbClr val="E2E7F2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wrap="none"/>
                    <a:lstStyle/>
                    <a:p>
                      <a:pPr algn="r"/>
                      <a:r>
                        <a:rPr sz="850" b="0">
                          <a:solidFill>
                            <a:srgbClr val="595959"/>
                          </a:solidFill>
                          <a:latin typeface="Calibri"/>
                        </a:rPr>
                        <a:t>3,389</a:t>
                      </a:r>
                    </a:p>
                  </a:txBody>
                  <a:tcPr anchor="ctr" marL="27432" marR="27432" marT="4572" marB="4572">
                    <a:lnL w="6350">
                      <a:solidFill>
                        <a:srgbClr val="E2E7F2"/>
                      </a:solidFill>
                    </a:lnL>
                    <a:lnR w="6350">
                      <a:solidFill>
                        <a:srgbClr val="E2E7F2"/>
                      </a:solidFill>
                    </a:lnR>
                    <a:lnT w="6350">
                      <a:solidFill>
                        <a:srgbClr val="E2E7F2"/>
                      </a:solidFill>
                    </a:lnT>
                    <a:lnB w="6350">
                      <a:solidFill>
                        <a:srgbClr val="E2E7F2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wrap="none"/>
                    <a:lstStyle/>
                    <a:p>
                      <a:pPr algn="r"/>
                      <a:r>
                        <a:rPr sz="850" b="0">
                          <a:solidFill>
                            <a:srgbClr val="595959"/>
                          </a:solidFill>
                          <a:latin typeface="Calibri"/>
                        </a:rPr>
                        <a:t>3,156</a:t>
                      </a:r>
                    </a:p>
                  </a:txBody>
                  <a:tcPr anchor="ctr" marL="27432" marR="27432" marT="4572" marB="4572">
                    <a:lnL w="6350">
                      <a:solidFill>
                        <a:srgbClr val="E2E7F2"/>
                      </a:solidFill>
                    </a:lnL>
                    <a:lnR w="6350">
                      <a:solidFill>
                        <a:srgbClr val="E2E7F2"/>
                      </a:solidFill>
                    </a:lnR>
                    <a:lnT w="6350">
                      <a:solidFill>
                        <a:srgbClr val="E2E7F2"/>
                      </a:solidFill>
                    </a:lnT>
                    <a:lnB w="6350">
                      <a:solidFill>
                        <a:srgbClr val="E2E7F2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wrap="none"/>
                    <a:lstStyle/>
                    <a:p>
                      <a:pPr algn="l"/>
                      <a:r>
                        <a:rPr sz="850" b="0">
                          <a:solidFill>
                            <a:srgbClr val="26292E"/>
                          </a:solidFill>
                          <a:latin typeface="Calibri"/>
                        </a:rPr>
                        <a:t/>
                      </a:r>
                    </a:p>
                  </a:txBody>
                  <a:tcPr anchor="ctr" marL="27432" marR="27432" marT="4572" marB="4572">
                    <a:lnL w="6350">
                      <a:solidFill>
                        <a:srgbClr val="E2E7F2"/>
                      </a:solidFill>
                    </a:lnL>
                    <a:lnR w="6350">
                      <a:solidFill>
                        <a:srgbClr val="E2E7F2"/>
                      </a:solidFill>
                    </a:lnR>
                    <a:lnT w="6350">
                      <a:solidFill>
                        <a:srgbClr val="E2E7F2"/>
                      </a:solidFill>
                    </a:lnT>
                    <a:lnB w="6350">
                      <a:solidFill>
                        <a:srgbClr val="E2E7F2"/>
                      </a:solidFill>
                    </a:lnB>
                    <a:solidFill>
                      <a:srgbClr val="FFFFFF"/>
                    </a:solidFill>
                  </a:tcPr>
                </a:tc>
              </a:tr>
              <a:tr h="214884">
                <a:tc>
                  <a:txBody>
                    <a:bodyPr wrap="none"/>
                    <a:lstStyle/>
                    <a:p>
                      <a:pPr algn="l"/>
                      <a:r>
                        <a:rPr sz="850" b="1">
                          <a:solidFill>
                            <a:srgbClr val="26292E"/>
                          </a:solidFill>
                          <a:latin typeface="Calibri"/>
                        </a:rPr>
                        <a:t>Wholesale</a:t>
                      </a:r>
                    </a:p>
                  </a:txBody>
                  <a:tcPr anchor="ctr" marL="27432" marR="27432" marT="4572" marB="4572">
                    <a:lnL w="6350">
                      <a:solidFill>
                        <a:srgbClr val="E2E7F2"/>
                      </a:solidFill>
                    </a:lnL>
                    <a:lnR w="6350">
                      <a:solidFill>
                        <a:srgbClr val="E2E7F2"/>
                      </a:solidFill>
                    </a:lnR>
                    <a:lnT w="6350">
                      <a:solidFill>
                        <a:srgbClr val="E2E7F2"/>
                      </a:solidFill>
                    </a:lnT>
                    <a:lnB w="6350">
                      <a:solidFill>
                        <a:srgbClr val="E2E7F2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wrap="none"/>
                    <a:lstStyle/>
                    <a:p>
                      <a:pPr algn="r"/>
                      <a:r>
                        <a:rPr sz="850" b="0">
                          <a:solidFill>
                            <a:srgbClr val="26292E"/>
                          </a:solidFill>
                          <a:latin typeface="Calibri"/>
                        </a:rPr>
                        <a:t>3,013</a:t>
                      </a:r>
                    </a:p>
                  </a:txBody>
                  <a:tcPr anchor="ctr" marL="27432" marR="27432" marT="4572" marB="4572">
                    <a:lnL w="6350">
                      <a:solidFill>
                        <a:srgbClr val="E2E7F2"/>
                      </a:solidFill>
                    </a:lnL>
                    <a:lnR w="6350">
                      <a:solidFill>
                        <a:srgbClr val="E2E7F2"/>
                      </a:solidFill>
                    </a:lnR>
                    <a:lnT w="6350">
                      <a:solidFill>
                        <a:srgbClr val="E2E7F2"/>
                      </a:solidFill>
                    </a:lnT>
                    <a:lnB w="6350">
                      <a:solidFill>
                        <a:srgbClr val="E2E7F2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wrap="none"/>
                    <a:lstStyle/>
                    <a:p>
                      <a:pPr algn="r"/>
                      <a:r>
                        <a:rPr sz="850" b="0">
                          <a:solidFill>
                            <a:srgbClr val="26292E"/>
                          </a:solidFill>
                          <a:latin typeface="Calibri"/>
                        </a:rPr>
                        <a:t>3,015</a:t>
                      </a:r>
                    </a:p>
                  </a:txBody>
                  <a:tcPr anchor="ctr" marL="27432" marR="27432" marT="4572" marB="4572">
                    <a:lnL w="6350">
                      <a:solidFill>
                        <a:srgbClr val="E2E7F2"/>
                      </a:solidFill>
                    </a:lnL>
                    <a:lnR w="6350">
                      <a:solidFill>
                        <a:srgbClr val="E2E7F2"/>
                      </a:solidFill>
                    </a:lnR>
                    <a:lnT w="6350">
                      <a:solidFill>
                        <a:srgbClr val="E2E7F2"/>
                      </a:solidFill>
                    </a:lnT>
                    <a:lnB w="6350">
                      <a:solidFill>
                        <a:srgbClr val="E2E7F2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wrap="none"/>
                    <a:lstStyle/>
                    <a:p>
                      <a:pPr algn="r"/>
                      <a:r>
                        <a:rPr sz="850" b="0">
                          <a:solidFill>
                            <a:srgbClr val="26292E"/>
                          </a:solidFill>
                          <a:latin typeface="Calibri"/>
                        </a:rPr>
                        <a:t>3,091</a:t>
                      </a:r>
                    </a:p>
                  </a:txBody>
                  <a:tcPr anchor="ctr" marL="27432" marR="27432" marT="4572" marB="4572">
                    <a:lnL w="6350">
                      <a:solidFill>
                        <a:srgbClr val="E2E7F2"/>
                      </a:solidFill>
                    </a:lnL>
                    <a:lnR w="6350">
                      <a:solidFill>
                        <a:srgbClr val="E2E7F2"/>
                      </a:solidFill>
                    </a:lnR>
                    <a:lnT w="6350">
                      <a:solidFill>
                        <a:srgbClr val="E2E7F2"/>
                      </a:solidFill>
                    </a:lnT>
                    <a:lnB w="6350">
                      <a:solidFill>
                        <a:srgbClr val="E2E7F2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wrap="none"/>
                    <a:lstStyle/>
                    <a:p>
                      <a:pPr algn="r"/>
                      <a:r>
                        <a:rPr sz="850" b="0">
                          <a:solidFill>
                            <a:srgbClr val="26292E"/>
                          </a:solidFill>
                          <a:latin typeface="Calibri"/>
                        </a:rPr>
                        <a:t>3,021</a:t>
                      </a:r>
                    </a:p>
                  </a:txBody>
                  <a:tcPr anchor="ctr" marL="27432" marR="27432" marT="4572" marB="4572">
                    <a:lnL w="6350">
                      <a:solidFill>
                        <a:srgbClr val="E2E7F2"/>
                      </a:solidFill>
                    </a:lnL>
                    <a:lnR w="6350">
                      <a:solidFill>
                        <a:srgbClr val="E2E7F2"/>
                      </a:solidFill>
                    </a:lnR>
                    <a:lnT w="6350">
                      <a:solidFill>
                        <a:srgbClr val="E2E7F2"/>
                      </a:solidFill>
                    </a:lnT>
                    <a:lnB w="6350">
                      <a:solidFill>
                        <a:srgbClr val="E2E7F2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wrap="none"/>
                    <a:lstStyle/>
                    <a:p>
                      <a:pPr algn="r"/>
                      <a:r>
                        <a:rPr sz="850" b="0">
                          <a:solidFill>
                            <a:srgbClr val="26292E"/>
                          </a:solidFill>
                          <a:latin typeface="Calibri"/>
                        </a:rPr>
                        <a:t>2,890</a:t>
                      </a:r>
                    </a:p>
                  </a:txBody>
                  <a:tcPr anchor="ctr" marL="27432" marR="27432" marT="4572" marB="4572">
                    <a:lnL w="6350">
                      <a:solidFill>
                        <a:srgbClr val="E2E7F2"/>
                      </a:solidFill>
                    </a:lnL>
                    <a:lnR w="6350">
                      <a:solidFill>
                        <a:srgbClr val="E2E7F2"/>
                      </a:solidFill>
                    </a:lnR>
                    <a:lnT w="6350">
                      <a:solidFill>
                        <a:srgbClr val="E2E7F2"/>
                      </a:solidFill>
                    </a:lnT>
                    <a:lnB w="6350">
                      <a:solidFill>
                        <a:srgbClr val="E2E7F2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wrap="none"/>
                    <a:lstStyle/>
                    <a:p>
                      <a:pPr algn="r"/>
                      <a:r>
                        <a:rPr sz="850" b="0">
                          <a:solidFill>
                            <a:srgbClr val="26292E"/>
                          </a:solidFill>
                          <a:latin typeface="Calibri"/>
                        </a:rPr>
                        <a:t>2,871</a:t>
                      </a:r>
                    </a:p>
                  </a:txBody>
                  <a:tcPr anchor="ctr" marL="27432" marR="27432" marT="4572" marB="4572">
                    <a:lnL w="6350">
                      <a:solidFill>
                        <a:srgbClr val="E2E7F2"/>
                      </a:solidFill>
                    </a:lnL>
                    <a:lnR w="6350">
                      <a:solidFill>
                        <a:srgbClr val="E2E7F2"/>
                      </a:solidFill>
                    </a:lnR>
                    <a:lnT w="6350">
                      <a:solidFill>
                        <a:srgbClr val="E2E7F2"/>
                      </a:solidFill>
                    </a:lnT>
                    <a:lnB w="6350">
                      <a:solidFill>
                        <a:srgbClr val="E2E7F2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wrap="none"/>
                    <a:lstStyle/>
                    <a:p>
                      <a:pPr algn="r"/>
                      <a:r>
                        <a:rPr sz="850" b="1">
                          <a:solidFill>
                            <a:srgbClr val="26292E"/>
                          </a:solidFill>
                          <a:latin typeface="Calibri"/>
                        </a:rPr>
                        <a:t>3,003</a:t>
                      </a:r>
                    </a:p>
                  </a:txBody>
                  <a:tcPr anchor="ctr" marL="27432" marR="27432" marT="4572" marB="4572">
                    <a:lnL w="6350">
                      <a:solidFill>
                        <a:srgbClr val="E2E7F2"/>
                      </a:solidFill>
                    </a:lnL>
                    <a:lnR w="6350">
                      <a:solidFill>
                        <a:srgbClr val="E2E7F2"/>
                      </a:solidFill>
                    </a:lnR>
                    <a:lnT w="6350">
                      <a:solidFill>
                        <a:srgbClr val="E2E7F2"/>
                      </a:solidFill>
                    </a:lnT>
                    <a:lnB w="6350">
                      <a:solidFill>
                        <a:srgbClr val="E2E7F2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wrap="none"/>
                    <a:lstStyle/>
                    <a:p>
                      <a:pPr algn="r"/>
                      <a:r>
                        <a:rPr sz="850" b="1">
                          <a:solidFill>
                            <a:srgbClr val="1E7B34"/>
                          </a:solidFill>
                          <a:latin typeface="Calibri"/>
                        </a:rPr>
                        <a:t>+1.9%</a:t>
                      </a:r>
                    </a:p>
                  </a:txBody>
                  <a:tcPr anchor="ctr" marL="27432" marR="27432" marT="4572" marB="4572">
                    <a:lnL w="6350">
                      <a:solidFill>
                        <a:srgbClr val="E2E7F2"/>
                      </a:solidFill>
                    </a:lnL>
                    <a:lnR w="6350">
                      <a:solidFill>
                        <a:srgbClr val="E2E7F2"/>
                      </a:solidFill>
                    </a:lnR>
                    <a:lnT w="6350">
                      <a:solidFill>
                        <a:srgbClr val="E2E7F2"/>
                      </a:solidFill>
                    </a:lnT>
                    <a:lnB w="6350">
                      <a:solidFill>
                        <a:srgbClr val="E2E7F2"/>
                      </a:solidFill>
                    </a:lnB>
                    <a:solidFill>
                      <a:srgbClr val="FFFFFF"/>
                    </a:solidFill>
                  </a:tcPr>
                </a:tc>
              </a:tr>
              <a:tr h="214884">
                <a:tc>
                  <a:txBody>
                    <a:bodyPr wrap="none"/>
                    <a:lstStyle/>
                    <a:p>
                      <a:pPr algn="l"/>
                      <a:r>
                        <a:rPr sz="850" b="0">
                          <a:solidFill>
                            <a:srgbClr val="595959"/>
                          </a:solidFill>
                          <a:latin typeface="Calibri"/>
                        </a:rPr>
                        <a:t>   ’25</a:t>
                      </a:r>
                    </a:p>
                  </a:txBody>
                  <a:tcPr anchor="ctr" marL="27432" marR="27432" marT="4572" marB="4572">
                    <a:lnL w="6350">
                      <a:solidFill>
                        <a:srgbClr val="E2E7F2"/>
                      </a:solidFill>
                    </a:lnL>
                    <a:lnR w="6350">
                      <a:solidFill>
                        <a:srgbClr val="E2E7F2"/>
                      </a:solidFill>
                    </a:lnR>
                    <a:lnT w="6350">
                      <a:solidFill>
                        <a:srgbClr val="E2E7F2"/>
                      </a:solidFill>
                    </a:lnT>
                    <a:lnB w="6350">
                      <a:solidFill>
                        <a:srgbClr val="E2E7F2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wrap="none"/>
                    <a:lstStyle/>
                    <a:p>
                      <a:pPr algn="r"/>
                      <a:r>
                        <a:rPr sz="850" b="0">
                          <a:solidFill>
                            <a:srgbClr val="595959"/>
                          </a:solidFill>
                          <a:latin typeface="Calibri"/>
                        </a:rPr>
                        <a:t>3,312</a:t>
                      </a:r>
                    </a:p>
                  </a:txBody>
                  <a:tcPr anchor="ctr" marL="27432" marR="27432" marT="4572" marB="4572">
                    <a:lnL w="6350">
                      <a:solidFill>
                        <a:srgbClr val="E2E7F2"/>
                      </a:solidFill>
                    </a:lnL>
                    <a:lnR w="6350">
                      <a:solidFill>
                        <a:srgbClr val="E2E7F2"/>
                      </a:solidFill>
                    </a:lnR>
                    <a:lnT w="6350">
                      <a:solidFill>
                        <a:srgbClr val="E2E7F2"/>
                      </a:solidFill>
                    </a:lnT>
                    <a:lnB w="6350">
                      <a:solidFill>
                        <a:srgbClr val="E2E7F2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wrap="none"/>
                    <a:lstStyle/>
                    <a:p>
                      <a:pPr algn="r"/>
                      <a:r>
                        <a:rPr sz="850" b="0">
                          <a:solidFill>
                            <a:srgbClr val="595959"/>
                          </a:solidFill>
                          <a:latin typeface="Calibri"/>
                        </a:rPr>
                        <a:t>3,236</a:t>
                      </a:r>
                    </a:p>
                  </a:txBody>
                  <a:tcPr anchor="ctr" marL="27432" marR="27432" marT="4572" marB="4572">
                    <a:lnL w="6350">
                      <a:solidFill>
                        <a:srgbClr val="E2E7F2"/>
                      </a:solidFill>
                    </a:lnL>
                    <a:lnR w="6350">
                      <a:solidFill>
                        <a:srgbClr val="E2E7F2"/>
                      </a:solidFill>
                    </a:lnR>
                    <a:lnT w="6350">
                      <a:solidFill>
                        <a:srgbClr val="E2E7F2"/>
                      </a:solidFill>
                    </a:lnT>
                    <a:lnB w="6350">
                      <a:solidFill>
                        <a:srgbClr val="E2E7F2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wrap="none"/>
                    <a:lstStyle/>
                    <a:p>
                      <a:pPr algn="r"/>
                      <a:r>
                        <a:rPr sz="850" b="0">
                          <a:solidFill>
                            <a:srgbClr val="595959"/>
                          </a:solidFill>
                          <a:latin typeface="Calibri"/>
                        </a:rPr>
                        <a:t>2,941</a:t>
                      </a:r>
                    </a:p>
                  </a:txBody>
                  <a:tcPr anchor="ctr" marL="27432" marR="27432" marT="4572" marB="4572">
                    <a:lnL w="6350">
                      <a:solidFill>
                        <a:srgbClr val="E2E7F2"/>
                      </a:solidFill>
                    </a:lnL>
                    <a:lnR w="6350">
                      <a:solidFill>
                        <a:srgbClr val="E2E7F2"/>
                      </a:solidFill>
                    </a:lnR>
                    <a:lnT w="6350">
                      <a:solidFill>
                        <a:srgbClr val="E2E7F2"/>
                      </a:solidFill>
                    </a:lnT>
                    <a:lnB w="6350">
                      <a:solidFill>
                        <a:srgbClr val="E2E7F2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wrap="none"/>
                    <a:lstStyle/>
                    <a:p>
                      <a:pPr algn="r"/>
                      <a:r>
                        <a:rPr sz="850" b="0">
                          <a:solidFill>
                            <a:srgbClr val="595959"/>
                          </a:solidFill>
                          <a:latin typeface="Calibri"/>
                        </a:rPr>
                        <a:t>3,119</a:t>
                      </a:r>
                    </a:p>
                  </a:txBody>
                  <a:tcPr anchor="ctr" marL="27432" marR="27432" marT="4572" marB="4572">
                    <a:lnL w="6350">
                      <a:solidFill>
                        <a:srgbClr val="E2E7F2"/>
                      </a:solidFill>
                    </a:lnL>
                    <a:lnR w="6350">
                      <a:solidFill>
                        <a:srgbClr val="E2E7F2"/>
                      </a:solidFill>
                    </a:lnR>
                    <a:lnT w="6350">
                      <a:solidFill>
                        <a:srgbClr val="E2E7F2"/>
                      </a:solidFill>
                    </a:lnT>
                    <a:lnB w="6350">
                      <a:solidFill>
                        <a:srgbClr val="E2E7F2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wrap="none"/>
                    <a:lstStyle/>
                    <a:p>
                      <a:pPr algn="r"/>
                      <a:r>
                        <a:rPr sz="850" b="0">
                          <a:solidFill>
                            <a:srgbClr val="595959"/>
                          </a:solidFill>
                          <a:latin typeface="Calibri"/>
                        </a:rPr>
                        <a:t>2,661</a:t>
                      </a:r>
                    </a:p>
                  </a:txBody>
                  <a:tcPr anchor="ctr" marL="27432" marR="27432" marT="4572" marB="4572">
                    <a:lnL w="6350">
                      <a:solidFill>
                        <a:srgbClr val="E2E7F2"/>
                      </a:solidFill>
                    </a:lnL>
                    <a:lnR w="6350">
                      <a:solidFill>
                        <a:srgbClr val="E2E7F2"/>
                      </a:solidFill>
                    </a:lnR>
                    <a:lnT w="6350">
                      <a:solidFill>
                        <a:srgbClr val="E2E7F2"/>
                      </a:solidFill>
                    </a:lnT>
                    <a:lnB w="6350">
                      <a:solidFill>
                        <a:srgbClr val="E2E7F2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wrap="none"/>
                    <a:lstStyle/>
                    <a:p>
                      <a:pPr algn="r"/>
                      <a:r>
                        <a:rPr sz="850" b="0">
                          <a:solidFill>
                            <a:srgbClr val="595959"/>
                          </a:solidFill>
                          <a:latin typeface="Calibri"/>
                        </a:rPr>
                        <a:t>2,635</a:t>
                      </a:r>
                    </a:p>
                  </a:txBody>
                  <a:tcPr anchor="ctr" marL="27432" marR="27432" marT="4572" marB="4572">
                    <a:lnL w="6350">
                      <a:solidFill>
                        <a:srgbClr val="E2E7F2"/>
                      </a:solidFill>
                    </a:lnL>
                    <a:lnR w="6350">
                      <a:solidFill>
                        <a:srgbClr val="E2E7F2"/>
                      </a:solidFill>
                    </a:lnR>
                    <a:lnT w="6350">
                      <a:solidFill>
                        <a:srgbClr val="E2E7F2"/>
                      </a:solidFill>
                    </a:lnT>
                    <a:lnB w="6350">
                      <a:solidFill>
                        <a:srgbClr val="E2E7F2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wrap="none"/>
                    <a:lstStyle/>
                    <a:p>
                      <a:pPr algn="r"/>
                      <a:r>
                        <a:rPr sz="850" b="0">
                          <a:solidFill>
                            <a:srgbClr val="595959"/>
                          </a:solidFill>
                          <a:latin typeface="Calibri"/>
                        </a:rPr>
                        <a:t>2,946</a:t>
                      </a:r>
                    </a:p>
                  </a:txBody>
                  <a:tcPr anchor="ctr" marL="27432" marR="27432" marT="4572" marB="4572">
                    <a:lnL w="6350">
                      <a:solidFill>
                        <a:srgbClr val="E2E7F2"/>
                      </a:solidFill>
                    </a:lnL>
                    <a:lnR w="6350">
                      <a:solidFill>
                        <a:srgbClr val="E2E7F2"/>
                      </a:solidFill>
                    </a:lnR>
                    <a:lnT w="6350">
                      <a:solidFill>
                        <a:srgbClr val="E2E7F2"/>
                      </a:solidFill>
                    </a:lnT>
                    <a:lnB w="6350">
                      <a:solidFill>
                        <a:srgbClr val="E2E7F2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wrap="none"/>
                    <a:lstStyle/>
                    <a:p>
                      <a:pPr algn="l"/>
                      <a:r>
                        <a:rPr sz="850" b="0">
                          <a:solidFill>
                            <a:srgbClr val="26292E"/>
                          </a:solidFill>
                          <a:latin typeface="Calibri"/>
                        </a:rPr>
                        <a:t/>
                      </a:r>
                    </a:p>
                  </a:txBody>
                  <a:tcPr anchor="ctr" marL="27432" marR="27432" marT="4572" marB="4572">
                    <a:lnL w="6350">
                      <a:solidFill>
                        <a:srgbClr val="E2E7F2"/>
                      </a:solidFill>
                    </a:lnL>
                    <a:lnR w="6350">
                      <a:solidFill>
                        <a:srgbClr val="E2E7F2"/>
                      </a:solidFill>
                    </a:lnR>
                    <a:lnT w="6350">
                      <a:solidFill>
                        <a:srgbClr val="E2E7F2"/>
                      </a:solidFill>
                    </a:lnT>
                    <a:lnB w="6350">
                      <a:solidFill>
                        <a:srgbClr val="E2E7F2"/>
                      </a:solidFill>
                    </a:lnB>
                    <a:solidFill>
                      <a:srgbClr val="FFFFFF"/>
                    </a:solidFill>
                  </a:tcPr>
                </a:tc>
              </a:tr>
              <a:tr h="214884">
                <a:tc>
                  <a:txBody>
                    <a:bodyPr wrap="none"/>
                    <a:lstStyle/>
                    <a:p>
                      <a:pPr algn="l"/>
                      <a:r>
                        <a:rPr sz="850" b="1">
                          <a:solidFill>
                            <a:srgbClr val="26292E"/>
                          </a:solidFill>
                          <a:latin typeface="Calibri"/>
                        </a:rPr>
                        <a:t>Group Corporate</a:t>
                      </a:r>
                    </a:p>
                  </a:txBody>
                  <a:tcPr anchor="ctr" marL="27432" marR="27432" marT="4572" marB="4572">
                    <a:lnL w="6350">
                      <a:solidFill>
                        <a:srgbClr val="E2E7F2"/>
                      </a:solidFill>
                    </a:lnL>
                    <a:lnR w="6350">
                      <a:solidFill>
                        <a:srgbClr val="E2E7F2"/>
                      </a:solidFill>
                    </a:lnR>
                    <a:lnT w="6350">
                      <a:solidFill>
                        <a:srgbClr val="E2E7F2"/>
                      </a:solidFill>
                    </a:lnT>
                    <a:lnB w="6350">
                      <a:solidFill>
                        <a:srgbClr val="E2E7F2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wrap="none"/>
                    <a:lstStyle/>
                    <a:p>
                      <a:pPr algn="r"/>
                      <a:r>
                        <a:rPr sz="850" b="0">
                          <a:solidFill>
                            <a:srgbClr val="26292E"/>
                          </a:solidFill>
                          <a:latin typeface="Calibri"/>
                        </a:rPr>
                        <a:t>2,252</a:t>
                      </a:r>
                    </a:p>
                  </a:txBody>
                  <a:tcPr anchor="ctr" marL="27432" marR="27432" marT="4572" marB="4572">
                    <a:lnL w="6350">
                      <a:solidFill>
                        <a:srgbClr val="E2E7F2"/>
                      </a:solidFill>
                    </a:lnL>
                    <a:lnR w="6350">
                      <a:solidFill>
                        <a:srgbClr val="E2E7F2"/>
                      </a:solidFill>
                    </a:lnR>
                    <a:lnT w="6350">
                      <a:solidFill>
                        <a:srgbClr val="E2E7F2"/>
                      </a:solidFill>
                    </a:lnT>
                    <a:lnB w="6350">
                      <a:solidFill>
                        <a:srgbClr val="E2E7F2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wrap="none"/>
                    <a:lstStyle/>
                    <a:p>
                      <a:pPr algn="r"/>
                      <a:r>
                        <a:rPr sz="850" b="0">
                          <a:solidFill>
                            <a:srgbClr val="26292E"/>
                          </a:solidFill>
                          <a:latin typeface="Calibri"/>
                        </a:rPr>
                        <a:t>2,485</a:t>
                      </a:r>
                    </a:p>
                  </a:txBody>
                  <a:tcPr anchor="ctr" marL="27432" marR="27432" marT="4572" marB="4572">
                    <a:lnL w="6350">
                      <a:solidFill>
                        <a:srgbClr val="E2E7F2"/>
                      </a:solidFill>
                    </a:lnL>
                    <a:lnR w="6350">
                      <a:solidFill>
                        <a:srgbClr val="E2E7F2"/>
                      </a:solidFill>
                    </a:lnR>
                    <a:lnT w="6350">
                      <a:solidFill>
                        <a:srgbClr val="E2E7F2"/>
                      </a:solidFill>
                    </a:lnT>
                    <a:lnB w="6350">
                      <a:solidFill>
                        <a:srgbClr val="E2E7F2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wrap="none"/>
                    <a:lstStyle/>
                    <a:p>
                      <a:pPr algn="r"/>
                      <a:r>
                        <a:rPr sz="850" b="0">
                          <a:solidFill>
                            <a:srgbClr val="26292E"/>
                          </a:solidFill>
                          <a:latin typeface="Calibri"/>
                        </a:rPr>
                        <a:t>2,285</a:t>
                      </a:r>
                    </a:p>
                  </a:txBody>
                  <a:tcPr anchor="ctr" marL="27432" marR="27432" marT="4572" marB="4572">
                    <a:lnL w="6350">
                      <a:solidFill>
                        <a:srgbClr val="E2E7F2"/>
                      </a:solidFill>
                    </a:lnL>
                    <a:lnR w="6350">
                      <a:solidFill>
                        <a:srgbClr val="E2E7F2"/>
                      </a:solidFill>
                    </a:lnR>
                    <a:lnT w="6350">
                      <a:solidFill>
                        <a:srgbClr val="E2E7F2"/>
                      </a:solidFill>
                    </a:lnT>
                    <a:lnB w="6350">
                      <a:solidFill>
                        <a:srgbClr val="E2E7F2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wrap="none"/>
                    <a:lstStyle/>
                    <a:p>
                      <a:pPr algn="r"/>
                      <a:r>
                        <a:rPr sz="850" b="0">
                          <a:solidFill>
                            <a:srgbClr val="26292E"/>
                          </a:solidFill>
                          <a:latin typeface="Calibri"/>
                        </a:rPr>
                        <a:t>2,238</a:t>
                      </a:r>
                    </a:p>
                  </a:txBody>
                  <a:tcPr anchor="ctr" marL="27432" marR="27432" marT="4572" marB="4572">
                    <a:lnL w="6350">
                      <a:solidFill>
                        <a:srgbClr val="E2E7F2"/>
                      </a:solidFill>
                    </a:lnL>
                    <a:lnR w="6350">
                      <a:solidFill>
                        <a:srgbClr val="E2E7F2"/>
                      </a:solidFill>
                    </a:lnR>
                    <a:lnT w="6350">
                      <a:solidFill>
                        <a:srgbClr val="E2E7F2"/>
                      </a:solidFill>
                    </a:lnT>
                    <a:lnB w="6350">
                      <a:solidFill>
                        <a:srgbClr val="E2E7F2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wrap="none"/>
                    <a:lstStyle/>
                    <a:p>
                      <a:pPr algn="r"/>
                      <a:r>
                        <a:rPr sz="850" b="0">
                          <a:solidFill>
                            <a:srgbClr val="26292E"/>
                          </a:solidFill>
                          <a:latin typeface="Calibri"/>
                        </a:rPr>
                        <a:t>2,456</a:t>
                      </a:r>
                    </a:p>
                  </a:txBody>
                  <a:tcPr anchor="ctr" marL="27432" marR="27432" marT="4572" marB="4572">
                    <a:lnL w="6350">
                      <a:solidFill>
                        <a:srgbClr val="E2E7F2"/>
                      </a:solidFill>
                    </a:lnL>
                    <a:lnR w="6350">
                      <a:solidFill>
                        <a:srgbClr val="E2E7F2"/>
                      </a:solidFill>
                    </a:lnR>
                    <a:lnT w="6350">
                      <a:solidFill>
                        <a:srgbClr val="E2E7F2"/>
                      </a:solidFill>
                    </a:lnT>
                    <a:lnB w="6350">
                      <a:solidFill>
                        <a:srgbClr val="E2E7F2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wrap="none"/>
                    <a:lstStyle/>
                    <a:p>
                      <a:pPr algn="r"/>
                      <a:r>
                        <a:rPr sz="850" b="0">
                          <a:solidFill>
                            <a:srgbClr val="26292E"/>
                          </a:solidFill>
                          <a:latin typeface="Calibri"/>
                        </a:rPr>
                        <a:t>2,264</a:t>
                      </a:r>
                    </a:p>
                  </a:txBody>
                  <a:tcPr anchor="ctr" marL="27432" marR="27432" marT="4572" marB="4572">
                    <a:lnL w="6350">
                      <a:solidFill>
                        <a:srgbClr val="E2E7F2"/>
                      </a:solidFill>
                    </a:lnL>
                    <a:lnR w="6350">
                      <a:solidFill>
                        <a:srgbClr val="E2E7F2"/>
                      </a:solidFill>
                    </a:lnR>
                    <a:lnT w="6350">
                      <a:solidFill>
                        <a:srgbClr val="E2E7F2"/>
                      </a:solidFill>
                    </a:lnT>
                    <a:lnB w="6350">
                      <a:solidFill>
                        <a:srgbClr val="E2E7F2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wrap="none"/>
                    <a:lstStyle/>
                    <a:p>
                      <a:pPr algn="r"/>
                      <a:r>
                        <a:rPr sz="850" b="1">
                          <a:solidFill>
                            <a:srgbClr val="26292E"/>
                          </a:solidFill>
                          <a:latin typeface="Calibri"/>
                        </a:rPr>
                        <a:t>2,290</a:t>
                      </a:r>
                    </a:p>
                  </a:txBody>
                  <a:tcPr anchor="ctr" marL="27432" marR="27432" marT="4572" marB="4572">
                    <a:lnL w="6350">
                      <a:solidFill>
                        <a:srgbClr val="E2E7F2"/>
                      </a:solidFill>
                    </a:lnL>
                    <a:lnR w="6350">
                      <a:solidFill>
                        <a:srgbClr val="E2E7F2"/>
                      </a:solidFill>
                    </a:lnR>
                    <a:lnT w="6350">
                      <a:solidFill>
                        <a:srgbClr val="E2E7F2"/>
                      </a:solidFill>
                    </a:lnT>
                    <a:lnB w="6350">
                      <a:solidFill>
                        <a:srgbClr val="E2E7F2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wrap="none"/>
                    <a:lstStyle/>
                    <a:p>
                      <a:pPr algn="r"/>
                      <a:r>
                        <a:rPr sz="850" b="1">
                          <a:solidFill>
                            <a:srgbClr val="C62828"/>
                          </a:solidFill>
                          <a:latin typeface="Calibri"/>
                        </a:rPr>
                        <a:t>-12.3%</a:t>
                      </a:r>
                    </a:p>
                  </a:txBody>
                  <a:tcPr anchor="ctr" marL="27432" marR="27432" marT="4572" marB="4572">
                    <a:lnL w="6350">
                      <a:solidFill>
                        <a:srgbClr val="E2E7F2"/>
                      </a:solidFill>
                    </a:lnL>
                    <a:lnR w="6350">
                      <a:solidFill>
                        <a:srgbClr val="E2E7F2"/>
                      </a:solidFill>
                    </a:lnR>
                    <a:lnT w="6350">
                      <a:solidFill>
                        <a:srgbClr val="E2E7F2"/>
                      </a:solidFill>
                    </a:lnT>
                    <a:lnB w="6350">
                      <a:solidFill>
                        <a:srgbClr val="E2E7F2"/>
                      </a:solidFill>
                    </a:lnB>
                    <a:solidFill>
                      <a:srgbClr val="FFFFFF"/>
                    </a:solidFill>
                  </a:tcPr>
                </a:tc>
              </a:tr>
              <a:tr h="214884">
                <a:tc>
                  <a:txBody>
                    <a:bodyPr wrap="none"/>
                    <a:lstStyle/>
                    <a:p>
                      <a:pPr algn="l"/>
                      <a:r>
                        <a:rPr sz="850" b="0">
                          <a:solidFill>
                            <a:srgbClr val="595959"/>
                          </a:solidFill>
                          <a:latin typeface="Calibri"/>
                        </a:rPr>
                        <a:t>   ’25</a:t>
                      </a:r>
                    </a:p>
                  </a:txBody>
                  <a:tcPr anchor="ctr" marL="27432" marR="27432" marT="4572" marB="4572">
                    <a:lnL w="6350">
                      <a:solidFill>
                        <a:srgbClr val="E2E7F2"/>
                      </a:solidFill>
                    </a:lnL>
                    <a:lnR w="6350">
                      <a:solidFill>
                        <a:srgbClr val="E2E7F2"/>
                      </a:solidFill>
                    </a:lnR>
                    <a:lnT w="6350">
                      <a:solidFill>
                        <a:srgbClr val="E2E7F2"/>
                      </a:solidFill>
                    </a:lnT>
                    <a:lnB w="6350">
                      <a:solidFill>
                        <a:srgbClr val="E2E7F2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wrap="none"/>
                    <a:lstStyle/>
                    <a:p>
                      <a:pPr algn="r"/>
                      <a:r>
                        <a:rPr sz="850" b="0">
                          <a:solidFill>
                            <a:srgbClr val="595959"/>
                          </a:solidFill>
                          <a:latin typeface="Calibri"/>
                        </a:rPr>
                        <a:t>2,688</a:t>
                      </a:r>
                    </a:p>
                  </a:txBody>
                  <a:tcPr anchor="ctr" marL="27432" marR="27432" marT="4572" marB="4572">
                    <a:lnL w="6350">
                      <a:solidFill>
                        <a:srgbClr val="E2E7F2"/>
                      </a:solidFill>
                    </a:lnL>
                    <a:lnR w="6350">
                      <a:solidFill>
                        <a:srgbClr val="E2E7F2"/>
                      </a:solidFill>
                    </a:lnR>
                    <a:lnT w="6350">
                      <a:solidFill>
                        <a:srgbClr val="E2E7F2"/>
                      </a:solidFill>
                    </a:lnT>
                    <a:lnB w="6350">
                      <a:solidFill>
                        <a:srgbClr val="E2E7F2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wrap="none"/>
                    <a:lstStyle/>
                    <a:p>
                      <a:pPr algn="r"/>
                      <a:r>
                        <a:rPr sz="850" b="0">
                          <a:solidFill>
                            <a:srgbClr val="595959"/>
                          </a:solidFill>
                          <a:latin typeface="Calibri"/>
                        </a:rPr>
                        <a:t>2,646</a:t>
                      </a:r>
                    </a:p>
                  </a:txBody>
                  <a:tcPr anchor="ctr" marL="27432" marR="27432" marT="4572" marB="4572">
                    <a:lnL w="6350">
                      <a:solidFill>
                        <a:srgbClr val="E2E7F2"/>
                      </a:solidFill>
                    </a:lnL>
                    <a:lnR w="6350">
                      <a:solidFill>
                        <a:srgbClr val="E2E7F2"/>
                      </a:solidFill>
                    </a:lnR>
                    <a:lnT w="6350">
                      <a:solidFill>
                        <a:srgbClr val="E2E7F2"/>
                      </a:solidFill>
                    </a:lnT>
                    <a:lnB w="6350">
                      <a:solidFill>
                        <a:srgbClr val="E2E7F2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wrap="none"/>
                    <a:lstStyle/>
                    <a:p>
                      <a:pPr algn="r"/>
                      <a:r>
                        <a:rPr sz="850" b="0">
                          <a:solidFill>
                            <a:srgbClr val="595959"/>
                          </a:solidFill>
                          <a:latin typeface="Calibri"/>
                        </a:rPr>
                        <a:t>2,945</a:t>
                      </a:r>
                    </a:p>
                  </a:txBody>
                  <a:tcPr anchor="ctr" marL="27432" marR="27432" marT="4572" marB="4572">
                    <a:lnL w="6350">
                      <a:solidFill>
                        <a:srgbClr val="E2E7F2"/>
                      </a:solidFill>
                    </a:lnL>
                    <a:lnR w="6350">
                      <a:solidFill>
                        <a:srgbClr val="E2E7F2"/>
                      </a:solidFill>
                    </a:lnR>
                    <a:lnT w="6350">
                      <a:solidFill>
                        <a:srgbClr val="E2E7F2"/>
                      </a:solidFill>
                    </a:lnT>
                    <a:lnB w="6350">
                      <a:solidFill>
                        <a:srgbClr val="E2E7F2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wrap="none"/>
                    <a:lstStyle/>
                    <a:p>
                      <a:pPr algn="r"/>
                      <a:r>
                        <a:rPr sz="850" b="0">
                          <a:solidFill>
                            <a:srgbClr val="595959"/>
                          </a:solidFill>
                          <a:latin typeface="Calibri"/>
                        </a:rPr>
                        <a:t>2,607</a:t>
                      </a:r>
                    </a:p>
                  </a:txBody>
                  <a:tcPr anchor="ctr" marL="27432" marR="27432" marT="4572" marB="4572">
                    <a:lnL w="6350">
                      <a:solidFill>
                        <a:srgbClr val="E2E7F2"/>
                      </a:solidFill>
                    </a:lnL>
                    <a:lnR w="6350">
                      <a:solidFill>
                        <a:srgbClr val="E2E7F2"/>
                      </a:solidFill>
                    </a:lnR>
                    <a:lnT w="6350">
                      <a:solidFill>
                        <a:srgbClr val="E2E7F2"/>
                      </a:solidFill>
                    </a:lnT>
                    <a:lnB w="6350">
                      <a:solidFill>
                        <a:srgbClr val="E2E7F2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wrap="none"/>
                    <a:lstStyle/>
                    <a:p>
                      <a:pPr algn="r"/>
                      <a:r>
                        <a:rPr sz="850" b="0">
                          <a:solidFill>
                            <a:srgbClr val="595959"/>
                          </a:solidFill>
                          <a:latin typeface="Calibri"/>
                        </a:rPr>
                        <a:t>2,511</a:t>
                      </a:r>
                    </a:p>
                  </a:txBody>
                  <a:tcPr anchor="ctr" marL="27432" marR="27432" marT="4572" marB="4572">
                    <a:lnL w="6350">
                      <a:solidFill>
                        <a:srgbClr val="E2E7F2"/>
                      </a:solidFill>
                    </a:lnL>
                    <a:lnR w="6350">
                      <a:solidFill>
                        <a:srgbClr val="E2E7F2"/>
                      </a:solidFill>
                    </a:lnR>
                    <a:lnT w="6350">
                      <a:solidFill>
                        <a:srgbClr val="E2E7F2"/>
                      </a:solidFill>
                    </a:lnT>
                    <a:lnB w="6350">
                      <a:solidFill>
                        <a:srgbClr val="E2E7F2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wrap="none"/>
                    <a:lstStyle/>
                    <a:p>
                      <a:pPr algn="r"/>
                      <a:r>
                        <a:rPr sz="850" b="0">
                          <a:solidFill>
                            <a:srgbClr val="595959"/>
                          </a:solidFill>
                          <a:latin typeface="Calibri"/>
                        </a:rPr>
                        <a:t>1,872</a:t>
                      </a:r>
                    </a:p>
                  </a:txBody>
                  <a:tcPr anchor="ctr" marL="27432" marR="27432" marT="4572" marB="4572">
                    <a:lnL w="6350">
                      <a:solidFill>
                        <a:srgbClr val="E2E7F2"/>
                      </a:solidFill>
                    </a:lnL>
                    <a:lnR w="6350">
                      <a:solidFill>
                        <a:srgbClr val="E2E7F2"/>
                      </a:solidFill>
                    </a:lnR>
                    <a:lnT w="6350">
                      <a:solidFill>
                        <a:srgbClr val="E2E7F2"/>
                      </a:solidFill>
                    </a:lnT>
                    <a:lnB w="6350">
                      <a:solidFill>
                        <a:srgbClr val="E2E7F2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wrap="none"/>
                    <a:lstStyle/>
                    <a:p>
                      <a:pPr algn="r"/>
                      <a:r>
                        <a:rPr sz="850" b="0">
                          <a:solidFill>
                            <a:srgbClr val="595959"/>
                          </a:solidFill>
                          <a:latin typeface="Calibri"/>
                        </a:rPr>
                        <a:t>2,610</a:t>
                      </a:r>
                    </a:p>
                  </a:txBody>
                  <a:tcPr anchor="ctr" marL="27432" marR="27432" marT="4572" marB="4572">
                    <a:lnL w="6350">
                      <a:solidFill>
                        <a:srgbClr val="E2E7F2"/>
                      </a:solidFill>
                    </a:lnL>
                    <a:lnR w="6350">
                      <a:solidFill>
                        <a:srgbClr val="E2E7F2"/>
                      </a:solidFill>
                    </a:lnR>
                    <a:lnT w="6350">
                      <a:solidFill>
                        <a:srgbClr val="E2E7F2"/>
                      </a:solidFill>
                    </a:lnT>
                    <a:lnB w="6350">
                      <a:solidFill>
                        <a:srgbClr val="E2E7F2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wrap="none"/>
                    <a:lstStyle/>
                    <a:p>
                      <a:pPr algn="l"/>
                      <a:r>
                        <a:rPr sz="850" b="0">
                          <a:solidFill>
                            <a:srgbClr val="26292E"/>
                          </a:solidFill>
                          <a:latin typeface="Calibri"/>
                        </a:rPr>
                        <a:t/>
                      </a:r>
                    </a:p>
                  </a:txBody>
                  <a:tcPr anchor="ctr" marL="27432" marR="27432" marT="4572" marB="4572">
                    <a:lnL w="6350">
                      <a:solidFill>
                        <a:srgbClr val="E2E7F2"/>
                      </a:solidFill>
                    </a:lnL>
                    <a:lnR w="6350">
                      <a:solidFill>
                        <a:srgbClr val="E2E7F2"/>
                      </a:solidFill>
                    </a:lnR>
                    <a:lnT w="6350">
                      <a:solidFill>
                        <a:srgbClr val="E2E7F2"/>
                      </a:solidFill>
                    </a:lnT>
                    <a:lnB w="6350">
                      <a:solidFill>
                        <a:srgbClr val="E2E7F2"/>
                      </a:solidFill>
                    </a:lnB>
                    <a:solidFill>
                      <a:srgbClr val="FFFFFF"/>
                    </a:solidFill>
                  </a:tcPr>
                </a:tc>
              </a:tr>
              <a:tr h="214884">
                <a:tc>
                  <a:txBody>
                    <a:bodyPr wrap="none"/>
                    <a:lstStyle/>
                    <a:p>
                      <a:pPr algn="l"/>
                      <a:r>
                        <a:rPr sz="850" b="1">
                          <a:solidFill>
                            <a:srgbClr val="26292E"/>
                          </a:solidFill>
                          <a:latin typeface="Calibri"/>
                        </a:rPr>
                        <a:t>Group Leisure</a:t>
                      </a:r>
                    </a:p>
                  </a:txBody>
                  <a:tcPr anchor="ctr" marL="27432" marR="27432" marT="4572" marB="4572">
                    <a:lnL w="6350">
                      <a:solidFill>
                        <a:srgbClr val="E2E7F2"/>
                      </a:solidFill>
                    </a:lnL>
                    <a:lnR w="6350">
                      <a:solidFill>
                        <a:srgbClr val="E2E7F2"/>
                      </a:solidFill>
                    </a:lnR>
                    <a:lnT w="6350">
                      <a:solidFill>
                        <a:srgbClr val="E2E7F2"/>
                      </a:solidFill>
                    </a:lnT>
                    <a:lnB w="6350">
                      <a:solidFill>
                        <a:srgbClr val="E2E7F2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wrap="none"/>
                    <a:lstStyle/>
                    <a:p>
                      <a:pPr algn="r"/>
                      <a:r>
                        <a:rPr sz="850" b="0">
                          <a:solidFill>
                            <a:srgbClr val="26292E"/>
                          </a:solidFill>
                          <a:latin typeface="Calibri"/>
                        </a:rPr>
                        <a:t>2,061</a:t>
                      </a:r>
                    </a:p>
                  </a:txBody>
                  <a:tcPr anchor="ctr" marL="27432" marR="27432" marT="4572" marB="4572">
                    <a:lnL w="6350">
                      <a:solidFill>
                        <a:srgbClr val="E2E7F2"/>
                      </a:solidFill>
                    </a:lnL>
                    <a:lnR w="6350">
                      <a:solidFill>
                        <a:srgbClr val="E2E7F2"/>
                      </a:solidFill>
                    </a:lnR>
                    <a:lnT w="6350">
                      <a:solidFill>
                        <a:srgbClr val="E2E7F2"/>
                      </a:solidFill>
                    </a:lnT>
                    <a:lnB w="6350">
                      <a:solidFill>
                        <a:srgbClr val="E2E7F2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wrap="none"/>
                    <a:lstStyle/>
                    <a:p>
                      <a:pPr algn="r"/>
                      <a:r>
                        <a:rPr sz="850" b="0">
                          <a:solidFill>
                            <a:srgbClr val="26292E"/>
                          </a:solidFill>
                          <a:latin typeface="Calibri"/>
                        </a:rPr>
                        <a:t>2,103</a:t>
                      </a:r>
                    </a:p>
                  </a:txBody>
                  <a:tcPr anchor="ctr" marL="27432" marR="27432" marT="4572" marB="4572">
                    <a:lnL w="6350">
                      <a:solidFill>
                        <a:srgbClr val="E2E7F2"/>
                      </a:solidFill>
                    </a:lnL>
                    <a:lnR w="6350">
                      <a:solidFill>
                        <a:srgbClr val="E2E7F2"/>
                      </a:solidFill>
                    </a:lnR>
                    <a:lnT w="6350">
                      <a:solidFill>
                        <a:srgbClr val="E2E7F2"/>
                      </a:solidFill>
                    </a:lnT>
                    <a:lnB w="6350">
                      <a:solidFill>
                        <a:srgbClr val="E2E7F2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wrap="none"/>
                    <a:lstStyle/>
                    <a:p>
                      <a:pPr algn="r"/>
                      <a:r>
                        <a:rPr sz="850" b="0">
                          <a:solidFill>
                            <a:srgbClr val="26292E"/>
                          </a:solidFill>
                          <a:latin typeface="Calibri"/>
                        </a:rPr>
                        <a:t>2,062</a:t>
                      </a:r>
                    </a:p>
                  </a:txBody>
                  <a:tcPr anchor="ctr" marL="27432" marR="27432" marT="4572" marB="4572">
                    <a:lnL w="6350">
                      <a:solidFill>
                        <a:srgbClr val="E2E7F2"/>
                      </a:solidFill>
                    </a:lnL>
                    <a:lnR w="6350">
                      <a:solidFill>
                        <a:srgbClr val="E2E7F2"/>
                      </a:solidFill>
                    </a:lnR>
                    <a:lnT w="6350">
                      <a:solidFill>
                        <a:srgbClr val="E2E7F2"/>
                      </a:solidFill>
                    </a:lnT>
                    <a:lnB w="6350">
                      <a:solidFill>
                        <a:srgbClr val="E2E7F2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wrap="none"/>
                    <a:lstStyle/>
                    <a:p>
                      <a:pPr algn="r"/>
                      <a:r>
                        <a:rPr sz="850" b="0">
                          <a:solidFill>
                            <a:srgbClr val="26292E"/>
                          </a:solidFill>
                          <a:latin typeface="Calibri"/>
                        </a:rPr>
                        <a:t>2,095</a:t>
                      </a:r>
                    </a:p>
                  </a:txBody>
                  <a:tcPr anchor="ctr" marL="27432" marR="27432" marT="4572" marB="4572">
                    <a:lnL w="6350">
                      <a:solidFill>
                        <a:srgbClr val="E2E7F2"/>
                      </a:solidFill>
                    </a:lnL>
                    <a:lnR w="6350">
                      <a:solidFill>
                        <a:srgbClr val="E2E7F2"/>
                      </a:solidFill>
                    </a:lnR>
                    <a:lnT w="6350">
                      <a:solidFill>
                        <a:srgbClr val="E2E7F2"/>
                      </a:solidFill>
                    </a:lnT>
                    <a:lnB w="6350">
                      <a:solidFill>
                        <a:srgbClr val="E2E7F2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wrap="none"/>
                    <a:lstStyle/>
                    <a:p>
                      <a:pPr algn="r"/>
                      <a:r>
                        <a:rPr sz="850" b="0">
                          <a:solidFill>
                            <a:srgbClr val="26292E"/>
                          </a:solidFill>
                          <a:latin typeface="Calibri"/>
                        </a:rPr>
                        <a:t>1,987</a:t>
                      </a:r>
                    </a:p>
                  </a:txBody>
                  <a:tcPr anchor="ctr" marL="27432" marR="27432" marT="4572" marB="4572">
                    <a:lnL w="6350">
                      <a:solidFill>
                        <a:srgbClr val="E2E7F2"/>
                      </a:solidFill>
                    </a:lnL>
                    <a:lnR w="6350">
                      <a:solidFill>
                        <a:srgbClr val="E2E7F2"/>
                      </a:solidFill>
                    </a:lnR>
                    <a:lnT w="6350">
                      <a:solidFill>
                        <a:srgbClr val="E2E7F2"/>
                      </a:solidFill>
                    </a:lnT>
                    <a:lnB w="6350">
                      <a:solidFill>
                        <a:srgbClr val="E2E7F2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wrap="none"/>
                    <a:lstStyle/>
                    <a:p>
                      <a:pPr algn="r"/>
                      <a:r>
                        <a:rPr sz="850" b="0">
                          <a:solidFill>
                            <a:srgbClr val="26292E"/>
                          </a:solidFill>
                          <a:latin typeface="Calibri"/>
                        </a:rPr>
                        <a:t>2,066</a:t>
                      </a:r>
                    </a:p>
                  </a:txBody>
                  <a:tcPr anchor="ctr" marL="27432" marR="27432" marT="4572" marB="4572">
                    <a:lnL w="6350">
                      <a:solidFill>
                        <a:srgbClr val="E2E7F2"/>
                      </a:solidFill>
                    </a:lnL>
                    <a:lnR w="6350">
                      <a:solidFill>
                        <a:srgbClr val="E2E7F2"/>
                      </a:solidFill>
                    </a:lnR>
                    <a:lnT w="6350">
                      <a:solidFill>
                        <a:srgbClr val="E2E7F2"/>
                      </a:solidFill>
                    </a:lnT>
                    <a:lnB w="6350">
                      <a:solidFill>
                        <a:srgbClr val="E2E7F2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wrap="none"/>
                    <a:lstStyle/>
                    <a:p>
                      <a:pPr algn="r"/>
                      <a:r>
                        <a:rPr sz="850" b="1">
                          <a:solidFill>
                            <a:srgbClr val="26292E"/>
                          </a:solidFill>
                          <a:latin typeface="Calibri"/>
                        </a:rPr>
                        <a:t>2,053</a:t>
                      </a:r>
                    </a:p>
                  </a:txBody>
                  <a:tcPr anchor="ctr" marL="27432" marR="27432" marT="4572" marB="4572">
                    <a:lnL w="6350">
                      <a:solidFill>
                        <a:srgbClr val="E2E7F2"/>
                      </a:solidFill>
                    </a:lnL>
                    <a:lnR w="6350">
                      <a:solidFill>
                        <a:srgbClr val="E2E7F2"/>
                      </a:solidFill>
                    </a:lnR>
                    <a:lnT w="6350">
                      <a:solidFill>
                        <a:srgbClr val="E2E7F2"/>
                      </a:solidFill>
                    </a:lnT>
                    <a:lnB w="6350">
                      <a:solidFill>
                        <a:srgbClr val="E2E7F2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wrap="none"/>
                    <a:lstStyle/>
                    <a:p>
                      <a:pPr algn="r"/>
                      <a:r>
                        <a:rPr sz="850" b="1">
                          <a:solidFill>
                            <a:srgbClr val="C62828"/>
                          </a:solidFill>
                          <a:latin typeface="Calibri"/>
                        </a:rPr>
                        <a:t>-25.2%</a:t>
                      </a:r>
                    </a:p>
                  </a:txBody>
                  <a:tcPr anchor="ctr" marL="27432" marR="27432" marT="4572" marB="4572">
                    <a:lnL w="6350">
                      <a:solidFill>
                        <a:srgbClr val="E2E7F2"/>
                      </a:solidFill>
                    </a:lnL>
                    <a:lnR w="6350">
                      <a:solidFill>
                        <a:srgbClr val="E2E7F2"/>
                      </a:solidFill>
                    </a:lnR>
                    <a:lnT w="6350">
                      <a:solidFill>
                        <a:srgbClr val="E2E7F2"/>
                      </a:solidFill>
                    </a:lnT>
                    <a:lnB w="6350">
                      <a:solidFill>
                        <a:srgbClr val="E2E7F2"/>
                      </a:solidFill>
                    </a:lnB>
                    <a:solidFill>
                      <a:srgbClr val="FFFFFF"/>
                    </a:solidFill>
                  </a:tcPr>
                </a:tc>
              </a:tr>
              <a:tr h="214884">
                <a:tc>
                  <a:txBody>
                    <a:bodyPr wrap="none"/>
                    <a:lstStyle/>
                    <a:p>
                      <a:pPr algn="l"/>
                      <a:r>
                        <a:rPr sz="850" b="0">
                          <a:solidFill>
                            <a:srgbClr val="595959"/>
                          </a:solidFill>
                          <a:latin typeface="Calibri"/>
                        </a:rPr>
                        <a:t>   ’25</a:t>
                      </a:r>
                    </a:p>
                  </a:txBody>
                  <a:tcPr anchor="ctr" marL="27432" marR="27432" marT="4572" marB="4572">
                    <a:lnL w="6350">
                      <a:solidFill>
                        <a:srgbClr val="E2E7F2"/>
                      </a:solidFill>
                    </a:lnL>
                    <a:lnR w="6350">
                      <a:solidFill>
                        <a:srgbClr val="E2E7F2"/>
                      </a:solidFill>
                    </a:lnR>
                    <a:lnT w="6350">
                      <a:solidFill>
                        <a:srgbClr val="E2E7F2"/>
                      </a:solidFill>
                    </a:lnT>
                    <a:lnB w="6350">
                      <a:solidFill>
                        <a:srgbClr val="E2E7F2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wrap="none"/>
                    <a:lstStyle/>
                    <a:p>
                      <a:pPr algn="r"/>
                      <a:r>
                        <a:rPr sz="850" b="0">
                          <a:solidFill>
                            <a:srgbClr val="595959"/>
                          </a:solidFill>
                          <a:latin typeface="Calibri"/>
                        </a:rPr>
                        <a:t>3,140</a:t>
                      </a:r>
                    </a:p>
                  </a:txBody>
                  <a:tcPr anchor="ctr" marL="27432" marR="27432" marT="4572" marB="4572">
                    <a:lnL w="6350">
                      <a:solidFill>
                        <a:srgbClr val="E2E7F2"/>
                      </a:solidFill>
                    </a:lnL>
                    <a:lnR w="6350">
                      <a:solidFill>
                        <a:srgbClr val="E2E7F2"/>
                      </a:solidFill>
                    </a:lnR>
                    <a:lnT w="6350">
                      <a:solidFill>
                        <a:srgbClr val="E2E7F2"/>
                      </a:solidFill>
                    </a:lnT>
                    <a:lnB w="6350">
                      <a:solidFill>
                        <a:srgbClr val="E2E7F2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wrap="none"/>
                    <a:lstStyle/>
                    <a:p>
                      <a:pPr algn="r"/>
                      <a:r>
                        <a:rPr sz="850" b="0">
                          <a:solidFill>
                            <a:srgbClr val="595959"/>
                          </a:solidFill>
                          <a:latin typeface="Calibri"/>
                        </a:rPr>
                        <a:t>2,613</a:t>
                      </a:r>
                    </a:p>
                  </a:txBody>
                  <a:tcPr anchor="ctr" marL="27432" marR="27432" marT="4572" marB="4572">
                    <a:lnL w="6350">
                      <a:solidFill>
                        <a:srgbClr val="E2E7F2"/>
                      </a:solidFill>
                    </a:lnL>
                    <a:lnR w="6350">
                      <a:solidFill>
                        <a:srgbClr val="E2E7F2"/>
                      </a:solidFill>
                    </a:lnR>
                    <a:lnT w="6350">
                      <a:solidFill>
                        <a:srgbClr val="E2E7F2"/>
                      </a:solidFill>
                    </a:lnT>
                    <a:lnB w="6350">
                      <a:solidFill>
                        <a:srgbClr val="E2E7F2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wrap="none"/>
                    <a:lstStyle/>
                    <a:p>
                      <a:pPr algn="r"/>
                      <a:r>
                        <a:rPr sz="850" b="0">
                          <a:solidFill>
                            <a:srgbClr val="595959"/>
                          </a:solidFill>
                          <a:latin typeface="Calibri"/>
                        </a:rPr>
                        <a:t>2,585</a:t>
                      </a:r>
                    </a:p>
                  </a:txBody>
                  <a:tcPr anchor="ctr" marL="27432" marR="27432" marT="4572" marB="4572">
                    <a:lnL w="6350">
                      <a:solidFill>
                        <a:srgbClr val="E2E7F2"/>
                      </a:solidFill>
                    </a:lnL>
                    <a:lnR w="6350">
                      <a:solidFill>
                        <a:srgbClr val="E2E7F2"/>
                      </a:solidFill>
                    </a:lnR>
                    <a:lnT w="6350">
                      <a:solidFill>
                        <a:srgbClr val="E2E7F2"/>
                      </a:solidFill>
                    </a:lnT>
                    <a:lnB w="6350">
                      <a:solidFill>
                        <a:srgbClr val="E2E7F2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wrap="none"/>
                    <a:lstStyle/>
                    <a:p>
                      <a:pPr algn="r"/>
                      <a:r>
                        <a:rPr sz="850" b="0">
                          <a:solidFill>
                            <a:srgbClr val="595959"/>
                          </a:solidFill>
                          <a:latin typeface="Calibri"/>
                        </a:rPr>
                        <a:t>3,051</a:t>
                      </a:r>
                    </a:p>
                  </a:txBody>
                  <a:tcPr anchor="ctr" marL="27432" marR="27432" marT="4572" marB="4572">
                    <a:lnL w="6350">
                      <a:solidFill>
                        <a:srgbClr val="E2E7F2"/>
                      </a:solidFill>
                    </a:lnL>
                    <a:lnR w="6350">
                      <a:solidFill>
                        <a:srgbClr val="E2E7F2"/>
                      </a:solidFill>
                    </a:lnR>
                    <a:lnT w="6350">
                      <a:solidFill>
                        <a:srgbClr val="E2E7F2"/>
                      </a:solidFill>
                    </a:lnT>
                    <a:lnB w="6350">
                      <a:solidFill>
                        <a:srgbClr val="E2E7F2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wrap="none"/>
                    <a:lstStyle/>
                    <a:p>
                      <a:pPr algn="r"/>
                      <a:r>
                        <a:rPr sz="850" b="0">
                          <a:solidFill>
                            <a:srgbClr val="595959"/>
                          </a:solidFill>
                          <a:latin typeface="Calibri"/>
                        </a:rPr>
                        <a:t>2,853</a:t>
                      </a:r>
                    </a:p>
                  </a:txBody>
                  <a:tcPr anchor="ctr" marL="27432" marR="27432" marT="4572" marB="4572">
                    <a:lnL w="6350">
                      <a:solidFill>
                        <a:srgbClr val="E2E7F2"/>
                      </a:solidFill>
                    </a:lnL>
                    <a:lnR w="6350">
                      <a:solidFill>
                        <a:srgbClr val="E2E7F2"/>
                      </a:solidFill>
                    </a:lnR>
                    <a:lnT w="6350">
                      <a:solidFill>
                        <a:srgbClr val="E2E7F2"/>
                      </a:solidFill>
                    </a:lnT>
                    <a:lnB w="6350">
                      <a:solidFill>
                        <a:srgbClr val="E2E7F2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wrap="none"/>
                    <a:lstStyle/>
                    <a:p>
                      <a:pPr algn="r"/>
                      <a:r>
                        <a:rPr sz="850" b="0">
                          <a:solidFill>
                            <a:srgbClr val="595959"/>
                          </a:solidFill>
                          <a:latin typeface="Calibri"/>
                        </a:rPr>
                        <a:t>2,333</a:t>
                      </a:r>
                    </a:p>
                  </a:txBody>
                  <a:tcPr anchor="ctr" marL="27432" marR="27432" marT="4572" marB="4572">
                    <a:lnL w="6350">
                      <a:solidFill>
                        <a:srgbClr val="E2E7F2"/>
                      </a:solidFill>
                    </a:lnL>
                    <a:lnR w="6350">
                      <a:solidFill>
                        <a:srgbClr val="E2E7F2"/>
                      </a:solidFill>
                    </a:lnR>
                    <a:lnT w="6350">
                      <a:solidFill>
                        <a:srgbClr val="E2E7F2"/>
                      </a:solidFill>
                    </a:lnT>
                    <a:lnB w="6350">
                      <a:solidFill>
                        <a:srgbClr val="E2E7F2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wrap="none"/>
                    <a:lstStyle/>
                    <a:p>
                      <a:pPr algn="r"/>
                      <a:r>
                        <a:rPr sz="850" b="0">
                          <a:solidFill>
                            <a:srgbClr val="595959"/>
                          </a:solidFill>
                          <a:latin typeface="Calibri"/>
                        </a:rPr>
                        <a:t>2,745</a:t>
                      </a:r>
                    </a:p>
                  </a:txBody>
                  <a:tcPr anchor="ctr" marL="27432" marR="27432" marT="4572" marB="4572">
                    <a:lnL w="6350">
                      <a:solidFill>
                        <a:srgbClr val="E2E7F2"/>
                      </a:solidFill>
                    </a:lnL>
                    <a:lnR w="6350">
                      <a:solidFill>
                        <a:srgbClr val="E2E7F2"/>
                      </a:solidFill>
                    </a:lnR>
                    <a:lnT w="6350">
                      <a:solidFill>
                        <a:srgbClr val="E2E7F2"/>
                      </a:solidFill>
                    </a:lnT>
                    <a:lnB w="6350">
                      <a:solidFill>
                        <a:srgbClr val="E2E7F2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wrap="none"/>
                    <a:lstStyle/>
                    <a:p>
                      <a:pPr algn="l"/>
                      <a:r>
                        <a:rPr sz="850" b="0">
                          <a:solidFill>
                            <a:srgbClr val="26292E"/>
                          </a:solidFill>
                          <a:latin typeface="Calibri"/>
                        </a:rPr>
                        <a:t/>
                      </a:r>
                    </a:p>
                  </a:txBody>
                  <a:tcPr anchor="ctr" marL="27432" marR="27432" marT="4572" marB="4572">
                    <a:lnL w="6350">
                      <a:solidFill>
                        <a:srgbClr val="E2E7F2"/>
                      </a:solidFill>
                    </a:lnL>
                    <a:lnR w="6350">
                      <a:solidFill>
                        <a:srgbClr val="E2E7F2"/>
                      </a:solidFill>
                    </a:lnR>
                    <a:lnT w="6350">
                      <a:solidFill>
                        <a:srgbClr val="E2E7F2"/>
                      </a:solidFill>
                    </a:lnT>
                    <a:lnB w="6350">
                      <a:solidFill>
                        <a:srgbClr val="E2E7F2"/>
                      </a:solidFill>
                    </a:lnB>
                    <a:solidFill>
                      <a:srgbClr val="FFFFFF"/>
                    </a:solidFill>
                  </a:tcPr>
                </a:tc>
              </a:tr>
              <a:tr h="214884">
                <a:tc>
                  <a:txBody>
                    <a:bodyPr wrap="none"/>
                    <a:lstStyle/>
                    <a:p>
                      <a:pPr algn="l"/>
                      <a:r>
                        <a:rPr sz="850" b="1">
                          <a:solidFill>
                            <a:srgbClr val="26292E"/>
                          </a:solidFill>
                          <a:latin typeface="Calibri"/>
                        </a:rPr>
                        <a:t>Group Series</a:t>
                      </a:r>
                    </a:p>
                  </a:txBody>
                  <a:tcPr anchor="ctr" marL="27432" marR="27432" marT="4572" marB="4572">
                    <a:lnL w="6350">
                      <a:solidFill>
                        <a:srgbClr val="E2E7F2"/>
                      </a:solidFill>
                    </a:lnL>
                    <a:lnR w="6350">
                      <a:solidFill>
                        <a:srgbClr val="E2E7F2"/>
                      </a:solidFill>
                    </a:lnR>
                    <a:lnT w="6350">
                      <a:solidFill>
                        <a:srgbClr val="E2E7F2"/>
                      </a:solidFill>
                    </a:lnT>
                    <a:lnB w="6350">
                      <a:solidFill>
                        <a:srgbClr val="E2E7F2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wrap="none"/>
                    <a:lstStyle/>
                    <a:p>
                      <a:pPr algn="r"/>
                      <a:r>
                        <a:rPr sz="850" b="0">
                          <a:solidFill>
                            <a:srgbClr val="26292E"/>
                          </a:solidFill>
                          <a:latin typeface="Calibri"/>
                        </a:rPr>
                        <a:t>2,021</a:t>
                      </a:r>
                    </a:p>
                  </a:txBody>
                  <a:tcPr anchor="ctr" marL="27432" marR="27432" marT="4572" marB="4572">
                    <a:lnL w="6350">
                      <a:solidFill>
                        <a:srgbClr val="E2E7F2"/>
                      </a:solidFill>
                    </a:lnL>
                    <a:lnR w="6350">
                      <a:solidFill>
                        <a:srgbClr val="E2E7F2"/>
                      </a:solidFill>
                    </a:lnR>
                    <a:lnT w="6350">
                      <a:solidFill>
                        <a:srgbClr val="E2E7F2"/>
                      </a:solidFill>
                    </a:lnT>
                    <a:lnB w="6350">
                      <a:solidFill>
                        <a:srgbClr val="E2E7F2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wrap="none"/>
                    <a:lstStyle/>
                    <a:p>
                      <a:pPr algn="r"/>
                      <a:r>
                        <a:rPr sz="850" b="0">
                          <a:solidFill>
                            <a:srgbClr val="26292E"/>
                          </a:solidFill>
                          <a:latin typeface="Calibri"/>
                        </a:rPr>
                        <a:t>2,185</a:t>
                      </a:r>
                    </a:p>
                  </a:txBody>
                  <a:tcPr anchor="ctr" marL="27432" marR="27432" marT="4572" marB="4572">
                    <a:lnL w="6350">
                      <a:solidFill>
                        <a:srgbClr val="E2E7F2"/>
                      </a:solidFill>
                    </a:lnL>
                    <a:lnR w="6350">
                      <a:solidFill>
                        <a:srgbClr val="E2E7F2"/>
                      </a:solidFill>
                    </a:lnR>
                    <a:lnT w="6350">
                      <a:solidFill>
                        <a:srgbClr val="E2E7F2"/>
                      </a:solidFill>
                    </a:lnT>
                    <a:lnB w="6350">
                      <a:solidFill>
                        <a:srgbClr val="E2E7F2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wrap="none"/>
                    <a:lstStyle/>
                    <a:p>
                      <a:pPr algn="r"/>
                      <a:r>
                        <a:rPr sz="850" b="0">
                          <a:solidFill>
                            <a:srgbClr val="26292E"/>
                          </a:solidFill>
                          <a:latin typeface="Calibri"/>
                        </a:rPr>
                        <a:t>1,845</a:t>
                      </a:r>
                    </a:p>
                  </a:txBody>
                  <a:tcPr anchor="ctr" marL="27432" marR="27432" marT="4572" marB="4572">
                    <a:lnL w="6350">
                      <a:solidFill>
                        <a:srgbClr val="E2E7F2"/>
                      </a:solidFill>
                    </a:lnL>
                    <a:lnR w="6350">
                      <a:solidFill>
                        <a:srgbClr val="E2E7F2"/>
                      </a:solidFill>
                    </a:lnR>
                    <a:lnT w="6350">
                      <a:solidFill>
                        <a:srgbClr val="E2E7F2"/>
                      </a:solidFill>
                    </a:lnT>
                    <a:lnB w="6350">
                      <a:solidFill>
                        <a:srgbClr val="E2E7F2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wrap="none"/>
                    <a:lstStyle/>
                    <a:p>
                      <a:pPr algn="r"/>
                      <a:r>
                        <a:rPr sz="850" b="0">
                          <a:solidFill>
                            <a:srgbClr val="26292E"/>
                          </a:solidFill>
                          <a:latin typeface="Calibri"/>
                        </a:rPr>
                        <a:t>1,859</a:t>
                      </a:r>
                    </a:p>
                  </a:txBody>
                  <a:tcPr anchor="ctr" marL="27432" marR="27432" marT="4572" marB="4572">
                    <a:lnL w="6350">
                      <a:solidFill>
                        <a:srgbClr val="E2E7F2"/>
                      </a:solidFill>
                    </a:lnL>
                    <a:lnR w="6350">
                      <a:solidFill>
                        <a:srgbClr val="E2E7F2"/>
                      </a:solidFill>
                    </a:lnR>
                    <a:lnT w="6350">
                      <a:solidFill>
                        <a:srgbClr val="E2E7F2"/>
                      </a:solidFill>
                    </a:lnT>
                    <a:lnB w="6350">
                      <a:solidFill>
                        <a:srgbClr val="E2E7F2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wrap="none"/>
                    <a:lstStyle/>
                    <a:p>
                      <a:pPr algn="r"/>
                      <a:r>
                        <a:rPr sz="850" b="0">
                          <a:solidFill>
                            <a:srgbClr val="26292E"/>
                          </a:solidFill>
                          <a:latin typeface="Calibri"/>
                        </a:rPr>
                        <a:t>1,771</a:t>
                      </a:r>
                    </a:p>
                  </a:txBody>
                  <a:tcPr anchor="ctr" marL="27432" marR="27432" marT="4572" marB="4572">
                    <a:lnL w="6350">
                      <a:solidFill>
                        <a:srgbClr val="E2E7F2"/>
                      </a:solidFill>
                    </a:lnL>
                    <a:lnR w="6350">
                      <a:solidFill>
                        <a:srgbClr val="E2E7F2"/>
                      </a:solidFill>
                    </a:lnR>
                    <a:lnT w="6350">
                      <a:solidFill>
                        <a:srgbClr val="E2E7F2"/>
                      </a:solidFill>
                    </a:lnT>
                    <a:lnB w="6350">
                      <a:solidFill>
                        <a:srgbClr val="E2E7F2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wrap="none"/>
                    <a:lstStyle/>
                    <a:p>
                      <a:pPr algn="r"/>
                      <a:r>
                        <a:rPr sz="850" b="0">
                          <a:solidFill>
                            <a:srgbClr val="26292E"/>
                          </a:solidFill>
                          <a:latin typeface="Calibri"/>
                        </a:rPr>
                        <a:t>2,033</a:t>
                      </a:r>
                    </a:p>
                  </a:txBody>
                  <a:tcPr anchor="ctr" marL="27432" marR="27432" marT="4572" marB="4572">
                    <a:lnL w="6350">
                      <a:solidFill>
                        <a:srgbClr val="E2E7F2"/>
                      </a:solidFill>
                    </a:lnL>
                    <a:lnR w="6350">
                      <a:solidFill>
                        <a:srgbClr val="E2E7F2"/>
                      </a:solidFill>
                    </a:lnR>
                    <a:lnT w="6350">
                      <a:solidFill>
                        <a:srgbClr val="E2E7F2"/>
                      </a:solidFill>
                    </a:lnT>
                    <a:lnB w="6350">
                      <a:solidFill>
                        <a:srgbClr val="E2E7F2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wrap="none"/>
                    <a:lstStyle/>
                    <a:p>
                      <a:pPr algn="r"/>
                      <a:r>
                        <a:rPr sz="850" b="1">
                          <a:solidFill>
                            <a:srgbClr val="26292E"/>
                          </a:solidFill>
                          <a:latin typeface="Calibri"/>
                        </a:rPr>
                        <a:t>1,954</a:t>
                      </a:r>
                    </a:p>
                  </a:txBody>
                  <a:tcPr anchor="ctr" marL="27432" marR="27432" marT="4572" marB="4572">
                    <a:lnL w="6350">
                      <a:solidFill>
                        <a:srgbClr val="E2E7F2"/>
                      </a:solidFill>
                    </a:lnL>
                    <a:lnR w="6350">
                      <a:solidFill>
                        <a:srgbClr val="E2E7F2"/>
                      </a:solidFill>
                    </a:lnR>
                    <a:lnT w="6350">
                      <a:solidFill>
                        <a:srgbClr val="E2E7F2"/>
                      </a:solidFill>
                    </a:lnT>
                    <a:lnB w="6350">
                      <a:solidFill>
                        <a:srgbClr val="E2E7F2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wrap="none"/>
                    <a:lstStyle/>
                    <a:p>
                      <a:pPr algn="r"/>
                      <a:r>
                        <a:rPr sz="850" b="1">
                          <a:solidFill>
                            <a:srgbClr val="C62828"/>
                          </a:solidFill>
                          <a:latin typeface="Calibri"/>
                        </a:rPr>
                        <a:t>-25.8%</a:t>
                      </a:r>
                    </a:p>
                  </a:txBody>
                  <a:tcPr anchor="ctr" marL="27432" marR="27432" marT="4572" marB="4572">
                    <a:lnL w="6350">
                      <a:solidFill>
                        <a:srgbClr val="E2E7F2"/>
                      </a:solidFill>
                    </a:lnL>
                    <a:lnR w="6350">
                      <a:solidFill>
                        <a:srgbClr val="E2E7F2"/>
                      </a:solidFill>
                    </a:lnR>
                    <a:lnT w="6350">
                      <a:solidFill>
                        <a:srgbClr val="E2E7F2"/>
                      </a:solidFill>
                    </a:lnT>
                    <a:lnB w="6350">
                      <a:solidFill>
                        <a:srgbClr val="E2E7F2"/>
                      </a:solidFill>
                    </a:lnB>
                    <a:solidFill>
                      <a:srgbClr val="FFFFFF"/>
                    </a:solidFill>
                  </a:tcPr>
                </a:tc>
              </a:tr>
              <a:tr h="214884">
                <a:tc>
                  <a:txBody>
                    <a:bodyPr wrap="none"/>
                    <a:lstStyle/>
                    <a:p>
                      <a:pPr algn="l"/>
                      <a:r>
                        <a:rPr sz="850" b="0">
                          <a:solidFill>
                            <a:srgbClr val="595959"/>
                          </a:solidFill>
                          <a:latin typeface="Calibri"/>
                        </a:rPr>
                        <a:t>   ’25</a:t>
                      </a:r>
                    </a:p>
                  </a:txBody>
                  <a:tcPr anchor="ctr" marL="27432" marR="27432" marT="4572" marB="4572">
                    <a:lnL w="6350">
                      <a:solidFill>
                        <a:srgbClr val="E2E7F2"/>
                      </a:solidFill>
                    </a:lnL>
                    <a:lnR w="6350">
                      <a:solidFill>
                        <a:srgbClr val="E2E7F2"/>
                      </a:solidFill>
                    </a:lnR>
                    <a:lnT w="6350">
                      <a:solidFill>
                        <a:srgbClr val="E2E7F2"/>
                      </a:solidFill>
                    </a:lnT>
                    <a:lnB w="6350">
                      <a:solidFill>
                        <a:srgbClr val="E2E7F2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wrap="none"/>
                    <a:lstStyle/>
                    <a:p>
                      <a:pPr algn="r"/>
                      <a:r>
                        <a:rPr sz="850" b="0">
                          <a:solidFill>
                            <a:srgbClr val="595959"/>
                          </a:solidFill>
                          <a:latin typeface="Calibri"/>
                        </a:rPr>
                        <a:t>2,773</a:t>
                      </a:r>
                    </a:p>
                  </a:txBody>
                  <a:tcPr anchor="ctr" marL="27432" marR="27432" marT="4572" marB="4572">
                    <a:lnL w="6350">
                      <a:solidFill>
                        <a:srgbClr val="E2E7F2"/>
                      </a:solidFill>
                    </a:lnL>
                    <a:lnR w="6350">
                      <a:solidFill>
                        <a:srgbClr val="E2E7F2"/>
                      </a:solidFill>
                    </a:lnR>
                    <a:lnT w="6350">
                      <a:solidFill>
                        <a:srgbClr val="E2E7F2"/>
                      </a:solidFill>
                    </a:lnT>
                    <a:lnB w="6350">
                      <a:solidFill>
                        <a:srgbClr val="E2E7F2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wrap="none"/>
                    <a:lstStyle/>
                    <a:p>
                      <a:pPr algn="r"/>
                      <a:r>
                        <a:rPr sz="850" b="0">
                          <a:solidFill>
                            <a:srgbClr val="595959"/>
                          </a:solidFill>
                          <a:latin typeface="Calibri"/>
                        </a:rPr>
                        <a:t>2,692</a:t>
                      </a:r>
                    </a:p>
                  </a:txBody>
                  <a:tcPr anchor="ctr" marL="27432" marR="27432" marT="4572" marB="4572">
                    <a:lnL w="6350">
                      <a:solidFill>
                        <a:srgbClr val="E2E7F2"/>
                      </a:solidFill>
                    </a:lnL>
                    <a:lnR w="6350">
                      <a:solidFill>
                        <a:srgbClr val="E2E7F2"/>
                      </a:solidFill>
                    </a:lnR>
                    <a:lnT w="6350">
                      <a:solidFill>
                        <a:srgbClr val="E2E7F2"/>
                      </a:solidFill>
                    </a:lnT>
                    <a:lnB w="6350">
                      <a:solidFill>
                        <a:srgbClr val="E2E7F2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wrap="none"/>
                    <a:lstStyle/>
                    <a:p>
                      <a:pPr algn="r"/>
                      <a:r>
                        <a:rPr sz="850" b="0">
                          <a:solidFill>
                            <a:srgbClr val="595959"/>
                          </a:solidFill>
                          <a:latin typeface="Calibri"/>
                        </a:rPr>
                        <a:t>2,529</a:t>
                      </a:r>
                    </a:p>
                  </a:txBody>
                  <a:tcPr anchor="ctr" marL="27432" marR="27432" marT="4572" marB="4572">
                    <a:lnL w="6350">
                      <a:solidFill>
                        <a:srgbClr val="E2E7F2"/>
                      </a:solidFill>
                    </a:lnL>
                    <a:lnR w="6350">
                      <a:solidFill>
                        <a:srgbClr val="E2E7F2"/>
                      </a:solidFill>
                    </a:lnR>
                    <a:lnT w="6350">
                      <a:solidFill>
                        <a:srgbClr val="E2E7F2"/>
                      </a:solidFill>
                    </a:lnT>
                    <a:lnB w="6350">
                      <a:solidFill>
                        <a:srgbClr val="E2E7F2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wrap="none"/>
                    <a:lstStyle/>
                    <a:p>
                      <a:pPr algn="r"/>
                      <a:r>
                        <a:rPr sz="850" b="0">
                          <a:solidFill>
                            <a:srgbClr val="595959"/>
                          </a:solidFill>
                          <a:latin typeface="Calibri"/>
                        </a:rPr>
                        <a:t>2,523</a:t>
                      </a:r>
                    </a:p>
                  </a:txBody>
                  <a:tcPr anchor="ctr" marL="27432" marR="27432" marT="4572" marB="4572">
                    <a:lnL w="6350">
                      <a:solidFill>
                        <a:srgbClr val="E2E7F2"/>
                      </a:solidFill>
                    </a:lnL>
                    <a:lnR w="6350">
                      <a:solidFill>
                        <a:srgbClr val="E2E7F2"/>
                      </a:solidFill>
                    </a:lnR>
                    <a:lnT w="6350">
                      <a:solidFill>
                        <a:srgbClr val="E2E7F2"/>
                      </a:solidFill>
                    </a:lnT>
                    <a:lnB w="6350">
                      <a:solidFill>
                        <a:srgbClr val="E2E7F2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wrap="none"/>
                    <a:lstStyle/>
                    <a:p>
                      <a:pPr algn="r"/>
                      <a:r>
                        <a:rPr sz="850" b="0">
                          <a:solidFill>
                            <a:srgbClr val="595959"/>
                          </a:solidFill>
                          <a:latin typeface="Calibri"/>
                        </a:rPr>
                        <a:t>2,616</a:t>
                      </a:r>
                    </a:p>
                  </a:txBody>
                  <a:tcPr anchor="ctr" marL="27432" marR="27432" marT="4572" marB="4572">
                    <a:lnL w="6350">
                      <a:solidFill>
                        <a:srgbClr val="E2E7F2"/>
                      </a:solidFill>
                    </a:lnL>
                    <a:lnR w="6350">
                      <a:solidFill>
                        <a:srgbClr val="E2E7F2"/>
                      </a:solidFill>
                    </a:lnR>
                    <a:lnT w="6350">
                      <a:solidFill>
                        <a:srgbClr val="E2E7F2"/>
                      </a:solidFill>
                    </a:lnT>
                    <a:lnB w="6350">
                      <a:solidFill>
                        <a:srgbClr val="E2E7F2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wrap="none"/>
                    <a:lstStyle/>
                    <a:p>
                      <a:pPr algn="r"/>
                      <a:r>
                        <a:rPr sz="850" b="0">
                          <a:solidFill>
                            <a:srgbClr val="595959"/>
                          </a:solidFill>
                          <a:latin typeface="Calibri"/>
                        </a:rPr>
                        <a:t>2,448</a:t>
                      </a:r>
                    </a:p>
                  </a:txBody>
                  <a:tcPr anchor="ctr" marL="27432" marR="27432" marT="4572" marB="4572">
                    <a:lnL w="6350">
                      <a:solidFill>
                        <a:srgbClr val="E2E7F2"/>
                      </a:solidFill>
                    </a:lnL>
                    <a:lnR w="6350">
                      <a:solidFill>
                        <a:srgbClr val="E2E7F2"/>
                      </a:solidFill>
                    </a:lnR>
                    <a:lnT w="6350">
                      <a:solidFill>
                        <a:srgbClr val="E2E7F2"/>
                      </a:solidFill>
                    </a:lnT>
                    <a:lnB w="6350">
                      <a:solidFill>
                        <a:srgbClr val="E2E7F2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wrap="none"/>
                    <a:lstStyle/>
                    <a:p>
                      <a:pPr algn="r"/>
                      <a:r>
                        <a:rPr sz="850" b="0">
                          <a:solidFill>
                            <a:srgbClr val="595959"/>
                          </a:solidFill>
                          <a:latin typeface="Calibri"/>
                        </a:rPr>
                        <a:t>2,634</a:t>
                      </a:r>
                    </a:p>
                  </a:txBody>
                  <a:tcPr anchor="ctr" marL="27432" marR="27432" marT="4572" marB="4572">
                    <a:lnL w="6350">
                      <a:solidFill>
                        <a:srgbClr val="E2E7F2"/>
                      </a:solidFill>
                    </a:lnL>
                    <a:lnR w="6350">
                      <a:solidFill>
                        <a:srgbClr val="E2E7F2"/>
                      </a:solidFill>
                    </a:lnR>
                    <a:lnT w="6350">
                      <a:solidFill>
                        <a:srgbClr val="E2E7F2"/>
                      </a:solidFill>
                    </a:lnT>
                    <a:lnB w="6350">
                      <a:solidFill>
                        <a:srgbClr val="E2E7F2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wrap="none"/>
                    <a:lstStyle/>
                    <a:p>
                      <a:pPr algn="l"/>
                      <a:r>
                        <a:rPr sz="850" b="0">
                          <a:solidFill>
                            <a:srgbClr val="26292E"/>
                          </a:solidFill>
                          <a:latin typeface="Calibri"/>
                        </a:rPr>
                        <a:t/>
                      </a:r>
                    </a:p>
                  </a:txBody>
                  <a:tcPr anchor="ctr" marL="27432" marR="27432" marT="4572" marB="4572">
                    <a:lnL w="6350">
                      <a:solidFill>
                        <a:srgbClr val="E2E7F2"/>
                      </a:solidFill>
                    </a:lnL>
                    <a:lnR w="6350">
                      <a:solidFill>
                        <a:srgbClr val="E2E7F2"/>
                      </a:solidFill>
                    </a:lnR>
                    <a:lnT w="6350">
                      <a:solidFill>
                        <a:srgbClr val="E2E7F2"/>
                      </a:solidFill>
                    </a:lnT>
                    <a:lnB w="6350">
                      <a:solidFill>
                        <a:srgbClr val="E2E7F2"/>
                      </a:solidFill>
                    </a:lnB>
                    <a:solidFill>
                      <a:srgbClr val="FFFFFF"/>
                    </a:solidFill>
                  </a:tcPr>
                </a:tc>
              </a:tr>
              <a:tr h="214884">
                <a:tc>
                  <a:txBody>
                    <a:bodyPr wrap="none"/>
                    <a:lstStyle/>
                    <a:p>
                      <a:pPr algn="l"/>
                      <a:r>
                        <a:rPr sz="850" b="1">
                          <a:solidFill>
                            <a:srgbClr val="26292E"/>
                          </a:solidFill>
                          <a:latin typeface="Calibri"/>
                        </a:rPr>
                        <a:t>Employee</a:t>
                      </a:r>
                    </a:p>
                  </a:txBody>
                  <a:tcPr anchor="ctr" marL="27432" marR="27432" marT="4572" marB="4572">
                    <a:lnL w="6350">
                      <a:solidFill>
                        <a:srgbClr val="E2E7F2"/>
                      </a:solidFill>
                    </a:lnL>
                    <a:lnR w="6350">
                      <a:solidFill>
                        <a:srgbClr val="E2E7F2"/>
                      </a:solidFill>
                    </a:lnR>
                    <a:lnT w="6350">
                      <a:solidFill>
                        <a:srgbClr val="E2E7F2"/>
                      </a:solidFill>
                    </a:lnT>
                    <a:lnB w="6350">
                      <a:solidFill>
                        <a:srgbClr val="E2E7F2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wrap="none"/>
                    <a:lstStyle/>
                    <a:p>
                      <a:pPr algn="r"/>
                      <a:r>
                        <a:rPr sz="850" b="0">
                          <a:solidFill>
                            <a:srgbClr val="26292E"/>
                          </a:solidFill>
                          <a:latin typeface="Calibri"/>
                        </a:rPr>
                        <a:t>2,000</a:t>
                      </a:r>
                    </a:p>
                  </a:txBody>
                  <a:tcPr anchor="ctr" marL="27432" marR="27432" marT="4572" marB="4572">
                    <a:lnL w="6350">
                      <a:solidFill>
                        <a:srgbClr val="E2E7F2"/>
                      </a:solidFill>
                    </a:lnL>
                    <a:lnR w="6350">
                      <a:solidFill>
                        <a:srgbClr val="E2E7F2"/>
                      </a:solidFill>
                    </a:lnR>
                    <a:lnT w="6350">
                      <a:solidFill>
                        <a:srgbClr val="E2E7F2"/>
                      </a:solidFill>
                    </a:lnT>
                    <a:lnB w="6350">
                      <a:solidFill>
                        <a:srgbClr val="E2E7F2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wrap="none"/>
                    <a:lstStyle/>
                    <a:p>
                      <a:pPr algn="r"/>
                      <a:r>
                        <a:rPr sz="850" b="0">
                          <a:solidFill>
                            <a:srgbClr val="26292E"/>
                          </a:solidFill>
                          <a:latin typeface="Calibri"/>
                        </a:rPr>
                        <a:t>–</a:t>
                      </a:r>
                    </a:p>
                  </a:txBody>
                  <a:tcPr anchor="ctr" marL="27432" marR="27432" marT="4572" marB="4572">
                    <a:lnL w="6350">
                      <a:solidFill>
                        <a:srgbClr val="E2E7F2"/>
                      </a:solidFill>
                    </a:lnL>
                    <a:lnR w="6350">
                      <a:solidFill>
                        <a:srgbClr val="E2E7F2"/>
                      </a:solidFill>
                    </a:lnR>
                    <a:lnT w="6350">
                      <a:solidFill>
                        <a:srgbClr val="E2E7F2"/>
                      </a:solidFill>
                    </a:lnT>
                    <a:lnB w="6350">
                      <a:solidFill>
                        <a:srgbClr val="E2E7F2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wrap="none"/>
                    <a:lstStyle/>
                    <a:p>
                      <a:pPr algn="r"/>
                      <a:r>
                        <a:rPr sz="850" b="0">
                          <a:solidFill>
                            <a:srgbClr val="26292E"/>
                          </a:solidFill>
                          <a:latin typeface="Calibri"/>
                        </a:rPr>
                        <a:t>2,251</a:t>
                      </a:r>
                    </a:p>
                  </a:txBody>
                  <a:tcPr anchor="ctr" marL="27432" marR="27432" marT="4572" marB="4572">
                    <a:lnL w="6350">
                      <a:solidFill>
                        <a:srgbClr val="E2E7F2"/>
                      </a:solidFill>
                    </a:lnL>
                    <a:lnR w="6350">
                      <a:solidFill>
                        <a:srgbClr val="E2E7F2"/>
                      </a:solidFill>
                    </a:lnR>
                    <a:lnT w="6350">
                      <a:solidFill>
                        <a:srgbClr val="E2E7F2"/>
                      </a:solidFill>
                    </a:lnT>
                    <a:lnB w="6350">
                      <a:solidFill>
                        <a:srgbClr val="E2E7F2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wrap="none"/>
                    <a:lstStyle/>
                    <a:p>
                      <a:pPr algn="r"/>
                      <a:r>
                        <a:rPr sz="850" b="0">
                          <a:solidFill>
                            <a:srgbClr val="26292E"/>
                          </a:solidFill>
                          <a:latin typeface="Calibri"/>
                        </a:rPr>
                        <a:t>–</a:t>
                      </a:r>
                    </a:p>
                  </a:txBody>
                  <a:tcPr anchor="ctr" marL="27432" marR="27432" marT="4572" marB="4572">
                    <a:lnL w="6350">
                      <a:solidFill>
                        <a:srgbClr val="E2E7F2"/>
                      </a:solidFill>
                    </a:lnL>
                    <a:lnR w="6350">
                      <a:solidFill>
                        <a:srgbClr val="E2E7F2"/>
                      </a:solidFill>
                    </a:lnR>
                    <a:lnT w="6350">
                      <a:solidFill>
                        <a:srgbClr val="E2E7F2"/>
                      </a:solidFill>
                    </a:lnT>
                    <a:lnB w="6350">
                      <a:solidFill>
                        <a:srgbClr val="E2E7F2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wrap="none"/>
                    <a:lstStyle/>
                    <a:p>
                      <a:pPr algn="r"/>
                      <a:r>
                        <a:rPr sz="850" b="0">
                          <a:solidFill>
                            <a:srgbClr val="26292E"/>
                          </a:solidFill>
                          <a:latin typeface="Calibri"/>
                        </a:rPr>
                        <a:t>4,150</a:t>
                      </a:r>
                    </a:p>
                  </a:txBody>
                  <a:tcPr anchor="ctr" marL="27432" marR="27432" marT="4572" marB="4572">
                    <a:lnL w="6350">
                      <a:solidFill>
                        <a:srgbClr val="E2E7F2"/>
                      </a:solidFill>
                    </a:lnL>
                    <a:lnR w="6350">
                      <a:solidFill>
                        <a:srgbClr val="E2E7F2"/>
                      </a:solidFill>
                    </a:lnR>
                    <a:lnT w="6350">
                      <a:solidFill>
                        <a:srgbClr val="E2E7F2"/>
                      </a:solidFill>
                    </a:lnT>
                    <a:lnB w="6350">
                      <a:solidFill>
                        <a:srgbClr val="E2E7F2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wrap="none"/>
                    <a:lstStyle/>
                    <a:p>
                      <a:pPr algn="r"/>
                      <a:r>
                        <a:rPr sz="850" b="0">
                          <a:solidFill>
                            <a:srgbClr val="26292E"/>
                          </a:solidFill>
                          <a:latin typeface="Calibri"/>
                        </a:rPr>
                        <a:t>5,094</a:t>
                      </a:r>
                    </a:p>
                  </a:txBody>
                  <a:tcPr anchor="ctr" marL="27432" marR="27432" marT="4572" marB="4572">
                    <a:lnL w="6350">
                      <a:solidFill>
                        <a:srgbClr val="E2E7F2"/>
                      </a:solidFill>
                    </a:lnL>
                    <a:lnR w="6350">
                      <a:solidFill>
                        <a:srgbClr val="E2E7F2"/>
                      </a:solidFill>
                    </a:lnR>
                    <a:lnT w="6350">
                      <a:solidFill>
                        <a:srgbClr val="E2E7F2"/>
                      </a:solidFill>
                    </a:lnT>
                    <a:lnB w="6350">
                      <a:solidFill>
                        <a:srgbClr val="E2E7F2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wrap="none"/>
                    <a:lstStyle/>
                    <a:p>
                      <a:pPr algn="r"/>
                      <a:r>
                        <a:rPr sz="850" b="1">
                          <a:solidFill>
                            <a:srgbClr val="26292E"/>
                          </a:solidFill>
                          <a:latin typeface="Calibri"/>
                        </a:rPr>
                        <a:t>2,802</a:t>
                      </a:r>
                    </a:p>
                  </a:txBody>
                  <a:tcPr anchor="ctr" marL="27432" marR="27432" marT="4572" marB="4572">
                    <a:lnL w="6350">
                      <a:solidFill>
                        <a:srgbClr val="E2E7F2"/>
                      </a:solidFill>
                    </a:lnL>
                    <a:lnR w="6350">
                      <a:solidFill>
                        <a:srgbClr val="E2E7F2"/>
                      </a:solidFill>
                    </a:lnR>
                    <a:lnT w="6350">
                      <a:solidFill>
                        <a:srgbClr val="E2E7F2"/>
                      </a:solidFill>
                    </a:lnT>
                    <a:lnB w="6350">
                      <a:solidFill>
                        <a:srgbClr val="E2E7F2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wrap="none"/>
                    <a:lstStyle/>
                    <a:p>
                      <a:pPr algn="r"/>
                      <a:r>
                        <a:rPr sz="850" b="1">
                          <a:solidFill>
                            <a:srgbClr val="1E7B34"/>
                          </a:solidFill>
                          <a:latin typeface="Calibri"/>
                        </a:rPr>
                        <a:t>+40.1%</a:t>
                      </a:r>
                    </a:p>
                  </a:txBody>
                  <a:tcPr anchor="ctr" marL="27432" marR="27432" marT="4572" marB="4572">
                    <a:lnL w="6350">
                      <a:solidFill>
                        <a:srgbClr val="E2E7F2"/>
                      </a:solidFill>
                    </a:lnL>
                    <a:lnR w="6350">
                      <a:solidFill>
                        <a:srgbClr val="E2E7F2"/>
                      </a:solidFill>
                    </a:lnR>
                    <a:lnT w="6350">
                      <a:solidFill>
                        <a:srgbClr val="E2E7F2"/>
                      </a:solidFill>
                    </a:lnT>
                    <a:lnB w="6350">
                      <a:solidFill>
                        <a:srgbClr val="E2E7F2"/>
                      </a:solidFill>
                    </a:lnB>
                    <a:solidFill>
                      <a:srgbClr val="FFFFFF"/>
                    </a:solidFill>
                  </a:tcPr>
                </a:tc>
              </a:tr>
              <a:tr h="214884">
                <a:tc>
                  <a:txBody>
                    <a:bodyPr wrap="none"/>
                    <a:lstStyle/>
                    <a:p>
                      <a:pPr algn="l"/>
                      <a:r>
                        <a:rPr sz="850" b="0">
                          <a:solidFill>
                            <a:srgbClr val="595959"/>
                          </a:solidFill>
                          <a:latin typeface="Calibri"/>
                        </a:rPr>
                        <a:t>   ’25</a:t>
                      </a:r>
                    </a:p>
                  </a:txBody>
                  <a:tcPr anchor="ctr" marL="27432" marR="27432" marT="4572" marB="4572">
                    <a:lnL w="6350">
                      <a:solidFill>
                        <a:srgbClr val="E2E7F2"/>
                      </a:solidFill>
                    </a:lnL>
                    <a:lnR w="6350">
                      <a:solidFill>
                        <a:srgbClr val="E2E7F2"/>
                      </a:solidFill>
                    </a:lnR>
                    <a:lnT w="6350">
                      <a:solidFill>
                        <a:srgbClr val="E2E7F2"/>
                      </a:solidFill>
                    </a:lnT>
                    <a:lnB w="6350">
                      <a:solidFill>
                        <a:srgbClr val="E2E7F2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wrap="none"/>
                    <a:lstStyle/>
                    <a:p>
                      <a:pPr algn="r"/>
                      <a:r>
                        <a:rPr sz="850" b="0">
                          <a:solidFill>
                            <a:srgbClr val="595959"/>
                          </a:solidFill>
                          <a:latin typeface="Calibri"/>
                        </a:rPr>
                        <a:t>–</a:t>
                      </a:r>
                    </a:p>
                  </a:txBody>
                  <a:tcPr anchor="ctr" marL="27432" marR="27432" marT="4572" marB="4572">
                    <a:lnL w="6350">
                      <a:solidFill>
                        <a:srgbClr val="E2E7F2"/>
                      </a:solidFill>
                    </a:lnL>
                    <a:lnR w="6350">
                      <a:solidFill>
                        <a:srgbClr val="E2E7F2"/>
                      </a:solidFill>
                    </a:lnR>
                    <a:lnT w="6350">
                      <a:solidFill>
                        <a:srgbClr val="E2E7F2"/>
                      </a:solidFill>
                    </a:lnT>
                    <a:lnB w="6350">
                      <a:solidFill>
                        <a:srgbClr val="E2E7F2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wrap="none"/>
                    <a:lstStyle/>
                    <a:p>
                      <a:pPr algn="r"/>
                      <a:r>
                        <a:rPr sz="850" b="0">
                          <a:solidFill>
                            <a:srgbClr val="595959"/>
                          </a:solidFill>
                          <a:latin typeface="Calibri"/>
                        </a:rPr>
                        <a:t>2,097</a:t>
                      </a:r>
                    </a:p>
                  </a:txBody>
                  <a:tcPr anchor="ctr" marL="27432" marR="27432" marT="4572" marB="4572">
                    <a:lnL w="6350">
                      <a:solidFill>
                        <a:srgbClr val="E2E7F2"/>
                      </a:solidFill>
                    </a:lnL>
                    <a:lnR w="6350">
                      <a:solidFill>
                        <a:srgbClr val="E2E7F2"/>
                      </a:solidFill>
                    </a:lnR>
                    <a:lnT w="6350">
                      <a:solidFill>
                        <a:srgbClr val="E2E7F2"/>
                      </a:solidFill>
                    </a:lnT>
                    <a:lnB w="6350">
                      <a:solidFill>
                        <a:srgbClr val="E2E7F2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wrap="none"/>
                    <a:lstStyle/>
                    <a:p>
                      <a:pPr algn="r"/>
                      <a:r>
                        <a:rPr sz="850" b="0">
                          <a:solidFill>
                            <a:srgbClr val="595959"/>
                          </a:solidFill>
                          <a:latin typeface="Calibri"/>
                        </a:rPr>
                        <a:t>2,127</a:t>
                      </a:r>
                    </a:p>
                  </a:txBody>
                  <a:tcPr anchor="ctr" marL="27432" marR="27432" marT="4572" marB="4572">
                    <a:lnL w="6350">
                      <a:solidFill>
                        <a:srgbClr val="E2E7F2"/>
                      </a:solidFill>
                    </a:lnL>
                    <a:lnR w="6350">
                      <a:solidFill>
                        <a:srgbClr val="E2E7F2"/>
                      </a:solidFill>
                    </a:lnR>
                    <a:lnT w="6350">
                      <a:solidFill>
                        <a:srgbClr val="E2E7F2"/>
                      </a:solidFill>
                    </a:lnT>
                    <a:lnB w="6350">
                      <a:solidFill>
                        <a:srgbClr val="E2E7F2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wrap="none"/>
                    <a:lstStyle/>
                    <a:p>
                      <a:pPr algn="r"/>
                      <a:r>
                        <a:rPr sz="850" b="0">
                          <a:solidFill>
                            <a:srgbClr val="595959"/>
                          </a:solidFill>
                          <a:latin typeface="Calibri"/>
                        </a:rPr>
                        <a:t>1,885</a:t>
                      </a:r>
                    </a:p>
                  </a:txBody>
                  <a:tcPr anchor="ctr" marL="27432" marR="27432" marT="4572" marB="4572">
                    <a:lnL w="6350">
                      <a:solidFill>
                        <a:srgbClr val="E2E7F2"/>
                      </a:solidFill>
                    </a:lnL>
                    <a:lnR w="6350">
                      <a:solidFill>
                        <a:srgbClr val="E2E7F2"/>
                      </a:solidFill>
                    </a:lnR>
                    <a:lnT w="6350">
                      <a:solidFill>
                        <a:srgbClr val="E2E7F2"/>
                      </a:solidFill>
                    </a:lnT>
                    <a:lnB w="6350">
                      <a:solidFill>
                        <a:srgbClr val="E2E7F2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wrap="none"/>
                    <a:lstStyle/>
                    <a:p>
                      <a:pPr algn="r"/>
                      <a:r>
                        <a:rPr sz="850" b="0">
                          <a:solidFill>
                            <a:srgbClr val="595959"/>
                          </a:solidFill>
                          <a:latin typeface="Calibri"/>
                        </a:rPr>
                        <a:t>2,102</a:t>
                      </a:r>
                    </a:p>
                  </a:txBody>
                  <a:tcPr anchor="ctr" marL="27432" marR="27432" marT="4572" marB="4572">
                    <a:lnL w="6350">
                      <a:solidFill>
                        <a:srgbClr val="E2E7F2"/>
                      </a:solidFill>
                    </a:lnL>
                    <a:lnR w="6350">
                      <a:solidFill>
                        <a:srgbClr val="E2E7F2"/>
                      </a:solidFill>
                    </a:lnR>
                    <a:lnT w="6350">
                      <a:solidFill>
                        <a:srgbClr val="E2E7F2"/>
                      </a:solidFill>
                    </a:lnT>
                    <a:lnB w="6350">
                      <a:solidFill>
                        <a:srgbClr val="E2E7F2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wrap="none"/>
                    <a:lstStyle/>
                    <a:p>
                      <a:pPr algn="r"/>
                      <a:r>
                        <a:rPr sz="850" b="0">
                          <a:solidFill>
                            <a:srgbClr val="595959"/>
                          </a:solidFill>
                          <a:latin typeface="Calibri"/>
                        </a:rPr>
                        <a:t>–</a:t>
                      </a:r>
                    </a:p>
                  </a:txBody>
                  <a:tcPr anchor="ctr" marL="27432" marR="27432" marT="4572" marB="4572">
                    <a:lnL w="6350">
                      <a:solidFill>
                        <a:srgbClr val="E2E7F2"/>
                      </a:solidFill>
                    </a:lnL>
                    <a:lnR w="6350">
                      <a:solidFill>
                        <a:srgbClr val="E2E7F2"/>
                      </a:solidFill>
                    </a:lnR>
                    <a:lnT w="6350">
                      <a:solidFill>
                        <a:srgbClr val="E2E7F2"/>
                      </a:solidFill>
                    </a:lnT>
                    <a:lnB w="6350">
                      <a:solidFill>
                        <a:srgbClr val="E2E7F2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wrap="none"/>
                    <a:lstStyle/>
                    <a:p>
                      <a:pPr algn="r"/>
                      <a:r>
                        <a:rPr sz="850" b="0">
                          <a:solidFill>
                            <a:srgbClr val="595959"/>
                          </a:solidFill>
                          <a:latin typeface="Calibri"/>
                        </a:rPr>
                        <a:t>1,999</a:t>
                      </a:r>
                    </a:p>
                  </a:txBody>
                  <a:tcPr anchor="ctr" marL="27432" marR="27432" marT="4572" marB="4572">
                    <a:lnL w="6350">
                      <a:solidFill>
                        <a:srgbClr val="E2E7F2"/>
                      </a:solidFill>
                    </a:lnL>
                    <a:lnR w="6350">
                      <a:solidFill>
                        <a:srgbClr val="E2E7F2"/>
                      </a:solidFill>
                    </a:lnR>
                    <a:lnT w="6350">
                      <a:solidFill>
                        <a:srgbClr val="E2E7F2"/>
                      </a:solidFill>
                    </a:lnT>
                    <a:lnB w="6350">
                      <a:solidFill>
                        <a:srgbClr val="E2E7F2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wrap="none"/>
                    <a:lstStyle/>
                    <a:p>
                      <a:pPr algn="l"/>
                      <a:r>
                        <a:rPr sz="850" b="0">
                          <a:solidFill>
                            <a:srgbClr val="26292E"/>
                          </a:solidFill>
                          <a:latin typeface="Calibri"/>
                        </a:rPr>
                        <a:t/>
                      </a:r>
                    </a:p>
                  </a:txBody>
                  <a:tcPr anchor="ctr" marL="27432" marR="27432" marT="4572" marB="4572">
                    <a:lnL w="6350">
                      <a:solidFill>
                        <a:srgbClr val="E2E7F2"/>
                      </a:solidFill>
                    </a:lnL>
                    <a:lnR w="6350">
                      <a:solidFill>
                        <a:srgbClr val="E2E7F2"/>
                      </a:solidFill>
                    </a:lnR>
                    <a:lnT w="6350">
                      <a:solidFill>
                        <a:srgbClr val="E2E7F2"/>
                      </a:solidFill>
                    </a:lnT>
                    <a:lnB w="6350">
                      <a:solidFill>
                        <a:srgbClr val="E2E7F2"/>
                      </a:solidFill>
                    </a:lnB>
                    <a:solidFill>
                      <a:srgbClr val="FFFFFF"/>
                    </a:solidFill>
                  </a:tcPr>
                </a:tc>
              </a:tr>
              <a:tr h="214884">
                <a:tc>
                  <a:txBody>
                    <a:bodyPr wrap="none"/>
                    <a:lstStyle/>
                    <a:p>
                      <a:pPr algn="l"/>
                      <a:r>
                        <a:rPr sz="850" b="1">
                          <a:solidFill>
                            <a:srgbClr val="26292E"/>
                          </a:solidFill>
                          <a:latin typeface="Calibri"/>
                        </a:rPr>
                        <a:t>Total</a:t>
                      </a:r>
                    </a:p>
                  </a:txBody>
                  <a:tcPr anchor="ctr" marL="27432" marR="27432" marT="4572" marB="4572">
                    <a:lnL w="6350">
                      <a:solidFill>
                        <a:srgbClr val="E2E7F2"/>
                      </a:solidFill>
                    </a:lnL>
                    <a:lnR w="6350">
                      <a:solidFill>
                        <a:srgbClr val="E2E7F2"/>
                      </a:solidFill>
                    </a:lnR>
                    <a:lnT w="6350">
                      <a:solidFill>
                        <a:srgbClr val="E2E7F2"/>
                      </a:solidFill>
                    </a:lnT>
                    <a:lnB w="6350">
                      <a:solidFill>
                        <a:srgbClr val="E2E7F2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wrap="none"/>
                    <a:lstStyle/>
                    <a:p>
                      <a:pPr algn="r"/>
                      <a:r>
                        <a:rPr sz="850" b="1">
                          <a:solidFill>
                            <a:srgbClr val="26292E"/>
                          </a:solidFill>
                          <a:latin typeface="Calibri"/>
                        </a:rPr>
                        <a:t>2,793</a:t>
                      </a:r>
                    </a:p>
                  </a:txBody>
                  <a:tcPr anchor="ctr" marL="27432" marR="27432" marT="4572" marB="4572">
                    <a:lnL w="6350">
                      <a:solidFill>
                        <a:srgbClr val="E2E7F2"/>
                      </a:solidFill>
                    </a:lnL>
                    <a:lnR w="6350">
                      <a:solidFill>
                        <a:srgbClr val="E2E7F2"/>
                      </a:solidFill>
                    </a:lnR>
                    <a:lnT w="6350">
                      <a:solidFill>
                        <a:srgbClr val="E2E7F2"/>
                      </a:solidFill>
                    </a:lnT>
                    <a:lnB w="6350">
                      <a:solidFill>
                        <a:srgbClr val="E2E7F2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wrap="none"/>
                    <a:lstStyle/>
                    <a:p>
                      <a:pPr algn="r"/>
                      <a:r>
                        <a:rPr sz="850" b="1">
                          <a:solidFill>
                            <a:srgbClr val="26292E"/>
                          </a:solidFill>
                          <a:latin typeface="Calibri"/>
                        </a:rPr>
                        <a:t>2,966</a:t>
                      </a:r>
                    </a:p>
                  </a:txBody>
                  <a:tcPr anchor="ctr" marL="27432" marR="27432" marT="4572" marB="4572">
                    <a:lnL w="6350">
                      <a:solidFill>
                        <a:srgbClr val="E2E7F2"/>
                      </a:solidFill>
                    </a:lnL>
                    <a:lnR w="6350">
                      <a:solidFill>
                        <a:srgbClr val="E2E7F2"/>
                      </a:solidFill>
                    </a:lnR>
                    <a:lnT w="6350">
                      <a:solidFill>
                        <a:srgbClr val="E2E7F2"/>
                      </a:solidFill>
                    </a:lnT>
                    <a:lnB w="6350">
                      <a:solidFill>
                        <a:srgbClr val="E2E7F2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wrap="none"/>
                    <a:lstStyle/>
                    <a:p>
                      <a:pPr algn="r"/>
                      <a:r>
                        <a:rPr sz="850" b="1">
                          <a:solidFill>
                            <a:srgbClr val="26292E"/>
                          </a:solidFill>
                          <a:latin typeface="Calibri"/>
                        </a:rPr>
                        <a:t>2,701</a:t>
                      </a:r>
                    </a:p>
                  </a:txBody>
                  <a:tcPr anchor="ctr" marL="27432" marR="27432" marT="4572" marB="4572">
                    <a:lnL w="6350">
                      <a:solidFill>
                        <a:srgbClr val="E2E7F2"/>
                      </a:solidFill>
                    </a:lnL>
                    <a:lnR w="6350">
                      <a:solidFill>
                        <a:srgbClr val="E2E7F2"/>
                      </a:solidFill>
                    </a:lnR>
                    <a:lnT w="6350">
                      <a:solidFill>
                        <a:srgbClr val="E2E7F2"/>
                      </a:solidFill>
                    </a:lnT>
                    <a:lnB w="6350">
                      <a:solidFill>
                        <a:srgbClr val="E2E7F2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wrap="none"/>
                    <a:lstStyle/>
                    <a:p>
                      <a:pPr algn="r"/>
                      <a:r>
                        <a:rPr sz="850" b="1">
                          <a:solidFill>
                            <a:srgbClr val="26292E"/>
                          </a:solidFill>
                          <a:latin typeface="Calibri"/>
                        </a:rPr>
                        <a:t>2,819</a:t>
                      </a:r>
                    </a:p>
                  </a:txBody>
                  <a:tcPr anchor="ctr" marL="27432" marR="27432" marT="4572" marB="4572">
                    <a:lnL w="6350">
                      <a:solidFill>
                        <a:srgbClr val="E2E7F2"/>
                      </a:solidFill>
                    </a:lnL>
                    <a:lnR w="6350">
                      <a:solidFill>
                        <a:srgbClr val="E2E7F2"/>
                      </a:solidFill>
                    </a:lnR>
                    <a:lnT w="6350">
                      <a:solidFill>
                        <a:srgbClr val="E2E7F2"/>
                      </a:solidFill>
                    </a:lnT>
                    <a:lnB w="6350">
                      <a:solidFill>
                        <a:srgbClr val="E2E7F2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wrap="none"/>
                    <a:lstStyle/>
                    <a:p>
                      <a:pPr algn="r"/>
                      <a:r>
                        <a:rPr sz="850" b="1">
                          <a:solidFill>
                            <a:srgbClr val="26292E"/>
                          </a:solidFill>
                          <a:latin typeface="Calibri"/>
                        </a:rPr>
                        <a:t>2,519</a:t>
                      </a:r>
                    </a:p>
                  </a:txBody>
                  <a:tcPr anchor="ctr" marL="27432" marR="27432" marT="4572" marB="4572">
                    <a:lnL w="6350">
                      <a:solidFill>
                        <a:srgbClr val="E2E7F2"/>
                      </a:solidFill>
                    </a:lnL>
                    <a:lnR w="6350">
                      <a:solidFill>
                        <a:srgbClr val="E2E7F2"/>
                      </a:solidFill>
                    </a:lnR>
                    <a:lnT w="6350">
                      <a:solidFill>
                        <a:srgbClr val="E2E7F2"/>
                      </a:solidFill>
                    </a:lnT>
                    <a:lnB w="6350">
                      <a:solidFill>
                        <a:srgbClr val="E2E7F2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wrap="none"/>
                    <a:lstStyle/>
                    <a:p>
                      <a:pPr algn="r"/>
                      <a:r>
                        <a:rPr sz="850" b="1">
                          <a:solidFill>
                            <a:srgbClr val="26292E"/>
                          </a:solidFill>
                          <a:latin typeface="Calibri"/>
                        </a:rPr>
                        <a:t>2,491</a:t>
                      </a:r>
                    </a:p>
                  </a:txBody>
                  <a:tcPr anchor="ctr" marL="27432" marR="27432" marT="4572" marB="4572">
                    <a:lnL w="6350">
                      <a:solidFill>
                        <a:srgbClr val="E2E7F2"/>
                      </a:solidFill>
                    </a:lnL>
                    <a:lnR w="6350">
                      <a:solidFill>
                        <a:srgbClr val="E2E7F2"/>
                      </a:solidFill>
                    </a:lnR>
                    <a:lnT w="6350">
                      <a:solidFill>
                        <a:srgbClr val="E2E7F2"/>
                      </a:solidFill>
                    </a:lnT>
                    <a:lnB w="6350">
                      <a:solidFill>
                        <a:srgbClr val="E2E7F2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wrap="none"/>
                    <a:lstStyle/>
                    <a:p>
                      <a:pPr algn="r"/>
                      <a:r>
                        <a:rPr sz="850" b="1">
                          <a:solidFill>
                            <a:srgbClr val="26292E"/>
                          </a:solidFill>
                          <a:latin typeface="Calibri"/>
                        </a:rPr>
                        <a:t>2,721</a:t>
                      </a:r>
                    </a:p>
                  </a:txBody>
                  <a:tcPr anchor="ctr" marL="27432" marR="27432" marT="4572" marB="4572">
                    <a:lnL w="6350">
                      <a:solidFill>
                        <a:srgbClr val="E2E7F2"/>
                      </a:solidFill>
                    </a:lnL>
                    <a:lnR w="6350">
                      <a:solidFill>
                        <a:srgbClr val="E2E7F2"/>
                      </a:solidFill>
                    </a:lnR>
                    <a:lnT w="6350">
                      <a:solidFill>
                        <a:srgbClr val="E2E7F2"/>
                      </a:solidFill>
                    </a:lnT>
                    <a:lnB w="6350">
                      <a:solidFill>
                        <a:srgbClr val="E2E7F2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wrap="none"/>
                    <a:lstStyle/>
                    <a:p>
                      <a:pPr algn="r"/>
                      <a:r>
                        <a:rPr sz="850" b="1">
                          <a:solidFill>
                            <a:srgbClr val="C62828"/>
                          </a:solidFill>
                          <a:latin typeface="Calibri"/>
                        </a:rPr>
                        <a:t>-8.9%</a:t>
                      </a:r>
                    </a:p>
                  </a:txBody>
                  <a:tcPr anchor="ctr" marL="27432" marR="27432" marT="4572" marB="4572">
                    <a:lnL w="6350">
                      <a:solidFill>
                        <a:srgbClr val="E2E7F2"/>
                      </a:solidFill>
                    </a:lnL>
                    <a:lnR w="6350">
                      <a:solidFill>
                        <a:srgbClr val="E2E7F2"/>
                      </a:solidFill>
                    </a:lnR>
                    <a:lnT w="6350">
                      <a:solidFill>
                        <a:srgbClr val="E2E7F2"/>
                      </a:solidFill>
                    </a:lnT>
                    <a:lnB w="6350">
                      <a:solidFill>
                        <a:srgbClr val="E2E7F2"/>
                      </a:solidFill>
                    </a:lnB>
                    <a:solidFill>
                      <a:srgbClr val="FFFFFF"/>
                    </a:solidFill>
                  </a:tcPr>
                </a:tc>
              </a:tr>
              <a:tr h="214884">
                <a:tc>
                  <a:txBody>
                    <a:bodyPr wrap="none"/>
                    <a:lstStyle/>
                    <a:p>
                      <a:pPr algn="l"/>
                      <a:r>
                        <a:rPr sz="850" b="0">
                          <a:solidFill>
                            <a:srgbClr val="595959"/>
                          </a:solidFill>
                          <a:latin typeface="Calibri"/>
                        </a:rPr>
                        <a:t>   ’25</a:t>
                      </a:r>
                    </a:p>
                  </a:txBody>
                  <a:tcPr anchor="ctr" marL="27432" marR="27432" marT="4572" marB="4572">
                    <a:lnL w="6350">
                      <a:solidFill>
                        <a:srgbClr val="E2E7F2"/>
                      </a:solidFill>
                    </a:lnL>
                    <a:lnR w="6350">
                      <a:solidFill>
                        <a:srgbClr val="E2E7F2"/>
                      </a:solidFill>
                    </a:lnR>
                    <a:lnT w="6350">
                      <a:solidFill>
                        <a:srgbClr val="E2E7F2"/>
                      </a:solidFill>
                    </a:lnT>
                    <a:lnB w="6350">
                      <a:solidFill>
                        <a:srgbClr val="E2E7F2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wrap="none"/>
                    <a:lstStyle/>
                    <a:p>
                      <a:pPr algn="r"/>
                      <a:r>
                        <a:rPr sz="850" b="0">
                          <a:solidFill>
                            <a:srgbClr val="595959"/>
                          </a:solidFill>
                          <a:latin typeface="Calibri"/>
                        </a:rPr>
                        <a:t>3,340</a:t>
                      </a:r>
                    </a:p>
                  </a:txBody>
                  <a:tcPr anchor="ctr" marL="27432" marR="27432" marT="4572" marB="4572">
                    <a:lnL w="6350">
                      <a:solidFill>
                        <a:srgbClr val="E2E7F2"/>
                      </a:solidFill>
                    </a:lnL>
                    <a:lnR w="6350">
                      <a:solidFill>
                        <a:srgbClr val="E2E7F2"/>
                      </a:solidFill>
                    </a:lnR>
                    <a:lnT w="6350">
                      <a:solidFill>
                        <a:srgbClr val="E2E7F2"/>
                      </a:solidFill>
                    </a:lnT>
                    <a:lnB w="6350">
                      <a:solidFill>
                        <a:srgbClr val="E2E7F2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wrap="none"/>
                    <a:lstStyle/>
                    <a:p>
                      <a:pPr algn="r"/>
                      <a:r>
                        <a:rPr sz="850" b="0">
                          <a:solidFill>
                            <a:srgbClr val="595959"/>
                          </a:solidFill>
                          <a:latin typeface="Calibri"/>
                        </a:rPr>
                        <a:t>3,056</a:t>
                      </a:r>
                    </a:p>
                  </a:txBody>
                  <a:tcPr anchor="ctr" marL="27432" marR="27432" marT="4572" marB="4572">
                    <a:lnL w="6350">
                      <a:solidFill>
                        <a:srgbClr val="E2E7F2"/>
                      </a:solidFill>
                    </a:lnL>
                    <a:lnR w="6350">
                      <a:solidFill>
                        <a:srgbClr val="E2E7F2"/>
                      </a:solidFill>
                    </a:lnR>
                    <a:lnT w="6350">
                      <a:solidFill>
                        <a:srgbClr val="E2E7F2"/>
                      </a:solidFill>
                    </a:lnT>
                    <a:lnB w="6350">
                      <a:solidFill>
                        <a:srgbClr val="E2E7F2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wrap="none"/>
                    <a:lstStyle/>
                    <a:p>
                      <a:pPr algn="r"/>
                      <a:r>
                        <a:rPr sz="850" b="0">
                          <a:solidFill>
                            <a:srgbClr val="595959"/>
                          </a:solidFill>
                          <a:latin typeface="Calibri"/>
                        </a:rPr>
                        <a:t>2,930</a:t>
                      </a:r>
                    </a:p>
                  </a:txBody>
                  <a:tcPr anchor="ctr" marL="27432" marR="27432" marT="4572" marB="4572">
                    <a:lnL w="6350">
                      <a:solidFill>
                        <a:srgbClr val="E2E7F2"/>
                      </a:solidFill>
                    </a:lnL>
                    <a:lnR w="6350">
                      <a:solidFill>
                        <a:srgbClr val="E2E7F2"/>
                      </a:solidFill>
                    </a:lnR>
                    <a:lnT w="6350">
                      <a:solidFill>
                        <a:srgbClr val="E2E7F2"/>
                      </a:solidFill>
                    </a:lnT>
                    <a:lnB w="6350">
                      <a:solidFill>
                        <a:srgbClr val="E2E7F2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wrap="none"/>
                    <a:lstStyle/>
                    <a:p>
                      <a:pPr algn="r"/>
                      <a:r>
                        <a:rPr sz="850" b="0">
                          <a:solidFill>
                            <a:srgbClr val="595959"/>
                          </a:solidFill>
                          <a:latin typeface="Calibri"/>
                        </a:rPr>
                        <a:t>3,001</a:t>
                      </a:r>
                    </a:p>
                  </a:txBody>
                  <a:tcPr anchor="ctr" marL="27432" marR="27432" marT="4572" marB="4572">
                    <a:lnL w="6350">
                      <a:solidFill>
                        <a:srgbClr val="E2E7F2"/>
                      </a:solidFill>
                    </a:lnL>
                    <a:lnR w="6350">
                      <a:solidFill>
                        <a:srgbClr val="E2E7F2"/>
                      </a:solidFill>
                    </a:lnR>
                    <a:lnT w="6350">
                      <a:solidFill>
                        <a:srgbClr val="E2E7F2"/>
                      </a:solidFill>
                    </a:lnT>
                    <a:lnB w="6350">
                      <a:solidFill>
                        <a:srgbClr val="E2E7F2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wrap="none"/>
                    <a:lstStyle/>
                    <a:p>
                      <a:pPr algn="r"/>
                      <a:r>
                        <a:rPr sz="850" b="0">
                          <a:solidFill>
                            <a:srgbClr val="595959"/>
                          </a:solidFill>
                          <a:latin typeface="Calibri"/>
                        </a:rPr>
                        <a:t>2,760</a:t>
                      </a:r>
                    </a:p>
                  </a:txBody>
                  <a:tcPr anchor="ctr" marL="27432" marR="27432" marT="4572" marB="4572">
                    <a:lnL w="6350">
                      <a:solidFill>
                        <a:srgbClr val="E2E7F2"/>
                      </a:solidFill>
                    </a:lnL>
                    <a:lnR w="6350">
                      <a:solidFill>
                        <a:srgbClr val="E2E7F2"/>
                      </a:solidFill>
                    </a:lnR>
                    <a:lnT w="6350">
                      <a:solidFill>
                        <a:srgbClr val="E2E7F2"/>
                      </a:solidFill>
                    </a:lnT>
                    <a:lnB w="6350">
                      <a:solidFill>
                        <a:srgbClr val="E2E7F2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wrap="none"/>
                    <a:lstStyle/>
                    <a:p>
                      <a:pPr algn="r"/>
                      <a:r>
                        <a:rPr sz="850" b="0">
                          <a:solidFill>
                            <a:srgbClr val="595959"/>
                          </a:solidFill>
                          <a:latin typeface="Calibri"/>
                        </a:rPr>
                        <a:t>2,776</a:t>
                      </a:r>
                    </a:p>
                  </a:txBody>
                  <a:tcPr anchor="ctr" marL="27432" marR="27432" marT="4572" marB="4572">
                    <a:lnL w="6350">
                      <a:solidFill>
                        <a:srgbClr val="E2E7F2"/>
                      </a:solidFill>
                    </a:lnL>
                    <a:lnR w="6350">
                      <a:solidFill>
                        <a:srgbClr val="E2E7F2"/>
                      </a:solidFill>
                    </a:lnR>
                    <a:lnT w="6350">
                      <a:solidFill>
                        <a:srgbClr val="E2E7F2"/>
                      </a:solidFill>
                    </a:lnT>
                    <a:lnB w="6350">
                      <a:solidFill>
                        <a:srgbClr val="E2E7F2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wrap="none"/>
                    <a:lstStyle/>
                    <a:p>
                      <a:pPr algn="r"/>
                      <a:r>
                        <a:rPr sz="850" b="0">
                          <a:solidFill>
                            <a:srgbClr val="595959"/>
                          </a:solidFill>
                          <a:latin typeface="Calibri"/>
                        </a:rPr>
                        <a:t>2,987</a:t>
                      </a:r>
                    </a:p>
                  </a:txBody>
                  <a:tcPr anchor="ctr" marL="27432" marR="27432" marT="4572" marB="4572">
                    <a:lnL w="6350">
                      <a:solidFill>
                        <a:srgbClr val="E2E7F2"/>
                      </a:solidFill>
                    </a:lnL>
                    <a:lnR w="6350">
                      <a:solidFill>
                        <a:srgbClr val="E2E7F2"/>
                      </a:solidFill>
                    </a:lnR>
                    <a:lnT w="6350">
                      <a:solidFill>
                        <a:srgbClr val="E2E7F2"/>
                      </a:solidFill>
                    </a:lnT>
                    <a:lnB w="6350">
                      <a:solidFill>
                        <a:srgbClr val="E2E7F2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wrap="none"/>
                    <a:lstStyle/>
                    <a:p>
                      <a:pPr algn="l"/>
                      <a:r>
                        <a:rPr sz="850" b="0">
                          <a:solidFill>
                            <a:srgbClr val="26292E"/>
                          </a:solidFill>
                          <a:latin typeface="Calibri"/>
                        </a:rPr>
                        <a:t/>
                      </a:r>
                    </a:p>
                  </a:txBody>
                  <a:tcPr anchor="ctr" marL="27432" marR="27432" marT="4572" marB="4572">
                    <a:lnL w="6350">
                      <a:solidFill>
                        <a:srgbClr val="E2E7F2"/>
                      </a:solidFill>
                    </a:lnL>
                    <a:lnR w="6350">
                      <a:solidFill>
                        <a:srgbClr val="E2E7F2"/>
                      </a:solidFill>
                    </a:lnR>
                    <a:lnT w="6350">
                      <a:solidFill>
                        <a:srgbClr val="E2E7F2"/>
                      </a:solidFill>
                    </a:lnT>
                    <a:lnB w="6350">
                      <a:solidFill>
                        <a:srgbClr val="E2E7F2"/>
                      </a:solidFill>
                    </a:lnB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  <p:sp>
        <p:nvSpPr>
          <p:cNvPr id="10" name="TextBox 9"/>
          <p:cNvSpPr txBox="1"/>
          <p:nvPr/>
        </p:nvSpPr>
        <p:spPr>
          <a:xfrm>
            <a:off x="548640" y="6231636"/>
            <a:ext cx="10881360" cy="320040"/>
          </a:xfrm>
          <a:prstGeom prst="rect">
            <a:avLst/>
          </a:prstGeom>
          <a:noFill/>
        </p:spPr>
        <p:txBody>
          <a:bodyPr wrap="none" lIns="0" tIns="0">
            <a:spAutoFit/>
          </a:bodyPr>
          <a:lstStyle/>
          <a:p>
            <a:r>
              <a:rPr sz="900">
                <a:solidFill>
                  <a:srgbClr val="595959"/>
                </a:solidFill>
                <a:latin typeface="Calibri"/>
              </a:rPr>
              <a:t>Deepest H1 rate cut: Group Series (-25.8%) · '–' = no rooms sold that month.</a:t>
            </a:r>
          </a:p>
        </p:txBody>
      </p:sp>
    </p:spTree>
  </p:cSld>
  <p:clrMapOvr>
    <a:masterClrMapping/>
  </p:clrMapOvr>
</p:sld>
</file>

<file path=ppt/slides/slide2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3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292608"/>
            <a:ext cx="8229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b="1" kern="0" spc="200" dirty="0">
                <a:solidFill>
                  <a:srgbClr val="D9A44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SECTION 4 · SOMERSET RAMA 9 BANGKOK (SR9)</a:t>
            </a:r>
            <a:endParaRPr lang="en-US" sz="1100" dirty="0"/>
          </a:p>
        </p:txBody>
      </p:sp>
      <p:sp>
        <p:nvSpPr>
          <p:cNvPr id="3" name="Text 1"/>
          <p:cNvSpPr/>
          <p:nvPr/>
        </p:nvSpPr>
        <p:spPr>
          <a:xfrm>
            <a:off x="548640" y="502920"/>
            <a:ext cx="11091672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800" b="1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Somerset Rama 9 Bangkok (SR9) — guest nationality — room nights &amp; change (H1)</a:t>
            </a:r>
            <a:endParaRPr lang="en-US" sz="2800" dirty="0"/>
          </a:p>
        </p:txBody>
      </p:sp>
      <p:sp>
        <p:nvSpPr>
          <p:cNvPr id="4" name="Text 2"/>
          <p:cNvSpPr/>
          <p:nvPr/>
        </p:nvSpPr>
        <p:spPr>
          <a:xfrm>
            <a:off x="548640" y="1060704"/>
            <a:ext cx="11091672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5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Top 10 nationalities · H1 room nights 2026 vs 2025 (left) · change vs last year (right)</a:t>
            </a:r>
            <a:endParaRPr lang="en-US" sz="1250" dirty="0"/>
          </a:p>
        </p:txBody>
      </p:sp>
      <p:sp>
        <p:nvSpPr>
          <p:cNvPr id="5" name="Text 3"/>
          <p:cNvSpPr/>
          <p:nvPr/>
        </p:nvSpPr>
        <p:spPr>
          <a:xfrm>
            <a:off x="8165592" y="310896"/>
            <a:ext cx="34747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90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Mitsui Thailand Portfolio · H1 2026</a:t>
            </a:r>
            <a:endParaRPr lang="en-US" sz="900" dirty="0"/>
          </a:p>
        </p:txBody>
      </p:sp>
      <p:graphicFrame>
        <p:nvGraphicFramePr>
          <p:cNvPr id="6" name="Chart 0"/>
          <p:cNvGraphicFramePr/>
          <p:nvPr/>
        </p:nvGraphicFramePr>
        <p:xfrm>
          <a:off x="548640" y="1737360"/>
          <a:ext cx="5394960" cy="4434840"/>
        </p:xfrm>
        <a:graphic>
          <a:graphicData uri="http://schemas.openxmlformats.org/drawingml/2006/chart">
            <c:chart xmlns:c="http://schemas.openxmlformats.org/drawingml/2006/chart" xmlns:r="http://schemas.openxmlformats.org/officeDocument/2006/relationships" r:id="rId3"/>
          </a:graphicData>
        </a:graphic>
      </p:graphicFrame>
      <p:sp>
        <p:nvSpPr>
          <p:cNvPr id="9" name="Text 4"/>
          <p:cNvSpPr/>
          <p:nvPr/>
        </p:nvSpPr>
        <p:spPr>
          <a:xfrm>
            <a:off x="548640" y="6309360"/>
            <a:ext cx="10881360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50" i="1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Biggest H1 gain: China (+1,792 RN) · biggest decline: Korea (-757 RN). A 2025 bar of 0 = outside 2025's top-10 · change table follows the 2026 top-10, 'new' = outside 2025's top-10.</a:t>
            </a:r>
            <a:endParaRPr lang="en-US" sz="1050" dirty="0"/>
          </a:p>
        </p:txBody>
      </p:sp>
      <p:graphicFrame>
        <p:nvGraphicFramePr>
          <p:cNvPr id="900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6903720" y="2240280"/>
          <a:ext cx="3867912" cy="3072384"/>
        </p:xfrm>
        <a:graphic>
          <a:graphicData uri="http://schemas.openxmlformats.org/drawingml/2006/table">
            <a:tbl>
              <a:tblPr/>
              <a:tblGrid>
                <a:gridCol w="1307592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64008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640080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658368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  <a:gridCol w="621792">
                  <a:extLst>
                    <a:ext uri="{9D8B030D-6E8A-4147-A177-3AD203B41FA5}">
                      <a16:colId xmlns:a16="http://schemas.microsoft.com/office/drawing/2014/main" val="20004"/>
                    </a:ext>
                  </a:extLst>
                </a:gridCol>
              </a:tblGrid>
              <a:tr h="256032"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85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Nationality</a:t>
                      </a:r>
                      <a:endParaRPr lang="en-US" sz="8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E2E7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7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7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7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E2761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85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H1 25</a:t>
                      </a:r>
                      <a:endParaRPr lang="en-US" sz="8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E2E7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7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7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7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E2761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85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H1 26</a:t>
                      </a:r>
                      <a:endParaRPr lang="en-US" sz="8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E2E7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7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7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7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E2761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85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Chg</a:t>
                      </a:r>
                      <a:endParaRPr lang="en-US" sz="8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E2E7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7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7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7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E2761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85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%</a:t>
                      </a:r>
                      <a:endParaRPr lang="en-US" sz="8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E2E7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7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7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7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E276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256032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850" b="1" dirty="0">
                          <a:solidFill>
                            <a:srgbClr val="26292E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China</a:t>
                      </a:r>
                      <a:endParaRPr lang="en-US" sz="8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E2E7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7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7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7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r">
                        <a:buNone/>
                      </a:pPr>
                      <a:r>
                        <a:rPr lang="en-US" sz="850" dirty="0">
                          <a:solidFill>
                            <a:srgbClr val="26292E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30,611</a:t>
                      </a:r>
                      <a:endParaRPr lang="en-US" sz="8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E2E7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7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7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7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r">
                        <a:buNone/>
                      </a:pPr>
                      <a:r>
                        <a:rPr lang="en-US" sz="850" dirty="0">
                          <a:solidFill>
                            <a:srgbClr val="26292E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32,403</a:t>
                      </a:r>
                      <a:endParaRPr lang="en-US" sz="8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E2E7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7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7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7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r">
                        <a:buNone/>
                      </a:pPr>
                      <a:r>
                        <a:rPr lang="en-US" sz="850" b="1" dirty="0">
                          <a:solidFill>
                            <a:srgbClr val="2E7D32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+1,792</a:t>
                      </a:r>
                      <a:endParaRPr lang="en-US" sz="8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E2E7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7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7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7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r">
                        <a:buNone/>
                      </a:pPr>
                      <a:r>
                        <a:rPr lang="en-US" sz="850" dirty="0">
                          <a:solidFill>
                            <a:srgbClr val="2E7D32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+6%</a:t>
                      </a:r>
                      <a:endParaRPr lang="en-US" sz="8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E2E7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7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7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7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256032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850" b="1" dirty="0">
                          <a:solidFill>
                            <a:srgbClr val="26292E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Taiwan</a:t>
                      </a:r>
                      <a:endParaRPr lang="en-US" sz="8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E2E7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7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7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7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6FB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r">
                        <a:buNone/>
                      </a:pPr>
                      <a:r>
                        <a:rPr lang="en-US" sz="850" dirty="0">
                          <a:solidFill>
                            <a:srgbClr val="26292E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6,536</a:t>
                      </a:r>
                      <a:endParaRPr lang="en-US" sz="8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E2E7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7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7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7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6FB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r">
                        <a:buNone/>
                      </a:pPr>
                      <a:r>
                        <a:rPr lang="en-US" sz="850" dirty="0">
                          <a:solidFill>
                            <a:srgbClr val="26292E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5,882</a:t>
                      </a:r>
                      <a:endParaRPr lang="en-US" sz="8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E2E7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7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7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7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6FB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r">
                        <a:buNone/>
                      </a:pPr>
                      <a:r>
                        <a:rPr lang="en-US" sz="850" b="1" dirty="0">
                          <a:solidFill>
                            <a:srgbClr val="C0392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-654</a:t>
                      </a:r>
                      <a:endParaRPr lang="en-US" sz="8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E2E7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7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7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7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6FB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r">
                        <a:buNone/>
                      </a:pPr>
                      <a:r>
                        <a:rPr lang="en-US" sz="850" dirty="0">
                          <a:solidFill>
                            <a:srgbClr val="C0392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-10%</a:t>
                      </a:r>
                      <a:endParaRPr lang="en-US" sz="8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E2E7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7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7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7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6FB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256032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850" b="1" dirty="0">
                          <a:solidFill>
                            <a:srgbClr val="26292E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Thailand</a:t>
                      </a:r>
                      <a:endParaRPr lang="en-US" sz="8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E2E7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7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7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7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r">
                        <a:buNone/>
                      </a:pPr>
                      <a:r>
                        <a:rPr lang="en-US" sz="850" dirty="0">
                          <a:solidFill>
                            <a:srgbClr val="26292E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3,044</a:t>
                      </a:r>
                      <a:endParaRPr lang="en-US" sz="8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E2E7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7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7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7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r">
                        <a:buNone/>
                      </a:pPr>
                      <a:r>
                        <a:rPr lang="en-US" sz="850" dirty="0">
                          <a:solidFill>
                            <a:srgbClr val="26292E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3,806</a:t>
                      </a:r>
                      <a:endParaRPr lang="en-US" sz="8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E2E7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7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7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7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r">
                        <a:buNone/>
                      </a:pPr>
                      <a:r>
                        <a:rPr lang="en-US" sz="850" b="1" dirty="0">
                          <a:solidFill>
                            <a:srgbClr val="2E7D32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+762</a:t>
                      </a:r>
                      <a:endParaRPr lang="en-US" sz="8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E2E7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7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7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7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r">
                        <a:buNone/>
                      </a:pPr>
                      <a:r>
                        <a:rPr lang="en-US" sz="850" dirty="0">
                          <a:solidFill>
                            <a:srgbClr val="2E7D32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+25%</a:t>
                      </a:r>
                      <a:endParaRPr lang="en-US" sz="8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E2E7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7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7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7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256032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850" b="1" dirty="0">
                          <a:solidFill>
                            <a:srgbClr val="26292E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India</a:t>
                      </a:r>
                      <a:endParaRPr lang="en-US" sz="8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E2E7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7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7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7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6FB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r">
                        <a:buNone/>
                      </a:pPr>
                      <a:r>
                        <a:rPr lang="en-US" sz="850" dirty="0">
                          <a:solidFill>
                            <a:srgbClr val="26292E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1,455</a:t>
                      </a:r>
                      <a:endParaRPr lang="en-US" sz="8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E2E7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7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7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7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6FB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r">
                        <a:buNone/>
                      </a:pPr>
                      <a:r>
                        <a:rPr lang="en-US" sz="850" dirty="0">
                          <a:solidFill>
                            <a:srgbClr val="26292E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2,674</a:t>
                      </a:r>
                      <a:endParaRPr lang="en-US" sz="8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E2E7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7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7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7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6FB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r">
                        <a:buNone/>
                      </a:pPr>
                      <a:r>
                        <a:rPr lang="en-US" sz="850" b="1" dirty="0">
                          <a:solidFill>
                            <a:srgbClr val="2E7D32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+1,219</a:t>
                      </a:r>
                      <a:endParaRPr lang="en-US" sz="8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E2E7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7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7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7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6FB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r">
                        <a:buNone/>
                      </a:pPr>
                      <a:r>
                        <a:rPr lang="en-US" sz="850" dirty="0">
                          <a:solidFill>
                            <a:srgbClr val="2E7D32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+84%</a:t>
                      </a:r>
                      <a:endParaRPr lang="en-US" sz="8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E2E7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7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7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7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6FB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  <a:tr h="256032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850" b="1" dirty="0">
                          <a:solidFill>
                            <a:srgbClr val="26292E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Japan</a:t>
                      </a:r>
                      <a:endParaRPr lang="en-US" sz="8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E2E7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7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7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7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r">
                        <a:buNone/>
                      </a:pPr>
                      <a:r>
                        <a:rPr lang="en-US" sz="850" dirty="0">
                          <a:solidFill>
                            <a:srgbClr val="26292E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2,679</a:t>
                      </a:r>
                      <a:endParaRPr lang="en-US" sz="8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E2E7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7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7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7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r">
                        <a:buNone/>
                      </a:pPr>
                      <a:r>
                        <a:rPr lang="en-US" sz="850" dirty="0">
                          <a:solidFill>
                            <a:srgbClr val="26292E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2,635</a:t>
                      </a:r>
                      <a:endParaRPr lang="en-US" sz="8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E2E7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7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7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7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r">
                        <a:buNone/>
                      </a:pPr>
                      <a:r>
                        <a:rPr lang="en-US" sz="850" b="1" dirty="0">
                          <a:solidFill>
                            <a:srgbClr val="C0392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-44</a:t>
                      </a:r>
                      <a:endParaRPr lang="en-US" sz="8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E2E7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7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7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7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r">
                        <a:buNone/>
                      </a:pPr>
                      <a:r>
                        <a:rPr lang="en-US" sz="850" dirty="0">
                          <a:solidFill>
                            <a:srgbClr val="C0392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-2%</a:t>
                      </a:r>
                      <a:endParaRPr lang="en-US" sz="8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E2E7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7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7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7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5"/>
                  </a:ext>
                </a:extLst>
              </a:tr>
              <a:tr h="256032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850" b="1" dirty="0">
                          <a:solidFill>
                            <a:srgbClr val="26292E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Malaysia</a:t>
                      </a:r>
                      <a:endParaRPr lang="en-US" sz="8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E2E7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7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7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7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6FB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r">
                        <a:buNone/>
                      </a:pPr>
                      <a:r>
                        <a:rPr lang="en-US" sz="850" dirty="0">
                          <a:solidFill>
                            <a:srgbClr val="26292E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2,486</a:t>
                      </a:r>
                      <a:endParaRPr lang="en-US" sz="8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E2E7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7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7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7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6FB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r">
                        <a:buNone/>
                      </a:pPr>
                      <a:r>
                        <a:rPr lang="en-US" sz="850" dirty="0">
                          <a:solidFill>
                            <a:srgbClr val="26292E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2,247</a:t>
                      </a:r>
                      <a:endParaRPr lang="en-US" sz="8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E2E7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7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7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7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6FB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r">
                        <a:buNone/>
                      </a:pPr>
                      <a:r>
                        <a:rPr lang="en-US" sz="850" b="1" dirty="0">
                          <a:solidFill>
                            <a:srgbClr val="C0392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-239</a:t>
                      </a:r>
                      <a:endParaRPr lang="en-US" sz="8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E2E7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7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7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7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6FB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r">
                        <a:buNone/>
                      </a:pPr>
                      <a:r>
                        <a:rPr lang="en-US" sz="850" dirty="0">
                          <a:solidFill>
                            <a:srgbClr val="C0392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-10%</a:t>
                      </a:r>
                      <a:endParaRPr lang="en-US" sz="8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E2E7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7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7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7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6FB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6"/>
                  </a:ext>
                </a:extLst>
              </a:tr>
              <a:tr h="256032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850" b="1" dirty="0">
                          <a:solidFill>
                            <a:srgbClr val="26292E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Singapore</a:t>
                      </a:r>
                      <a:endParaRPr lang="en-US" sz="8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E2E7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7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7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7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r">
                        <a:buNone/>
                      </a:pPr>
                      <a:r>
                        <a:rPr lang="en-US" sz="850" dirty="0">
                          <a:solidFill>
                            <a:srgbClr val="26292E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2,017</a:t>
                      </a:r>
                      <a:endParaRPr lang="en-US" sz="8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E2E7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7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7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7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r">
                        <a:buNone/>
                      </a:pPr>
                      <a:r>
                        <a:rPr lang="en-US" sz="850" dirty="0">
                          <a:solidFill>
                            <a:srgbClr val="26292E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2,169</a:t>
                      </a:r>
                      <a:endParaRPr lang="en-US" sz="8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E2E7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7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7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7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r">
                        <a:buNone/>
                      </a:pPr>
                      <a:r>
                        <a:rPr lang="en-US" sz="850" b="1" dirty="0">
                          <a:solidFill>
                            <a:srgbClr val="2E7D32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+152</a:t>
                      </a:r>
                      <a:endParaRPr lang="en-US" sz="8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E2E7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7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7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7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r">
                        <a:buNone/>
                      </a:pPr>
                      <a:r>
                        <a:rPr lang="en-US" sz="850" dirty="0">
                          <a:solidFill>
                            <a:srgbClr val="2E7D32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+8%</a:t>
                      </a:r>
                      <a:endParaRPr lang="en-US" sz="8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E2E7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7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7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7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7"/>
                  </a:ext>
                </a:extLst>
              </a:tr>
              <a:tr h="256032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850" b="1" dirty="0">
                          <a:solidFill>
                            <a:srgbClr val="26292E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Korea</a:t>
                      </a:r>
                      <a:endParaRPr lang="en-US" sz="8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E2E7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7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7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7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6FB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r">
                        <a:buNone/>
                      </a:pPr>
                      <a:r>
                        <a:rPr lang="en-US" sz="850" dirty="0">
                          <a:solidFill>
                            <a:srgbClr val="26292E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2,863</a:t>
                      </a:r>
                      <a:endParaRPr lang="en-US" sz="8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E2E7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7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7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7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6FB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r">
                        <a:buNone/>
                      </a:pPr>
                      <a:r>
                        <a:rPr lang="en-US" sz="850" dirty="0">
                          <a:solidFill>
                            <a:srgbClr val="26292E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2,106</a:t>
                      </a:r>
                      <a:endParaRPr lang="en-US" sz="8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E2E7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7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7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7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6FB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r">
                        <a:buNone/>
                      </a:pPr>
                      <a:r>
                        <a:rPr lang="en-US" sz="850" b="1" dirty="0">
                          <a:solidFill>
                            <a:srgbClr val="C0392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-757</a:t>
                      </a:r>
                      <a:endParaRPr lang="en-US" sz="8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E2E7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7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7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7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6FB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r">
                        <a:buNone/>
                      </a:pPr>
                      <a:r>
                        <a:rPr lang="en-US" sz="850" dirty="0">
                          <a:solidFill>
                            <a:srgbClr val="C0392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-26%</a:t>
                      </a:r>
                      <a:endParaRPr lang="en-US" sz="8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E2E7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7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7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7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6FB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8"/>
                  </a:ext>
                </a:extLst>
              </a:tr>
              <a:tr h="256032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850" b="1" dirty="0">
                          <a:solidFill>
                            <a:srgbClr val="26292E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Indonesia</a:t>
                      </a:r>
                      <a:endParaRPr lang="en-US" sz="8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E2E7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7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7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7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r">
                        <a:buNone/>
                      </a:pPr>
                      <a:r>
                        <a:rPr lang="en-US" sz="850" dirty="0">
                          <a:solidFill>
                            <a:srgbClr val="26292E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1,120</a:t>
                      </a:r>
                      <a:endParaRPr lang="en-US" sz="8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E2E7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7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7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7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r">
                        <a:buNone/>
                      </a:pPr>
                      <a:r>
                        <a:rPr lang="en-US" sz="850" dirty="0">
                          <a:solidFill>
                            <a:srgbClr val="26292E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1,273</a:t>
                      </a:r>
                      <a:endParaRPr lang="en-US" sz="8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E2E7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7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7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7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r">
                        <a:buNone/>
                      </a:pPr>
                      <a:r>
                        <a:rPr lang="en-US" sz="850" b="1" dirty="0">
                          <a:solidFill>
                            <a:srgbClr val="2E7D32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+153</a:t>
                      </a:r>
                      <a:endParaRPr lang="en-US" sz="8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E2E7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7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7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7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r">
                        <a:buNone/>
                      </a:pPr>
                      <a:r>
                        <a:rPr lang="en-US" sz="850" dirty="0">
                          <a:solidFill>
                            <a:srgbClr val="2E7D32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+14%</a:t>
                      </a:r>
                      <a:endParaRPr lang="en-US" sz="8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E2E7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7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7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7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9"/>
                  </a:ext>
                </a:extLst>
              </a:tr>
              <a:tr h="256032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850" b="1" dirty="0">
                          <a:solidFill>
                            <a:srgbClr val="26292E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USA</a:t>
                      </a:r>
                      <a:endParaRPr lang="en-US" sz="8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E2E7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7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7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7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6FB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r">
                        <a:buNone/>
                      </a:pPr>
                      <a:r>
                        <a:rPr lang="en-US" sz="850" dirty="0">
                          <a:solidFill>
                            <a:srgbClr val="26292E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1,034</a:t>
                      </a:r>
                      <a:endParaRPr lang="en-US" sz="8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E2E7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7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7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7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6FB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r">
                        <a:buNone/>
                      </a:pPr>
                      <a:r>
                        <a:rPr lang="en-US" sz="850" dirty="0">
                          <a:solidFill>
                            <a:srgbClr val="26292E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1,032</a:t>
                      </a:r>
                      <a:endParaRPr lang="en-US" sz="8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E2E7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7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7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7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6FB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r">
                        <a:buNone/>
                      </a:pPr>
                      <a:r>
                        <a:rPr lang="en-US" sz="850" b="1" dirty="0">
                          <a:solidFill>
                            <a:srgbClr val="C0392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-2</a:t>
                      </a:r>
                      <a:endParaRPr lang="en-US" sz="8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E2E7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7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7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7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6FB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r">
                        <a:buNone/>
                      </a:pPr>
                      <a:r>
                        <a:rPr lang="en-US" sz="850" dirty="0">
                          <a:solidFill>
                            <a:srgbClr val="C0392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-0%</a:t>
                      </a:r>
                      <a:endParaRPr lang="en-US" sz="8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E2E7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7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7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7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6FB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10"/>
                  </a:ext>
                </a:extLst>
              </a:tr>
              <a:tr h="256032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850" b="1" dirty="0">
                          <a:solidFill>
                            <a:srgbClr val="1E2761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Top-10 total</a:t>
                      </a:r>
                      <a:endParaRPr lang="en-US" sz="8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E2E7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7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7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7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2E7F2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r">
                        <a:buNone/>
                      </a:pPr>
                      <a:r>
                        <a:rPr lang="en-US" sz="850" b="1" dirty="0">
                          <a:solidFill>
                            <a:srgbClr val="1E2761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53,845</a:t>
                      </a:r>
                      <a:endParaRPr lang="en-US" sz="8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E2E7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7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7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7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2E7F2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r">
                        <a:buNone/>
                      </a:pPr>
                      <a:r>
                        <a:rPr lang="en-US" sz="850" b="1" dirty="0">
                          <a:solidFill>
                            <a:srgbClr val="1E2761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56,227</a:t>
                      </a:r>
                      <a:endParaRPr lang="en-US" sz="8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E2E7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7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7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7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2E7F2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r">
                        <a:buNone/>
                      </a:pPr>
                      <a:r>
                        <a:rPr lang="en-US" sz="850" b="1" dirty="0">
                          <a:solidFill>
                            <a:srgbClr val="2E7D32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+2,382</a:t>
                      </a:r>
                      <a:endParaRPr lang="en-US" sz="8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E2E7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7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7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7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2E7F2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r">
                        <a:buNone/>
                      </a:pPr>
                      <a:r>
                        <a:rPr lang="en-US" sz="850" b="1" dirty="0">
                          <a:solidFill>
                            <a:srgbClr val="2E7D32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+4%</a:t>
                      </a:r>
                      <a:endParaRPr lang="en-US" sz="8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E2E7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7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7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7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2E7F2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11"/>
                  </a:ext>
                </a:extLst>
              </a:tr>
            </a:tbl>
          </a:graphicData>
        </a:graphic>
      </p:graphicFrame>
    </p:spTree>
  </p:cSld>
  <p:clrMapOvr>
    <a:masterClrMapping/>
  </p:clrMapOvr>
</p:sld>
</file>

<file path=ppt/slides/slide2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9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292608"/>
            <a:ext cx="8229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b="1" kern="0" spc="200" dirty="0">
                <a:solidFill>
                  <a:srgbClr val="D9A44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SECTION 4 · SOMERSET RAMA 9 BANGKOK (SR9)</a:t>
            </a:r>
            <a:endParaRPr lang="en-US" sz="1100" dirty="0"/>
          </a:p>
        </p:txBody>
      </p:sp>
      <p:sp>
        <p:nvSpPr>
          <p:cNvPr id="3" name="Text 1"/>
          <p:cNvSpPr/>
          <p:nvPr/>
        </p:nvSpPr>
        <p:spPr>
          <a:xfrm>
            <a:off x="548640" y="502920"/>
            <a:ext cx="11091672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800" b="1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Somerset Rama 9 Bangkok (SR9) — P&amp;L, H1 2026</a:t>
            </a:r>
            <a:endParaRPr lang="en-US" sz="2800" dirty="0"/>
          </a:p>
        </p:txBody>
      </p:sp>
      <p:sp>
        <p:nvSpPr>
          <p:cNvPr id="4" name="Text 2"/>
          <p:cNvSpPr/>
          <p:nvPr/>
        </p:nvSpPr>
        <p:spPr>
          <a:xfrm>
            <a:off x="548640" y="1060704"/>
            <a:ext cx="11091672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5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YTD Jan–Jun vs MF budget · monthly P&amp;L: actual 2026 vs Budget (MF) and actual 2025 · ฿M</a:t>
            </a:r>
            <a:endParaRPr lang="en-US" sz="1250" dirty="0"/>
          </a:p>
        </p:txBody>
      </p:sp>
      <p:sp>
        <p:nvSpPr>
          <p:cNvPr id="5" name="Text 3"/>
          <p:cNvSpPr/>
          <p:nvPr/>
        </p:nvSpPr>
        <p:spPr>
          <a:xfrm>
            <a:off x="8165592" y="310896"/>
            <a:ext cx="34747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90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Mitsui Thailand Portfolio · H1 2026</a:t>
            </a:r>
            <a:endParaRPr lang="en-US" sz="900" dirty="0"/>
          </a:p>
        </p:txBody>
      </p:sp>
      <p:graphicFrame>
        <p:nvGraphicFramePr>
          <p:cNvPr id="6" name="Chart 0"/>
          <p:cNvGraphicFramePr/>
          <p:nvPr/>
        </p:nvGraphicFramePr>
        <p:xfrm>
          <a:off x="548640" y="1783080"/>
          <a:ext cx="5394960" cy="2011680"/>
        </p:xfrm>
        <a:graphic>
          <a:graphicData uri="http://schemas.openxmlformats.org/drawingml/2006/chart">
            <c:chart xmlns:c="http://schemas.openxmlformats.org/drawingml/2006/chart" xmlns:r="http://schemas.openxmlformats.org/officeDocument/2006/relationships" r:id="rId3"/>
          </a:graphicData>
        </a:graphic>
      </p:graphicFrame>
      <p:graphicFrame>
        <p:nvGraphicFramePr>
          <p:cNvPr id="20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548640" y="3886200"/>
          <a:ext cx="5394960" cy="2414016"/>
        </p:xfrm>
        <a:graphic>
          <a:graphicData uri="http://schemas.openxmlformats.org/drawingml/2006/table">
            <a:tbl>
              <a:tblPr/>
              <a:tblGrid>
                <a:gridCol w="932688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603504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603504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603504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  <a:gridCol w="603504">
                  <a:extLst>
                    <a:ext uri="{9D8B030D-6E8A-4147-A177-3AD203B41FA5}">
                      <a16:colId xmlns:a16="http://schemas.microsoft.com/office/drawing/2014/main" val="20004"/>
                    </a:ext>
                  </a:extLst>
                </a:gridCol>
                <a:gridCol w="603504">
                  <a:extLst>
                    <a:ext uri="{9D8B030D-6E8A-4147-A177-3AD203B41FA5}">
                      <a16:colId xmlns:a16="http://schemas.microsoft.com/office/drawing/2014/main" val="20005"/>
                    </a:ext>
                  </a:extLst>
                </a:gridCol>
                <a:gridCol w="603504">
                  <a:extLst>
                    <a:ext uri="{9D8B030D-6E8A-4147-A177-3AD203B41FA5}">
                      <a16:colId xmlns:a16="http://schemas.microsoft.com/office/drawing/2014/main" val="20006"/>
                    </a:ext>
                  </a:extLst>
                </a:gridCol>
                <a:gridCol w="841248">
                  <a:extLst>
                    <a:ext uri="{9D8B030D-6E8A-4147-A177-3AD203B41FA5}">
                      <a16:colId xmlns:a16="http://schemas.microsoft.com/office/drawing/2014/main" val="20007"/>
                    </a:ext>
                  </a:extLst>
                </a:gridCol>
              </a:tblGrid>
              <a:tr h="150876"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75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฿M</a:t>
                      </a:r>
                      <a:endParaRPr lang="en-US" sz="7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27432" marR="27432" marT="9144" marB="9144" anchor="ctr">
                    <a:lnL w="6350" cap="flat" cmpd="sng" algn="ctr">
                      <a:solidFill>
                        <a:srgbClr val="E2E7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7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7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7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E2761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75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Jan</a:t>
                      </a:r>
                      <a:endParaRPr lang="en-US" sz="7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27432" marR="27432" marT="9144" marB="9144" anchor="ctr">
                    <a:lnL w="6350" cap="flat" cmpd="sng" algn="ctr">
                      <a:solidFill>
                        <a:srgbClr val="E2E7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7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7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7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E2761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75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Feb</a:t>
                      </a:r>
                      <a:endParaRPr lang="en-US" sz="7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27432" marR="27432" marT="9144" marB="9144" anchor="ctr">
                    <a:lnL w="6350" cap="flat" cmpd="sng" algn="ctr">
                      <a:solidFill>
                        <a:srgbClr val="E2E7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7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7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7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E2761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75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Mar</a:t>
                      </a:r>
                      <a:endParaRPr lang="en-US" sz="7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27432" marR="27432" marT="9144" marB="9144" anchor="ctr">
                    <a:lnL w="6350" cap="flat" cmpd="sng" algn="ctr">
                      <a:solidFill>
                        <a:srgbClr val="E2E7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7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7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7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E2761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75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Apr</a:t>
                      </a:r>
                      <a:endParaRPr lang="en-US" sz="7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27432" marR="27432" marT="9144" marB="9144" anchor="ctr">
                    <a:lnL w="6350" cap="flat" cmpd="sng" algn="ctr">
                      <a:solidFill>
                        <a:srgbClr val="E2E7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7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7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7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E2761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75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May</a:t>
                      </a:r>
                      <a:endParaRPr lang="en-US" sz="7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27432" marR="27432" marT="9144" marB="9144" anchor="ctr">
                    <a:lnL w="6350" cap="flat" cmpd="sng" algn="ctr">
                      <a:solidFill>
                        <a:srgbClr val="E2E7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7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7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7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E2761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75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Jun</a:t>
                      </a:r>
                      <a:endParaRPr lang="en-US" sz="7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27432" marR="27432" marT="9144" marB="9144" anchor="ctr">
                    <a:lnL w="6350" cap="flat" cmpd="sng" algn="ctr">
                      <a:solidFill>
                        <a:srgbClr val="E2E7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7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7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7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E2761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75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H1</a:t>
                      </a:r>
                      <a:endParaRPr lang="en-US" sz="7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27432" marR="27432" marT="9144" marB="9144" anchor="ctr">
                    <a:lnL w="6350" cap="flat" cmpd="sng" algn="ctr">
                      <a:solidFill>
                        <a:srgbClr val="E2E7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7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7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7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E276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150876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750" b="1" dirty="0">
                          <a:solidFill>
                            <a:srgbClr val="26292E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Revenue ’26</a:t>
                      </a:r>
                      <a:endParaRPr lang="en-US" sz="7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27432" marR="27432" marT="9144" marB="9144" anchor="ctr">
                    <a:lnL w="6350" cap="flat" cmpd="sng" algn="ctr">
                      <a:solidFill>
                        <a:srgbClr val="E2E7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7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7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7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r">
                        <a:buNone/>
                      </a:pPr>
                      <a:r>
                        <a:rPr lang="en-US" sz="750" dirty="0">
                          <a:solidFill>
                            <a:srgbClr val="26292E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37.0</a:t>
                      </a:r>
                      <a:endParaRPr lang="en-US" sz="7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27432" marR="27432" marT="9144" marB="9144" anchor="ctr">
                    <a:lnL w="6350" cap="flat" cmpd="sng" algn="ctr">
                      <a:solidFill>
                        <a:srgbClr val="E2E7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7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7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7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r">
                        <a:buNone/>
                      </a:pPr>
                      <a:r>
                        <a:rPr lang="en-US" sz="750" dirty="0">
                          <a:solidFill>
                            <a:srgbClr val="26292E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36.8</a:t>
                      </a:r>
                      <a:endParaRPr lang="en-US" sz="7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27432" marR="27432" marT="9144" marB="9144" anchor="ctr">
                    <a:lnL w="6350" cap="flat" cmpd="sng" algn="ctr">
                      <a:solidFill>
                        <a:srgbClr val="E2E7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7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7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7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r">
                        <a:buNone/>
                      </a:pPr>
                      <a:r>
                        <a:rPr lang="en-US" sz="750" dirty="0">
                          <a:solidFill>
                            <a:srgbClr val="26292E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33.0</a:t>
                      </a:r>
                      <a:endParaRPr lang="en-US" sz="7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27432" marR="27432" marT="9144" marB="9144" anchor="ctr">
                    <a:lnL w="6350" cap="flat" cmpd="sng" algn="ctr">
                      <a:solidFill>
                        <a:srgbClr val="E2E7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7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7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7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r">
                        <a:buNone/>
                      </a:pPr>
                      <a:r>
                        <a:rPr lang="en-US" sz="750" dirty="0">
                          <a:solidFill>
                            <a:srgbClr val="26292E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31.8</a:t>
                      </a:r>
                      <a:endParaRPr lang="en-US" sz="7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27432" marR="27432" marT="9144" marB="9144" anchor="ctr">
                    <a:lnL w="6350" cap="flat" cmpd="sng" algn="ctr">
                      <a:solidFill>
                        <a:srgbClr val="E2E7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7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7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7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r">
                        <a:buNone/>
                      </a:pPr>
                      <a:r>
                        <a:rPr lang="en-US" sz="750" dirty="0">
                          <a:solidFill>
                            <a:srgbClr val="26292E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29.1</a:t>
                      </a:r>
                      <a:endParaRPr lang="en-US" sz="7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27432" marR="27432" marT="9144" marB="9144" anchor="ctr">
                    <a:lnL w="6350" cap="flat" cmpd="sng" algn="ctr">
                      <a:solidFill>
                        <a:srgbClr val="E2E7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7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7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7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r">
                        <a:buNone/>
                      </a:pPr>
                      <a:r>
                        <a:rPr lang="en-US" sz="750" dirty="0">
                          <a:solidFill>
                            <a:srgbClr val="26292E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28.5</a:t>
                      </a:r>
                      <a:endParaRPr lang="en-US" sz="7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27432" marR="27432" marT="9144" marB="9144" anchor="ctr">
                    <a:lnL w="6350" cap="flat" cmpd="sng" algn="ctr">
                      <a:solidFill>
                        <a:srgbClr val="E2E7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7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7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7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r">
                        <a:buNone/>
                      </a:pPr>
                      <a:r>
                        <a:rPr lang="en-US" sz="750" b="1" dirty="0">
                          <a:solidFill>
                            <a:srgbClr val="1E2761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196.3</a:t>
                      </a:r>
                      <a:endParaRPr lang="en-US" sz="7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27432" marR="27432" marT="9144" marB="9144" anchor="ctr">
                    <a:lnL w="6350" cap="flat" cmpd="sng" algn="ctr">
                      <a:solidFill>
                        <a:srgbClr val="E2E7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7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7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7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150876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750" dirty="0">
                          <a:solidFill>
                            <a:srgbClr val="6B728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Revenue ’25</a:t>
                      </a:r>
                      <a:endParaRPr lang="en-US" sz="7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27432" marR="27432" marT="9144" marB="9144" anchor="ctr">
                    <a:lnL w="6350" cap="flat" cmpd="sng" algn="ctr">
                      <a:solidFill>
                        <a:srgbClr val="E2E7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7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7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7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r">
                        <a:buNone/>
                      </a:pPr>
                      <a:r>
                        <a:rPr lang="en-US" sz="750" dirty="0">
                          <a:solidFill>
                            <a:srgbClr val="6B728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40.5</a:t>
                      </a:r>
                      <a:endParaRPr lang="en-US" sz="7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27432" marR="27432" marT="9144" marB="9144" anchor="ctr">
                    <a:lnL w="6350" cap="flat" cmpd="sng" algn="ctr">
                      <a:solidFill>
                        <a:srgbClr val="E2E7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7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7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7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r">
                        <a:buNone/>
                      </a:pPr>
                      <a:r>
                        <a:rPr lang="en-US" sz="750" dirty="0">
                          <a:solidFill>
                            <a:srgbClr val="6B728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35.1</a:t>
                      </a:r>
                      <a:endParaRPr lang="en-US" sz="7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27432" marR="27432" marT="9144" marB="9144" anchor="ctr">
                    <a:lnL w="6350" cap="flat" cmpd="sng" algn="ctr">
                      <a:solidFill>
                        <a:srgbClr val="E2E7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7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7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7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r">
                        <a:buNone/>
                      </a:pPr>
                      <a:r>
                        <a:rPr lang="en-US" sz="750" dirty="0">
                          <a:solidFill>
                            <a:srgbClr val="6B728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31.9</a:t>
                      </a:r>
                      <a:endParaRPr lang="en-US" sz="7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27432" marR="27432" marT="9144" marB="9144" anchor="ctr">
                    <a:lnL w="6350" cap="flat" cmpd="sng" algn="ctr">
                      <a:solidFill>
                        <a:srgbClr val="E2E7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7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7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7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r">
                        <a:buNone/>
                      </a:pPr>
                      <a:r>
                        <a:rPr lang="en-US" sz="750" dirty="0">
                          <a:solidFill>
                            <a:srgbClr val="6B728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28.9</a:t>
                      </a:r>
                      <a:endParaRPr lang="en-US" sz="7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27432" marR="27432" marT="9144" marB="9144" anchor="ctr">
                    <a:lnL w="6350" cap="flat" cmpd="sng" algn="ctr">
                      <a:solidFill>
                        <a:srgbClr val="E2E7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7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7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7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r">
                        <a:buNone/>
                      </a:pPr>
                      <a:r>
                        <a:rPr lang="en-US" sz="750" dirty="0">
                          <a:solidFill>
                            <a:srgbClr val="6B728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29.9</a:t>
                      </a:r>
                      <a:endParaRPr lang="en-US" sz="7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27432" marR="27432" marT="9144" marB="9144" anchor="ctr">
                    <a:lnL w="6350" cap="flat" cmpd="sng" algn="ctr">
                      <a:solidFill>
                        <a:srgbClr val="E2E7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7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7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7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r">
                        <a:buNone/>
                      </a:pPr>
                      <a:r>
                        <a:rPr lang="en-US" sz="750" dirty="0">
                          <a:solidFill>
                            <a:srgbClr val="6B728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28.9</a:t>
                      </a:r>
                      <a:endParaRPr lang="en-US" sz="7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27432" marR="27432" marT="9144" marB="9144" anchor="ctr">
                    <a:lnL w="6350" cap="flat" cmpd="sng" algn="ctr">
                      <a:solidFill>
                        <a:srgbClr val="E2E7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7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7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7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r">
                        <a:buNone/>
                      </a:pPr>
                      <a:r>
                        <a:rPr lang="en-US" sz="750" b="1" dirty="0">
                          <a:solidFill>
                            <a:srgbClr val="6B728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195.2</a:t>
                      </a:r>
                      <a:endParaRPr lang="en-US" sz="7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27432" marR="27432" marT="9144" marB="9144" anchor="ctr">
                    <a:lnL w="6350" cap="flat" cmpd="sng" algn="ctr">
                      <a:solidFill>
                        <a:srgbClr val="E2E7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7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7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7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150876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750" b="1" dirty="0">
                          <a:solidFill>
                            <a:srgbClr val="26292E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OPEX ’26</a:t>
                      </a:r>
                      <a:endParaRPr lang="en-US" sz="7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27432" marR="27432" marT="9144" marB="9144" anchor="ctr">
                    <a:lnL w="6350" cap="flat" cmpd="sng" algn="ctr">
                      <a:solidFill>
                        <a:srgbClr val="E2E7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7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7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7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6FB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r">
                        <a:buNone/>
                      </a:pPr>
                      <a:r>
                        <a:rPr lang="en-US" sz="750" dirty="0">
                          <a:solidFill>
                            <a:srgbClr val="26292E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-14.6</a:t>
                      </a:r>
                      <a:endParaRPr lang="en-US" sz="7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27432" marR="27432" marT="9144" marB="9144" anchor="ctr">
                    <a:lnL w="6350" cap="flat" cmpd="sng" algn="ctr">
                      <a:solidFill>
                        <a:srgbClr val="E2E7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7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7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7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6FB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r">
                        <a:buNone/>
                      </a:pPr>
                      <a:r>
                        <a:rPr lang="en-US" sz="750" dirty="0">
                          <a:solidFill>
                            <a:srgbClr val="26292E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-14.3</a:t>
                      </a:r>
                      <a:endParaRPr lang="en-US" sz="7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27432" marR="27432" marT="9144" marB="9144" anchor="ctr">
                    <a:lnL w="6350" cap="flat" cmpd="sng" algn="ctr">
                      <a:solidFill>
                        <a:srgbClr val="E2E7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7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7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7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6FB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r">
                        <a:buNone/>
                      </a:pPr>
                      <a:r>
                        <a:rPr lang="en-US" sz="750" dirty="0">
                          <a:solidFill>
                            <a:srgbClr val="26292E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-14.3</a:t>
                      </a:r>
                      <a:endParaRPr lang="en-US" sz="7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27432" marR="27432" marT="9144" marB="9144" anchor="ctr">
                    <a:lnL w="6350" cap="flat" cmpd="sng" algn="ctr">
                      <a:solidFill>
                        <a:srgbClr val="E2E7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7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7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7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6FB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r">
                        <a:buNone/>
                      </a:pPr>
                      <a:r>
                        <a:rPr lang="en-US" sz="750" dirty="0">
                          <a:solidFill>
                            <a:srgbClr val="26292E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-14.1</a:t>
                      </a:r>
                      <a:endParaRPr lang="en-US" sz="7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27432" marR="27432" marT="9144" marB="9144" anchor="ctr">
                    <a:lnL w="6350" cap="flat" cmpd="sng" algn="ctr">
                      <a:solidFill>
                        <a:srgbClr val="E2E7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7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7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7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6FB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r">
                        <a:buNone/>
                      </a:pPr>
                      <a:r>
                        <a:rPr lang="en-US" sz="750" dirty="0">
                          <a:solidFill>
                            <a:srgbClr val="26292E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-14.0</a:t>
                      </a:r>
                      <a:endParaRPr lang="en-US" sz="7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27432" marR="27432" marT="9144" marB="9144" anchor="ctr">
                    <a:lnL w="6350" cap="flat" cmpd="sng" algn="ctr">
                      <a:solidFill>
                        <a:srgbClr val="E2E7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7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7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7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6FB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r">
                        <a:buNone/>
                      </a:pPr>
                      <a:r>
                        <a:rPr lang="en-US" sz="750" dirty="0">
                          <a:solidFill>
                            <a:srgbClr val="26292E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-13.0</a:t>
                      </a:r>
                      <a:endParaRPr lang="en-US" sz="7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27432" marR="27432" marT="9144" marB="9144" anchor="ctr">
                    <a:lnL w="6350" cap="flat" cmpd="sng" algn="ctr">
                      <a:solidFill>
                        <a:srgbClr val="E2E7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7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7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7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6FB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r">
                        <a:buNone/>
                      </a:pPr>
                      <a:r>
                        <a:rPr lang="en-US" sz="750" b="1" dirty="0">
                          <a:solidFill>
                            <a:srgbClr val="1E2761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-84.3</a:t>
                      </a:r>
                      <a:endParaRPr lang="en-US" sz="7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27432" marR="27432" marT="9144" marB="9144" anchor="ctr">
                    <a:lnL w="6350" cap="flat" cmpd="sng" algn="ctr">
                      <a:solidFill>
                        <a:srgbClr val="E2E7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7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7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7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6FB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  <a:tr h="150876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750" dirty="0">
                          <a:solidFill>
                            <a:srgbClr val="6B728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OPEX Budget</a:t>
                      </a:r>
                      <a:endParaRPr lang="en-US" sz="7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27432" marR="27432" marT="9144" marB="9144" anchor="ctr">
                    <a:lnL w="6350" cap="flat" cmpd="sng" algn="ctr">
                      <a:solidFill>
                        <a:srgbClr val="E2E7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7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7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7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6FB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r">
                        <a:buNone/>
                      </a:pPr>
                      <a:r>
                        <a:rPr lang="en-US" sz="750" dirty="0">
                          <a:solidFill>
                            <a:srgbClr val="6B728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-16.4</a:t>
                      </a:r>
                      <a:endParaRPr lang="en-US" sz="7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27432" marR="27432" marT="9144" marB="9144" anchor="ctr">
                    <a:lnL w="6350" cap="flat" cmpd="sng" algn="ctr">
                      <a:solidFill>
                        <a:srgbClr val="E2E7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7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7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7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6FB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r">
                        <a:buNone/>
                      </a:pPr>
                      <a:r>
                        <a:rPr lang="en-US" sz="750" dirty="0">
                          <a:solidFill>
                            <a:srgbClr val="6B728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-15.6</a:t>
                      </a:r>
                      <a:endParaRPr lang="en-US" sz="7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27432" marR="27432" marT="9144" marB="9144" anchor="ctr">
                    <a:lnL w="6350" cap="flat" cmpd="sng" algn="ctr">
                      <a:solidFill>
                        <a:srgbClr val="E2E7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7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7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7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6FB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r">
                        <a:buNone/>
                      </a:pPr>
                      <a:r>
                        <a:rPr lang="en-US" sz="750" dirty="0">
                          <a:solidFill>
                            <a:srgbClr val="6B728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-15.3</a:t>
                      </a:r>
                      <a:endParaRPr lang="en-US" sz="7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27432" marR="27432" marT="9144" marB="9144" anchor="ctr">
                    <a:lnL w="6350" cap="flat" cmpd="sng" algn="ctr">
                      <a:solidFill>
                        <a:srgbClr val="E2E7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7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7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7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6FB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r">
                        <a:buNone/>
                      </a:pPr>
                      <a:r>
                        <a:rPr lang="en-US" sz="750" dirty="0">
                          <a:solidFill>
                            <a:srgbClr val="6B728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-14.9</a:t>
                      </a:r>
                      <a:endParaRPr lang="en-US" sz="7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27432" marR="27432" marT="9144" marB="9144" anchor="ctr">
                    <a:lnL w="6350" cap="flat" cmpd="sng" algn="ctr">
                      <a:solidFill>
                        <a:srgbClr val="E2E7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7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7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7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6FB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r">
                        <a:buNone/>
                      </a:pPr>
                      <a:r>
                        <a:rPr lang="en-US" sz="750" dirty="0">
                          <a:solidFill>
                            <a:srgbClr val="6B728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-15.1</a:t>
                      </a:r>
                      <a:endParaRPr lang="en-US" sz="7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27432" marR="27432" marT="9144" marB="9144" anchor="ctr">
                    <a:lnL w="6350" cap="flat" cmpd="sng" algn="ctr">
                      <a:solidFill>
                        <a:srgbClr val="E2E7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7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7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7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6FB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r">
                        <a:buNone/>
                      </a:pPr>
                      <a:r>
                        <a:rPr lang="en-US" sz="750" dirty="0">
                          <a:solidFill>
                            <a:srgbClr val="6B728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-15.1</a:t>
                      </a:r>
                      <a:endParaRPr lang="en-US" sz="7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27432" marR="27432" marT="9144" marB="9144" anchor="ctr">
                    <a:lnL w="6350" cap="flat" cmpd="sng" algn="ctr">
                      <a:solidFill>
                        <a:srgbClr val="E2E7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7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7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7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6FB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r">
                        <a:buNone/>
                      </a:pPr>
                      <a:r>
                        <a:rPr lang="en-US" sz="750" b="1" dirty="0">
                          <a:solidFill>
                            <a:srgbClr val="6B728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-92.3</a:t>
                      </a:r>
                      <a:endParaRPr lang="en-US" sz="7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27432" marR="27432" marT="9144" marB="9144" anchor="ctr">
                    <a:lnL w="6350" cap="flat" cmpd="sng" algn="ctr">
                      <a:solidFill>
                        <a:srgbClr val="E2E7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7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7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7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6FB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5"/>
                  </a:ext>
                </a:extLst>
              </a:tr>
              <a:tr h="150876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750" dirty="0">
                          <a:solidFill>
                            <a:srgbClr val="6B728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OPEX ’25</a:t>
                      </a:r>
                      <a:endParaRPr lang="en-US" sz="7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27432" marR="27432" marT="9144" marB="9144" anchor="ctr">
                    <a:lnL w="6350" cap="flat" cmpd="sng" algn="ctr">
                      <a:solidFill>
                        <a:srgbClr val="E2E7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7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7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7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6FB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r">
                        <a:buNone/>
                      </a:pPr>
                      <a:r>
                        <a:rPr lang="en-US" sz="750" dirty="0">
                          <a:solidFill>
                            <a:srgbClr val="6B728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-16.2</a:t>
                      </a:r>
                      <a:endParaRPr lang="en-US" sz="7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27432" marR="27432" marT="9144" marB="9144" anchor="ctr">
                    <a:lnL w="6350" cap="flat" cmpd="sng" algn="ctr">
                      <a:solidFill>
                        <a:srgbClr val="E2E7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7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7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7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6FB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r">
                        <a:buNone/>
                      </a:pPr>
                      <a:r>
                        <a:rPr lang="en-US" sz="750" dirty="0">
                          <a:solidFill>
                            <a:srgbClr val="6B728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-14.9</a:t>
                      </a:r>
                      <a:endParaRPr lang="en-US" sz="7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27432" marR="27432" marT="9144" marB="9144" anchor="ctr">
                    <a:lnL w="6350" cap="flat" cmpd="sng" algn="ctr">
                      <a:solidFill>
                        <a:srgbClr val="E2E7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7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7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7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6FB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r">
                        <a:buNone/>
                      </a:pPr>
                      <a:r>
                        <a:rPr lang="en-US" sz="750" dirty="0">
                          <a:solidFill>
                            <a:srgbClr val="6B728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-13.8</a:t>
                      </a:r>
                      <a:endParaRPr lang="en-US" sz="7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27432" marR="27432" marT="9144" marB="9144" anchor="ctr">
                    <a:lnL w="6350" cap="flat" cmpd="sng" algn="ctr">
                      <a:solidFill>
                        <a:srgbClr val="E2E7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7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7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7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6FB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r">
                        <a:buNone/>
                      </a:pPr>
                      <a:r>
                        <a:rPr lang="en-US" sz="750" dirty="0">
                          <a:solidFill>
                            <a:srgbClr val="6B728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-12.8</a:t>
                      </a:r>
                      <a:endParaRPr lang="en-US" sz="7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27432" marR="27432" marT="9144" marB="9144" anchor="ctr">
                    <a:lnL w="6350" cap="flat" cmpd="sng" algn="ctr">
                      <a:solidFill>
                        <a:srgbClr val="E2E7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7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7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7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6FB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r">
                        <a:buNone/>
                      </a:pPr>
                      <a:r>
                        <a:rPr lang="en-US" sz="750" dirty="0">
                          <a:solidFill>
                            <a:srgbClr val="6B728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-13.0</a:t>
                      </a:r>
                      <a:endParaRPr lang="en-US" sz="7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27432" marR="27432" marT="9144" marB="9144" anchor="ctr">
                    <a:lnL w="6350" cap="flat" cmpd="sng" algn="ctr">
                      <a:solidFill>
                        <a:srgbClr val="E2E7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7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7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7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6FB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r">
                        <a:buNone/>
                      </a:pPr>
                      <a:r>
                        <a:rPr lang="en-US" sz="750" dirty="0">
                          <a:solidFill>
                            <a:srgbClr val="6B728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-13.0</a:t>
                      </a:r>
                      <a:endParaRPr lang="en-US" sz="7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27432" marR="27432" marT="9144" marB="9144" anchor="ctr">
                    <a:lnL w="6350" cap="flat" cmpd="sng" algn="ctr">
                      <a:solidFill>
                        <a:srgbClr val="E2E7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7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7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7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6FB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r">
                        <a:buNone/>
                      </a:pPr>
                      <a:r>
                        <a:rPr lang="en-US" sz="750" b="1" dirty="0">
                          <a:solidFill>
                            <a:srgbClr val="6B728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-83.8</a:t>
                      </a:r>
                      <a:endParaRPr lang="en-US" sz="7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27432" marR="27432" marT="9144" marB="9144" anchor="ctr">
                    <a:lnL w="6350" cap="flat" cmpd="sng" algn="ctr">
                      <a:solidFill>
                        <a:srgbClr val="E2E7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7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7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7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6FB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5"/>
                  </a:ext>
                </a:extLst>
              </a:tr>
              <a:tr h="150876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750" b="1" dirty="0">
                          <a:solidFill>
                            <a:srgbClr val="26292E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GOP ’26</a:t>
                      </a:r>
                      <a:endParaRPr lang="en-US" sz="7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27432" marR="27432" marT="9144" marB="9144" anchor="ctr">
                    <a:lnL w="6350" cap="flat" cmpd="sng" algn="ctr">
                      <a:solidFill>
                        <a:srgbClr val="E2E7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7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7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7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r">
                        <a:buNone/>
                      </a:pPr>
                      <a:r>
                        <a:rPr lang="en-US" sz="750" dirty="0">
                          <a:solidFill>
                            <a:srgbClr val="26292E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22.4</a:t>
                      </a:r>
                      <a:endParaRPr lang="en-US" sz="7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27432" marR="27432" marT="9144" marB="9144" anchor="ctr">
                    <a:lnL w="6350" cap="flat" cmpd="sng" algn="ctr">
                      <a:solidFill>
                        <a:srgbClr val="E2E7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7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7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7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r">
                        <a:buNone/>
                      </a:pPr>
                      <a:r>
                        <a:rPr lang="en-US" sz="750" dirty="0">
                          <a:solidFill>
                            <a:srgbClr val="26292E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22.5</a:t>
                      </a:r>
                      <a:endParaRPr lang="en-US" sz="7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27432" marR="27432" marT="9144" marB="9144" anchor="ctr">
                    <a:lnL w="6350" cap="flat" cmpd="sng" algn="ctr">
                      <a:solidFill>
                        <a:srgbClr val="E2E7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7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7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7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r">
                        <a:buNone/>
                      </a:pPr>
                      <a:r>
                        <a:rPr lang="en-US" sz="750" dirty="0">
                          <a:solidFill>
                            <a:srgbClr val="26292E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18.7</a:t>
                      </a:r>
                      <a:endParaRPr lang="en-US" sz="7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27432" marR="27432" marT="9144" marB="9144" anchor="ctr">
                    <a:lnL w="6350" cap="flat" cmpd="sng" algn="ctr">
                      <a:solidFill>
                        <a:srgbClr val="E2E7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7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7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7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r">
                        <a:buNone/>
                      </a:pPr>
                      <a:r>
                        <a:rPr lang="en-US" sz="750" dirty="0">
                          <a:solidFill>
                            <a:srgbClr val="26292E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17.8</a:t>
                      </a:r>
                      <a:endParaRPr lang="en-US" sz="7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27432" marR="27432" marT="9144" marB="9144" anchor="ctr">
                    <a:lnL w="6350" cap="flat" cmpd="sng" algn="ctr">
                      <a:solidFill>
                        <a:srgbClr val="E2E7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7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7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7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r">
                        <a:buNone/>
                      </a:pPr>
                      <a:r>
                        <a:rPr lang="en-US" sz="750" dirty="0">
                          <a:solidFill>
                            <a:srgbClr val="26292E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15.2</a:t>
                      </a:r>
                      <a:endParaRPr lang="en-US" sz="7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27432" marR="27432" marT="9144" marB="9144" anchor="ctr">
                    <a:lnL w="6350" cap="flat" cmpd="sng" algn="ctr">
                      <a:solidFill>
                        <a:srgbClr val="E2E7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7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7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7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r">
                        <a:buNone/>
                      </a:pPr>
                      <a:r>
                        <a:rPr lang="en-US" sz="750" dirty="0">
                          <a:solidFill>
                            <a:srgbClr val="26292E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15.5</a:t>
                      </a:r>
                      <a:endParaRPr lang="en-US" sz="7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27432" marR="27432" marT="9144" marB="9144" anchor="ctr">
                    <a:lnL w="6350" cap="flat" cmpd="sng" algn="ctr">
                      <a:solidFill>
                        <a:srgbClr val="E2E7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7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7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7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r">
                        <a:buNone/>
                      </a:pPr>
                      <a:r>
                        <a:rPr lang="en-US" sz="750" b="1" dirty="0">
                          <a:solidFill>
                            <a:srgbClr val="1E2761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112.0</a:t>
                      </a:r>
                      <a:endParaRPr lang="en-US" sz="7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27432" marR="27432" marT="9144" marB="9144" anchor="ctr">
                    <a:lnL w="6350" cap="flat" cmpd="sng" algn="ctr">
                      <a:solidFill>
                        <a:srgbClr val="E2E7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7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7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7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7"/>
                  </a:ext>
                </a:extLst>
              </a:tr>
              <a:tr h="150876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750" dirty="0">
                          <a:solidFill>
                            <a:srgbClr val="6B728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GOP Budget</a:t>
                      </a:r>
                      <a:endParaRPr lang="en-US" sz="7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27432" marR="27432" marT="9144" marB="9144" anchor="ctr">
                    <a:lnL w="6350" cap="flat" cmpd="sng" algn="ctr">
                      <a:solidFill>
                        <a:srgbClr val="E2E7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7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7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7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r">
                        <a:buNone/>
                      </a:pPr>
                      <a:r>
                        <a:rPr lang="en-US" sz="750" dirty="0">
                          <a:solidFill>
                            <a:srgbClr val="6B728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27.9</a:t>
                      </a:r>
                      <a:endParaRPr lang="en-US" sz="7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27432" marR="27432" marT="9144" marB="9144" anchor="ctr">
                    <a:lnL w="6350" cap="flat" cmpd="sng" algn="ctr">
                      <a:solidFill>
                        <a:srgbClr val="E2E7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7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7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7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r">
                        <a:buNone/>
                      </a:pPr>
                      <a:r>
                        <a:rPr lang="en-US" sz="750" dirty="0">
                          <a:solidFill>
                            <a:srgbClr val="6B728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22.3</a:t>
                      </a:r>
                      <a:endParaRPr lang="en-US" sz="7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27432" marR="27432" marT="9144" marB="9144" anchor="ctr">
                    <a:lnL w="6350" cap="flat" cmpd="sng" algn="ctr">
                      <a:solidFill>
                        <a:srgbClr val="E2E7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7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7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7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r">
                        <a:buNone/>
                      </a:pPr>
                      <a:r>
                        <a:rPr lang="en-US" sz="750" dirty="0">
                          <a:solidFill>
                            <a:srgbClr val="6B728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19.9</a:t>
                      </a:r>
                      <a:endParaRPr lang="en-US" sz="7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27432" marR="27432" marT="9144" marB="9144" anchor="ctr">
                    <a:lnL w="6350" cap="flat" cmpd="sng" algn="ctr">
                      <a:solidFill>
                        <a:srgbClr val="E2E7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7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7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7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r">
                        <a:buNone/>
                      </a:pPr>
                      <a:r>
                        <a:rPr lang="en-US" sz="750" dirty="0">
                          <a:solidFill>
                            <a:srgbClr val="6B728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17.8</a:t>
                      </a:r>
                      <a:endParaRPr lang="en-US" sz="7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27432" marR="27432" marT="9144" marB="9144" anchor="ctr">
                    <a:lnL w="6350" cap="flat" cmpd="sng" algn="ctr">
                      <a:solidFill>
                        <a:srgbClr val="E2E7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7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7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7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r">
                        <a:buNone/>
                      </a:pPr>
                      <a:r>
                        <a:rPr lang="en-US" sz="750" dirty="0">
                          <a:solidFill>
                            <a:srgbClr val="6B728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17.4</a:t>
                      </a:r>
                      <a:endParaRPr lang="en-US" sz="7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27432" marR="27432" marT="9144" marB="9144" anchor="ctr">
                    <a:lnL w="6350" cap="flat" cmpd="sng" algn="ctr">
                      <a:solidFill>
                        <a:srgbClr val="E2E7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7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7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7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r">
                        <a:buNone/>
                      </a:pPr>
                      <a:r>
                        <a:rPr lang="en-US" sz="750" dirty="0">
                          <a:solidFill>
                            <a:srgbClr val="6B728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16.3</a:t>
                      </a:r>
                      <a:endParaRPr lang="en-US" sz="7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27432" marR="27432" marT="9144" marB="9144" anchor="ctr">
                    <a:lnL w="6350" cap="flat" cmpd="sng" algn="ctr">
                      <a:solidFill>
                        <a:srgbClr val="E2E7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7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7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7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r">
                        <a:buNone/>
                      </a:pPr>
                      <a:r>
                        <a:rPr lang="en-US" sz="750" b="1" dirty="0">
                          <a:solidFill>
                            <a:srgbClr val="6B728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121.6</a:t>
                      </a:r>
                      <a:endParaRPr lang="en-US" sz="7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27432" marR="27432" marT="9144" marB="9144" anchor="ctr">
                    <a:lnL w="6350" cap="flat" cmpd="sng" algn="ctr">
                      <a:solidFill>
                        <a:srgbClr val="E2E7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7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7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7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8"/>
                  </a:ext>
                </a:extLst>
              </a:tr>
              <a:tr h="150876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750" dirty="0">
                          <a:solidFill>
                            <a:srgbClr val="6B728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GOP ’25</a:t>
                      </a:r>
                      <a:endParaRPr lang="en-US" sz="7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27432" marR="27432" marT="9144" marB="9144" anchor="ctr">
                    <a:lnL w="6350" cap="flat" cmpd="sng" algn="ctr">
                      <a:solidFill>
                        <a:srgbClr val="E2E7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7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7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7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r">
                        <a:buNone/>
                      </a:pPr>
                      <a:r>
                        <a:rPr lang="en-US" sz="750" dirty="0">
                          <a:solidFill>
                            <a:srgbClr val="6B728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24.2</a:t>
                      </a:r>
                      <a:endParaRPr lang="en-US" sz="7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27432" marR="27432" marT="9144" marB="9144" anchor="ctr">
                    <a:lnL w="6350" cap="flat" cmpd="sng" algn="ctr">
                      <a:solidFill>
                        <a:srgbClr val="E2E7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7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7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7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r">
                        <a:buNone/>
                      </a:pPr>
                      <a:r>
                        <a:rPr lang="en-US" sz="750" dirty="0">
                          <a:solidFill>
                            <a:srgbClr val="6B728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20.2</a:t>
                      </a:r>
                      <a:endParaRPr lang="en-US" sz="7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27432" marR="27432" marT="9144" marB="9144" anchor="ctr">
                    <a:lnL w="6350" cap="flat" cmpd="sng" algn="ctr">
                      <a:solidFill>
                        <a:srgbClr val="E2E7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7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7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7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r">
                        <a:buNone/>
                      </a:pPr>
                      <a:r>
                        <a:rPr lang="en-US" sz="750" dirty="0">
                          <a:solidFill>
                            <a:srgbClr val="6B728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18.1</a:t>
                      </a:r>
                      <a:endParaRPr lang="en-US" sz="7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27432" marR="27432" marT="9144" marB="9144" anchor="ctr">
                    <a:lnL w="6350" cap="flat" cmpd="sng" algn="ctr">
                      <a:solidFill>
                        <a:srgbClr val="E2E7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7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7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7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r">
                        <a:buNone/>
                      </a:pPr>
                      <a:r>
                        <a:rPr lang="en-US" sz="750" dirty="0">
                          <a:solidFill>
                            <a:srgbClr val="6B728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16.1</a:t>
                      </a:r>
                      <a:endParaRPr lang="en-US" sz="7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27432" marR="27432" marT="9144" marB="9144" anchor="ctr">
                    <a:lnL w="6350" cap="flat" cmpd="sng" algn="ctr">
                      <a:solidFill>
                        <a:srgbClr val="E2E7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7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7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7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r">
                        <a:buNone/>
                      </a:pPr>
                      <a:r>
                        <a:rPr lang="en-US" sz="750" dirty="0">
                          <a:solidFill>
                            <a:srgbClr val="6B728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16.9</a:t>
                      </a:r>
                      <a:endParaRPr lang="en-US" sz="7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27432" marR="27432" marT="9144" marB="9144" anchor="ctr">
                    <a:lnL w="6350" cap="flat" cmpd="sng" algn="ctr">
                      <a:solidFill>
                        <a:srgbClr val="E2E7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7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7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7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r">
                        <a:buNone/>
                      </a:pPr>
                      <a:r>
                        <a:rPr lang="en-US" sz="750" dirty="0">
                          <a:solidFill>
                            <a:srgbClr val="6B728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15.9</a:t>
                      </a:r>
                      <a:endParaRPr lang="en-US" sz="7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27432" marR="27432" marT="9144" marB="9144" anchor="ctr">
                    <a:lnL w="6350" cap="flat" cmpd="sng" algn="ctr">
                      <a:solidFill>
                        <a:srgbClr val="E2E7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7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7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7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r">
                        <a:buNone/>
                      </a:pPr>
                      <a:r>
                        <a:rPr lang="en-US" sz="750" b="1" dirty="0">
                          <a:solidFill>
                            <a:srgbClr val="6B728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111.4</a:t>
                      </a:r>
                      <a:endParaRPr lang="en-US" sz="7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27432" marR="27432" marT="9144" marB="9144" anchor="ctr">
                    <a:lnL w="6350" cap="flat" cmpd="sng" algn="ctr">
                      <a:solidFill>
                        <a:srgbClr val="E2E7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7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7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7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8"/>
                  </a:ext>
                </a:extLst>
              </a:tr>
              <a:tr h="150876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750" b="1" dirty="0">
                          <a:solidFill>
                            <a:srgbClr val="26292E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EBIT ’26</a:t>
                      </a:r>
                      <a:endParaRPr lang="en-US" sz="7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27432" marR="27432" marT="9144" marB="9144" anchor="ctr">
                    <a:lnL w="6350" cap="flat" cmpd="sng" algn="ctr">
                      <a:solidFill>
                        <a:srgbClr val="E2E7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7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7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7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6FB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r">
                        <a:buNone/>
                      </a:pPr>
                      <a:r>
                        <a:rPr lang="en-US" sz="750" dirty="0">
                          <a:solidFill>
                            <a:srgbClr val="26292E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12.5</a:t>
                      </a:r>
                      <a:endParaRPr lang="en-US" sz="7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27432" marR="27432" marT="9144" marB="9144" anchor="ctr">
                    <a:lnL w="6350" cap="flat" cmpd="sng" algn="ctr">
                      <a:solidFill>
                        <a:srgbClr val="E2E7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7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7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7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6FB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r">
                        <a:buNone/>
                      </a:pPr>
                      <a:r>
                        <a:rPr lang="en-US" sz="750" dirty="0">
                          <a:solidFill>
                            <a:srgbClr val="26292E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12.2</a:t>
                      </a:r>
                      <a:endParaRPr lang="en-US" sz="7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27432" marR="27432" marT="9144" marB="9144" anchor="ctr">
                    <a:lnL w="6350" cap="flat" cmpd="sng" algn="ctr">
                      <a:solidFill>
                        <a:srgbClr val="E2E7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7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7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7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6FB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r">
                        <a:buNone/>
                      </a:pPr>
                      <a:r>
                        <a:rPr lang="en-US" sz="750" dirty="0">
                          <a:solidFill>
                            <a:srgbClr val="26292E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8.8</a:t>
                      </a:r>
                      <a:endParaRPr lang="en-US" sz="7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27432" marR="27432" marT="9144" marB="9144" anchor="ctr">
                    <a:lnL w="6350" cap="flat" cmpd="sng" algn="ctr">
                      <a:solidFill>
                        <a:srgbClr val="E2E7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7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7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7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6FB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r">
                        <a:buNone/>
                      </a:pPr>
                      <a:r>
                        <a:rPr lang="en-US" sz="750" dirty="0">
                          <a:solidFill>
                            <a:srgbClr val="26292E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8.0</a:t>
                      </a:r>
                      <a:endParaRPr lang="en-US" sz="7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27432" marR="27432" marT="9144" marB="9144" anchor="ctr">
                    <a:lnL w="6350" cap="flat" cmpd="sng" algn="ctr">
                      <a:solidFill>
                        <a:srgbClr val="E2E7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7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7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7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6FB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r">
                        <a:buNone/>
                      </a:pPr>
                      <a:r>
                        <a:rPr lang="en-US" sz="750" dirty="0">
                          <a:solidFill>
                            <a:srgbClr val="26292E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5.6</a:t>
                      </a:r>
                      <a:endParaRPr lang="en-US" sz="7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27432" marR="27432" marT="9144" marB="9144" anchor="ctr">
                    <a:lnL w="6350" cap="flat" cmpd="sng" algn="ctr">
                      <a:solidFill>
                        <a:srgbClr val="E2E7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7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7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7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6FB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r">
                        <a:buNone/>
                      </a:pPr>
                      <a:r>
                        <a:rPr lang="en-US" sz="750" dirty="0">
                          <a:solidFill>
                            <a:srgbClr val="26292E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5.9</a:t>
                      </a:r>
                      <a:endParaRPr lang="en-US" sz="7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27432" marR="27432" marT="9144" marB="9144" anchor="ctr">
                    <a:lnL w="6350" cap="flat" cmpd="sng" algn="ctr">
                      <a:solidFill>
                        <a:srgbClr val="E2E7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7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7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7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6FB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r">
                        <a:buNone/>
                      </a:pPr>
                      <a:r>
                        <a:rPr lang="en-US" sz="750" b="1" dirty="0">
                          <a:solidFill>
                            <a:srgbClr val="1E2761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53.0</a:t>
                      </a:r>
                      <a:endParaRPr lang="en-US" sz="7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27432" marR="27432" marT="9144" marB="9144" anchor="ctr">
                    <a:lnL w="6350" cap="flat" cmpd="sng" algn="ctr">
                      <a:solidFill>
                        <a:srgbClr val="E2E7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7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7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7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6FB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10"/>
                  </a:ext>
                </a:extLst>
              </a:tr>
              <a:tr h="150876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750" dirty="0">
                          <a:solidFill>
                            <a:srgbClr val="6B728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EBIT Budget</a:t>
                      </a:r>
                      <a:endParaRPr lang="en-US" sz="7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27432" marR="27432" marT="9144" marB="9144" anchor="ctr">
                    <a:lnL w="6350" cap="flat" cmpd="sng" algn="ctr">
                      <a:solidFill>
                        <a:srgbClr val="E2E7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7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7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7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6FB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r">
                        <a:buNone/>
                      </a:pPr>
                      <a:r>
                        <a:rPr lang="en-US" sz="750" dirty="0">
                          <a:solidFill>
                            <a:srgbClr val="6B728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17.0</a:t>
                      </a:r>
                      <a:endParaRPr lang="en-US" sz="7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27432" marR="27432" marT="9144" marB="9144" anchor="ctr">
                    <a:lnL w="6350" cap="flat" cmpd="sng" algn="ctr">
                      <a:solidFill>
                        <a:srgbClr val="E2E7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7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7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7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6FB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r">
                        <a:buNone/>
                      </a:pPr>
                      <a:r>
                        <a:rPr lang="en-US" sz="750" dirty="0">
                          <a:solidFill>
                            <a:srgbClr val="6B728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11.8</a:t>
                      </a:r>
                      <a:endParaRPr lang="en-US" sz="7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27432" marR="27432" marT="9144" marB="9144" anchor="ctr">
                    <a:lnL w="6350" cap="flat" cmpd="sng" algn="ctr">
                      <a:solidFill>
                        <a:srgbClr val="E2E7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7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7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7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6FB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r">
                        <a:buNone/>
                      </a:pPr>
                      <a:r>
                        <a:rPr lang="en-US" sz="750" dirty="0">
                          <a:solidFill>
                            <a:srgbClr val="6B728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9.6</a:t>
                      </a:r>
                      <a:endParaRPr lang="en-US" sz="7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27432" marR="27432" marT="9144" marB="9144" anchor="ctr">
                    <a:lnL w="6350" cap="flat" cmpd="sng" algn="ctr">
                      <a:solidFill>
                        <a:srgbClr val="E2E7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7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7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7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6FB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r">
                        <a:buNone/>
                      </a:pPr>
                      <a:r>
                        <a:rPr lang="en-US" sz="750" dirty="0">
                          <a:solidFill>
                            <a:srgbClr val="6B728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7.7</a:t>
                      </a:r>
                      <a:endParaRPr lang="en-US" sz="7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27432" marR="27432" marT="9144" marB="9144" anchor="ctr">
                    <a:lnL w="6350" cap="flat" cmpd="sng" algn="ctr">
                      <a:solidFill>
                        <a:srgbClr val="E2E7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7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7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7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6FB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r">
                        <a:buNone/>
                      </a:pPr>
                      <a:r>
                        <a:rPr lang="en-US" sz="750" dirty="0">
                          <a:solidFill>
                            <a:srgbClr val="6B728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7.3</a:t>
                      </a:r>
                      <a:endParaRPr lang="en-US" sz="7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27432" marR="27432" marT="9144" marB="9144" anchor="ctr">
                    <a:lnL w="6350" cap="flat" cmpd="sng" algn="ctr">
                      <a:solidFill>
                        <a:srgbClr val="E2E7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7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7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7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6FB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r">
                        <a:buNone/>
                      </a:pPr>
                      <a:r>
                        <a:rPr lang="en-US" sz="750" dirty="0">
                          <a:solidFill>
                            <a:srgbClr val="6B728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6.3</a:t>
                      </a:r>
                      <a:endParaRPr lang="en-US" sz="7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27432" marR="27432" marT="9144" marB="9144" anchor="ctr">
                    <a:lnL w="6350" cap="flat" cmpd="sng" algn="ctr">
                      <a:solidFill>
                        <a:srgbClr val="E2E7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7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7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7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6FB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r">
                        <a:buNone/>
                      </a:pPr>
                      <a:r>
                        <a:rPr lang="en-US" sz="750" b="1" dirty="0">
                          <a:solidFill>
                            <a:srgbClr val="6B728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59.7</a:t>
                      </a:r>
                      <a:endParaRPr lang="en-US" sz="7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27432" marR="27432" marT="9144" marB="9144" anchor="ctr">
                    <a:lnL w="6350" cap="flat" cmpd="sng" algn="ctr">
                      <a:solidFill>
                        <a:srgbClr val="E2E7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7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7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7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6FB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11"/>
                  </a:ext>
                </a:extLst>
              </a:tr>
              <a:tr h="150876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750" dirty="0">
                          <a:solidFill>
                            <a:srgbClr val="6B728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EBIT ’25</a:t>
                      </a:r>
                      <a:endParaRPr lang="en-US" sz="7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27432" marR="27432" marT="9144" marB="9144" anchor="ctr">
                    <a:lnL w="6350" cap="flat" cmpd="sng" algn="ctr">
                      <a:solidFill>
                        <a:srgbClr val="E2E7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7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7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7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6FB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r">
                        <a:buNone/>
                      </a:pPr>
                      <a:r>
                        <a:rPr lang="en-US" sz="750" dirty="0">
                          <a:solidFill>
                            <a:srgbClr val="6B728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14.4</a:t>
                      </a:r>
                      <a:endParaRPr lang="en-US" sz="7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27432" marR="27432" marT="9144" marB="9144" anchor="ctr">
                    <a:lnL w="6350" cap="flat" cmpd="sng" algn="ctr">
                      <a:solidFill>
                        <a:srgbClr val="E2E7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7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7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7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6FB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r">
                        <a:buNone/>
                      </a:pPr>
                      <a:r>
                        <a:rPr lang="en-US" sz="750" dirty="0">
                          <a:solidFill>
                            <a:srgbClr val="6B728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10.7</a:t>
                      </a:r>
                      <a:endParaRPr lang="en-US" sz="7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27432" marR="27432" marT="9144" marB="9144" anchor="ctr">
                    <a:lnL w="6350" cap="flat" cmpd="sng" algn="ctr">
                      <a:solidFill>
                        <a:srgbClr val="E2E7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7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7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7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6FB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r">
                        <a:buNone/>
                      </a:pPr>
                      <a:r>
                        <a:rPr lang="en-US" sz="750" dirty="0">
                          <a:solidFill>
                            <a:srgbClr val="6B728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8.5</a:t>
                      </a:r>
                      <a:endParaRPr lang="en-US" sz="7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27432" marR="27432" marT="9144" marB="9144" anchor="ctr">
                    <a:lnL w="6350" cap="flat" cmpd="sng" algn="ctr">
                      <a:solidFill>
                        <a:srgbClr val="E2E7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7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7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7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6FB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r">
                        <a:buNone/>
                      </a:pPr>
                      <a:r>
                        <a:rPr lang="en-US" sz="750" dirty="0">
                          <a:solidFill>
                            <a:srgbClr val="6B728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7.0</a:t>
                      </a:r>
                      <a:endParaRPr lang="en-US" sz="7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27432" marR="27432" marT="9144" marB="9144" anchor="ctr">
                    <a:lnL w="6350" cap="flat" cmpd="sng" algn="ctr">
                      <a:solidFill>
                        <a:srgbClr val="E2E7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7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7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7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6FB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r">
                        <a:buNone/>
                      </a:pPr>
                      <a:r>
                        <a:rPr lang="en-US" sz="750" dirty="0">
                          <a:solidFill>
                            <a:srgbClr val="6B728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7.5</a:t>
                      </a:r>
                      <a:endParaRPr lang="en-US" sz="7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27432" marR="27432" marT="9144" marB="9144" anchor="ctr">
                    <a:lnL w="6350" cap="flat" cmpd="sng" algn="ctr">
                      <a:solidFill>
                        <a:srgbClr val="E2E7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7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7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7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6FB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r">
                        <a:buNone/>
                      </a:pPr>
                      <a:r>
                        <a:rPr lang="en-US" sz="750" dirty="0">
                          <a:solidFill>
                            <a:srgbClr val="6B728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6.6</a:t>
                      </a:r>
                      <a:endParaRPr lang="en-US" sz="7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27432" marR="27432" marT="9144" marB="9144" anchor="ctr">
                    <a:lnL w="6350" cap="flat" cmpd="sng" algn="ctr">
                      <a:solidFill>
                        <a:srgbClr val="E2E7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7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7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7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6FB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r">
                        <a:buNone/>
                      </a:pPr>
                      <a:r>
                        <a:rPr lang="en-US" sz="750" b="1" dirty="0">
                          <a:solidFill>
                            <a:srgbClr val="6B728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54.7</a:t>
                      </a:r>
                      <a:endParaRPr lang="en-US" sz="7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27432" marR="27432" marT="9144" marB="9144" anchor="ctr">
                    <a:lnL w="6350" cap="flat" cmpd="sng" algn="ctr">
                      <a:solidFill>
                        <a:srgbClr val="E2E7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7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7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7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6FB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11"/>
                  </a:ext>
                </a:extLst>
              </a:tr>
              <a:tr h="150876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750" b="1" dirty="0">
                          <a:solidFill>
                            <a:srgbClr val="26292E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NPAT ’26</a:t>
                      </a:r>
                      <a:endParaRPr lang="en-US" sz="7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27432" marR="27432" marT="9144" marB="9144" anchor="ctr">
                    <a:lnL w="6350" cap="flat" cmpd="sng" algn="ctr">
                      <a:solidFill>
                        <a:srgbClr val="E2E7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7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7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7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r">
                        <a:buNone/>
                      </a:pPr>
                      <a:r>
                        <a:rPr lang="en-US" sz="750" dirty="0">
                          <a:solidFill>
                            <a:srgbClr val="26292E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1.5</a:t>
                      </a:r>
                      <a:endParaRPr lang="en-US" sz="7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27432" marR="27432" marT="9144" marB="9144" anchor="ctr">
                    <a:lnL w="6350" cap="flat" cmpd="sng" algn="ctr">
                      <a:solidFill>
                        <a:srgbClr val="E2E7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7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7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7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r">
                        <a:buNone/>
                      </a:pPr>
                      <a:r>
                        <a:rPr lang="en-US" sz="750" dirty="0">
                          <a:solidFill>
                            <a:srgbClr val="26292E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2.1</a:t>
                      </a:r>
                      <a:endParaRPr lang="en-US" sz="7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27432" marR="27432" marT="9144" marB="9144" anchor="ctr">
                    <a:lnL w="6350" cap="flat" cmpd="sng" algn="ctr">
                      <a:solidFill>
                        <a:srgbClr val="E2E7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7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7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7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r">
                        <a:buNone/>
                      </a:pPr>
                      <a:r>
                        <a:rPr lang="en-US" sz="750" dirty="0">
                          <a:solidFill>
                            <a:srgbClr val="26292E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-1.3</a:t>
                      </a:r>
                      <a:endParaRPr lang="en-US" sz="7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27432" marR="27432" marT="9144" marB="9144" anchor="ctr">
                    <a:lnL w="6350" cap="flat" cmpd="sng" algn="ctr">
                      <a:solidFill>
                        <a:srgbClr val="E2E7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7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7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7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r">
                        <a:buNone/>
                      </a:pPr>
                      <a:r>
                        <a:rPr lang="en-US" sz="750" dirty="0">
                          <a:solidFill>
                            <a:srgbClr val="26292E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-1.7</a:t>
                      </a:r>
                      <a:endParaRPr lang="en-US" sz="7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27432" marR="27432" marT="9144" marB="9144" anchor="ctr">
                    <a:lnL w="6350" cap="flat" cmpd="sng" algn="ctr">
                      <a:solidFill>
                        <a:srgbClr val="E2E7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7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7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7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r">
                        <a:buNone/>
                      </a:pPr>
                      <a:r>
                        <a:rPr lang="en-US" sz="750" dirty="0">
                          <a:solidFill>
                            <a:srgbClr val="26292E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-3.8</a:t>
                      </a:r>
                      <a:endParaRPr lang="en-US" sz="7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27432" marR="27432" marT="9144" marB="9144" anchor="ctr">
                    <a:lnL w="6350" cap="flat" cmpd="sng" algn="ctr">
                      <a:solidFill>
                        <a:srgbClr val="E2E7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7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7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7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r">
                        <a:buNone/>
                      </a:pPr>
                      <a:r>
                        <a:rPr lang="en-US" sz="750" dirty="0">
                          <a:solidFill>
                            <a:srgbClr val="26292E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-3.2</a:t>
                      </a:r>
                      <a:endParaRPr lang="en-US" sz="7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27432" marR="27432" marT="9144" marB="9144" anchor="ctr">
                    <a:lnL w="6350" cap="flat" cmpd="sng" algn="ctr">
                      <a:solidFill>
                        <a:srgbClr val="E2E7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7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7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7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r">
                        <a:buNone/>
                      </a:pPr>
                      <a:r>
                        <a:rPr lang="en-US" sz="750" b="1" dirty="0">
                          <a:solidFill>
                            <a:srgbClr val="1E2761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-6.4</a:t>
                      </a:r>
                      <a:endParaRPr lang="en-US" sz="7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27432" marR="27432" marT="9144" marB="9144" anchor="ctr">
                    <a:lnL w="6350" cap="flat" cmpd="sng" algn="ctr">
                      <a:solidFill>
                        <a:srgbClr val="E2E7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7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7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7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13"/>
                  </a:ext>
                </a:extLst>
              </a:tr>
              <a:tr h="150876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750" dirty="0">
                          <a:solidFill>
                            <a:srgbClr val="6B728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NPAT ’25</a:t>
                      </a:r>
                      <a:endParaRPr lang="en-US" sz="7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27432" marR="27432" marT="9144" marB="9144" anchor="ctr">
                    <a:lnL w="6350" cap="flat" cmpd="sng" algn="ctr">
                      <a:solidFill>
                        <a:srgbClr val="E2E7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7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7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7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r">
                        <a:buNone/>
                      </a:pPr>
                      <a:r>
                        <a:rPr lang="en-US" sz="750" dirty="0">
                          <a:solidFill>
                            <a:srgbClr val="6B728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2.9</a:t>
                      </a:r>
                      <a:endParaRPr lang="en-US" sz="7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27432" marR="27432" marT="9144" marB="9144" anchor="ctr">
                    <a:lnL w="6350" cap="flat" cmpd="sng" algn="ctr">
                      <a:solidFill>
                        <a:srgbClr val="E2E7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7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7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7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r">
                        <a:buNone/>
                      </a:pPr>
                      <a:r>
                        <a:rPr lang="en-US" sz="750" dirty="0">
                          <a:solidFill>
                            <a:srgbClr val="6B728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0.8</a:t>
                      </a:r>
                      <a:endParaRPr lang="en-US" sz="7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27432" marR="27432" marT="9144" marB="9144" anchor="ctr">
                    <a:lnL w="6350" cap="flat" cmpd="sng" algn="ctr">
                      <a:solidFill>
                        <a:srgbClr val="E2E7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7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7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7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r">
                        <a:buNone/>
                      </a:pPr>
                      <a:r>
                        <a:rPr lang="en-US" sz="750" dirty="0">
                          <a:solidFill>
                            <a:srgbClr val="6B728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-6.3</a:t>
                      </a:r>
                      <a:endParaRPr lang="en-US" sz="7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27432" marR="27432" marT="9144" marB="9144" anchor="ctr">
                    <a:lnL w="6350" cap="flat" cmpd="sng" algn="ctr">
                      <a:solidFill>
                        <a:srgbClr val="E2E7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7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7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7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r">
                        <a:buNone/>
                      </a:pPr>
                      <a:r>
                        <a:rPr lang="en-US" sz="750" dirty="0">
                          <a:solidFill>
                            <a:srgbClr val="6B728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-2.8</a:t>
                      </a:r>
                      <a:endParaRPr lang="en-US" sz="7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27432" marR="27432" marT="9144" marB="9144" anchor="ctr">
                    <a:lnL w="6350" cap="flat" cmpd="sng" algn="ctr">
                      <a:solidFill>
                        <a:srgbClr val="E2E7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7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7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7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r">
                        <a:buNone/>
                      </a:pPr>
                      <a:r>
                        <a:rPr lang="en-US" sz="750" dirty="0">
                          <a:solidFill>
                            <a:srgbClr val="6B728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-2.6</a:t>
                      </a:r>
                      <a:endParaRPr lang="en-US" sz="7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27432" marR="27432" marT="9144" marB="9144" anchor="ctr">
                    <a:lnL w="6350" cap="flat" cmpd="sng" algn="ctr">
                      <a:solidFill>
                        <a:srgbClr val="E2E7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7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7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7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r">
                        <a:buNone/>
                      </a:pPr>
                      <a:r>
                        <a:rPr lang="en-US" sz="750" dirty="0">
                          <a:solidFill>
                            <a:srgbClr val="6B728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-5.1</a:t>
                      </a:r>
                      <a:endParaRPr lang="en-US" sz="7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27432" marR="27432" marT="9144" marB="9144" anchor="ctr">
                    <a:lnL w="6350" cap="flat" cmpd="sng" algn="ctr">
                      <a:solidFill>
                        <a:srgbClr val="E2E7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7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7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7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r">
                        <a:buNone/>
                      </a:pPr>
                      <a:r>
                        <a:rPr lang="en-US" sz="750" b="1" dirty="0">
                          <a:solidFill>
                            <a:srgbClr val="6B728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-13.1</a:t>
                      </a:r>
                      <a:endParaRPr lang="en-US" sz="7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27432" marR="27432" marT="9144" marB="9144" anchor="ctr">
                    <a:lnL w="6350" cap="flat" cmpd="sng" algn="ctr">
                      <a:solidFill>
                        <a:srgbClr val="E2E7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7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7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7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14"/>
                  </a:ext>
                </a:extLst>
              </a:tr>
            </a:tbl>
          </a:graphicData>
        </a:graphic>
      </p:graphicFrame>
      <p:graphicFrame>
        <p:nvGraphicFramePr>
          <p:cNvPr id="39" name="Table 1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5897880" y="1783080"/>
          <a:ext cx="5742432" cy="2334768"/>
        </p:xfrm>
        <a:graphic>
          <a:graphicData uri="http://schemas.openxmlformats.org/drawingml/2006/table">
            <a:tbl>
              <a:tblPr/>
              <a:tblGrid>
                <a:gridCol w="1024128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694944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694944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731520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  <a:gridCol w="658368">
                  <a:extLst>
                    <a:ext uri="{9D8B030D-6E8A-4147-A177-3AD203B41FA5}">
                      <a16:colId xmlns:a16="http://schemas.microsoft.com/office/drawing/2014/main" val="20004"/>
                    </a:ext>
                  </a:extLst>
                </a:gridCol>
                <a:gridCol w="676656">
                  <a:extLst>
                    <a:ext uri="{9D8B030D-6E8A-4147-A177-3AD203B41FA5}">
                      <a16:colId xmlns:a16="http://schemas.microsoft.com/office/drawing/2014/main" val="20005"/>
                    </a:ext>
                  </a:extLst>
                </a:gridCol>
                <a:gridCol w="621792">
                  <a:extLst>
                    <a:ext uri="{9D8B030D-6E8A-4147-A177-3AD203B41FA5}">
                      <a16:colId xmlns:a16="http://schemas.microsoft.com/office/drawing/2014/main" val="20006"/>
                    </a:ext>
                  </a:extLst>
                </a:gridCol>
                <a:gridCol w="640080">
                  <a:extLst>
                    <a:ext uri="{9D8B030D-6E8A-4147-A177-3AD203B41FA5}">
                      <a16:colId xmlns:a16="http://schemas.microsoft.com/office/drawing/2014/main" val="20007"/>
                    </a:ext>
                  </a:extLst>
                </a:gridCol>
              </a:tblGrid>
              <a:tr h="283464"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85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H1 2026 (YTD)</a:t>
                      </a:r>
                      <a:endParaRPr lang="en-US" sz="8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E2E7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7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7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7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E2761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85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Actual</a:t>
                      </a:r>
                      <a:endParaRPr lang="en-US" sz="8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E2E7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7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7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7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E2761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85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MF budget</a:t>
                      </a:r>
                      <a:endParaRPr lang="en-US" sz="8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E2E7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7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7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7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E2761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85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vs MF budget</a:t>
                      </a:r>
                      <a:endParaRPr lang="en-US" sz="8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E2E7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7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7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7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E2761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85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H1 2025</a:t>
                      </a:r>
                      <a:endParaRPr lang="en-US" sz="8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E2E7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7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7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7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E2761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85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vs H1 25</a:t>
                      </a:r>
                      <a:endParaRPr lang="en-US" sz="8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E2E7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7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7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7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E2761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85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H1 2024</a:t>
                      </a:r>
                      <a:endParaRPr lang="en-US" sz="8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E2E7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7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7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7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E2761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85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vs H1 24</a:t>
                      </a:r>
                      <a:endParaRPr lang="en-US" sz="8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E2E7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7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7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7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E276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283464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850" b="1" dirty="0">
                          <a:solidFill>
                            <a:srgbClr val="26292E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Revenue</a:t>
                      </a:r>
                      <a:endParaRPr lang="en-US" sz="8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E2E7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7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7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7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r">
                        <a:buNone/>
                      </a:pPr>
                      <a:r>
                        <a:rPr lang="en-US" sz="850" b="1" dirty="0">
                          <a:solidFill>
                            <a:srgbClr val="1E2761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฿196.3M</a:t>
                      </a:r>
                      <a:endParaRPr lang="en-US" sz="8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E2E7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7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7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7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r">
                        <a:buNone/>
                      </a:pPr>
                      <a:r>
                        <a:rPr lang="en-US" sz="850" dirty="0">
                          <a:solidFill>
                            <a:srgbClr val="26292E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—</a:t>
                      </a:r>
                      <a:endParaRPr lang="en-US" sz="8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E2E7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7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7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7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r">
                        <a:buNone/>
                      </a:pPr>
                      <a:r>
                        <a:rPr lang="en-US" sz="850" b="1" dirty="0">
                          <a:solidFill>
                            <a:srgbClr val="6B728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—</a:t>
                      </a:r>
                      <a:endParaRPr lang="en-US" sz="8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E2E7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7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7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7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r">
                        <a:buNone/>
                      </a:pPr>
                      <a:r>
                        <a:rPr lang="en-US" sz="850" dirty="0">
                          <a:solidFill>
                            <a:srgbClr val="26292E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฿195.2M</a:t>
                      </a:r>
                      <a:endParaRPr lang="en-US" sz="8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E2E7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7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7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7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r">
                        <a:buNone/>
                      </a:pPr>
                      <a:r>
                        <a:rPr lang="en-US" sz="850" b="1" dirty="0">
                          <a:solidFill>
                            <a:srgbClr val="2E7D32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+0.6%</a:t>
                      </a:r>
                      <a:endParaRPr lang="en-US" sz="8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E2E7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7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7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7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r">
                        <a:buNone/>
                      </a:pPr>
                      <a:r>
                        <a:rPr lang="en-US" sz="850" dirty="0">
                          <a:solidFill>
                            <a:srgbClr val="6B728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฿223.9M</a:t>
                      </a:r>
                      <a:endParaRPr lang="en-US" sz="8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E2E7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7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7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7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r">
                        <a:buNone/>
                      </a:pPr>
                      <a:r>
                        <a:rPr lang="en-US" sz="850" b="1" dirty="0">
                          <a:solidFill>
                            <a:srgbClr val="C0392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-12.3%</a:t>
                      </a:r>
                      <a:endParaRPr lang="en-US" sz="8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E2E7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7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7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7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283464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850" b="1" dirty="0">
                          <a:solidFill>
                            <a:srgbClr val="26292E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OPEX</a:t>
                      </a:r>
                      <a:endParaRPr lang="en-US" sz="8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E2E7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7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7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7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6FB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r">
                        <a:buNone/>
                      </a:pPr>
                      <a:r>
                        <a:rPr lang="en-US" sz="850" b="1" dirty="0">
                          <a:solidFill>
                            <a:srgbClr val="1E2761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−฿84.3M</a:t>
                      </a:r>
                      <a:endParaRPr lang="en-US" sz="8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E2E7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7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7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7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6FB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r">
                        <a:buNone/>
                      </a:pPr>
                      <a:r>
                        <a:rPr lang="en-US" sz="850" dirty="0">
                          <a:solidFill>
                            <a:srgbClr val="26292E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−฿92.3M</a:t>
                      </a:r>
                      <a:endParaRPr lang="en-US" sz="8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E2E7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7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7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7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6FB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r">
                        <a:buNone/>
                      </a:pPr>
                      <a:r>
                        <a:rPr lang="en-US" sz="850" b="1" dirty="0">
                          <a:solidFill>
                            <a:srgbClr val="2E7D32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-8.7%</a:t>
                      </a:r>
                      <a:endParaRPr lang="en-US" sz="8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E2E7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7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7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7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6FB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r">
                        <a:buNone/>
                      </a:pPr>
                      <a:r>
                        <a:rPr lang="en-US" sz="850" dirty="0">
                          <a:solidFill>
                            <a:srgbClr val="26292E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−฿83.8M</a:t>
                      </a:r>
                      <a:endParaRPr lang="en-US" sz="8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E2E7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7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7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7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6FB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r">
                        <a:buNone/>
                      </a:pPr>
                      <a:r>
                        <a:rPr lang="en-US" sz="850" b="1" dirty="0">
                          <a:solidFill>
                            <a:srgbClr val="C0392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+0.6%</a:t>
                      </a:r>
                      <a:endParaRPr lang="en-US" sz="8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E2E7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7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7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7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6FB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r">
                        <a:buNone/>
                      </a:pPr>
                      <a:r>
                        <a:rPr lang="en-US" sz="850" dirty="0">
                          <a:solidFill>
                            <a:srgbClr val="6B728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−฿93.1M</a:t>
                      </a:r>
                      <a:endParaRPr lang="en-US" sz="8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E2E7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7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7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7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6FB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r">
                        <a:buNone/>
                      </a:pPr>
                      <a:r>
                        <a:rPr lang="en-US" sz="850" b="1" dirty="0">
                          <a:solidFill>
                            <a:srgbClr val="2E7D32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-9.5%</a:t>
                      </a:r>
                      <a:endParaRPr lang="en-US" sz="8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E2E7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7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7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7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6FB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283464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850" b="1" dirty="0">
                          <a:solidFill>
                            <a:srgbClr val="26292E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GOP (EBITDA)</a:t>
                      </a:r>
                      <a:endParaRPr lang="en-US" sz="8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E2E7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7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7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7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r">
                        <a:buNone/>
                      </a:pPr>
                      <a:r>
                        <a:rPr lang="en-US" sz="850" b="1" dirty="0">
                          <a:solidFill>
                            <a:srgbClr val="1E2761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฿112.0M</a:t>
                      </a:r>
                      <a:endParaRPr lang="en-US" sz="8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E2E7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7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7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7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r">
                        <a:buNone/>
                      </a:pPr>
                      <a:r>
                        <a:rPr lang="en-US" sz="850" dirty="0">
                          <a:solidFill>
                            <a:srgbClr val="26292E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฿121.6M</a:t>
                      </a:r>
                      <a:endParaRPr lang="en-US" sz="8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E2E7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7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7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7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r">
                        <a:buNone/>
                      </a:pPr>
                      <a:r>
                        <a:rPr lang="en-US" sz="850" b="1" dirty="0">
                          <a:solidFill>
                            <a:srgbClr val="C0392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-7.9%</a:t>
                      </a:r>
                      <a:endParaRPr lang="en-US" sz="8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E2E7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7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7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7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r">
                        <a:buNone/>
                      </a:pPr>
                      <a:r>
                        <a:rPr lang="en-US" sz="850" dirty="0">
                          <a:solidFill>
                            <a:srgbClr val="26292E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฿111.4M</a:t>
                      </a:r>
                      <a:endParaRPr lang="en-US" sz="8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E2E7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7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7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7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r">
                        <a:buNone/>
                      </a:pPr>
                      <a:r>
                        <a:rPr lang="en-US" sz="850" b="1" dirty="0">
                          <a:solidFill>
                            <a:srgbClr val="2E7D32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+0.5%</a:t>
                      </a:r>
                      <a:endParaRPr lang="en-US" sz="8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E2E7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7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7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7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r">
                        <a:buNone/>
                      </a:pPr>
                      <a:r>
                        <a:rPr lang="en-US" sz="850" dirty="0">
                          <a:solidFill>
                            <a:srgbClr val="6B728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฿130.8M</a:t>
                      </a:r>
                      <a:endParaRPr lang="en-US" sz="8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E2E7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7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7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7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r">
                        <a:buNone/>
                      </a:pPr>
                      <a:r>
                        <a:rPr lang="en-US" sz="850" b="1" dirty="0">
                          <a:solidFill>
                            <a:srgbClr val="C0392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-14.4%</a:t>
                      </a:r>
                      <a:endParaRPr lang="en-US" sz="8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E2E7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7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7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7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283464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850" b="1" dirty="0">
                          <a:solidFill>
                            <a:srgbClr val="26292E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GOP margin</a:t>
                      </a:r>
                      <a:endParaRPr lang="en-US" sz="8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E2E7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7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7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7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6FB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r">
                        <a:buNone/>
                      </a:pPr>
                      <a:r>
                        <a:rPr lang="en-US" sz="850" b="1" dirty="0">
                          <a:solidFill>
                            <a:srgbClr val="1E2761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57.1%</a:t>
                      </a:r>
                      <a:endParaRPr lang="en-US" sz="8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E2E7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7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7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7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6FB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r">
                        <a:buNone/>
                      </a:pPr>
                      <a:r>
                        <a:rPr lang="en-US" sz="850" dirty="0">
                          <a:solidFill>
                            <a:srgbClr val="26292E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—</a:t>
                      </a:r>
                      <a:endParaRPr lang="en-US" sz="8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E2E7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7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7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7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6FB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r">
                        <a:buNone/>
                      </a:pPr>
                      <a:r>
                        <a:rPr lang="en-US" sz="850" b="1" dirty="0">
                          <a:solidFill>
                            <a:srgbClr val="6B728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—</a:t>
                      </a:r>
                      <a:endParaRPr lang="en-US" sz="8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E2E7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7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7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7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6FB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r">
                        <a:buNone/>
                      </a:pPr>
                      <a:r>
                        <a:rPr lang="en-US" sz="850" dirty="0">
                          <a:solidFill>
                            <a:srgbClr val="26292E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57.1%</a:t>
                      </a:r>
                      <a:endParaRPr lang="en-US" sz="8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E2E7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7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7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7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6FB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r">
                        <a:buNone/>
                      </a:pPr>
                      <a:r>
                        <a:rPr lang="en-US" sz="850" b="1" dirty="0">
                          <a:solidFill>
                            <a:srgbClr val="C0392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-0.0 pts</a:t>
                      </a:r>
                      <a:endParaRPr lang="en-US" sz="8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E2E7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7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7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7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6FB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r">
                        <a:buNone/>
                      </a:pPr>
                      <a:r>
                        <a:rPr lang="en-US" sz="850" dirty="0">
                          <a:solidFill>
                            <a:srgbClr val="6B728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58.4%</a:t>
                      </a:r>
                      <a:endParaRPr lang="en-US" sz="8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E2E7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7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7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7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6FB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r">
                        <a:buNone/>
                      </a:pPr>
                      <a:r>
                        <a:rPr lang="en-US" sz="850" b="1" dirty="0">
                          <a:solidFill>
                            <a:srgbClr val="C0392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-1.4 pts</a:t>
                      </a:r>
                      <a:endParaRPr lang="en-US" sz="8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E2E7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7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7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7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6FB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  <a:tr h="283464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850" b="1" dirty="0">
                          <a:solidFill>
                            <a:srgbClr val="26292E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JV expense</a:t>
                      </a:r>
                      <a:endParaRPr lang="en-US" sz="8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E2E7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7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7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7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r">
                        <a:buNone/>
                      </a:pPr>
                      <a:r>
                        <a:rPr lang="en-US" sz="850" b="1" dirty="0">
                          <a:solidFill>
                            <a:srgbClr val="1E2761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−฿59.0M</a:t>
                      </a:r>
                      <a:endParaRPr lang="en-US" sz="8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E2E7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7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7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7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r">
                        <a:buNone/>
                      </a:pPr>
                      <a:r>
                        <a:rPr lang="en-US" sz="850" dirty="0">
                          <a:solidFill>
                            <a:srgbClr val="26292E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−฿61.9M</a:t>
                      </a:r>
                      <a:endParaRPr lang="en-US" sz="8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E2E7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7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7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7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r">
                        <a:buNone/>
                      </a:pPr>
                      <a:r>
                        <a:rPr lang="en-US" sz="850" b="1" dirty="0">
                          <a:solidFill>
                            <a:srgbClr val="2E7D32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-4.7%</a:t>
                      </a:r>
                      <a:endParaRPr lang="en-US" sz="8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E2E7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7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7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7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r">
                        <a:buNone/>
                      </a:pPr>
                      <a:r>
                        <a:rPr lang="en-US" sz="850" dirty="0">
                          <a:solidFill>
                            <a:srgbClr val="26292E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−฿56.7M</a:t>
                      </a:r>
                      <a:endParaRPr lang="en-US" sz="8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E2E7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7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7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7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r">
                        <a:buNone/>
                      </a:pPr>
                      <a:r>
                        <a:rPr lang="en-US" sz="850" b="1" dirty="0">
                          <a:solidFill>
                            <a:srgbClr val="C0392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+4.1%</a:t>
                      </a:r>
                      <a:endParaRPr lang="en-US" sz="8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E2E7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7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7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7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r">
                        <a:buNone/>
                      </a:pPr>
                      <a:r>
                        <a:rPr lang="en-US" sz="850" dirty="0">
                          <a:solidFill>
                            <a:srgbClr val="6B728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−฿59.3M</a:t>
                      </a:r>
                      <a:endParaRPr lang="en-US" sz="8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E2E7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7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7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7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r">
                        <a:buNone/>
                      </a:pPr>
                      <a:r>
                        <a:rPr lang="en-US" sz="850" b="1" dirty="0">
                          <a:solidFill>
                            <a:srgbClr val="2E7D32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-0.5%</a:t>
                      </a:r>
                      <a:endParaRPr lang="en-US" sz="8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E2E7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7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7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7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5"/>
                  </a:ext>
                </a:extLst>
              </a:tr>
              <a:tr h="283464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850" b="1" dirty="0">
                          <a:solidFill>
                            <a:srgbClr val="26292E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EBIT</a:t>
                      </a:r>
                      <a:endParaRPr lang="en-US" sz="8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E2E7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7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7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7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6FB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r">
                        <a:buNone/>
                      </a:pPr>
                      <a:r>
                        <a:rPr lang="en-US" sz="850" b="1" dirty="0">
                          <a:solidFill>
                            <a:srgbClr val="1E2761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฿53.0M</a:t>
                      </a:r>
                      <a:endParaRPr lang="en-US" sz="8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E2E7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7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7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7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6FB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r">
                        <a:buNone/>
                      </a:pPr>
                      <a:r>
                        <a:rPr lang="en-US" sz="850" dirty="0">
                          <a:solidFill>
                            <a:srgbClr val="26292E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฿59.7M</a:t>
                      </a:r>
                      <a:endParaRPr lang="en-US" sz="8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E2E7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7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7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7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6FB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r">
                        <a:buNone/>
                      </a:pPr>
                      <a:r>
                        <a:rPr lang="en-US" sz="850" b="1" dirty="0">
                          <a:solidFill>
                            <a:srgbClr val="C0392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-11.3%</a:t>
                      </a:r>
                      <a:endParaRPr lang="en-US" sz="8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E2E7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7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7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7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6FB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r">
                        <a:buNone/>
                      </a:pPr>
                      <a:r>
                        <a:rPr lang="en-US" sz="850" dirty="0">
                          <a:solidFill>
                            <a:srgbClr val="26292E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฿54.7M</a:t>
                      </a:r>
                      <a:endParaRPr lang="en-US" sz="8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E2E7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7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7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7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6FB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r">
                        <a:buNone/>
                      </a:pPr>
                      <a:r>
                        <a:rPr lang="en-US" sz="850" b="1" dirty="0">
                          <a:solidFill>
                            <a:srgbClr val="C0392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-3.2%</a:t>
                      </a:r>
                      <a:endParaRPr lang="en-US" sz="8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E2E7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7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7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7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6FB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r">
                        <a:buNone/>
                      </a:pPr>
                      <a:r>
                        <a:rPr lang="en-US" sz="850" dirty="0">
                          <a:solidFill>
                            <a:srgbClr val="6B728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฿71.5M</a:t>
                      </a:r>
                      <a:endParaRPr lang="en-US" sz="8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E2E7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7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7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7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6FB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r">
                        <a:buNone/>
                      </a:pPr>
                      <a:r>
                        <a:rPr lang="en-US" sz="850" b="1" dirty="0">
                          <a:solidFill>
                            <a:srgbClr val="C0392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-25.9%</a:t>
                      </a:r>
                      <a:endParaRPr lang="en-US" sz="8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E2E7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7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7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7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6FB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6"/>
                  </a:ext>
                </a:extLst>
              </a:tr>
              <a:tr h="283464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850" b="1" dirty="0">
                          <a:solidFill>
                            <a:srgbClr val="26292E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NPAT</a:t>
                      </a:r>
                      <a:endParaRPr lang="en-US" sz="8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E2E7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7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7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7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r">
                        <a:buNone/>
                      </a:pPr>
                      <a:r>
                        <a:rPr lang="en-US" sz="850" b="1" dirty="0">
                          <a:solidFill>
                            <a:srgbClr val="1E2761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−฿6.4M</a:t>
                      </a:r>
                      <a:endParaRPr lang="en-US" sz="8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E2E7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7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7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7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r">
                        <a:buNone/>
                      </a:pPr>
                      <a:r>
                        <a:rPr lang="en-US" sz="850" dirty="0">
                          <a:solidFill>
                            <a:srgbClr val="26292E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—</a:t>
                      </a:r>
                      <a:endParaRPr lang="en-US" sz="8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E2E7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7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7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7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r">
                        <a:buNone/>
                      </a:pPr>
                      <a:r>
                        <a:rPr lang="en-US" sz="850" b="1" dirty="0">
                          <a:solidFill>
                            <a:srgbClr val="6B728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—</a:t>
                      </a:r>
                      <a:endParaRPr lang="en-US" sz="8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E2E7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7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7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7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r">
                        <a:buNone/>
                      </a:pPr>
                      <a:r>
                        <a:rPr lang="en-US" sz="850" dirty="0">
                          <a:solidFill>
                            <a:srgbClr val="26292E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−฿13.1M</a:t>
                      </a:r>
                      <a:endParaRPr lang="en-US" sz="8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E2E7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7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7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7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r">
                        <a:buNone/>
                      </a:pPr>
                      <a:r>
                        <a:rPr lang="en-US" sz="850" b="1" dirty="0">
                          <a:solidFill>
                            <a:srgbClr val="2E7D32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+฿6.7M</a:t>
                      </a:r>
                      <a:endParaRPr lang="en-US" sz="8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E2E7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7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7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7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r">
                        <a:buNone/>
                      </a:pPr>
                      <a:r>
                        <a:rPr lang="en-US" sz="850" dirty="0">
                          <a:solidFill>
                            <a:srgbClr val="6B728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฿4.0M</a:t>
                      </a:r>
                      <a:endParaRPr lang="en-US" sz="8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E2E7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7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7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7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r">
                        <a:buNone/>
                      </a:pPr>
                      <a:r>
                        <a:rPr lang="en-US" sz="850" b="1" dirty="0">
                          <a:solidFill>
                            <a:srgbClr val="C0392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−฿10.4M</a:t>
                      </a:r>
                      <a:endParaRPr lang="en-US" sz="8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E2E7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7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7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7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7"/>
                  </a:ext>
                </a:extLst>
              </a:tr>
            </a:tbl>
          </a:graphicData>
        </a:graphic>
      </p:graphicFrame>
      <p:sp>
        <p:nvSpPr>
          <p:cNvPr id="9" name="Shape 4"/>
          <p:cNvSpPr/>
          <p:nvPr/>
        </p:nvSpPr>
        <p:spPr>
          <a:xfrm>
            <a:off x="6126480" y="4206240"/>
            <a:ext cx="2651760" cy="1207008"/>
          </a:xfrm>
          <a:prstGeom prst="roundRect">
            <a:avLst>
              <a:gd name="adj" fmla="val 4545"/>
            </a:avLst>
          </a:prstGeom>
          <a:solidFill>
            <a:srgbClr val="F4F6FB"/>
          </a:solidFill>
          <a:ln w="9525">
            <a:solidFill>
              <a:srgbClr val="E2E7F2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0" name="Text 5"/>
          <p:cNvSpPr/>
          <p:nvPr/>
        </p:nvSpPr>
        <p:spPr>
          <a:xfrm>
            <a:off x="6272784" y="4297680"/>
            <a:ext cx="2359152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50" b="1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REVENUE H1 2026</a:t>
            </a:r>
            <a:endParaRPr lang="en-US" sz="1050" dirty="0"/>
          </a:p>
        </p:txBody>
      </p:sp>
      <p:sp>
        <p:nvSpPr>
          <p:cNvPr id="11" name="Text 6"/>
          <p:cNvSpPr/>
          <p:nvPr/>
        </p:nvSpPr>
        <p:spPr>
          <a:xfrm>
            <a:off x="6272784" y="4517136"/>
            <a:ext cx="2359152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400" b="1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฿196.3M</a:t>
            </a:r>
            <a:endParaRPr lang="en-US" sz="2400" dirty="0"/>
          </a:p>
        </p:txBody>
      </p:sp>
      <p:sp>
        <p:nvSpPr>
          <p:cNvPr id="12" name="Text 7"/>
          <p:cNvSpPr/>
          <p:nvPr/>
        </p:nvSpPr>
        <p:spPr>
          <a:xfrm>
            <a:off x="6272784" y="4974336"/>
            <a:ext cx="2359152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50" dirty="0">
                <a:solidFill>
                  <a:srgbClr val="2E7D3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+0.6% vs H1 2025</a:t>
            </a:r>
            <a:endParaRPr lang="en-US" sz="1050" dirty="0"/>
          </a:p>
        </p:txBody>
      </p:sp>
      <p:sp>
        <p:nvSpPr>
          <p:cNvPr id="13" name="Shape 8"/>
          <p:cNvSpPr/>
          <p:nvPr/>
        </p:nvSpPr>
        <p:spPr>
          <a:xfrm>
            <a:off x="8988552" y="4206240"/>
            <a:ext cx="2651760" cy="1207008"/>
          </a:xfrm>
          <a:prstGeom prst="roundRect">
            <a:avLst>
              <a:gd name="adj" fmla="val 4545"/>
            </a:avLst>
          </a:prstGeom>
          <a:solidFill>
            <a:srgbClr val="F4F6FB"/>
          </a:solidFill>
          <a:ln w="9525">
            <a:solidFill>
              <a:srgbClr val="E2E7F2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4" name="Text 9"/>
          <p:cNvSpPr/>
          <p:nvPr/>
        </p:nvSpPr>
        <p:spPr>
          <a:xfrm>
            <a:off x="9134856" y="4297680"/>
            <a:ext cx="2359152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50" b="1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EBIT H1 2026</a:t>
            </a:r>
            <a:endParaRPr lang="en-US" sz="1050" dirty="0"/>
          </a:p>
        </p:txBody>
      </p:sp>
      <p:sp>
        <p:nvSpPr>
          <p:cNvPr id="15" name="Text 10"/>
          <p:cNvSpPr/>
          <p:nvPr/>
        </p:nvSpPr>
        <p:spPr>
          <a:xfrm>
            <a:off x="9134856" y="4517136"/>
            <a:ext cx="2359152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400" b="1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฿53.0M</a:t>
            </a:r>
            <a:endParaRPr lang="en-US" sz="2400" dirty="0"/>
          </a:p>
        </p:txBody>
      </p:sp>
      <p:sp>
        <p:nvSpPr>
          <p:cNvPr id="16" name="Text 11"/>
          <p:cNvSpPr/>
          <p:nvPr/>
        </p:nvSpPr>
        <p:spPr>
          <a:xfrm>
            <a:off x="9134856" y="4974336"/>
            <a:ext cx="2359152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50" dirty="0">
                <a:solidFill>
                  <a:srgbClr val="C0392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−฿1.7M vs H1 2025 (฿54.7M)</a:t>
            </a:r>
            <a:endParaRPr lang="en-US" sz="1050" dirty="0"/>
          </a:p>
        </p:txBody>
      </p:sp>
      <p:sp>
        <p:nvSpPr>
          <p:cNvPr id="17" name="Text 12"/>
          <p:cNvSpPr/>
          <p:nvPr/>
        </p:nvSpPr>
        <p:spPr>
          <a:xfrm>
            <a:off x="548640" y="6355080"/>
            <a:ext cx="10881360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50" i="1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GOP = gross operating profit (≈ EBITDA). MF budget = Mitsui Fudosan budget. All figures are Jan–Jun sums of the monthly P&amp;L blocks in the result sheets; budget rows exist for OPEX, GOP and EBIT only (revenue, GOP margin and NPAT show —). JV expense derived as EBIT − GOP. Source: result FY24/FY25/FY26 sheets (official record).</a:t>
            </a:r>
            <a:endParaRPr lang="en-US" sz="1050" dirty="0"/>
          </a:p>
        </p:txBody>
      </p:sp>
    </p:spTree>
  </p:cSld>
  <p:clrMapOvr>
    <a:masterClrMapping/>
  </p:clrMapOvr>
</p:sld>
</file>

<file path=ppt/slides/slide3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5">
    <p:bg>
      <p:bgPr>
        <a:solidFill>
          <a:srgbClr val="1E276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1965960"/>
            <a:ext cx="2011680" cy="1554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600" b="1" dirty="0">
                <a:solidFill>
                  <a:srgbClr val="D9A44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5</a:t>
            </a:r>
            <a:endParaRPr lang="en-US" sz="9600" dirty="0"/>
          </a:p>
        </p:txBody>
      </p:sp>
      <p:sp>
        <p:nvSpPr>
          <p:cNvPr id="3" name="Text 1"/>
          <p:cNvSpPr/>
          <p:nvPr/>
        </p:nvSpPr>
        <p:spPr>
          <a:xfrm>
            <a:off x="2514600" y="2286000"/>
            <a:ext cx="877824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4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Ascott Embassy Sathorn (AES)</a:t>
            </a:r>
            <a:endParaRPr lang="en-US" sz="4000" dirty="0"/>
          </a:p>
        </p:txBody>
      </p:sp>
      <p:sp>
        <p:nvSpPr>
          <p:cNvPr id="4" name="Text 2"/>
          <p:cNvSpPr/>
          <p:nvPr/>
        </p:nvSpPr>
        <p:spPr>
          <a:xfrm>
            <a:off x="2542032" y="3246120"/>
            <a:ext cx="841248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dirty="0">
                <a:solidFill>
                  <a:srgbClr val="AFC0E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P&amp;L (EBIT) · Performance vs budget · Segmentation · Guest nationality</a:t>
            </a:r>
            <a:endParaRPr lang="en-US" sz="1400" dirty="0"/>
          </a:p>
        </p:txBody>
      </p:sp>
      <p:sp>
        <p:nvSpPr>
          <p:cNvPr id="5" name="Text 3"/>
          <p:cNvSpPr/>
          <p:nvPr/>
        </p:nvSpPr>
        <p:spPr>
          <a:xfrm>
            <a:off x="548640" y="6172200"/>
            <a:ext cx="5486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7C8BC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Mitsui Thailand Portfolio · H1 2026</a:t>
            </a:r>
            <a:endParaRPr lang="en-US" sz="1000" dirty="0"/>
          </a:p>
        </p:txBody>
      </p:sp>
    </p:spTree>
  </p:cSld>
  <p:clrMapOvr>
    <a:masterClrMapping/>
  </p:clrMapOvr>
</p:sld>
</file>

<file path=ppt/slides/slide3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7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292608"/>
            <a:ext cx="8229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b="1" kern="0" spc="200" dirty="0">
                <a:solidFill>
                  <a:srgbClr val="D9A44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SECTION 5 · ASCOTT EMBASSY SATHORN (AES)</a:t>
            </a:r>
            <a:endParaRPr lang="en-US" sz="1100" dirty="0"/>
          </a:p>
        </p:txBody>
      </p:sp>
      <p:sp>
        <p:nvSpPr>
          <p:cNvPr id="3" name="Text 1"/>
          <p:cNvSpPr/>
          <p:nvPr/>
        </p:nvSpPr>
        <p:spPr>
          <a:xfrm>
            <a:off x="548640" y="502920"/>
            <a:ext cx="11091672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800" b="1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Ascott Embassy Sathorn (AES)</a:t>
            </a:r>
            <a:endParaRPr lang="en-US" sz="2800" dirty="0"/>
          </a:p>
        </p:txBody>
      </p:sp>
      <p:sp>
        <p:nvSpPr>
          <p:cNvPr id="4" name="Text 2"/>
          <p:cNvSpPr/>
          <p:nvPr/>
        </p:nvSpPr>
        <p:spPr>
          <a:xfrm>
            <a:off x="548640" y="1060704"/>
            <a:ext cx="11091672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5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403 keys · monthly + YTD Jan–Jun · actual vs MF Projection and actual 2025</a:t>
            </a:r>
            <a:endParaRPr lang="en-US" sz="1250" dirty="0"/>
          </a:p>
        </p:txBody>
      </p:sp>
      <p:sp>
        <p:nvSpPr>
          <p:cNvPr id="5" name="Text 3"/>
          <p:cNvSpPr/>
          <p:nvPr/>
        </p:nvSpPr>
        <p:spPr>
          <a:xfrm>
            <a:off x="8165592" y="310896"/>
            <a:ext cx="34747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90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Mitsui Thailand Portfolio · H1 2026</a:t>
            </a:r>
            <a:endParaRPr lang="en-US" sz="900" dirty="0"/>
          </a:p>
        </p:txBody>
      </p:sp>
      <p:graphicFrame>
        <p:nvGraphicFramePr>
          <p:cNvPr id="6" name="Chart 0"/>
          <p:cNvGraphicFramePr/>
          <p:nvPr/>
        </p:nvGraphicFramePr>
        <p:xfrm>
          <a:off x="548640" y="1691640"/>
          <a:ext cx="7223760" cy="2240280"/>
        </p:xfrm>
        <a:graphic>
          <a:graphicData uri="http://schemas.openxmlformats.org/drawingml/2006/chart">
            <c:chart xmlns:c="http://schemas.openxmlformats.org/drawingml/2006/chart" xmlns:r="http://schemas.openxmlformats.org/officeDocument/2006/relationships" r:id="rId3"/>
          </a:graphicData>
        </a:graphic>
      </p:graphicFrame>
      <p:graphicFrame>
        <p:nvGraphicFramePr>
          <p:cNvPr id="28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548640" y="4069080"/>
          <a:ext cx="7223760" cy="2011680"/>
        </p:xfrm>
        <a:graphic>
          <a:graphicData uri="http://schemas.openxmlformats.org/drawingml/2006/table">
            <a:tbl>
              <a:tblPr/>
              <a:tblGrid>
                <a:gridCol w="132588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795528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795528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795528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  <a:gridCol w="795528">
                  <a:extLst>
                    <a:ext uri="{9D8B030D-6E8A-4147-A177-3AD203B41FA5}">
                      <a16:colId xmlns:a16="http://schemas.microsoft.com/office/drawing/2014/main" val="20004"/>
                    </a:ext>
                  </a:extLst>
                </a:gridCol>
                <a:gridCol w="795528">
                  <a:extLst>
                    <a:ext uri="{9D8B030D-6E8A-4147-A177-3AD203B41FA5}">
                      <a16:colId xmlns:a16="http://schemas.microsoft.com/office/drawing/2014/main" val="20005"/>
                    </a:ext>
                  </a:extLst>
                </a:gridCol>
                <a:gridCol w="795528">
                  <a:extLst>
                    <a:ext uri="{9D8B030D-6E8A-4147-A177-3AD203B41FA5}">
                      <a16:colId xmlns:a16="http://schemas.microsoft.com/office/drawing/2014/main" val="20006"/>
                    </a:ext>
                  </a:extLst>
                </a:gridCol>
                <a:gridCol w="1124712">
                  <a:extLst>
                    <a:ext uri="{9D8B030D-6E8A-4147-A177-3AD203B41FA5}">
                      <a16:colId xmlns:a16="http://schemas.microsoft.com/office/drawing/2014/main" val="20007"/>
                    </a:ext>
                  </a:extLst>
                </a:gridCol>
              </a:tblGrid>
              <a:tr h="201168"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9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H1 2026</a:t>
                      </a:r>
                      <a:endParaRPr lang="en-US" sz="9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E2E7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7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7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7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E2761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9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Jan</a:t>
                      </a:r>
                      <a:endParaRPr lang="en-US" sz="9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E2E7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7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7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7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E2761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9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Feb</a:t>
                      </a:r>
                      <a:endParaRPr lang="en-US" sz="9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E2E7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7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7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7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E2761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9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Mar</a:t>
                      </a:r>
                      <a:endParaRPr lang="en-US" sz="9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E2E7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7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7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7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E2761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9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Apr</a:t>
                      </a:r>
                      <a:endParaRPr lang="en-US" sz="9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E2E7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7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7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7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E2761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9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May</a:t>
                      </a:r>
                      <a:endParaRPr lang="en-US" sz="9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E2E7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7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7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7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E2761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9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Jun</a:t>
                      </a:r>
                      <a:endParaRPr lang="en-US" sz="9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E2E7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7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7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7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E2761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9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YTD</a:t>
                      </a:r>
                      <a:endParaRPr lang="en-US" sz="9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E2E7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7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7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7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E276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201168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900" b="1" dirty="0">
                          <a:solidFill>
                            <a:srgbClr val="26292E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Occupancy</a:t>
                      </a:r>
                      <a:endParaRPr lang="en-US" sz="9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E2E7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7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7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7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r">
                        <a:buNone/>
                      </a:pPr>
                      <a:r>
                        <a:rPr lang="en-US" sz="900" dirty="0">
                          <a:solidFill>
                            <a:srgbClr val="26292E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75.3%</a:t>
                      </a:r>
                      <a:endParaRPr lang="en-US" sz="9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E2E7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7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7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7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r">
                        <a:buNone/>
                      </a:pPr>
                      <a:r>
                        <a:rPr lang="en-US" sz="900" dirty="0">
                          <a:solidFill>
                            <a:srgbClr val="26292E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92.4%</a:t>
                      </a:r>
                      <a:endParaRPr lang="en-US" sz="9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E2E7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7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7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7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r">
                        <a:buNone/>
                      </a:pPr>
                      <a:r>
                        <a:rPr lang="en-US" sz="900" dirty="0">
                          <a:solidFill>
                            <a:srgbClr val="26292E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74.5%</a:t>
                      </a:r>
                      <a:endParaRPr lang="en-US" sz="9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E2E7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7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7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7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r">
                        <a:buNone/>
                      </a:pPr>
                      <a:r>
                        <a:rPr lang="en-US" sz="900" dirty="0">
                          <a:solidFill>
                            <a:srgbClr val="26292E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64.0%</a:t>
                      </a:r>
                      <a:endParaRPr lang="en-US" sz="9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E2E7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7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7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7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r">
                        <a:buNone/>
                      </a:pPr>
                      <a:r>
                        <a:rPr lang="en-US" sz="900" dirty="0">
                          <a:solidFill>
                            <a:srgbClr val="26292E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58.2%</a:t>
                      </a:r>
                      <a:endParaRPr lang="en-US" sz="9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E2E7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7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7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7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r">
                        <a:buNone/>
                      </a:pPr>
                      <a:r>
                        <a:rPr lang="en-US" sz="900" dirty="0">
                          <a:solidFill>
                            <a:srgbClr val="26292E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59.9%</a:t>
                      </a:r>
                      <a:endParaRPr lang="en-US" sz="9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E2E7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7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7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7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r">
                        <a:buNone/>
                      </a:pPr>
                      <a:r>
                        <a:rPr lang="en-US" sz="900" b="1" dirty="0">
                          <a:solidFill>
                            <a:srgbClr val="1E2761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70.4%</a:t>
                      </a:r>
                      <a:endParaRPr lang="en-US" sz="9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E2E7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7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7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7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201168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900" b="0" dirty="0">
                          <a:solidFill>
                            <a:srgbClr val="595959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 MF Projection</a:t>
                      </a:r>
                      <a:endParaRPr lang="en-US" sz="9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E2E7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7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7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7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r">
                        <a:buNone/>
                      </a:pPr>
                      <a:r>
                        <a:rPr lang="en-US" sz="900" dirty="0">
                          <a:solidFill>
                            <a:srgbClr val="595959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76.6%</a:t>
                      </a:r>
                      <a:endParaRPr lang="en-US" sz="9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E2E7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7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7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7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r">
                        <a:buNone/>
                      </a:pPr>
                      <a:r>
                        <a:rPr lang="en-US" sz="900" dirty="0">
                          <a:solidFill>
                            <a:srgbClr val="595959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80.9%</a:t>
                      </a:r>
                      <a:endParaRPr lang="en-US" sz="9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E2E7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7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7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7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r">
                        <a:buNone/>
                      </a:pPr>
                      <a:r>
                        <a:rPr lang="en-US" sz="900" dirty="0">
                          <a:solidFill>
                            <a:srgbClr val="595959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65.0%</a:t>
                      </a:r>
                      <a:endParaRPr lang="en-US" sz="9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E2E7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7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7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7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r">
                        <a:buNone/>
                      </a:pPr>
                      <a:r>
                        <a:rPr lang="en-US" sz="900" dirty="0">
                          <a:solidFill>
                            <a:srgbClr val="595959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70.0%</a:t>
                      </a:r>
                      <a:endParaRPr lang="en-US" sz="9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E2E7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7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7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7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r">
                        <a:buNone/>
                      </a:pPr>
                      <a:r>
                        <a:rPr lang="en-US" sz="900" dirty="0">
                          <a:solidFill>
                            <a:srgbClr val="595959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68.9%</a:t>
                      </a:r>
                      <a:endParaRPr lang="en-US" sz="9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E2E7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7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7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7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r">
                        <a:buNone/>
                      </a:pPr>
                      <a:r>
                        <a:rPr lang="en-US" sz="900" dirty="0">
                          <a:solidFill>
                            <a:srgbClr val="595959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69.0%</a:t>
                      </a:r>
                      <a:endParaRPr lang="en-US" sz="9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E2E7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7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7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7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r">
                        <a:buNone/>
                      </a:pPr>
                      <a:r>
                        <a:rPr lang="en-US" sz="900" b="1" dirty="0">
                          <a:solidFill>
                            <a:srgbClr val="595959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71.6%</a:t>
                      </a:r>
                      <a:endParaRPr lang="en-US" sz="9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E2E7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7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7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7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201168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900" b="0" dirty="0">
                          <a:solidFill>
                            <a:srgbClr val="595959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 Actual 2025</a:t>
                      </a:r>
                      <a:endParaRPr lang="en-US" sz="9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E2E7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7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7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7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r">
                        <a:buNone/>
                      </a:pPr>
                      <a:r>
                        <a:rPr lang="en-US" sz="900" dirty="0">
                          <a:solidFill>
                            <a:srgbClr val="595959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81.3%</a:t>
                      </a:r>
                      <a:endParaRPr lang="en-US" sz="9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E2E7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7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7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7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r">
                        <a:buNone/>
                      </a:pPr>
                      <a:r>
                        <a:rPr lang="en-US" sz="900" dirty="0">
                          <a:solidFill>
                            <a:srgbClr val="595959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76.4%</a:t>
                      </a:r>
                      <a:endParaRPr lang="en-US" sz="9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E2E7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7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7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7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r">
                        <a:buNone/>
                      </a:pPr>
                      <a:r>
                        <a:rPr lang="en-US" sz="900" dirty="0">
                          <a:solidFill>
                            <a:srgbClr val="595959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57.4%</a:t>
                      </a:r>
                      <a:endParaRPr lang="en-US" sz="9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E2E7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7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7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7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r">
                        <a:buNone/>
                      </a:pPr>
                      <a:r>
                        <a:rPr lang="en-US" sz="900" dirty="0">
                          <a:solidFill>
                            <a:srgbClr val="595959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63.9%</a:t>
                      </a:r>
                      <a:endParaRPr lang="en-US" sz="9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E2E7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7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7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7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r">
                        <a:buNone/>
                      </a:pPr>
                      <a:r>
                        <a:rPr lang="en-US" sz="900" dirty="0">
                          <a:solidFill>
                            <a:srgbClr val="595959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66.5%</a:t>
                      </a:r>
                      <a:endParaRPr lang="en-US" sz="9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E2E7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7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7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7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r">
                        <a:buNone/>
                      </a:pPr>
                      <a:r>
                        <a:rPr lang="en-US" sz="900" dirty="0">
                          <a:solidFill>
                            <a:srgbClr val="595959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62.3%</a:t>
                      </a:r>
                      <a:endParaRPr lang="en-US" sz="9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E2E7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7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7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7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r">
                        <a:buNone/>
                      </a:pPr>
                      <a:r>
                        <a:rPr lang="en-US" sz="900" b="1" dirty="0">
                          <a:solidFill>
                            <a:srgbClr val="595959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67.9%</a:t>
                      </a:r>
                      <a:endParaRPr lang="en-US" sz="9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E2E7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7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7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7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201168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900" b="1" dirty="0">
                          <a:solidFill>
                            <a:srgbClr val="26292E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ADR (฿)</a:t>
                      </a:r>
                      <a:endParaRPr lang="en-US" sz="9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E2E7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7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7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7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6FB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r">
                        <a:buNone/>
                      </a:pPr>
                      <a:r>
                        <a:rPr lang="en-US" sz="900" dirty="0">
                          <a:solidFill>
                            <a:srgbClr val="26292E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3,781</a:t>
                      </a:r>
                      <a:endParaRPr lang="en-US" sz="9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E2E7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7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7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7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6FB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r">
                        <a:buNone/>
                      </a:pPr>
                      <a:r>
                        <a:rPr lang="en-US" sz="900" dirty="0">
                          <a:solidFill>
                            <a:srgbClr val="26292E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3,755</a:t>
                      </a:r>
                      <a:endParaRPr lang="en-US" sz="9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E2E7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7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7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7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6FB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r">
                        <a:buNone/>
                      </a:pPr>
                      <a:r>
                        <a:rPr lang="en-US" sz="900" dirty="0">
                          <a:solidFill>
                            <a:srgbClr val="26292E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3,283</a:t>
                      </a:r>
                      <a:endParaRPr lang="en-US" sz="9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E2E7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7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7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7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6FB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r">
                        <a:buNone/>
                      </a:pPr>
                      <a:r>
                        <a:rPr lang="en-US" sz="900" dirty="0">
                          <a:solidFill>
                            <a:srgbClr val="26292E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3,408</a:t>
                      </a:r>
                      <a:endParaRPr lang="en-US" sz="9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E2E7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7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7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7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6FB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r">
                        <a:buNone/>
                      </a:pPr>
                      <a:r>
                        <a:rPr lang="en-US" sz="900" dirty="0">
                          <a:solidFill>
                            <a:srgbClr val="26292E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3,200</a:t>
                      </a:r>
                      <a:endParaRPr lang="en-US" sz="9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E2E7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7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7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7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6FB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r">
                        <a:buNone/>
                      </a:pPr>
                      <a:r>
                        <a:rPr lang="en-US" sz="900" dirty="0">
                          <a:solidFill>
                            <a:srgbClr val="26292E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3,331</a:t>
                      </a:r>
                      <a:endParaRPr lang="en-US" sz="9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E2E7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7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7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7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6FB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r">
                        <a:buNone/>
                      </a:pPr>
                      <a:r>
                        <a:rPr lang="en-US" sz="900" b="1" dirty="0">
                          <a:solidFill>
                            <a:srgbClr val="1E2761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3,484</a:t>
                      </a:r>
                      <a:endParaRPr lang="en-US" sz="9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E2E7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7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7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7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6FB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201168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900" b="0" dirty="0">
                          <a:solidFill>
                            <a:srgbClr val="595959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 MF Projection</a:t>
                      </a:r>
                      <a:endParaRPr lang="en-US" sz="9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E2E7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7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7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7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6FB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r">
                        <a:buNone/>
                      </a:pPr>
                      <a:r>
                        <a:rPr lang="en-US" sz="900" dirty="0">
                          <a:solidFill>
                            <a:srgbClr val="595959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3,857</a:t>
                      </a:r>
                      <a:endParaRPr lang="en-US" sz="9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E2E7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7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7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7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6FB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r">
                        <a:buNone/>
                      </a:pPr>
                      <a:r>
                        <a:rPr lang="en-US" sz="900" dirty="0">
                          <a:solidFill>
                            <a:srgbClr val="595959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3,903</a:t>
                      </a:r>
                      <a:endParaRPr lang="en-US" sz="9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E2E7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7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7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7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6FB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r">
                        <a:buNone/>
                      </a:pPr>
                      <a:r>
                        <a:rPr lang="en-US" sz="900" dirty="0">
                          <a:solidFill>
                            <a:srgbClr val="595959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3,536</a:t>
                      </a:r>
                      <a:endParaRPr lang="en-US" sz="9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E2E7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7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7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7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6FB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r">
                        <a:buNone/>
                      </a:pPr>
                      <a:r>
                        <a:rPr lang="en-US" sz="900" dirty="0">
                          <a:solidFill>
                            <a:srgbClr val="595959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3,727</a:t>
                      </a:r>
                      <a:endParaRPr lang="en-US" sz="9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E2E7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7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7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7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6FB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r">
                        <a:buNone/>
                      </a:pPr>
                      <a:r>
                        <a:rPr lang="en-US" sz="900" dirty="0">
                          <a:solidFill>
                            <a:srgbClr val="595959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3,357</a:t>
                      </a:r>
                      <a:endParaRPr lang="en-US" sz="9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E2E7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7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7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7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6FB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r">
                        <a:buNone/>
                      </a:pPr>
                      <a:r>
                        <a:rPr lang="en-US" sz="900" dirty="0">
                          <a:solidFill>
                            <a:srgbClr val="595959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3,441</a:t>
                      </a:r>
                      <a:endParaRPr lang="en-US" sz="9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E2E7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7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7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7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6FB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r">
                        <a:buNone/>
                      </a:pPr>
                      <a:r>
                        <a:rPr lang="en-US" sz="900" b="1" dirty="0">
                          <a:solidFill>
                            <a:srgbClr val="595959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3,645</a:t>
                      </a:r>
                      <a:endParaRPr lang="en-US" sz="9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E2E7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7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7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7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6FB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201168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900" b="0" dirty="0">
                          <a:solidFill>
                            <a:srgbClr val="595959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 Actual 2025</a:t>
                      </a:r>
                      <a:endParaRPr lang="en-US" sz="9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E2E7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7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7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7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6FB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r">
                        <a:buNone/>
                      </a:pPr>
                      <a:r>
                        <a:rPr lang="en-US" sz="900" dirty="0">
                          <a:solidFill>
                            <a:srgbClr val="595959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4,191</a:t>
                      </a:r>
                      <a:endParaRPr lang="en-US" sz="9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E2E7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7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7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7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6FB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r">
                        <a:buNone/>
                      </a:pPr>
                      <a:r>
                        <a:rPr lang="en-US" sz="900" dirty="0">
                          <a:solidFill>
                            <a:srgbClr val="595959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3,938</a:t>
                      </a:r>
                      <a:endParaRPr lang="en-US" sz="9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E2E7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7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7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7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6FB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r">
                        <a:buNone/>
                      </a:pPr>
                      <a:r>
                        <a:rPr lang="en-US" sz="900" dirty="0">
                          <a:solidFill>
                            <a:srgbClr val="595959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3,539</a:t>
                      </a:r>
                      <a:endParaRPr lang="en-US" sz="9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E2E7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7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7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7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6FB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r">
                        <a:buNone/>
                      </a:pPr>
                      <a:r>
                        <a:rPr lang="en-US" sz="900" dirty="0">
                          <a:solidFill>
                            <a:srgbClr val="595959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3,684</a:t>
                      </a:r>
                      <a:endParaRPr lang="en-US" sz="9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E2E7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7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7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7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6FB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r">
                        <a:buNone/>
                      </a:pPr>
                      <a:r>
                        <a:rPr lang="en-US" sz="900" dirty="0">
                          <a:solidFill>
                            <a:srgbClr val="595959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3,299</a:t>
                      </a:r>
                      <a:endParaRPr lang="en-US" sz="9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E2E7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7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7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7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6FB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r">
                        <a:buNone/>
                      </a:pPr>
                      <a:r>
                        <a:rPr lang="en-US" sz="900" dirty="0">
                          <a:solidFill>
                            <a:srgbClr val="595959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3,366</a:t>
                      </a:r>
                      <a:endParaRPr lang="en-US" sz="9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E2E7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7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7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7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6FB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r">
                        <a:buNone/>
                      </a:pPr>
                      <a:r>
                        <a:rPr lang="en-US" sz="900" b="1" dirty="0">
                          <a:solidFill>
                            <a:srgbClr val="595959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3,698</a:t>
                      </a:r>
                      <a:endParaRPr lang="en-US" sz="9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E2E7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7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7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7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6FB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201168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900" b="1" dirty="0">
                          <a:solidFill>
                            <a:srgbClr val="26292E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RevPAR (฿)</a:t>
                      </a:r>
                      <a:endParaRPr lang="en-US" sz="9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E2E7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7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7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7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r">
                        <a:buNone/>
                      </a:pPr>
                      <a:r>
                        <a:rPr lang="en-US" sz="900" dirty="0">
                          <a:solidFill>
                            <a:srgbClr val="26292E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2,847</a:t>
                      </a:r>
                      <a:endParaRPr lang="en-US" sz="9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E2E7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7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7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7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r">
                        <a:buNone/>
                      </a:pPr>
                      <a:r>
                        <a:rPr lang="en-US" sz="900" dirty="0">
                          <a:solidFill>
                            <a:srgbClr val="26292E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3,468</a:t>
                      </a:r>
                      <a:endParaRPr lang="en-US" sz="9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E2E7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7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7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7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r">
                        <a:buNone/>
                      </a:pPr>
                      <a:r>
                        <a:rPr lang="en-US" sz="900" dirty="0">
                          <a:solidFill>
                            <a:srgbClr val="26292E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2,447</a:t>
                      </a:r>
                      <a:endParaRPr lang="en-US" sz="9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E2E7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7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7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7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r">
                        <a:buNone/>
                      </a:pPr>
                      <a:r>
                        <a:rPr lang="en-US" sz="900" dirty="0">
                          <a:solidFill>
                            <a:srgbClr val="26292E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2,182</a:t>
                      </a:r>
                      <a:endParaRPr lang="en-US" sz="9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E2E7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7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7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7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r">
                        <a:buNone/>
                      </a:pPr>
                      <a:r>
                        <a:rPr lang="en-US" sz="900" dirty="0">
                          <a:solidFill>
                            <a:srgbClr val="26292E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1,861</a:t>
                      </a:r>
                      <a:endParaRPr lang="en-US" sz="9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E2E7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7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7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7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r">
                        <a:buNone/>
                      </a:pPr>
                      <a:r>
                        <a:rPr lang="en-US" sz="900" dirty="0">
                          <a:solidFill>
                            <a:srgbClr val="26292E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1,994</a:t>
                      </a:r>
                      <a:endParaRPr lang="en-US" sz="9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E2E7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7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7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7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r">
                        <a:buNone/>
                      </a:pPr>
                      <a:r>
                        <a:rPr lang="en-US" sz="900" b="1" dirty="0">
                          <a:solidFill>
                            <a:srgbClr val="1E2761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2,454</a:t>
                      </a:r>
                      <a:endParaRPr lang="en-US" sz="9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E2E7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7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7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7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201168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900" b="0" dirty="0">
                          <a:solidFill>
                            <a:srgbClr val="595959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 MF Projection</a:t>
                      </a:r>
                      <a:endParaRPr lang="en-US" sz="9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E2E7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7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7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7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r">
                        <a:buNone/>
                      </a:pPr>
                      <a:r>
                        <a:rPr lang="en-US" sz="900" dirty="0">
                          <a:solidFill>
                            <a:srgbClr val="595959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2,955</a:t>
                      </a:r>
                      <a:endParaRPr lang="en-US" sz="9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E2E7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7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7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7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r">
                        <a:buNone/>
                      </a:pPr>
                      <a:r>
                        <a:rPr lang="en-US" sz="900" dirty="0">
                          <a:solidFill>
                            <a:srgbClr val="595959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3,157</a:t>
                      </a:r>
                      <a:endParaRPr lang="en-US" sz="9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E2E7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7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7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7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r">
                        <a:buNone/>
                      </a:pPr>
                      <a:r>
                        <a:rPr lang="en-US" sz="900" dirty="0">
                          <a:solidFill>
                            <a:srgbClr val="595959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2,298</a:t>
                      </a:r>
                      <a:endParaRPr lang="en-US" sz="9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E2E7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7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7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7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r">
                        <a:buNone/>
                      </a:pPr>
                      <a:r>
                        <a:rPr lang="en-US" sz="900" dirty="0">
                          <a:solidFill>
                            <a:srgbClr val="595959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2,609</a:t>
                      </a:r>
                      <a:endParaRPr lang="en-US" sz="9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E2E7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7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7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7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r">
                        <a:buNone/>
                      </a:pPr>
                      <a:r>
                        <a:rPr lang="en-US" sz="900" dirty="0">
                          <a:solidFill>
                            <a:srgbClr val="595959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2,312</a:t>
                      </a:r>
                      <a:endParaRPr lang="en-US" sz="9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E2E7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7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7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7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r">
                        <a:buNone/>
                      </a:pPr>
                      <a:r>
                        <a:rPr lang="en-US" sz="900" dirty="0">
                          <a:solidFill>
                            <a:srgbClr val="595959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2,375</a:t>
                      </a:r>
                      <a:endParaRPr lang="en-US" sz="9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E2E7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7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7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7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r">
                        <a:buNone/>
                      </a:pPr>
                      <a:r>
                        <a:rPr lang="en-US" sz="900" b="1" dirty="0">
                          <a:solidFill>
                            <a:srgbClr val="595959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2,610</a:t>
                      </a:r>
                      <a:endParaRPr lang="en-US" sz="9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E2E7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7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7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7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201168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900" b="0" dirty="0">
                          <a:solidFill>
                            <a:srgbClr val="595959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 Actual 2025</a:t>
                      </a:r>
                      <a:endParaRPr lang="en-US" sz="9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E2E7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7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7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7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r">
                        <a:buNone/>
                      </a:pPr>
                      <a:r>
                        <a:rPr lang="en-US" sz="900" dirty="0">
                          <a:solidFill>
                            <a:srgbClr val="595959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3,408</a:t>
                      </a:r>
                      <a:endParaRPr lang="en-US" sz="9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E2E7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7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7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7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r">
                        <a:buNone/>
                      </a:pPr>
                      <a:r>
                        <a:rPr lang="en-US" sz="900" dirty="0">
                          <a:solidFill>
                            <a:srgbClr val="595959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3,007</a:t>
                      </a:r>
                      <a:endParaRPr lang="en-US" sz="9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E2E7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7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7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7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r">
                        <a:buNone/>
                      </a:pPr>
                      <a:r>
                        <a:rPr lang="en-US" sz="900" dirty="0">
                          <a:solidFill>
                            <a:srgbClr val="595959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2,031</a:t>
                      </a:r>
                      <a:endParaRPr lang="en-US" sz="9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E2E7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7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7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7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r">
                        <a:buNone/>
                      </a:pPr>
                      <a:r>
                        <a:rPr lang="en-US" sz="900" dirty="0">
                          <a:solidFill>
                            <a:srgbClr val="595959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2,352</a:t>
                      </a:r>
                      <a:endParaRPr lang="en-US" sz="9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E2E7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7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7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7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r">
                        <a:buNone/>
                      </a:pPr>
                      <a:r>
                        <a:rPr lang="en-US" sz="900" dirty="0">
                          <a:solidFill>
                            <a:srgbClr val="595959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2,193</a:t>
                      </a:r>
                      <a:endParaRPr lang="en-US" sz="9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E2E7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7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7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7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r">
                        <a:buNone/>
                      </a:pPr>
                      <a:r>
                        <a:rPr lang="en-US" sz="900" dirty="0">
                          <a:solidFill>
                            <a:srgbClr val="595959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2,097</a:t>
                      </a:r>
                      <a:endParaRPr lang="en-US" sz="9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E2E7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7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7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7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r">
                        <a:buNone/>
                      </a:pPr>
                      <a:r>
                        <a:rPr lang="en-US" sz="900" b="1" dirty="0">
                          <a:solidFill>
                            <a:srgbClr val="595959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2,510</a:t>
                      </a:r>
                      <a:endParaRPr lang="en-US" sz="9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E2E7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7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7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7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</a:tbl>
          </a:graphicData>
        </a:graphic>
      </p:graphicFrame>
      <p:sp>
        <p:nvSpPr>
          <p:cNvPr id="8" name="Shape 4"/>
          <p:cNvSpPr/>
          <p:nvPr/>
        </p:nvSpPr>
        <p:spPr>
          <a:xfrm>
            <a:off x="8092440" y="1828800"/>
            <a:ext cx="3520440" cy="1261872"/>
          </a:xfrm>
          <a:prstGeom prst="roundRect">
            <a:avLst>
              <a:gd name="adj" fmla="val 4348"/>
            </a:avLst>
          </a:prstGeom>
          <a:solidFill>
            <a:srgbClr val="F4F6FB"/>
          </a:solidFill>
          <a:ln w="9525">
            <a:solidFill>
              <a:srgbClr val="E2E7F2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9" name="Text 5"/>
          <p:cNvSpPr/>
          <p:nvPr/>
        </p:nvSpPr>
        <p:spPr>
          <a:xfrm>
            <a:off x="8238744" y="1920240"/>
            <a:ext cx="3227832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50" b="1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OCCUPANCY · YTD</a:t>
            </a:r>
            <a:endParaRPr lang="en-US" sz="1050" dirty="0"/>
          </a:p>
        </p:txBody>
      </p:sp>
      <p:sp>
        <p:nvSpPr>
          <p:cNvPr id="10" name="Text 6"/>
          <p:cNvSpPr/>
          <p:nvPr/>
        </p:nvSpPr>
        <p:spPr>
          <a:xfrm>
            <a:off x="8238744" y="2139696"/>
            <a:ext cx="3227832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400" b="1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70.4%</a:t>
            </a:r>
            <a:endParaRPr lang="en-US" sz="2400" dirty="0"/>
          </a:p>
        </p:txBody>
      </p:sp>
      <p:sp>
        <p:nvSpPr>
          <p:cNvPr id="11" name="Text 7"/>
          <p:cNvSpPr/>
          <p:nvPr/>
        </p:nvSpPr>
        <p:spPr>
          <a:xfrm>
            <a:off x="8238744" y="2596896"/>
            <a:ext cx="3227832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50" dirty="0">
                <a:solidFill>
                  <a:srgbClr val="C0392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-1.2 pts vs budget</a:t>
            </a:r>
            <a:r>
              <a:rPr lang="en-US" sz="105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· </a:t>
            </a:r>
            <a:r>
              <a:rPr lang="en-US" sz="1050" dirty="0">
                <a:solidFill>
                  <a:srgbClr val="2E7D3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+2.6 pts vs LY</a:t>
            </a:r>
            <a:endParaRPr lang="en-US" sz="1050" dirty="0"/>
          </a:p>
        </p:txBody>
      </p:sp>
      <p:sp>
        <p:nvSpPr>
          <p:cNvPr id="12" name="Shape 8"/>
          <p:cNvSpPr/>
          <p:nvPr/>
        </p:nvSpPr>
        <p:spPr>
          <a:xfrm>
            <a:off x="8092440" y="3236976"/>
            <a:ext cx="3520440" cy="1261872"/>
          </a:xfrm>
          <a:prstGeom prst="roundRect">
            <a:avLst>
              <a:gd name="adj" fmla="val 4348"/>
            </a:avLst>
          </a:prstGeom>
          <a:solidFill>
            <a:srgbClr val="F4F6FB"/>
          </a:solidFill>
          <a:ln w="9525">
            <a:solidFill>
              <a:srgbClr val="E2E7F2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3" name="Text 9"/>
          <p:cNvSpPr/>
          <p:nvPr/>
        </p:nvSpPr>
        <p:spPr>
          <a:xfrm>
            <a:off x="8238744" y="3328416"/>
            <a:ext cx="3227832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50" b="1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ADR · YTD</a:t>
            </a:r>
            <a:endParaRPr lang="en-US" sz="1050" dirty="0"/>
          </a:p>
        </p:txBody>
      </p:sp>
      <p:sp>
        <p:nvSpPr>
          <p:cNvPr id="14" name="Text 10"/>
          <p:cNvSpPr/>
          <p:nvPr/>
        </p:nvSpPr>
        <p:spPr>
          <a:xfrm>
            <a:off x="8238744" y="3547872"/>
            <a:ext cx="3227832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400" b="1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฿3,484</a:t>
            </a:r>
            <a:endParaRPr lang="en-US" sz="2400" dirty="0"/>
          </a:p>
        </p:txBody>
      </p:sp>
      <p:sp>
        <p:nvSpPr>
          <p:cNvPr id="15" name="Text 11"/>
          <p:cNvSpPr/>
          <p:nvPr/>
        </p:nvSpPr>
        <p:spPr>
          <a:xfrm>
            <a:off x="8238744" y="4005072"/>
            <a:ext cx="3227832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50" dirty="0">
                <a:solidFill>
                  <a:srgbClr val="C0392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-4.4% vs budget</a:t>
            </a:r>
            <a:r>
              <a:rPr lang="en-US" sz="105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· </a:t>
            </a:r>
            <a:r>
              <a:rPr lang="en-US" sz="1050" dirty="0">
                <a:solidFill>
                  <a:srgbClr val="C0392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-5.8% vs LY</a:t>
            </a:r>
            <a:endParaRPr lang="en-US" sz="1050" dirty="0"/>
          </a:p>
        </p:txBody>
      </p:sp>
      <p:sp>
        <p:nvSpPr>
          <p:cNvPr id="16" name="Shape 12"/>
          <p:cNvSpPr/>
          <p:nvPr/>
        </p:nvSpPr>
        <p:spPr>
          <a:xfrm>
            <a:off x="8092440" y="4645152"/>
            <a:ext cx="3520440" cy="1261872"/>
          </a:xfrm>
          <a:prstGeom prst="roundRect">
            <a:avLst>
              <a:gd name="adj" fmla="val 4348"/>
            </a:avLst>
          </a:prstGeom>
          <a:solidFill>
            <a:srgbClr val="F4F6FB"/>
          </a:solidFill>
          <a:ln w="9525">
            <a:solidFill>
              <a:srgbClr val="E2E7F2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7" name="Text 13"/>
          <p:cNvSpPr/>
          <p:nvPr/>
        </p:nvSpPr>
        <p:spPr>
          <a:xfrm>
            <a:off x="8238744" y="4736592"/>
            <a:ext cx="3227832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50" b="1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REVPAR · YTD</a:t>
            </a:r>
            <a:endParaRPr lang="en-US" sz="1050" dirty="0"/>
          </a:p>
        </p:txBody>
      </p:sp>
      <p:sp>
        <p:nvSpPr>
          <p:cNvPr id="18" name="Text 14"/>
          <p:cNvSpPr/>
          <p:nvPr/>
        </p:nvSpPr>
        <p:spPr>
          <a:xfrm>
            <a:off x="8238744" y="4956048"/>
            <a:ext cx="3227832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400" b="1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฿2,454</a:t>
            </a:r>
            <a:endParaRPr lang="en-US" sz="2400" dirty="0"/>
          </a:p>
        </p:txBody>
      </p:sp>
      <p:sp>
        <p:nvSpPr>
          <p:cNvPr id="19" name="Text 15"/>
          <p:cNvSpPr/>
          <p:nvPr/>
        </p:nvSpPr>
        <p:spPr>
          <a:xfrm>
            <a:off x="8238744" y="5413248"/>
            <a:ext cx="3227832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50" dirty="0">
                <a:solidFill>
                  <a:srgbClr val="C0392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-6.0% vs budget</a:t>
            </a:r>
            <a:r>
              <a:rPr lang="en-US" sz="105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· </a:t>
            </a:r>
            <a:r>
              <a:rPr lang="en-US" sz="1050" dirty="0">
                <a:solidFill>
                  <a:srgbClr val="C0392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-2.2% vs LY</a:t>
            </a:r>
            <a:endParaRPr lang="en-US" sz="1050" dirty="0"/>
          </a:p>
        </p:txBody>
      </p:sp>
      <p:sp>
        <p:nvSpPr>
          <p:cNvPr id="20" name="Text 16"/>
          <p:cNvSpPr/>
          <p:nvPr/>
        </p:nvSpPr>
        <p:spPr>
          <a:xfrm>
            <a:off x="548640" y="6172200"/>
            <a:ext cx="10881360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50" i="1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AES: February was exceptional (92% occupancy, well above budget); April–May fell behind budget in a softer Bangkok market.</a:t>
            </a:r>
            <a:endParaRPr lang="en-US" sz="1050" dirty="0"/>
          </a:p>
        </p:txBody>
      </p:sp>
    </p:spTree>
  </p:cSld>
  <p:clrMapOvr>
    <a:masterClrMapping/>
  </p:clrMapOvr>
</p:sld>
</file>

<file path=ppt/slides/slide3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8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292608"/>
            <a:ext cx="8229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b="1" kern="0" spc="200" dirty="0">
                <a:solidFill>
                  <a:srgbClr val="D9A44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SECTION 5 · ASCOTT EMBASSY SATHORN (AES)</a:t>
            </a:r>
            <a:endParaRPr lang="en-US" sz="1100" dirty="0"/>
          </a:p>
        </p:txBody>
      </p:sp>
      <p:sp>
        <p:nvSpPr>
          <p:cNvPr id="3" name="Text 1"/>
          <p:cNvSpPr/>
          <p:nvPr/>
        </p:nvSpPr>
        <p:spPr>
          <a:xfrm>
            <a:off x="548640" y="502920"/>
            <a:ext cx="11091672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800" b="1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Ascott Embassy Sathorn (AES) — room nights by segment</a:t>
            </a:r>
            <a:endParaRPr lang="en-US" sz="2800" dirty="0"/>
          </a:p>
        </p:txBody>
      </p:sp>
      <p:sp>
        <p:nvSpPr>
          <p:cNvPr id="4" name="Text 2"/>
          <p:cNvSpPr/>
          <p:nvPr/>
        </p:nvSpPr>
        <p:spPr>
          <a:xfrm>
            <a:off x="548640" y="1060704"/>
            <a:ext cx="11091672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5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Monthly mix 2026 (left) · YTD share (right) · table: room nights by month — 2026 vs 2025, mix and H1 change</a:t>
            </a:r>
            <a:endParaRPr lang="en-US" sz="1250" dirty="0"/>
          </a:p>
        </p:txBody>
      </p:sp>
      <p:sp>
        <p:nvSpPr>
          <p:cNvPr id="5" name="Text 3"/>
          <p:cNvSpPr/>
          <p:nvPr/>
        </p:nvSpPr>
        <p:spPr>
          <a:xfrm>
            <a:off x="8165592" y="310896"/>
            <a:ext cx="34747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90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Mitsui Thailand Portfolio · H1 2026</a:t>
            </a:r>
            <a:endParaRPr lang="en-US" sz="900" dirty="0"/>
          </a:p>
        </p:txBody>
      </p:sp>
      <p:graphicFrame>
        <p:nvGraphicFramePr>
          <p:cNvPr id="6" name="Chart 0"/>
          <p:cNvGraphicFramePr/>
          <p:nvPr/>
        </p:nvGraphicFramePr>
        <p:xfrm>
          <a:off x="548640" y="1627632"/>
          <a:ext cx="6675120" cy="1783080"/>
        </p:xfrm>
        <a:graphic>
          <a:graphicData uri="http://schemas.openxmlformats.org/drawingml/2006/chart">
            <c:chart xmlns:c="http://schemas.openxmlformats.org/drawingml/2006/chart" xmlns:r="http://schemas.openxmlformats.org/officeDocument/2006/relationships" r:id="rId3"/>
          </a:graphicData>
        </a:graphic>
      </p:graphicFrame>
      <p:graphicFrame>
        <p:nvGraphicFramePr>
          <p:cNvPr id="7" name="Chart 1"/>
          <p:cNvGraphicFramePr/>
          <p:nvPr/>
        </p:nvGraphicFramePr>
        <p:xfrm>
          <a:off x="7635240" y="1627632"/>
          <a:ext cx="4023360" cy="1783080"/>
        </p:xfrm>
        <a:graphic>
          <a:graphicData uri="http://schemas.openxmlformats.org/drawingml/2006/chart">
            <c:chart xmlns:c="http://schemas.openxmlformats.org/drawingml/2006/chart" xmlns:r="http://schemas.openxmlformats.org/officeDocument/2006/relationships" r:id="rId4"/>
          </a:graphicData>
        </a:graphic>
      </p:graphicFrame>
      <p:sp>
        <p:nvSpPr>
          <p:cNvPr id="8" name="Text 4"/>
          <p:cNvSpPr/>
          <p:nvPr/>
        </p:nvSpPr>
        <p:spPr>
          <a:xfrm>
            <a:off x="548640" y="6492240"/>
            <a:ext cx="10881360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50" i="1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Largest segment YTD: Online (34% of room nights). Gray rows = same month 2025 · Chg % = H1 2026 vs H1 2025 room nights.</a:t>
            </a:r>
            <a:endParaRPr lang="en-US" sz="1050" dirty="0"/>
          </a:p>
        </p:txBody>
      </p:sp>
      <p:graphicFrame>
        <p:nvGraphicFramePr>
          <p:cNvPr id="9" name="Table 8"/>
          <p:cNvGraphicFramePr>
            <a:graphicFrameLocks noGrp="1"/>
          </p:cNvGraphicFramePr>
          <p:nvPr/>
        </p:nvGraphicFramePr>
        <p:xfrm>
          <a:off x="548640" y="3493008"/>
          <a:ext cx="11091672" cy="2953512"/>
        </p:xfrm>
        <a:graphic>
          <a:graphicData uri="http://schemas.openxmlformats.org/drawingml/2006/table">
            <a:tbl>
              <a:tblPr>
                <a:tableStyleId>{5C22544A-7EE6-4342-B048-85BDC9FD1C3A}</a:tableStyleId>
              </a:tblPr>
              <a:tblGrid>
                <a:gridCol w="1737360"/>
                <a:gridCol w="1170432"/>
                <a:gridCol w="1170432"/>
                <a:gridCol w="1170432"/>
                <a:gridCol w="1170432"/>
                <a:gridCol w="1170432"/>
                <a:gridCol w="1170432"/>
                <a:gridCol w="960120"/>
                <a:gridCol w="640080"/>
                <a:gridCol w="731520"/>
              </a:tblGrid>
              <a:tr h="173736">
                <a:tc>
                  <a:txBody>
                    <a:bodyPr wrap="none"/>
                    <a:lstStyle/>
                    <a:p>
                      <a:pPr algn="l"/>
                      <a:r>
                        <a:rPr sz="800" b="1">
                          <a:solidFill>
                            <a:srgbClr val="FFFFFF"/>
                          </a:solidFill>
                          <a:latin typeface="Calibri"/>
                        </a:rPr>
                        <a:t>Segment</a:t>
                      </a:r>
                    </a:p>
                  </a:txBody>
                  <a:tcPr anchor="ctr" marL="27432" marR="27432" marT="4572" marB="4572">
                    <a:lnL w="6350">
                      <a:solidFill>
                        <a:srgbClr val="E2E7F2"/>
                      </a:solidFill>
                    </a:lnL>
                    <a:lnR w="6350">
                      <a:solidFill>
                        <a:srgbClr val="E2E7F2"/>
                      </a:solidFill>
                    </a:lnR>
                    <a:lnT w="6350">
                      <a:solidFill>
                        <a:srgbClr val="E2E7F2"/>
                      </a:solidFill>
                    </a:lnT>
                    <a:lnB w="6350">
                      <a:solidFill>
                        <a:srgbClr val="E2E7F2"/>
                      </a:solidFill>
                    </a:lnB>
                    <a:solidFill>
                      <a:srgbClr val="1E2761"/>
                    </a:solidFill>
                  </a:tcPr>
                </a:tc>
                <a:tc>
                  <a:txBody>
                    <a:bodyPr wrap="none"/>
                    <a:lstStyle/>
                    <a:p>
                      <a:pPr algn="r"/>
                      <a:r>
                        <a:rPr sz="800" b="1">
                          <a:solidFill>
                            <a:srgbClr val="FFFFFF"/>
                          </a:solidFill>
                          <a:latin typeface="Calibri"/>
                        </a:rPr>
                        <a:t>Jan</a:t>
                      </a:r>
                    </a:p>
                  </a:txBody>
                  <a:tcPr anchor="ctr" marL="27432" marR="27432" marT="4572" marB="4572">
                    <a:lnL w="6350">
                      <a:solidFill>
                        <a:srgbClr val="E2E7F2"/>
                      </a:solidFill>
                    </a:lnL>
                    <a:lnR w="6350">
                      <a:solidFill>
                        <a:srgbClr val="E2E7F2"/>
                      </a:solidFill>
                    </a:lnR>
                    <a:lnT w="6350">
                      <a:solidFill>
                        <a:srgbClr val="E2E7F2"/>
                      </a:solidFill>
                    </a:lnT>
                    <a:lnB w="6350">
                      <a:solidFill>
                        <a:srgbClr val="E2E7F2"/>
                      </a:solidFill>
                    </a:lnB>
                    <a:solidFill>
                      <a:srgbClr val="1E2761"/>
                    </a:solidFill>
                  </a:tcPr>
                </a:tc>
                <a:tc>
                  <a:txBody>
                    <a:bodyPr wrap="none"/>
                    <a:lstStyle/>
                    <a:p>
                      <a:pPr algn="r"/>
                      <a:r>
                        <a:rPr sz="800" b="1">
                          <a:solidFill>
                            <a:srgbClr val="FFFFFF"/>
                          </a:solidFill>
                          <a:latin typeface="Calibri"/>
                        </a:rPr>
                        <a:t>Feb</a:t>
                      </a:r>
                    </a:p>
                  </a:txBody>
                  <a:tcPr anchor="ctr" marL="27432" marR="27432" marT="4572" marB="4572">
                    <a:lnL w="6350">
                      <a:solidFill>
                        <a:srgbClr val="E2E7F2"/>
                      </a:solidFill>
                    </a:lnL>
                    <a:lnR w="6350">
                      <a:solidFill>
                        <a:srgbClr val="E2E7F2"/>
                      </a:solidFill>
                    </a:lnR>
                    <a:lnT w="6350">
                      <a:solidFill>
                        <a:srgbClr val="E2E7F2"/>
                      </a:solidFill>
                    </a:lnT>
                    <a:lnB w="6350">
                      <a:solidFill>
                        <a:srgbClr val="E2E7F2"/>
                      </a:solidFill>
                    </a:lnB>
                    <a:solidFill>
                      <a:srgbClr val="1E2761"/>
                    </a:solidFill>
                  </a:tcPr>
                </a:tc>
                <a:tc>
                  <a:txBody>
                    <a:bodyPr wrap="none"/>
                    <a:lstStyle/>
                    <a:p>
                      <a:pPr algn="r"/>
                      <a:r>
                        <a:rPr sz="800" b="1">
                          <a:solidFill>
                            <a:srgbClr val="FFFFFF"/>
                          </a:solidFill>
                          <a:latin typeface="Calibri"/>
                        </a:rPr>
                        <a:t>Mar</a:t>
                      </a:r>
                    </a:p>
                  </a:txBody>
                  <a:tcPr anchor="ctr" marL="27432" marR="27432" marT="4572" marB="4572">
                    <a:lnL w="6350">
                      <a:solidFill>
                        <a:srgbClr val="E2E7F2"/>
                      </a:solidFill>
                    </a:lnL>
                    <a:lnR w="6350">
                      <a:solidFill>
                        <a:srgbClr val="E2E7F2"/>
                      </a:solidFill>
                    </a:lnR>
                    <a:lnT w="6350">
                      <a:solidFill>
                        <a:srgbClr val="E2E7F2"/>
                      </a:solidFill>
                    </a:lnT>
                    <a:lnB w="6350">
                      <a:solidFill>
                        <a:srgbClr val="E2E7F2"/>
                      </a:solidFill>
                    </a:lnB>
                    <a:solidFill>
                      <a:srgbClr val="1E2761"/>
                    </a:solidFill>
                  </a:tcPr>
                </a:tc>
                <a:tc>
                  <a:txBody>
                    <a:bodyPr wrap="none"/>
                    <a:lstStyle/>
                    <a:p>
                      <a:pPr algn="r"/>
                      <a:r>
                        <a:rPr sz="800" b="1">
                          <a:solidFill>
                            <a:srgbClr val="FFFFFF"/>
                          </a:solidFill>
                          <a:latin typeface="Calibri"/>
                        </a:rPr>
                        <a:t>Apr</a:t>
                      </a:r>
                    </a:p>
                  </a:txBody>
                  <a:tcPr anchor="ctr" marL="27432" marR="27432" marT="4572" marB="4572">
                    <a:lnL w="6350">
                      <a:solidFill>
                        <a:srgbClr val="E2E7F2"/>
                      </a:solidFill>
                    </a:lnL>
                    <a:lnR w="6350">
                      <a:solidFill>
                        <a:srgbClr val="E2E7F2"/>
                      </a:solidFill>
                    </a:lnR>
                    <a:lnT w="6350">
                      <a:solidFill>
                        <a:srgbClr val="E2E7F2"/>
                      </a:solidFill>
                    </a:lnT>
                    <a:lnB w="6350">
                      <a:solidFill>
                        <a:srgbClr val="E2E7F2"/>
                      </a:solidFill>
                    </a:lnB>
                    <a:solidFill>
                      <a:srgbClr val="1E2761"/>
                    </a:solidFill>
                  </a:tcPr>
                </a:tc>
                <a:tc>
                  <a:txBody>
                    <a:bodyPr wrap="none"/>
                    <a:lstStyle/>
                    <a:p>
                      <a:pPr algn="r"/>
                      <a:r>
                        <a:rPr sz="800" b="1">
                          <a:solidFill>
                            <a:srgbClr val="FFFFFF"/>
                          </a:solidFill>
                          <a:latin typeface="Calibri"/>
                        </a:rPr>
                        <a:t>May</a:t>
                      </a:r>
                    </a:p>
                  </a:txBody>
                  <a:tcPr anchor="ctr" marL="27432" marR="27432" marT="4572" marB="4572">
                    <a:lnL w="6350">
                      <a:solidFill>
                        <a:srgbClr val="E2E7F2"/>
                      </a:solidFill>
                    </a:lnL>
                    <a:lnR w="6350">
                      <a:solidFill>
                        <a:srgbClr val="E2E7F2"/>
                      </a:solidFill>
                    </a:lnR>
                    <a:lnT w="6350">
                      <a:solidFill>
                        <a:srgbClr val="E2E7F2"/>
                      </a:solidFill>
                    </a:lnT>
                    <a:lnB w="6350">
                      <a:solidFill>
                        <a:srgbClr val="E2E7F2"/>
                      </a:solidFill>
                    </a:lnB>
                    <a:solidFill>
                      <a:srgbClr val="1E2761"/>
                    </a:solidFill>
                  </a:tcPr>
                </a:tc>
                <a:tc>
                  <a:txBody>
                    <a:bodyPr wrap="none"/>
                    <a:lstStyle/>
                    <a:p>
                      <a:pPr algn="r"/>
                      <a:r>
                        <a:rPr sz="800" b="1">
                          <a:solidFill>
                            <a:srgbClr val="FFFFFF"/>
                          </a:solidFill>
                          <a:latin typeface="Calibri"/>
                        </a:rPr>
                        <a:t>Jun</a:t>
                      </a:r>
                    </a:p>
                  </a:txBody>
                  <a:tcPr anchor="ctr" marL="27432" marR="27432" marT="4572" marB="4572">
                    <a:lnL w="6350">
                      <a:solidFill>
                        <a:srgbClr val="E2E7F2"/>
                      </a:solidFill>
                    </a:lnL>
                    <a:lnR w="6350">
                      <a:solidFill>
                        <a:srgbClr val="E2E7F2"/>
                      </a:solidFill>
                    </a:lnR>
                    <a:lnT w="6350">
                      <a:solidFill>
                        <a:srgbClr val="E2E7F2"/>
                      </a:solidFill>
                    </a:lnT>
                    <a:lnB w="6350">
                      <a:solidFill>
                        <a:srgbClr val="E2E7F2"/>
                      </a:solidFill>
                    </a:lnB>
                    <a:solidFill>
                      <a:srgbClr val="1E2761"/>
                    </a:solidFill>
                  </a:tcPr>
                </a:tc>
                <a:tc>
                  <a:txBody>
                    <a:bodyPr wrap="none"/>
                    <a:lstStyle/>
                    <a:p>
                      <a:pPr algn="r"/>
                      <a:r>
                        <a:rPr sz="800" b="1">
                          <a:solidFill>
                            <a:srgbClr val="FFFFFF"/>
                          </a:solidFill>
                          <a:latin typeface="Calibri"/>
                        </a:rPr>
                        <a:t>H1</a:t>
                      </a:r>
                    </a:p>
                  </a:txBody>
                  <a:tcPr anchor="ctr" marL="27432" marR="27432" marT="4572" marB="4572">
                    <a:lnL w="6350">
                      <a:solidFill>
                        <a:srgbClr val="E2E7F2"/>
                      </a:solidFill>
                    </a:lnL>
                    <a:lnR w="6350">
                      <a:solidFill>
                        <a:srgbClr val="E2E7F2"/>
                      </a:solidFill>
                    </a:lnR>
                    <a:lnT w="6350">
                      <a:solidFill>
                        <a:srgbClr val="E2E7F2"/>
                      </a:solidFill>
                    </a:lnT>
                    <a:lnB w="6350">
                      <a:solidFill>
                        <a:srgbClr val="E2E7F2"/>
                      </a:solidFill>
                    </a:lnB>
                    <a:solidFill>
                      <a:srgbClr val="1E2761"/>
                    </a:solidFill>
                  </a:tcPr>
                </a:tc>
                <a:tc>
                  <a:txBody>
                    <a:bodyPr wrap="none"/>
                    <a:lstStyle/>
                    <a:p>
                      <a:pPr algn="r"/>
                      <a:r>
                        <a:rPr sz="800" b="1">
                          <a:solidFill>
                            <a:srgbClr val="FFFFFF"/>
                          </a:solidFill>
                          <a:latin typeface="Calibri"/>
                        </a:rPr>
                        <a:t>Mix</a:t>
                      </a:r>
                    </a:p>
                  </a:txBody>
                  <a:tcPr anchor="ctr" marL="27432" marR="27432" marT="4572" marB="4572">
                    <a:lnL w="6350">
                      <a:solidFill>
                        <a:srgbClr val="E2E7F2"/>
                      </a:solidFill>
                    </a:lnL>
                    <a:lnR w="6350">
                      <a:solidFill>
                        <a:srgbClr val="E2E7F2"/>
                      </a:solidFill>
                    </a:lnR>
                    <a:lnT w="6350">
                      <a:solidFill>
                        <a:srgbClr val="E2E7F2"/>
                      </a:solidFill>
                    </a:lnT>
                    <a:lnB w="6350">
                      <a:solidFill>
                        <a:srgbClr val="E2E7F2"/>
                      </a:solidFill>
                    </a:lnB>
                    <a:solidFill>
                      <a:srgbClr val="1E2761"/>
                    </a:solidFill>
                  </a:tcPr>
                </a:tc>
                <a:tc>
                  <a:txBody>
                    <a:bodyPr wrap="none"/>
                    <a:lstStyle/>
                    <a:p>
                      <a:pPr algn="r"/>
                      <a:r>
                        <a:rPr sz="800" b="1">
                          <a:solidFill>
                            <a:srgbClr val="FFFFFF"/>
                          </a:solidFill>
                          <a:latin typeface="Calibri"/>
                        </a:rPr>
                        <a:t>Chg %</a:t>
                      </a:r>
                    </a:p>
                  </a:txBody>
                  <a:tcPr anchor="ctr" marL="27432" marR="27432" marT="4572" marB="4572">
                    <a:lnL w="6350">
                      <a:solidFill>
                        <a:srgbClr val="E2E7F2"/>
                      </a:solidFill>
                    </a:lnL>
                    <a:lnR w="6350">
                      <a:solidFill>
                        <a:srgbClr val="E2E7F2"/>
                      </a:solidFill>
                    </a:lnR>
                    <a:lnT w="6350">
                      <a:solidFill>
                        <a:srgbClr val="E2E7F2"/>
                      </a:solidFill>
                    </a:lnT>
                    <a:lnB w="6350">
                      <a:solidFill>
                        <a:srgbClr val="E2E7F2"/>
                      </a:solidFill>
                    </a:lnB>
                    <a:solidFill>
                      <a:srgbClr val="1E2761"/>
                    </a:solidFill>
                  </a:tcPr>
                </a:tc>
              </a:tr>
              <a:tr h="173736">
                <a:tc>
                  <a:txBody>
                    <a:bodyPr wrap="none"/>
                    <a:lstStyle/>
                    <a:p>
                      <a:pPr algn="l"/>
                      <a:r>
                        <a:rPr sz="800" b="1">
                          <a:solidFill>
                            <a:srgbClr val="26292E"/>
                          </a:solidFill>
                          <a:latin typeface="Calibri"/>
                        </a:rPr>
                        <a:t>Corporate SS</a:t>
                      </a:r>
                    </a:p>
                  </a:txBody>
                  <a:tcPr anchor="ctr" marL="27432" marR="27432" marT="4572" marB="4572">
                    <a:lnL w="6350">
                      <a:solidFill>
                        <a:srgbClr val="E2E7F2"/>
                      </a:solidFill>
                    </a:lnL>
                    <a:lnR w="6350">
                      <a:solidFill>
                        <a:srgbClr val="E2E7F2"/>
                      </a:solidFill>
                    </a:lnR>
                    <a:lnT w="6350">
                      <a:solidFill>
                        <a:srgbClr val="E2E7F2"/>
                      </a:solidFill>
                    </a:lnT>
                    <a:lnB w="6350">
                      <a:solidFill>
                        <a:srgbClr val="E2E7F2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wrap="none"/>
                    <a:lstStyle/>
                    <a:p>
                      <a:pPr algn="r"/>
                      <a:r>
                        <a:rPr sz="800" b="0">
                          <a:solidFill>
                            <a:srgbClr val="26292E"/>
                          </a:solidFill>
                          <a:latin typeface="Calibri"/>
                        </a:rPr>
                        <a:t>979</a:t>
                      </a:r>
                    </a:p>
                  </a:txBody>
                  <a:tcPr anchor="ctr" marL="27432" marR="27432" marT="4572" marB="4572">
                    <a:lnL w="6350">
                      <a:solidFill>
                        <a:srgbClr val="E2E7F2"/>
                      </a:solidFill>
                    </a:lnL>
                    <a:lnR w="6350">
                      <a:solidFill>
                        <a:srgbClr val="E2E7F2"/>
                      </a:solidFill>
                    </a:lnR>
                    <a:lnT w="6350">
                      <a:solidFill>
                        <a:srgbClr val="E2E7F2"/>
                      </a:solidFill>
                    </a:lnT>
                    <a:lnB w="6350">
                      <a:solidFill>
                        <a:srgbClr val="E2E7F2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wrap="none"/>
                    <a:lstStyle/>
                    <a:p>
                      <a:pPr algn="r"/>
                      <a:r>
                        <a:rPr sz="800" b="0">
                          <a:solidFill>
                            <a:srgbClr val="26292E"/>
                          </a:solidFill>
                          <a:latin typeface="Calibri"/>
                        </a:rPr>
                        <a:t>907</a:t>
                      </a:r>
                    </a:p>
                  </a:txBody>
                  <a:tcPr anchor="ctr" marL="27432" marR="27432" marT="4572" marB="4572">
                    <a:lnL w="6350">
                      <a:solidFill>
                        <a:srgbClr val="E2E7F2"/>
                      </a:solidFill>
                    </a:lnL>
                    <a:lnR w="6350">
                      <a:solidFill>
                        <a:srgbClr val="E2E7F2"/>
                      </a:solidFill>
                    </a:lnR>
                    <a:lnT w="6350">
                      <a:solidFill>
                        <a:srgbClr val="E2E7F2"/>
                      </a:solidFill>
                    </a:lnT>
                    <a:lnB w="6350">
                      <a:solidFill>
                        <a:srgbClr val="E2E7F2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wrap="none"/>
                    <a:lstStyle/>
                    <a:p>
                      <a:pPr algn="r"/>
                      <a:r>
                        <a:rPr sz="800" b="0">
                          <a:solidFill>
                            <a:srgbClr val="26292E"/>
                          </a:solidFill>
                          <a:latin typeface="Calibri"/>
                        </a:rPr>
                        <a:t>1,236</a:t>
                      </a:r>
                    </a:p>
                  </a:txBody>
                  <a:tcPr anchor="ctr" marL="27432" marR="27432" marT="4572" marB="4572">
                    <a:lnL w="6350">
                      <a:solidFill>
                        <a:srgbClr val="E2E7F2"/>
                      </a:solidFill>
                    </a:lnL>
                    <a:lnR w="6350">
                      <a:solidFill>
                        <a:srgbClr val="E2E7F2"/>
                      </a:solidFill>
                    </a:lnR>
                    <a:lnT w="6350">
                      <a:solidFill>
                        <a:srgbClr val="E2E7F2"/>
                      </a:solidFill>
                    </a:lnT>
                    <a:lnB w="6350">
                      <a:solidFill>
                        <a:srgbClr val="E2E7F2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wrap="none"/>
                    <a:lstStyle/>
                    <a:p>
                      <a:pPr algn="r"/>
                      <a:r>
                        <a:rPr sz="800" b="0">
                          <a:solidFill>
                            <a:srgbClr val="26292E"/>
                          </a:solidFill>
                          <a:latin typeface="Calibri"/>
                        </a:rPr>
                        <a:t>545</a:t>
                      </a:r>
                    </a:p>
                  </a:txBody>
                  <a:tcPr anchor="ctr" marL="27432" marR="27432" marT="4572" marB="4572">
                    <a:lnL w="6350">
                      <a:solidFill>
                        <a:srgbClr val="E2E7F2"/>
                      </a:solidFill>
                    </a:lnL>
                    <a:lnR w="6350">
                      <a:solidFill>
                        <a:srgbClr val="E2E7F2"/>
                      </a:solidFill>
                    </a:lnR>
                    <a:lnT w="6350">
                      <a:solidFill>
                        <a:srgbClr val="E2E7F2"/>
                      </a:solidFill>
                    </a:lnT>
                    <a:lnB w="6350">
                      <a:solidFill>
                        <a:srgbClr val="E2E7F2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wrap="none"/>
                    <a:lstStyle/>
                    <a:p>
                      <a:pPr algn="r"/>
                      <a:r>
                        <a:rPr sz="800" b="0">
                          <a:solidFill>
                            <a:srgbClr val="26292E"/>
                          </a:solidFill>
                          <a:latin typeface="Calibri"/>
                        </a:rPr>
                        <a:t>768</a:t>
                      </a:r>
                    </a:p>
                  </a:txBody>
                  <a:tcPr anchor="ctr" marL="27432" marR="27432" marT="4572" marB="4572">
                    <a:lnL w="6350">
                      <a:solidFill>
                        <a:srgbClr val="E2E7F2"/>
                      </a:solidFill>
                    </a:lnL>
                    <a:lnR w="6350">
                      <a:solidFill>
                        <a:srgbClr val="E2E7F2"/>
                      </a:solidFill>
                    </a:lnR>
                    <a:lnT w="6350">
                      <a:solidFill>
                        <a:srgbClr val="E2E7F2"/>
                      </a:solidFill>
                    </a:lnT>
                    <a:lnB w="6350">
                      <a:solidFill>
                        <a:srgbClr val="E2E7F2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wrap="none"/>
                    <a:lstStyle/>
                    <a:p>
                      <a:pPr algn="r"/>
                      <a:r>
                        <a:rPr sz="800" b="0">
                          <a:solidFill>
                            <a:srgbClr val="26292E"/>
                          </a:solidFill>
                          <a:latin typeface="Calibri"/>
                        </a:rPr>
                        <a:t>752</a:t>
                      </a:r>
                    </a:p>
                  </a:txBody>
                  <a:tcPr anchor="ctr" marL="27432" marR="27432" marT="4572" marB="4572">
                    <a:lnL w="6350">
                      <a:solidFill>
                        <a:srgbClr val="E2E7F2"/>
                      </a:solidFill>
                    </a:lnL>
                    <a:lnR w="6350">
                      <a:solidFill>
                        <a:srgbClr val="E2E7F2"/>
                      </a:solidFill>
                    </a:lnR>
                    <a:lnT w="6350">
                      <a:solidFill>
                        <a:srgbClr val="E2E7F2"/>
                      </a:solidFill>
                    </a:lnT>
                    <a:lnB w="6350">
                      <a:solidFill>
                        <a:srgbClr val="E2E7F2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wrap="none"/>
                    <a:lstStyle/>
                    <a:p>
                      <a:pPr algn="r"/>
                      <a:r>
                        <a:rPr sz="800" b="1">
                          <a:solidFill>
                            <a:srgbClr val="26292E"/>
                          </a:solidFill>
                          <a:latin typeface="Calibri"/>
                        </a:rPr>
                        <a:t>5,187</a:t>
                      </a:r>
                    </a:p>
                  </a:txBody>
                  <a:tcPr anchor="ctr" marL="27432" marR="27432" marT="4572" marB="4572">
                    <a:lnL w="6350">
                      <a:solidFill>
                        <a:srgbClr val="E2E7F2"/>
                      </a:solidFill>
                    </a:lnL>
                    <a:lnR w="6350">
                      <a:solidFill>
                        <a:srgbClr val="E2E7F2"/>
                      </a:solidFill>
                    </a:lnR>
                    <a:lnT w="6350">
                      <a:solidFill>
                        <a:srgbClr val="E2E7F2"/>
                      </a:solidFill>
                    </a:lnT>
                    <a:lnB w="6350">
                      <a:solidFill>
                        <a:srgbClr val="E2E7F2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wrap="none"/>
                    <a:lstStyle/>
                    <a:p>
                      <a:pPr algn="r"/>
                      <a:r>
                        <a:rPr sz="800" b="0">
                          <a:solidFill>
                            <a:srgbClr val="26292E"/>
                          </a:solidFill>
                          <a:latin typeface="Calibri"/>
                        </a:rPr>
                        <a:t>10%</a:t>
                      </a:r>
                    </a:p>
                  </a:txBody>
                  <a:tcPr anchor="ctr" marL="27432" marR="27432" marT="4572" marB="4572">
                    <a:lnL w="6350">
                      <a:solidFill>
                        <a:srgbClr val="E2E7F2"/>
                      </a:solidFill>
                    </a:lnL>
                    <a:lnR w="6350">
                      <a:solidFill>
                        <a:srgbClr val="E2E7F2"/>
                      </a:solidFill>
                    </a:lnR>
                    <a:lnT w="6350">
                      <a:solidFill>
                        <a:srgbClr val="E2E7F2"/>
                      </a:solidFill>
                    </a:lnT>
                    <a:lnB w="6350">
                      <a:solidFill>
                        <a:srgbClr val="E2E7F2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wrap="none"/>
                    <a:lstStyle/>
                    <a:p>
                      <a:pPr algn="r"/>
                      <a:r>
                        <a:rPr sz="800" b="1">
                          <a:solidFill>
                            <a:srgbClr val="1E7B34"/>
                          </a:solidFill>
                          <a:latin typeface="Calibri"/>
                        </a:rPr>
                        <a:t>+46%</a:t>
                      </a:r>
                    </a:p>
                  </a:txBody>
                  <a:tcPr anchor="ctr" marL="27432" marR="27432" marT="4572" marB="4572">
                    <a:lnL w="6350">
                      <a:solidFill>
                        <a:srgbClr val="E2E7F2"/>
                      </a:solidFill>
                    </a:lnL>
                    <a:lnR w="6350">
                      <a:solidFill>
                        <a:srgbClr val="E2E7F2"/>
                      </a:solidFill>
                    </a:lnR>
                    <a:lnT w="6350">
                      <a:solidFill>
                        <a:srgbClr val="E2E7F2"/>
                      </a:solidFill>
                    </a:lnT>
                    <a:lnB w="6350">
                      <a:solidFill>
                        <a:srgbClr val="E2E7F2"/>
                      </a:solidFill>
                    </a:lnB>
                    <a:solidFill>
                      <a:srgbClr val="FFFFFF"/>
                    </a:solidFill>
                  </a:tcPr>
                </a:tc>
              </a:tr>
              <a:tr h="173736">
                <a:tc>
                  <a:txBody>
                    <a:bodyPr wrap="none"/>
                    <a:lstStyle/>
                    <a:p>
                      <a:pPr algn="l"/>
                      <a:r>
                        <a:rPr sz="800" b="0">
                          <a:solidFill>
                            <a:srgbClr val="595959"/>
                          </a:solidFill>
                          <a:latin typeface="Calibri"/>
                        </a:rPr>
                        <a:t>   ’25</a:t>
                      </a:r>
                    </a:p>
                  </a:txBody>
                  <a:tcPr anchor="ctr" marL="27432" marR="27432" marT="4572" marB="4572">
                    <a:lnL w="6350">
                      <a:solidFill>
                        <a:srgbClr val="E2E7F2"/>
                      </a:solidFill>
                    </a:lnL>
                    <a:lnR w="6350">
                      <a:solidFill>
                        <a:srgbClr val="E2E7F2"/>
                      </a:solidFill>
                    </a:lnR>
                    <a:lnT w="6350">
                      <a:solidFill>
                        <a:srgbClr val="E2E7F2"/>
                      </a:solidFill>
                    </a:lnT>
                    <a:lnB w="6350">
                      <a:solidFill>
                        <a:srgbClr val="E2E7F2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wrap="none"/>
                    <a:lstStyle/>
                    <a:p>
                      <a:pPr algn="r"/>
                      <a:r>
                        <a:rPr sz="800" b="0">
                          <a:solidFill>
                            <a:srgbClr val="595959"/>
                          </a:solidFill>
                          <a:latin typeface="Calibri"/>
                        </a:rPr>
                        <a:t>572</a:t>
                      </a:r>
                    </a:p>
                  </a:txBody>
                  <a:tcPr anchor="ctr" marL="27432" marR="27432" marT="4572" marB="4572">
                    <a:lnL w="6350">
                      <a:solidFill>
                        <a:srgbClr val="E2E7F2"/>
                      </a:solidFill>
                    </a:lnL>
                    <a:lnR w="6350">
                      <a:solidFill>
                        <a:srgbClr val="E2E7F2"/>
                      </a:solidFill>
                    </a:lnR>
                    <a:lnT w="6350">
                      <a:solidFill>
                        <a:srgbClr val="E2E7F2"/>
                      </a:solidFill>
                    </a:lnT>
                    <a:lnB w="6350">
                      <a:solidFill>
                        <a:srgbClr val="E2E7F2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wrap="none"/>
                    <a:lstStyle/>
                    <a:p>
                      <a:pPr algn="r"/>
                      <a:r>
                        <a:rPr sz="800" b="0">
                          <a:solidFill>
                            <a:srgbClr val="595959"/>
                          </a:solidFill>
                          <a:latin typeface="Calibri"/>
                        </a:rPr>
                        <a:t>686</a:t>
                      </a:r>
                    </a:p>
                  </a:txBody>
                  <a:tcPr anchor="ctr" marL="27432" marR="27432" marT="4572" marB="4572">
                    <a:lnL w="6350">
                      <a:solidFill>
                        <a:srgbClr val="E2E7F2"/>
                      </a:solidFill>
                    </a:lnL>
                    <a:lnR w="6350">
                      <a:solidFill>
                        <a:srgbClr val="E2E7F2"/>
                      </a:solidFill>
                    </a:lnR>
                    <a:lnT w="6350">
                      <a:solidFill>
                        <a:srgbClr val="E2E7F2"/>
                      </a:solidFill>
                    </a:lnT>
                    <a:lnB w="6350">
                      <a:solidFill>
                        <a:srgbClr val="E2E7F2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wrap="none"/>
                    <a:lstStyle/>
                    <a:p>
                      <a:pPr algn="r"/>
                      <a:r>
                        <a:rPr sz="800" b="0">
                          <a:solidFill>
                            <a:srgbClr val="595959"/>
                          </a:solidFill>
                          <a:latin typeface="Calibri"/>
                        </a:rPr>
                        <a:t>546</a:t>
                      </a:r>
                    </a:p>
                  </a:txBody>
                  <a:tcPr anchor="ctr" marL="27432" marR="27432" marT="4572" marB="4572">
                    <a:lnL w="6350">
                      <a:solidFill>
                        <a:srgbClr val="E2E7F2"/>
                      </a:solidFill>
                    </a:lnL>
                    <a:lnR w="6350">
                      <a:solidFill>
                        <a:srgbClr val="E2E7F2"/>
                      </a:solidFill>
                    </a:lnR>
                    <a:lnT w="6350">
                      <a:solidFill>
                        <a:srgbClr val="E2E7F2"/>
                      </a:solidFill>
                    </a:lnT>
                    <a:lnB w="6350">
                      <a:solidFill>
                        <a:srgbClr val="E2E7F2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wrap="none"/>
                    <a:lstStyle/>
                    <a:p>
                      <a:pPr algn="r"/>
                      <a:r>
                        <a:rPr sz="800" b="0">
                          <a:solidFill>
                            <a:srgbClr val="595959"/>
                          </a:solidFill>
                          <a:latin typeface="Calibri"/>
                        </a:rPr>
                        <a:t>516</a:t>
                      </a:r>
                    </a:p>
                  </a:txBody>
                  <a:tcPr anchor="ctr" marL="27432" marR="27432" marT="4572" marB="4572">
                    <a:lnL w="6350">
                      <a:solidFill>
                        <a:srgbClr val="E2E7F2"/>
                      </a:solidFill>
                    </a:lnL>
                    <a:lnR w="6350">
                      <a:solidFill>
                        <a:srgbClr val="E2E7F2"/>
                      </a:solidFill>
                    </a:lnR>
                    <a:lnT w="6350">
                      <a:solidFill>
                        <a:srgbClr val="E2E7F2"/>
                      </a:solidFill>
                    </a:lnT>
                    <a:lnB w="6350">
                      <a:solidFill>
                        <a:srgbClr val="E2E7F2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wrap="none"/>
                    <a:lstStyle/>
                    <a:p>
                      <a:pPr algn="r"/>
                      <a:r>
                        <a:rPr sz="800" b="0">
                          <a:solidFill>
                            <a:srgbClr val="595959"/>
                          </a:solidFill>
                          <a:latin typeface="Calibri"/>
                        </a:rPr>
                        <a:t>671</a:t>
                      </a:r>
                    </a:p>
                  </a:txBody>
                  <a:tcPr anchor="ctr" marL="27432" marR="27432" marT="4572" marB="4572">
                    <a:lnL w="6350">
                      <a:solidFill>
                        <a:srgbClr val="E2E7F2"/>
                      </a:solidFill>
                    </a:lnL>
                    <a:lnR w="6350">
                      <a:solidFill>
                        <a:srgbClr val="E2E7F2"/>
                      </a:solidFill>
                    </a:lnR>
                    <a:lnT w="6350">
                      <a:solidFill>
                        <a:srgbClr val="E2E7F2"/>
                      </a:solidFill>
                    </a:lnT>
                    <a:lnB w="6350">
                      <a:solidFill>
                        <a:srgbClr val="E2E7F2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wrap="none"/>
                    <a:lstStyle/>
                    <a:p>
                      <a:pPr algn="r"/>
                      <a:r>
                        <a:rPr sz="800" b="0">
                          <a:solidFill>
                            <a:srgbClr val="595959"/>
                          </a:solidFill>
                          <a:latin typeface="Calibri"/>
                        </a:rPr>
                        <a:t>554</a:t>
                      </a:r>
                    </a:p>
                  </a:txBody>
                  <a:tcPr anchor="ctr" marL="27432" marR="27432" marT="4572" marB="4572">
                    <a:lnL w="6350">
                      <a:solidFill>
                        <a:srgbClr val="E2E7F2"/>
                      </a:solidFill>
                    </a:lnL>
                    <a:lnR w="6350">
                      <a:solidFill>
                        <a:srgbClr val="E2E7F2"/>
                      </a:solidFill>
                    </a:lnR>
                    <a:lnT w="6350">
                      <a:solidFill>
                        <a:srgbClr val="E2E7F2"/>
                      </a:solidFill>
                    </a:lnT>
                    <a:lnB w="6350">
                      <a:solidFill>
                        <a:srgbClr val="E2E7F2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wrap="none"/>
                    <a:lstStyle/>
                    <a:p>
                      <a:pPr algn="r"/>
                      <a:r>
                        <a:rPr sz="800" b="0">
                          <a:solidFill>
                            <a:srgbClr val="595959"/>
                          </a:solidFill>
                          <a:latin typeface="Calibri"/>
                        </a:rPr>
                        <a:t>3,545</a:t>
                      </a:r>
                    </a:p>
                  </a:txBody>
                  <a:tcPr anchor="ctr" marL="27432" marR="27432" marT="4572" marB="4572">
                    <a:lnL w="6350">
                      <a:solidFill>
                        <a:srgbClr val="E2E7F2"/>
                      </a:solidFill>
                    </a:lnL>
                    <a:lnR w="6350">
                      <a:solidFill>
                        <a:srgbClr val="E2E7F2"/>
                      </a:solidFill>
                    </a:lnR>
                    <a:lnT w="6350">
                      <a:solidFill>
                        <a:srgbClr val="E2E7F2"/>
                      </a:solidFill>
                    </a:lnT>
                    <a:lnB w="6350">
                      <a:solidFill>
                        <a:srgbClr val="E2E7F2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wrap="none"/>
                    <a:lstStyle/>
                    <a:p>
                      <a:pPr algn="r"/>
                      <a:r>
                        <a:rPr sz="800" b="0">
                          <a:solidFill>
                            <a:srgbClr val="595959"/>
                          </a:solidFill>
                          <a:latin typeface="Calibri"/>
                        </a:rPr>
                        <a:t>7%</a:t>
                      </a:r>
                    </a:p>
                  </a:txBody>
                  <a:tcPr anchor="ctr" marL="27432" marR="27432" marT="4572" marB="4572">
                    <a:lnL w="6350">
                      <a:solidFill>
                        <a:srgbClr val="E2E7F2"/>
                      </a:solidFill>
                    </a:lnL>
                    <a:lnR w="6350">
                      <a:solidFill>
                        <a:srgbClr val="E2E7F2"/>
                      </a:solidFill>
                    </a:lnR>
                    <a:lnT w="6350">
                      <a:solidFill>
                        <a:srgbClr val="E2E7F2"/>
                      </a:solidFill>
                    </a:lnT>
                    <a:lnB w="6350">
                      <a:solidFill>
                        <a:srgbClr val="E2E7F2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wrap="none"/>
                    <a:lstStyle/>
                    <a:p>
                      <a:pPr algn="l"/>
                      <a:r>
                        <a:rPr sz="800" b="0">
                          <a:solidFill>
                            <a:srgbClr val="26292E"/>
                          </a:solidFill>
                          <a:latin typeface="Calibri"/>
                        </a:rPr>
                        <a:t/>
                      </a:r>
                    </a:p>
                  </a:txBody>
                  <a:tcPr anchor="ctr" marL="27432" marR="27432" marT="4572" marB="4572">
                    <a:lnL w="6350">
                      <a:solidFill>
                        <a:srgbClr val="E2E7F2"/>
                      </a:solidFill>
                    </a:lnL>
                    <a:lnR w="6350">
                      <a:solidFill>
                        <a:srgbClr val="E2E7F2"/>
                      </a:solidFill>
                    </a:lnR>
                    <a:lnT w="6350">
                      <a:solidFill>
                        <a:srgbClr val="E2E7F2"/>
                      </a:solidFill>
                    </a:lnT>
                    <a:lnB w="6350">
                      <a:solidFill>
                        <a:srgbClr val="E2E7F2"/>
                      </a:solidFill>
                    </a:lnB>
                    <a:solidFill>
                      <a:srgbClr val="FFFFFF"/>
                    </a:solidFill>
                  </a:tcPr>
                </a:tc>
              </a:tr>
              <a:tr h="173736">
                <a:tc>
                  <a:txBody>
                    <a:bodyPr wrap="none"/>
                    <a:lstStyle/>
                    <a:p>
                      <a:pPr algn="l"/>
                      <a:r>
                        <a:rPr sz="800" b="1">
                          <a:solidFill>
                            <a:srgbClr val="26292E"/>
                          </a:solidFill>
                          <a:latin typeface="Calibri"/>
                        </a:rPr>
                        <a:t>Corporate LS</a:t>
                      </a:r>
                    </a:p>
                  </a:txBody>
                  <a:tcPr anchor="ctr" marL="27432" marR="27432" marT="4572" marB="4572">
                    <a:lnL w="6350">
                      <a:solidFill>
                        <a:srgbClr val="E2E7F2"/>
                      </a:solidFill>
                    </a:lnL>
                    <a:lnR w="6350">
                      <a:solidFill>
                        <a:srgbClr val="E2E7F2"/>
                      </a:solidFill>
                    </a:lnR>
                    <a:lnT w="6350">
                      <a:solidFill>
                        <a:srgbClr val="E2E7F2"/>
                      </a:solidFill>
                    </a:lnT>
                    <a:lnB w="6350">
                      <a:solidFill>
                        <a:srgbClr val="E2E7F2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wrap="none"/>
                    <a:lstStyle/>
                    <a:p>
                      <a:pPr algn="r"/>
                      <a:r>
                        <a:rPr sz="800" b="0">
                          <a:solidFill>
                            <a:srgbClr val="26292E"/>
                          </a:solidFill>
                          <a:latin typeface="Calibri"/>
                        </a:rPr>
                        <a:t>2,388</a:t>
                      </a:r>
                    </a:p>
                  </a:txBody>
                  <a:tcPr anchor="ctr" marL="27432" marR="27432" marT="4572" marB="4572">
                    <a:lnL w="6350">
                      <a:solidFill>
                        <a:srgbClr val="E2E7F2"/>
                      </a:solidFill>
                    </a:lnL>
                    <a:lnR w="6350">
                      <a:solidFill>
                        <a:srgbClr val="E2E7F2"/>
                      </a:solidFill>
                    </a:lnR>
                    <a:lnT w="6350">
                      <a:solidFill>
                        <a:srgbClr val="E2E7F2"/>
                      </a:solidFill>
                    </a:lnT>
                    <a:lnB w="6350">
                      <a:solidFill>
                        <a:srgbClr val="E2E7F2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wrap="none"/>
                    <a:lstStyle/>
                    <a:p>
                      <a:pPr algn="r"/>
                      <a:r>
                        <a:rPr sz="800" b="0">
                          <a:solidFill>
                            <a:srgbClr val="26292E"/>
                          </a:solidFill>
                          <a:latin typeface="Calibri"/>
                        </a:rPr>
                        <a:t>2,430</a:t>
                      </a:r>
                    </a:p>
                  </a:txBody>
                  <a:tcPr anchor="ctr" marL="27432" marR="27432" marT="4572" marB="4572">
                    <a:lnL w="6350">
                      <a:solidFill>
                        <a:srgbClr val="E2E7F2"/>
                      </a:solidFill>
                    </a:lnL>
                    <a:lnR w="6350">
                      <a:solidFill>
                        <a:srgbClr val="E2E7F2"/>
                      </a:solidFill>
                    </a:lnR>
                    <a:lnT w="6350">
                      <a:solidFill>
                        <a:srgbClr val="E2E7F2"/>
                      </a:solidFill>
                    </a:lnT>
                    <a:lnB w="6350">
                      <a:solidFill>
                        <a:srgbClr val="E2E7F2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wrap="none"/>
                    <a:lstStyle/>
                    <a:p>
                      <a:pPr algn="r"/>
                      <a:r>
                        <a:rPr sz="800" b="0">
                          <a:solidFill>
                            <a:srgbClr val="26292E"/>
                          </a:solidFill>
                          <a:latin typeface="Calibri"/>
                        </a:rPr>
                        <a:t>2,676</a:t>
                      </a:r>
                    </a:p>
                  </a:txBody>
                  <a:tcPr anchor="ctr" marL="27432" marR="27432" marT="4572" marB="4572">
                    <a:lnL w="6350">
                      <a:solidFill>
                        <a:srgbClr val="E2E7F2"/>
                      </a:solidFill>
                    </a:lnL>
                    <a:lnR w="6350">
                      <a:solidFill>
                        <a:srgbClr val="E2E7F2"/>
                      </a:solidFill>
                    </a:lnR>
                    <a:lnT w="6350">
                      <a:solidFill>
                        <a:srgbClr val="E2E7F2"/>
                      </a:solidFill>
                    </a:lnT>
                    <a:lnB w="6350">
                      <a:solidFill>
                        <a:srgbClr val="E2E7F2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wrap="none"/>
                    <a:lstStyle/>
                    <a:p>
                      <a:pPr algn="r"/>
                      <a:r>
                        <a:rPr sz="800" b="0">
                          <a:solidFill>
                            <a:srgbClr val="26292E"/>
                          </a:solidFill>
                          <a:latin typeface="Calibri"/>
                        </a:rPr>
                        <a:t>1,683</a:t>
                      </a:r>
                    </a:p>
                  </a:txBody>
                  <a:tcPr anchor="ctr" marL="27432" marR="27432" marT="4572" marB="4572">
                    <a:lnL w="6350">
                      <a:solidFill>
                        <a:srgbClr val="E2E7F2"/>
                      </a:solidFill>
                    </a:lnL>
                    <a:lnR w="6350">
                      <a:solidFill>
                        <a:srgbClr val="E2E7F2"/>
                      </a:solidFill>
                    </a:lnR>
                    <a:lnT w="6350">
                      <a:solidFill>
                        <a:srgbClr val="E2E7F2"/>
                      </a:solidFill>
                    </a:lnT>
                    <a:lnB w="6350">
                      <a:solidFill>
                        <a:srgbClr val="E2E7F2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wrap="none"/>
                    <a:lstStyle/>
                    <a:p>
                      <a:pPr algn="r"/>
                      <a:r>
                        <a:rPr sz="800" b="0">
                          <a:solidFill>
                            <a:srgbClr val="26292E"/>
                          </a:solidFill>
                          <a:latin typeface="Calibri"/>
                        </a:rPr>
                        <a:t>2,075</a:t>
                      </a:r>
                    </a:p>
                  </a:txBody>
                  <a:tcPr anchor="ctr" marL="27432" marR="27432" marT="4572" marB="4572">
                    <a:lnL w="6350">
                      <a:solidFill>
                        <a:srgbClr val="E2E7F2"/>
                      </a:solidFill>
                    </a:lnL>
                    <a:lnR w="6350">
                      <a:solidFill>
                        <a:srgbClr val="E2E7F2"/>
                      </a:solidFill>
                    </a:lnR>
                    <a:lnT w="6350">
                      <a:solidFill>
                        <a:srgbClr val="E2E7F2"/>
                      </a:solidFill>
                    </a:lnT>
                    <a:lnB w="6350">
                      <a:solidFill>
                        <a:srgbClr val="E2E7F2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wrap="none"/>
                    <a:lstStyle/>
                    <a:p>
                      <a:pPr algn="r"/>
                      <a:r>
                        <a:rPr sz="800" b="0">
                          <a:solidFill>
                            <a:srgbClr val="26292E"/>
                          </a:solidFill>
                          <a:latin typeface="Calibri"/>
                        </a:rPr>
                        <a:t>1,844</a:t>
                      </a:r>
                    </a:p>
                  </a:txBody>
                  <a:tcPr anchor="ctr" marL="27432" marR="27432" marT="4572" marB="4572">
                    <a:lnL w="6350">
                      <a:solidFill>
                        <a:srgbClr val="E2E7F2"/>
                      </a:solidFill>
                    </a:lnL>
                    <a:lnR w="6350">
                      <a:solidFill>
                        <a:srgbClr val="E2E7F2"/>
                      </a:solidFill>
                    </a:lnR>
                    <a:lnT w="6350">
                      <a:solidFill>
                        <a:srgbClr val="E2E7F2"/>
                      </a:solidFill>
                    </a:lnT>
                    <a:lnB w="6350">
                      <a:solidFill>
                        <a:srgbClr val="E2E7F2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wrap="none"/>
                    <a:lstStyle/>
                    <a:p>
                      <a:pPr algn="r"/>
                      <a:r>
                        <a:rPr sz="800" b="1">
                          <a:solidFill>
                            <a:srgbClr val="26292E"/>
                          </a:solidFill>
                          <a:latin typeface="Calibri"/>
                        </a:rPr>
                        <a:t>13,096</a:t>
                      </a:r>
                    </a:p>
                  </a:txBody>
                  <a:tcPr anchor="ctr" marL="27432" marR="27432" marT="4572" marB="4572">
                    <a:lnL w="6350">
                      <a:solidFill>
                        <a:srgbClr val="E2E7F2"/>
                      </a:solidFill>
                    </a:lnL>
                    <a:lnR w="6350">
                      <a:solidFill>
                        <a:srgbClr val="E2E7F2"/>
                      </a:solidFill>
                    </a:lnR>
                    <a:lnT w="6350">
                      <a:solidFill>
                        <a:srgbClr val="E2E7F2"/>
                      </a:solidFill>
                    </a:lnT>
                    <a:lnB w="6350">
                      <a:solidFill>
                        <a:srgbClr val="E2E7F2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wrap="none"/>
                    <a:lstStyle/>
                    <a:p>
                      <a:pPr algn="r"/>
                      <a:r>
                        <a:rPr sz="800" b="0">
                          <a:solidFill>
                            <a:srgbClr val="26292E"/>
                          </a:solidFill>
                          <a:latin typeface="Calibri"/>
                        </a:rPr>
                        <a:t>26%</a:t>
                      </a:r>
                    </a:p>
                  </a:txBody>
                  <a:tcPr anchor="ctr" marL="27432" marR="27432" marT="4572" marB="4572">
                    <a:lnL w="6350">
                      <a:solidFill>
                        <a:srgbClr val="E2E7F2"/>
                      </a:solidFill>
                    </a:lnL>
                    <a:lnR w="6350">
                      <a:solidFill>
                        <a:srgbClr val="E2E7F2"/>
                      </a:solidFill>
                    </a:lnR>
                    <a:lnT w="6350">
                      <a:solidFill>
                        <a:srgbClr val="E2E7F2"/>
                      </a:solidFill>
                    </a:lnT>
                    <a:lnB w="6350">
                      <a:solidFill>
                        <a:srgbClr val="E2E7F2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wrap="none"/>
                    <a:lstStyle/>
                    <a:p>
                      <a:pPr algn="r"/>
                      <a:r>
                        <a:rPr sz="800" b="1">
                          <a:solidFill>
                            <a:srgbClr val="1E7B34"/>
                          </a:solidFill>
                          <a:latin typeface="Calibri"/>
                        </a:rPr>
                        <a:t>+35%</a:t>
                      </a:r>
                    </a:p>
                  </a:txBody>
                  <a:tcPr anchor="ctr" marL="27432" marR="27432" marT="4572" marB="4572">
                    <a:lnL w="6350">
                      <a:solidFill>
                        <a:srgbClr val="E2E7F2"/>
                      </a:solidFill>
                    </a:lnL>
                    <a:lnR w="6350">
                      <a:solidFill>
                        <a:srgbClr val="E2E7F2"/>
                      </a:solidFill>
                    </a:lnR>
                    <a:lnT w="6350">
                      <a:solidFill>
                        <a:srgbClr val="E2E7F2"/>
                      </a:solidFill>
                    </a:lnT>
                    <a:lnB w="6350">
                      <a:solidFill>
                        <a:srgbClr val="E2E7F2"/>
                      </a:solidFill>
                    </a:lnB>
                    <a:solidFill>
                      <a:srgbClr val="FFFFFF"/>
                    </a:solidFill>
                  </a:tcPr>
                </a:tc>
              </a:tr>
              <a:tr h="173736">
                <a:tc>
                  <a:txBody>
                    <a:bodyPr wrap="none"/>
                    <a:lstStyle/>
                    <a:p>
                      <a:pPr algn="l"/>
                      <a:r>
                        <a:rPr sz="800" b="0">
                          <a:solidFill>
                            <a:srgbClr val="595959"/>
                          </a:solidFill>
                          <a:latin typeface="Calibri"/>
                        </a:rPr>
                        <a:t>   ’25</a:t>
                      </a:r>
                    </a:p>
                  </a:txBody>
                  <a:tcPr anchor="ctr" marL="27432" marR="27432" marT="4572" marB="4572">
                    <a:lnL w="6350">
                      <a:solidFill>
                        <a:srgbClr val="E2E7F2"/>
                      </a:solidFill>
                    </a:lnL>
                    <a:lnR w="6350">
                      <a:solidFill>
                        <a:srgbClr val="E2E7F2"/>
                      </a:solidFill>
                    </a:lnR>
                    <a:lnT w="6350">
                      <a:solidFill>
                        <a:srgbClr val="E2E7F2"/>
                      </a:solidFill>
                    </a:lnT>
                    <a:lnB w="6350">
                      <a:solidFill>
                        <a:srgbClr val="E2E7F2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wrap="none"/>
                    <a:lstStyle/>
                    <a:p>
                      <a:pPr algn="r"/>
                      <a:r>
                        <a:rPr sz="800" b="0">
                          <a:solidFill>
                            <a:srgbClr val="595959"/>
                          </a:solidFill>
                          <a:latin typeface="Calibri"/>
                        </a:rPr>
                        <a:t>1,863</a:t>
                      </a:r>
                    </a:p>
                  </a:txBody>
                  <a:tcPr anchor="ctr" marL="27432" marR="27432" marT="4572" marB="4572">
                    <a:lnL w="6350">
                      <a:solidFill>
                        <a:srgbClr val="E2E7F2"/>
                      </a:solidFill>
                    </a:lnL>
                    <a:lnR w="6350">
                      <a:solidFill>
                        <a:srgbClr val="E2E7F2"/>
                      </a:solidFill>
                    </a:lnR>
                    <a:lnT w="6350">
                      <a:solidFill>
                        <a:srgbClr val="E2E7F2"/>
                      </a:solidFill>
                    </a:lnT>
                    <a:lnB w="6350">
                      <a:solidFill>
                        <a:srgbClr val="E2E7F2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wrap="none"/>
                    <a:lstStyle/>
                    <a:p>
                      <a:pPr algn="r"/>
                      <a:r>
                        <a:rPr sz="800" b="0">
                          <a:solidFill>
                            <a:srgbClr val="595959"/>
                          </a:solidFill>
                          <a:latin typeface="Calibri"/>
                        </a:rPr>
                        <a:t>1,440</a:t>
                      </a:r>
                    </a:p>
                  </a:txBody>
                  <a:tcPr anchor="ctr" marL="27432" marR="27432" marT="4572" marB="4572">
                    <a:lnL w="6350">
                      <a:solidFill>
                        <a:srgbClr val="E2E7F2"/>
                      </a:solidFill>
                    </a:lnL>
                    <a:lnR w="6350">
                      <a:solidFill>
                        <a:srgbClr val="E2E7F2"/>
                      </a:solidFill>
                    </a:lnR>
                    <a:lnT w="6350">
                      <a:solidFill>
                        <a:srgbClr val="E2E7F2"/>
                      </a:solidFill>
                    </a:lnT>
                    <a:lnB w="6350">
                      <a:solidFill>
                        <a:srgbClr val="E2E7F2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wrap="none"/>
                    <a:lstStyle/>
                    <a:p>
                      <a:pPr algn="r"/>
                      <a:r>
                        <a:rPr sz="800" b="0">
                          <a:solidFill>
                            <a:srgbClr val="595959"/>
                          </a:solidFill>
                          <a:latin typeface="Calibri"/>
                        </a:rPr>
                        <a:t>1,537</a:t>
                      </a:r>
                    </a:p>
                  </a:txBody>
                  <a:tcPr anchor="ctr" marL="27432" marR="27432" marT="4572" marB="4572">
                    <a:lnL w="6350">
                      <a:solidFill>
                        <a:srgbClr val="E2E7F2"/>
                      </a:solidFill>
                    </a:lnL>
                    <a:lnR w="6350">
                      <a:solidFill>
                        <a:srgbClr val="E2E7F2"/>
                      </a:solidFill>
                    </a:lnR>
                    <a:lnT w="6350">
                      <a:solidFill>
                        <a:srgbClr val="E2E7F2"/>
                      </a:solidFill>
                    </a:lnT>
                    <a:lnB w="6350">
                      <a:solidFill>
                        <a:srgbClr val="E2E7F2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wrap="none"/>
                    <a:lstStyle/>
                    <a:p>
                      <a:pPr algn="r"/>
                      <a:r>
                        <a:rPr sz="800" b="0">
                          <a:solidFill>
                            <a:srgbClr val="595959"/>
                          </a:solidFill>
                          <a:latin typeface="Calibri"/>
                        </a:rPr>
                        <a:t>1,443</a:t>
                      </a:r>
                    </a:p>
                  </a:txBody>
                  <a:tcPr anchor="ctr" marL="27432" marR="27432" marT="4572" marB="4572">
                    <a:lnL w="6350">
                      <a:solidFill>
                        <a:srgbClr val="E2E7F2"/>
                      </a:solidFill>
                    </a:lnL>
                    <a:lnR w="6350">
                      <a:solidFill>
                        <a:srgbClr val="E2E7F2"/>
                      </a:solidFill>
                    </a:lnR>
                    <a:lnT w="6350">
                      <a:solidFill>
                        <a:srgbClr val="E2E7F2"/>
                      </a:solidFill>
                    </a:lnT>
                    <a:lnB w="6350">
                      <a:solidFill>
                        <a:srgbClr val="E2E7F2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wrap="none"/>
                    <a:lstStyle/>
                    <a:p>
                      <a:pPr algn="r"/>
                      <a:r>
                        <a:rPr sz="800" b="0">
                          <a:solidFill>
                            <a:srgbClr val="595959"/>
                          </a:solidFill>
                          <a:latin typeface="Calibri"/>
                        </a:rPr>
                        <a:t>1,672</a:t>
                      </a:r>
                    </a:p>
                  </a:txBody>
                  <a:tcPr anchor="ctr" marL="27432" marR="27432" marT="4572" marB="4572">
                    <a:lnL w="6350">
                      <a:solidFill>
                        <a:srgbClr val="E2E7F2"/>
                      </a:solidFill>
                    </a:lnL>
                    <a:lnR w="6350">
                      <a:solidFill>
                        <a:srgbClr val="E2E7F2"/>
                      </a:solidFill>
                    </a:lnR>
                    <a:lnT w="6350">
                      <a:solidFill>
                        <a:srgbClr val="E2E7F2"/>
                      </a:solidFill>
                    </a:lnT>
                    <a:lnB w="6350">
                      <a:solidFill>
                        <a:srgbClr val="E2E7F2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wrap="none"/>
                    <a:lstStyle/>
                    <a:p>
                      <a:pPr algn="r"/>
                      <a:r>
                        <a:rPr sz="800" b="0">
                          <a:solidFill>
                            <a:srgbClr val="595959"/>
                          </a:solidFill>
                          <a:latin typeface="Calibri"/>
                        </a:rPr>
                        <a:t>1,744</a:t>
                      </a:r>
                    </a:p>
                  </a:txBody>
                  <a:tcPr anchor="ctr" marL="27432" marR="27432" marT="4572" marB="4572">
                    <a:lnL w="6350">
                      <a:solidFill>
                        <a:srgbClr val="E2E7F2"/>
                      </a:solidFill>
                    </a:lnL>
                    <a:lnR w="6350">
                      <a:solidFill>
                        <a:srgbClr val="E2E7F2"/>
                      </a:solidFill>
                    </a:lnR>
                    <a:lnT w="6350">
                      <a:solidFill>
                        <a:srgbClr val="E2E7F2"/>
                      </a:solidFill>
                    </a:lnT>
                    <a:lnB w="6350">
                      <a:solidFill>
                        <a:srgbClr val="E2E7F2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wrap="none"/>
                    <a:lstStyle/>
                    <a:p>
                      <a:pPr algn="r"/>
                      <a:r>
                        <a:rPr sz="800" b="0">
                          <a:solidFill>
                            <a:srgbClr val="595959"/>
                          </a:solidFill>
                          <a:latin typeface="Calibri"/>
                        </a:rPr>
                        <a:t>9,699</a:t>
                      </a:r>
                    </a:p>
                  </a:txBody>
                  <a:tcPr anchor="ctr" marL="27432" marR="27432" marT="4572" marB="4572">
                    <a:lnL w="6350">
                      <a:solidFill>
                        <a:srgbClr val="E2E7F2"/>
                      </a:solidFill>
                    </a:lnL>
                    <a:lnR w="6350">
                      <a:solidFill>
                        <a:srgbClr val="E2E7F2"/>
                      </a:solidFill>
                    </a:lnR>
                    <a:lnT w="6350">
                      <a:solidFill>
                        <a:srgbClr val="E2E7F2"/>
                      </a:solidFill>
                    </a:lnT>
                    <a:lnB w="6350">
                      <a:solidFill>
                        <a:srgbClr val="E2E7F2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wrap="none"/>
                    <a:lstStyle/>
                    <a:p>
                      <a:pPr algn="r"/>
                      <a:r>
                        <a:rPr sz="800" b="0">
                          <a:solidFill>
                            <a:srgbClr val="595959"/>
                          </a:solidFill>
                          <a:latin typeface="Calibri"/>
                        </a:rPr>
                        <a:t>20%</a:t>
                      </a:r>
                    </a:p>
                  </a:txBody>
                  <a:tcPr anchor="ctr" marL="27432" marR="27432" marT="4572" marB="4572">
                    <a:lnL w="6350">
                      <a:solidFill>
                        <a:srgbClr val="E2E7F2"/>
                      </a:solidFill>
                    </a:lnL>
                    <a:lnR w="6350">
                      <a:solidFill>
                        <a:srgbClr val="E2E7F2"/>
                      </a:solidFill>
                    </a:lnR>
                    <a:lnT w="6350">
                      <a:solidFill>
                        <a:srgbClr val="E2E7F2"/>
                      </a:solidFill>
                    </a:lnT>
                    <a:lnB w="6350">
                      <a:solidFill>
                        <a:srgbClr val="E2E7F2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wrap="none"/>
                    <a:lstStyle/>
                    <a:p>
                      <a:pPr algn="l"/>
                      <a:r>
                        <a:rPr sz="800" b="0">
                          <a:solidFill>
                            <a:srgbClr val="26292E"/>
                          </a:solidFill>
                          <a:latin typeface="Calibri"/>
                        </a:rPr>
                        <a:t/>
                      </a:r>
                    </a:p>
                  </a:txBody>
                  <a:tcPr anchor="ctr" marL="27432" marR="27432" marT="4572" marB="4572">
                    <a:lnL w="6350">
                      <a:solidFill>
                        <a:srgbClr val="E2E7F2"/>
                      </a:solidFill>
                    </a:lnL>
                    <a:lnR w="6350">
                      <a:solidFill>
                        <a:srgbClr val="E2E7F2"/>
                      </a:solidFill>
                    </a:lnR>
                    <a:lnT w="6350">
                      <a:solidFill>
                        <a:srgbClr val="E2E7F2"/>
                      </a:solidFill>
                    </a:lnT>
                    <a:lnB w="6350">
                      <a:solidFill>
                        <a:srgbClr val="E2E7F2"/>
                      </a:solidFill>
                    </a:lnB>
                    <a:solidFill>
                      <a:srgbClr val="FFFFFF"/>
                    </a:solidFill>
                  </a:tcPr>
                </a:tc>
              </a:tr>
              <a:tr h="173736">
                <a:tc>
                  <a:txBody>
                    <a:bodyPr wrap="none"/>
                    <a:lstStyle/>
                    <a:p>
                      <a:pPr algn="l"/>
                      <a:r>
                        <a:rPr sz="800" b="1">
                          <a:solidFill>
                            <a:srgbClr val="26292E"/>
                          </a:solidFill>
                          <a:latin typeface="Calibri"/>
                        </a:rPr>
                        <a:t>Online</a:t>
                      </a:r>
                    </a:p>
                  </a:txBody>
                  <a:tcPr anchor="ctr" marL="27432" marR="27432" marT="4572" marB="4572">
                    <a:lnL w="6350">
                      <a:solidFill>
                        <a:srgbClr val="E2E7F2"/>
                      </a:solidFill>
                    </a:lnL>
                    <a:lnR w="6350">
                      <a:solidFill>
                        <a:srgbClr val="E2E7F2"/>
                      </a:solidFill>
                    </a:lnR>
                    <a:lnT w="6350">
                      <a:solidFill>
                        <a:srgbClr val="E2E7F2"/>
                      </a:solidFill>
                    </a:lnT>
                    <a:lnB w="6350">
                      <a:solidFill>
                        <a:srgbClr val="E2E7F2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wrap="none"/>
                    <a:lstStyle/>
                    <a:p>
                      <a:pPr algn="r"/>
                      <a:r>
                        <a:rPr sz="800" b="0">
                          <a:solidFill>
                            <a:srgbClr val="26292E"/>
                          </a:solidFill>
                          <a:latin typeface="Calibri"/>
                        </a:rPr>
                        <a:t>3,257</a:t>
                      </a:r>
                    </a:p>
                  </a:txBody>
                  <a:tcPr anchor="ctr" marL="27432" marR="27432" marT="4572" marB="4572">
                    <a:lnL w="6350">
                      <a:solidFill>
                        <a:srgbClr val="E2E7F2"/>
                      </a:solidFill>
                    </a:lnL>
                    <a:lnR w="6350">
                      <a:solidFill>
                        <a:srgbClr val="E2E7F2"/>
                      </a:solidFill>
                    </a:lnR>
                    <a:lnT w="6350">
                      <a:solidFill>
                        <a:srgbClr val="E2E7F2"/>
                      </a:solidFill>
                    </a:lnT>
                    <a:lnB w="6350">
                      <a:solidFill>
                        <a:srgbClr val="E2E7F2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wrap="none"/>
                    <a:lstStyle/>
                    <a:p>
                      <a:pPr algn="r"/>
                      <a:r>
                        <a:rPr sz="800" b="0">
                          <a:solidFill>
                            <a:srgbClr val="26292E"/>
                          </a:solidFill>
                          <a:latin typeface="Calibri"/>
                        </a:rPr>
                        <a:t>3,910</a:t>
                      </a:r>
                    </a:p>
                  </a:txBody>
                  <a:tcPr anchor="ctr" marL="27432" marR="27432" marT="4572" marB="4572">
                    <a:lnL w="6350">
                      <a:solidFill>
                        <a:srgbClr val="E2E7F2"/>
                      </a:solidFill>
                    </a:lnL>
                    <a:lnR w="6350">
                      <a:solidFill>
                        <a:srgbClr val="E2E7F2"/>
                      </a:solidFill>
                    </a:lnR>
                    <a:lnT w="6350">
                      <a:solidFill>
                        <a:srgbClr val="E2E7F2"/>
                      </a:solidFill>
                    </a:lnT>
                    <a:lnB w="6350">
                      <a:solidFill>
                        <a:srgbClr val="E2E7F2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wrap="none"/>
                    <a:lstStyle/>
                    <a:p>
                      <a:pPr algn="r"/>
                      <a:r>
                        <a:rPr sz="800" b="0">
                          <a:solidFill>
                            <a:srgbClr val="26292E"/>
                          </a:solidFill>
                          <a:latin typeface="Calibri"/>
                        </a:rPr>
                        <a:t>2,690</a:t>
                      </a:r>
                    </a:p>
                  </a:txBody>
                  <a:tcPr anchor="ctr" marL="27432" marR="27432" marT="4572" marB="4572">
                    <a:lnL w="6350">
                      <a:solidFill>
                        <a:srgbClr val="E2E7F2"/>
                      </a:solidFill>
                    </a:lnL>
                    <a:lnR w="6350">
                      <a:solidFill>
                        <a:srgbClr val="E2E7F2"/>
                      </a:solidFill>
                    </a:lnR>
                    <a:lnT w="6350">
                      <a:solidFill>
                        <a:srgbClr val="E2E7F2"/>
                      </a:solidFill>
                    </a:lnT>
                    <a:lnB w="6350">
                      <a:solidFill>
                        <a:srgbClr val="E2E7F2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wrap="none"/>
                    <a:lstStyle/>
                    <a:p>
                      <a:pPr algn="r"/>
                      <a:r>
                        <a:rPr sz="800" b="0">
                          <a:solidFill>
                            <a:srgbClr val="26292E"/>
                          </a:solidFill>
                          <a:latin typeface="Calibri"/>
                        </a:rPr>
                        <a:t>2,876</a:t>
                      </a:r>
                    </a:p>
                  </a:txBody>
                  <a:tcPr anchor="ctr" marL="27432" marR="27432" marT="4572" marB="4572">
                    <a:lnL w="6350">
                      <a:solidFill>
                        <a:srgbClr val="E2E7F2"/>
                      </a:solidFill>
                    </a:lnL>
                    <a:lnR w="6350">
                      <a:solidFill>
                        <a:srgbClr val="E2E7F2"/>
                      </a:solidFill>
                    </a:lnR>
                    <a:lnT w="6350">
                      <a:solidFill>
                        <a:srgbClr val="E2E7F2"/>
                      </a:solidFill>
                    </a:lnT>
                    <a:lnB w="6350">
                      <a:solidFill>
                        <a:srgbClr val="E2E7F2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wrap="none"/>
                    <a:lstStyle/>
                    <a:p>
                      <a:pPr algn="r"/>
                      <a:r>
                        <a:rPr sz="800" b="0">
                          <a:solidFill>
                            <a:srgbClr val="26292E"/>
                          </a:solidFill>
                          <a:latin typeface="Calibri"/>
                        </a:rPr>
                        <a:t>2,049</a:t>
                      </a:r>
                    </a:p>
                  </a:txBody>
                  <a:tcPr anchor="ctr" marL="27432" marR="27432" marT="4572" marB="4572">
                    <a:lnL w="6350">
                      <a:solidFill>
                        <a:srgbClr val="E2E7F2"/>
                      </a:solidFill>
                    </a:lnL>
                    <a:lnR w="6350">
                      <a:solidFill>
                        <a:srgbClr val="E2E7F2"/>
                      </a:solidFill>
                    </a:lnR>
                    <a:lnT w="6350">
                      <a:solidFill>
                        <a:srgbClr val="E2E7F2"/>
                      </a:solidFill>
                    </a:lnT>
                    <a:lnB w="6350">
                      <a:solidFill>
                        <a:srgbClr val="E2E7F2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wrap="none"/>
                    <a:lstStyle/>
                    <a:p>
                      <a:pPr algn="r"/>
                      <a:r>
                        <a:rPr sz="800" b="0">
                          <a:solidFill>
                            <a:srgbClr val="26292E"/>
                          </a:solidFill>
                          <a:latin typeface="Calibri"/>
                        </a:rPr>
                        <a:t>2,146</a:t>
                      </a:r>
                    </a:p>
                  </a:txBody>
                  <a:tcPr anchor="ctr" marL="27432" marR="27432" marT="4572" marB="4572">
                    <a:lnL w="6350">
                      <a:solidFill>
                        <a:srgbClr val="E2E7F2"/>
                      </a:solidFill>
                    </a:lnL>
                    <a:lnR w="6350">
                      <a:solidFill>
                        <a:srgbClr val="E2E7F2"/>
                      </a:solidFill>
                    </a:lnR>
                    <a:lnT w="6350">
                      <a:solidFill>
                        <a:srgbClr val="E2E7F2"/>
                      </a:solidFill>
                    </a:lnT>
                    <a:lnB w="6350">
                      <a:solidFill>
                        <a:srgbClr val="E2E7F2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wrap="none"/>
                    <a:lstStyle/>
                    <a:p>
                      <a:pPr algn="r"/>
                      <a:r>
                        <a:rPr sz="800" b="1">
                          <a:solidFill>
                            <a:srgbClr val="26292E"/>
                          </a:solidFill>
                          <a:latin typeface="Calibri"/>
                        </a:rPr>
                        <a:t>16,928</a:t>
                      </a:r>
                    </a:p>
                  </a:txBody>
                  <a:tcPr anchor="ctr" marL="27432" marR="27432" marT="4572" marB="4572">
                    <a:lnL w="6350">
                      <a:solidFill>
                        <a:srgbClr val="E2E7F2"/>
                      </a:solidFill>
                    </a:lnL>
                    <a:lnR w="6350">
                      <a:solidFill>
                        <a:srgbClr val="E2E7F2"/>
                      </a:solidFill>
                    </a:lnR>
                    <a:lnT w="6350">
                      <a:solidFill>
                        <a:srgbClr val="E2E7F2"/>
                      </a:solidFill>
                    </a:lnT>
                    <a:lnB w="6350">
                      <a:solidFill>
                        <a:srgbClr val="E2E7F2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wrap="none"/>
                    <a:lstStyle/>
                    <a:p>
                      <a:pPr algn="r"/>
                      <a:r>
                        <a:rPr sz="800" b="0">
                          <a:solidFill>
                            <a:srgbClr val="26292E"/>
                          </a:solidFill>
                          <a:latin typeface="Calibri"/>
                        </a:rPr>
                        <a:t>34%</a:t>
                      </a:r>
                    </a:p>
                  </a:txBody>
                  <a:tcPr anchor="ctr" marL="27432" marR="27432" marT="4572" marB="4572">
                    <a:lnL w="6350">
                      <a:solidFill>
                        <a:srgbClr val="E2E7F2"/>
                      </a:solidFill>
                    </a:lnL>
                    <a:lnR w="6350">
                      <a:solidFill>
                        <a:srgbClr val="E2E7F2"/>
                      </a:solidFill>
                    </a:lnR>
                    <a:lnT w="6350">
                      <a:solidFill>
                        <a:srgbClr val="E2E7F2"/>
                      </a:solidFill>
                    </a:lnT>
                    <a:lnB w="6350">
                      <a:solidFill>
                        <a:srgbClr val="E2E7F2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wrap="none"/>
                    <a:lstStyle/>
                    <a:p>
                      <a:pPr algn="r"/>
                      <a:r>
                        <a:rPr sz="800" b="1">
                          <a:solidFill>
                            <a:srgbClr val="C62828"/>
                          </a:solidFill>
                          <a:latin typeface="Calibri"/>
                        </a:rPr>
                        <a:t>-8%</a:t>
                      </a:r>
                    </a:p>
                  </a:txBody>
                  <a:tcPr anchor="ctr" marL="27432" marR="27432" marT="4572" marB="4572">
                    <a:lnL w="6350">
                      <a:solidFill>
                        <a:srgbClr val="E2E7F2"/>
                      </a:solidFill>
                    </a:lnL>
                    <a:lnR w="6350">
                      <a:solidFill>
                        <a:srgbClr val="E2E7F2"/>
                      </a:solidFill>
                    </a:lnR>
                    <a:lnT w="6350">
                      <a:solidFill>
                        <a:srgbClr val="E2E7F2"/>
                      </a:solidFill>
                    </a:lnT>
                    <a:lnB w="6350">
                      <a:solidFill>
                        <a:srgbClr val="E2E7F2"/>
                      </a:solidFill>
                    </a:lnB>
                    <a:solidFill>
                      <a:srgbClr val="FFFFFF"/>
                    </a:solidFill>
                  </a:tcPr>
                </a:tc>
              </a:tr>
              <a:tr h="173736">
                <a:tc>
                  <a:txBody>
                    <a:bodyPr wrap="none"/>
                    <a:lstStyle/>
                    <a:p>
                      <a:pPr algn="l"/>
                      <a:r>
                        <a:rPr sz="800" b="0">
                          <a:solidFill>
                            <a:srgbClr val="595959"/>
                          </a:solidFill>
                          <a:latin typeface="Calibri"/>
                        </a:rPr>
                        <a:t>   ’25</a:t>
                      </a:r>
                    </a:p>
                  </a:txBody>
                  <a:tcPr anchor="ctr" marL="27432" marR="27432" marT="4572" marB="4572">
                    <a:lnL w="6350">
                      <a:solidFill>
                        <a:srgbClr val="E2E7F2"/>
                      </a:solidFill>
                    </a:lnL>
                    <a:lnR w="6350">
                      <a:solidFill>
                        <a:srgbClr val="E2E7F2"/>
                      </a:solidFill>
                    </a:lnR>
                    <a:lnT w="6350">
                      <a:solidFill>
                        <a:srgbClr val="E2E7F2"/>
                      </a:solidFill>
                    </a:lnT>
                    <a:lnB w="6350">
                      <a:solidFill>
                        <a:srgbClr val="E2E7F2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wrap="none"/>
                    <a:lstStyle/>
                    <a:p>
                      <a:pPr algn="r"/>
                      <a:r>
                        <a:rPr sz="800" b="0">
                          <a:solidFill>
                            <a:srgbClr val="595959"/>
                          </a:solidFill>
                          <a:latin typeface="Calibri"/>
                        </a:rPr>
                        <a:t>4,050</a:t>
                      </a:r>
                    </a:p>
                  </a:txBody>
                  <a:tcPr anchor="ctr" marL="27432" marR="27432" marT="4572" marB="4572">
                    <a:lnL w="6350">
                      <a:solidFill>
                        <a:srgbClr val="E2E7F2"/>
                      </a:solidFill>
                    </a:lnL>
                    <a:lnR w="6350">
                      <a:solidFill>
                        <a:srgbClr val="E2E7F2"/>
                      </a:solidFill>
                    </a:lnR>
                    <a:lnT w="6350">
                      <a:solidFill>
                        <a:srgbClr val="E2E7F2"/>
                      </a:solidFill>
                    </a:lnT>
                    <a:lnB w="6350">
                      <a:solidFill>
                        <a:srgbClr val="E2E7F2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wrap="none"/>
                    <a:lstStyle/>
                    <a:p>
                      <a:pPr algn="r"/>
                      <a:r>
                        <a:rPr sz="800" b="0">
                          <a:solidFill>
                            <a:srgbClr val="595959"/>
                          </a:solidFill>
                          <a:latin typeface="Calibri"/>
                        </a:rPr>
                        <a:t>3,388</a:t>
                      </a:r>
                    </a:p>
                  </a:txBody>
                  <a:tcPr anchor="ctr" marL="27432" marR="27432" marT="4572" marB="4572">
                    <a:lnL w="6350">
                      <a:solidFill>
                        <a:srgbClr val="E2E7F2"/>
                      </a:solidFill>
                    </a:lnL>
                    <a:lnR w="6350">
                      <a:solidFill>
                        <a:srgbClr val="E2E7F2"/>
                      </a:solidFill>
                    </a:lnR>
                    <a:lnT w="6350">
                      <a:solidFill>
                        <a:srgbClr val="E2E7F2"/>
                      </a:solidFill>
                    </a:lnT>
                    <a:lnB w="6350">
                      <a:solidFill>
                        <a:srgbClr val="E2E7F2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wrap="none"/>
                    <a:lstStyle/>
                    <a:p>
                      <a:pPr algn="r"/>
                      <a:r>
                        <a:rPr sz="800" b="0">
                          <a:solidFill>
                            <a:srgbClr val="595959"/>
                          </a:solidFill>
                          <a:latin typeface="Calibri"/>
                        </a:rPr>
                        <a:t>2,586</a:t>
                      </a:r>
                    </a:p>
                  </a:txBody>
                  <a:tcPr anchor="ctr" marL="27432" marR="27432" marT="4572" marB="4572">
                    <a:lnL w="6350">
                      <a:solidFill>
                        <a:srgbClr val="E2E7F2"/>
                      </a:solidFill>
                    </a:lnL>
                    <a:lnR w="6350">
                      <a:solidFill>
                        <a:srgbClr val="E2E7F2"/>
                      </a:solidFill>
                    </a:lnR>
                    <a:lnT w="6350">
                      <a:solidFill>
                        <a:srgbClr val="E2E7F2"/>
                      </a:solidFill>
                    </a:lnT>
                    <a:lnB w="6350">
                      <a:solidFill>
                        <a:srgbClr val="E2E7F2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wrap="none"/>
                    <a:lstStyle/>
                    <a:p>
                      <a:pPr algn="r"/>
                      <a:r>
                        <a:rPr sz="800" b="0">
                          <a:solidFill>
                            <a:srgbClr val="595959"/>
                          </a:solidFill>
                          <a:latin typeface="Calibri"/>
                        </a:rPr>
                        <a:t>3,183</a:t>
                      </a:r>
                    </a:p>
                  </a:txBody>
                  <a:tcPr anchor="ctr" marL="27432" marR="27432" marT="4572" marB="4572">
                    <a:lnL w="6350">
                      <a:solidFill>
                        <a:srgbClr val="E2E7F2"/>
                      </a:solidFill>
                    </a:lnL>
                    <a:lnR w="6350">
                      <a:solidFill>
                        <a:srgbClr val="E2E7F2"/>
                      </a:solidFill>
                    </a:lnR>
                    <a:lnT w="6350">
                      <a:solidFill>
                        <a:srgbClr val="E2E7F2"/>
                      </a:solidFill>
                    </a:lnT>
                    <a:lnB w="6350">
                      <a:solidFill>
                        <a:srgbClr val="E2E7F2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wrap="none"/>
                    <a:lstStyle/>
                    <a:p>
                      <a:pPr algn="r"/>
                      <a:r>
                        <a:rPr sz="800" b="0">
                          <a:solidFill>
                            <a:srgbClr val="595959"/>
                          </a:solidFill>
                          <a:latin typeface="Calibri"/>
                        </a:rPr>
                        <a:t>3,138</a:t>
                      </a:r>
                    </a:p>
                  </a:txBody>
                  <a:tcPr anchor="ctr" marL="27432" marR="27432" marT="4572" marB="4572">
                    <a:lnL w="6350">
                      <a:solidFill>
                        <a:srgbClr val="E2E7F2"/>
                      </a:solidFill>
                    </a:lnL>
                    <a:lnR w="6350">
                      <a:solidFill>
                        <a:srgbClr val="E2E7F2"/>
                      </a:solidFill>
                    </a:lnR>
                    <a:lnT w="6350">
                      <a:solidFill>
                        <a:srgbClr val="E2E7F2"/>
                      </a:solidFill>
                    </a:lnT>
                    <a:lnB w="6350">
                      <a:solidFill>
                        <a:srgbClr val="E2E7F2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wrap="none"/>
                    <a:lstStyle/>
                    <a:p>
                      <a:pPr algn="r"/>
                      <a:r>
                        <a:rPr sz="800" b="0">
                          <a:solidFill>
                            <a:srgbClr val="595959"/>
                          </a:solidFill>
                          <a:latin typeface="Calibri"/>
                        </a:rPr>
                        <a:t>2,033</a:t>
                      </a:r>
                    </a:p>
                  </a:txBody>
                  <a:tcPr anchor="ctr" marL="27432" marR="27432" marT="4572" marB="4572">
                    <a:lnL w="6350">
                      <a:solidFill>
                        <a:srgbClr val="E2E7F2"/>
                      </a:solidFill>
                    </a:lnL>
                    <a:lnR w="6350">
                      <a:solidFill>
                        <a:srgbClr val="E2E7F2"/>
                      </a:solidFill>
                    </a:lnR>
                    <a:lnT w="6350">
                      <a:solidFill>
                        <a:srgbClr val="E2E7F2"/>
                      </a:solidFill>
                    </a:lnT>
                    <a:lnB w="6350">
                      <a:solidFill>
                        <a:srgbClr val="E2E7F2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wrap="none"/>
                    <a:lstStyle/>
                    <a:p>
                      <a:pPr algn="r"/>
                      <a:r>
                        <a:rPr sz="800" b="0">
                          <a:solidFill>
                            <a:srgbClr val="595959"/>
                          </a:solidFill>
                          <a:latin typeface="Calibri"/>
                        </a:rPr>
                        <a:t>18,378</a:t>
                      </a:r>
                    </a:p>
                  </a:txBody>
                  <a:tcPr anchor="ctr" marL="27432" marR="27432" marT="4572" marB="4572">
                    <a:lnL w="6350">
                      <a:solidFill>
                        <a:srgbClr val="E2E7F2"/>
                      </a:solidFill>
                    </a:lnL>
                    <a:lnR w="6350">
                      <a:solidFill>
                        <a:srgbClr val="E2E7F2"/>
                      </a:solidFill>
                    </a:lnR>
                    <a:lnT w="6350">
                      <a:solidFill>
                        <a:srgbClr val="E2E7F2"/>
                      </a:solidFill>
                    </a:lnT>
                    <a:lnB w="6350">
                      <a:solidFill>
                        <a:srgbClr val="E2E7F2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wrap="none"/>
                    <a:lstStyle/>
                    <a:p>
                      <a:pPr algn="r"/>
                      <a:r>
                        <a:rPr sz="800" b="0">
                          <a:solidFill>
                            <a:srgbClr val="595959"/>
                          </a:solidFill>
                          <a:latin typeface="Calibri"/>
                        </a:rPr>
                        <a:t>38%</a:t>
                      </a:r>
                    </a:p>
                  </a:txBody>
                  <a:tcPr anchor="ctr" marL="27432" marR="27432" marT="4572" marB="4572">
                    <a:lnL w="6350">
                      <a:solidFill>
                        <a:srgbClr val="E2E7F2"/>
                      </a:solidFill>
                    </a:lnL>
                    <a:lnR w="6350">
                      <a:solidFill>
                        <a:srgbClr val="E2E7F2"/>
                      </a:solidFill>
                    </a:lnR>
                    <a:lnT w="6350">
                      <a:solidFill>
                        <a:srgbClr val="E2E7F2"/>
                      </a:solidFill>
                    </a:lnT>
                    <a:lnB w="6350">
                      <a:solidFill>
                        <a:srgbClr val="E2E7F2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wrap="none"/>
                    <a:lstStyle/>
                    <a:p>
                      <a:pPr algn="l"/>
                      <a:r>
                        <a:rPr sz="800" b="0">
                          <a:solidFill>
                            <a:srgbClr val="26292E"/>
                          </a:solidFill>
                          <a:latin typeface="Calibri"/>
                        </a:rPr>
                        <a:t/>
                      </a:r>
                    </a:p>
                  </a:txBody>
                  <a:tcPr anchor="ctr" marL="27432" marR="27432" marT="4572" marB="4572">
                    <a:lnL w="6350">
                      <a:solidFill>
                        <a:srgbClr val="E2E7F2"/>
                      </a:solidFill>
                    </a:lnL>
                    <a:lnR w="6350">
                      <a:solidFill>
                        <a:srgbClr val="E2E7F2"/>
                      </a:solidFill>
                    </a:lnR>
                    <a:lnT w="6350">
                      <a:solidFill>
                        <a:srgbClr val="E2E7F2"/>
                      </a:solidFill>
                    </a:lnT>
                    <a:lnB w="6350">
                      <a:solidFill>
                        <a:srgbClr val="E2E7F2"/>
                      </a:solidFill>
                    </a:lnB>
                    <a:solidFill>
                      <a:srgbClr val="FFFFFF"/>
                    </a:solidFill>
                  </a:tcPr>
                </a:tc>
              </a:tr>
              <a:tr h="173736">
                <a:tc>
                  <a:txBody>
                    <a:bodyPr wrap="none"/>
                    <a:lstStyle/>
                    <a:p>
                      <a:pPr algn="l"/>
                      <a:r>
                        <a:rPr sz="800" b="1">
                          <a:solidFill>
                            <a:srgbClr val="26292E"/>
                          </a:solidFill>
                          <a:latin typeface="Calibri"/>
                        </a:rPr>
                        <a:t>ASR</a:t>
                      </a:r>
                    </a:p>
                  </a:txBody>
                  <a:tcPr anchor="ctr" marL="27432" marR="27432" marT="4572" marB="4572">
                    <a:lnL w="6350">
                      <a:solidFill>
                        <a:srgbClr val="E2E7F2"/>
                      </a:solidFill>
                    </a:lnL>
                    <a:lnR w="6350">
                      <a:solidFill>
                        <a:srgbClr val="E2E7F2"/>
                      </a:solidFill>
                    </a:lnR>
                    <a:lnT w="6350">
                      <a:solidFill>
                        <a:srgbClr val="E2E7F2"/>
                      </a:solidFill>
                    </a:lnT>
                    <a:lnB w="6350">
                      <a:solidFill>
                        <a:srgbClr val="E2E7F2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wrap="none"/>
                    <a:lstStyle/>
                    <a:p>
                      <a:pPr algn="r"/>
                      <a:r>
                        <a:rPr sz="800" b="0">
                          <a:solidFill>
                            <a:srgbClr val="26292E"/>
                          </a:solidFill>
                          <a:latin typeface="Calibri"/>
                        </a:rPr>
                        <a:t>756</a:t>
                      </a:r>
                    </a:p>
                  </a:txBody>
                  <a:tcPr anchor="ctr" marL="27432" marR="27432" marT="4572" marB="4572">
                    <a:lnL w="6350">
                      <a:solidFill>
                        <a:srgbClr val="E2E7F2"/>
                      </a:solidFill>
                    </a:lnL>
                    <a:lnR w="6350">
                      <a:solidFill>
                        <a:srgbClr val="E2E7F2"/>
                      </a:solidFill>
                    </a:lnR>
                    <a:lnT w="6350">
                      <a:solidFill>
                        <a:srgbClr val="E2E7F2"/>
                      </a:solidFill>
                    </a:lnT>
                    <a:lnB w="6350">
                      <a:solidFill>
                        <a:srgbClr val="E2E7F2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wrap="none"/>
                    <a:lstStyle/>
                    <a:p>
                      <a:pPr algn="r"/>
                      <a:r>
                        <a:rPr sz="800" b="0">
                          <a:solidFill>
                            <a:srgbClr val="26292E"/>
                          </a:solidFill>
                          <a:latin typeface="Calibri"/>
                        </a:rPr>
                        <a:t>720</a:t>
                      </a:r>
                    </a:p>
                  </a:txBody>
                  <a:tcPr anchor="ctr" marL="27432" marR="27432" marT="4572" marB="4572">
                    <a:lnL w="6350">
                      <a:solidFill>
                        <a:srgbClr val="E2E7F2"/>
                      </a:solidFill>
                    </a:lnL>
                    <a:lnR w="6350">
                      <a:solidFill>
                        <a:srgbClr val="E2E7F2"/>
                      </a:solidFill>
                    </a:lnR>
                    <a:lnT w="6350">
                      <a:solidFill>
                        <a:srgbClr val="E2E7F2"/>
                      </a:solidFill>
                    </a:lnT>
                    <a:lnB w="6350">
                      <a:solidFill>
                        <a:srgbClr val="E2E7F2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wrap="none"/>
                    <a:lstStyle/>
                    <a:p>
                      <a:pPr algn="r"/>
                      <a:r>
                        <a:rPr sz="800" b="0">
                          <a:solidFill>
                            <a:srgbClr val="26292E"/>
                          </a:solidFill>
                          <a:latin typeface="Calibri"/>
                        </a:rPr>
                        <a:t>578</a:t>
                      </a:r>
                    </a:p>
                  </a:txBody>
                  <a:tcPr anchor="ctr" marL="27432" marR="27432" marT="4572" marB="4572">
                    <a:lnL w="6350">
                      <a:solidFill>
                        <a:srgbClr val="E2E7F2"/>
                      </a:solidFill>
                    </a:lnL>
                    <a:lnR w="6350">
                      <a:solidFill>
                        <a:srgbClr val="E2E7F2"/>
                      </a:solidFill>
                    </a:lnR>
                    <a:lnT w="6350">
                      <a:solidFill>
                        <a:srgbClr val="E2E7F2"/>
                      </a:solidFill>
                    </a:lnT>
                    <a:lnB w="6350">
                      <a:solidFill>
                        <a:srgbClr val="E2E7F2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wrap="none"/>
                    <a:lstStyle/>
                    <a:p>
                      <a:pPr algn="r"/>
                      <a:r>
                        <a:rPr sz="800" b="0">
                          <a:solidFill>
                            <a:srgbClr val="26292E"/>
                          </a:solidFill>
                          <a:latin typeface="Calibri"/>
                        </a:rPr>
                        <a:t>769</a:t>
                      </a:r>
                    </a:p>
                  </a:txBody>
                  <a:tcPr anchor="ctr" marL="27432" marR="27432" marT="4572" marB="4572">
                    <a:lnL w="6350">
                      <a:solidFill>
                        <a:srgbClr val="E2E7F2"/>
                      </a:solidFill>
                    </a:lnL>
                    <a:lnR w="6350">
                      <a:solidFill>
                        <a:srgbClr val="E2E7F2"/>
                      </a:solidFill>
                    </a:lnR>
                    <a:lnT w="6350">
                      <a:solidFill>
                        <a:srgbClr val="E2E7F2"/>
                      </a:solidFill>
                    </a:lnT>
                    <a:lnB w="6350">
                      <a:solidFill>
                        <a:srgbClr val="E2E7F2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wrap="none"/>
                    <a:lstStyle/>
                    <a:p>
                      <a:pPr algn="r"/>
                      <a:r>
                        <a:rPr sz="800" b="0">
                          <a:solidFill>
                            <a:srgbClr val="26292E"/>
                          </a:solidFill>
                          <a:latin typeface="Calibri"/>
                        </a:rPr>
                        <a:t>752</a:t>
                      </a:r>
                    </a:p>
                  </a:txBody>
                  <a:tcPr anchor="ctr" marL="27432" marR="27432" marT="4572" marB="4572">
                    <a:lnL w="6350">
                      <a:solidFill>
                        <a:srgbClr val="E2E7F2"/>
                      </a:solidFill>
                    </a:lnL>
                    <a:lnR w="6350">
                      <a:solidFill>
                        <a:srgbClr val="E2E7F2"/>
                      </a:solidFill>
                    </a:lnR>
                    <a:lnT w="6350">
                      <a:solidFill>
                        <a:srgbClr val="E2E7F2"/>
                      </a:solidFill>
                    </a:lnT>
                    <a:lnB w="6350">
                      <a:solidFill>
                        <a:srgbClr val="E2E7F2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wrap="none"/>
                    <a:lstStyle/>
                    <a:p>
                      <a:pPr algn="r"/>
                      <a:r>
                        <a:rPr sz="800" b="0">
                          <a:solidFill>
                            <a:srgbClr val="26292E"/>
                          </a:solidFill>
                          <a:latin typeface="Calibri"/>
                        </a:rPr>
                        <a:t>961</a:t>
                      </a:r>
                    </a:p>
                  </a:txBody>
                  <a:tcPr anchor="ctr" marL="27432" marR="27432" marT="4572" marB="4572">
                    <a:lnL w="6350">
                      <a:solidFill>
                        <a:srgbClr val="E2E7F2"/>
                      </a:solidFill>
                    </a:lnL>
                    <a:lnR w="6350">
                      <a:solidFill>
                        <a:srgbClr val="E2E7F2"/>
                      </a:solidFill>
                    </a:lnR>
                    <a:lnT w="6350">
                      <a:solidFill>
                        <a:srgbClr val="E2E7F2"/>
                      </a:solidFill>
                    </a:lnT>
                    <a:lnB w="6350">
                      <a:solidFill>
                        <a:srgbClr val="E2E7F2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wrap="none"/>
                    <a:lstStyle/>
                    <a:p>
                      <a:pPr algn="r"/>
                      <a:r>
                        <a:rPr sz="800" b="1">
                          <a:solidFill>
                            <a:srgbClr val="26292E"/>
                          </a:solidFill>
                          <a:latin typeface="Calibri"/>
                        </a:rPr>
                        <a:t>4,536</a:t>
                      </a:r>
                    </a:p>
                  </a:txBody>
                  <a:tcPr anchor="ctr" marL="27432" marR="27432" marT="4572" marB="4572">
                    <a:lnL w="6350">
                      <a:solidFill>
                        <a:srgbClr val="E2E7F2"/>
                      </a:solidFill>
                    </a:lnL>
                    <a:lnR w="6350">
                      <a:solidFill>
                        <a:srgbClr val="E2E7F2"/>
                      </a:solidFill>
                    </a:lnR>
                    <a:lnT w="6350">
                      <a:solidFill>
                        <a:srgbClr val="E2E7F2"/>
                      </a:solidFill>
                    </a:lnT>
                    <a:lnB w="6350">
                      <a:solidFill>
                        <a:srgbClr val="E2E7F2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wrap="none"/>
                    <a:lstStyle/>
                    <a:p>
                      <a:pPr algn="r"/>
                      <a:r>
                        <a:rPr sz="800" b="0">
                          <a:solidFill>
                            <a:srgbClr val="26292E"/>
                          </a:solidFill>
                          <a:latin typeface="Calibri"/>
                        </a:rPr>
                        <a:t>9%</a:t>
                      </a:r>
                    </a:p>
                  </a:txBody>
                  <a:tcPr anchor="ctr" marL="27432" marR="27432" marT="4572" marB="4572">
                    <a:lnL w="6350">
                      <a:solidFill>
                        <a:srgbClr val="E2E7F2"/>
                      </a:solidFill>
                    </a:lnL>
                    <a:lnR w="6350">
                      <a:solidFill>
                        <a:srgbClr val="E2E7F2"/>
                      </a:solidFill>
                    </a:lnR>
                    <a:lnT w="6350">
                      <a:solidFill>
                        <a:srgbClr val="E2E7F2"/>
                      </a:solidFill>
                    </a:lnT>
                    <a:lnB w="6350">
                      <a:solidFill>
                        <a:srgbClr val="E2E7F2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wrap="none"/>
                    <a:lstStyle/>
                    <a:p>
                      <a:pPr algn="r"/>
                      <a:r>
                        <a:rPr sz="800" b="1">
                          <a:solidFill>
                            <a:srgbClr val="1E7B34"/>
                          </a:solidFill>
                          <a:latin typeface="Calibri"/>
                        </a:rPr>
                        <a:t>+50%</a:t>
                      </a:r>
                    </a:p>
                  </a:txBody>
                  <a:tcPr anchor="ctr" marL="27432" marR="27432" marT="4572" marB="4572">
                    <a:lnL w="6350">
                      <a:solidFill>
                        <a:srgbClr val="E2E7F2"/>
                      </a:solidFill>
                    </a:lnL>
                    <a:lnR w="6350">
                      <a:solidFill>
                        <a:srgbClr val="E2E7F2"/>
                      </a:solidFill>
                    </a:lnR>
                    <a:lnT w="6350">
                      <a:solidFill>
                        <a:srgbClr val="E2E7F2"/>
                      </a:solidFill>
                    </a:lnT>
                    <a:lnB w="6350">
                      <a:solidFill>
                        <a:srgbClr val="E2E7F2"/>
                      </a:solidFill>
                    </a:lnB>
                    <a:solidFill>
                      <a:srgbClr val="FFFFFF"/>
                    </a:solidFill>
                  </a:tcPr>
                </a:tc>
              </a:tr>
              <a:tr h="173736">
                <a:tc>
                  <a:txBody>
                    <a:bodyPr wrap="none"/>
                    <a:lstStyle/>
                    <a:p>
                      <a:pPr algn="l"/>
                      <a:r>
                        <a:rPr sz="800" b="0">
                          <a:solidFill>
                            <a:srgbClr val="595959"/>
                          </a:solidFill>
                          <a:latin typeface="Calibri"/>
                        </a:rPr>
                        <a:t>   ’25</a:t>
                      </a:r>
                    </a:p>
                  </a:txBody>
                  <a:tcPr anchor="ctr" marL="27432" marR="27432" marT="4572" marB="4572">
                    <a:lnL w="6350">
                      <a:solidFill>
                        <a:srgbClr val="E2E7F2"/>
                      </a:solidFill>
                    </a:lnL>
                    <a:lnR w="6350">
                      <a:solidFill>
                        <a:srgbClr val="E2E7F2"/>
                      </a:solidFill>
                    </a:lnR>
                    <a:lnT w="6350">
                      <a:solidFill>
                        <a:srgbClr val="E2E7F2"/>
                      </a:solidFill>
                    </a:lnT>
                    <a:lnB w="6350">
                      <a:solidFill>
                        <a:srgbClr val="E2E7F2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wrap="none"/>
                    <a:lstStyle/>
                    <a:p>
                      <a:pPr algn="r"/>
                      <a:r>
                        <a:rPr sz="800" b="0">
                          <a:solidFill>
                            <a:srgbClr val="595959"/>
                          </a:solidFill>
                          <a:latin typeface="Calibri"/>
                        </a:rPr>
                        <a:t>473</a:t>
                      </a:r>
                    </a:p>
                  </a:txBody>
                  <a:tcPr anchor="ctr" marL="27432" marR="27432" marT="4572" marB="4572">
                    <a:lnL w="6350">
                      <a:solidFill>
                        <a:srgbClr val="E2E7F2"/>
                      </a:solidFill>
                    </a:lnL>
                    <a:lnR w="6350">
                      <a:solidFill>
                        <a:srgbClr val="E2E7F2"/>
                      </a:solidFill>
                    </a:lnR>
                    <a:lnT w="6350">
                      <a:solidFill>
                        <a:srgbClr val="E2E7F2"/>
                      </a:solidFill>
                    </a:lnT>
                    <a:lnB w="6350">
                      <a:solidFill>
                        <a:srgbClr val="E2E7F2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wrap="none"/>
                    <a:lstStyle/>
                    <a:p>
                      <a:pPr algn="r"/>
                      <a:r>
                        <a:rPr sz="800" b="0">
                          <a:solidFill>
                            <a:srgbClr val="595959"/>
                          </a:solidFill>
                          <a:latin typeface="Calibri"/>
                        </a:rPr>
                        <a:t>611</a:t>
                      </a:r>
                    </a:p>
                  </a:txBody>
                  <a:tcPr anchor="ctr" marL="27432" marR="27432" marT="4572" marB="4572">
                    <a:lnL w="6350">
                      <a:solidFill>
                        <a:srgbClr val="E2E7F2"/>
                      </a:solidFill>
                    </a:lnL>
                    <a:lnR w="6350">
                      <a:solidFill>
                        <a:srgbClr val="E2E7F2"/>
                      </a:solidFill>
                    </a:lnR>
                    <a:lnT w="6350">
                      <a:solidFill>
                        <a:srgbClr val="E2E7F2"/>
                      </a:solidFill>
                    </a:lnT>
                    <a:lnB w="6350">
                      <a:solidFill>
                        <a:srgbClr val="E2E7F2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wrap="none"/>
                    <a:lstStyle/>
                    <a:p>
                      <a:pPr algn="r"/>
                      <a:r>
                        <a:rPr sz="800" b="0">
                          <a:solidFill>
                            <a:srgbClr val="595959"/>
                          </a:solidFill>
                          <a:latin typeface="Calibri"/>
                        </a:rPr>
                        <a:t>526</a:t>
                      </a:r>
                    </a:p>
                  </a:txBody>
                  <a:tcPr anchor="ctr" marL="27432" marR="27432" marT="4572" marB="4572">
                    <a:lnL w="6350">
                      <a:solidFill>
                        <a:srgbClr val="E2E7F2"/>
                      </a:solidFill>
                    </a:lnL>
                    <a:lnR w="6350">
                      <a:solidFill>
                        <a:srgbClr val="E2E7F2"/>
                      </a:solidFill>
                    </a:lnR>
                    <a:lnT w="6350">
                      <a:solidFill>
                        <a:srgbClr val="E2E7F2"/>
                      </a:solidFill>
                    </a:lnT>
                    <a:lnB w="6350">
                      <a:solidFill>
                        <a:srgbClr val="E2E7F2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wrap="none"/>
                    <a:lstStyle/>
                    <a:p>
                      <a:pPr algn="r"/>
                      <a:r>
                        <a:rPr sz="800" b="0">
                          <a:solidFill>
                            <a:srgbClr val="595959"/>
                          </a:solidFill>
                          <a:latin typeface="Calibri"/>
                        </a:rPr>
                        <a:t>715</a:t>
                      </a:r>
                    </a:p>
                  </a:txBody>
                  <a:tcPr anchor="ctr" marL="27432" marR="27432" marT="4572" marB="4572">
                    <a:lnL w="6350">
                      <a:solidFill>
                        <a:srgbClr val="E2E7F2"/>
                      </a:solidFill>
                    </a:lnL>
                    <a:lnR w="6350">
                      <a:solidFill>
                        <a:srgbClr val="E2E7F2"/>
                      </a:solidFill>
                    </a:lnR>
                    <a:lnT w="6350">
                      <a:solidFill>
                        <a:srgbClr val="E2E7F2"/>
                      </a:solidFill>
                    </a:lnT>
                    <a:lnB w="6350">
                      <a:solidFill>
                        <a:srgbClr val="E2E7F2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wrap="none"/>
                    <a:lstStyle/>
                    <a:p>
                      <a:pPr algn="r"/>
                      <a:r>
                        <a:rPr sz="800" b="0">
                          <a:solidFill>
                            <a:srgbClr val="595959"/>
                          </a:solidFill>
                          <a:latin typeface="Calibri"/>
                        </a:rPr>
                        <a:t>299</a:t>
                      </a:r>
                    </a:p>
                  </a:txBody>
                  <a:tcPr anchor="ctr" marL="27432" marR="27432" marT="4572" marB="4572">
                    <a:lnL w="6350">
                      <a:solidFill>
                        <a:srgbClr val="E2E7F2"/>
                      </a:solidFill>
                    </a:lnL>
                    <a:lnR w="6350">
                      <a:solidFill>
                        <a:srgbClr val="E2E7F2"/>
                      </a:solidFill>
                    </a:lnR>
                    <a:lnT w="6350">
                      <a:solidFill>
                        <a:srgbClr val="E2E7F2"/>
                      </a:solidFill>
                    </a:lnT>
                    <a:lnB w="6350">
                      <a:solidFill>
                        <a:srgbClr val="E2E7F2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wrap="none"/>
                    <a:lstStyle/>
                    <a:p>
                      <a:pPr algn="r"/>
                      <a:r>
                        <a:rPr sz="800" b="0">
                          <a:solidFill>
                            <a:srgbClr val="595959"/>
                          </a:solidFill>
                          <a:latin typeface="Calibri"/>
                        </a:rPr>
                        <a:t>410</a:t>
                      </a:r>
                    </a:p>
                  </a:txBody>
                  <a:tcPr anchor="ctr" marL="27432" marR="27432" marT="4572" marB="4572">
                    <a:lnL w="6350">
                      <a:solidFill>
                        <a:srgbClr val="E2E7F2"/>
                      </a:solidFill>
                    </a:lnL>
                    <a:lnR w="6350">
                      <a:solidFill>
                        <a:srgbClr val="E2E7F2"/>
                      </a:solidFill>
                    </a:lnR>
                    <a:lnT w="6350">
                      <a:solidFill>
                        <a:srgbClr val="E2E7F2"/>
                      </a:solidFill>
                    </a:lnT>
                    <a:lnB w="6350">
                      <a:solidFill>
                        <a:srgbClr val="E2E7F2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wrap="none"/>
                    <a:lstStyle/>
                    <a:p>
                      <a:pPr algn="r"/>
                      <a:r>
                        <a:rPr sz="800" b="0">
                          <a:solidFill>
                            <a:srgbClr val="595959"/>
                          </a:solidFill>
                          <a:latin typeface="Calibri"/>
                        </a:rPr>
                        <a:t>3,034</a:t>
                      </a:r>
                    </a:p>
                  </a:txBody>
                  <a:tcPr anchor="ctr" marL="27432" marR="27432" marT="4572" marB="4572">
                    <a:lnL w="6350">
                      <a:solidFill>
                        <a:srgbClr val="E2E7F2"/>
                      </a:solidFill>
                    </a:lnL>
                    <a:lnR w="6350">
                      <a:solidFill>
                        <a:srgbClr val="E2E7F2"/>
                      </a:solidFill>
                    </a:lnR>
                    <a:lnT w="6350">
                      <a:solidFill>
                        <a:srgbClr val="E2E7F2"/>
                      </a:solidFill>
                    </a:lnT>
                    <a:lnB w="6350">
                      <a:solidFill>
                        <a:srgbClr val="E2E7F2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wrap="none"/>
                    <a:lstStyle/>
                    <a:p>
                      <a:pPr algn="r"/>
                      <a:r>
                        <a:rPr sz="800" b="0">
                          <a:solidFill>
                            <a:srgbClr val="595959"/>
                          </a:solidFill>
                          <a:latin typeface="Calibri"/>
                        </a:rPr>
                        <a:t>6%</a:t>
                      </a:r>
                    </a:p>
                  </a:txBody>
                  <a:tcPr anchor="ctr" marL="27432" marR="27432" marT="4572" marB="4572">
                    <a:lnL w="6350">
                      <a:solidFill>
                        <a:srgbClr val="E2E7F2"/>
                      </a:solidFill>
                    </a:lnL>
                    <a:lnR w="6350">
                      <a:solidFill>
                        <a:srgbClr val="E2E7F2"/>
                      </a:solidFill>
                    </a:lnR>
                    <a:lnT w="6350">
                      <a:solidFill>
                        <a:srgbClr val="E2E7F2"/>
                      </a:solidFill>
                    </a:lnT>
                    <a:lnB w="6350">
                      <a:solidFill>
                        <a:srgbClr val="E2E7F2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wrap="none"/>
                    <a:lstStyle/>
                    <a:p>
                      <a:pPr algn="l"/>
                      <a:r>
                        <a:rPr sz="800" b="0">
                          <a:solidFill>
                            <a:srgbClr val="26292E"/>
                          </a:solidFill>
                          <a:latin typeface="Calibri"/>
                        </a:rPr>
                        <a:t/>
                      </a:r>
                    </a:p>
                  </a:txBody>
                  <a:tcPr anchor="ctr" marL="27432" marR="27432" marT="4572" marB="4572">
                    <a:lnL w="6350">
                      <a:solidFill>
                        <a:srgbClr val="E2E7F2"/>
                      </a:solidFill>
                    </a:lnL>
                    <a:lnR w="6350">
                      <a:solidFill>
                        <a:srgbClr val="E2E7F2"/>
                      </a:solidFill>
                    </a:lnR>
                    <a:lnT w="6350">
                      <a:solidFill>
                        <a:srgbClr val="E2E7F2"/>
                      </a:solidFill>
                    </a:lnT>
                    <a:lnB w="6350">
                      <a:solidFill>
                        <a:srgbClr val="E2E7F2"/>
                      </a:solidFill>
                    </a:lnB>
                    <a:solidFill>
                      <a:srgbClr val="FFFFFF"/>
                    </a:solidFill>
                  </a:tcPr>
                </a:tc>
              </a:tr>
              <a:tr h="173736">
                <a:tc>
                  <a:txBody>
                    <a:bodyPr wrap="none"/>
                    <a:lstStyle/>
                    <a:p>
                      <a:pPr algn="l"/>
                      <a:r>
                        <a:rPr sz="800" b="1">
                          <a:solidFill>
                            <a:srgbClr val="26292E"/>
                          </a:solidFill>
                          <a:latin typeface="Calibri"/>
                        </a:rPr>
                        <a:t>Wholesale</a:t>
                      </a:r>
                    </a:p>
                  </a:txBody>
                  <a:tcPr anchor="ctr" marL="27432" marR="27432" marT="4572" marB="4572">
                    <a:lnL w="6350">
                      <a:solidFill>
                        <a:srgbClr val="E2E7F2"/>
                      </a:solidFill>
                    </a:lnL>
                    <a:lnR w="6350">
                      <a:solidFill>
                        <a:srgbClr val="E2E7F2"/>
                      </a:solidFill>
                    </a:lnR>
                    <a:lnT w="6350">
                      <a:solidFill>
                        <a:srgbClr val="E2E7F2"/>
                      </a:solidFill>
                    </a:lnT>
                    <a:lnB w="6350">
                      <a:solidFill>
                        <a:srgbClr val="E2E7F2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wrap="none"/>
                    <a:lstStyle/>
                    <a:p>
                      <a:pPr algn="r"/>
                      <a:r>
                        <a:rPr sz="800" b="0">
                          <a:solidFill>
                            <a:srgbClr val="26292E"/>
                          </a:solidFill>
                          <a:latin typeface="Calibri"/>
                        </a:rPr>
                        <a:t>1,479</a:t>
                      </a:r>
                    </a:p>
                  </a:txBody>
                  <a:tcPr anchor="ctr" marL="27432" marR="27432" marT="4572" marB="4572">
                    <a:lnL w="6350">
                      <a:solidFill>
                        <a:srgbClr val="E2E7F2"/>
                      </a:solidFill>
                    </a:lnL>
                    <a:lnR w="6350">
                      <a:solidFill>
                        <a:srgbClr val="E2E7F2"/>
                      </a:solidFill>
                    </a:lnR>
                    <a:lnT w="6350">
                      <a:solidFill>
                        <a:srgbClr val="E2E7F2"/>
                      </a:solidFill>
                    </a:lnT>
                    <a:lnB w="6350">
                      <a:solidFill>
                        <a:srgbClr val="E2E7F2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wrap="none"/>
                    <a:lstStyle/>
                    <a:p>
                      <a:pPr algn="r"/>
                      <a:r>
                        <a:rPr sz="800" b="0">
                          <a:solidFill>
                            <a:srgbClr val="26292E"/>
                          </a:solidFill>
                          <a:latin typeface="Calibri"/>
                        </a:rPr>
                        <a:t>2,041</a:t>
                      </a:r>
                    </a:p>
                  </a:txBody>
                  <a:tcPr anchor="ctr" marL="27432" marR="27432" marT="4572" marB="4572">
                    <a:lnL w="6350">
                      <a:solidFill>
                        <a:srgbClr val="E2E7F2"/>
                      </a:solidFill>
                    </a:lnL>
                    <a:lnR w="6350">
                      <a:solidFill>
                        <a:srgbClr val="E2E7F2"/>
                      </a:solidFill>
                    </a:lnR>
                    <a:lnT w="6350">
                      <a:solidFill>
                        <a:srgbClr val="E2E7F2"/>
                      </a:solidFill>
                    </a:lnT>
                    <a:lnB w="6350">
                      <a:solidFill>
                        <a:srgbClr val="E2E7F2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wrap="none"/>
                    <a:lstStyle/>
                    <a:p>
                      <a:pPr algn="r"/>
                      <a:r>
                        <a:rPr sz="800" b="0">
                          <a:solidFill>
                            <a:srgbClr val="26292E"/>
                          </a:solidFill>
                          <a:latin typeface="Calibri"/>
                        </a:rPr>
                        <a:t>1,382</a:t>
                      </a:r>
                    </a:p>
                  </a:txBody>
                  <a:tcPr anchor="ctr" marL="27432" marR="27432" marT="4572" marB="4572">
                    <a:lnL w="6350">
                      <a:solidFill>
                        <a:srgbClr val="E2E7F2"/>
                      </a:solidFill>
                    </a:lnL>
                    <a:lnR w="6350">
                      <a:solidFill>
                        <a:srgbClr val="E2E7F2"/>
                      </a:solidFill>
                    </a:lnR>
                    <a:lnT w="6350">
                      <a:solidFill>
                        <a:srgbClr val="E2E7F2"/>
                      </a:solidFill>
                    </a:lnT>
                    <a:lnB w="6350">
                      <a:solidFill>
                        <a:srgbClr val="E2E7F2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wrap="none"/>
                    <a:lstStyle/>
                    <a:p>
                      <a:pPr algn="r"/>
                      <a:r>
                        <a:rPr sz="800" b="0">
                          <a:solidFill>
                            <a:srgbClr val="26292E"/>
                          </a:solidFill>
                          <a:latin typeface="Calibri"/>
                        </a:rPr>
                        <a:t>711</a:t>
                      </a:r>
                    </a:p>
                  </a:txBody>
                  <a:tcPr anchor="ctr" marL="27432" marR="27432" marT="4572" marB="4572">
                    <a:lnL w="6350">
                      <a:solidFill>
                        <a:srgbClr val="E2E7F2"/>
                      </a:solidFill>
                    </a:lnL>
                    <a:lnR w="6350">
                      <a:solidFill>
                        <a:srgbClr val="E2E7F2"/>
                      </a:solidFill>
                    </a:lnR>
                    <a:lnT w="6350">
                      <a:solidFill>
                        <a:srgbClr val="E2E7F2"/>
                      </a:solidFill>
                    </a:lnT>
                    <a:lnB w="6350">
                      <a:solidFill>
                        <a:srgbClr val="E2E7F2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wrap="none"/>
                    <a:lstStyle/>
                    <a:p>
                      <a:pPr algn="r"/>
                      <a:r>
                        <a:rPr sz="800" b="0">
                          <a:solidFill>
                            <a:srgbClr val="26292E"/>
                          </a:solidFill>
                          <a:latin typeface="Calibri"/>
                        </a:rPr>
                        <a:t>1,203</a:t>
                      </a:r>
                    </a:p>
                  </a:txBody>
                  <a:tcPr anchor="ctr" marL="27432" marR="27432" marT="4572" marB="4572">
                    <a:lnL w="6350">
                      <a:solidFill>
                        <a:srgbClr val="E2E7F2"/>
                      </a:solidFill>
                    </a:lnL>
                    <a:lnR w="6350">
                      <a:solidFill>
                        <a:srgbClr val="E2E7F2"/>
                      </a:solidFill>
                    </a:lnR>
                    <a:lnT w="6350">
                      <a:solidFill>
                        <a:srgbClr val="E2E7F2"/>
                      </a:solidFill>
                    </a:lnT>
                    <a:lnB w="6350">
                      <a:solidFill>
                        <a:srgbClr val="E2E7F2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wrap="none"/>
                    <a:lstStyle/>
                    <a:p>
                      <a:pPr algn="r"/>
                      <a:r>
                        <a:rPr sz="800" b="0">
                          <a:solidFill>
                            <a:srgbClr val="26292E"/>
                          </a:solidFill>
                          <a:latin typeface="Calibri"/>
                        </a:rPr>
                        <a:t>1,315</a:t>
                      </a:r>
                    </a:p>
                  </a:txBody>
                  <a:tcPr anchor="ctr" marL="27432" marR="27432" marT="4572" marB="4572">
                    <a:lnL w="6350">
                      <a:solidFill>
                        <a:srgbClr val="E2E7F2"/>
                      </a:solidFill>
                    </a:lnL>
                    <a:lnR w="6350">
                      <a:solidFill>
                        <a:srgbClr val="E2E7F2"/>
                      </a:solidFill>
                    </a:lnR>
                    <a:lnT w="6350">
                      <a:solidFill>
                        <a:srgbClr val="E2E7F2"/>
                      </a:solidFill>
                    </a:lnT>
                    <a:lnB w="6350">
                      <a:solidFill>
                        <a:srgbClr val="E2E7F2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wrap="none"/>
                    <a:lstStyle/>
                    <a:p>
                      <a:pPr algn="r"/>
                      <a:r>
                        <a:rPr sz="800" b="1">
                          <a:solidFill>
                            <a:srgbClr val="26292E"/>
                          </a:solidFill>
                          <a:latin typeface="Calibri"/>
                        </a:rPr>
                        <a:t>8,131</a:t>
                      </a:r>
                    </a:p>
                  </a:txBody>
                  <a:tcPr anchor="ctr" marL="27432" marR="27432" marT="4572" marB="4572">
                    <a:lnL w="6350">
                      <a:solidFill>
                        <a:srgbClr val="E2E7F2"/>
                      </a:solidFill>
                    </a:lnL>
                    <a:lnR w="6350">
                      <a:solidFill>
                        <a:srgbClr val="E2E7F2"/>
                      </a:solidFill>
                    </a:lnR>
                    <a:lnT w="6350">
                      <a:solidFill>
                        <a:srgbClr val="E2E7F2"/>
                      </a:solidFill>
                    </a:lnT>
                    <a:lnB w="6350">
                      <a:solidFill>
                        <a:srgbClr val="E2E7F2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wrap="none"/>
                    <a:lstStyle/>
                    <a:p>
                      <a:pPr algn="r"/>
                      <a:r>
                        <a:rPr sz="800" b="0">
                          <a:solidFill>
                            <a:srgbClr val="26292E"/>
                          </a:solidFill>
                          <a:latin typeface="Calibri"/>
                        </a:rPr>
                        <a:t>16%</a:t>
                      </a:r>
                    </a:p>
                  </a:txBody>
                  <a:tcPr anchor="ctr" marL="27432" marR="27432" marT="4572" marB="4572">
                    <a:lnL w="6350">
                      <a:solidFill>
                        <a:srgbClr val="E2E7F2"/>
                      </a:solidFill>
                    </a:lnL>
                    <a:lnR w="6350">
                      <a:solidFill>
                        <a:srgbClr val="E2E7F2"/>
                      </a:solidFill>
                    </a:lnR>
                    <a:lnT w="6350">
                      <a:solidFill>
                        <a:srgbClr val="E2E7F2"/>
                      </a:solidFill>
                    </a:lnT>
                    <a:lnB w="6350">
                      <a:solidFill>
                        <a:srgbClr val="E2E7F2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wrap="none"/>
                    <a:lstStyle/>
                    <a:p>
                      <a:pPr algn="r"/>
                      <a:r>
                        <a:rPr sz="800" b="1">
                          <a:solidFill>
                            <a:srgbClr val="C62828"/>
                          </a:solidFill>
                          <a:latin typeface="Calibri"/>
                        </a:rPr>
                        <a:t>-36%</a:t>
                      </a:r>
                    </a:p>
                  </a:txBody>
                  <a:tcPr anchor="ctr" marL="27432" marR="27432" marT="4572" marB="4572">
                    <a:lnL w="6350">
                      <a:solidFill>
                        <a:srgbClr val="E2E7F2"/>
                      </a:solidFill>
                    </a:lnL>
                    <a:lnR w="6350">
                      <a:solidFill>
                        <a:srgbClr val="E2E7F2"/>
                      </a:solidFill>
                    </a:lnR>
                    <a:lnT w="6350">
                      <a:solidFill>
                        <a:srgbClr val="E2E7F2"/>
                      </a:solidFill>
                    </a:lnT>
                    <a:lnB w="6350">
                      <a:solidFill>
                        <a:srgbClr val="E2E7F2"/>
                      </a:solidFill>
                    </a:lnB>
                    <a:solidFill>
                      <a:srgbClr val="FFFFFF"/>
                    </a:solidFill>
                  </a:tcPr>
                </a:tc>
              </a:tr>
              <a:tr h="173736">
                <a:tc>
                  <a:txBody>
                    <a:bodyPr wrap="none"/>
                    <a:lstStyle/>
                    <a:p>
                      <a:pPr algn="l"/>
                      <a:r>
                        <a:rPr sz="800" b="0">
                          <a:solidFill>
                            <a:srgbClr val="595959"/>
                          </a:solidFill>
                          <a:latin typeface="Calibri"/>
                        </a:rPr>
                        <a:t>   ’25</a:t>
                      </a:r>
                    </a:p>
                  </a:txBody>
                  <a:tcPr anchor="ctr" marL="27432" marR="27432" marT="4572" marB="4572">
                    <a:lnL w="6350">
                      <a:solidFill>
                        <a:srgbClr val="E2E7F2"/>
                      </a:solidFill>
                    </a:lnL>
                    <a:lnR w="6350">
                      <a:solidFill>
                        <a:srgbClr val="E2E7F2"/>
                      </a:solidFill>
                    </a:lnR>
                    <a:lnT w="6350">
                      <a:solidFill>
                        <a:srgbClr val="E2E7F2"/>
                      </a:solidFill>
                    </a:lnT>
                    <a:lnB w="6350">
                      <a:solidFill>
                        <a:srgbClr val="E2E7F2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wrap="none"/>
                    <a:lstStyle/>
                    <a:p>
                      <a:pPr algn="r"/>
                      <a:r>
                        <a:rPr sz="800" b="0">
                          <a:solidFill>
                            <a:srgbClr val="595959"/>
                          </a:solidFill>
                          <a:latin typeface="Calibri"/>
                        </a:rPr>
                        <a:t>2,712</a:t>
                      </a:r>
                    </a:p>
                  </a:txBody>
                  <a:tcPr anchor="ctr" marL="27432" marR="27432" marT="4572" marB="4572">
                    <a:lnL w="6350">
                      <a:solidFill>
                        <a:srgbClr val="E2E7F2"/>
                      </a:solidFill>
                    </a:lnL>
                    <a:lnR w="6350">
                      <a:solidFill>
                        <a:srgbClr val="E2E7F2"/>
                      </a:solidFill>
                    </a:lnR>
                    <a:lnT w="6350">
                      <a:solidFill>
                        <a:srgbClr val="E2E7F2"/>
                      </a:solidFill>
                    </a:lnT>
                    <a:lnB w="6350">
                      <a:solidFill>
                        <a:srgbClr val="E2E7F2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wrap="none"/>
                    <a:lstStyle/>
                    <a:p>
                      <a:pPr algn="r"/>
                      <a:r>
                        <a:rPr sz="800" b="0">
                          <a:solidFill>
                            <a:srgbClr val="595959"/>
                          </a:solidFill>
                          <a:latin typeface="Calibri"/>
                        </a:rPr>
                        <a:t>2,181</a:t>
                      </a:r>
                    </a:p>
                  </a:txBody>
                  <a:tcPr anchor="ctr" marL="27432" marR="27432" marT="4572" marB="4572">
                    <a:lnL w="6350">
                      <a:solidFill>
                        <a:srgbClr val="E2E7F2"/>
                      </a:solidFill>
                    </a:lnL>
                    <a:lnR w="6350">
                      <a:solidFill>
                        <a:srgbClr val="E2E7F2"/>
                      </a:solidFill>
                    </a:lnR>
                    <a:lnT w="6350">
                      <a:solidFill>
                        <a:srgbClr val="E2E7F2"/>
                      </a:solidFill>
                    </a:lnT>
                    <a:lnB w="6350">
                      <a:solidFill>
                        <a:srgbClr val="E2E7F2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wrap="none"/>
                    <a:lstStyle/>
                    <a:p>
                      <a:pPr algn="r"/>
                      <a:r>
                        <a:rPr sz="800" b="0">
                          <a:solidFill>
                            <a:srgbClr val="595959"/>
                          </a:solidFill>
                          <a:latin typeface="Calibri"/>
                        </a:rPr>
                        <a:t>1,623</a:t>
                      </a:r>
                    </a:p>
                  </a:txBody>
                  <a:tcPr anchor="ctr" marL="27432" marR="27432" marT="4572" marB="4572">
                    <a:lnL w="6350">
                      <a:solidFill>
                        <a:srgbClr val="E2E7F2"/>
                      </a:solidFill>
                    </a:lnL>
                    <a:lnR w="6350">
                      <a:solidFill>
                        <a:srgbClr val="E2E7F2"/>
                      </a:solidFill>
                    </a:lnR>
                    <a:lnT w="6350">
                      <a:solidFill>
                        <a:srgbClr val="E2E7F2"/>
                      </a:solidFill>
                    </a:lnT>
                    <a:lnB w="6350">
                      <a:solidFill>
                        <a:srgbClr val="E2E7F2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wrap="none"/>
                    <a:lstStyle/>
                    <a:p>
                      <a:pPr algn="r"/>
                      <a:r>
                        <a:rPr sz="800" b="0">
                          <a:solidFill>
                            <a:srgbClr val="595959"/>
                          </a:solidFill>
                          <a:latin typeface="Calibri"/>
                        </a:rPr>
                        <a:t>1,421</a:t>
                      </a:r>
                    </a:p>
                  </a:txBody>
                  <a:tcPr anchor="ctr" marL="27432" marR="27432" marT="4572" marB="4572">
                    <a:lnL w="6350">
                      <a:solidFill>
                        <a:srgbClr val="E2E7F2"/>
                      </a:solidFill>
                    </a:lnL>
                    <a:lnR w="6350">
                      <a:solidFill>
                        <a:srgbClr val="E2E7F2"/>
                      </a:solidFill>
                    </a:lnR>
                    <a:lnT w="6350">
                      <a:solidFill>
                        <a:srgbClr val="E2E7F2"/>
                      </a:solidFill>
                    </a:lnT>
                    <a:lnB w="6350">
                      <a:solidFill>
                        <a:srgbClr val="E2E7F2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wrap="none"/>
                    <a:lstStyle/>
                    <a:p>
                      <a:pPr algn="r"/>
                      <a:r>
                        <a:rPr sz="800" b="0">
                          <a:solidFill>
                            <a:srgbClr val="595959"/>
                          </a:solidFill>
                          <a:latin typeface="Calibri"/>
                        </a:rPr>
                        <a:t>2,290</a:t>
                      </a:r>
                    </a:p>
                  </a:txBody>
                  <a:tcPr anchor="ctr" marL="27432" marR="27432" marT="4572" marB="4572">
                    <a:lnL w="6350">
                      <a:solidFill>
                        <a:srgbClr val="E2E7F2"/>
                      </a:solidFill>
                    </a:lnL>
                    <a:lnR w="6350">
                      <a:solidFill>
                        <a:srgbClr val="E2E7F2"/>
                      </a:solidFill>
                    </a:lnR>
                    <a:lnT w="6350">
                      <a:solidFill>
                        <a:srgbClr val="E2E7F2"/>
                      </a:solidFill>
                    </a:lnT>
                    <a:lnB w="6350">
                      <a:solidFill>
                        <a:srgbClr val="E2E7F2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wrap="none"/>
                    <a:lstStyle/>
                    <a:p>
                      <a:pPr algn="r"/>
                      <a:r>
                        <a:rPr sz="800" b="0">
                          <a:solidFill>
                            <a:srgbClr val="595959"/>
                          </a:solidFill>
                          <a:latin typeface="Calibri"/>
                        </a:rPr>
                        <a:t>2,567</a:t>
                      </a:r>
                    </a:p>
                  </a:txBody>
                  <a:tcPr anchor="ctr" marL="27432" marR="27432" marT="4572" marB="4572">
                    <a:lnL w="6350">
                      <a:solidFill>
                        <a:srgbClr val="E2E7F2"/>
                      </a:solidFill>
                    </a:lnL>
                    <a:lnR w="6350">
                      <a:solidFill>
                        <a:srgbClr val="E2E7F2"/>
                      </a:solidFill>
                    </a:lnR>
                    <a:lnT w="6350">
                      <a:solidFill>
                        <a:srgbClr val="E2E7F2"/>
                      </a:solidFill>
                    </a:lnT>
                    <a:lnB w="6350">
                      <a:solidFill>
                        <a:srgbClr val="E2E7F2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wrap="none"/>
                    <a:lstStyle/>
                    <a:p>
                      <a:pPr algn="r"/>
                      <a:r>
                        <a:rPr sz="800" b="0">
                          <a:solidFill>
                            <a:srgbClr val="595959"/>
                          </a:solidFill>
                          <a:latin typeface="Calibri"/>
                        </a:rPr>
                        <a:t>12,794</a:t>
                      </a:r>
                    </a:p>
                  </a:txBody>
                  <a:tcPr anchor="ctr" marL="27432" marR="27432" marT="4572" marB="4572">
                    <a:lnL w="6350">
                      <a:solidFill>
                        <a:srgbClr val="E2E7F2"/>
                      </a:solidFill>
                    </a:lnL>
                    <a:lnR w="6350">
                      <a:solidFill>
                        <a:srgbClr val="E2E7F2"/>
                      </a:solidFill>
                    </a:lnR>
                    <a:lnT w="6350">
                      <a:solidFill>
                        <a:srgbClr val="E2E7F2"/>
                      </a:solidFill>
                    </a:lnT>
                    <a:lnB w="6350">
                      <a:solidFill>
                        <a:srgbClr val="E2E7F2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wrap="none"/>
                    <a:lstStyle/>
                    <a:p>
                      <a:pPr algn="r"/>
                      <a:r>
                        <a:rPr sz="800" b="0">
                          <a:solidFill>
                            <a:srgbClr val="595959"/>
                          </a:solidFill>
                          <a:latin typeface="Calibri"/>
                        </a:rPr>
                        <a:t>27%</a:t>
                      </a:r>
                    </a:p>
                  </a:txBody>
                  <a:tcPr anchor="ctr" marL="27432" marR="27432" marT="4572" marB="4572">
                    <a:lnL w="6350">
                      <a:solidFill>
                        <a:srgbClr val="E2E7F2"/>
                      </a:solidFill>
                    </a:lnL>
                    <a:lnR w="6350">
                      <a:solidFill>
                        <a:srgbClr val="E2E7F2"/>
                      </a:solidFill>
                    </a:lnR>
                    <a:lnT w="6350">
                      <a:solidFill>
                        <a:srgbClr val="E2E7F2"/>
                      </a:solidFill>
                    </a:lnT>
                    <a:lnB w="6350">
                      <a:solidFill>
                        <a:srgbClr val="E2E7F2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wrap="none"/>
                    <a:lstStyle/>
                    <a:p>
                      <a:pPr algn="l"/>
                      <a:r>
                        <a:rPr sz="800" b="0">
                          <a:solidFill>
                            <a:srgbClr val="26292E"/>
                          </a:solidFill>
                          <a:latin typeface="Calibri"/>
                        </a:rPr>
                        <a:t/>
                      </a:r>
                    </a:p>
                  </a:txBody>
                  <a:tcPr anchor="ctr" marL="27432" marR="27432" marT="4572" marB="4572">
                    <a:lnL w="6350">
                      <a:solidFill>
                        <a:srgbClr val="E2E7F2"/>
                      </a:solidFill>
                    </a:lnL>
                    <a:lnR w="6350">
                      <a:solidFill>
                        <a:srgbClr val="E2E7F2"/>
                      </a:solidFill>
                    </a:lnR>
                    <a:lnT w="6350">
                      <a:solidFill>
                        <a:srgbClr val="E2E7F2"/>
                      </a:solidFill>
                    </a:lnT>
                    <a:lnB w="6350">
                      <a:solidFill>
                        <a:srgbClr val="E2E7F2"/>
                      </a:solidFill>
                    </a:lnB>
                    <a:solidFill>
                      <a:srgbClr val="FFFFFF"/>
                    </a:solidFill>
                  </a:tcPr>
                </a:tc>
              </a:tr>
              <a:tr h="173736">
                <a:tc>
                  <a:txBody>
                    <a:bodyPr wrap="none"/>
                    <a:lstStyle/>
                    <a:p>
                      <a:pPr algn="l"/>
                      <a:r>
                        <a:rPr sz="800" b="1">
                          <a:solidFill>
                            <a:srgbClr val="26292E"/>
                          </a:solidFill>
                          <a:latin typeface="Calibri"/>
                        </a:rPr>
                        <a:t>Group Corporate</a:t>
                      </a:r>
                    </a:p>
                  </a:txBody>
                  <a:tcPr anchor="ctr" marL="27432" marR="27432" marT="4572" marB="4572">
                    <a:lnL w="6350">
                      <a:solidFill>
                        <a:srgbClr val="E2E7F2"/>
                      </a:solidFill>
                    </a:lnL>
                    <a:lnR w="6350">
                      <a:solidFill>
                        <a:srgbClr val="E2E7F2"/>
                      </a:solidFill>
                    </a:lnR>
                    <a:lnT w="6350">
                      <a:solidFill>
                        <a:srgbClr val="E2E7F2"/>
                      </a:solidFill>
                    </a:lnT>
                    <a:lnB w="6350">
                      <a:solidFill>
                        <a:srgbClr val="E2E7F2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wrap="none"/>
                    <a:lstStyle/>
                    <a:p>
                      <a:pPr algn="r"/>
                      <a:r>
                        <a:rPr sz="800" b="0">
                          <a:solidFill>
                            <a:srgbClr val="26292E"/>
                          </a:solidFill>
                          <a:latin typeface="Calibri"/>
                        </a:rPr>
                        <a:t>294</a:t>
                      </a:r>
                    </a:p>
                  </a:txBody>
                  <a:tcPr anchor="ctr" marL="27432" marR="27432" marT="4572" marB="4572">
                    <a:lnL w="6350">
                      <a:solidFill>
                        <a:srgbClr val="E2E7F2"/>
                      </a:solidFill>
                    </a:lnL>
                    <a:lnR w="6350">
                      <a:solidFill>
                        <a:srgbClr val="E2E7F2"/>
                      </a:solidFill>
                    </a:lnR>
                    <a:lnT w="6350">
                      <a:solidFill>
                        <a:srgbClr val="E2E7F2"/>
                      </a:solidFill>
                    </a:lnT>
                    <a:lnB w="6350">
                      <a:solidFill>
                        <a:srgbClr val="E2E7F2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wrap="none"/>
                    <a:lstStyle/>
                    <a:p>
                      <a:pPr algn="r"/>
                      <a:r>
                        <a:rPr sz="800" b="0">
                          <a:solidFill>
                            <a:srgbClr val="26292E"/>
                          </a:solidFill>
                          <a:latin typeface="Calibri"/>
                        </a:rPr>
                        <a:t>126</a:t>
                      </a:r>
                    </a:p>
                  </a:txBody>
                  <a:tcPr anchor="ctr" marL="27432" marR="27432" marT="4572" marB="4572">
                    <a:lnL w="6350">
                      <a:solidFill>
                        <a:srgbClr val="E2E7F2"/>
                      </a:solidFill>
                    </a:lnL>
                    <a:lnR w="6350">
                      <a:solidFill>
                        <a:srgbClr val="E2E7F2"/>
                      </a:solidFill>
                    </a:lnR>
                    <a:lnT w="6350">
                      <a:solidFill>
                        <a:srgbClr val="E2E7F2"/>
                      </a:solidFill>
                    </a:lnT>
                    <a:lnB w="6350">
                      <a:solidFill>
                        <a:srgbClr val="E2E7F2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wrap="none"/>
                    <a:lstStyle/>
                    <a:p>
                      <a:pPr algn="r"/>
                      <a:r>
                        <a:rPr sz="800" b="0">
                          <a:solidFill>
                            <a:srgbClr val="26292E"/>
                          </a:solidFill>
                          <a:latin typeface="Calibri"/>
                        </a:rPr>
                        <a:t>502</a:t>
                      </a:r>
                    </a:p>
                  </a:txBody>
                  <a:tcPr anchor="ctr" marL="27432" marR="27432" marT="4572" marB="4572">
                    <a:lnL w="6350">
                      <a:solidFill>
                        <a:srgbClr val="E2E7F2"/>
                      </a:solidFill>
                    </a:lnL>
                    <a:lnR w="6350">
                      <a:solidFill>
                        <a:srgbClr val="E2E7F2"/>
                      </a:solidFill>
                    </a:lnR>
                    <a:lnT w="6350">
                      <a:solidFill>
                        <a:srgbClr val="E2E7F2"/>
                      </a:solidFill>
                    </a:lnT>
                    <a:lnB w="6350">
                      <a:solidFill>
                        <a:srgbClr val="E2E7F2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wrap="none"/>
                    <a:lstStyle/>
                    <a:p>
                      <a:pPr algn="r"/>
                      <a:r>
                        <a:rPr sz="800" b="0">
                          <a:solidFill>
                            <a:srgbClr val="26292E"/>
                          </a:solidFill>
                          <a:latin typeface="Calibri"/>
                        </a:rPr>
                        <a:t>941</a:t>
                      </a:r>
                    </a:p>
                  </a:txBody>
                  <a:tcPr anchor="ctr" marL="27432" marR="27432" marT="4572" marB="4572">
                    <a:lnL w="6350">
                      <a:solidFill>
                        <a:srgbClr val="E2E7F2"/>
                      </a:solidFill>
                    </a:lnL>
                    <a:lnR w="6350">
                      <a:solidFill>
                        <a:srgbClr val="E2E7F2"/>
                      </a:solidFill>
                    </a:lnR>
                    <a:lnT w="6350">
                      <a:solidFill>
                        <a:srgbClr val="E2E7F2"/>
                      </a:solidFill>
                    </a:lnT>
                    <a:lnB w="6350">
                      <a:solidFill>
                        <a:srgbClr val="E2E7F2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wrap="none"/>
                    <a:lstStyle/>
                    <a:p>
                      <a:pPr algn="r"/>
                      <a:r>
                        <a:rPr sz="800" b="0">
                          <a:solidFill>
                            <a:srgbClr val="26292E"/>
                          </a:solidFill>
                          <a:latin typeface="Calibri"/>
                        </a:rPr>
                        <a:t>193</a:t>
                      </a:r>
                    </a:p>
                  </a:txBody>
                  <a:tcPr anchor="ctr" marL="27432" marR="27432" marT="4572" marB="4572">
                    <a:lnL w="6350">
                      <a:solidFill>
                        <a:srgbClr val="E2E7F2"/>
                      </a:solidFill>
                    </a:lnL>
                    <a:lnR w="6350">
                      <a:solidFill>
                        <a:srgbClr val="E2E7F2"/>
                      </a:solidFill>
                    </a:lnR>
                    <a:lnT w="6350">
                      <a:solidFill>
                        <a:srgbClr val="E2E7F2"/>
                      </a:solidFill>
                    </a:lnT>
                    <a:lnB w="6350">
                      <a:solidFill>
                        <a:srgbClr val="E2E7F2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wrap="none"/>
                    <a:lstStyle/>
                    <a:p>
                      <a:pPr algn="r"/>
                      <a:r>
                        <a:rPr sz="800" b="0">
                          <a:solidFill>
                            <a:srgbClr val="26292E"/>
                          </a:solidFill>
                          <a:latin typeface="Calibri"/>
                        </a:rPr>
                        <a:t>–</a:t>
                      </a:r>
                    </a:p>
                  </a:txBody>
                  <a:tcPr anchor="ctr" marL="27432" marR="27432" marT="4572" marB="4572">
                    <a:lnL w="6350">
                      <a:solidFill>
                        <a:srgbClr val="E2E7F2"/>
                      </a:solidFill>
                    </a:lnL>
                    <a:lnR w="6350">
                      <a:solidFill>
                        <a:srgbClr val="E2E7F2"/>
                      </a:solidFill>
                    </a:lnR>
                    <a:lnT w="6350">
                      <a:solidFill>
                        <a:srgbClr val="E2E7F2"/>
                      </a:solidFill>
                    </a:lnT>
                    <a:lnB w="6350">
                      <a:solidFill>
                        <a:srgbClr val="E2E7F2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wrap="none"/>
                    <a:lstStyle/>
                    <a:p>
                      <a:pPr algn="r"/>
                      <a:r>
                        <a:rPr sz="800" b="1">
                          <a:solidFill>
                            <a:srgbClr val="26292E"/>
                          </a:solidFill>
                          <a:latin typeface="Calibri"/>
                        </a:rPr>
                        <a:t>2,056</a:t>
                      </a:r>
                    </a:p>
                  </a:txBody>
                  <a:tcPr anchor="ctr" marL="27432" marR="27432" marT="4572" marB="4572">
                    <a:lnL w="6350">
                      <a:solidFill>
                        <a:srgbClr val="E2E7F2"/>
                      </a:solidFill>
                    </a:lnL>
                    <a:lnR w="6350">
                      <a:solidFill>
                        <a:srgbClr val="E2E7F2"/>
                      </a:solidFill>
                    </a:lnR>
                    <a:lnT w="6350">
                      <a:solidFill>
                        <a:srgbClr val="E2E7F2"/>
                      </a:solidFill>
                    </a:lnT>
                    <a:lnB w="6350">
                      <a:solidFill>
                        <a:srgbClr val="E2E7F2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wrap="none"/>
                    <a:lstStyle/>
                    <a:p>
                      <a:pPr algn="r"/>
                      <a:r>
                        <a:rPr sz="800" b="0">
                          <a:solidFill>
                            <a:srgbClr val="26292E"/>
                          </a:solidFill>
                          <a:latin typeface="Calibri"/>
                        </a:rPr>
                        <a:t>4%</a:t>
                      </a:r>
                    </a:p>
                  </a:txBody>
                  <a:tcPr anchor="ctr" marL="27432" marR="27432" marT="4572" marB="4572">
                    <a:lnL w="6350">
                      <a:solidFill>
                        <a:srgbClr val="E2E7F2"/>
                      </a:solidFill>
                    </a:lnL>
                    <a:lnR w="6350">
                      <a:solidFill>
                        <a:srgbClr val="E2E7F2"/>
                      </a:solidFill>
                    </a:lnR>
                    <a:lnT w="6350">
                      <a:solidFill>
                        <a:srgbClr val="E2E7F2"/>
                      </a:solidFill>
                    </a:lnT>
                    <a:lnB w="6350">
                      <a:solidFill>
                        <a:srgbClr val="E2E7F2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wrap="none"/>
                    <a:lstStyle/>
                    <a:p>
                      <a:pPr algn="r"/>
                      <a:r>
                        <a:rPr sz="800" b="1">
                          <a:solidFill>
                            <a:srgbClr val="1E7B34"/>
                          </a:solidFill>
                          <a:latin typeface="Calibri"/>
                        </a:rPr>
                        <a:t>+185%</a:t>
                      </a:r>
                    </a:p>
                  </a:txBody>
                  <a:tcPr anchor="ctr" marL="27432" marR="27432" marT="4572" marB="4572">
                    <a:lnL w="6350">
                      <a:solidFill>
                        <a:srgbClr val="E2E7F2"/>
                      </a:solidFill>
                    </a:lnL>
                    <a:lnR w="6350">
                      <a:solidFill>
                        <a:srgbClr val="E2E7F2"/>
                      </a:solidFill>
                    </a:lnR>
                    <a:lnT w="6350">
                      <a:solidFill>
                        <a:srgbClr val="E2E7F2"/>
                      </a:solidFill>
                    </a:lnT>
                    <a:lnB w="6350">
                      <a:solidFill>
                        <a:srgbClr val="E2E7F2"/>
                      </a:solidFill>
                    </a:lnB>
                    <a:solidFill>
                      <a:srgbClr val="FFFFFF"/>
                    </a:solidFill>
                  </a:tcPr>
                </a:tc>
              </a:tr>
              <a:tr h="173736">
                <a:tc>
                  <a:txBody>
                    <a:bodyPr wrap="none"/>
                    <a:lstStyle/>
                    <a:p>
                      <a:pPr algn="l"/>
                      <a:r>
                        <a:rPr sz="800" b="0">
                          <a:solidFill>
                            <a:srgbClr val="595959"/>
                          </a:solidFill>
                          <a:latin typeface="Calibri"/>
                        </a:rPr>
                        <a:t>   ’25</a:t>
                      </a:r>
                    </a:p>
                  </a:txBody>
                  <a:tcPr anchor="ctr" marL="27432" marR="27432" marT="4572" marB="4572">
                    <a:lnL w="6350">
                      <a:solidFill>
                        <a:srgbClr val="E2E7F2"/>
                      </a:solidFill>
                    </a:lnL>
                    <a:lnR w="6350">
                      <a:solidFill>
                        <a:srgbClr val="E2E7F2"/>
                      </a:solidFill>
                    </a:lnR>
                    <a:lnT w="6350">
                      <a:solidFill>
                        <a:srgbClr val="E2E7F2"/>
                      </a:solidFill>
                    </a:lnT>
                    <a:lnB w="6350">
                      <a:solidFill>
                        <a:srgbClr val="E2E7F2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wrap="none"/>
                    <a:lstStyle/>
                    <a:p>
                      <a:pPr algn="r"/>
                      <a:r>
                        <a:rPr sz="800" b="0">
                          <a:solidFill>
                            <a:srgbClr val="595959"/>
                          </a:solidFill>
                          <a:latin typeface="Calibri"/>
                        </a:rPr>
                        <a:t>222</a:t>
                      </a:r>
                    </a:p>
                  </a:txBody>
                  <a:tcPr anchor="ctr" marL="27432" marR="27432" marT="4572" marB="4572">
                    <a:lnL w="6350">
                      <a:solidFill>
                        <a:srgbClr val="E2E7F2"/>
                      </a:solidFill>
                    </a:lnL>
                    <a:lnR w="6350">
                      <a:solidFill>
                        <a:srgbClr val="E2E7F2"/>
                      </a:solidFill>
                    </a:lnR>
                    <a:lnT w="6350">
                      <a:solidFill>
                        <a:srgbClr val="E2E7F2"/>
                      </a:solidFill>
                    </a:lnT>
                    <a:lnB w="6350">
                      <a:solidFill>
                        <a:srgbClr val="E2E7F2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wrap="none"/>
                    <a:lstStyle/>
                    <a:p>
                      <a:pPr algn="r"/>
                      <a:r>
                        <a:rPr sz="800" b="0">
                          <a:solidFill>
                            <a:srgbClr val="595959"/>
                          </a:solidFill>
                          <a:latin typeface="Calibri"/>
                        </a:rPr>
                        <a:t>98</a:t>
                      </a:r>
                    </a:p>
                  </a:txBody>
                  <a:tcPr anchor="ctr" marL="27432" marR="27432" marT="4572" marB="4572">
                    <a:lnL w="6350">
                      <a:solidFill>
                        <a:srgbClr val="E2E7F2"/>
                      </a:solidFill>
                    </a:lnL>
                    <a:lnR w="6350">
                      <a:solidFill>
                        <a:srgbClr val="E2E7F2"/>
                      </a:solidFill>
                    </a:lnR>
                    <a:lnT w="6350">
                      <a:solidFill>
                        <a:srgbClr val="E2E7F2"/>
                      </a:solidFill>
                    </a:lnT>
                    <a:lnB w="6350">
                      <a:solidFill>
                        <a:srgbClr val="E2E7F2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wrap="none"/>
                    <a:lstStyle/>
                    <a:p>
                      <a:pPr algn="r"/>
                      <a:r>
                        <a:rPr sz="800" b="0">
                          <a:solidFill>
                            <a:srgbClr val="595959"/>
                          </a:solidFill>
                          <a:latin typeface="Calibri"/>
                        </a:rPr>
                        <a:t>166</a:t>
                      </a:r>
                    </a:p>
                  </a:txBody>
                  <a:tcPr anchor="ctr" marL="27432" marR="27432" marT="4572" marB="4572">
                    <a:lnL w="6350">
                      <a:solidFill>
                        <a:srgbClr val="E2E7F2"/>
                      </a:solidFill>
                    </a:lnL>
                    <a:lnR w="6350">
                      <a:solidFill>
                        <a:srgbClr val="E2E7F2"/>
                      </a:solidFill>
                    </a:lnR>
                    <a:lnT w="6350">
                      <a:solidFill>
                        <a:srgbClr val="E2E7F2"/>
                      </a:solidFill>
                    </a:lnT>
                    <a:lnB w="6350">
                      <a:solidFill>
                        <a:srgbClr val="E2E7F2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wrap="none"/>
                    <a:lstStyle/>
                    <a:p>
                      <a:pPr algn="r"/>
                      <a:r>
                        <a:rPr sz="800" b="0">
                          <a:solidFill>
                            <a:srgbClr val="595959"/>
                          </a:solidFill>
                          <a:latin typeface="Calibri"/>
                        </a:rPr>
                        <a:t>208</a:t>
                      </a:r>
                    </a:p>
                  </a:txBody>
                  <a:tcPr anchor="ctr" marL="27432" marR="27432" marT="4572" marB="4572">
                    <a:lnL w="6350">
                      <a:solidFill>
                        <a:srgbClr val="E2E7F2"/>
                      </a:solidFill>
                    </a:lnL>
                    <a:lnR w="6350">
                      <a:solidFill>
                        <a:srgbClr val="E2E7F2"/>
                      </a:solidFill>
                    </a:lnR>
                    <a:lnT w="6350">
                      <a:solidFill>
                        <a:srgbClr val="E2E7F2"/>
                      </a:solidFill>
                    </a:lnT>
                    <a:lnB w="6350">
                      <a:solidFill>
                        <a:srgbClr val="E2E7F2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wrap="none"/>
                    <a:lstStyle/>
                    <a:p>
                      <a:pPr algn="r"/>
                      <a:r>
                        <a:rPr sz="800" b="0">
                          <a:solidFill>
                            <a:srgbClr val="595959"/>
                          </a:solidFill>
                          <a:latin typeface="Calibri"/>
                        </a:rPr>
                        <a:t>–</a:t>
                      </a:r>
                    </a:p>
                  </a:txBody>
                  <a:tcPr anchor="ctr" marL="27432" marR="27432" marT="4572" marB="4572">
                    <a:lnL w="6350">
                      <a:solidFill>
                        <a:srgbClr val="E2E7F2"/>
                      </a:solidFill>
                    </a:lnL>
                    <a:lnR w="6350">
                      <a:solidFill>
                        <a:srgbClr val="E2E7F2"/>
                      </a:solidFill>
                    </a:lnR>
                    <a:lnT w="6350">
                      <a:solidFill>
                        <a:srgbClr val="E2E7F2"/>
                      </a:solidFill>
                    </a:lnT>
                    <a:lnB w="6350">
                      <a:solidFill>
                        <a:srgbClr val="E2E7F2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wrap="none"/>
                    <a:lstStyle/>
                    <a:p>
                      <a:pPr algn="r"/>
                      <a:r>
                        <a:rPr sz="800" b="0">
                          <a:solidFill>
                            <a:srgbClr val="595959"/>
                          </a:solidFill>
                          <a:latin typeface="Calibri"/>
                        </a:rPr>
                        <a:t>27</a:t>
                      </a:r>
                    </a:p>
                  </a:txBody>
                  <a:tcPr anchor="ctr" marL="27432" marR="27432" marT="4572" marB="4572">
                    <a:lnL w="6350">
                      <a:solidFill>
                        <a:srgbClr val="E2E7F2"/>
                      </a:solidFill>
                    </a:lnL>
                    <a:lnR w="6350">
                      <a:solidFill>
                        <a:srgbClr val="E2E7F2"/>
                      </a:solidFill>
                    </a:lnR>
                    <a:lnT w="6350">
                      <a:solidFill>
                        <a:srgbClr val="E2E7F2"/>
                      </a:solidFill>
                    </a:lnT>
                    <a:lnB w="6350">
                      <a:solidFill>
                        <a:srgbClr val="E2E7F2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wrap="none"/>
                    <a:lstStyle/>
                    <a:p>
                      <a:pPr algn="r"/>
                      <a:r>
                        <a:rPr sz="800" b="0">
                          <a:solidFill>
                            <a:srgbClr val="595959"/>
                          </a:solidFill>
                          <a:latin typeface="Calibri"/>
                        </a:rPr>
                        <a:t>721</a:t>
                      </a:r>
                    </a:p>
                  </a:txBody>
                  <a:tcPr anchor="ctr" marL="27432" marR="27432" marT="4572" marB="4572">
                    <a:lnL w="6350">
                      <a:solidFill>
                        <a:srgbClr val="E2E7F2"/>
                      </a:solidFill>
                    </a:lnL>
                    <a:lnR w="6350">
                      <a:solidFill>
                        <a:srgbClr val="E2E7F2"/>
                      </a:solidFill>
                    </a:lnR>
                    <a:lnT w="6350">
                      <a:solidFill>
                        <a:srgbClr val="E2E7F2"/>
                      </a:solidFill>
                    </a:lnT>
                    <a:lnB w="6350">
                      <a:solidFill>
                        <a:srgbClr val="E2E7F2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wrap="none"/>
                    <a:lstStyle/>
                    <a:p>
                      <a:pPr algn="r"/>
                      <a:r>
                        <a:rPr sz="800" b="0">
                          <a:solidFill>
                            <a:srgbClr val="595959"/>
                          </a:solidFill>
                          <a:latin typeface="Calibri"/>
                        </a:rPr>
                        <a:t>1%</a:t>
                      </a:r>
                    </a:p>
                  </a:txBody>
                  <a:tcPr anchor="ctr" marL="27432" marR="27432" marT="4572" marB="4572">
                    <a:lnL w="6350">
                      <a:solidFill>
                        <a:srgbClr val="E2E7F2"/>
                      </a:solidFill>
                    </a:lnL>
                    <a:lnR w="6350">
                      <a:solidFill>
                        <a:srgbClr val="E2E7F2"/>
                      </a:solidFill>
                    </a:lnR>
                    <a:lnT w="6350">
                      <a:solidFill>
                        <a:srgbClr val="E2E7F2"/>
                      </a:solidFill>
                    </a:lnT>
                    <a:lnB w="6350">
                      <a:solidFill>
                        <a:srgbClr val="E2E7F2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wrap="none"/>
                    <a:lstStyle/>
                    <a:p>
                      <a:pPr algn="l"/>
                      <a:r>
                        <a:rPr sz="800" b="0">
                          <a:solidFill>
                            <a:srgbClr val="26292E"/>
                          </a:solidFill>
                          <a:latin typeface="Calibri"/>
                        </a:rPr>
                        <a:t/>
                      </a:r>
                    </a:p>
                  </a:txBody>
                  <a:tcPr anchor="ctr" marL="27432" marR="27432" marT="4572" marB="4572">
                    <a:lnL w="6350">
                      <a:solidFill>
                        <a:srgbClr val="E2E7F2"/>
                      </a:solidFill>
                    </a:lnL>
                    <a:lnR w="6350">
                      <a:solidFill>
                        <a:srgbClr val="E2E7F2"/>
                      </a:solidFill>
                    </a:lnR>
                    <a:lnT w="6350">
                      <a:solidFill>
                        <a:srgbClr val="E2E7F2"/>
                      </a:solidFill>
                    </a:lnT>
                    <a:lnB w="6350">
                      <a:solidFill>
                        <a:srgbClr val="E2E7F2"/>
                      </a:solidFill>
                    </a:lnB>
                    <a:solidFill>
                      <a:srgbClr val="FFFFFF"/>
                    </a:solidFill>
                  </a:tcPr>
                </a:tc>
              </a:tr>
              <a:tr h="173736">
                <a:tc>
                  <a:txBody>
                    <a:bodyPr wrap="none"/>
                    <a:lstStyle/>
                    <a:p>
                      <a:pPr algn="l"/>
                      <a:r>
                        <a:rPr sz="800" b="1">
                          <a:solidFill>
                            <a:srgbClr val="26292E"/>
                          </a:solidFill>
                          <a:latin typeface="Calibri"/>
                        </a:rPr>
                        <a:t>Employee</a:t>
                      </a:r>
                    </a:p>
                  </a:txBody>
                  <a:tcPr anchor="ctr" marL="27432" marR="27432" marT="4572" marB="4572">
                    <a:lnL w="6350">
                      <a:solidFill>
                        <a:srgbClr val="E2E7F2"/>
                      </a:solidFill>
                    </a:lnL>
                    <a:lnR w="6350">
                      <a:solidFill>
                        <a:srgbClr val="E2E7F2"/>
                      </a:solidFill>
                    </a:lnR>
                    <a:lnT w="6350">
                      <a:solidFill>
                        <a:srgbClr val="E2E7F2"/>
                      </a:solidFill>
                    </a:lnT>
                    <a:lnB w="6350">
                      <a:solidFill>
                        <a:srgbClr val="E2E7F2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wrap="none"/>
                    <a:lstStyle/>
                    <a:p>
                      <a:pPr algn="r"/>
                      <a:r>
                        <a:rPr sz="800" b="0">
                          <a:solidFill>
                            <a:srgbClr val="26292E"/>
                          </a:solidFill>
                          <a:latin typeface="Calibri"/>
                        </a:rPr>
                        <a:t>33</a:t>
                      </a:r>
                    </a:p>
                  </a:txBody>
                  <a:tcPr anchor="ctr" marL="27432" marR="27432" marT="4572" marB="4572">
                    <a:lnL w="6350">
                      <a:solidFill>
                        <a:srgbClr val="E2E7F2"/>
                      </a:solidFill>
                    </a:lnL>
                    <a:lnR w="6350">
                      <a:solidFill>
                        <a:srgbClr val="E2E7F2"/>
                      </a:solidFill>
                    </a:lnR>
                    <a:lnT w="6350">
                      <a:solidFill>
                        <a:srgbClr val="E2E7F2"/>
                      </a:solidFill>
                    </a:lnT>
                    <a:lnB w="6350">
                      <a:solidFill>
                        <a:srgbClr val="E2E7F2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wrap="none"/>
                    <a:lstStyle/>
                    <a:p>
                      <a:pPr algn="r"/>
                      <a:r>
                        <a:rPr sz="800" b="0">
                          <a:solidFill>
                            <a:srgbClr val="26292E"/>
                          </a:solidFill>
                          <a:latin typeface="Calibri"/>
                        </a:rPr>
                        <a:t>30</a:t>
                      </a:r>
                    </a:p>
                  </a:txBody>
                  <a:tcPr anchor="ctr" marL="27432" marR="27432" marT="4572" marB="4572">
                    <a:lnL w="6350">
                      <a:solidFill>
                        <a:srgbClr val="E2E7F2"/>
                      </a:solidFill>
                    </a:lnL>
                    <a:lnR w="6350">
                      <a:solidFill>
                        <a:srgbClr val="E2E7F2"/>
                      </a:solidFill>
                    </a:lnR>
                    <a:lnT w="6350">
                      <a:solidFill>
                        <a:srgbClr val="E2E7F2"/>
                      </a:solidFill>
                    </a:lnT>
                    <a:lnB w="6350">
                      <a:solidFill>
                        <a:srgbClr val="E2E7F2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wrap="none"/>
                    <a:lstStyle/>
                    <a:p>
                      <a:pPr algn="r"/>
                      <a:r>
                        <a:rPr sz="800" b="0">
                          <a:solidFill>
                            <a:srgbClr val="26292E"/>
                          </a:solidFill>
                          <a:latin typeface="Calibri"/>
                        </a:rPr>
                        <a:t>17</a:t>
                      </a:r>
                    </a:p>
                  </a:txBody>
                  <a:tcPr anchor="ctr" marL="27432" marR="27432" marT="4572" marB="4572">
                    <a:lnL w="6350">
                      <a:solidFill>
                        <a:srgbClr val="E2E7F2"/>
                      </a:solidFill>
                    </a:lnL>
                    <a:lnR w="6350">
                      <a:solidFill>
                        <a:srgbClr val="E2E7F2"/>
                      </a:solidFill>
                    </a:lnR>
                    <a:lnT w="6350">
                      <a:solidFill>
                        <a:srgbClr val="E2E7F2"/>
                      </a:solidFill>
                    </a:lnT>
                    <a:lnB w="6350">
                      <a:solidFill>
                        <a:srgbClr val="E2E7F2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wrap="none"/>
                    <a:lstStyle/>
                    <a:p>
                      <a:pPr algn="r"/>
                      <a:r>
                        <a:rPr sz="800" b="0">
                          <a:solidFill>
                            <a:srgbClr val="26292E"/>
                          </a:solidFill>
                          <a:latin typeface="Calibri"/>
                        </a:rPr>
                        <a:t>23</a:t>
                      </a:r>
                    </a:p>
                  </a:txBody>
                  <a:tcPr anchor="ctr" marL="27432" marR="27432" marT="4572" marB="4572">
                    <a:lnL w="6350">
                      <a:solidFill>
                        <a:srgbClr val="E2E7F2"/>
                      </a:solidFill>
                    </a:lnL>
                    <a:lnR w="6350">
                      <a:solidFill>
                        <a:srgbClr val="E2E7F2"/>
                      </a:solidFill>
                    </a:lnR>
                    <a:lnT w="6350">
                      <a:solidFill>
                        <a:srgbClr val="E2E7F2"/>
                      </a:solidFill>
                    </a:lnT>
                    <a:lnB w="6350">
                      <a:solidFill>
                        <a:srgbClr val="E2E7F2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wrap="none"/>
                    <a:lstStyle/>
                    <a:p>
                      <a:pPr algn="r"/>
                      <a:r>
                        <a:rPr sz="800" b="0">
                          <a:solidFill>
                            <a:srgbClr val="26292E"/>
                          </a:solidFill>
                          <a:latin typeface="Calibri"/>
                        </a:rPr>
                        <a:t>46</a:t>
                      </a:r>
                    </a:p>
                  </a:txBody>
                  <a:tcPr anchor="ctr" marL="27432" marR="27432" marT="4572" marB="4572">
                    <a:lnL w="6350">
                      <a:solidFill>
                        <a:srgbClr val="E2E7F2"/>
                      </a:solidFill>
                    </a:lnL>
                    <a:lnR w="6350">
                      <a:solidFill>
                        <a:srgbClr val="E2E7F2"/>
                      </a:solidFill>
                    </a:lnR>
                    <a:lnT w="6350">
                      <a:solidFill>
                        <a:srgbClr val="E2E7F2"/>
                      </a:solidFill>
                    </a:lnT>
                    <a:lnB w="6350">
                      <a:solidFill>
                        <a:srgbClr val="E2E7F2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wrap="none"/>
                    <a:lstStyle/>
                    <a:p>
                      <a:pPr algn="r"/>
                      <a:r>
                        <a:rPr sz="800" b="0">
                          <a:solidFill>
                            <a:srgbClr val="26292E"/>
                          </a:solidFill>
                          <a:latin typeface="Calibri"/>
                        </a:rPr>
                        <a:t>40</a:t>
                      </a:r>
                    </a:p>
                  </a:txBody>
                  <a:tcPr anchor="ctr" marL="27432" marR="27432" marT="4572" marB="4572">
                    <a:lnL w="6350">
                      <a:solidFill>
                        <a:srgbClr val="E2E7F2"/>
                      </a:solidFill>
                    </a:lnL>
                    <a:lnR w="6350">
                      <a:solidFill>
                        <a:srgbClr val="E2E7F2"/>
                      </a:solidFill>
                    </a:lnR>
                    <a:lnT w="6350">
                      <a:solidFill>
                        <a:srgbClr val="E2E7F2"/>
                      </a:solidFill>
                    </a:lnT>
                    <a:lnB w="6350">
                      <a:solidFill>
                        <a:srgbClr val="E2E7F2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wrap="none"/>
                    <a:lstStyle/>
                    <a:p>
                      <a:pPr algn="r"/>
                      <a:r>
                        <a:rPr sz="800" b="1">
                          <a:solidFill>
                            <a:srgbClr val="26292E"/>
                          </a:solidFill>
                          <a:latin typeface="Calibri"/>
                        </a:rPr>
                        <a:t>189</a:t>
                      </a:r>
                    </a:p>
                  </a:txBody>
                  <a:tcPr anchor="ctr" marL="27432" marR="27432" marT="4572" marB="4572">
                    <a:lnL w="6350">
                      <a:solidFill>
                        <a:srgbClr val="E2E7F2"/>
                      </a:solidFill>
                    </a:lnL>
                    <a:lnR w="6350">
                      <a:solidFill>
                        <a:srgbClr val="E2E7F2"/>
                      </a:solidFill>
                    </a:lnR>
                    <a:lnT w="6350">
                      <a:solidFill>
                        <a:srgbClr val="E2E7F2"/>
                      </a:solidFill>
                    </a:lnT>
                    <a:lnB w="6350">
                      <a:solidFill>
                        <a:srgbClr val="E2E7F2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wrap="none"/>
                    <a:lstStyle/>
                    <a:p>
                      <a:pPr algn="r"/>
                      <a:r>
                        <a:rPr sz="800" b="0">
                          <a:solidFill>
                            <a:srgbClr val="26292E"/>
                          </a:solidFill>
                          <a:latin typeface="Calibri"/>
                        </a:rPr>
                        <a:t>0%</a:t>
                      </a:r>
                    </a:p>
                  </a:txBody>
                  <a:tcPr anchor="ctr" marL="27432" marR="27432" marT="4572" marB="4572">
                    <a:lnL w="6350">
                      <a:solidFill>
                        <a:srgbClr val="E2E7F2"/>
                      </a:solidFill>
                    </a:lnL>
                    <a:lnR w="6350">
                      <a:solidFill>
                        <a:srgbClr val="E2E7F2"/>
                      </a:solidFill>
                    </a:lnR>
                    <a:lnT w="6350">
                      <a:solidFill>
                        <a:srgbClr val="E2E7F2"/>
                      </a:solidFill>
                    </a:lnT>
                    <a:lnB w="6350">
                      <a:solidFill>
                        <a:srgbClr val="E2E7F2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wrap="none"/>
                    <a:lstStyle/>
                    <a:p>
                      <a:pPr algn="r"/>
                      <a:r>
                        <a:rPr sz="800" b="1">
                          <a:solidFill>
                            <a:srgbClr val="1E7B34"/>
                          </a:solidFill>
                          <a:latin typeface="Calibri"/>
                        </a:rPr>
                        <a:t>+78%</a:t>
                      </a:r>
                    </a:p>
                  </a:txBody>
                  <a:tcPr anchor="ctr" marL="27432" marR="27432" marT="4572" marB="4572">
                    <a:lnL w="6350">
                      <a:solidFill>
                        <a:srgbClr val="E2E7F2"/>
                      </a:solidFill>
                    </a:lnL>
                    <a:lnR w="6350">
                      <a:solidFill>
                        <a:srgbClr val="E2E7F2"/>
                      </a:solidFill>
                    </a:lnR>
                    <a:lnT w="6350">
                      <a:solidFill>
                        <a:srgbClr val="E2E7F2"/>
                      </a:solidFill>
                    </a:lnT>
                    <a:lnB w="6350">
                      <a:solidFill>
                        <a:srgbClr val="E2E7F2"/>
                      </a:solidFill>
                    </a:lnB>
                    <a:solidFill>
                      <a:srgbClr val="FFFFFF"/>
                    </a:solidFill>
                  </a:tcPr>
                </a:tc>
              </a:tr>
              <a:tr h="173736">
                <a:tc>
                  <a:txBody>
                    <a:bodyPr wrap="none"/>
                    <a:lstStyle/>
                    <a:p>
                      <a:pPr algn="l"/>
                      <a:r>
                        <a:rPr sz="800" b="0">
                          <a:solidFill>
                            <a:srgbClr val="595959"/>
                          </a:solidFill>
                          <a:latin typeface="Calibri"/>
                        </a:rPr>
                        <a:t>   ’25</a:t>
                      </a:r>
                    </a:p>
                  </a:txBody>
                  <a:tcPr anchor="ctr" marL="27432" marR="27432" marT="4572" marB="4572">
                    <a:lnL w="6350">
                      <a:solidFill>
                        <a:srgbClr val="E2E7F2"/>
                      </a:solidFill>
                    </a:lnL>
                    <a:lnR w="6350">
                      <a:solidFill>
                        <a:srgbClr val="E2E7F2"/>
                      </a:solidFill>
                    </a:lnR>
                    <a:lnT w="6350">
                      <a:solidFill>
                        <a:srgbClr val="E2E7F2"/>
                      </a:solidFill>
                    </a:lnT>
                    <a:lnB w="6350">
                      <a:solidFill>
                        <a:srgbClr val="E2E7F2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wrap="none"/>
                    <a:lstStyle/>
                    <a:p>
                      <a:pPr algn="r"/>
                      <a:r>
                        <a:rPr sz="800" b="0">
                          <a:solidFill>
                            <a:srgbClr val="595959"/>
                          </a:solidFill>
                          <a:latin typeface="Calibri"/>
                        </a:rPr>
                        <a:t>15</a:t>
                      </a:r>
                    </a:p>
                  </a:txBody>
                  <a:tcPr anchor="ctr" marL="27432" marR="27432" marT="4572" marB="4572">
                    <a:lnL w="6350">
                      <a:solidFill>
                        <a:srgbClr val="E2E7F2"/>
                      </a:solidFill>
                    </a:lnL>
                    <a:lnR w="6350">
                      <a:solidFill>
                        <a:srgbClr val="E2E7F2"/>
                      </a:solidFill>
                    </a:lnR>
                    <a:lnT w="6350">
                      <a:solidFill>
                        <a:srgbClr val="E2E7F2"/>
                      </a:solidFill>
                    </a:lnT>
                    <a:lnB w="6350">
                      <a:solidFill>
                        <a:srgbClr val="E2E7F2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wrap="none"/>
                    <a:lstStyle/>
                    <a:p>
                      <a:pPr algn="r"/>
                      <a:r>
                        <a:rPr sz="800" b="0">
                          <a:solidFill>
                            <a:srgbClr val="595959"/>
                          </a:solidFill>
                          <a:latin typeface="Calibri"/>
                        </a:rPr>
                        <a:t>–</a:t>
                      </a:r>
                    </a:p>
                  </a:txBody>
                  <a:tcPr anchor="ctr" marL="27432" marR="27432" marT="4572" marB="4572">
                    <a:lnL w="6350">
                      <a:solidFill>
                        <a:srgbClr val="E2E7F2"/>
                      </a:solidFill>
                    </a:lnL>
                    <a:lnR w="6350">
                      <a:solidFill>
                        <a:srgbClr val="E2E7F2"/>
                      </a:solidFill>
                    </a:lnR>
                    <a:lnT w="6350">
                      <a:solidFill>
                        <a:srgbClr val="E2E7F2"/>
                      </a:solidFill>
                    </a:lnT>
                    <a:lnB w="6350">
                      <a:solidFill>
                        <a:srgbClr val="E2E7F2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wrap="none"/>
                    <a:lstStyle/>
                    <a:p>
                      <a:pPr algn="r"/>
                      <a:r>
                        <a:rPr sz="800" b="0">
                          <a:solidFill>
                            <a:srgbClr val="595959"/>
                          </a:solidFill>
                          <a:latin typeface="Calibri"/>
                        </a:rPr>
                        <a:t>9</a:t>
                      </a:r>
                    </a:p>
                  </a:txBody>
                  <a:tcPr anchor="ctr" marL="27432" marR="27432" marT="4572" marB="4572">
                    <a:lnL w="6350">
                      <a:solidFill>
                        <a:srgbClr val="E2E7F2"/>
                      </a:solidFill>
                    </a:lnL>
                    <a:lnR w="6350">
                      <a:solidFill>
                        <a:srgbClr val="E2E7F2"/>
                      </a:solidFill>
                    </a:lnR>
                    <a:lnT w="6350">
                      <a:solidFill>
                        <a:srgbClr val="E2E7F2"/>
                      </a:solidFill>
                    </a:lnT>
                    <a:lnB w="6350">
                      <a:solidFill>
                        <a:srgbClr val="E2E7F2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wrap="none"/>
                    <a:lstStyle/>
                    <a:p>
                      <a:pPr algn="r"/>
                      <a:r>
                        <a:rPr sz="800" b="0">
                          <a:solidFill>
                            <a:srgbClr val="595959"/>
                          </a:solidFill>
                          <a:latin typeface="Calibri"/>
                        </a:rPr>
                        <a:t>42</a:t>
                      </a:r>
                    </a:p>
                  </a:txBody>
                  <a:tcPr anchor="ctr" marL="27432" marR="27432" marT="4572" marB="4572">
                    <a:lnL w="6350">
                      <a:solidFill>
                        <a:srgbClr val="E2E7F2"/>
                      </a:solidFill>
                    </a:lnL>
                    <a:lnR w="6350">
                      <a:solidFill>
                        <a:srgbClr val="E2E7F2"/>
                      </a:solidFill>
                    </a:lnR>
                    <a:lnT w="6350">
                      <a:solidFill>
                        <a:srgbClr val="E2E7F2"/>
                      </a:solidFill>
                    </a:lnT>
                    <a:lnB w="6350">
                      <a:solidFill>
                        <a:srgbClr val="E2E7F2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wrap="none"/>
                    <a:lstStyle/>
                    <a:p>
                      <a:pPr algn="r"/>
                      <a:r>
                        <a:rPr sz="800" b="0">
                          <a:solidFill>
                            <a:srgbClr val="595959"/>
                          </a:solidFill>
                          <a:latin typeface="Calibri"/>
                        </a:rPr>
                        <a:t>28</a:t>
                      </a:r>
                    </a:p>
                  </a:txBody>
                  <a:tcPr anchor="ctr" marL="27432" marR="27432" marT="4572" marB="4572">
                    <a:lnL w="6350">
                      <a:solidFill>
                        <a:srgbClr val="E2E7F2"/>
                      </a:solidFill>
                    </a:lnL>
                    <a:lnR w="6350">
                      <a:solidFill>
                        <a:srgbClr val="E2E7F2"/>
                      </a:solidFill>
                    </a:lnR>
                    <a:lnT w="6350">
                      <a:solidFill>
                        <a:srgbClr val="E2E7F2"/>
                      </a:solidFill>
                    </a:lnT>
                    <a:lnB w="6350">
                      <a:solidFill>
                        <a:srgbClr val="E2E7F2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wrap="none"/>
                    <a:lstStyle/>
                    <a:p>
                      <a:pPr algn="r"/>
                      <a:r>
                        <a:rPr sz="800" b="0">
                          <a:solidFill>
                            <a:srgbClr val="595959"/>
                          </a:solidFill>
                          <a:latin typeface="Calibri"/>
                        </a:rPr>
                        <a:t>12</a:t>
                      </a:r>
                    </a:p>
                  </a:txBody>
                  <a:tcPr anchor="ctr" marL="27432" marR="27432" marT="4572" marB="4572">
                    <a:lnL w="6350">
                      <a:solidFill>
                        <a:srgbClr val="E2E7F2"/>
                      </a:solidFill>
                    </a:lnL>
                    <a:lnR w="6350">
                      <a:solidFill>
                        <a:srgbClr val="E2E7F2"/>
                      </a:solidFill>
                    </a:lnR>
                    <a:lnT w="6350">
                      <a:solidFill>
                        <a:srgbClr val="E2E7F2"/>
                      </a:solidFill>
                    </a:lnT>
                    <a:lnB w="6350">
                      <a:solidFill>
                        <a:srgbClr val="E2E7F2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wrap="none"/>
                    <a:lstStyle/>
                    <a:p>
                      <a:pPr algn="r"/>
                      <a:r>
                        <a:rPr sz="800" b="0">
                          <a:solidFill>
                            <a:srgbClr val="595959"/>
                          </a:solidFill>
                          <a:latin typeface="Calibri"/>
                        </a:rPr>
                        <a:t>106</a:t>
                      </a:r>
                    </a:p>
                  </a:txBody>
                  <a:tcPr anchor="ctr" marL="27432" marR="27432" marT="4572" marB="4572">
                    <a:lnL w="6350">
                      <a:solidFill>
                        <a:srgbClr val="E2E7F2"/>
                      </a:solidFill>
                    </a:lnL>
                    <a:lnR w="6350">
                      <a:solidFill>
                        <a:srgbClr val="E2E7F2"/>
                      </a:solidFill>
                    </a:lnR>
                    <a:lnT w="6350">
                      <a:solidFill>
                        <a:srgbClr val="E2E7F2"/>
                      </a:solidFill>
                    </a:lnT>
                    <a:lnB w="6350">
                      <a:solidFill>
                        <a:srgbClr val="E2E7F2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wrap="none"/>
                    <a:lstStyle/>
                    <a:p>
                      <a:pPr algn="r"/>
                      <a:r>
                        <a:rPr sz="800" b="0">
                          <a:solidFill>
                            <a:srgbClr val="595959"/>
                          </a:solidFill>
                          <a:latin typeface="Calibri"/>
                        </a:rPr>
                        <a:t>0%</a:t>
                      </a:r>
                    </a:p>
                  </a:txBody>
                  <a:tcPr anchor="ctr" marL="27432" marR="27432" marT="4572" marB="4572">
                    <a:lnL w="6350">
                      <a:solidFill>
                        <a:srgbClr val="E2E7F2"/>
                      </a:solidFill>
                    </a:lnL>
                    <a:lnR w="6350">
                      <a:solidFill>
                        <a:srgbClr val="E2E7F2"/>
                      </a:solidFill>
                    </a:lnR>
                    <a:lnT w="6350">
                      <a:solidFill>
                        <a:srgbClr val="E2E7F2"/>
                      </a:solidFill>
                    </a:lnT>
                    <a:lnB w="6350">
                      <a:solidFill>
                        <a:srgbClr val="E2E7F2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wrap="none"/>
                    <a:lstStyle/>
                    <a:p>
                      <a:pPr algn="l"/>
                      <a:r>
                        <a:rPr sz="800" b="0">
                          <a:solidFill>
                            <a:srgbClr val="26292E"/>
                          </a:solidFill>
                          <a:latin typeface="Calibri"/>
                        </a:rPr>
                        <a:t/>
                      </a:r>
                    </a:p>
                  </a:txBody>
                  <a:tcPr anchor="ctr" marL="27432" marR="27432" marT="4572" marB="4572">
                    <a:lnL w="6350">
                      <a:solidFill>
                        <a:srgbClr val="E2E7F2"/>
                      </a:solidFill>
                    </a:lnL>
                    <a:lnR w="6350">
                      <a:solidFill>
                        <a:srgbClr val="E2E7F2"/>
                      </a:solidFill>
                    </a:lnR>
                    <a:lnT w="6350">
                      <a:solidFill>
                        <a:srgbClr val="E2E7F2"/>
                      </a:solidFill>
                    </a:lnT>
                    <a:lnB w="6350">
                      <a:solidFill>
                        <a:srgbClr val="E2E7F2"/>
                      </a:solidFill>
                    </a:lnB>
                    <a:solidFill>
                      <a:srgbClr val="FFFFFF"/>
                    </a:solidFill>
                  </a:tcPr>
                </a:tc>
              </a:tr>
              <a:tr h="173736">
                <a:tc>
                  <a:txBody>
                    <a:bodyPr wrap="none"/>
                    <a:lstStyle/>
                    <a:p>
                      <a:pPr algn="l"/>
                      <a:r>
                        <a:rPr sz="800" b="1">
                          <a:solidFill>
                            <a:srgbClr val="26292E"/>
                          </a:solidFill>
                          <a:latin typeface="Calibri"/>
                        </a:rPr>
                        <a:t>Total</a:t>
                      </a:r>
                    </a:p>
                  </a:txBody>
                  <a:tcPr anchor="ctr" marL="27432" marR="27432" marT="4572" marB="4572">
                    <a:lnL w="6350">
                      <a:solidFill>
                        <a:srgbClr val="E2E7F2"/>
                      </a:solidFill>
                    </a:lnL>
                    <a:lnR w="6350">
                      <a:solidFill>
                        <a:srgbClr val="E2E7F2"/>
                      </a:solidFill>
                    </a:lnR>
                    <a:lnT w="6350">
                      <a:solidFill>
                        <a:srgbClr val="E2E7F2"/>
                      </a:solidFill>
                    </a:lnT>
                    <a:lnB w="6350">
                      <a:solidFill>
                        <a:srgbClr val="E2E7F2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wrap="none"/>
                    <a:lstStyle/>
                    <a:p>
                      <a:pPr algn="r"/>
                      <a:r>
                        <a:rPr sz="800" b="1">
                          <a:solidFill>
                            <a:srgbClr val="26292E"/>
                          </a:solidFill>
                          <a:latin typeface="Calibri"/>
                        </a:rPr>
                        <a:t>9,186</a:t>
                      </a:r>
                    </a:p>
                  </a:txBody>
                  <a:tcPr anchor="ctr" marL="27432" marR="27432" marT="4572" marB="4572">
                    <a:lnL w="6350">
                      <a:solidFill>
                        <a:srgbClr val="E2E7F2"/>
                      </a:solidFill>
                    </a:lnL>
                    <a:lnR w="6350">
                      <a:solidFill>
                        <a:srgbClr val="E2E7F2"/>
                      </a:solidFill>
                    </a:lnR>
                    <a:lnT w="6350">
                      <a:solidFill>
                        <a:srgbClr val="E2E7F2"/>
                      </a:solidFill>
                    </a:lnT>
                    <a:lnB w="6350">
                      <a:solidFill>
                        <a:srgbClr val="E2E7F2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wrap="none"/>
                    <a:lstStyle/>
                    <a:p>
                      <a:pPr algn="r"/>
                      <a:r>
                        <a:rPr sz="800" b="1">
                          <a:solidFill>
                            <a:srgbClr val="26292E"/>
                          </a:solidFill>
                          <a:latin typeface="Calibri"/>
                        </a:rPr>
                        <a:t>10,164</a:t>
                      </a:r>
                    </a:p>
                  </a:txBody>
                  <a:tcPr anchor="ctr" marL="27432" marR="27432" marT="4572" marB="4572">
                    <a:lnL w="6350">
                      <a:solidFill>
                        <a:srgbClr val="E2E7F2"/>
                      </a:solidFill>
                    </a:lnL>
                    <a:lnR w="6350">
                      <a:solidFill>
                        <a:srgbClr val="E2E7F2"/>
                      </a:solidFill>
                    </a:lnR>
                    <a:lnT w="6350">
                      <a:solidFill>
                        <a:srgbClr val="E2E7F2"/>
                      </a:solidFill>
                    </a:lnT>
                    <a:lnB w="6350">
                      <a:solidFill>
                        <a:srgbClr val="E2E7F2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wrap="none"/>
                    <a:lstStyle/>
                    <a:p>
                      <a:pPr algn="r"/>
                      <a:r>
                        <a:rPr sz="800" b="1">
                          <a:solidFill>
                            <a:srgbClr val="26292E"/>
                          </a:solidFill>
                          <a:latin typeface="Calibri"/>
                        </a:rPr>
                        <a:t>9,081</a:t>
                      </a:r>
                    </a:p>
                  </a:txBody>
                  <a:tcPr anchor="ctr" marL="27432" marR="27432" marT="4572" marB="4572">
                    <a:lnL w="6350">
                      <a:solidFill>
                        <a:srgbClr val="E2E7F2"/>
                      </a:solidFill>
                    </a:lnL>
                    <a:lnR w="6350">
                      <a:solidFill>
                        <a:srgbClr val="E2E7F2"/>
                      </a:solidFill>
                    </a:lnR>
                    <a:lnT w="6350">
                      <a:solidFill>
                        <a:srgbClr val="E2E7F2"/>
                      </a:solidFill>
                    </a:lnT>
                    <a:lnB w="6350">
                      <a:solidFill>
                        <a:srgbClr val="E2E7F2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wrap="none"/>
                    <a:lstStyle/>
                    <a:p>
                      <a:pPr algn="r"/>
                      <a:r>
                        <a:rPr sz="800" b="1">
                          <a:solidFill>
                            <a:srgbClr val="26292E"/>
                          </a:solidFill>
                          <a:latin typeface="Calibri"/>
                        </a:rPr>
                        <a:t>7,548</a:t>
                      </a:r>
                    </a:p>
                  </a:txBody>
                  <a:tcPr anchor="ctr" marL="27432" marR="27432" marT="4572" marB="4572">
                    <a:lnL w="6350">
                      <a:solidFill>
                        <a:srgbClr val="E2E7F2"/>
                      </a:solidFill>
                    </a:lnL>
                    <a:lnR w="6350">
                      <a:solidFill>
                        <a:srgbClr val="E2E7F2"/>
                      </a:solidFill>
                    </a:lnR>
                    <a:lnT w="6350">
                      <a:solidFill>
                        <a:srgbClr val="E2E7F2"/>
                      </a:solidFill>
                    </a:lnT>
                    <a:lnB w="6350">
                      <a:solidFill>
                        <a:srgbClr val="E2E7F2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wrap="none"/>
                    <a:lstStyle/>
                    <a:p>
                      <a:pPr algn="r"/>
                      <a:r>
                        <a:rPr sz="800" b="1">
                          <a:solidFill>
                            <a:srgbClr val="26292E"/>
                          </a:solidFill>
                          <a:latin typeface="Calibri"/>
                        </a:rPr>
                        <a:t>7,086</a:t>
                      </a:r>
                    </a:p>
                  </a:txBody>
                  <a:tcPr anchor="ctr" marL="27432" marR="27432" marT="4572" marB="4572">
                    <a:lnL w="6350">
                      <a:solidFill>
                        <a:srgbClr val="E2E7F2"/>
                      </a:solidFill>
                    </a:lnL>
                    <a:lnR w="6350">
                      <a:solidFill>
                        <a:srgbClr val="E2E7F2"/>
                      </a:solidFill>
                    </a:lnR>
                    <a:lnT w="6350">
                      <a:solidFill>
                        <a:srgbClr val="E2E7F2"/>
                      </a:solidFill>
                    </a:lnT>
                    <a:lnB w="6350">
                      <a:solidFill>
                        <a:srgbClr val="E2E7F2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wrap="none"/>
                    <a:lstStyle/>
                    <a:p>
                      <a:pPr algn="r"/>
                      <a:r>
                        <a:rPr sz="800" b="1">
                          <a:solidFill>
                            <a:srgbClr val="26292E"/>
                          </a:solidFill>
                          <a:latin typeface="Calibri"/>
                        </a:rPr>
                        <a:t>7,058</a:t>
                      </a:r>
                    </a:p>
                  </a:txBody>
                  <a:tcPr anchor="ctr" marL="27432" marR="27432" marT="4572" marB="4572">
                    <a:lnL w="6350">
                      <a:solidFill>
                        <a:srgbClr val="E2E7F2"/>
                      </a:solidFill>
                    </a:lnL>
                    <a:lnR w="6350">
                      <a:solidFill>
                        <a:srgbClr val="E2E7F2"/>
                      </a:solidFill>
                    </a:lnR>
                    <a:lnT w="6350">
                      <a:solidFill>
                        <a:srgbClr val="E2E7F2"/>
                      </a:solidFill>
                    </a:lnT>
                    <a:lnB w="6350">
                      <a:solidFill>
                        <a:srgbClr val="E2E7F2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wrap="none"/>
                    <a:lstStyle/>
                    <a:p>
                      <a:pPr algn="r"/>
                      <a:r>
                        <a:rPr sz="800" b="1">
                          <a:solidFill>
                            <a:srgbClr val="26292E"/>
                          </a:solidFill>
                          <a:latin typeface="Calibri"/>
                        </a:rPr>
                        <a:t>50,123</a:t>
                      </a:r>
                    </a:p>
                  </a:txBody>
                  <a:tcPr anchor="ctr" marL="27432" marR="27432" marT="4572" marB="4572">
                    <a:lnL w="6350">
                      <a:solidFill>
                        <a:srgbClr val="E2E7F2"/>
                      </a:solidFill>
                    </a:lnL>
                    <a:lnR w="6350">
                      <a:solidFill>
                        <a:srgbClr val="E2E7F2"/>
                      </a:solidFill>
                    </a:lnR>
                    <a:lnT w="6350">
                      <a:solidFill>
                        <a:srgbClr val="E2E7F2"/>
                      </a:solidFill>
                    </a:lnT>
                    <a:lnB w="6350">
                      <a:solidFill>
                        <a:srgbClr val="E2E7F2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wrap="none"/>
                    <a:lstStyle/>
                    <a:p>
                      <a:pPr algn="r"/>
                      <a:r>
                        <a:rPr sz="800" b="0">
                          <a:solidFill>
                            <a:srgbClr val="26292E"/>
                          </a:solidFill>
                          <a:latin typeface="Calibri"/>
                        </a:rPr>
                        <a:t>100%</a:t>
                      </a:r>
                    </a:p>
                  </a:txBody>
                  <a:tcPr anchor="ctr" marL="27432" marR="27432" marT="4572" marB="4572">
                    <a:lnL w="6350">
                      <a:solidFill>
                        <a:srgbClr val="E2E7F2"/>
                      </a:solidFill>
                    </a:lnL>
                    <a:lnR w="6350">
                      <a:solidFill>
                        <a:srgbClr val="E2E7F2"/>
                      </a:solidFill>
                    </a:lnR>
                    <a:lnT w="6350">
                      <a:solidFill>
                        <a:srgbClr val="E2E7F2"/>
                      </a:solidFill>
                    </a:lnT>
                    <a:lnB w="6350">
                      <a:solidFill>
                        <a:srgbClr val="E2E7F2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wrap="none"/>
                    <a:lstStyle/>
                    <a:p>
                      <a:pPr algn="r"/>
                      <a:r>
                        <a:rPr sz="800" b="1">
                          <a:solidFill>
                            <a:srgbClr val="1E7B34"/>
                          </a:solidFill>
                          <a:latin typeface="Calibri"/>
                        </a:rPr>
                        <a:t>+4%</a:t>
                      </a:r>
                    </a:p>
                  </a:txBody>
                  <a:tcPr anchor="ctr" marL="27432" marR="27432" marT="4572" marB="4572">
                    <a:lnL w="6350">
                      <a:solidFill>
                        <a:srgbClr val="E2E7F2"/>
                      </a:solidFill>
                    </a:lnL>
                    <a:lnR w="6350">
                      <a:solidFill>
                        <a:srgbClr val="E2E7F2"/>
                      </a:solidFill>
                    </a:lnR>
                    <a:lnT w="6350">
                      <a:solidFill>
                        <a:srgbClr val="E2E7F2"/>
                      </a:solidFill>
                    </a:lnT>
                    <a:lnB w="6350">
                      <a:solidFill>
                        <a:srgbClr val="E2E7F2"/>
                      </a:solidFill>
                    </a:lnB>
                    <a:solidFill>
                      <a:srgbClr val="FFFFFF"/>
                    </a:solidFill>
                  </a:tcPr>
                </a:tc>
              </a:tr>
              <a:tr h="173736">
                <a:tc>
                  <a:txBody>
                    <a:bodyPr wrap="none"/>
                    <a:lstStyle/>
                    <a:p>
                      <a:pPr algn="l"/>
                      <a:r>
                        <a:rPr sz="800" b="0">
                          <a:solidFill>
                            <a:srgbClr val="595959"/>
                          </a:solidFill>
                          <a:latin typeface="Calibri"/>
                        </a:rPr>
                        <a:t>   ’25</a:t>
                      </a:r>
                    </a:p>
                  </a:txBody>
                  <a:tcPr anchor="ctr" marL="27432" marR="27432" marT="4572" marB="4572">
                    <a:lnL w="6350">
                      <a:solidFill>
                        <a:srgbClr val="E2E7F2"/>
                      </a:solidFill>
                    </a:lnL>
                    <a:lnR w="6350">
                      <a:solidFill>
                        <a:srgbClr val="E2E7F2"/>
                      </a:solidFill>
                    </a:lnR>
                    <a:lnT w="6350">
                      <a:solidFill>
                        <a:srgbClr val="E2E7F2"/>
                      </a:solidFill>
                    </a:lnT>
                    <a:lnB w="6350">
                      <a:solidFill>
                        <a:srgbClr val="E2E7F2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wrap="none"/>
                    <a:lstStyle/>
                    <a:p>
                      <a:pPr algn="r"/>
                      <a:r>
                        <a:rPr sz="800" b="0">
                          <a:solidFill>
                            <a:srgbClr val="595959"/>
                          </a:solidFill>
                          <a:latin typeface="Calibri"/>
                        </a:rPr>
                        <a:t>9,907</a:t>
                      </a:r>
                    </a:p>
                  </a:txBody>
                  <a:tcPr anchor="ctr" marL="27432" marR="27432" marT="4572" marB="4572">
                    <a:lnL w="6350">
                      <a:solidFill>
                        <a:srgbClr val="E2E7F2"/>
                      </a:solidFill>
                    </a:lnL>
                    <a:lnR w="6350">
                      <a:solidFill>
                        <a:srgbClr val="E2E7F2"/>
                      </a:solidFill>
                    </a:lnR>
                    <a:lnT w="6350">
                      <a:solidFill>
                        <a:srgbClr val="E2E7F2"/>
                      </a:solidFill>
                    </a:lnT>
                    <a:lnB w="6350">
                      <a:solidFill>
                        <a:srgbClr val="E2E7F2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wrap="none"/>
                    <a:lstStyle/>
                    <a:p>
                      <a:pPr algn="r"/>
                      <a:r>
                        <a:rPr sz="800" b="0">
                          <a:solidFill>
                            <a:srgbClr val="595959"/>
                          </a:solidFill>
                          <a:latin typeface="Calibri"/>
                        </a:rPr>
                        <a:t>8,404</a:t>
                      </a:r>
                    </a:p>
                  </a:txBody>
                  <a:tcPr anchor="ctr" marL="27432" marR="27432" marT="4572" marB="4572">
                    <a:lnL w="6350">
                      <a:solidFill>
                        <a:srgbClr val="E2E7F2"/>
                      </a:solidFill>
                    </a:lnL>
                    <a:lnR w="6350">
                      <a:solidFill>
                        <a:srgbClr val="E2E7F2"/>
                      </a:solidFill>
                    </a:lnR>
                    <a:lnT w="6350">
                      <a:solidFill>
                        <a:srgbClr val="E2E7F2"/>
                      </a:solidFill>
                    </a:lnT>
                    <a:lnB w="6350">
                      <a:solidFill>
                        <a:srgbClr val="E2E7F2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wrap="none"/>
                    <a:lstStyle/>
                    <a:p>
                      <a:pPr algn="r"/>
                      <a:r>
                        <a:rPr sz="800" b="0">
                          <a:solidFill>
                            <a:srgbClr val="595959"/>
                          </a:solidFill>
                          <a:latin typeface="Calibri"/>
                        </a:rPr>
                        <a:t>6,993</a:t>
                      </a:r>
                    </a:p>
                  </a:txBody>
                  <a:tcPr anchor="ctr" marL="27432" marR="27432" marT="4572" marB="4572">
                    <a:lnL w="6350">
                      <a:solidFill>
                        <a:srgbClr val="E2E7F2"/>
                      </a:solidFill>
                    </a:lnL>
                    <a:lnR w="6350">
                      <a:solidFill>
                        <a:srgbClr val="E2E7F2"/>
                      </a:solidFill>
                    </a:lnR>
                    <a:lnT w="6350">
                      <a:solidFill>
                        <a:srgbClr val="E2E7F2"/>
                      </a:solidFill>
                    </a:lnT>
                    <a:lnB w="6350">
                      <a:solidFill>
                        <a:srgbClr val="E2E7F2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wrap="none"/>
                    <a:lstStyle/>
                    <a:p>
                      <a:pPr algn="r"/>
                      <a:r>
                        <a:rPr sz="800" b="0">
                          <a:solidFill>
                            <a:srgbClr val="595959"/>
                          </a:solidFill>
                          <a:latin typeface="Calibri"/>
                        </a:rPr>
                        <a:t>7,528</a:t>
                      </a:r>
                    </a:p>
                  </a:txBody>
                  <a:tcPr anchor="ctr" marL="27432" marR="27432" marT="4572" marB="4572">
                    <a:lnL w="6350">
                      <a:solidFill>
                        <a:srgbClr val="E2E7F2"/>
                      </a:solidFill>
                    </a:lnL>
                    <a:lnR w="6350">
                      <a:solidFill>
                        <a:srgbClr val="E2E7F2"/>
                      </a:solidFill>
                    </a:lnR>
                    <a:lnT w="6350">
                      <a:solidFill>
                        <a:srgbClr val="E2E7F2"/>
                      </a:solidFill>
                    </a:lnT>
                    <a:lnB w="6350">
                      <a:solidFill>
                        <a:srgbClr val="E2E7F2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wrap="none"/>
                    <a:lstStyle/>
                    <a:p>
                      <a:pPr algn="r"/>
                      <a:r>
                        <a:rPr sz="800" b="0">
                          <a:solidFill>
                            <a:srgbClr val="595959"/>
                          </a:solidFill>
                          <a:latin typeface="Calibri"/>
                        </a:rPr>
                        <a:t>8,098</a:t>
                      </a:r>
                    </a:p>
                  </a:txBody>
                  <a:tcPr anchor="ctr" marL="27432" marR="27432" marT="4572" marB="4572">
                    <a:lnL w="6350">
                      <a:solidFill>
                        <a:srgbClr val="E2E7F2"/>
                      </a:solidFill>
                    </a:lnL>
                    <a:lnR w="6350">
                      <a:solidFill>
                        <a:srgbClr val="E2E7F2"/>
                      </a:solidFill>
                    </a:lnR>
                    <a:lnT w="6350">
                      <a:solidFill>
                        <a:srgbClr val="E2E7F2"/>
                      </a:solidFill>
                    </a:lnT>
                    <a:lnB w="6350">
                      <a:solidFill>
                        <a:srgbClr val="E2E7F2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wrap="none"/>
                    <a:lstStyle/>
                    <a:p>
                      <a:pPr algn="r"/>
                      <a:r>
                        <a:rPr sz="800" b="0">
                          <a:solidFill>
                            <a:srgbClr val="595959"/>
                          </a:solidFill>
                          <a:latin typeface="Calibri"/>
                        </a:rPr>
                        <a:t>7,347</a:t>
                      </a:r>
                    </a:p>
                  </a:txBody>
                  <a:tcPr anchor="ctr" marL="27432" marR="27432" marT="4572" marB="4572">
                    <a:lnL w="6350">
                      <a:solidFill>
                        <a:srgbClr val="E2E7F2"/>
                      </a:solidFill>
                    </a:lnL>
                    <a:lnR w="6350">
                      <a:solidFill>
                        <a:srgbClr val="E2E7F2"/>
                      </a:solidFill>
                    </a:lnR>
                    <a:lnT w="6350">
                      <a:solidFill>
                        <a:srgbClr val="E2E7F2"/>
                      </a:solidFill>
                    </a:lnT>
                    <a:lnB w="6350">
                      <a:solidFill>
                        <a:srgbClr val="E2E7F2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wrap="none"/>
                    <a:lstStyle/>
                    <a:p>
                      <a:pPr algn="r"/>
                      <a:r>
                        <a:rPr sz="800" b="0">
                          <a:solidFill>
                            <a:srgbClr val="595959"/>
                          </a:solidFill>
                          <a:latin typeface="Calibri"/>
                        </a:rPr>
                        <a:t>48,277</a:t>
                      </a:r>
                    </a:p>
                  </a:txBody>
                  <a:tcPr anchor="ctr" marL="27432" marR="27432" marT="4572" marB="4572">
                    <a:lnL w="6350">
                      <a:solidFill>
                        <a:srgbClr val="E2E7F2"/>
                      </a:solidFill>
                    </a:lnL>
                    <a:lnR w="6350">
                      <a:solidFill>
                        <a:srgbClr val="E2E7F2"/>
                      </a:solidFill>
                    </a:lnR>
                    <a:lnT w="6350">
                      <a:solidFill>
                        <a:srgbClr val="E2E7F2"/>
                      </a:solidFill>
                    </a:lnT>
                    <a:lnB w="6350">
                      <a:solidFill>
                        <a:srgbClr val="E2E7F2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wrap="none"/>
                    <a:lstStyle/>
                    <a:p>
                      <a:pPr algn="r"/>
                      <a:r>
                        <a:rPr sz="800" b="0">
                          <a:solidFill>
                            <a:srgbClr val="595959"/>
                          </a:solidFill>
                          <a:latin typeface="Calibri"/>
                        </a:rPr>
                        <a:t>100%</a:t>
                      </a:r>
                    </a:p>
                  </a:txBody>
                  <a:tcPr anchor="ctr" marL="27432" marR="27432" marT="4572" marB="4572">
                    <a:lnL w="6350">
                      <a:solidFill>
                        <a:srgbClr val="E2E7F2"/>
                      </a:solidFill>
                    </a:lnL>
                    <a:lnR w="6350">
                      <a:solidFill>
                        <a:srgbClr val="E2E7F2"/>
                      </a:solidFill>
                    </a:lnR>
                    <a:lnT w="6350">
                      <a:solidFill>
                        <a:srgbClr val="E2E7F2"/>
                      </a:solidFill>
                    </a:lnT>
                    <a:lnB w="6350">
                      <a:solidFill>
                        <a:srgbClr val="E2E7F2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wrap="none"/>
                    <a:lstStyle/>
                    <a:p>
                      <a:pPr algn="l"/>
                      <a:r>
                        <a:rPr sz="800" b="0">
                          <a:solidFill>
                            <a:srgbClr val="26292E"/>
                          </a:solidFill>
                          <a:latin typeface="Calibri"/>
                        </a:rPr>
                        <a:t/>
                      </a:r>
                    </a:p>
                  </a:txBody>
                  <a:tcPr anchor="ctr" marL="27432" marR="27432" marT="4572" marB="4572">
                    <a:lnL w="6350">
                      <a:solidFill>
                        <a:srgbClr val="E2E7F2"/>
                      </a:solidFill>
                    </a:lnL>
                    <a:lnR w="6350">
                      <a:solidFill>
                        <a:srgbClr val="E2E7F2"/>
                      </a:solidFill>
                    </a:lnR>
                    <a:lnT w="6350">
                      <a:solidFill>
                        <a:srgbClr val="E2E7F2"/>
                      </a:solidFill>
                    </a:lnT>
                    <a:lnB w="6350">
                      <a:solidFill>
                        <a:srgbClr val="E2E7F2"/>
                      </a:solidFill>
                    </a:lnB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</p:spTree>
  </p:cSld>
  <p:clrMapOvr>
    <a:masterClrMapping/>
  </p:clrMapOvr>
</p:sld>
</file>

<file path=ppt/slides/slide3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8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292608"/>
            <a:ext cx="8229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b="1" kern="0" spc="200" dirty="0">
                <a:solidFill>
                  <a:srgbClr val="D9A44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SECTION 5 · ASCOTT EMBASSY SATHORN (AES)</a:t>
            </a:r>
            <a:endParaRPr lang="en-US" sz="1100" dirty="0"/>
          </a:p>
        </p:txBody>
      </p:sp>
      <p:sp>
        <p:nvSpPr>
          <p:cNvPr id="3" name="Text 1"/>
          <p:cNvSpPr/>
          <p:nvPr/>
        </p:nvSpPr>
        <p:spPr>
          <a:xfrm>
            <a:off x="548640" y="502920"/>
            <a:ext cx="11091672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800" b="1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Ascott Embassy Sathorn (AES) — ADR by segment (฿ / room night)</a:t>
            </a:r>
            <a:endParaRPr lang="en-US" sz="2800" dirty="0"/>
          </a:p>
        </p:txBody>
      </p:sp>
      <p:sp>
        <p:nvSpPr>
          <p:cNvPr id="4" name="Text 2"/>
          <p:cNvSpPr/>
          <p:nvPr/>
        </p:nvSpPr>
        <p:spPr>
          <a:xfrm>
            <a:off x="548640" y="1060704"/>
            <a:ext cx="11091672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5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ADR = segment revenue ÷ segment room nights · monthly 2026 vs 2025 (gray) · H1 = Jan–Jun · Chg % = H1 2026 vs H1 2025</a:t>
            </a:r>
            <a:endParaRPr lang="en-US" sz="1250" dirty="0"/>
          </a:p>
        </p:txBody>
      </p:sp>
      <p:sp>
        <p:nvSpPr>
          <p:cNvPr id="5" name="Text 3"/>
          <p:cNvSpPr/>
          <p:nvPr/>
        </p:nvSpPr>
        <p:spPr>
          <a:xfrm>
            <a:off x="8165592" y="310896"/>
            <a:ext cx="34747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90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Mitsui Thailand Portfolio · H1 2026</a:t>
            </a:r>
            <a:endParaRPr lang="en-US" sz="900" dirty="0"/>
          </a:p>
        </p:txBody>
      </p:sp>
      <p:sp>
        <p:nvSpPr>
          <p:cNvPr id="8" name="Text 4"/>
          <p:cNvSpPr/>
          <p:nvPr/>
        </p:nvSpPr>
        <p:spPr>
          <a:xfrm>
            <a:off x="548640" y="6400800"/>
            <a:ext cx="10881360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50" i="1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</a:t>
            </a:r>
            <a:endParaRPr lang="en-US" sz="1050" dirty="0"/>
          </a:p>
        </p:txBody>
      </p:sp>
      <p:graphicFrame>
        <p:nvGraphicFramePr>
          <p:cNvPr id="9" name="Table 8"/>
          <p:cNvGraphicFramePr>
            <a:graphicFrameLocks noGrp="1"/>
          </p:cNvGraphicFramePr>
          <p:nvPr/>
        </p:nvGraphicFramePr>
        <p:xfrm>
          <a:off x="548640" y="1645920"/>
          <a:ext cx="11091672" cy="3653027"/>
        </p:xfrm>
        <a:graphic>
          <a:graphicData uri="http://schemas.openxmlformats.org/drawingml/2006/table">
            <a:tbl>
              <a:tblPr>
                <a:tableStyleId>{5C22544A-7EE6-4342-B048-85BDC9FD1C3A}</a:tableStyleId>
              </a:tblPr>
              <a:tblGrid>
                <a:gridCol w="1737360"/>
                <a:gridCol w="1234440"/>
                <a:gridCol w="1234440"/>
                <a:gridCol w="1234440"/>
                <a:gridCol w="1234440"/>
                <a:gridCol w="1234440"/>
                <a:gridCol w="1234440"/>
                <a:gridCol w="960120"/>
                <a:gridCol w="987552"/>
              </a:tblGrid>
              <a:tr h="214884">
                <a:tc>
                  <a:txBody>
                    <a:bodyPr wrap="none"/>
                    <a:lstStyle/>
                    <a:p>
                      <a:pPr algn="l"/>
                      <a:r>
                        <a:rPr sz="850" b="1">
                          <a:solidFill>
                            <a:srgbClr val="FFFFFF"/>
                          </a:solidFill>
                          <a:latin typeface="Calibri"/>
                        </a:rPr>
                        <a:t>Segment</a:t>
                      </a:r>
                    </a:p>
                  </a:txBody>
                  <a:tcPr anchor="ctr" marL="27432" marR="27432" marT="4572" marB="4572">
                    <a:lnL w="6350">
                      <a:solidFill>
                        <a:srgbClr val="E2E7F2"/>
                      </a:solidFill>
                    </a:lnL>
                    <a:lnR w="6350">
                      <a:solidFill>
                        <a:srgbClr val="E2E7F2"/>
                      </a:solidFill>
                    </a:lnR>
                    <a:lnT w="6350">
                      <a:solidFill>
                        <a:srgbClr val="E2E7F2"/>
                      </a:solidFill>
                    </a:lnT>
                    <a:lnB w="6350">
                      <a:solidFill>
                        <a:srgbClr val="E2E7F2"/>
                      </a:solidFill>
                    </a:lnB>
                    <a:solidFill>
                      <a:srgbClr val="1E2761"/>
                    </a:solidFill>
                  </a:tcPr>
                </a:tc>
                <a:tc>
                  <a:txBody>
                    <a:bodyPr wrap="none"/>
                    <a:lstStyle/>
                    <a:p>
                      <a:pPr algn="r"/>
                      <a:r>
                        <a:rPr sz="850" b="1">
                          <a:solidFill>
                            <a:srgbClr val="FFFFFF"/>
                          </a:solidFill>
                          <a:latin typeface="Calibri"/>
                        </a:rPr>
                        <a:t>Jan</a:t>
                      </a:r>
                    </a:p>
                  </a:txBody>
                  <a:tcPr anchor="ctr" marL="27432" marR="27432" marT="4572" marB="4572">
                    <a:lnL w="6350">
                      <a:solidFill>
                        <a:srgbClr val="E2E7F2"/>
                      </a:solidFill>
                    </a:lnL>
                    <a:lnR w="6350">
                      <a:solidFill>
                        <a:srgbClr val="E2E7F2"/>
                      </a:solidFill>
                    </a:lnR>
                    <a:lnT w="6350">
                      <a:solidFill>
                        <a:srgbClr val="E2E7F2"/>
                      </a:solidFill>
                    </a:lnT>
                    <a:lnB w="6350">
                      <a:solidFill>
                        <a:srgbClr val="E2E7F2"/>
                      </a:solidFill>
                    </a:lnB>
                    <a:solidFill>
                      <a:srgbClr val="1E2761"/>
                    </a:solidFill>
                  </a:tcPr>
                </a:tc>
                <a:tc>
                  <a:txBody>
                    <a:bodyPr wrap="none"/>
                    <a:lstStyle/>
                    <a:p>
                      <a:pPr algn="r"/>
                      <a:r>
                        <a:rPr sz="850" b="1">
                          <a:solidFill>
                            <a:srgbClr val="FFFFFF"/>
                          </a:solidFill>
                          <a:latin typeface="Calibri"/>
                        </a:rPr>
                        <a:t>Feb</a:t>
                      </a:r>
                    </a:p>
                  </a:txBody>
                  <a:tcPr anchor="ctr" marL="27432" marR="27432" marT="4572" marB="4572">
                    <a:lnL w="6350">
                      <a:solidFill>
                        <a:srgbClr val="E2E7F2"/>
                      </a:solidFill>
                    </a:lnL>
                    <a:lnR w="6350">
                      <a:solidFill>
                        <a:srgbClr val="E2E7F2"/>
                      </a:solidFill>
                    </a:lnR>
                    <a:lnT w="6350">
                      <a:solidFill>
                        <a:srgbClr val="E2E7F2"/>
                      </a:solidFill>
                    </a:lnT>
                    <a:lnB w="6350">
                      <a:solidFill>
                        <a:srgbClr val="E2E7F2"/>
                      </a:solidFill>
                    </a:lnB>
                    <a:solidFill>
                      <a:srgbClr val="1E2761"/>
                    </a:solidFill>
                  </a:tcPr>
                </a:tc>
                <a:tc>
                  <a:txBody>
                    <a:bodyPr wrap="none"/>
                    <a:lstStyle/>
                    <a:p>
                      <a:pPr algn="r"/>
                      <a:r>
                        <a:rPr sz="850" b="1">
                          <a:solidFill>
                            <a:srgbClr val="FFFFFF"/>
                          </a:solidFill>
                          <a:latin typeface="Calibri"/>
                        </a:rPr>
                        <a:t>Mar</a:t>
                      </a:r>
                    </a:p>
                  </a:txBody>
                  <a:tcPr anchor="ctr" marL="27432" marR="27432" marT="4572" marB="4572">
                    <a:lnL w="6350">
                      <a:solidFill>
                        <a:srgbClr val="E2E7F2"/>
                      </a:solidFill>
                    </a:lnL>
                    <a:lnR w="6350">
                      <a:solidFill>
                        <a:srgbClr val="E2E7F2"/>
                      </a:solidFill>
                    </a:lnR>
                    <a:lnT w="6350">
                      <a:solidFill>
                        <a:srgbClr val="E2E7F2"/>
                      </a:solidFill>
                    </a:lnT>
                    <a:lnB w="6350">
                      <a:solidFill>
                        <a:srgbClr val="E2E7F2"/>
                      </a:solidFill>
                    </a:lnB>
                    <a:solidFill>
                      <a:srgbClr val="1E2761"/>
                    </a:solidFill>
                  </a:tcPr>
                </a:tc>
                <a:tc>
                  <a:txBody>
                    <a:bodyPr wrap="none"/>
                    <a:lstStyle/>
                    <a:p>
                      <a:pPr algn="r"/>
                      <a:r>
                        <a:rPr sz="850" b="1">
                          <a:solidFill>
                            <a:srgbClr val="FFFFFF"/>
                          </a:solidFill>
                          <a:latin typeface="Calibri"/>
                        </a:rPr>
                        <a:t>Apr</a:t>
                      </a:r>
                    </a:p>
                  </a:txBody>
                  <a:tcPr anchor="ctr" marL="27432" marR="27432" marT="4572" marB="4572">
                    <a:lnL w="6350">
                      <a:solidFill>
                        <a:srgbClr val="E2E7F2"/>
                      </a:solidFill>
                    </a:lnL>
                    <a:lnR w="6350">
                      <a:solidFill>
                        <a:srgbClr val="E2E7F2"/>
                      </a:solidFill>
                    </a:lnR>
                    <a:lnT w="6350">
                      <a:solidFill>
                        <a:srgbClr val="E2E7F2"/>
                      </a:solidFill>
                    </a:lnT>
                    <a:lnB w="6350">
                      <a:solidFill>
                        <a:srgbClr val="E2E7F2"/>
                      </a:solidFill>
                    </a:lnB>
                    <a:solidFill>
                      <a:srgbClr val="1E2761"/>
                    </a:solidFill>
                  </a:tcPr>
                </a:tc>
                <a:tc>
                  <a:txBody>
                    <a:bodyPr wrap="none"/>
                    <a:lstStyle/>
                    <a:p>
                      <a:pPr algn="r"/>
                      <a:r>
                        <a:rPr sz="850" b="1">
                          <a:solidFill>
                            <a:srgbClr val="FFFFFF"/>
                          </a:solidFill>
                          <a:latin typeface="Calibri"/>
                        </a:rPr>
                        <a:t>May</a:t>
                      </a:r>
                    </a:p>
                  </a:txBody>
                  <a:tcPr anchor="ctr" marL="27432" marR="27432" marT="4572" marB="4572">
                    <a:lnL w="6350">
                      <a:solidFill>
                        <a:srgbClr val="E2E7F2"/>
                      </a:solidFill>
                    </a:lnL>
                    <a:lnR w="6350">
                      <a:solidFill>
                        <a:srgbClr val="E2E7F2"/>
                      </a:solidFill>
                    </a:lnR>
                    <a:lnT w="6350">
                      <a:solidFill>
                        <a:srgbClr val="E2E7F2"/>
                      </a:solidFill>
                    </a:lnT>
                    <a:lnB w="6350">
                      <a:solidFill>
                        <a:srgbClr val="E2E7F2"/>
                      </a:solidFill>
                    </a:lnB>
                    <a:solidFill>
                      <a:srgbClr val="1E2761"/>
                    </a:solidFill>
                  </a:tcPr>
                </a:tc>
                <a:tc>
                  <a:txBody>
                    <a:bodyPr wrap="none"/>
                    <a:lstStyle/>
                    <a:p>
                      <a:pPr algn="r"/>
                      <a:r>
                        <a:rPr sz="850" b="1">
                          <a:solidFill>
                            <a:srgbClr val="FFFFFF"/>
                          </a:solidFill>
                          <a:latin typeface="Calibri"/>
                        </a:rPr>
                        <a:t>Jun</a:t>
                      </a:r>
                    </a:p>
                  </a:txBody>
                  <a:tcPr anchor="ctr" marL="27432" marR="27432" marT="4572" marB="4572">
                    <a:lnL w="6350">
                      <a:solidFill>
                        <a:srgbClr val="E2E7F2"/>
                      </a:solidFill>
                    </a:lnL>
                    <a:lnR w="6350">
                      <a:solidFill>
                        <a:srgbClr val="E2E7F2"/>
                      </a:solidFill>
                    </a:lnR>
                    <a:lnT w="6350">
                      <a:solidFill>
                        <a:srgbClr val="E2E7F2"/>
                      </a:solidFill>
                    </a:lnT>
                    <a:lnB w="6350">
                      <a:solidFill>
                        <a:srgbClr val="E2E7F2"/>
                      </a:solidFill>
                    </a:lnB>
                    <a:solidFill>
                      <a:srgbClr val="1E2761"/>
                    </a:solidFill>
                  </a:tcPr>
                </a:tc>
                <a:tc>
                  <a:txBody>
                    <a:bodyPr wrap="none"/>
                    <a:lstStyle/>
                    <a:p>
                      <a:pPr algn="r"/>
                      <a:r>
                        <a:rPr sz="850" b="1">
                          <a:solidFill>
                            <a:srgbClr val="FFFFFF"/>
                          </a:solidFill>
                          <a:latin typeface="Calibri"/>
                        </a:rPr>
                        <a:t>H1</a:t>
                      </a:r>
                    </a:p>
                  </a:txBody>
                  <a:tcPr anchor="ctr" marL="27432" marR="27432" marT="4572" marB="4572">
                    <a:lnL w="6350">
                      <a:solidFill>
                        <a:srgbClr val="E2E7F2"/>
                      </a:solidFill>
                    </a:lnL>
                    <a:lnR w="6350">
                      <a:solidFill>
                        <a:srgbClr val="E2E7F2"/>
                      </a:solidFill>
                    </a:lnR>
                    <a:lnT w="6350">
                      <a:solidFill>
                        <a:srgbClr val="E2E7F2"/>
                      </a:solidFill>
                    </a:lnT>
                    <a:lnB w="6350">
                      <a:solidFill>
                        <a:srgbClr val="E2E7F2"/>
                      </a:solidFill>
                    </a:lnB>
                    <a:solidFill>
                      <a:srgbClr val="1E2761"/>
                    </a:solidFill>
                  </a:tcPr>
                </a:tc>
                <a:tc>
                  <a:txBody>
                    <a:bodyPr wrap="none"/>
                    <a:lstStyle/>
                    <a:p>
                      <a:pPr algn="r"/>
                      <a:r>
                        <a:rPr sz="850" b="1">
                          <a:solidFill>
                            <a:srgbClr val="FFFFFF"/>
                          </a:solidFill>
                          <a:latin typeface="Calibri"/>
                        </a:rPr>
                        <a:t>Chg %</a:t>
                      </a:r>
                    </a:p>
                  </a:txBody>
                  <a:tcPr anchor="ctr" marL="27432" marR="27432" marT="4572" marB="4572">
                    <a:lnL w="6350">
                      <a:solidFill>
                        <a:srgbClr val="E2E7F2"/>
                      </a:solidFill>
                    </a:lnL>
                    <a:lnR w="6350">
                      <a:solidFill>
                        <a:srgbClr val="E2E7F2"/>
                      </a:solidFill>
                    </a:lnR>
                    <a:lnT w="6350">
                      <a:solidFill>
                        <a:srgbClr val="E2E7F2"/>
                      </a:solidFill>
                    </a:lnT>
                    <a:lnB w="6350">
                      <a:solidFill>
                        <a:srgbClr val="E2E7F2"/>
                      </a:solidFill>
                    </a:lnB>
                    <a:solidFill>
                      <a:srgbClr val="1E2761"/>
                    </a:solidFill>
                  </a:tcPr>
                </a:tc>
              </a:tr>
              <a:tr h="214884">
                <a:tc>
                  <a:txBody>
                    <a:bodyPr wrap="none"/>
                    <a:lstStyle/>
                    <a:p>
                      <a:pPr algn="l"/>
                      <a:r>
                        <a:rPr sz="850" b="1">
                          <a:solidFill>
                            <a:srgbClr val="26292E"/>
                          </a:solidFill>
                          <a:latin typeface="Calibri"/>
                        </a:rPr>
                        <a:t>Corporate SS</a:t>
                      </a:r>
                    </a:p>
                  </a:txBody>
                  <a:tcPr anchor="ctr" marL="27432" marR="27432" marT="4572" marB="4572">
                    <a:lnL w="6350">
                      <a:solidFill>
                        <a:srgbClr val="E2E7F2"/>
                      </a:solidFill>
                    </a:lnL>
                    <a:lnR w="6350">
                      <a:solidFill>
                        <a:srgbClr val="E2E7F2"/>
                      </a:solidFill>
                    </a:lnR>
                    <a:lnT w="6350">
                      <a:solidFill>
                        <a:srgbClr val="E2E7F2"/>
                      </a:solidFill>
                    </a:lnT>
                    <a:lnB w="6350">
                      <a:solidFill>
                        <a:srgbClr val="E2E7F2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wrap="none"/>
                    <a:lstStyle/>
                    <a:p>
                      <a:pPr algn="r"/>
                      <a:r>
                        <a:rPr sz="850" b="0">
                          <a:solidFill>
                            <a:srgbClr val="26292E"/>
                          </a:solidFill>
                          <a:latin typeface="Calibri"/>
                        </a:rPr>
                        <a:t>3,415</a:t>
                      </a:r>
                    </a:p>
                  </a:txBody>
                  <a:tcPr anchor="ctr" marL="27432" marR="27432" marT="4572" marB="4572">
                    <a:lnL w="6350">
                      <a:solidFill>
                        <a:srgbClr val="E2E7F2"/>
                      </a:solidFill>
                    </a:lnL>
                    <a:lnR w="6350">
                      <a:solidFill>
                        <a:srgbClr val="E2E7F2"/>
                      </a:solidFill>
                    </a:lnR>
                    <a:lnT w="6350">
                      <a:solidFill>
                        <a:srgbClr val="E2E7F2"/>
                      </a:solidFill>
                    </a:lnT>
                    <a:lnB w="6350">
                      <a:solidFill>
                        <a:srgbClr val="E2E7F2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wrap="none"/>
                    <a:lstStyle/>
                    <a:p>
                      <a:pPr algn="r"/>
                      <a:r>
                        <a:rPr sz="850" b="0">
                          <a:solidFill>
                            <a:srgbClr val="26292E"/>
                          </a:solidFill>
                          <a:latin typeface="Calibri"/>
                        </a:rPr>
                        <a:t>3,715</a:t>
                      </a:r>
                    </a:p>
                  </a:txBody>
                  <a:tcPr anchor="ctr" marL="27432" marR="27432" marT="4572" marB="4572">
                    <a:lnL w="6350">
                      <a:solidFill>
                        <a:srgbClr val="E2E7F2"/>
                      </a:solidFill>
                    </a:lnL>
                    <a:lnR w="6350">
                      <a:solidFill>
                        <a:srgbClr val="E2E7F2"/>
                      </a:solidFill>
                    </a:lnR>
                    <a:lnT w="6350">
                      <a:solidFill>
                        <a:srgbClr val="E2E7F2"/>
                      </a:solidFill>
                    </a:lnT>
                    <a:lnB w="6350">
                      <a:solidFill>
                        <a:srgbClr val="E2E7F2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wrap="none"/>
                    <a:lstStyle/>
                    <a:p>
                      <a:pPr algn="r"/>
                      <a:r>
                        <a:rPr sz="850" b="0">
                          <a:solidFill>
                            <a:srgbClr val="26292E"/>
                          </a:solidFill>
                          <a:latin typeface="Calibri"/>
                        </a:rPr>
                        <a:t>3,306</a:t>
                      </a:r>
                    </a:p>
                  </a:txBody>
                  <a:tcPr anchor="ctr" marL="27432" marR="27432" marT="4572" marB="4572">
                    <a:lnL w="6350">
                      <a:solidFill>
                        <a:srgbClr val="E2E7F2"/>
                      </a:solidFill>
                    </a:lnL>
                    <a:lnR w="6350">
                      <a:solidFill>
                        <a:srgbClr val="E2E7F2"/>
                      </a:solidFill>
                    </a:lnR>
                    <a:lnT w="6350">
                      <a:solidFill>
                        <a:srgbClr val="E2E7F2"/>
                      </a:solidFill>
                    </a:lnT>
                    <a:lnB w="6350">
                      <a:solidFill>
                        <a:srgbClr val="E2E7F2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wrap="none"/>
                    <a:lstStyle/>
                    <a:p>
                      <a:pPr algn="r"/>
                      <a:r>
                        <a:rPr sz="850" b="0">
                          <a:solidFill>
                            <a:srgbClr val="26292E"/>
                          </a:solidFill>
                          <a:latin typeface="Calibri"/>
                        </a:rPr>
                        <a:t>3,564</a:t>
                      </a:r>
                    </a:p>
                  </a:txBody>
                  <a:tcPr anchor="ctr" marL="27432" marR="27432" marT="4572" marB="4572">
                    <a:lnL w="6350">
                      <a:solidFill>
                        <a:srgbClr val="E2E7F2"/>
                      </a:solidFill>
                    </a:lnL>
                    <a:lnR w="6350">
                      <a:solidFill>
                        <a:srgbClr val="E2E7F2"/>
                      </a:solidFill>
                    </a:lnR>
                    <a:lnT w="6350">
                      <a:solidFill>
                        <a:srgbClr val="E2E7F2"/>
                      </a:solidFill>
                    </a:lnT>
                    <a:lnB w="6350">
                      <a:solidFill>
                        <a:srgbClr val="E2E7F2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wrap="none"/>
                    <a:lstStyle/>
                    <a:p>
                      <a:pPr algn="r"/>
                      <a:r>
                        <a:rPr sz="850" b="0">
                          <a:solidFill>
                            <a:srgbClr val="26292E"/>
                          </a:solidFill>
                          <a:latin typeface="Calibri"/>
                        </a:rPr>
                        <a:t>3,388</a:t>
                      </a:r>
                    </a:p>
                  </a:txBody>
                  <a:tcPr anchor="ctr" marL="27432" marR="27432" marT="4572" marB="4572">
                    <a:lnL w="6350">
                      <a:solidFill>
                        <a:srgbClr val="E2E7F2"/>
                      </a:solidFill>
                    </a:lnL>
                    <a:lnR w="6350">
                      <a:solidFill>
                        <a:srgbClr val="E2E7F2"/>
                      </a:solidFill>
                    </a:lnR>
                    <a:lnT w="6350">
                      <a:solidFill>
                        <a:srgbClr val="E2E7F2"/>
                      </a:solidFill>
                    </a:lnT>
                    <a:lnB w="6350">
                      <a:solidFill>
                        <a:srgbClr val="E2E7F2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wrap="none"/>
                    <a:lstStyle/>
                    <a:p>
                      <a:pPr algn="r"/>
                      <a:r>
                        <a:rPr sz="850" b="0">
                          <a:solidFill>
                            <a:srgbClr val="26292E"/>
                          </a:solidFill>
                          <a:latin typeface="Calibri"/>
                        </a:rPr>
                        <a:t>3,646</a:t>
                      </a:r>
                    </a:p>
                  </a:txBody>
                  <a:tcPr anchor="ctr" marL="27432" marR="27432" marT="4572" marB="4572">
                    <a:lnL w="6350">
                      <a:solidFill>
                        <a:srgbClr val="E2E7F2"/>
                      </a:solidFill>
                    </a:lnL>
                    <a:lnR w="6350">
                      <a:solidFill>
                        <a:srgbClr val="E2E7F2"/>
                      </a:solidFill>
                    </a:lnR>
                    <a:lnT w="6350">
                      <a:solidFill>
                        <a:srgbClr val="E2E7F2"/>
                      </a:solidFill>
                    </a:lnT>
                    <a:lnB w="6350">
                      <a:solidFill>
                        <a:srgbClr val="E2E7F2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wrap="none"/>
                    <a:lstStyle/>
                    <a:p>
                      <a:pPr algn="r"/>
                      <a:r>
                        <a:rPr sz="850" b="1">
                          <a:solidFill>
                            <a:srgbClr val="26292E"/>
                          </a:solidFill>
                          <a:latin typeface="Calibri"/>
                        </a:rPr>
                        <a:t>3,486</a:t>
                      </a:r>
                    </a:p>
                  </a:txBody>
                  <a:tcPr anchor="ctr" marL="27432" marR="27432" marT="4572" marB="4572">
                    <a:lnL w="6350">
                      <a:solidFill>
                        <a:srgbClr val="E2E7F2"/>
                      </a:solidFill>
                    </a:lnL>
                    <a:lnR w="6350">
                      <a:solidFill>
                        <a:srgbClr val="E2E7F2"/>
                      </a:solidFill>
                    </a:lnR>
                    <a:lnT w="6350">
                      <a:solidFill>
                        <a:srgbClr val="E2E7F2"/>
                      </a:solidFill>
                    </a:lnT>
                    <a:lnB w="6350">
                      <a:solidFill>
                        <a:srgbClr val="E2E7F2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wrap="none"/>
                    <a:lstStyle/>
                    <a:p>
                      <a:pPr algn="r"/>
                      <a:r>
                        <a:rPr sz="850" b="1">
                          <a:solidFill>
                            <a:srgbClr val="C62828"/>
                          </a:solidFill>
                          <a:latin typeface="Calibri"/>
                        </a:rPr>
                        <a:t>-12.1%</a:t>
                      </a:r>
                    </a:p>
                  </a:txBody>
                  <a:tcPr anchor="ctr" marL="27432" marR="27432" marT="4572" marB="4572">
                    <a:lnL w="6350">
                      <a:solidFill>
                        <a:srgbClr val="E2E7F2"/>
                      </a:solidFill>
                    </a:lnL>
                    <a:lnR w="6350">
                      <a:solidFill>
                        <a:srgbClr val="E2E7F2"/>
                      </a:solidFill>
                    </a:lnR>
                    <a:lnT w="6350">
                      <a:solidFill>
                        <a:srgbClr val="E2E7F2"/>
                      </a:solidFill>
                    </a:lnT>
                    <a:lnB w="6350">
                      <a:solidFill>
                        <a:srgbClr val="E2E7F2"/>
                      </a:solidFill>
                    </a:lnB>
                    <a:solidFill>
                      <a:srgbClr val="FFFFFF"/>
                    </a:solidFill>
                  </a:tcPr>
                </a:tc>
              </a:tr>
              <a:tr h="214884">
                <a:tc>
                  <a:txBody>
                    <a:bodyPr wrap="none"/>
                    <a:lstStyle/>
                    <a:p>
                      <a:pPr algn="l"/>
                      <a:r>
                        <a:rPr sz="850" b="0">
                          <a:solidFill>
                            <a:srgbClr val="595959"/>
                          </a:solidFill>
                          <a:latin typeface="Calibri"/>
                        </a:rPr>
                        <a:t>   ’25</a:t>
                      </a:r>
                    </a:p>
                  </a:txBody>
                  <a:tcPr anchor="ctr" marL="27432" marR="27432" marT="4572" marB="4572">
                    <a:lnL w="6350">
                      <a:solidFill>
                        <a:srgbClr val="E2E7F2"/>
                      </a:solidFill>
                    </a:lnL>
                    <a:lnR w="6350">
                      <a:solidFill>
                        <a:srgbClr val="E2E7F2"/>
                      </a:solidFill>
                    </a:lnR>
                    <a:lnT w="6350">
                      <a:solidFill>
                        <a:srgbClr val="E2E7F2"/>
                      </a:solidFill>
                    </a:lnT>
                    <a:lnB w="6350">
                      <a:solidFill>
                        <a:srgbClr val="E2E7F2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wrap="none"/>
                    <a:lstStyle/>
                    <a:p>
                      <a:pPr algn="r"/>
                      <a:r>
                        <a:rPr sz="850" b="0">
                          <a:solidFill>
                            <a:srgbClr val="595959"/>
                          </a:solidFill>
                          <a:latin typeface="Calibri"/>
                        </a:rPr>
                        <a:t>4,012</a:t>
                      </a:r>
                    </a:p>
                  </a:txBody>
                  <a:tcPr anchor="ctr" marL="27432" marR="27432" marT="4572" marB="4572">
                    <a:lnL w="6350">
                      <a:solidFill>
                        <a:srgbClr val="E2E7F2"/>
                      </a:solidFill>
                    </a:lnL>
                    <a:lnR w="6350">
                      <a:solidFill>
                        <a:srgbClr val="E2E7F2"/>
                      </a:solidFill>
                    </a:lnR>
                    <a:lnT w="6350">
                      <a:solidFill>
                        <a:srgbClr val="E2E7F2"/>
                      </a:solidFill>
                    </a:lnT>
                    <a:lnB w="6350">
                      <a:solidFill>
                        <a:srgbClr val="E2E7F2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wrap="none"/>
                    <a:lstStyle/>
                    <a:p>
                      <a:pPr algn="r"/>
                      <a:r>
                        <a:rPr sz="850" b="0">
                          <a:solidFill>
                            <a:srgbClr val="595959"/>
                          </a:solidFill>
                          <a:latin typeface="Calibri"/>
                        </a:rPr>
                        <a:t>3,887</a:t>
                      </a:r>
                    </a:p>
                  </a:txBody>
                  <a:tcPr anchor="ctr" marL="27432" marR="27432" marT="4572" marB="4572">
                    <a:lnL w="6350">
                      <a:solidFill>
                        <a:srgbClr val="E2E7F2"/>
                      </a:solidFill>
                    </a:lnL>
                    <a:lnR w="6350">
                      <a:solidFill>
                        <a:srgbClr val="E2E7F2"/>
                      </a:solidFill>
                    </a:lnR>
                    <a:lnT w="6350">
                      <a:solidFill>
                        <a:srgbClr val="E2E7F2"/>
                      </a:solidFill>
                    </a:lnT>
                    <a:lnB w="6350">
                      <a:solidFill>
                        <a:srgbClr val="E2E7F2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wrap="none"/>
                    <a:lstStyle/>
                    <a:p>
                      <a:pPr algn="r"/>
                      <a:r>
                        <a:rPr sz="850" b="0">
                          <a:solidFill>
                            <a:srgbClr val="595959"/>
                          </a:solidFill>
                          <a:latin typeface="Calibri"/>
                        </a:rPr>
                        <a:t>4,040</a:t>
                      </a:r>
                    </a:p>
                  </a:txBody>
                  <a:tcPr anchor="ctr" marL="27432" marR="27432" marT="4572" marB="4572">
                    <a:lnL w="6350">
                      <a:solidFill>
                        <a:srgbClr val="E2E7F2"/>
                      </a:solidFill>
                    </a:lnL>
                    <a:lnR w="6350">
                      <a:solidFill>
                        <a:srgbClr val="E2E7F2"/>
                      </a:solidFill>
                    </a:lnR>
                    <a:lnT w="6350">
                      <a:solidFill>
                        <a:srgbClr val="E2E7F2"/>
                      </a:solidFill>
                    </a:lnT>
                    <a:lnB w="6350">
                      <a:solidFill>
                        <a:srgbClr val="E2E7F2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wrap="none"/>
                    <a:lstStyle/>
                    <a:p>
                      <a:pPr algn="r"/>
                      <a:r>
                        <a:rPr sz="850" b="0">
                          <a:solidFill>
                            <a:srgbClr val="595959"/>
                          </a:solidFill>
                          <a:latin typeface="Calibri"/>
                        </a:rPr>
                        <a:t>4,012</a:t>
                      </a:r>
                    </a:p>
                  </a:txBody>
                  <a:tcPr anchor="ctr" marL="27432" marR="27432" marT="4572" marB="4572">
                    <a:lnL w="6350">
                      <a:solidFill>
                        <a:srgbClr val="E2E7F2"/>
                      </a:solidFill>
                    </a:lnL>
                    <a:lnR w="6350">
                      <a:solidFill>
                        <a:srgbClr val="E2E7F2"/>
                      </a:solidFill>
                    </a:lnR>
                    <a:lnT w="6350">
                      <a:solidFill>
                        <a:srgbClr val="E2E7F2"/>
                      </a:solidFill>
                    </a:lnT>
                    <a:lnB w="6350">
                      <a:solidFill>
                        <a:srgbClr val="E2E7F2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wrap="none"/>
                    <a:lstStyle/>
                    <a:p>
                      <a:pPr algn="r"/>
                      <a:r>
                        <a:rPr sz="850" b="0">
                          <a:solidFill>
                            <a:srgbClr val="595959"/>
                          </a:solidFill>
                          <a:latin typeface="Calibri"/>
                        </a:rPr>
                        <a:t>3,864</a:t>
                      </a:r>
                    </a:p>
                  </a:txBody>
                  <a:tcPr anchor="ctr" marL="27432" marR="27432" marT="4572" marB="4572">
                    <a:lnL w="6350">
                      <a:solidFill>
                        <a:srgbClr val="E2E7F2"/>
                      </a:solidFill>
                    </a:lnL>
                    <a:lnR w="6350">
                      <a:solidFill>
                        <a:srgbClr val="E2E7F2"/>
                      </a:solidFill>
                    </a:lnR>
                    <a:lnT w="6350">
                      <a:solidFill>
                        <a:srgbClr val="E2E7F2"/>
                      </a:solidFill>
                    </a:lnT>
                    <a:lnB w="6350">
                      <a:solidFill>
                        <a:srgbClr val="E2E7F2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wrap="none"/>
                    <a:lstStyle/>
                    <a:p>
                      <a:pPr algn="r"/>
                      <a:r>
                        <a:rPr sz="850" b="0">
                          <a:solidFill>
                            <a:srgbClr val="595959"/>
                          </a:solidFill>
                          <a:latin typeface="Calibri"/>
                        </a:rPr>
                        <a:t>4,027</a:t>
                      </a:r>
                    </a:p>
                  </a:txBody>
                  <a:tcPr anchor="ctr" marL="27432" marR="27432" marT="4572" marB="4572">
                    <a:lnL w="6350">
                      <a:solidFill>
                        <a:srgbClr val="E2E7F2"/>
                      </a:solidFill>
                    </a:lnL>
                    <a:lnR w="6350">
                      <a:solidFill>
                        <a:srgbClr val="E2E7F2"/>
                      </a:solidFill>
                    </a:lnR>
                    <a:lnT w="6350">
                      <a:solidFill>
                        <a:srgbClr val="E2E7F2"/>
                      </a:solidFill>
                    </a:lnT>
                    <a:lnB w="6350">
                      <a:solidFill>
                        <a:srgbClr val="E2E7F2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wrap="none"/>
                    <a:lstStyle/>
                    <a:p>
                      <a:pPr algn="r"/>
                      <a:r>
                        <a:rPr sz="850" b="0">
                          <a:solidFill>
                            <a:srgbClr val="595959"/>
                          </a:solidFill>
                          <a:latin typeface="Calibri"/>
                        </a:rPr>
                        <a:t>3,967</a:t>
                      </a:r>
                    </a:p>
                  </a:txBody>
                  <a:tcPr anchor="ctr" marL="27432" marR="27432" marT="4572" marB="4572">
                    <a:lnL w="6350">
                      <a:solidFill>
                        <a:srgbClr val="E2E7F2"/>
                      </a:solidFill>
                    </a:lnL>
                    <a:lnR w="6350">
                      <a:solidFill>
                        <a:srgbClr val="E2E7F2"/>
                      </a:solidFill>
                    </a:lnR>
                    <a:lnT w="6350">
                      <a:solidFill>
                        <a:srgbClr val="E2E7F2"/>
                      </a:solidFill>
                    </a:lnT>
                    <a:lnB w="6350">
                      <a:solidFill>
                        <a:srgbClr val="E2E7F2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wrap="none"/>
                    <a:lstStyle/>
                    <a:p>
                      <a:pPr algn="l"/>
                      <a:r>
                        <a:rPr sz="850" b="0">
                          <a:solidFill>
                            <a:srgbClr val="26292E"/>
                          </a:solidFill>
                          <a:latin typeface="Calibri"/>
                        </a:rPr>
                        <a:t/>
                      </a:r>
                    </a:p>
                  </a:txBody>
                  <a:tcPr anchor="ctr" marL="27432" marR="27432" marT="4572" marB="4572">
                    <a:lnL w="6350">
                      <a:solidFill>
                        <a:srgbClr val="E2E7F2"/>
                      </a:solidFill>
                    </a:lnL>
                    <a:lnR w="6350">
                      <a:solidFill>
                        <a:srgbClr val="E2E7F2"/>
                      </a:solidFill>
                    </a:lnR>
                    <a:lnT w="6350">
                      <a:solidFill>
                        <a:srgbClr val="E2E7F2"/>
                      </a:solidFill>
                    </a:lnT>
                    <a:lnB w="6350">
                      <a:solidFill>
                        <a:srgbClr val="E2E7F2"/>
                      </a:solidFill>
                    </a:lnB>
                    <a:solidFill>
                      <a:srgbClr val="FFFFFF"/>
                    </a:solidFill>
                  </a:tcPr>
                </a:tc>
              </a:tr>
              <a:tr h="214884">
                <a:tc>
                  <a:txBody>
                    <a:bodyPr wrap="none"/>
                    <a:lstStyle/>
                    <a:p>
                      <a:pPr algn="l"/>
                      <a:r>
                        <a:rPr sz="850" b="1">
                          <a:solidFill>
                            <a:srgbClr val="26292E"/>
                          </a:solidFill>
                          <a:latin typeface="Calibri"/>
                        </a:rPr>
                        <a:t>Corporate LS</a:t>
                      </a:r>
                    </a:p>
                  </a:txBody>
                  <a:tcPr anchor="ctr" marL="27432" marR="27432" marT="4572" marB="4572">
                    <a:lnL w="6350">
                      <a:solidFill>
                        <a:srgbClr val="E2E7F2"/>
                      </a:solidFill>
                    </a:lnL>
                    <a:lnR w="6350">
                      <a:solidFill>
                        <a:srgbClr val="E2E7F2"/>
                      </a:solidFill>
                    </a:lnR>
                    <a:lnT w="6350">
                      <a:solidFill>
                        <a:srgbClr val="E2E7F2"/>
                      </a:solidFill>
                    </a:lnT>
                    <a:lnB w="6350">
                      <a:solidFill>
                        <a:srgbClr val="E2E7F2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wrap="none"/>
                    <a:lstStyle/>
                    <a:p>
                      <a:pPr algn="r"/>
                      <a:r>
                        <a:rPr sz="850" b="0">
                          <a:solidFill>
                            <a:srgbClr val="26292E"/>
                          </a:solidFill>
                          <a:latin typeface="Calibri"/>
                        </a:rPr>
                        <a:t>2,450</a:t>
                      </a:r>
                    </a:p>
                  </a:txBody>
                  <a:tcPr anchor="ctr" marL="27432" marR="27432" marT="4572" marB="4572">
                    <a:lnL w="6350">
                      <a:solidFill>
                        <a:srgbClr val="E2E7F2"/>
                      </a:solidFill>
                    </a:lnL>
                    <a:lnR w="6350">
                      <a:solidFill>
                        <a:srgbClr val="E2E7F2"/>
                      </a:solidFill>
                    </a:lnR>
                    <a:lnT w="6350">
                      <a:solidFill>
                        <a:srgbClr val="E2E7F2"/>
                      </a:solidFill>
                    </a:lnT>
                    <a:lnB w="6350">
                      <a:solidFill>
                        <a:srgbClr val="E2E7F2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wrap="none"/>
                    <a:lstStyle/>
                    <a:p>
                      <a:pPr algn="r"/>
                      <a:r>
                        <a:rPr sz="850" b="0">
                          <a:solidFill>
                            <a:srgbClr val="26292E"/>
                          </a:solidFill>
                          <a:latin typeface="Calibri"/>
                        </a:rPr>
                        <a:t>2,540</a:t>
                      </a:r>
                    </a:p>
                  </a:txBody>
                  <a:tcPr anchor="ctr" marL="27432" marR="27432" marT="4572" marB="4572">
                    <a:lnL w="6350">
                      <a:solidFill>
                        <a:srgbClr val="E2E7F2"/>
                      </a:solidFill>
                    </a:lnL>
                    <a:lnR w="6350">
                      <a:solidFill>
                        <a:srgbClr val="E2E7F2"/>
                      </a:solidFill>
                    </a:lnR>
                    <a:lnT w="6350">
                      <a:solidFill>
                        <a:srgbClr val="E2E7F2"/>
                      </a:solidFill>
                    </a:lnT>
                    <a:lnB w="6350">
                      <a:solidFill>
                        <a:srgbClr val="E2E7F2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wrap="none"/>
                    <a:lstStyle/>
                    <a:p>
                      <a:pPr algn="r"/>
                      <a:r>
                        <a:rPr sz="850" b="0">
                          <a:solidFill>
                            <a:srgbClr val="26292E"/>
                          </a:solidFill>
                          <a:latin typeface="Calibri"/>
                        </a:rPr>
                        <a:t>2,455</a:t>
                      </a:r>
                    </a:p>
                  </a:txBody>
                  <a:tcPr anchor="ctr" marL="27432" marR="27432" marT="4572" marB="4572">
                    <a:lnL w="6350">
                      <a:solidFill>
                        <a:srgbClr val="E2E7F2"/>
                      </a:solidFill>
                    </a:lnL>
                    <a:lnR w="6350">
                      <a:solidFill>
                        <a:srgbClr val="E2E7F2"/>
                      </a:solidFill>
                    </a:lnR>
                    <a:lnT w="6350">
                      <a:solidFill>
                        <a:srgbClr val="E2E7F2"/>
                      </a:solidFill>
                    </a:lnT>
                    <a:lnB w="6350">
                      <a:solidFill>
                        <a:srgbClr val="E2E7F2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wrap="none"/>
                    <a:lstStyle/>
                    <a:p>
                      <a:pPr algn="r"/>
                      <a:r>
                        <a:rPr sz="850" b="0">
                          <a:solidFill>
                            <a:srgbClr val="26292E"/>
                          </a:solidFill>
                          <a:latin typeface="Calibri"/>
                        </a:rPr>
                        <a:t>2,554</a:t>
                      </a:r>
                    </a:p>
                  </a:txBody>
                  <a:tcPr anchor="ctr" marL="27432" marR="27432" marT="4572" marB="4572">
                    <a:lnL w="6350">
                      <a:solidFill>
                        <a:srgbClr val="E2E7F2"/>
                      </a:solidFill>
                    </a:lnL>
                    <a:lnR w="6350">
                      <a:solidFill>
                        <a:srgbClr val="E2E7F2"/>
                      </a:solidFill>
                    </a:lnR>
                    <a:lnT w="6350">
                      <a:solidFill>
                        <a:srgbClr val="E2E7F2"/>
                      </a:solidFill>
                    </a:lnT>
                    <a:lnB w="6350">
                      <a:solidFill>
                        <a:srgbClr val="E2E7F2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wrap="none"/>
                    <a:lstStyle/>
                    <a:p>
                      <a:pPr algn="r"/>
                      <a:r>
                        <a:rPr sz="850" b="0">
                          <a:solidFill>
                            <a:srgbClr val="26292E"/>
                          </a:solidFill>
                          <a:latin typeface="Calibri"/>
                        </a:rPr>
                        <a:t>2,446</a:t>
                      </a:r>
                    </a:p>
                  </a:txBody>
                  <a:tcPr anchor="ctr" marL="27432" marR="27432" marT="4572" marB="4572">
                    <a:lnL w="6350">
                      <a:solidFill>
                        <a:srgbClr val="E2E7F2"/>
                      </a:solidFill>
                    </a:lnL>
                    <a:lnR w="6350">
                      <a:solidFill>
                        <a:srgbClr val="E2E7F2"/>
                      </a:solidFill>
                    </a:lnR>
                    <a:lnT w="6350">
                      <a:solidFill>
                        <a:srgbClr val="E2E7F2"/>
                      </a:solidFill>
                    </a:lnT>
                    <a:lnB w="6350">
                      <a:solidFill>
                        <a:srgbClr val="E2E7F2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wrap="none"/>
                    <a:lstStyle/>
                    <a:p>
                      <a:pPr algn="r"/>
                      <a:r>
                        <a:rPr sz="850" b="0">
                          <a:solidFill>
                            <a:srgbClr val="26292E"/>
                          </a:solidFill>
                          <a:latin typeface="Calibri"/>
                        </a:rPr>
                        <a:t>2,629</a:t>
                      </a:r>
                    </a:p>
                  </a:txBody>
                  <a:tcPr anchor="ctr" marL="27432" marR="27432" marT="4572" marB="4572">
                    <a:lnL w="6350">
                      <a:solidFill>
                        <a:srgbClr val="E2E7F2"/>
                      </a:solidFill>
                    </a:lnL>
                    <a:lnR w="6350">
                      <a:solidFill>
                        <a:srgbClr val="E2E7F2"/>
                      </a:solidFill>
                    </a:lnR>
                    <a:lnT w="6350">
                      <a:solidFill>
                        <a:srgbClr val="E2E7F2"/>
                      </a:solidFill>
                    </a:lnT>
                    <a:lnB w="6350">
                      <a:solidFill>
                        <a:srgbClr val="E2E7F2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wrap="none"/>
                    <a:lstStyle/>
                    <a:p>
                      <a:pPr algn="r"/>
                      <a:r>
                        <a:rPr sz="850" b="1">
                          <a:solidFill>
                            <a:srgbClr val="26292E"/>
                          </a:solidFill>
                          <a:latin typeface="Calibri"/>
                        </a:rPr>
                        <a:t>2,506</a:t>
                      </a:r>
                    </a:p>
                  </a:txBody>
                  <a:tcPr anchor="ctr" marL="27432" marR="27432" marT="4572" marB="4572">
                    <a:lnL w="6350">
                      <a:solidFill>
                        <a:srgbClr val="E2E7F2"/>
                      </a:solidFill>
                    </a:lnL>
                    <a:lnR w="6350">
                      <a:solidFill>
                        <a:srgbClr val="E2E7F2"/>
                      </a:solidFill>
                    </a:lnR>
                    <a:lnT w="6350">
                      <a:solidFill>
                        <a:srgbClr val="E2E7F2"/>
                      </a:solidFill>
                    </a:lnT>
                    <a:lnB w="6350">
                      <a:solidFill>
                        <a:srgbClr val="E2E7F2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wrap="none"/>
                    <a:lstStyle/>
                    <a:p>
                      <a:pPr algn="r"/>
                      <a:r>
                        <a:rPr sz="850" b="1">
                          <a:solidFill>
                            <a:srgbClr val="C62828"/>
                          </a:solidFill>
                          <a:latin typeface="Calibri"/>
                        </a:rPr>
                        <a:t>-2.0%</a:t>
                      </a:r>
                    </a:p>
                  </a:txBody>
                  <a:tcPr anchor="ctr" marL="27432" marR="27432" marT="4572" marB="4572">
                    <a:lnL w="6350">
                      <a:solidFill>
                        <a:srgbClr val="E2E7F2"/>
                      </a:solidFill>
                    </a:lnL>
                    <a:lnR w="6350">
                      <a:solidFill>
                        <a:srgbClr val="E2E7F2"/>
                      </a:solidFill>
                    </a:lnR>
                    <a:lnT w="6350">
                      <a:solidFill>
                        <a:srgbClr val="E2E7F2"/>
                      </a:solidFill>
                    </a:lnT>
                    <a:lnB w="6350">
                      <a:solidFill>
                        <a:srgbClr val="E2E7F2"/>
                      </a:solidFill>
                    </a:lnB>
                    <a:solidFill>
                      <a:srgbClr val="FFFFFF"/>
                    </a:solidFill>
                  </a:tcPr>
                </a:tc>
              </a:tr>
              <a:tr h="214884">
                <a:tc>
                  <a:txBody>
                    <a:bodyPr wrap="none"/>
                    <a:lstStyle/>
                    <a:p>
                      <a:pPr algn="l"/>
                      <a:r>
                        <a:rPr sz="850" b="0">
                          <a:solidFill>
                            <a:srgbClr val="595959"/>
                          </a:solidFill>
                          <a:latin typeface="Calibri"/>
                        </a:rPr>
                        <a:t>   ’25</a:t>
                      </a:r>
                    </a:p>
                  </a:txBody>
                  <a:tcPr anchor="ctr" marL="27432" marR="27432" marT="4572" marB="4572">
                    <a:lnL w="6350">
                      <a:solidFill>
                        <a:srgbClr val="E2E7F2"/>
                      </a:solidFill>
                    </a:lnL>
                    <a:lnR w="6350">
                      <a:solidFill>
                        <a:srgbClr val="E2E7F2"/>
                      </a:solidFill>
                    </a:lnR>
                    <a:lnT w="6350">
                      <a:solidFill>
                        <a:srgbClr val="E2E7F2"/>
                      </a:solidFill>
                    </a:lnT>
                    <a:lnB w="6350">
                      <a:solidFill>
                        <a:srgbClr val="E2E7F2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wrap="none"/>
                    <a:lstStyle/>
                    <a:p>
                      <a:pPr algn="r"/>
                      <a:r>
                        <a:rPr sz="850" b="0">
                          <a:solidFill>
                            <a:srgbClr val="595959"/>
                          </a:solidFill>
                          <a:latin typeface="Calibri"/>
                        </a:rPr>
                        <a:t>2,449</a:t>
                      </a:r>
                    </a:p>
                  </a:txBody>
                  <a:tcPr anchor="ctr" marL="27432" marR="27432" marT="4572" marB="4572">
                    <a:lnL w="6350">
                      <a:solidFill>
                        <a:srgbClr val="E2E7F2"/>
                      </a:solidFill>
                    </a:lnL>
                    <a:lnR w="6350">
                      <a:solidFill>
                        <a:srgbClr val="E2E7F2"/>
                      </a:solidFill>
                    </a:lnR>
                    <a:lnT w="6350">
                      <a:solidFill>
                        <a:srgbClr val="E2E7F2"/>
                      </a:solidFill>
                    </a:lnT>
                    <a:lnB w="6350">
                      <a:solidFill>
                        <a:srgbClr val="E2E7F2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wrap="none"/>
                    <a:lstStyle/>
                    <a:p>
                      <a:pPr algn="r"/>
                      <a:r>
                        <a:rPr sz="850" b="0">
                          <a:solidFill>
                            <a:srgbClr val="595959"/>
                          </a:solidFill>
                          <a:latin typeface="Calibri"/>
                        </a:rPr>
                        <a:t>2,618</a:t>
                      </a:r>
                    </a:p>
                  </a:txBody>
                  <a:tcPr anchor="ctr" marL="27432" marR="27432" marT="4572" marB="4572">
                    <a:lnL w="6350">
                      <a:solidFill>
                        <a:srgbClr val="E2E7F2"/>
                      </a:solidFill>
                    </a:lnL>
                    <a:lnR w="6350">
                      <a:solidFill>
                        <a:srgbClr val="E2E7F2"/>
                      </a:solidFill>
                    </a:lnR>
                    <a:lnT w="6350">
                      <a:solidFill>
                        <a:srgbClr val="E2E7F2"/>
                      </a:solidFill>
                    </a:lnT>
                    <a:lnB w="6350">
                      <a:solidFill>
                        <a:srgbClr val="E2E7F2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wrap="none"/>
                    <a:lstStyle/>
                    <a:p>
                      <a:pPr algn="r"/>
                      <a:r>
                        <a:rPr sz="850" b="0">
                          <a:solidFill>
                            <a:srgbClr val="595959"/>
                          </a:solidFill>
                          <a:latin typeface="Calibri"/>
                        </a:rPr>
                        <a:t>2,578</a:t>
                      </a:r>
                    </a:p>
                  </a:txBody>
                  <a:tcPr anchor="ctr" marL="27432" marR="27432" marT="4572" marB="4572">
                    <a:lnL w="6350">
                      <a:solidFill>
                        <a:srgbClr val="E2E7F2"/>
                      </a:solidFill>
                    </a:lnL>
                    <a:lnR w="6350">
                      <a:solidFill>
                        <a:srgbClr val="E2E7F2"/>
                      </a:solidFill>
                    </a:lnR>
                    <a:lnT w="6350">
                      <a:solidFill>
                        <a:srgbClr val="E2E7F2"/>
                      </a:solidFill>
                    </a:lnT>
                    <a:lnB w="6350">
                      <a:solidFill>
                        <a:srgbClr val="E2E7F2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wrap="none"/>
                    <a:lstStyle/>
                    <a:p>
                      <a:pPr algn="r"/>
                      <a:r>
                        <a:rPr sz="850" b="0">
                          <a:solidFill>
                            <a:srgbClr val="595959"/>
                          </a:solidFill>
                          <a:latin typeface="Calibri"/>
                        </a:rPr>
                        <a:t>2,569</a:t>
                      </a:r>
                    </a:p>
                  </a:txBody>
                  <a:tcPr anchor="ctr" marL="27432" marR="27432" marT="4572" marB="4572">
                    <a:lnL w="6350">
                      <a:solidFill>
                        <a:srgbClr val="E2E7F2"/>
                      </a:solidFill>
                    </a:lnL>
                    <a:lnR w="6350">
                      <a:solidFill>
                        <a:srgbClr val="E2E7F2"/>
                      </a:solidFill>
                    </a:lnR>
                    <a:lnT w="6350">
                      <a:solidFill>
                        <a:srgbClr val="E2E7F2"/>
                      </a:solidFill>
                    </a:lnT>
                    <a:lnB w="6350">
                      <a:solidFill>
                        <a:srgbClr val="E2E7F2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wrap="none"/>
                    <a:lstStyle/>
                    <a:p>
                      <a:pPr algn="r"/>
                      <a:r>
                        <a:rPr sz="850" b="0">
                          <a:solidFill>
                            <a:srgbClr val="595959"/>
                          </a:solidFill>
                          <a:latin typeface="Calibri"/>
                        </a:rPr>
                        <a:t>2,488</a:t>
                      </a:r>
                    </a:p>
                  </a:txBody>
                  <a:tcPr anchor="ctr" marL="27432" marR="27432" marT="4572" marB="4572">
                    <a:lnL w="6350">
                      <a:solidFill>
                        <a:srgbClr val="E2E7F2"/>
                      </a:solidFill>
                    </a:lnL>
                    <a:lnR w="6350">
                      <a:solidFill>
                        <a:srgbClr val="E2E7F2"/>
                      </a:solidFill>
                    </a:lnR>
                    <a:lnT w="6350">
                      <a:solidFill>
                        <a:srgbClr val="E2E7F2"/>
                      </a:solidFill>
                    </a:lnT>
                    <a:lnB w="6350">
                      <a:solidFill>
                        <a:srgbClr val="E2E7F2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wrap="none"/>
                    <a:lstStyle/>
                    <a:p>
                      <a:pPr algn="r"/>
                      <a:r>
                        <a:rPr sz="850" b="0">
                          <a:solidFill>
                            <a:srgbClr val="595959"/>
                          </a:solidFill>
                          <a:latin typeface="Calibri"/>
                        </a:rPr>
                        <a:t>2,664</a:t>
                      </a:r>
                    </a:p>
                  </a:txBody>
                  <a:tcPr anchor="ctr" marL="27432" marR="27432" marT="4572" marB="4572">
                    <a:lnL w="6350">
                      <a:solidFill>
                        <a:srgbClr val="E2E7F2"/>
                      </a:solidFill>
                    </a:lnL>
                    <a:lnR w="6350">
                      <a:solidFill>
                        <a:srgbClr val="E2E7F2"/>
                      </a:solidFill>
                    </a:lnR>
                    <a:lnT w="6350">
                      <a:solidFill>
                        <a:srgbClr val="E2E7F2"/>
                      </a:solidFill>
                    </a:lnT>
                    <a:lnB w="6350">
                      <a:solidFill>
                        <a:srgbClr val="E2E7F2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wrap="none"/>
                    <a:lstStyle/>
                    <a:p>
                      <a:pPr algn="r"/>
                      <a:r>
                        <a:rPr sz="850" b="0">
                          <a:solidFill>
                            <a:srgbClr val="595959"/>
                          </a:solidFill>
                          <a:latin typeface="Calibri"/>
                        </a:rPr>
                        <a:t>2,558</a:t>
                      </a:r>
                    </a:p>
                  </a:txBody>
                  <a:tcPr anchor="ctr" marL="27432" marR="27432" marT="4572" marB="4572">
                    <a:lnL w="6350">
                      <a:solidFill>
                        <a:srgbClr val="E2E7F2"/>
                      </a:solidFill>
                    </a:lnL>
                    <a:lnR w="6350">
                      <a:solidFill>
                        <a:srgbClr val="E2E7F2"/>
                      </a:solidFill>
                    </a:lnR>
                    <a:lnT w="6350">
                      <a:solidFill>
                        <a:srgbClr val="E2E7F2"/>
                      </a:solidFill>
                    </a:lnT>
                    <a:lnB w="6350">
                      <a:solidFill>
                        <a:srgbClr val="E2E7F2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wrap="none"/>
                    <a:lstStyle/>
                    <a:p>
                      <a:pPr algn="l"/>
                      <a:r>
                        <a:rPr sz="850" b="0">
                          <a:solidFill>
                            <a:srgbClr val="26292E"/>
                          </a:solidFill>
                          <a:latin typeface="Calibri"/>
                        </a:rPr>
                        <a:t/>
                      </a:r>
                    </a:p>
                  </a:txBody>
                  <a:tcPr anchor="ctr" marL="27432" marR="27432" marT="4572" marB="4572">
                    <a:lnL w="6350">
                      <a:solidFill>
                        <a:srgbClr val="E2E7F2"/>
                      </a:solidFill>
                    </a:lnL>
                    <a:lnR w="6350">
                      <a:solidFill>
                        <a:srgbClr val="E2E7F2"/>
                      </a:solidFill>
                    </a:lnR>
                    <a:lnT w="6350">
                      <a:solidFill>
                        <a:srgbClr val="E2E7F2"/>
                      </a:solidFill>
                    </a:lnT>
                    <a:lnB w="6350">
                      <a:solidFill>
                        <a:srgbClr val="E2E7F2"/>
                      </a:solidFill>
                    </a:lnB>
                    <a:solidFill>
                      <a:srgbClr val="FFFFFF"/>
                    </a:solidFill>
                  </a:tcPr>
                </a:tc>
              </a:tr>
              <a:tr h="214884">
                <a:tc>
                  <a:txBody>
                    <a:bodyPr wrap="none"/>
                    <a:lstStyle/>
                    <a:p>
                      <a:pPr algn="l"/>
                      <a:r>
                        <a:rPr sz="850" b="1">
                          <a:solidFill>
                            <a:srgbClr val="26292E"/>
                          </a:solidFill>
                          <a:latin typeface="Calibri"/>
                        </a:rPr>
                        <a:t>Online</a:t>
                      </a:r>
                    </a:p>
                  </a:txBody>
                  <a:tcPr anchor="ctr" marL="27432" marR="27432" marT="4572" marB="4572">
                    <a:lnL w="6350">
                      <a:solidFill>
                        <a:srgbClr val="E2E7F2"/>
                      </a:solidFill>
                    </a:lnL>
                    <a:lnR w="6350">
                      <a:solidFill>
                        <a:srgbClr val="E2E7F2"/>
                      </a:solidFill>
                    </a:lnR>
                    <a:lnT w="6350">
                      <a:solidFill>
                        <a:srgbClr val="E2E7F2"/>
                      </a:solidFill>
                    </a:lnT>
                    <a:lnB w="6350">
                      <a:solidFill>
                        <a:srgbClr val="E2E7F2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wrap="none"/>
                    <a:lstStyle/>
                    <a:p>
                      <a:pPr algn="r"/>
                      <a:r>
                        <a:rPr sz="850" b="0">
                          <a:solidFill>
                            <a:srgbClr val="26292E"/>
                          </a:solidFill>
                          <a:latin typeface="Calibri"/>
                        </a:rPr>
                        <a:t>4,347</a:t>
                      </a:r>
                    </a:p>
                  </a:txBody>
                  <a:tcPr anchor="ctr" marL="27432" marR="27432" marT="4572" marB="4572">
                    <a:lnL w="6350">
                      <a:solidFill>
                        <a:srgbClr val="E2E7F2"/>
                      </a:solidFill>
                    </a:lnL>
                    <a:lnR w="6350">
                      <a:solidFill>
                        <a:srgbClr val="E2E7F2"/>
                      </a:solidFill>
                    </a:lnR>
                    <a:lnT w="6350">
                      <a:solidFill>
                        <a:srgbClr val="E2E7F2"/>
                      </a:solidFill>
                    </a:lnT>
                    <a:lnB w="6350">
                      <a:solidFill>
                        <a:srgbClr val="E2E7F2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wrap="none"/>
                    <a:lstStyle/>
                    <a:p>
                      <a:pPr algn="r"/>
                      <a:r>
                        <a:rPr sz="850" b="0">
                          <a:solidFill>
                            <a:srgbClr val="26292E"/>
                          </a:solidFill>
                          <a:latin typeface="Calibri"/>
                        </a:rPr>
                        <a:t>4,078</a:t>
                      </a:r>
                    </a:p>
                  </a:txBody>
                  <a:tcPr anchor="ctr" marL="27432" marR="27432" marT="4572" marB="4572">
                    <a:lnL w="6350">
                      <a:solidFill>
                        <a:srgbClr val="E2E7F2"/>
                      </a:solidFill>
                    </a:lnL>
                    <a:lnR w="6350">
                      <a:solidFill>
                        <a:srgbClr val="E2E7F2"/>
                      </a:solidFill>
                    </a:lnR>
                    <a:lnT w="6350">
                      <a:solidFill>
                        <a:srgbClr val="E2E7F2"/>
                      </a:solidFill>
                    </a:lnT>
                    <a:lnB w="6350">
                      <a:solidFill>
                        <a:srgbClr val="E2E7F2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wrap="none"/>
                    <a:lstStyle/>
                    <a:p>
                      <a:pPr algn="r"/>
                      <a:r>
                        <a:rPr sz="850" b="0">
                          <a:solidFill>
                            <a:srgbClr val="26292E"/>
                          </a:solidFill>
                          <a:latin typeface="Calibri"/>
                        </a:rPr>
                        <a:t>3,724</a:t>
                      </a:r>
                    </a:p>
                  </a:txBody>
                  <a:tcPr anchor="ctr" marL="27432" marR="27432" marT="4572" marB="4572">
                    <a:lnL w="6350">
                      <a:solidFill>
                        <a:srgbClr val="E2E7F2"/>
                      </a:solidFill>
                    </a:lnL>
                    <a:lnR w="6350">
                      <a:solidFill>
                        <a:srgbClr val="E2E7F2"/>
                      </a:solidFill>
                    </a:lnR>
                    <a:lnT w="6350">
                      <a:solidFill>
                        <a:srgbClr val="E2E7F2"/>
                      </a:solidFill>
                    </a:lnT>
                    <a:lnB w="6350">
                      <a:solidFill>
                        <a:srgbClr val="E2E7F2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wrap="none"/>
                    <a:lstStyle/>
                    <a:p>
                      <a:pPr algn="r"/>
                      <a:r>
                        <a:rPr sz="850" b="0">
                          <a:solidFill>
                            <a:srgbClr val="26292E"/>
                          </a:solidFill>
                          <a:latin typeface="Calibri"/>
                        </a:rPr>
                        <a:t>3,803</a:t>
                      </a:r>
                    </a:p>
                  </a:txBody>
                  <a:tcPr anchor="ctr" marL="27432" marR="27432" marT="4572" marB="4572">
                    <a:lnL w="6350">
                      <a:solidFill>
                        <a:srgbClr val="E2E7F2"/>
                      </a:solidFill>
                    </a:lnL>
                    <a:lnR w="6350">
                      <a:solidFill>
                        <a:srgbClr val="E2E7F2"/>
                      </a:solidFill>
                    </a:lnR>
                    <a:lnT w="6350">
                      <a:solidFill>
                        <a:srgbClr val="E2E7F2"/>
                      </a:solidFill>
                    </a:lnT>
                    <a:lnB w="6350">
                      <a:solidFill>
                        <a:srgbClr val="E2E7F2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wrap="none"/>
                    <a:lstStyle/>
                    <a:p>
                      <a:pPr algn="r"/>
                      <a:r>
                        <a:rPr sz="850" b="0">
                          <a:solidFill>
                            <a:srgbClr val="26292E"/>
                          </a:solidFill>
                          <a:latin typeface="Calibri"/>
                        </a:rPr>
                        <a:t>3,507</a:t>
                      </a:r>
                    </a:p>
                  </a:txBody>
                  <a:tcPr anchor="ctr" marL="27432" marR="27432" marT="4572" marB="4572">
                    <a:lnL w="6350">
                      <a:solidFill>
                        <a:srgbClr val="E2E7F2"/>
                      </a:solidFill>
                    </a:lnL>
                    <a:lnR w="6350">
                      <a:solidFill>
                        <a:srgbClr val="E2E7F2"/>
                      </a:solidFill>
                    </a:lnR>
                    <a:lnT w="6350">
                      <a:solidFill>
                        <a:srgbClr val="E2E7F2"/>
                      </a:solidFill>
                    </a:lnT>
                    <a:lnB w="6350">
                      <a:solidFill>
                        <a:srgbClr val="E2E7F2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wrap="none"/>
                    <a:lstStyle/>
                    <a:p>
                      <a:pPr algn="r"/>
                      <a:r>
                        <a:rPr sz="850" b="0">
                          <a:solidFill>
                            <a:srgbClr val="26292E"/>
                          </a:solidFill>
                          <a:latin typeface="Calibri"/>
                        </a:rPr>
                        <a:t>3,489</a:t>
                      </a:r>
                    </a:p>
                  </a:txBody>
                  <a:tcPr anchor="ctr" marL="27432" marR="27432" marT="4572" marB="4572">
                    <a:lnL w="6350">
                      <a:solidFill>
                        <a:srgbClr val="E2E7F2"/>
                      </a:solidFill>
                    </a:lnL>
                    <a:lnR w="6350">
                      <a:solidFill>
                        <a:srgbClr val="E2E7F2"/>
                      </a:solidFill>
                    </a:lnR>
                    <a:lnT w="6350">
                      <a:solidFill>
                        <a:srgbClr val="E2E7F2"/>
                      </a:solidFill>
                    </a:lnT>
                    <a:lnB w="6350">
                      <a:solidFill>
                        <a:srgbClr val="E2E7F2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wrap="none"/>
                    <a:lstStyle/>
                    <a:p>
                      <a:pPr algn="r"/>
                      <a:r>
                        <a:rPr sz="850" b="1">
                          <a:solidFill>
                            <a:srgbClr val="26292E"/>
                          </a:solidFill>
                          <a:latin typeface="Calibri"/>
                        </a:rPr>
                        <a:t>3,883</a:t>
                      </a:r>
                    </a:p>
                  </a:txBody>
                  <a:tcPr anchor="ctr" marL="27432" marR="27432" marT="4572" marB="4572">
                    <a:lnL w="6350">
                      <a:solidFill>
                        <a:srgbClr val="E2E7F2"/>
                      </a:solidFill>
                    </a:lnL>
                    <a:lnR w="6350">
                      <a:solidFill>
                        <a:srgbClr val="E2E7F2"/>
                      </a:solidFill>
                    </a:lnR>
                    <a:lnT w="6350">
                      <a:solidFill>
                        <a:srgbClr val="E2E7F2"/>
                      </a:solidFill>
                    </a:lnT>
                    <a:lnB w="6350">
                      <a:solidFill>
                        <a:srgbClr val="E2E7F2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wrap="none"/>
                    <a:lstStyle/>
                    <a:p>
                      <a:pPr algn="r"/>
                      <a:r>
                        <a:rPr sz="850" b="1">
                          <a:solidFill>
                            <a:srgbClr val="C62828"/>
                          </a:solidFill>
                          <a:latin typeface="Calibri"/>
                        </a:rPr>
                        <a:t>-11.0%</a:t>
                      </a:r>
                    </a:p>
                  </a:txBody>
                  <a:tcPr anchor="ctr" marL="27432" marR="27432" marT="4572" marB="4572">
                    <a:lnL w="6350">
                      <a:solidFill>
                        <a:srgbClr val="E2E7F2"/>
                      </a:solidFill>
                    </a:lnL>
                    <a:lnR w="6350">
                      <a:solidFill>
                        <a:srgbClr val="E2E7F2"/>
                      </a:solidFill>
                    </a:lnR>
                    <a:lnT w="6350">
                      <a:solidFill>
                        <a:srgbClr val="E2E7F2"/>
                      </a:solidFill>
                    </a:lnT>
                    <a:lnB w="6350">
                      <a:solidFill>
                        <a:srgbClr val="E2E7F2"/>
                      </a:solidFill>
                    </a:lnB>
                    <a:solidFill>
                      <a:srgbClr val="FFFFFF"/>
                    </a:solidFill>
                  </a:tcPr>
                </a:tc>
              </a:tr>
              <a:tr h="214884">
                <a:tc>
                  <a:txBody>
                    <a:bodyPr wrap="none"/>
                    <a:lstStyle/>
                    <a:p>
                      <a:pPr algn="l"/>
                      <a:r>
                        <a:rPr sz="850" b="0">
                          <a:solidFill>
                            <a:srgbClr val="595959"/>
                          </a:solidFill>
                          <a:latin typeface="Calibri"/>
                        </a:rPr>
                        <a:t>   ’25</a:t>
                      </a:r>
                    </a:p>
                  </a:txBody>
                  <a:tcPr anchor="ctr" marL="27432" marR="27432" marT="4572" marB="4572">
                    <a:lnL w="6350">
                      <a:solidFill>
                        <a:srgbClr val="E2E7F2"/>
                      </a:solidFill>
                    </a:lnL>
                    <a:lnR w="6350">
                      <a:solidFill>
                        <a:srgbClr val="E2E7F2"/>
                      </a:solidFill>
                    </a:lnR>
                    <a:lnT w="6350">
                      <a:solidFill>
                        <a:srgbClr val="E2E7F2"/>
                      </a:solidFill>
                    </a:lnT>
                    <a:lnB w="6350">
                      <a:solidFill>
                        <a:srgbClr val="E2E7F2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wrap="none"/>
                    <a:lstStyle/>
                    <a:p>
                      <a:pPr algn="r"/>
                      <a:r>
                        <a:rPr sz="850" b="0">
                          <a:solidFill>
                            <a:srgbClr val="595959"/>
                          </a:solidFill>
                          <a:latin typeface="Calibri"/>
                        </a:rPr>
                        <a:t>5,212</a:t>
                      </a:r>
                    </a:p>
                  </a:txBody>
                  <a:tcPr anchor="ctr" marL="27432" marR="27432" marT="4572" marB="4572">
                    <a:lnL w="6350">
                      <a:solidFill>
                        <a:srgbClr val="E2E7F2"/>
                      </a:solidFill>
                    </a:lnL>
                    <a:lnR w="6350">
                      <a:solidFill>
                        <a:srgbClr val="E2E7F2"/>
                      </a:solidFill>
                    </a:lnR>
                    <a:lnT w="6350">
                      <a:solidFill>
                        <a:srgbClr val="E2E7F2"/>
                      </a:solidFill>
                    </a:lnT>
                    <a:lnB w="6350">
                      <a:solidFill>
                        <a:srgbClr val="E2E7F2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wrap="none"/>
                    <a:lstStyle/>
                    <a:p>
                      <a:pPr algn="r"/>
                      <a:r>
                        <a:rPr sz="850" b="0">
                          <a:solidFill>
                            <a:srgbClr val="595959"/>
                          </a:solidFill>
                          <a:latin typeface="Calibri"/>
                        </a:rPr>
                        <a:t>4,521</a:t>
                      </a:r>
                    </a:p>
                  </a:txBody>
                  <a:tcPr anchor="ctr" marL="27432" marR="27432" marT="4572" marB="4572">
                    <a:lnL w="6350">
                      <a:solidFill>
                        <a:srgbClr val="E2E7F2"/>
                      </a:solidFill>
                    </a:lnL>
                    <a:lnR w="6350">
                      <a:solidFill>
                        <a:srgbClr val="E2E7F2"/>
                      </a:solidFill>
                    </a:lnR>
                    <a:lnT w="6350">
                      <a:solidFill>
                        <a:srgbClr val="E2E7F2"/>
                      </a:solidFill>
                    </a:lnT>
                    <a:lnB w="6350">
                      <a:solidFill>
                        <a:srgbClr val="E2E7F2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wrap="none"/>
                    <a:lstStyle/>
                    <a:p>
                      <a:pPr algn="r"/>
                      <a:r>
                        <a:rPr sz="850" b="0">
                          <a:solidFill>
                            <a:srgbClr val="595959"/>
                          </a:solidFill>
                          <a:latin typeface="Calibri"/>
                        </a:rPr>
                        <a:t>4,068</a:t>
                      </a:r>
                    </a:p>
                  </a:txBody>
                  <a:tcPr anchor="ctr" marL="27432" marR="27432" marT="4572" marB="4572">
                    <a:lnL w="6350">
                      <a:solidFill>
                        <a:srgbClr val="E2E7F2"/>
                      </a:solidFill>
                    </a:lnL>
                    <a:lnR w="6350">
                      <a:solidFill>
                        <a:srgbClr val="E2E7F2"/>
                      </a:solidFill>
                    </a:lnR>
                    <a:lnT w="6350">
                      <a:solidFill>
                        <a:srgbClr val="E2E7F2"/>
                      </a:solidFill>
                    </a:lnT>
                    <a:lnB w="6350">
                      <a:solidFill>
                        <a:srgbClr val="E2E7F2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wrap="none"/>
                    <a:lstStyle/>
                    <a:p>
                      <a:pPr algn="r"/>
                      <a:r>
                        <a:rPr sz="850" b="0">
                          <a:solidFill>
                            <a:srgbClr val="595959"/>
                          </a:solidFill>
                          <a:latin typeface="Calibri"/>
                        </a:rPr>
                        <a:t>4,272</a:t>
                      </a:r>
                    </a:p>
                  </a:txBody>
                  <a:tcPr anchor="ctr" marL="27432" marR="27432" marT="4572" marB="4572">
                    <a:lnL w="6350">
                      <a:solidFill>
                        <a:srgbClr val="E2E7F2"/>
                      </a:solidFill>
                    </a:lnL>
                    <a:lnR w="6350">
                      <a:solidFill>
                        <a:srgbClr val="E2E7F2"/>
                      </a:solidFill>
                    </a:lnR>
                    <a:lnT w="6350">
                      <a:solidFill>
                        <a:srgbClr val="E2E7F2"/>
                      </a:solidFill>
                    </a:lnT>
                    <a:lnB w="6350">
                      <a:solidFill>
                        <a:srgbClr val="E2E7F2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wrap="none"/>
                    <a:lstStyle/>
                    <a:p>
                      <a:pPr algn="r"/>
                      <a:r>
                        <a:rPr sz="850" b="0">
                          <a:solidFill>
                            <a:srgbClr val="595959"/>
                          </a:solidFill>
                          <a:latin typeface="Calibri"/>
                        </a:rPr>
                        <a:t>3,686</a:t>
                      </a:r>
                    </a:p>
                  </a:txBody>
                  <a:tcPr anchor="ctr" marL="27432" marR="27432" marT="4572" marB="4572">
                    <a:lnL w="6350">
                      <a:solidFill>
                        <a:srgbClr val="E2E7F2"/>
                      </a:solidFill>
                    </a:lnL>
                    <a:lnR w="6350">
                      <a:solidFill>
                        <a:srgbClr val="E2E7F2"/>
                      </a:solidFill>
                    </a:lnR>
                    <a:lnT w="6350">
                      <a:solidFill>
                        <a:srgbClr val="E2E7F2"/>
                      </a:solidFill>
                    </a:lnT>
                    <a:lnB w="6350">
                      <a:solidFill>
                        <a:srgbClr val="E2E7F2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wrap="none"/>
                    <a:lstStyle/>
                    <a:p>
                      <a:pPr algn="r"/>
                      <a:r>
                        <a:rPr sz="850" b="0">
                          <a:solidFill>
                            <a:srgbClr val="595959"/>
                          </a:solidFill>
                          <a:latin typeface="Calibri"/>
                        </a:rPr>
                        <a:t>3,988</a:t>
                      </a:r>
                    </a:p>
                  </a:txBody>
                  <a:tcPr anchor="ctr" marL="27432" marR="27432" marT="4572" marB="4572">
                    <a:lnL w="6350">
                      <a:solidFill>
                        <a:srgbClr val="E2E7F2"/>
                      </a:solidFill>
                    </a:lnL>
                    <a:lnR w="6350">
                      <a:solidFill>
                        <a:srgbClr val="E2E7F2"/>
                      </a:solidFill>
                    </a:lnR>
                    <a:lnT w="6350">
                      <a:solidFill>
                        <a:srgbClr val="E2E7F2"/>
                      </a:solidFill>
                    </a:lnT>
                    <a:lnB w="6350">
                      <a:solidFill>
                        <a:srgbClr val="E2E7F2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wrap="none"/>
                    <a:lstStyle/>
                    <a:p>
                      <a:pPr algn="r"/>
                      <a:r>
                        <a:rPr sz="850" b="0">
                          <a:solidFill>
                            <a:srgbClr val="595959"/>
                          </a:solidFill>
                          <a:latin typeface="Calibri"/>
                        </a:rPr>
                        <a:t>4,365</a:t>
                      </a:r>
                    </a:p>
                  </a:txBody>
                  <a:tcPr anchor="ctr" marL="27432" marR="27432" marT="4572" marB="4572">
                    <a:lnL w="6350">
                      <a:solidFill>
                        <a:srgbClr val="E2E7F2"/>
                      </a:solidFill>
                    </a:lnL>
                    <a:lnR w="6350">
                      <a:solidFill>
                        <a:srgbClr val="E2E7F2"/>
                      </a:solidFill>
                    </a:lnR>
                    <a:lnT w="6350">
                      <a:solidFill>
                        <a:srgbClr val="E2E7F2"/>
                      </a:solidFill>
                    </a:lnT>
                    <a:lnB w="6350">
                      <a:solidFill>
                        <a:srgbClr val="E2E7F2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wrap="none"/>
                    <a:lstStyle/>
                    <a:p>
                      <a:pPr algn="l"/>
                      <a:r>
                        <a:rPr sz="850" b="0">
                          <a:solidFill>
                            <a:srgbClr val="26292E"/>
                          </a:solidFill>
                          <a:latin typeface="Calibri"/>
                        </a:rPr>
                        <a:t/>
                      </a:r>
                    </a:p>
                  </a:txBody>
                  <a:tcPr anchor="ctr" marL="27432" marR="27432" marT="4572" marB="4572">
                    <a:lnL w="6350">
                      <a:solidFill>
                        <a:srgbClr val="E2E7F2"/>
                      </a:solidFill>
                    </a:lnL>
                    <a:lnR w="6350">
                      <a:solidFill>
                        <a:srgbClr val="E2E7F2"/>
                      </a:solidFill>
                    </a:lnR>
                    <a:lnT w="6350">
                      <a:solidFill>
                        <a:srgbClr val="E2E7F2"/>
                      </a:solidFill>
                    </a:lnT>
                    <a:lnB w="6350">
                      <a:solidFill>
                        <a:srgbClr val="E2E7F2"/>
                      </a:solidFill>
                    </a:lnB>
                    <a:solidFill>
                      <a:srgbClr val="FFFFFF"/>
                    </a:solidFill>
                  </a:tcPr>
                </a:tc>
              </a:tr>
              <a:tr h="214884">
                <a:tc>
                  <a:txBody>
                    <a:bodyPr wrap="none"/>
                    <a:lstStyle/>
                    <a:p>
                      <a:pPr algn="l"/>
                      <a:r>
                        <a:rPr sz="850" b="1">
                          <a:solidFill>
                            <a:srgbClr val="26292E"/>
                          </a:solidFill>
                          <a:latin typeface="Calibri"/>
                        </a:rPr>
                        <a:t>ASR</a:t>
                      </a:r>
                    </a:p>
                  </a:txBody>
                  <a:tcPr anchor="ctr" marL="27432" marR="27432" marT="4572" marB="4572">
                    <a:lnL w="6350">
                      <a:solidFill>
                        <a:srgbClr val="E2E7F2"/>
                      </a:solidFill>
                    </a:lnL>
                    <a:lnR w="6350">
                      <a:solidFill>
                        <a:srgbClr val="E2E7F2"/>
                      </a:solidFill>
                    </a:lnR>
                    <a:lnT w="6350">
                      <a:solidFill>
                        <a:srgbClr val="E2E7F2"/>
                      </a:solidFill>
                    </a:lnT>
                    <a:lnB w="6350">
                      <a:solidFill>
                        <a:srgbClr val="E2E7F2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wrap="none"/>
                    <a:lstStyle/>
                    <a:p>
                      <a:pPr algn="r"/>
                      <a:r>
                        <a:rPr sz="850" b="0">
                          <a:solidFill>
                            <a:srgbClr val="26292E"/>
                          </a:solidFill>
                          <a:latin typeface="Calibri"/>
                        </a:rPr>
                        <a:t>4,875</a:t>
                      </a:r>
                    </a:p>
                  </a:txBody>
                  <a:tcPr anchor="ctr" marL="27432" marR="27432" marT="4572" marB="4572">
                    <a:lnL w="6350">
                      <a:solidFill>
                        <a:srgbClr val="E2E7F2"/>
                      </a:solidFill>
                    </a:lnL>
                    <a:lnR w="6350">
                      <a:solidFill>
                        <a:srgbClr val="E2E7F2"/>
                      </a:solidFill>
                    </a:lnR>
                    <a:lnT w="6350">
                      <a:solidFill>
                        <a:srgbClr val="E2E7F2"/>
                      </a:solidFill>
                    </a:lnT>
                    <a:lnB w="6350">
                      <a:solidFill>
                        <a:srgbClr val="E2E7F2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wrap="none"/>
                    <a:lstStyle/>
                    <a:p>
                      <a:pPr algn="r"/>
                      <a:r>
                        <a:rPr sz="850" b="0">
                          <a:solidFill>
                            <a:srgbClr val="26292E"/>
                          </a:solidFill>
                          <a:latin typeface="Calibri"/>
                        </a:rPr>
                        <a:t>4,679</a:t>
                      </a:r>
                    </a:p>
                  </a:txBody>
                  <a:tcPr anchor="ctr" marL="27432" marR="27432" marT="4572" marB="4572">
                    <a:lnL w="6350">
                      <a:solidFill>
                        <a:srgbClr val="E2E7F2"/>
                      </a:solidFill>
                    </a:lnL>
                    <a:lnR w="6350">
                      <a:solidFill>
                        <a:srgbClr val="E2E7F2"/>
                      </a:solidFill>
                    </a:lnR>
                    <a:lnT w="6350">
                      <a:solidFill>
                        <a:srgbClr val="E2E7F2"/>
                      </a:solidFill>
                    </a:lnT>
                    <a:lnB w="6350">
                      <a:solidFill>
                        <a:srgbClr val="E2E7F2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wrap="none"/>
                    <a:lstStyle/>
                    <a:p>
                      <a:pPr algn="r"/>
                      <a:r>
                        <a:rPr sz="850" b="0">
                          <a:solidFill>
                            <a:srgbClr val="26292E"/>
                          </a:solidFill>
                          <a:latin typeface="Calibri"/>
                        </a:rPr>
                        <a:t>3,660</a:t>
                      </a:r>
                    </a:p>
                  </a:txBody>
                  <a:tcPr anchor="ctr" marL="27432" marR="27432" marT="4572" marB="4572">
                    <a:lnL w="6350">
                      <a:solidFill>
                        <a:srgbClr val="E2E7F2"/>
                      </a:solidFill>
                    </a:lnL>
                    <a:lnR w="6350">
                      <a:solidFill>
                        <a:srgbClr val="E2E7F2"/>
                      </a:solidFill>
                    </a:lnR>
                    <a:lnT w="6350">
                      <a:solidFill>
                        <a:srgbClr val="E2E7F2"/>
                      </a:solidFill>
                    </a:lnT>
                    <a:lnB w="6350">
                      <a:solidFill>
                        <a:srgbClr val="E2E7F2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wrap="none"/>
                    <a:lstStyle/>
                    <a:p>
                      <a:pPr algn="r"/>
                      <a:r>
                        <a:rPr sz="850" b="0">
                          <a:solidFill>
                            <a:srgbClr val="26292E"/>
                          </a:solidFill>
                          <a:latin typeface="Calibri"/>
                        </a:rPr>
                        <a:t>3,648</a:t>
                      </a:r>
                    </a:p>
                  </a:txBody>
                  <a:tcPr anchor="ctr" marL="27432" marR="27432" marT="4572" marB="4572">
                    <a:lnL w="6350">
                      <a:solidFill>
                        <a:srgbClr val="E2E7F2"/>
                      </a:solidFill>
                    </a:lnL>
                    <a:lnR w="6350">
                      <a:solidFill>
                        <a:srgbClr val="E2E7F2"/>
                      </a:solidFill>
                    </a:lnR>
                    <a:lnT w="6350">
                      <a:solidFill>
                        <a:srgbClr val="E2E7F2"/>
                      </a:solidFill>
                    </a:lnT>
                    <a:lnB w="6350">
                      <a:solidFill>
                        <a:srgbClr val="E2E7F2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wrap="none"/>
                    <a:lstStyle/>
                    <a:p>
                      <a:pPr algn="r"/>
                      <a:r>
                        <a:rPr sz="850" b="0">
                          <a:solidFill>
                            <a:srgbClr val="26292E"/>
                          </a:solidFill>
                          <a:latin typeface="Calibri"/>
                        </a:rPr>
                        <a:t>2,978</a:t>
                      </a:r>
                    </a:p>
                  </a:txBody>
                  <a:tcPr anchor="ctr" marL="27432" marR="27432" marT="4572" marB="4572">
                    <a:lnL w="6350">
                      <a:solidFill>
                        <a:srgbClr val="E2E7F2"/>
                      </a:solidFill>
                    </a:lnL>
                    <a:lnR w="6350">
                      <a:solidFill>
                        <a:srgbClr val="E2E7F2"/>
                      </a:solidFill>
                    </a:lnR>
                    <a:lnT w="6350">
                      <a:solidFill>
                        <a:srgbClr val="E2E7F2"/>
                      </a:solidFill>
                    </a:lnT>
                    <a:lnB w="6350">
                      <a:solidFill>
                        <a:srgbClr val="E2E7F2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wrap="none"/>
                    <a:lstStyle/>
                    <a:p>
                      <a:pPr algn="r"/>
                      <a:r>
                        <a:rPr sz="850" b="0">
                          <a:solidFill>
                            <a:srgbClr val="26292E"/>
                          </a:solidFill>
                          <a:latin typeface="Calibri"/>
                        </a:rPr>
                        <a:t>3,285</a:t>
                      </a:r>
                    </a:p>
                  </a:txBody>
                  <a:tcPr anchor="ctr" marL="27432" marR="27432" marT="4572" marB="4572">
                    <a:lnL w="6350">
                      <a:solidFill>
                        <a:srgbClr val="E2E7F2"/>
                      </a:solidFill>
                    </a:lnL>
                    <a:lnR w="6350">
                      <a:solidFill>
                        <a:srgbClr val="E2E7F2"/>
                      </a:solidFill>
                    </a:lnR>
                    <a:lnT w="6350">
                      <a:solidFill>
                        <a:srgbClr val="E2E7F2"/>
                      </a:solidFill>
                    </a:lnT>
                    <a:lnB w="6350">
                      <a:solidFill>
                        <a:srgbClr val="E2E7F2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wrap="none"/>
                    <a:lstStyle/>
                    <a:p>
                      <a:pPr algn="r"/>
                      <a:r>
                        <a:rPr sz="850" b="1">
                          <a:solidFill>
                            <a:srgbClr val="26292E"/>
                          </a:solidFill>
                          <a:latin typeface="Calibri"/>
                        </a:rPr>
                        <a:t>3,830</a:t>
                      </a:r>
                    </a:p>
                  </a:txBody>
                  <a:tcPr anchor="ctr" marL="27432" marR="27432" marT="4572" marB="4572">
                    <a:lnL w="6350">
                      <a:solidFill>
                        <a:srgbClr val="E2E7F2"/>
                      </a:solidFill>
                    </a:lnL>
                    <a:lnR w="6350">
                      <a:solidFill>
                        <a:srgbClr val="E2E7F2"/>
                      </a:solidFill>
                    </a:lnR>
                    <a:lnT w="6350">
                      <a:solidFill>
                        <a:srgbClr val="E2E7F2"/>
                      </a:solidFill>
                    </a:lnT>
                    <a:lnB w="6350">
                      <a:solidFill>
                        <a:srgbClr val="E2E7F2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wrap="none"/>
                    <a:lstStyle/>
                    <a:p>
                      <a:pPr algn="r"/>
                      <a:r>
                        <a:rPr sz="850" b="1">
                          <a:solidFill>
                            <a:srgbClr val="C62828"/>
                          </a:solidFill>
                          <a:latin typeface="Calibri"/>
                        </a:rPr>
                        <a:t>-12.5%</a:t>
                      </a:r>
                    </a:p>
                  </a:txBody>
                  <a:tcPr anchor="ctr" marL="27432" marR="27432" marT="4572" marB="4572">
                    <a:lnL w="6350">
                      <a:solidFill>
                        <a:srgbClr val="E2E7F2"/>
                      </a:solidFill>
                    </a:lnL>
                    <a:lnR w="6350">
                      <a:solidFill>
                        <a:srgbClr val="E2E7F2"/>
                      </a:solidFill>
                    </a:lnR>
                    <a:lnT w="6350">
                      <a:solidFill>
                        <a:srgbClr val="E2E7F2"/>
                      </a:solidFill>
                    </a:lnT>
                    <a:lnB w="6350">
                      <a:solidFill>
                        <a:srgbClr val="E2E7F2"/>
                      </a:solidFill>
                    </a:lnB>
                    <a:solidFill>
                      <a:srgbClr val="FFFFFF"/>
                    </a:solidFill>
                  </a:tcPr>
                </a:tc>
              </a:tr>
              <a:tr h="214884">
                <a:tc>
                  <a:txBody>
                    <a:bodyPr wrap="none"/>
                    <a:lstStyle/>
                    <a:p>
                      <a:pPr algn="l"/>
                      <a:r>
                        <a:rPr sz="850" b="0">
                          <a:solidFill>
                            <a:srgbClr val="595959"/>
                          </a:solidFill>
                          <a:latin typeface="Calibri"/>
                        </a:rPr>
                        <a:t>   ’25</a:t>
                      </a:r>
                    </a:p>
                  </a:txBody>
                  <a:tcPr anchor="ctr" marL="27432" marR="27432" marT="4572" marB="4572">
                    <a:lnL w="6350">
                      <a:solidFill>
                        <a:srgbClr val="E2E7F2"/>
                      </a:solidFill>
                    </a:lnL>
                    <a:lnR w="6350">
                      <a:solidFill>
                        <a:srgbClr val="E2E7F2"/>
                      </a:solidFill>
                    </a:lnR>
                    <a:lnT w="6350">
                      <a:solidFill>
                        <a:srgbClr val="E2E7F2"/>
                      </a:solidFill>
                    </a:lnT>
                    <a:lnB w="6350">
                      <a:solidFill>
                        <a:srgbClr val="E2E7F2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wrap="none"/>
                    <a:lstStyle/>
                    <a:p>
                      <a:pPr algn="r"/>
                      <a:r>
                        <a:rPr sz="850" b="0">
                          <a:solidFill>
                            <a:srgbClr val="595959"/>
                          </a:solidFill>
                          <a:latin typeface="Calibri"/>
                        </a:rPr>
                        <a:t>5,372</a:t>
                      </a:r>
                    </a:p>
                  </a:txBody>
                  <a:tcPr anchor="ctr" marL="27432" marR="27432" marT="4572" marB="4572">
                    <a:lnL w="6350">
                      <a:solidFill>
                        <a:srgbClr val="E2E7F2"/>
                      </a:solidFill>
                    </a:lnL>
                    <a:lnR w="6350">
                      <a:solidFill>
                        <a:srgbClr val="E2E7F2"/>
                      </a:solidFill>
                    </a:lnR>
                    <a:lnT w="6350">
                      <a:solidFill>
                        <a:srgbClr val="E2E7F2"/>
                      </a:solidFill>
                    </a:lnT>
                    <a:lnB w="6350">
                      <a:solidFill>
                        <a:srgbClr val="E2E7F2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wrap="none"/>
                    <a:lstStyle/>
                    <a:p>
                      <a:pPr algn="r"/>
                      <a:r>
                        <a:rPr sz="850" b="0">
                          <a:solidFill>
                            <a:srgbClr val="595959"/>
                          </a:solidFill>
                          <a:latin typeface="Calibri"/>
                        </a:rPr>
                        <a:t>4,534</a:t>
                      </a:r>
                    </a:p>
                  </a:txBody>
                  <a:tcPr anchor="ctr" marL="27432" marR="27432" marT="4572" marB="4572">
                    <a:lnL w="6350">
                      <a:solidFill>
                        <a:srgbClr val="E2E7F2"/>
                      </a:solidFill>
                    </a:lnL>
                    <a:lnR w="6350">
                      <a:solidFill>
                        <a:srgbClr val="E2E7F2"/>
                      </a:solidFill>
                    </a:lnR>
                    <a:lnT w="6350">
                      <a:solidFill>
                        <a:srgbClr val="E2E7F2"/>
                      </a:solidFill>
                    </a:lnT>
                    <a:lnB w="6350">
                      <a:solidFill>
                        <a:srgbClr val="E2E7F2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wrap="none"/>
                    <a:lstStyle/>
                    <a:p>
                      <a:pPr algn="r"/>
                      <a:r>
                        <a:rPr sz="850" b="0">
                          <a:solidFill>
                            <a:srgbClr val="595959"/>
                          </a:solidFill>
                          <a:latin typeface="Calibri"/>
                        </a:rPr>
                        <a:t>4,208</a:t>
                      </a:r>
                    </a:p>
                  </a:txBody>
                  <a:tcPr anchor="ctr" marL="27432" marR="27432" marT="4572" marB="4572">
                    <a:lnL w="6350">
                      <a:solidFill>
                        <a:srgbClr val="E2E7F2"/>
                      </a:solidFill>
                    </a:lnL>
                    <a:lnR w="6350">
                      <a:solidFill>
                        <a:srgbClr val="E2E7F2"/>
                      </a:solidFill>
                    </a:lnR>
                    <a:lnT w="6350">
                      <a:solidFill>
                        <a:srgbClr val="E2E7F2"/>
                      </a:solidFill>
                    </a:lnT>
                    <a:lnB w="6350">
                      <a:solidFill>
                        <a:srgbClr val="E2E7F2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wrap="none"/>
                    <a:lstStyle/>
                    <a:p>
                      <a:pPr algn="r"/>
                      <a:r>
                        <a:rPr sz="850" b="0">
                          <a:solidFill>
                            <a:srgbClr val="595959"/>
                          </a:solidFill>
                          <a:latin typeface="Calibri"/>
                        </a:rPr>
                        <a:t>4,126</a:t>
                      </a:r>
                    </a:p>
                  </a:txBody>
                  <a:tcPr anchor="ctr" marL="27432" marR="27432" marT="4572" marB="4572">
                    <a:lnL w="6350">
                      <a:solidFill>
                        <a:srgbClr val="E2E7F2"/>
                      </a:solidFill>
                    </a:lnL>
                    <a:lnR w="6350">
                      <a:solidFill>
                        <a:srgbClr val="E2E7F2"/>
                      </a:solidFill>
                    </a:lnR>
                    <a:lnT w="6350">
                      <a:solidFill>
                        <a:srgbClr val="E2E7F2"/>
                      </a:solidFill>
                    </a:lnT>
                    <a:lnB w="6350">
                      <a:solidFill>
                        <a:srgbClr val="E2E7F2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wrap="none"/>
                    <a:lstStyle/>
                    <a:p>
                      <a:pPr algn="r"/>
                      <a:r>
                        <a:rPr sz="850" b="0">
                          <a:solidFill>
                            <a:srgbClr val="595959"/>
                          </a:solidFill>
                          <a:latin typeface="Calibri"/>
                        </a:rPr>
                        <a:t>3,718</a:t>
                      </a:r>
                    </a:p>
                  </a:txBody>
                  <a:tcPr anchor="ctr" marL="27432" marR="27432" marT="4572" marB="4572">
                    <a:lnL w="6350">
                      <a:solidFill>
                        <a:srgbClr val="E2E7F2"/>
                      </a:solidFill>
                    </a:lnL>
                    <a:lnR w="6350">
                      <a:solidFill>
                        <a:srgbClr val="E2E7F2"/>
                      </a:solidFill>
                    </a:lnR>
                    <a:lnT w="6350">
                      <a:solidFill>
                        <a:srgbClr val="E2E7F2"/>
                      </a:solidFill>
                    </a:lnT>
                    <a:lnB w="6350">
                      <a:solidFill>
                        <a:srgbClr val="E2E7F2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wrap="none"/>
                    <a:lstStyle/>
                    <a:p>
                      <a:pPr algn="r"/>
                      <a:r>
                        <a:rPr sz="850" b="0">
                          <a:solidFill>
                            <a:srgbClr val="595959"/>
                          </a:solidFill>
                          <a:latin typeface="Calibri"/>
                        </a:rPr>
                        <a:t>4,148</a:t>
                      </a:r>
                    </a:p>
                  </a:txBody>
                  <a:tcPr anchor="ctr" marL="27432" marR="27432" marT="4572" marB="4572">
                    <a:lnL w="6350">
                      <a:solidFill>
                        <a:srgbClr val="E2E7F2"/>
                      </a:solidFill>
                    </a:lnL>
                    <a:lnR w="6350">
                      <a:solidFill>
                        <a:srgbClr val="E2E7F2"/>
                      </a:solidFill>
                    </a:lnR>
                    <a:lnT w="6350">
                      <a:solidFill>
                        <a:srgbClr val="E2E7F2"/>
                      </a:solidFill>
                    </a:lnT>
                    <a:lnB w="6350">
                      <a:solidFill>
                        <a:srgbClr val="E2E7F2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wrap="none"/>
                    <a:lstStyle/>
                    <a:p>
                      <a:pPr algn="r"/>
                      <a:r>
                        <a:rPr sz="850" b="0">
                          <a:solidFill>
                            <a:srgbClr val="595959"/>
                          </a:solidFill>
                          <a:latin typeface="Calibri"/>
                        </a:rPr>
                        <a:t>4,379</a:t>
                      </a:r>
                    </a:p>
                  </a:txBody>
                  <a:tcPr anchor="ctr" marL="27432" marR="27432" marT="4572" marB="4572">
                    <a:lnL w="6350">
                      <a:solidFill>
                        <a:srgbClr val="E2E7F2"/>
                      </a:solidFill>
                    </a:lnL>
                    <a:lnR w="6350">
                      <a:solidFill>
                        <a:srgbClr val="E2E7F2"/>
                      </a:solidFill>
                    </a:lnR>
                    <a:lnT w="6350">
                      <a:solidFill>
                        <a:srgbClr val="E2E7F2"/>
                      </a:solidFill>
                    </a:lnT>
                    <a:lnB w="6350">
                      <a:solidFill>
                        <a:srgbClr val="E2E7F2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wrap="none"/>
                    <a:lstStyle/>
                    <a:p>
                      <a:pPr algn="l"/>
                      <a:r>
                        <a:rPr sz="850" b="0">
                          <a:solidFill>
                            <a:srgbClr val="26292E"/>
                          </a:solidFill>
                          <a:latin typeface="Calibri"/>
                        </a:rPr>
                        <a:t/>
                      </a:r>
                    </a:p>
                  </a:txBody>
                  <a:tcPr anchor="ctr" marL="27432" marR="27432" marT="4572" marB="4572">
                    <a:lnL w="6350">
                      <a:solidFill>
                        <a:srgbClr val="E2E7F2"/>
                      </a:solidFill>
                    </a:lnL>
                    <a:lnR w="6350">
                      <a:solidFill>
                        <a:srgbClr val="E2E7F2"/>
                      </a:solidFill>
                    </a:lnR>
                    <a:lnT w="6350">
                      <a:solidFill>
                        <a:srgbClr val="E2E7F2"/>
                      </a:solidFill>
                    </a:lnT>
                    <a:lnB w="6350">
                      <a:solidFill>
                        <a:srgbClr val="E2E7F2"/>
                      </a:solidFill>
                    </a:lnB>
                    <a:solidFill>
                      <a:srgbClr val="FFFFFF"/>
                    </a:solidFill>
                  </a:tcPr>
                </a:tc>
              </a:tr>
              <a:tr h="214884">
                <a:tc>
                  <a:txBody>
                    <a:bodyPr wrap="none"/>
                    <a:lstStyle/>
                    <a:p>
                      <a:pPr algn="l"/>
                      <a:r>
                        <a:rPr sz="850" b="1">
                          <a:solidFill>
                            <a:srgbClr val="26292E"/>
                          </a:solidFill>
                          <a:latin typeface="Calibri"/>
                        </a:rPr>
                        <a:t>Wholesale</a:t>
                      </a:r>
                    </a:p>
                  </a:txBody>
                  <a:tcPr anchor="ctr" marL="27432" marR="27432" marT="4572" marB="4572">
                    <a:lnL w="6350">
                      <a:solidFill>
                        <a:srgbClr val="E2E7F2"/>
                      </a:solidFill>
                    </a:lnL>
                    <a:lnR w="6350">
                      <a:solidFill>
                        <a:srgbClr val="E2E7F2"/>
                      </a:solidFill>
                    </a:lnR>
                    <a:lnT w="6350">
                      <a:solidFill>
                        <a:srgbClr val="E2E7F2"/>
                      </a:solidFill>
                    </a:lnT>
                    <a:lnB w="6350">
                      <a:solidFill>
                        <a:srgbClr val="E2E7F2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wrap="none"/>
                    <a:lstStyle/>
                    <a:p>
                      <a:pPr algn="r"/>
                      <a:r>
                        <a:rPr sz="850" b="0">
                          <a:solidFill>
                            <a:srgbClr val="26292E"/>
                          </a:solidFill>
                          <a:latin typeface="Calibri"/>
                        </a:rPr>
                        <a:t>3,304</a:t>
                      </a:r>
                    </a:p>
                  </a:txBody>
                  <a:tcPr anchor="ctr" marL="27432" marR="27432" marT="4572" marB="4572">
                    <a:lnL w="6350">
                      <a:solidFill>
                        <a:srgbClr val="E2E7F2"/>
                      </a:solidFill>
                    </a:lnL>
                    <a:lnR w="6350">
                      <a:solidFill>
                        <a:srgbClr val="E2E7F2"/>
                      </a:solidFill>
                    </a:lnR>
                    <a:lnT w="6350">
                      <a:solidFill>
                        <a:srgbClr val="E2E7F2"/>
                      </a:solidFill>
                    </a:lnT>
                    <a:lnB w="6350">
                      <a:solidFill>
                        <a:srgbClr val="E2E7F2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wrap="none"/>
                    <a:lstStyle/>
                    <a:p>
                      <a:pPr algn="r"/>
                      <a:r>
                        <a:rPr sz="850" b="0">
                          <a:solidFill>
                            <a:srgbClr val="26292E"/>
                          </a:solidFill>
                          <a:latin typeface="Calibri"/>
                        </a:rPr>
                        <a:t>3,402</a:t>
                      </a:r>
                    </a:p>
                  </a:txBody>
                  <a:tcPr anchor="ctr" marL="27432" marR="27432" marT="4572" marB="4572">
                    <a:lnL w="6350">
                      <a:solidFill>
                        <a:srgbClr val="E2E7F2"/>
                      </a:solidFill>
                    </a:lnL>
                    <a:lnR w="6350">
                      <a:solidFill>
                        <a:srgbClr val="E2E7F2"/>
                      </a:solidFill>
                    </a:lnR>
                    <a:lnT w="6350">
                      <a:solidFill>
                        <a:srgbClr val="E2E7F2"/>
                      </a:solidFill>
                    </a:lnT>
                    <a:lnB w="6350">
                      <a:solidFill>
                        <a:srgbClr val="E2E7F2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wrap="none"/>
                    <a:lstStyle/>
                    <a:p>
                      <a:pPr algn="r"/>
                      <a:r>
                        <a:rPr sz="850" b="0">
                          <a:solidFill>
                            <a:srgbClr val="26292E"/>
                          </a:solidFill>
                          <a:latin typeface="Calibri"/>
                        </a:rPr>
                        <a:t>3,179</a:t>
                      </a:r>
                    </a:p>
                  </a:txBody>
                  <a:tcPr anchor="ctr" marL="27432" marR="27432" marT="4572" marB="4572">
                    <a:lnL w="6350">
                      <a:solidFill>
                        <a:srgbClr val="E2E7F2"/>
                      </a:solidFill>
                    </a:lnL>
                    <a:lnR w="6350">
                      <a:solidFill>
                        <a:srgbClr val="E2E7F2"/>
                      </a:solidFill>
                    </a:lnR>
                    <a:lnT w="6350">
                      <a:solidFill>
                        <a:srgbClr val="E2E7F2"/>
                      </a:solidFill>
                    </a:lnT>
                    <a:lnB w="6350">
                      <a:solidFill>
                        <a:srgbClr val="E2E7F2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wrap="none"/>
                    <a:lstStyle/>
                    <a:p>
                      <a:pPr algn="r"/>
                      <a:r>
                        <a:rPr sz="850" b="0">
                          <a:solidFill>
                            <a:srgbClr val="26292E"/>
                          </a:solidFill>
                          <a:latin typeface="Calibri"/>
                        </a:rPr>
                        <a:t>3,390</a:t>
                      </a:r>
                    </a:p>
                  </a:txBody>
                  <a:tcPr anchor="ctr" marL="27432" marR="27432" marT="4572" marB="4572">
                    <a:lnL w="6350">
                      <a:solidFill>
                        <a:srgbClr val="E2E7F2"/>
                      </a:solidFill>
                    </a:lnL>
                    <a:lnR w="6350">
                      <a:solidFill>
                        <a:srgbClr val="E2E7F2"/>
                      </a:solidFill>
                    </a:lnR>
                    <a:lnT w="6350">
                      <a:solidFill>
                        <a:srgbClr val="E2E7F2"/>
                      </a:solidFill>
                    </a:lnT>
                    <a:lnB w="6350">
                      <a:solidFill>
                        <a:srgbClr val="E2E7F2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wrap="none"/>
                    <a:lstStyle/>
                    <a:p>
                      <a:pPr algn="r"/>
                      <a:r>
                        <a:rPr sz="850" b="0">
                          <a:solidFill>
                            <a:srgbClr val="26292E"/>
                          </a:solidFill>
                          <a:latin typeface="Calibri"/>
                        </a:rPr>
                        <a:t>3,260</a:t>
                      </a:r>
                    </a:p>
                  </a:txBody>
                  <a:tcPr anchor="ctr" marL="27432" marR="27432" marT="4572" marB="4572">
                    <a:lnL w="6350">
                      <a:solidFill>
                        <a:srgbClr val="E2E7F2"/>
                      </a:solidFill>
                    </a:lnL>
                    <a:lnR w="6350">
                      <a:solidFill>
                        <a:srgbClr val="E2E7F2"/>
                      </a:solidFill>
                    </a:lnR>
                    <a:lnT w="6350">
                      <a:solidFill>
                        <a:srgbClr val="E2E7F2"/>
                      </a:solidFill>
                    </a:lnT>
                    <a:lnB w="6350">
                      <a:solidFill>
                        <a:srgbClr val="E2E7F2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wrap="none"/>
                    <a:lstStyle/>
                    <a:p>
                      <a:pPr algn="r"/>
                      <a:r>
                        <a:rPr sz="850" b="0">
                          <a:solidFill>
                            <a:srgbClr val="26292E"/>
                          </a:solidFill>
                          <a:latin typeface="Calibri"/>
                        </a:rPr>
                        <a:t>3,232</a:t>
                      </a:r>
                    </a:p>
                  </a:txBody>
                  <a:tcPr anchor="ctr" marL="27432" marR="27432" marT="4572" marB="4572">
                    <a:lnL w="6350">
                      <a:solidFill>
                        <a:srgbClr val="E2E7F2"/>
                      </a:solidFill>
                    </a:lnL>
                    <a:lnR w="6350">
                      <a:solidFill>
                        <a:srgbClr val="E2E7F2"/>
                      </a:solidFill>
                    </a:lnR>
                    <a:lnT w="6350">
                      <a:solidFill>
                        <a:srgbClr val="E2E7F2"/>
                      </a:solidFill>
                    </a:lnT>
                    <a:lnB w="6350">
                      <a:solidFill>
                        <a:srgbClr val="E2E7F2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wrap="none"/>
                    <a:lstStyle/>
                    <a:p>
                      <a:pPr algn="r"/>
                      <a:r>
                        <a:rPr sz="850" b="1">
                          <a:solidFill>
                            <a:srgbClr val="26292E"/>
                          </a:solidFill>
                          <a:latin typeface="Calibri"/>
                        </a:rPr>
                        <a:t>3,297</a:t>
                      </a:r>
                    </a:p>
                  </a:txBody>
                  <a:tcPr anchor="ctr" marL="27432" marR="27432" marT="4572" marB="4572">
                    <a:lnL w="6350">
                      <a:solidFill>
                        <a:srgbClr val="E2E7F2"/>
                      </a:solidFill>
                    </a:lnL>
                    <a:lnR w="6350">
                      <a:solidFill>
                        <a:srgbClr val="E2E7F2"/>
                      </a:solidFill>
                    </a:lnR>
                    <a:lnT w="6350">
                      <a:solidFill>
                        <a:srgbClr val="E2E7F2"/>
                      </a:solidFill>
                    </a:lnT>
                    <a:lnB w="6350">
                      <a:solidFill>
                        <a:srgbClr val="E2E7F2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wrap="none"/>
                    <a:lstStyle/>
                    <a:p>
                      <a:pPr algn="r"/>
                      <a:r>
                        <a:rPr sz="850" b="1">
                          <a:solidFill>
                            <a:srgbClr val="C62828"/>
                          </a:solidFill>
                          <a:latin typeface="Calibri"/>
                        </a:rPr>
                        <a:t>-2.7%</a:t>
                      </a:r>
                    </a:p>
                  </a:txBody>
                  <a:tcPr anchor="ctr" marL="27432" marR="27432" marT="4572" marB="4572">
                    <a:lnL w="6350">
                      <a:solidFill>
                        <a:srgbClr val="E2E7F2"/>
                      </a:solidFill>
                    </a:lnL>
                    <a:lnR w="6350">
                      <a:solidFill>
                        <a:srgbClr val="E2E7F2"/>
                      </a:solidFill>
                    </a:lnR>
                    <a:lnT w="6350">
                      <a:solidFill>
                        <a:srgbClr val="E2E7F2"/>
                      </a:solidFill>
                    </a:lnT>
                    <a:lnB w="6350">
                      <a:solidFill>
                        <a:srgbClr val="E2E7F2"/>
                      </a:solidFill>
                    </a:lnB>
                    <a:solidFill>
                      <a:srgbClr val="FFFFFF"/>
                    </a:solidFill>
                  </a:tcPr>
                </a:tc>
              </a:tr>
              <a:tr h="214884">
                <a:tc>
                  <a:txBody>
                    <a:bodyPr wrap="none"/>
                    <a:lstStyle/>
                    <a:p>
                      <a:pPr algn="l"/>
                      <a:r>
                        <a:rPr sz="850" b="0">
                          <a:solidFill>
                            <a:srgbClr val="595959"/>
                          </a:solidFill>
                          <a:latin typeface="Calibri"/>
                        </a:rPr>
                        <a:t>   ’25</a:t>
                      </a:r>
                    </a:p>
                  </a:txBody>
                  <a:tcPr anchor="ctr" marL="27432" marR="27432" marT="4572" marB="4572">
                    <a:lnL w="6350">
                      <a:solidFill>
                        <a:srgbClr val="E2E7F2"/>
                      </a:solidFill>
                    </a:lnL>
                    <a:lnR w="6350">
                      <a:solidFill>
                        <a:srgbClr val="E2E7F2"/>
                      </a:solidFill>
                    </a:lnR>
                    <a:lnT w="6350">
                      <a:solidFill>
                        <a:srgbClr val="E2E7F2"/>
                      </a:solidFill>
                    </a:lnT>
                    <a:lnB w="6350">
                      <a:solidFill>
                        <a:srgbClr val="E2E7F2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wrap="none"/>
                    <a:lstStyle/>
                    <a:p>
                      <a:pPr algn="r"/>
                      <a:r>
                        <a:rPr sz="850" b="0">
                          <a:solidFill>
                            <a:srgbClr val="595959"/>
                          </a:solidFill>
                          <a:latin typeface="Calibri"/>
                        </a:rPr>
                        <a:t>3,755</a:t>
                      </a:r>
                    </a:p>
                  </a:txBody>
                  <a:tcPr anchor="ctr" marL="27432" marR="27432" marT="4572" marB="4572">
                    <a:lnL w="6350">
                      <a:solidFill>
                        <a:srgbClr val="E2E7F2"/>
                      </a:solidFill>
                    </a:lnL>
                    <a:lnR w="6350">
                      <a:solidFill>
                        <a:srgbClr val="E2E7F2"/>
                      </a:solidFill>
                    </a:lnR>
                    <a:lnT w="6350">
                      <a:solidFill>
                        <a:srgbClr val="E2E7F2"/>
                      </a:solidFill>
                    </a:lnT>
                    <a:lnB w="6350">
                      <a:solidFill>
                        <a:srgbClr val="E2E7F2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wrap="none"/>
                    <a:lstStyle/>
                    <a:p>
                      <a:pPr algn="r"/>
                      <a:r>
                        <a:rPr sz="850" b="0">
                          <a:solidFill>
                            <a:srgbClr val="595959"/>
                          </a:solidFill>
                          <a:latin typeface="Calibri"/>
                        </a:rPr>
                        <a:t>3,765</a:t>
                      </a:r>
                    </a:p>
                  </a:txBody>
                  <a:tcPr anchor="ctr" marL="27432" marR="27432" marT="4572" marB="4572">
                    <a:lnL w="6350">
                      <a:solidFill>
                        <a:srgbClr val="E2E7F2"/>
                      </a:solidFill>
                    </a:lnL>
                    <a:lnR w="6350">
                      <a:solidFill>
                        <a:srgbClr val="E2E7F2"/>
                      </a:solidFill>
                    </a:lnR>
                    <a:lnT w="6350">
                      <a:solidFill>
                        <a:srgbClr val="E2E7F2"/>
                      </a:solidFill>
                    </a:lnT>
                    <a:lnB w="6350">
                      <a:solidFill>
                        <a:srgbClr val="E2E7F2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wrap="none"/>
                    <a:lstStyle/>
                    <a:p>
                      <a:pPr algn="r"/>
                      <a:r>
                        <a:rPr sz="850" b="0">
                          <a:solidFill>
                            <a:srgbClr val="595959"/>
                          </a:solidFill>
                          <a:latin typeface="Calibri"/>
                        </a:rPr>
                        <a:t>3,236</a:t>
                      </a:r>
                    </a:p>
                  </a:txBody>
                  <a:tcPr anchor="ctr" marL="27432" marR="27432" marT="4572" marB="4572">
                    <a:lnL w="6350">
                      <a:solidFill>
                        <a:srgbClr val="E2E7F2"/>
                      </a:solidFill>
                    </a:lnL>
                    <a:lnR w="6350">
                      <a:solidFill>
                        <a:srgbClr val="E2E7F2"/>
                      </a:solidFill>
                    </a:lnR>
                    <a:lnT w="6350">
                      <a:solidFill>
                        <a:srgbClr val="E2E7F2"/>
                      </a:solidFill>
                    </a:lnT>
                    <a:lnB w="6350">
                      <a:solidFill>
                        <a:srgbClr val="E2E7F2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wrap="none"/>
                    <a:lstStyle/>
                    <a:p>
                      <a:pPr algn="r"/>
                      <a:r>
                        <a:rPr sz="850" b="0">
                          <a:solidFill>
                            <a:srgbClr val="595959"/>
                          </a:solidFill>
                          <a:latin typeface="Calibri"/>
                        </a:rPr>
                        <a:t>3,208</a:t>
                      </a:r>
                    </a:p>
                  </a:txBody>
                  <a:tcPr anchor="ctr" marL="27432" marR="27432" marT="4572" marB="4572">
                    <a:lnL w="6350">
                      <a:solidFill>
                        <a:srgbClr val="E2E7F2"/>
                      </a:solidFill>
                    </a:lnL>
                    <a:lnR w="6350">
                      <a:solidFill>
                        <a:srgbClr val="E2E7F2"/>
                      </a:solidFill>
                    </a:lnR>
                    <a:lnT w="6350">
                      <a:solidFill>
                        <a:srgbClr val="E2E7F2"/>
                      </a:solidFill>
                    </a:lnT>
                    <a:lnB w="6350">
                      <a:solidFill>
                        <a:srgbClr val="E2E7F2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wrap="none"/>
                    <a:lstStyle/>
                    <a:p>
                      <a:pPr algn="r"/>
                      <a:r>
                        <a:rPr sz="850" b="0">
                          <a:solidFill>
                            <a:srgbClr val="595959"/>
                          </a:solidFill>
                          <a:latin typeface="Calibri"/>
                        </a:rPr>
                        <a:t>3,153</a:t>
                      </a:r>
                    </a:p>
                  </a:txBody>
                  <a:tcPr anchor="ctr" marL="27432" marR="27432" marT="4572" marB="4572">
                    <a:lnL w="6350">
                      <a:solidFill>
                        <a:srgbClr val="E2E7F2"/>
                      </a:solidFill>
                    </a:lnL>
                    <a:lnR w="6350">
                      <a:solidFill>
                        <a:srgbClr val="E2E7F2"/>
                      </a:solidFill>
                    </a:lnR>
                    <a:lnT w="6350">
                      <a:solidFill>
                        <a:srgbClr val="E2E7F2"/>
                      </a:solidFill>
                    </a:lnT>
                    <a:lnB w="6350">
                      <a:solidFill>
                        <a:srgbClr val="E2E7F2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wrap="none"/>
                    <a:lstStyle/>
                    <a:p>
                      <a:pPr algn="r"/>
                      <a:r>
                        <a:rPr sz="850" b="0">
                          <a:solidFill>
                            <a:srgbClr val="595959"/>
                          </a:solidFill>
                          <a:latin typeface="Calibri"/>
                        </a:rPr>
                        <a:t>3,082</a:t>
                      </a:r>
                    </a:p>
                  </a:txBody>
                  <a:tcPr anchor="ctr" marL="27432" marR="27432" marT="4572" marB="4572">
                    <a:lnL w="6350">
                      <a:solidFill>
                        <a:srgbClr val="E2E7F2"/>
                      </a:solidFill>
                    </a:lnL>
                    <a:lnR w="6350">
                      <a:solidFill>
                        <a:srgbClr val="E2E7F2"/>
                      </a:solidFill>
                    </a:lnR>
                    <a:lnT w="6350">
                      <a:solidFill>
                        <a:srgbClr val="E2E7F2"/>
                      </a:solidFill>
                    </a:lnT>
                    <a:lnB w="6350">
                      <a:solidFill>
                        <a:srgbClr val="E2E7F2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wrap="none"/>
                    <a:lstStyle/>
                    <a:p>
                      <a:pPr algn="r"/>
                      <a:r>
                        <a:rPr sz="850" b="0">
                          <a:solidFill>
                            <a:srgbClr val="595959"/>
                          </a:solidFill>
                          <a:latin typeface="Calibri"/>
                        </a:rPr>
                        <a:t>3,387</a:t>
                      </a:r>
                    </a:p>
                  </a:txBody>
                  <a:tcPr anchor="ctr" marL="27432" marR="27432" marT="4572" marB="4572">
                    <a:lnL w="6350">
                      <a:solidFill>
                        <a:srgbClr val="E2E7F2"/>
                      </a:solidFill>
                    </a:lnL>
                    <a:lnR w="6350">
                      <a:solidFill>
                        <a:srgbClr val="E2E7F2"/>
                      </a:solidFill>
                    </a:lnR>
                    <a:lnT w="6350">
                      <a:solidFill>
                        <a:srgbClr val="E2E7F2"/>
                      </a:solidFill>
                    </a:lnT>
                    <a:lnB w="6350">
                      <a:solidFill>
                        <a:srgbClr val="E2E7F2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wrap="none"/>
                    <a:lstStyle/>
                    <a:p>
                      <a:pPr algn="l"/>
                      <a:r>
                        <a:rPr sz="850" b="0">
                          <a:solidFill>
                            <a:srgbClr val="26292E"/>
                          </a:solidFill>
                          <a:latin typeface="Calibri"/>
                        </a:rPr>
                        <a:t/>
                      </a:r>
                    </a:p>
                  </a:txBody>
                  <a:tcPr anchor="ctr" marL="27432" marR="27432" marT="4572" marB="4572">
                    <a:lnL w="6350">
                      <a:solidFill>
                        <a:srgbClr val="E2E7F2"/>
                      </a:solidFill>
                    </a:lnL>
                    <a:lnR w="6350">
                      <a:solidFill>
                        <a:srgbClr val="E2E7F2"/>
                      </a:solidFill>
                    </a:lnR>
                    <a:lnT w="6350">
                      <a:solidFill>
                        <a:srgbClr val="E2E7F2"/>
                      </a:solidFill>
                    </a:lnT>
                    <a:lnB w="6350">
                      <a:solidFill>
                        <a:srgbClr val="E2E7F2"/>
                      </a:solidFill>
                    </a:lnB>
                    <a:solidFill>
                      <a:srgbClr val="FFFFFF"/>
                    </a:solidFill>
                  </a:tcPr>
                </a:tc>
              </a:tr>
              <a:tr h="214884">
                <a:tc>
                  <a:txBody>
                    <a:bodyPr wrap="none"/>
                    <a:lstStyle/>
                    <a:p>
                      <a:pPr algn="l"/>
                      <a:r>
                        <a:rPr sz="850" b="1">
                          <a:solidFill>
                            <a:srgbClr val="26292E"/>
                          </a:solidFill>
                          <a:latin typeface="Calibri"/>
                        </a:rPr>
                        <a:t>Group Corporate</a:t>
                      </a:r>
                    </a:p>
                  </a:txBody>
                  <a:tcPr anchor="ctr" marL="27432" marR="27432" marT="4572" marB="4572">
                    <a:lnL w="6350">
                      <a:solidFill>
                        <a:srgbClr val="E2E7F2"/>
                      </a:solidFill>
                    </a:lnL>
                    <a:lnR w="6350">
                      <a:solidFill>
                        <a:srgbClr val="E2E7F2"/>
                      </a:solidFill>
                    </a:lnR>
                    <a:lnT w="6350">
                      <a:solidFill>
                        <a:srgbClr val="E2E7F2"/>
                      </a:solidFill>
                    </a:lnT>
                    <a:lnB w="6350">
                      <a:solidFill>
                        <a:srgbClr val="E2E7F2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wrap="none"/>
                    <a:lstStyle/>
                    <a:p>
                      <a:pPr algn="r"/>
                      <a:r>
                        <a:rPr sz="850" b="0">
                          <a:solidFill>
                            <a:srgbClr val="26292E"/>
                          </a:solidFill>
                          <a:latin typeface="Calibri"/>
                        </a:rPr>
                        <a:t>2,888</a:t>
                      </a:r>
                    </a:p>
                  </a:txBody>
                  <a:tcPr anchor="ctr" marL="27432" marR="27432" marT="4572" marB="4572">
                    <a:lnL w="6350">
                      <a:solidFill>
                        <a:srgbClr val="E2E7F2"/>
                      </a:solidFill>
                    </a:lnL>
                    <a:lnR w="6350">
                      <a:solidFill>
                        <a:srgbClr val="E2E7F2"/>
                      </a:solidFill>
                    </a:lnR>
                    <a:lnT w="6350">
                      <a:solidFill>
                        <a:srgbClr val="E2E7F2"/>
                      </a:solidFill>
                    </a:lnT>
                    <a:lnB w="6350">
                      <a:solidFill>
                        <a:srgbClr val="E2E7F2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wrap="none"/>
                    <a:lstStyle/>
                    <a:p>
                      <a:pPr algn="r"/>
                      <a:r>
                        <a:rPr sz="850" b="0">
                          <a:solidFill>
                            <a:srgbClr val="26292E"/>
                          </a:solidFill>
                          <a:latin typeface="Calibri"/>
                        </a:rPr>
                        <a:t>2,558</a:t>
                      </a:r>
                    </a:p>
                  </a:txBody>
                  <a:tcPr anchor="ctr" marL="27432" marR="27432" marT="4572" marB="4572">
                    <a:lnL w="6350">
                      <a:solidFill>
                        <a:srgbClr val="E2E7F2"/>
                      </a:solidFill>
                    </a:lnL>
                    <a:lnR w="6350">
                      <a:solidFill>
                        <a:srgbClr val="E2E7F2"/>
                      </a:solidFill>
                    </a:lnR>
                    <a:lnT w="6350">
                      <a:solidFill>
                        <a:srgbClr val="E2E7F2"/>
                      </a:solidFill>
                    </a:lnT>
                    <a:lnB w="6350">
                      <a:solidFill>
                        <a:srgbClr val="E2E7F2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wrap="none"/>
                    <a:lstStyle/>
                    <a:p>
                      <a:pPr algn="r"/>
                      <a:r>
                        <a:rPr sz="850" b="0">
                          <a:solidFill>
                            <a:srgbClr val="26292E"/>
                          </a:solidFill>
                          <a:latin typeface="Calibri"/>
                        </a:rPr>
                        <a:t>2,542</a:t>
                      </a:r>
                    </a:p>
                  </a:txBody>
                  <a:tcPr anchor="ctr" marL="27432" marR="27432" marT="4572" marB="4572">
                    <a:lnL w="6350">
                      <a:solidFill>
                        <a:srgbClr val="E2E7F2"/>
                      </a:solidFill>
                    </a:lnL>
                    <a:lnR w="6350">
                      <a:solidFill>
                        <a:srgbClr val="E2E7F2"/>
                      </a:solidFill>
                    </a:lnR>
                    <a:lnT w="6350">
                      <a:solidFill>
                        <a:srgbClr val="E2E7F2"/>
                      </a:solidFill>
                    </a:lnT>
                    <a:lnB w="6350">
                      <a:solidFill>
                        <a:srgbClr val="E2E7F2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wrap="none"/>
                    <a:lstStyle/>
                    <a:p>
                      <a:pPr algn="r"/>
                      <a:r>
                        <a:rPr sz="850" b="0">
                          <a:solidFill>
                            <a:srgbClr val="26292E"/>
                          </a:solidFill>
                          <a:latin typeface="Calibri"/>
                        </a:rPr>
                        <a:t>2,391</a:t>
                      </a:r>
                    </a:p>
                  </a:txBody>
                  <a:tcPr anchor="ctr" marL="27432" marR="27432" marT="4572" marB="4572">
                    <a:lnL w="6350">
                      <a:solidFill>
                        <a:srgbClr val="E2E7F2"/>
                      </a:solidFill>
                    </a:lnL>
                    <a:lnR w="6350">
                      <a:solidFill>
                        <a:srgbClr val="E2E7F2"/>
                      </a:solidFill>
                    </a:lnR>
                    <a:lnT w="6350">
                      <a:solidFill>
                        <a:srgbClr val="E2E7F2"/>
                      </a:solidFill>
                    </a:lnT>
                    <a:lnB w="6350">
                      <a:solidFill>
                        <a:srgbClr val="E2E7F2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wrap="none"/>
                    <a:lstStyle/>
                    <a:p>
                      <a:pPr algn="r"/>
                      <a:r>
                        <a:rPr sz="850" b="0">
                          <a:solidFill>
                            <a:srgbClr val="26292E"/>
                          </a:solidFill>
                          <a:latin typeface="Calibri"/>
                        </a:rPr>
                        <a:t>3,058</a:t>
                      </a:r>
                    </a:p>
                  </a:txBody>
                  <a:tcPr anchor="ctr" marL="27432" marR="27432" marT="4572" marB="4572">
                    <a:lnL w="6350">
                      <a:solidFill>
                        <a:srgbClr val="E2E7F2"/>
                      </a:solidFill>
                    </a:lnL>
                    <a:lnR w="6350">
                      <a:solidFill>
                        <a:srgbClr val="E2E7F2"/>
                      </a:solidFill>
                    </a:lnR>
                    <a:lnT w="6350">
                      <a:solidFill>
                        <a:srgbClr val="E2E7F2"/>
                      </a:solidFill>
                    </a:lnT>
                    <a:lnB w="6350">
                      <a:solidFill>
                        <a:srgbClr val="E2E7F2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wrap="none"/>
                    <a:lstStyle/>
                    <a:p>
                      <a:pPr algn="r"/>
                      <a:r>
                        <a:rPr sz="850" b="0">
                          <a:solidFill>
                            <a:srgbClr val="26292E"/>
                          </a:solidFill>
                          <a:latin typeface="Calibri"/>
                        </a:rPr>
                        <a:t>–</a:t>
                      </a:r>
                    </a:p>
                  </a:txBody>
                  <a:tcPr anchor="ctr" marL="27432" marR="27432" marT="4572" marB="4572">
                    <a:lnL w="6350">
                      <a:solidFill>
                        <a:srgbClr val="E2E7F2"/>
                      </a:solidFill>
                    </a:lnL>
                    <a:lnR w="6350">
                      <a:solidFill>
                        <a:srgbClr val="E2E7F2"/>
                      </a:solidFill>
                    </a:lnR>
                    <a:lnT w="6350">
                      <a:solidFill>
                        <a:srgbClr val="E2E7F2"/>
                      </a:solidFill>
                    </a:lnT>
                    <a:lnB w="6350">
                      <a:solidFill>
                        <a:srgbClr val="E2E7F2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wrap="none"/>
                    <a:lstStyle/>
                    <a:p>
                      <a:pPr algn="r"/>
                      <a:r>
                        <a:rPr sz="850" b="1">
                          <a:solidFill>
                            <a:srgbClr val="26292E"/>
                          </a:solidFill>
                          <a:latin typeface="Calibri"/>
                        </a:rPr>
                        <a:t>2,572</a:t>
                      </a:r>
                    </a:p>
                  </a:txBody>
                  <a:tcPr anchor="ctr" marL="27432" marR="27432" marT="4572" marB="4572">
                    <a:lnL w="6350">
                      <a:solidFill>
                        <a:srgbClr val="E2E7F2"/>
                      </a:solidFill>
                    </a:lnL>
                    <a:lnR w="6350">
                      <a:solidFill>
                        <a:srgbClr val="E2E7F2"/>
                      </a:solidFill>
                    </a:lnR>
                    <a:lnT w="6350">
                      <a:solidFill>
                        <a:srgbClr val="E2E7F2"/>
                      </a:solidFill>
                    </a:lnT>
                    <a:lnB w="6350">
                      <a:solidFill>
                        <a:srgbClr val="E2E7F2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wrap="none"/>
                    <a:lstStyle/>
                    <a:p>
                      <a:pPr algn="r"/>
                      <a:r>
                        <a:rPr sz="850" b="1">
                          <a:solidFill>
                            <a:srgbClr val="C62828"/>
                          </a:solidFill>
                          <a:latin typeface="Calibri"/>
                        </a:rPr>
                        <a:t>-26.2%</a:t>
                      </a:r>
                    </a:p>
                  </a:txBody>
                  <a:tcPr anchor="ctr" marL="27432" marR="27432" marT="4572" marB="4572">
                    <a:lnL w="6350">
                      <a:solidFill>
                        <a:srgbClr val="E2E7F2"/>
                      </a:solidFill>
                    </a:lnL>
                    <a:lnR w="6350">
                      <a:solidFill>
                        <a:srgbClr val="E2E7F2"/>
                      </a:solidFill>
                    </a:lnR>
                    <a:lnT w="6350">
                      <a:solidFill>
                        <a:srgbClr val="E2E7F2"/>
                      </a:solidFill>
                    </a:lnT>
                    <a:lnB w="6350">
                      <a:solidFill>
                        <a:srgbClr val="E2E7F2"/>
                      </a:solidFill>
                    </a:lnB>
                    <a:solidFill>
                      <a:srgbClr val="FFFFFF"/>
                    </a:solidFill>
                  </a:tcPr>
                </a:tc>
              </a:tr>
              <a:tr h="214884">
                <a:tc>
                  <a:txBody>
                    <a:bodyPr wrap="none"/>
                    <a:lstStyle/>
                    <a:p>
                      <a:pPr algn="l"/>
                      <a:r>
                        <a:rPr sz="850" b="0">
                          <a:solidFill>
                            <a:srgbClr val="595959"/>
                          </a:solidFill>
                          <a:latin typeface="Calibri"/>
                        </a:rPr>
                        <a:t>   ’25</a:t>
                      </a:r>
                    </a:p>
                  </a:txBody>
                  <a:tcPr anchor="ctr" marL="27432" marR="27432" marT="4572" marB="4572">
                    <a:lnL w="6350">
                      <a:solidFill>
                        <a:srgbClr val="E2E7F2"/>
                      </a:solidFill>
                    </a:lnL>
                    <a:lnR w="6350">
                      <a:solidFill>
                        <a:srgbClr val="E2E7F2"/>
                      </a:solidFill>
                    </a:lnR>
                    <a:lnT w="6350">
                      <a:solidFill>
                        <a:srgbClr val="E2E7F2"/>
                      </a:solidFill>
                    </a:lnT>
                    <a:lnB w="6350">
                      <a:solidFill>
                        <a:srgbClr val="E2E7F2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wrap="none"/>
                    <a:lstStyle/>
                    <a:p>
                      <a:pPr algn="r"/>
                      <a:r>
                        <a:rPr sz="850" b="0">
                          <a:solidFill>
                            <a:srgbClr val="595959"/>
                          </a:solidFill>
                          <a:latin typeface="Calibri"/>
                        </a:rPr>
                        <a:t>3,473</a:t>
                      </a:r>
                    </a:p>
                  </a:txBody>
                  <a:tcPr anchor="ctr" marL="27432" marR="27432" marT="4572" marB="4572">
                    <a:lnL w="6350">
                      <a:solidFill>
                        <a:srgbClr val="E2E7F2"/>
                      </a:solidFill>
                    </a:lnL>
                    <a:lnR w="6350">
                      <a:solidFill>
                        <a:srgbClr val="E2E7F2"/>
                      </a:solidFill>
                    </a:lnR>
                    <a:lnT w="6350">
                      <a:solidFill>
                        <a:srgbClr val="E2E7F2"/>
                      </a:solidFill>
                    </a:lnT>
                    <a:lnB w="6350">
                      <a:solidFill>
                        <a:srgbClr val="E2E7F2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wrap="none"/>
                    <a:lstStyle/>
                    <a:p>
                      <a:pPr algn="r"/>
                      <a:r>
                        <a:rPr sz="850" b="0">
                          <a:solidFill>
                            <a:srgbClr val="595959"/>
                          </a:solidFill>
                          <a:latin typeface="Calibri"/>
                        </a:rPr>
                        <a:t>3,663</a:t>
                      </a:r>
                    </a:p>
                  </a:txBody>
                  <a:tcPr anchor="ctr" marL="27432" marR="27432" marT="4572" marB="4572">
                    <a:lnL w="6350">
                      <a:solidFill>
                        <a:srgbClr val="E2E7F2"/>
                      </a:solidFill>
                    </a:lnL>
                    <a:lnR w="6350">
                      <a:solidFill>
                        <a:srgbClr val="E2E7F2"/>
                      </a:solidFill>
                    </a:lnR>
                    <a:lnT w="6350">
                      <a:solidFill>
                        <a:srgbClr val="E2E7F2"/>
                      </a:solidFill>
                    </a:lnT>
                    <a:lnB w="6350">
                      <a:solidFill>
                        <a:srgbClr val="E2E7F2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wrap="none"/>
                    <a:lstStyle/>
                    <a:p>
                      <a:pPr algn="r"/>
                      <a:r>
                        <a:rPr sz="850" b="0">
                          <a:solidFill>
                            <a:srgbClr val="595959"/>
                          </a:solidFill>
                          <a:latin typeface="Calibri"/>
                        </a:rPr>
                        <a:t>3,417</a:t>
                      </a:r>
                    </a:p>
                  </a:txBody>
                  <a:tcPr anchor="ctr" marL="27432" marR="27432" marT="4572" marB="4572">
                    <a:lnL w="6350">
                      <a:solidFill>
                        <a:srgbClr val="E2E7F2"/>
                      </a:solidFill>
                    </a:lnL>
                    <a:lnR w="6350">
                      <a:solidFill>
                        <a:srgbClr val="E2E7F2"/>
                      </a:solidFill>
                    </a:lnR>
                    <a:lnT w="6350">
                      <a:solidFill>
                        <a:srgbClr val="E2E7F2"/>
                      </a:solidFill>
                    </a:lnT>
                    <a:lnB w="6350">
                      <a:solidFill>
                        <a:srgbClr val="E2E7F2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wrap="none"/>
                    <a:lstStyle/>
                    <a:p>
                      <a:pPr algn="r"/>
                      <a:r>
                        <a:rPr sz="850" b="0">
                          <a:solidFill>
                            <a:srgbClr val="595959"/>
                          </a:solidFill>
                          <a:latin typeface="Calibri"/>
                        </a:rPr>
                        <a:t>3,455</a:t>
                      </a:r>
                    </a:p>
                  </a:txBody>
                  <a:tcPr anchor="ctr" marL="27432" marR="27432" marT="4572" marB="4572">
                    <a:lnL w="6350">
                      <a:solidFill>
                        <a:srgbClr val="E2E7F2"/>
                      </a:solidFill>
                    </a:lnL>
                    <a:lnR w="6350">
                      <a:solidFill>
                        <a:srgbClr val="E2E7F2"/>
                      </a:solidFill>
                    </a:lnR>
                    <a:lnT w="6350">
                      <a:solidFill>
                        <a:srgbClr val="E2E7F2"/>
                      </a:solidFill>
                    </a:lnT>
                    <a:lnB w="6350">
                      <a:solidFill>
                        <a:srgbClr val="E2E7F2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wrap="none"/>
                    <a:lstStyle/>
                    <a:p>
                      <a:pPr algn="r"/>
                      <a:r>
                        <a:rPr sz="850" b="0">
                          <a:solidFill>
                            <a:srgbClr val="595959"/>
                          </a:solidFill>
                          <a:latin typeface="Calibri"/>
                        </a:rPr>
                        <a:t>–</a:t>
                      </a:r>
                    </a:p>
                  </a:txBody>
                  <a:tcPr anchor="ctr" marL="27432" marR="27432" marT="4572" marB="4572">
                    <a:lnL w="6350">
                      <a:solidFill>
                        <a:srgbClr val="E2E7F2"/>
                      </a:solidFill>
                    </a:lnL>
                    <a:lnR w="6350">
                      <a:solidFill>
                        <a:srgbClr val="E2E7F2"/>
                      </a:solidFill>
                    </a:lnR>
                    <a:lnT w="6350">
                      <a:solidFill>
                        <a:srgbClr val="E2E7F2"/>
                      </a:solidFill>
                    </a:lnT>
                    <a:lnB w="6350">
                      <a:solidFill>
                        <a:srgbClr val="E2E7F2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wrap="none"/>
                    <a:lstStyle/>
                    <a:p>
                      <a:pPr algn="r"/>
                      <a:r>
                        <a:rPr sz="850" b="0">
                          <a:solidFill>
                            <a:srgbClr val="595959"/>
                          </a:solidFill>
                          <a:latin typeface="Calibri"/>
                        </a:rPr>
                        <a:t>3,608</a:t>
                      </a:r>
                    </a:p>
                  </a:txBody>
                  <a:tcPr anchor="ctr" marL="27432" marR="27432" marT="4572" marB="4572">
                    <a:lnL w="6350">
                      <a:solidFill>
                        <a:srgbClr val="E2E7F2"/>
                      </a:solidFill>
                    </a:lnL>
                    <a:lnR w="6350">
                      <a:solidFill>
                        <a:srgbClr val="E2E7F2"/>
                      </a:solidFill>
                    </a:lnR>
                    <a:lnT w="6350">
                      <a:solidFill>
                        <a:srgbClr val="E2E7F2"/>
                      </a:solidFill>
                    </a:lnT>
                    <a:lnB w="6350">
                      <a:solidFill>
                        <a:srgbClr val="E2E7F2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wrap="none"/>
                    <a:lstStyle/>
                    <a:p>
                      <a:pPr algn="r"/>
                      <a:r>
                        <a:rPr sz="850" b="0">
                          <a:solidFill>
                            <a:srgbClr val="595959"/>
                          </a:solidFill>
                          <a:latin typeface="Calibri"/>
                        </a:rPr>
                        <a:t>3,486</a:t>
                      </a:r>
                    </a:p>
                  </a:txBody>
                  <a:tcPr anchor="ctr" marL="27432" marR="27432" marT="4572" marB="4572">
                    <a:lnL w="6350">
                      <a:solidFill>
                        <a:srgbClr val="E2E7F2"/>
                      </a:solidFill>
                    </a:lnL>
                    <a:lnR w="6350">
                      <a:solidFill>
                        <a:srgbClr val="E2E7F2"/>
                      </a:solidFill>
                    </a:lnR>
                    <a:lnT w="6350">
                      <a:solidFill>
                        <a:srgbClr val="E2E7F2"/>
                      </a:solidFill>
                    </a:lnT>
                    <a:lnB w="6350">
                      <a:solidFill>
                        <a:srgbClr val="E2E7F2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wrap="none"/>
                    <a:lstStyle/>
                    <a:p>
                      <a:pPr algn="l"/>
                      <a:r>
                        <a:rPr sz="850" b="0">
                          <a:solidFill>
                            <a:srgbClr val="26292E"/>
                          </a:solidFill>
                          <a:latin typeface="Calibri"/>
                        </a:rPr>
                        <a:t/>
                      </a:r>
                    </a:p>
                  </a:txBody>
                  <a:tcPr anchor="ctr" marL="27432" marR="27432" marT="4572" marB="4572">
                    <a:lnL w="6350">
                      <a:solidFill>
                        <a:srgbClr val="E2E7F2"/>
                      </a:solidFill>
                    </a:lnL>
                    <a:lnR w="6350">
                      <a:solidFill>
                        <a:srgbClr val="E2E7F2"/>
                      </a:solidFill>
                    </a:lnR>
                    <a:lnT w="6350">
                      <a:solidFill>
                        <a:srgbClr val="E2E7F2"/>
                      </a:solidFill>
                    </a:lnT>
                    <a:lnB w="6350">
                      <a:solidFill>
                        <a:srgbClr val="E2E7F2"/>
                      </a:solidFill>
                    </a:lnB>
                    <a:solidFill>
                      <a:srgbClr val="FFFFFF"/>
                    </a:solidFill>
                  </a:tcPr>
                </a:tc>
              </a:tr>
              <a:tr h="214884">
                <a:tc>
                  <a:txBody>
                    <a:bodyPr wrap="none"/>
                    <a:lstStyle/>
                    <a:p>
                      <a:pPr algn="l"/>
                      <a:r>
                        <a:rPr sz="850" b="1">
                          <a:solidFill>
                            <a:srgbClr val="26292E"/>
                          </a:solidFill>
                          <a:latin typeface="Calibri"/>
                        </a:rPr>
                        <a:t>Employee</a:t>
                      </a:r>
                    </a:p>
                  </a:txBody>
                  <a:tcPr anchor="ctr" marL="27432" marR="27432" marT="4572" marB="4572">
                    <a:lnL w="6350">
                      <a:solidFill>
                        <a:srgbClr val="E2E7F2"/>
                      </a:solidFill>
                    </a:lnL>
                    <a:lnR w="6350">
                      <a:solidFill>
                        <a:srgbClr val="E2E7F2"/>
                      </a:solidFill>
                    </a:lnR>
                    <a:lnT w="6350">
                      <a:solidFill>
                        <a:srgbClr val="E2E7F2"/>
                      </a:solidFill>
                    </a:lnT>
                    <a:lnB w="6350">
                      <a:solidFill>
                        <a:srgbClr val="E2E7F2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wrap="none"/>
                    <a:lstStyle/>
                    <a:p>
                      <a:pPr algn="r"/>
                      <a:r>
                        <a:rPr sz="850" b="0">
                          <a:solidFill>
                            <a:srgbClr val="26292E"/>
                          </a:solidFill>
                          <a:latin typeface="Calibri"/>
                        </a:rPr>
                        <a:t>2,993</a:t>
                      </a:r>
                    </a:p>
                  </a:txBody>
                  <a:tcPr anchor="ctr" marL="27432" marR="27432" marT="4572" marB="4572">
                    <a:lnL w="6350">
                      <a:solidFill>
                        <a:srgbClr val="E2E7F2"/>
                      </a:solidFill>
                    </a:lnL>
                    <a:lnR w="6350">
                      <a:solidFill>
                        <a:srgbClr val="E2E7F2"/>
                      </a:solidFill>
                    </a:lnR>
                    <a:lnT w="6350">
                      <a:solidFill>
                        <a:srgbClr val="E2E7F2"/>
                      </a:solidFill>
                    </a:lnT>
                    <a:lnB w="6350">
                      <a:solidFill>
                        <a:srgbClr val="E2E7F2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wrap="none"/>
                    <a:lstStyle/>
                    <a:p>
                      <a:pPr algn="r"/>
                      <a:r>
                        <a:rPr sz="850" b="0">
                          <a:solidFill>
                            <a:srgbClr val="26292E"/>
                          </a:solidFill>
                          <a:latin typeface="Calibri"/>
                        </a:rPr>
                        <a:t>4,093</a:t>
                      </a:r>
                    </a:p>
                  </a:txBody>
                  <a:tcPr anchor="ctr" marL="27432" marR="27432" marT="4572" marB="4572">
                    <a:lnL w="6350">
                      <a:solidFill>
                        <a:srgbClr val="E2E7F2"/>
                      </a:solidFill>
                    </a:lnL>
                    <a:lnR w="6350">
                      <a:solidFill>
                        <a:srgbClr val="E2E7F2"/>
                      </a:solidFill>
                    </a:lnR>
                    <a:lnT w="6350">
                      <a:solidFill>
                        <a:srgbClr val="E2E7F2"/>
                      </a:solidFill>
                    </a:lnT>
                    <a:lnB w="6350">
                      <a:solidFill>
                        <a:srgbClr val="E2E7F2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wrap="none"/>
                    <a:lstStyle/>
                    <a:p>
                      <a:pPr algn="r"/>
                      <a:r>
                        <a:rPr sz="850" b="0">
                          <a:solidFill>
                            <a:srgbClr val="26292E"/>
                          </a:solidFill>
                          <a:latin typeface="Calibri"/>
                        </a:rPr>
                        <a:t>3,303</a:t>
                      </a:r>
                    </a:p>
                  </a:txBody>
                  <a:tcPr anchor="ctr" marL="27432" marR="27432" marT="4572" marB="4572">
                    <a:lnL w="6350">
                      <a:solidFill>
                        <a:srgbClr val="E2E7F2"/>
                      </a:solidFill>
                    </a:lnL>
                    <a:lnR w="6350">
                      <a:solidFill>
                        <a:srgbClr val="E2E7F2"/>
                      </a:solidFill>
                    </a:lnR>
                    <a:lnT w="6350">
                      <a:solidFill>
                        <a:srgbClr val="E2E7F2"/>
                      </a:solidFill>
                    </a:lnT>
                    <a:lnB w="6350">
                      <a:solidFill>
                        <a:srgbClr val="E2E7F2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wrap="none"/>
                    <a:lstStyle/>
                    <a:p>
                      <a:pPr algn="r"/>
                      <a:r>
                        <a:rPr sz="850" b="0">
                          <a:solidFill>
                            <a:srgbClr val="26292E"/>
                          </a:solidFill>
                          <a:latin typeface="Calibri"/>
                        </a:rPr>
                        <a:t>2,713</a:t>
                      </a:r>
                    </a:p>
                  </a:txBody>
                  <a:tcPr anchor="ctr" marL="27432" marR="27432" marT="4572" marB="4572">
                    <a:lnL w="6350">
                      <a:solidFill>
                        <a:srgbClr val="E2E7F2"/>
                      </a:solidFill>
                    </a:lnL>
                    <a:lnR w="6350">
                      <a:solidFill>
                        <a:srgbClr val="E2E7F2"/>
                      </a:solidFill>
                    </a:lnR>
                    <a:lnT w="6350">
                      <a:solidFill>
                        <a:srgbClr val="E2E7F2"/>
                      </a:solidFill>
                    </a:lnT>
                    <a:lnB w="6350">
                      <a:solidFill>
                        <a:srgbClr val="E2E7F2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wrap="none"/>
                    <a:lstStyle/>
                    <a:p>
                      <a:pPr algn="r"/>
                      <a:r>
                        <a:rPr sz="850" b="0">
                          <a:solidFill>
                            <a:srgbClr val="26292E"/>
                          </a:solidFill>
                          <a:latin typeface="Calibri"/>
                        </a:rPr>
                        <a:t>2,446</a:t>
                      </a:r>
                    </a:p>
                  </a:txBody>
                  <a:tcPr anchor="ctr" marL="27432" marR="27432" marT="4572" marB="4572">
                    <a:lnL w="6350">
                      <a:solidFill>
                        <a:srgbClr val="E2E7F2"/>
                      </a:solidFill>
                    </a:lnL>
                    <a:lnR w="6350">
                      <a:solidFill>
                        <a:srgbClr val="E2E7F2"/>
                      </a:solidFill>
                    </a:lnR>
                    <a:lnT w="6350">
                      <a:solidFill>
                        <a:srgbClr val="E2E7F2"/>
                      </a:solidFill>
                    </a:lnT>
                    <a:lnB w="6350">
                      <a:solidFill>
                        <a:srgbClr val="E2E7F2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wrap="none"/>
                    <a:lstStyle/>
                    <a:p>
                      <a:pPr algn="r"/>
                      <a:r>
                        <a:rPr sz="850" b="0">
                          <a:solidFill>
                            <a:srgbClr val="26292E"/>
                          </a:solidFill>
                          <a:latin typeface="Calibri"/>
                        </a:rPr>
                        <a:t>2,360</a:t>
                      </a:r>
                    </a:p>
                  </a:txBody>
                  <a:tcPr anchor="ctr" marL="27432" marR="27432" marT="4572" marB="4572">
                    <a:lnL w="6350">
                      <a:solidFill>
                        <a:srgbClr val="E2E7F2"/>
                      </a:solidFill>
                    </a:lnL>
                    <a:lnR w="6350">
                      <a:solidFill>
                        <a:srgbClr val="E2E7F2"/>
                      </a:solidFill>
                    </a:lnR>
                    <a:lnT w="6350">
                      <a:solidFill>
                        <a:srgbClr val="E2E7F2"/>
                      </a:solidFill>
                    </a:lnT>
                    <a:lnB w="6350">
                      <a:solidFill>
                        <a:srgbClr val="E2E7F2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wrap="none"/>
                    <a:lstStyle/>
                    <a:p>
                      <a:pPr algn="r"/>
                      <a:r>
                        <a:rPr sz="850" b="1">
                          <a:solidFill>
                            <a:srgbClr val="26292E"/>
                          </a:solidFill>
                          <a:latin typeface="Calibri"/>
                        </a:rPr>
                        <a:t>2,894</a:t>
                      </a:r>
                    </a:p>
                  </a:txBody>
                  <a:tcPr anchor="ctr" marL="27432" marR="27432" marT="4572" marB="4572">
                    <a:lnL w="6350">
                      <a:solidFill>
                        <a:srgbClr val="E2E7F2"/>
                      </a:solidFill>
                    </a:lnL>
                    <a:lnR w="6350">
                      <a:solidFill>
                        <a:srgbClr val="E2E7F2"/>
                      </a:solidFill>
                    </a:lnR>
                    <a:lnT w="6350">
                      <a:solidFill>
                        <a:srgbClr val="E2E7F2"/>
                      </a:solidFill>
                    </a:lnT>
                    <a:lnB w="6350">
                      <a:solidFill>
                        <a:srgbClr val="E2E7F2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wrap="none"/>
                    <a:lstStyle/>
                    <a:p>
                      <a:pPr algn="r"/>
                      <a:r>
                        <a:rPr sz="850" b="1">
                          <a:solidFill>
                            <a:srgbClr val="C62828"/>
                          </a:solidFill>
                          <a:latin typeface="Calibri"/>
                        </a:rPr>
                        <a:t>-4.7%</a:t>
                      </a:r>
                    </a:p>
                  </a:txBody>
                  <a:tcPr anchor="ctr" marL="27432" marR="27432" marT="4572" marB="4572">
                    <a:lnL w="6350">
                      <a:solidFill>
                        <a:srgbClr val="E2E7F2"/>
                      </a:solidFill>
                    </a:lnL>
                    <a:lnR w="6350">
                      <a:solidFill>
                        <a:srgbClr val="E2E7F2"/>
                      </a:solidFill>
                    </a:lnR>
                    <a:lnT w="6350">
                      <a:solidFill>
                        <a:srgbClr val="E2E7F2"/>
                      </a:solidFill>
                    </a:lnT>
                    <a:lnB w="6350">
                      <a:solidFill>
                        <a:srgbClr val="E2E7F2"/>
                      </a:solidFill>
                    </a:lnB>
                    <a:solidFill>
                      <a:srgbClr val="FFFFFF"/>
                    </a:solidFill>
                  </a:tcPr>
                </a:tc>
              </a:tr>
              <a:tr h="214884">
                <a:tc>
                  <a:txBody>
                    <a:bodyPr wrap="none"/>
                    <a:lstStyle/>
                    <a:p>
                      <a:pPr algn="l"/>
                      <a:r>
                        <a:rPr sz="850" b="0">
                          <a:solidFill>
                            <a:srgbClr val="595959"/>
                          </a:solidFill>
                          <a:latin typeface="Calibri"/>
                        </a:rPr>
                        <a:t>   ’25</a:t>
                      </a:r>
                    </a:p>
                  </a:txBody>
                  <a:tcPr anchor="ctr" marL="27432" marR="27432" marT="4572" marB="4572">
                    <a:lnL w="6350">
                      <a:solidFill>
                        <a:srgbClr val="E2E7F2"/>
                      </a:solidFill>
                    </a:lnL>
                    <a:lnR w="6350">
                      <a:solidFill>
                        <a:srgbClr val="E2E7F2"/>
                      </a:solidFill>
                    </a:lnR>
                    <a:lnT w="6350">
                      <a:solidFill>
                        <a:srgbClr val="E2E7F2"/>
                      </a:solidFill>
                    </a:lnT>
                    <a:lnB w="6350">
                      <a:solidFill>
                        <a:srgbClr val="E2E7F2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wrap="none"/>
                    <a:lstStyle/>
                    <a:p>
                      <a:pPr algn="r"/>
                      <a:r>
                        <a:rPr sz="850" b="0">
                          <a:solidFill>
                            <a:srgbClr val="595959"/>
                          </a:solidFill>
                          <a:latin typeface="Calibri"/>
                        </a:rPr>
                        <a:t>4,164</a:t>
                      </a:r>
                    </a:p>
                  </a:txBody>
                  <a:tcPr anchor="ctr" marL="27432" marR="27432" marT="4572" marB="4572">
                    <a:lnL w="6350">
                      <a:solidFill>
                        <a:srgbClr val="E2E7F2"/>
                      </a:solidFill>
                    </a:lnL>
                    <a:lnR w="6350">
                      <a:solidFill>
                        <a:srgbClr val="E2E7F2"/>
                      </a:solidFill>
                    </a:lnR>
                    <a:lnT w="6350">
                      <a:solidFill>
                        <a:srgbClr val="E2E7F2"/>
                      </a:solidFill>
                    </a:lnT>
                    <a:lnB w="6350">
                      <a:solidFill>
                        <a:srgbClr val="E2E7F2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wrap="none"/>
                    <a:lstStyle/>
                    <a:p>
                      <a:pPr algn="r"/>
                      <a:r>
                        <a:rPr sz="850" b="0">
                          <a:solidFill>
                            <a:srgbClr val="595959"/>
                          </a:solidFill>
                          <a:latin typeface="Calibri"/>
                        </a:rPr>
                        <a:t>–</a:t>
                      </a:r>
                    </a:p>
                  </a:txBody>
                  <a:tcPr anchor="ctr" marL="27432" marR="27432" marT="4572" marB="4572">
                    <a:lnL w="6350">
                      <a:solidFill>
                        <a:srgbClr val="E2E7F2"/>
                      </a:solidFill>
                    </a:lnL>
                    <a:lnR w="6350">
                      <a:solidFill>
                        <a:srgbClr val="E2E7F2"/>
                      </a:solidFill>
                    </a:lnR>
                    <a:lnT w="6350">
                      <a:solidFill>
                        <a:srgbClr val="E2E7F2"/>
                      </a:solidFill>
                    </a:lnT>
                    <a:lnB w="6350">
                      <a:solidFill>
                        <a:srgbClr val="E2E7F2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wrap="none"/>
                    <a:lstStyle/>
                    <a:p>
                      <a:pPr algn="r"/>
                      <a:r>
                        <a:rPr sz="850" b="0">
                          <a:solidFill>
                            <a:srgbClr val="595959"/>
                          </a:solidFill>
                          <a:latin typeface="Calibri"/>
                        </a:rPr>
                        <a:t>3,419</a:t>
                      </a:r>
                    </a:p>
                  </a:txBody>
                  <a:tcPr anchor="ctr" marL="27432" marR="27432" marT="4572" marB="4572">
                    <a:lnL w="6350">
                      <a:solidFill>
                        <a:srgbClr val="E2E7F2"/>
                      </a:solidFill>
                    </a:lnL>
                    <a:lnR w="6350">
                      <a:solidFill>
                        <a:srgbClr val="E2E7F2"/>
                      </a:solidFill>
                    </a:lnR>
                    <a:lnT w="6350">
                      <a:solidFill>
                        <a:srgbClr val="E2E7F2"/>
                      </a:solidFill>
                    </a:lnT>
                    <a:lnB w="6350">
                      <a:solidFill>
                        <a:srgbClr val="E2E7F2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wrap="none"/>
                    <a:lstStyle/>
                    <a:p>
                      <a:pPr algn="r"/>
                      <a:r>
                        <a:rPr sz="850" b="0">
                          <a:solidFill>
                            <a:srgbClr val="595959"/>
                          </a:solidFill>
                          <a:latin typeface="Calibri"/>
                        </a:rPr>
                        <a:t>3,194</a:t>
                      </a:r>
                    </a:p>
                  </a:txBody>
                  <a:tcPr anchor="ctr" marL="27432" marR="27432" marT="4572" marB="4572">
                    <a:lnL w="6350">
                      <a:solidFill>
                        <a:srgbClr val="E2E7F2"/>
                      </a:solidFill>
                    </a:lnL>
                    <a:lnR w="6350">
                      <a:solidFill>
                        <a:srgbClr val="E2E7F2"/>
                      </a:solidFill>
                    </a:lnR>
                    <a:lnT w="6350">
                      <a:solidFill>
                        <a:srgbClr val="E2E7F2"/>
                      </a:solidFill>
                    </a:lnT>
                    <a:lnB w="6350">
                      <a:solidFill>
                        <a:srgbClr val="E2E7F2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wrap="none"/>
                    <a:lstStyle/>
                    <a:p>
                      <a:pPr algn="r"/>
                      <a:r>
                        <a:rPr sz="850" b="0">
                          <a:solidFill>
                            <a:srgbClr val="595959"/>
                          </a:solidFill>
                          <a:latin typeface="Calibri"/>
                        </a:rPr>
                        <a:t>2,244</a:t>
                      </a:r>
                    </a:p>
                  </a:txBody>
                  <a:tcPr anchor="ctr" marL="27432" marR="27432" marT="4572" marB="4572">
                    <a:lnL w="6350">
                      <a:solidFill>
                        <a:srgbClr val="E2E7F2"/>
                      </a:solidFill>
                    </a:lnL>
                    <a:lnR w="6350">
                      <a:solidFill>
                        <a:srgbClr val="E2E7F2"/>
                      </a:solidFill>
                    </a:lnR>
                    <a:lnT w="6350">
                      <a:solidFill>
                        <a:srgbClr val="E2E7F2"/>
                      </a:solidFill>
                    </a:lnT>
                    <a:lnB w="6350">
                      <a:solidFill>
                        <a:srgbClr val="E2E7F2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wrap="none"/>
                    <a:lstStyle/>
                    <a:p>
                      <a:pPr algn="r"/>
                      <a:r>
                        <a:rPr sz="850" b="0">
                          <a:solidFill>
                            <a:srgbClr val="595959"/>
                          </a:solidFill>
                          <a:latin typeface="Calibri"/>
                        </a:rPr>
                        <a:t>2,595</a:t>
                      </a:r>
                    </a:p>
                  </a:txBody>
                  <a:tcPr anchor="ctr" marL="27432" marR="27432" marT="4572" marB="4572">
                    <a:lnL w="6350">
                      <a:solidFill>
                        <a:srgbClr val="E2E7F2"/>
                      </a:solidFill>
                    </a:lnL>
                    <a:lnR w="6350">
                      <a:solidFill>
                        <a:srgbClr val="E2E7F2"/>
                      </a:solidFill>
                    </a:lnR>
                    <a:lnT w="6350">
                      <a:solidFill>
                        <a:srgbClr val="E2E7F2"/>
                      </a:solidFill>
                    </a:lnT>
                    <a:lnB w="6350">
                      <a:solidFill>
                        <a:srgbClr val="E2E7F2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wrap="none"/>
                    <a:lstStyle/>
                    <a:p>
                      <a:pPr algn="r"/>
                      <a:r>
                        <a:rPr sz="850" b="0">
                          <a:solidFill>
                            <a:srgbClr val="595959"/>
                          </a:solidFill>
                          <a:latin typeface="Calibri"/>
                        </a:rPr>
                        <a:t>3,036</a:t>
                      </a:r>
                    </a:p>
                  </a:txBody>
                  <a:tcPr anchor="ctr" marL="27432" marR="27432" marT="4572" marB="4572">
                    <a:lnL w="6350">
                      <a:solidFill>
                        <a:srgbClr val="E2E7F2"/>
                      </a:solidFill>
                    </a:lnL>
                    <a:lnR w="6350">
                      <a:solidFill>
                        <a:srgbClr val="E2E7F2"/>
                      </a:solidFill>
                    </a:lnR>
                    <a:lnT w="6350">
                      <a:solidFill>
                        <a:srgbClr val="E2E7F2"/>
                      </a:solidFill>
                    </a:lnT>
                    <a:lnB w="6350">
                      <a:solidFill>
                        <a:srgbClr val="E2E7F2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wrap="none"/>
                    <a:lstStyle/>
                    <a:p>
                      <a:pPr algn="l"/>
                      <a:r>
                        <a:rPr sz="850" b="0">
                          <a:solidFill>
                            <a:srgbClr val="26292E"/>
                          </a:solidFill>
                          <a:latin typeface="Calibri"/>
                        </a:rPr>
                        <a:t/>
                      </a:r>
                    </a:p>
                  </a:txBody>
                  <a:tcPr anchor="ctr" marL="27432" marR="27432" marT="4572" marB="4572">
                    <a:lnL w="6350">
                      <a:solidFill>
                        <a:srgbClr val="E2E7F2"/>
                      </a:solidFill>
                    </a:lnL>
                    <a:lnR w="6350">
                      <a:solidFill>
                        <a:srgbClr val="E2E7F2"/>
                      </a:solidFill>
                    </a:lnR>
                    <a:lnT w="6350">
                      <a:solidFill>
                        <a:srgbClr val="E2E7F2"/>
                      </a:solidFill>
                    </a:lnT>
                    <a:lnB w="6350">
                      <a:solidFill>
                        <a:srgbClr val="E2E7F2"/>
                      </a:solidFill>
                    </a:lnB>
                    <a:solidFill>
                      <a:srgbClr val="FFFFFF"/>
                    </a:solidFill>
                  </a:tcPr>
                </a:tc>
              </a:tr>
              <a:tr h="214884">
                <a:tc>
                  <a:txBody>
                    <a:bodyPr wrap="none"/>
                    <a:lstStyle/>
                    <a:p>
                      <a:pPr algn="l"/>
                      <a:r>
                        <a:rPr sz="850" b="1">
                          <a:solidFill>
                            <a:srgbClr val="26292E"/>
                          </a:solidFill>
                          <a:latin typeface="Calibri"/>
                        </a:rPr>
                        <a:t>Total</a:t>
                      </a:r>
                    </a:p>
                  </a:txBody>
                  <a:tcPr anchor="ctr" marL="27432" marR="27432" marT="4572" marB="4572">
                    <a:lnL w="6350">
                      <a:solidFill>
                        <a:srgbClr val="E2E7F2"/>
                      </a:solidFill>
                    </a:lnL>
                    <a:lnR w="6350">
                      <a:solidFill>
                        <a:srgbClr val="E2E7F2"/>
                      </a:solidFill>
                    </a:lnR>
                    <a:lnT w="6350">
                      <a:solidFill>
                        <a:srgbClr val="E2E7F2"/>
                      </a:solidFill>
                    </a:lnT>
                    <a:lnB w="6350">
                      <a:solidFill>
                        <a:srgbClr val="E2E7F2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wrap="none"/>
                    <a:lstStyle/>
                    <a:p>
                      <a:pPr algn="r"/>
                      <a:r>
                        <a:rPr sz="850" b="1">
                          <a:solidFill>
                            <a:srgbClr val="26292E"/>
                          </a:solidFill>
                          <a:latin typeface="Calibri"/>
                        </a:rPr>
                        <a:t>3,578</a:t>
                      </a:r>
                    </a:p>
                  </a:txBody>
                  <a:tcPr anchor="ctr" marL="27432" marR="27432" marT="4572" marB="4572">
                    <a:lnL w="6350">
                      <a:solidFill>
                        <a:srgbClr val="E2E7F2"/>
                      </a:solidFill>
                    </a:lnL>
                    <a:lnR w="6350">
                      <a:solidFill>
                        <a:srgbClr val="E2E7F2"/>
                      </a:solidFill>
                    </a:lnR>
                    <a:lnT w="6350">
                      <a:solidFill>
                        <a:srgbClr val="E2E7F2"/>
                      </a:solidFill>
                    </a:lnT>
                    <a:lnB w="6350">
                      <a:solidFill>
                        <a:srgbClr val="E2E7F2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wrap="none"/>
                    <a:lstStyle/>
                    <a:p>
                      <a:pPr algn="r"/>
                      <a:r>
                        <a:rPr sz="850" b="1">
                          <a:solidFill>
                            <a:srgbClr val="26292E"/>
                          </a:solidFill>
                          <a:latin typeface="Calibri"/>
                        </a:rPr>
                        <a:t>3,566</a:t>
                      </a:r>
                    </a:p>
                  </a:txBody>
                  <a:tcPr anchor="ctr" marL="27432" marR="27432" marT="4572" marB="4572">
                    <a:lnL w="6350">
                      <a:solidFill>
                        <a:srgbClr val="E2E7F2"/>
                      </a:solidFill>
                    </a:lnL>
                    <a:lnR w="6350">
                      <a:solidFill>
                        <a:srgbClr val="E2E7F2"/>
                      </a:solidFill>
                    </a:lnR>
                    <a:lnT w="6350">
                      <a:solidFill>
                        <a:srgbClr val="E2E7F2"/>
                      </a:solidFill>
                    </a:lnT>
                    <a:lnB w="6350">
                      <a:solidFill>
                        <a:srgbClr val="E2E7F2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wrap="none"/>
                    <a:lstStyle/>
                    <a:p>
                      <a:pPr algn="r"/>
                      <a:r>
                        <a:rPr sz="850" b="1">
                          <a:solidFill>
                            <a:srgbClr val="26292E"/>
                          </a:solidFill>
                          <a:latin typeface="Calibri"/>
                        </a:rPr>
                        <a:t>3,140</a:t>
                      </a:r>
                    </a:p>
                  </a:txBody>
                  <a:tcPr anchor="ctr" marL="27432" marR="27432" marT="4572" marB="4572">
                    <a:lnL w="6350">
                      <a:solidFill>
                        <a:srgbClr val="E2E7F2"/>
                      </a:solidFill>
                    </a:lnL>
                    <a:lnR w="6350">
                      <a:solidFill>
                        <a:srgbClr val="E2E7F2"/>
                      </a:solidFill>
                    </a:lnR>
                    <a:lnT w="6350">
                      <a:solidFill>
                        <a:srgbClr val="E2E7F2"/>
                      </a:solidFill>
                    </a:lnT>
                    <a:lnB w="6350">
                      <a:solidFill>
                        <a:srgbClr val="E2E7F2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wrap="none"/>
                    <a:lstStyle/>
                    <a:p>
                      <a:pPr algn="r"/>
                      <a:r>
                        <a:rPr sz="850" b="1">
                          <a:solidFill>
                            <a:srgbClr val="26292E"/>
                          </a:solidFill>
                          <a:latin typeface="Calibri"/>
                        </a:rPr>
                        <a:t>3,273</a:t>
                      </a:r>
                    </a:p>
                  </a:txBody>
                  <a:tcPr anchor="ctr" marL="27432" marR="27432" marT="4572" marB="4572">
                    <a:lnL w="6350">
                      <a:solidFill>
                        <a:srgbClr val="E2E7F2"/>
                      </a:solidFill>
                    </a:lnL>
                    <a:lnR w="6350">
                      <a:solidFill>
                        <a:srgbClr val="E2E7F2"/>
                      </a:solidFill>
                    </a:lnR>
                    <a:lnT w="6350">
                      <a:solidFill>
                        <a:srgbClr val="E2E7F2"/>
                      </a:solidFill>
                    </a:lnT>
                    <a:lnB w="6350">
                      <a:solidFill>
                        <a:srgbClr val="E2E7F2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wrap="none"/>
                    <a:lstStyle/>
                    <a:p>
                      <a:pPr algn="r"/>
                      <a:r>
                        <a:rPr sz="850" b="1">
                          <a:solidFill>
                            <a:srgbClr val="26292E"/>
                          </a:solidFill>
                          <a:latin typeface="Calibri"/>
                        </a:rPr>
                        <a:t>3,066</a:t>
                      </a:r>
                    </a:p>
                  </a:txBody>
                  <a:tcPr anchor="ctr" marL="27432" marR="27432" marT="4572" marB="4572">
                    <a:lnL w="6350">
                      <a:solidFill>
                        <a:srgbClr val="E2E7F2"/>
                      </a:solidFill>
                    </a:lnL>
                    <a:lnR w="6350">
                      <a:solidFill>
                        <a:srgbClr val="E2E7F2"/>
                      </a:solidFill>
                    </a:lnR>
                    <a:lnT w="6350">
                      <a:solidFill>
                        <a:srgbClr val="E2E7F2"/>
                      </a:solidFill>
                    </a:lnT>
                    <a:lnB w="6350">
                      <a:solidFill>
                        <a:srgbClr val="E2E7F2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wrap="none"/>
                    <a:lstStyle/>
                    <a:p>
                      <a:pPr algn="r"/>
                      <a:r>
                        <a:rPr sz="850" b="1">
                          <a:solidFill>
                            <a:srgbClr val="26292E"/>
                          </a:solidFill>
                          <a:latin typeface="Calibri"/>
                        </a:rPr>
                        <a:t>3,199</a:t>
                      </a:r>
                    </a:p>
                  </a:txBody>
                  <a:tcPr anchor="ctr" marL="27432" marR="27432" marT="4572" marB="4572">
                    <a:lnL w="6350">
                      <a:solidFill>
                        <a:srgbClr val="E2E7F2"/>
                      </a:solidFill>
                    </a:lnL>
                    <a:lnR w="6350">
                      <a:solidFill>
                        <a:srgbClr val="E2E7F2"/>
                      </a:solidFill>
                    </a:lnR>
                    <a:lnT w="6350">
                      <a:solidFill>
                        <a:srgbClr val="E2E7F2"/>
                      </a:solidFill>
                    </a:lnT>
                    <a:lnB w="6350">
                      <a:solidFill>
                        <a:srgbClr val="E2E7F2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wrap="none"/>
                    <a:lstStyle/>
                    <a:p>
                      <a:pPr algn="r"/>
                      <a:r>
                        <a:rPr sz="850" b="1">
                          <a:solidFill>
                            <a:srgbClr val="26292E"/>
                          </a:solidFill>
                          <a:latin typeface="Calibri"/>
                        </a:rPr>
                        <a:t>3,325</a:t>
                      </a:r>
                    </a:p>
                  </a:txBody>
                  <a:tcPr anchor="ctr" marL="27432" marR="27432" marT="4572" marB="4572">
                    <a:lnL w="6350">
                      <a:solidFill>
                        <a:srgbClr val="E2E7F2"/>
                      </a:solidFill>
                    </a:lnL>
                    <a:lnR w="6350">
                      <a:solidFill>
                        <a:srgbClr val="E2E7F2"/>
                      </a:solidFill>
                    </a:lnR>
                    <a:lnT w="6350">
                      <a:solidFill>
                        <a:srgbClr val="E2E7F2"/>
                      </a:solidFill>
                    </a:lnT>
                    <a:lnB w="6350">
                      <a:solidFill>
                        <a:srgbClr val="E2E7F2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wrap="none"/>
                    <a:lstStyle/>
                    <a:p>
                      <a:pPr algn="r"/>
                      <a:r>
                        <a:rPr sz="850" b="1">
                          <a:solidFill>
                            <a:srgbClr val="C62828"/>
                          </a:solidFill>
                          <a:latin typeface="Calibri"/>
                        </a:rPr>
                        <a:t>-10.1%</a:t>
                      </a:r>
                    </a:p>
                  </a:txBody>
                  <a:tcPr anchor="ctr" marL="27432" marR="27432" marT="4572" marB="4572">
                    <a:lnL w="6350">
                      <a:solidFill>
                        <a:srgbClr val="E2E7F2"/>
                      </a:solidFill>
                    </a:lnL>
                    <a:lnR w="6350">
                      <a:solidFill>
                        <a:srgbClr val="E2E7F2"/>
                      </a:solidFill>
                    </a:lnR>
                    <a:lnT w="6350">
                      <a:solidFill>
                        <a:srgbClr val="E2E7F2"/>
                      </a:solidFill>
                    </a:lnT>
                    <a:lnB w="6350">
                      <a:solidFill>
                        <a:srgbClr val="E2E7F2"/>
                      </a:solidFill>
                    </a:lnB>
                    <a:solidFill>
                      <a:srgbClr val="FFFFFF"/>
                    </a:solidFill>
                  </a:tcPr>
                </a:tc>
              </a:tr>
              <a:tr h="214884">
                <a:tc>
                  <a:txBody>
                    <a:bodyPr wrap="none"/>
                    <a:lstStyle/>
                    <a:p>
                      <a:pPr algn="l"/>
                      <a:r>
                        <a:rPr sz="850" b="0">
                          <a:solidFill>
                            <a:srgbClr val="595959"/>
                          </a:solidFill>
                          <a:latin typeface="Calibri"/>
                        </a:rPr>
                        <a:t>   ’25</a:t>
                      </a:r>
                    </a:p>
                  </a:txBody>
                  <a:tcPr anchor="ctr" marL="27432" marR="27432" marT="4572" marB="4572">
                    <a:lnL w="6350">
                      <a:solidFill>
                        <a:srgbClr val="E2E7F2"/>
                      </a:solidFill>
                    </a:lnL>
                    <a:lnR w="6350">
                      <a:solidFill>
                        <a:srgbClr val="E2E7F2"/>
                      </a:solidFill>
                    </a:lnR>
                    <a:lnT w="6350">
                      <a:solidFill>
                        <a:srgbClr val="E2E7F2"/>
                      </a:solidFill>
                    </a:lnT>
                    <a:lnB w="6350">
                      <a:solidFill>
                        <a:srgbClr val="E2E7F2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wrap="none"/>
                    <a:lstStyle/>
                    <a:p>
                      <a:pPr algn="r"/>
                      <a:r>
                        <a:rPr sz="850" b="0">
                          <a:solidFill>
                            <a:srgbClr val="595959"/>
                          </a:solidFill>
                          <a:latin typeface="Calibri"/>
                        </a:rPr>
                        <a:t>4,191</a:t>
                      </a:r>
                    </a:p>
                  </a:txBody>
                  <a:tcPr anchor="ctr" marL="27432" marR="27432" marT="4572" marB="4572">
                    <a:lnL w="6350">
                      <a:solidFill>
                        <a:srgbClr val="E2E7F2"/>
                      </a:solidFill>
                    </a:lnL>
                    <a:lnR w="6350">
                      <a:solidFill>
                        <a:srgbClr val="E2E7F2"/>
                      </a:solidFill>
                    </a:lnR>
                    <a:lnT w="6350">
                      <a:solidFill>
                        <a:srgbClr val="E2E7F2"/>
                      </a:solidFill>
                    </a:lnT>
                    <a:lnB w="6350">
                      <a:solidFill>
                        <a:srgbClr val="E2E7F2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wrap="none"/>
                    <a:lstStyle/>
                    <a:p>
                      <a:pPr algn="r"/>
                      <a:r>
                        <a:rPr sz="850" b="0">
                          <a:solidFill>
                            <a:srgbClr val="595959"/>
                          </a:solidFill>
                          <a:latin typeface="Calibri"/>
                        </a:rPr>
                        <a:t>3,938</a:t>
                      </a:r>
                    </a:p>
                  </a:txBody>
                  <a:tcPr anchor="ctr" marL="27432" marR="27432" marT="4572" marB="4572">
                    <a:lnL w="6350">
                      <a:solidFill>
                        <a:srgbClr val="E2E7F2"/>
                      </a:solidFill>
                    </a:lnL>
                    <a:lnR w="6350">
                      <a:solidFill>
                        <a:srgbClr val="E2E7F2"/>
                      </a:solidFill>
                    </a:lnR>
                    <a:lnT w="6350">
                      <a:solidFill>
                        <a:srgbClr val="E2E7F2"/>
                      </a:solidFill>
                    </a:lnT>
                    <a:lnB w="6350">
                      <a:solidFill>
                        <a:srgbClr val="E2E7F2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wrap="none"/>
                    <a:lstStyle/>
                    <a:p>
                      <a:pPr algn="r"/>
                      <a:r>
                        <a:rPr sz="850" b="0">
                          <a:solidFill>
                            <a:srgbClr val="595959"/>
                          </a:solidFill>
                          <a:latin typeface="Calibri"/>
                        </a:rPr>
                        <a:t>3,539</a:t>
                      </a:r>
                    </a:p>
                  </a:txBody>
                  <a:tcPr anchor="ctr" marL="27432" marR="27432" marT="4572" marB="4572">
                    <a:lnL w="6350">
                      <a:solidFill>
                        <a:srgbClr val="E2E7F2"/>
                      </a:solidFill>
                    </a:lnL>
                    <a:lnR w="6350">
                      <a:solidFill>
                        <a:srgbClr val="E2E7F2"/>
                      </a:solidFill>
                    </a:lnR>
                    <a:lnT w="6350">
                      <a:solidFill>
                        <a:srgbClr val="E2E7F2"/>
                      </a:solidFill>
                    </a:lnT>
                    <a:lnB w="6350">
                      <a:solidFill>
                        <a:srgbClr val="E2E7F2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wrap="none"/>
                    <a:lstStyle/>
                    <a:p>
                      <a:pPr algn="r"/>
                      <a:r>
                        <a:rPr sz="850" b="0">
                          <a:solidFill>
                            <a:srgbClr val="595959"/>
                          </a:solidFill>
                          <a:latin typeface="Calibri"/>
                        </a:rPr>
                        <a:t>3,684</a:t>
                      </a:r>
                    </a:p>
                  </a:txBody>
                  <a:tcPr anchor="ctr" marL="27432" marR="27432" marT="4572" marB="4572">
                    <a:lnL w="6350">
                      <a:solidFill>
                        <a:srgbClr val="E2E7F2"/>
                      </a:solidFill>
                    </a:lnL>
                    <a:lnR w="6350">
                      <a:solidFill>
                        <a:srgbClr val="E2E7F2"/>
                      </a:solidFill>
                    </a:lnR>
                    <a:lnT w="6350">
                      <a:solidFill>
                        <a:srgbClr val="E2E7F2"/>
                      </a:solidFill>
                    </a:lnT>
                    <a:lnB w="6350">
                      <a:solidFill>
                        <a:srgbClr val="E2E7F2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wrap="none"/>
                    <a:lstStyle/>
                    <a:p>
                      <a:pPr algn="r"/>
                      <a:r>
                        <a:rPr sz="850" b="0">
                          <a:solidFill>
                            <a:srgbClr val="595959"/>
                          </a:solidFill>
                          <a:latin typeface="Calibri"/>
                        </a:rPr>
                        <a:t>3,299</a:t>
                      </a:r>
                    </a:p>
                  </a:txBody>
                  <a:tcPr anchor="ctr" marL="27432" marR="27432" marT="4572" marB="4572">
                    <a:lnL w="6350">
                      <a:solidFill>
                        <a:srgbClr val="E2E7F2"/>
                      </a:solidFill>
                    </a:lnL>
                    <a:lnR w="6350">
                      <a:solidFill>
                        <a:srgbClr val="E2E7F2"/>
                      </a:solidFill>
                    </a:lnR>
                    <a:lnT w="6350">
                      <a:solidFill>
                        <a:srgbClr val="E2E7F2"/>
                      </a:solidFill>
                    </a:lnT>
                    <a:lnB w="6350">
                      <a:solidFill>
                        <a:srgbClr val="E2E7F2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wrap="none"/>
                    <a:lstStyle/>
                    <a:p>
                      <a:pPr algn="r"/>
                      <a:r>
                        <a:rPr sz="850" b="0">
                          <a:solidFill>
                            <a:srgbClr val="595959"/>
                          </a:solidFill>
                          <a:latin typeface="Calibri"/>
                        </a:rPr>
                        <a:t>3,366</a:t>
                      </a:r>
                    </a:p>
                  </a:txBody>
                  <a:tcPr anchor="ctr" marL="27432" marR="27432" marT="4572" marB="4572">
                    <a:lnL w="6350">
                      <a:solidFill>
                        <a:srgbClr val="E2E7F2"/>
                      </a:solidFill>
                    </a:lnL>
                    <a:lnR w="6350">
                      <a:solidFill>
                        <a:srgbClr val="E2E7F2"/>
                      </a:solidFill>
                    </a:lnR>
                    <a:lnT w="6350">
                      <a:solidFill>
                        <a:srgbClr val="E2E7F2"/>
                      </a:solidFill>
                    </a:lnT>
                    <a:lnB w="6350">
                      <a:solidFill>
                        <a:srgbClr val="E2E7F2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wrap="none"/>
                    <a:lstStyle/>
                    <a:p>
                      <a:pPr algn="r"/>
                      <a:r>
                        <a:rPr sz="850" b="0">
                          <a:solidFill>
                            <a:srgbClr val="595959"/>
                          </a:solidFill>
                          <a:latin typeface="Calibri"/>
                        </a:rPr>
                        <a:t>3,698</a:t>
                      </a:r>
                    </a:p>
                  </a:txBody>
                  <a:tcPr anchor="ctr" marL="27432" marR="27432" marT="4572" marB="4572">
                    <a:lnL w="6350">
                      <a:solidFill>
                        <a:srgbClr val="E2E7F2"/>
                      </a:solidFill>
                    </a:lnL>
                    <a:lnR w="6350">
                      <a:solidFill>
                        <a:srgbClr val="E2E7F2"/>
                      </a:solidFill>
                    </a:lnR>
                    <a:lnT w="6350">
                      <a:solidFill>
                        <a:srgbClr val="E2E7F2"/>
                      </a:solidFill>
                    </a:lnT>
                    <a:lnB w="6350">
                      <a:solidFill>
                        <a:srgbClr val="E2E7F2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wrap="none"/>
                    <a:lstStyle/>
                    <a:p>
                      <a:pPr algn="l"/>
                      <a:r>
                        <a:rPr sz="850" b="0">
                          <a:solidFill>
                            <a:srgbClr val="26292E"/>
                          </a:solidFill>
                          <a:latin typeface="Calibri"/>
                        </a:rPr>
                        <a:t/>
                      </a:r>
                    </a:p>
                  </a:txBody>
                  <a:tcPr anchor="ctr" marL="27432" marR="27432" marT="4572" marB="4572">
                    <a:lnL w="6350">
                      <a:solidFill>
                        <a:srgbClr val="E2E7F2"/>
                      </a:solidFill>
                    </a:lnL>
                    <a:lnR w="6350">
                      <a:solidFill>
                        <a:srgbClr val="E2E7F2"/>
                      </a:solidFill>
                    </a:lnR>
                    <a:lnT w="6350">
                      <a:solidFill>
                        <a:srgbClr val="E2E7F2"/>
                      </a:solidFill>
                    </a:lnT>
                    <a:lnB w="6350">
                      <a:solidFill>
                        <a:srgbClr val="E2E7F2"/>
                      </a:solidFill>
                    </a:lnB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  <p:sp>
        <p:nvSpPr>
          <p:cNvPr id="10" name="TextBox 9"/>
          <p:cNvSpPr txBox="1"/>
          <p:nvPr/>
        </p:nvSpPr>
        <p:spPr>
          <a:xfrm>
            <a:off x="548640" y="5372100"/>
            <a:ext cx="10881360" cy="320040"/>
          </a:xfrm>
          <a:prstGeom prst="rect">
            <a:avLst/>
          </a:prstGeom>
          <a:noFill/>
        </p:spPr>
        <p:txBody>
          <a:bodyPr wrap="none" lIns="0" tIns="0">
            <a:spAutoFit/>
          </a:bodyPr>
          <a:lstStyle/>
          <a:p>
            <a:r>
              <a:rPr sz="900">
                <a:solidFill>
                  <a:srgbClr val="595959"/>
                </a:solidFill>
                <a:latin typeface="Calibri"/>
              </a:rPr>
              <a:t>Deepest H1 rate cut: Group Corporate (-26.2%) · '–' = no rooms sold that month.</a:t>
            </a:r>
          </a:p>
        </p:txBody>
      </p:sp>
    </p:spTree>
  </p:cSld>
  <p:clrMapOvr>
    <a:masterClrMapping/>
  </p:clrMapOvr>
</p:sld>
</file>

<file path=ppt/slides/slide3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0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292608"/>
            <a:ext cx="8229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b="1" kern="0" spc="200" dirty="0">
                <a:solidFill>
                  <a:srgbClr val="D9A44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SECTION 5 · ASCOTT EMBASSY SATHORN (AES)</a:t>
            </a:r>
            <a:endParaRPr lang="en-US" sz="1100" dirty="0"/>
          </a:p>
        </p:txBody>
      </p:sp>
      <p:sp>
        <p:nvSpPr>
          <p:cNvPr id="3" name="Text 1"/>
          <p:cNvSpPr/>
          <p:nvPr/>
        </p:nvSpPr>
        <p:spPr>
          <a:xfrm>
            <a:off x="548640" y="502920"/>
            <a:ext cx="11091672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800" b="1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Ascott Embassy Sathorn (AES) — guest nationality — room nights &amp; change (H1)</a:t>
            </a:r>
            <a:endParaRPr lang="en-US" sz="2800" dirty="0"/>
          </a:p>
        </p:txBody>
      </p:sp>
      <p:sp>
        <p:nvSpPr>
          <p:cNvPr id="4" name="Text 2"/>
          <p:cNvSpPr/>
          <p:nvPr/>
        </p:nvSpPr>
        <p:spPr>
          <a:xfrm>
            <a:off x="548640" y="1060704"/>
            <a:ext cx="11091672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5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Top 10 nationalities · H1 room nights 2026 vs 2025 (left) · change vs last year (right)</a:t>
            </a:r>
            <a:endParaRPr lang="en-US" sz="1250" dirty="0"/>
          </a:p>
        </p:txBody>
      </p:sp>
      <p:sp>
        <p:nvSpPr>
          <p:cNvPr id="5" name="Text 3"/>
          <p:cNvSpPr/>
          <p:nvPr/>
        </p:nvSpPr>
        <p:spPr>
          <a:xfrm>
            <a:off x="8165592" y="310896"/>
            <a:ext cx="34747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90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Mitsui Thailand Portfolio · H1 2026</a:t>
            </a:r>
            <a:endParaRPr lang="en-US" sz="900" dirty="0"/>
          </a:p>
        </p:txBody>
      </p:sp>
      <p:graphicFrame>
        <p:nvGraphicFramePr>
          <p:cNvPr id="6" name="Chart 0"/>
          <p:cNvGraphicFramePr/>
          <p:nvPr/>
        </p:nvGraphicFramePr>
        <p:xfrm>
          <a:off x="548640" y="1737360"/>
          <a:ext cx="5394960" cy="4434840"/>
        </p:xfrm>
        <a:graphic>
          <a:graphicData uri="http://schemas.openxmlformats.org/drawingml/2006/chart">
            <c:chart xmlns:c="http://schemas.openxmlformats.org/drawingml/2006/chart" xmlns:r="http://schemas.openxmlformats.org/officeDocument/2006/relationships" r:id="rId3"/>
          </a:graphicData>
        </a:graphic>
      </p:graphicFrame>
      <p:sp>
        <p:nvSpPr>
          <p:cNvPr id="9" name="Text 4"/>
          <p:cNvSpPr/>
          <p:nvPr/>
        </p:nvSpPr>
        <p:spPr>
          <a:xfrm>
            <a:off x="548640" y="6309360"/>
            <a:ext cx="10881360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50" i="1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Biggest H1 gain: Finland (+2,922 RN) · biggest decline: Korea (-910 RN). A 2025 bar of 0 = outside 2025's top-10 · change table follows the 2026 top-10, 'new' = outside 2025's top-10.</a:t>
            </a:r>
            <a:endParaRPr lang="en-US" sz="1050" dirty="0"/>
          </a:p>
        </p:txBody>
      </p:sp>
      <p:graphicFrame>
        <p:nvGraphicFramePr>
          <p:cNvPr id="900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6903720" y="2240280"/>
          <a:ext cx="3867912" cy="3072384"/>
        </p:xfrm>
        <a:graphic>
          <a:graphicData uri="http://schemas.openxmlformats.org/drawingml/2006/table">
            <a:tbl>
              <a:tblPr/>
              <a:tblGrid>
                <a:gridCol w="1307592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64008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640080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658368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  <a:gridCol w="621792">
                  <a:extLst>
                    <a:ext uri="{9D8B030D-6E8A-4147-A177-3AD203B41FA5}">
                      <a16:colId xmlns:a16="http://schemas.microsoft.com/office/drawing/2014/main" val="20004"/>
                    </a:ext>
                  </a:extLst>
                </a:gridCol>
              </a:tblGrid>
              <a:tr h="256032"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85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Nationality</a:t>
                      </a:r>
                      <a:endParaRPr lang="en-US" sz="8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E2E7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7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7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7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E2761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85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H1 25</a:t>
                      </a:r>
                      <a:endParaRPr lang="en-US" sz="8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E2E7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7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7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7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E2761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85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H1 26</a:t>
                      </a:r>
                      <a:endParaRPr lang="en-US" sz="8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E2E7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7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7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7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E2761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85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Chg</a:t>
                      </a:r>
                      <a:endParaRPr lang="en-US" sz="8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E2E7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7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7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7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E2761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85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%</a:t>
                      </a:r>
                      <a:endParaRPr lang="en-US" sz="8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E2E7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7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7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7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E276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256032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850" b="1" dirty="0">
                          <a:solidFill>
                            <a:srgbClr val="26292E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China</a:t>
                      </a:r>
                      <a:endParaRPr lang="en-US" sz="8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E2E7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7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7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7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r">
                        <a:buNone/>
                      </a:pPr>
                      <a:r>
                        <a:rPr lang="en-US" sz="850" dirty="0">
                          <a:solidFill>
                            <a:srgbClr val="26292E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16,921</a:t>
                      </a:r>
                      <a:endParaRPr lang="en-US" sz="8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E2E7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7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7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7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r">
                        <a:buNone/>
                      </a:pPr>
                      <a:r>
                        <a:rPr lang="en-US" sz="850" dirty="0">
                          <a:solidFill>
                            <a:srgbClr val="26292E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18,613</a:t>
                      </a:r>
                      <a:endParaRPr lang="en-US" sz="8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E2E7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7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7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7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r">
                        <a:buNone/>
                      </a:pPr>
                      <a:r>
                        <a:rPr lang="en-US" sz="850" b="1" dirty="0">
                          <a:solidFill>
                            <a:srgbClr val="2E7D32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+1,692</a:t>
                      </a:r>
                      <a:endParaRPr lang="en-US" sz="8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E2E7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7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7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7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r">
                        <a:buNone/>
                      </a:pPr>
                      <a:r>
                        <a:rPr lang="en-US" sz="850" dirty="0">
                          <a:solidFill>
                            <a:srgbClr val="2E7D32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+10%</a:t>
                      </a:r>
                      <a:endParaRPr lang="en-US" sz="8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E2E7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7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7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7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256032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850" b="1" dirty="0">
                          <a:solidFill>
                            <a:srgbClr val="26292E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Japan</a:t>
                      </a:r>
                      <a:endParaRPr lang="en-US" sz="8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E2E7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7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7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7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6FB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r">
                        <a:buNone/>
                      </a:pPr>
                      <a:r>
                        <a:rPr lang="en-US" sz="850" dirty="0">
                          <a:solidFill>
                            <a:srgbClr val="26292E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2,723</a:t>
                      </a:r>
                      <a:endParaRPr lang="en-US" sz="8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E2E7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7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7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7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6FB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r">
                        <a:buNone/>
                      </a:pPr>
                      <a:r>
                        <a:rPr lang="en-US" sz="850" dirty="0">
                          <a:solidFill>
                            <a:srgbClr val="26292E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3,600</a:t>
                      </a:r>
                      <a:endParaRPr lang="en-US" sz="8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E2E7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7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7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7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6FB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r">
                        <a:buNone/>
                      </a:pPr>
                      <a:r>
                        <a:rPr lang="en-US" sz="850" b="1" dirty="0">
                          <a:solidFill>
                            <a:srgbClr val="2E7D32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+877</a:t>
                      </a:r>
                      <a:endParaRPr lang="en-US" sz="8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E2E7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7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7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7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6FB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r">
                        <a:buNone/>
                      </a:pPr>
                      <a:r>
                        <a:rPr lang="en-US" sz="850" dirty="0">
                          <a:solidFill>
                            <a:srgbClr val="2E7D32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+32%</a:t>
                      </a:r>
                      <a:endParaRPr lang="en-US" sz="8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E2E7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7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7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7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6FB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256032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850" b="1" dirty="0">
                          <a:solidFill>
                            <a:srgbClr val="26292E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Finland</a:t>
                      </a:r>
                      <a:endParaRPr lang="en-US" sz="8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E2E7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7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7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7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r">
                        <a:buNone/>
                      </a:pPr>
                      <a:r>
                        <a:rPr lang="en-US" sz="850" dirty="0">
                          <a:solidFill>
                            <a:srgbClr val="26292E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—</a:t>
                      </a:r>
                      <a:endParaRPr lang="en-US" sz="8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E2E7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7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7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7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r">
                        <a:buNone/>
                      </a:pPr>
                      <a:r>
                        <a:rPr lang="en-US" sz="850" dirty="0">
                          <a:solidFill>
                            <a:srgbClr val="26292E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2,922</a:t>
                      </a:r>
                      <a:endParaRPr lang="en-US" sz="8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E2E7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7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7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7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r">
                        <a:buNone/>
                      </a:pPr>
                      <a:r>
                        <a:rPr lang="en-US" sz="850" b="1" dirty="0">
                          <a:solidFill>
                            <a:srgbClr val="2E7D32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+2,922</a:t>
                      </a:r>
                      <a:endParaRPr lang="en-US" sz="8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E2E7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7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7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7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r">
                        <a:buNone/>
                      </a:pPr>
                      <a:r>
                        <a:rPr lang="en-US" sz="850" dirty="0">
                          <a:solidFill>
                            <a:srgbClr val="2E7D32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new</a:t>
                      </a:r>
                      <a:endParaRPr lang="en-US" sz="8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E2E7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7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7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7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256032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850" b="1" dirty="0">
                          <a:solidFill>
                            <a:srgbClr val="26292E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Singapore</a:t>
                      </a:r>
                      <a:endParaRPr lang="en-US" sz="8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E2E7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7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7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7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6FB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r">
                        <a:buNone/>
                      </a:pPr>
                      <a:r>
                        <a:rPr lang="en-US" sz="850" dirty="0">
                          <a:solidFill>
                            <a:srgbClr val="26292E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2,263</a:t>
                      </a:r>
                      <a:endParaRPr lang="en-US" sz="8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E2E7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7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7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7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6FB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r">
                        <a:buNone/>
                      </a:pPr>
                      <a:r>
                        <a:rPr lang="en-US" sz="850" dirty="0">
                          <a:solidFill>
                            <a:srgbClr val="26292E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1,934</a:t>
                      </a:r>
                      <a:endParaRPr lang="en-US" sz="8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E2E7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7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7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7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6FB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r">
                        <a:buNone/>
                      </a:pPr>
                      <a:r>
                        <a:rPr lang="en-US" sz="850" b="1" dirty="0">
                          <a:solidFill>
                            <a:srgbClr val="C0392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-329</a:t>
                      </a:r>
                      <a:endParaRPr lang="en-US" sz="8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E2E7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7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7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7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6FB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r">
                        <a:buNone/>
                      </a:pPr>
                      <a:r>
                        <a:rPr lang="en-US" sz="850" dirty="0">
                          <a:solidFill>
                            <a:srgbClr val="C0392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-15%</a:t>
                      </a:r>
                      <a:endParaRPr lang="en-US" sz="8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E2E7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7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7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7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6FB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  <a:tr h="256032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850" b="1" dirty="0">
                          <a:solidFill>
                            <a:srgbClr val="26292E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USA</a:t>
                      </a:r>
                      <a:endParaRPr lang="en-US" sz="8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E2E7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7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7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7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r">
                        <a:buNone/>
                      </a:pPr>
                      <a:r>
                        <a:rPr lang="en-US" sz="850" dirty="0">
                          <a:solidFill>
                            <a:srgbClr val="26292E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2,078</a:t>
                      </a:r>
                      <a:endParaRPr lang="en-US" sz="8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E2E7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7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7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7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r">
                        <a:buNone/>
                      </a:pPr>
                      <a:r>
                        <a:rPr lang="en-US" sz="850" dirty="0">
                          <a:solidFill>
                            <a:srgbClr val="26292E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1,818</a:t>
                      </a:r>
                      <a:endParaRPr lang="en-US" sz="8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E2E7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7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7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7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r">
                        <a:buNone/>
                      </a:pPr>
                      <a:r>
                        <a:rPr lang="en-US" sz="850" b="1" dirty="0">
                          <a:solidFill>
                            <a:srgbClr val="C0392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-260</a:t>
                      </a:r>
                      <a:endParaRPr lang="en-US" sz="8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E2E7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7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7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7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r">
                        <a:buNone/>
                      </a:pPr>
                      <a:r>
                        <a:rPr lang="en-US" sz="850" dirty="0">
                          <a:solidFill>
                            <a:srgbClr val="C0392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-13%</a:t>
                      </a:r>
                      <a:endParaRPr lang="en-US" sz="8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E2E7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7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7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7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5"/>
                  </a:ext>
                </a:extLst>
              </a:tr>
              <a:tr h="256032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850" b="1" dirty="0">
                          <a:solidFill>
                            <a:srgbClr val="26292E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Thailand</a:t>
                      </a:r>
                      <a:endParaRPr lang="en-US" sz="8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E2E7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7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7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7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6FB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r">
                        <a:buNone/>
                      </a:pPr>
                      <a:r>
                        <a:rPr lang="en-US" sz="850" dirty="0">
                          <a:solidFill>
                            <a:srgbClr val="26292E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1,524</a:t>
                      </a:r>
                      <a:endParaRPr lang="en-US" sz="8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E2E7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7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7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7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6FB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r">
                        <a:buNone/>
                      </a:pPr>
                      <a:r>
                        <a:rPr lang="en-US" sz="850" dirty="0">
                          <a:solidFill>
                            <a:srgbClr val="26292E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1,625</a:t>
                      </a:r>
                      <a:endParaRPr lang="en-US" sz="8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E2E7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7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7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7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6FB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r">
                        <a:buNone/>
                      </a:pPr>
                      <a:r>
                        <a:rPr lang="en-US" sz="850" b="1" dirty="0">
                          <a:solidFill>
                            <a:srgbClr val="2E7D32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+101</a:t>
                      </a:r>
                      <a:endParaRPr lang="en-US" sz="8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E2E7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7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7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7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6FB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r">
                        <a:buNone/>
                      </a:pPr>
                      <a:r>
                        <a:rPr lang="en-US" sz="850" dirty="0">
                          <a:solidFill>
                            <a:srgbClr val="2E7D32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+7%</a:t>
                      </a:r>
                      <a:endParaRPr lang="en-US" sz="8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E2E7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7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7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7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6FB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6"/>
                  </a:ext>
                </a:extLst>
              </a:tr>
              <a:tr h="256032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850" b="1" dirty="0">
                          <a:solidFill>
                            <a:srgbClr val="26292E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Germany</a:t>
                      </a:r>
                      <a:endParaRPr lang="en-US" sz="8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E2E7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7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7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7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r">
                        <a:buNone/>
                      </a:pPr>
                      <a:r>
                        <a:rPr lang="en-US" sz="850" dirty="0">
                          <a:solidFill>
                            <a:srgbClr val="26292E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1,536</a:t>
                      </a:r>
                      <a:endParaRPr lang="en-US" sz="8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E2E7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7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7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7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r">
                        <a:buNone/>
                      </a:pPr>
                      <a:r>
                        <a:rPr lang="en-US" sz="850" dirty="0">
                          <a:solidFill>
                            <a:srgbClr val="26292E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1,526</a:t>
                      </a:r>
                      <a:endParaRPr lang="en-US" sz="8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E2E7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7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7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7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r">
                        <a:buNone/>
                      </a:pPr>
                      <a:r>
                        <a:rPr lang="en-US" sz="850" b="1" dirty="0">
                          <a:solidFill>
                            <a:srgbClr val="C0392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-10</a:t>
                      </a:r>
                      <a:endParaRPr lang="en-US" sz="8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E2E7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7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7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7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r">
                        <a:buNone/>
                      </a:pPr>
                      <a:r>
                        <a:rPr lang="en-US" sz="850" dirty="0">
                          <a:solidFill>
                            <a:srgbClr val="C0392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-1%</a:t>
                      </a:r>
                      <a:endParaRPr lang="en-US" sz="8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E2E7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7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7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7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7"/>
                  </a:ext>
                </a:extLst>
              </a:tr>
              <a:tr h="256032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850" b="1" dirty="0">
                          <a:solidFill>
                            <a:srgbClr val="26292E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UK</a:t>
                      </a:r>
                      <a:endParaRPr lang="en-US" sz="8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E2E7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7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7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7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6FB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r">
                        <a:buNone/>
                      </a:pPr>
                      <a:r>
                        <a:rPr lang="en-US" sz="850" dirty="0">
                          <a:solidFill>
                            <a:srgbClr val="26292E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—</a:t>
                      </a:r>
                      <a:endParaRPr lang="en-US" sz="8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E2E7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7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7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7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6FB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r">
                        <a:buNone/>
                      </a:pPr>
                      <a:r>
                        <a:rPr lang="en-US" sz="850" dirty="0">
                          <a:solidFill>
                            <a:srgbClr val="26292E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1,385</a:t>
                      </a:r>
                      <a:endParaRPr lang="en-US" sz="8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E2E7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7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7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7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6FB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r">
                        <a:buNone/>
                      </a:pPr>
                      <a:r>
                        <a:rPr lang="en-US" sz="850" b="1" dirty="0">
                          <a:solidFill>
                            <a:srgbClr val="2E7D32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+1,385</a:t>
                      </a:r>
                      <a:endParaRPr lang="en-US" sz="8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E2E7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7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7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7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6FB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r">
                        <a:buNone/>
                      </a:pPr>
                      <a:r>
                        <a:rPr lang="en-US" sz="850" dirty="0">
                          <a:solidFill>
                            <a:srgbClr val="2E7D32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new</a:t>
                      </a:r>
                      <a:endParaRPr lang="en-US" sz="8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E2E7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7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7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7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6FB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8"/>
                  </a:ext>
                </a:extLst>
              </a:tr>
              <a:tr h="256032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850" b="1" dirty="0">
                          <a:solidFill>
                            <a:srgbClr val="26292E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Korea</a:t>
                      </a:r>
                      <a:endParaRPr lang="en-US" sz="8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E2E7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7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7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7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r">
                        <a:buNone/>
                      </a:pPr>
                      <a:r>
                        <a:rPr lang="en-US" sz="850" dirty="0">
                          <a:solidFill>
                            <a:srgbClr val="26292E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2,214</a:t>
                      </a:r>
                      <a:endParaRPr lang="en-US" sz="8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E2E7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7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7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7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r">
                        <a:buNone/>
                      </a:pPr>
                      <a:r>
                        <a:rPr lang="en-US" sz="850" dirty="0">
                          <a:solidFill>
                            <a:srgbClr val="26292E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1,304</a:t>
                      </a:r>
                      <a:endParaRPr lang="en-US" sz="8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E2E7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7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7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7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r">
                        <a:buNone/>
                      </a:pPr>
                      <a:r>
                        <a:rPr lang="en-US" sz="850" b="1" dirty="0">
                          <a:solidFill>
                            <a:srgbClr val="C0392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-910</a:t>
                      </a:r>
                      <a:endParaRPr lang="en-US" sz="8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E2E7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7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7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7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r">
                        <a:buNone/>
                      </a:pPr>
                      <a:r>
                        <a:rPr lang="en-US" sz="850" dirty="0">
                          <a:solidFill>
                            <a:srgbClr val="C0392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-41%</a:t>
                      </a:r>
                      <a:endParaRPr lang="en-US" sz="8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E2E7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7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7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7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9"/>
                  </a:ext>
                </a:extLst>
              </a:tr>
              <a:tr h="256032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850" b="1" dirty="0">
                          <a:solidFill>
                            <a:srgbClr val="26292E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Taiwan</a:t>
                      </a:r>
                      <a:endParaRPr lang="en-US" sz="8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E2E7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7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7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7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6FB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r">
                        <a:buNone/>
                      </a:pPr>
                      <a:r>
                        <a:rPr lang="en-US" sz="850" dirty="0">
                          <a:solidFill>
                            <a:srgbClr val="26292E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—</a:t>
                      </a:r>
                      <a:endParaRPr lang="en-US" sz="8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E2E7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7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7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7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6FB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r">
                        <a:buNone/>
                      </a:pPr>
                      <a:r>
                        <a:rPr lang="en-US" sz="850" dirty="0">
                          <a:solidFill>
                            <a:srgbClr val="26292E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1,216</a:t>
                      </a:r>
                      <a:endParaRPr lang="en-US" sz="8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E2E7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7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7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7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6FB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r">
                        <a:buNone/>
                      </a:pPr>
                      <a:r>
                        <a:rPr lang="en-US" sz="850" b="1" dirty="0">
                          <a:solidFill>
                            <a:srgbClr val="2E7D32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+1,216</a:t>
                      </a:r>
                      <a:endParaRPr lang="en-US" sz="8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E2E7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7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7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7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6FB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r">
                        <a:buNone/>
                      </a:pPr>
                      <a:r>
                        <a:rPr lang="en-US" sz="850" dirty="0">
                          <a:solidFill>
                            <a:srgbClr val="2E7D32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new</a:t>
                      </a:r>
                      <a:endParaRPr lang="en-US" sz="8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E2E7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7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7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7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6FB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10"/>
                  </a:ext>
                </a:extLst>
              </a:tr>
              <a:tr h="256032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850" b="1" dirty="0">
                          <a:solidFill>
                            <a:srgbClr val="1E2761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Top-10 total</a:t>
                      </a:r>
                      <a:endParaRPr lang="en-US" sz="8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E2E7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7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7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7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2E7F2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r">
                        <a:buNone/>
                      </a:pPr>
                      <a:r>
                        <a:rPr lang="en-US" sz="850" b="1" dirty="0">
                          <a:solidFill>
                            <a:srgbClr val="1E2761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29,259</a:t>
                      </a:r>
                      <a:endParaRPr lang="en-US" sz="8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E2E7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7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7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7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2E7F2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r">
                        <a:buNone/>
                      </a:pPr>
                      <a:r>
                        <a:rPr lang="en-US" sz="850" b="1" dirty="0">
                          <a:solidFill>
                            <a:srgbClr val="1E2761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35,943</a:t>
                      </a:r>
                      <a:endParaRPr lang="en-US" sz="8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E2E7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7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7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7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2E7F2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r">
                        <a:buNone/>
                      </a:pPr>
                      <a:r>
                        <a:rPr lang="en-US" sz="850" b="1" dirty="0">
                          <a:solidFill>
                            <a:srgbClr val="2E7D32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+6,684</a:t>
                      </a:r>
                      <a:endParaRPr lang="en-US" sz="8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E2E7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7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7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7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2E7F2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r">
                        <a:buNone/>
                      </a:pPr>
                      <a:r>
                        <a:rPr lang="en-US" sz="850" b="1" dirty="0">
                          <a:solidFill>
                            <a:srgbClr val="2E7D32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+23%</a:t>
                      </a:r>
                      <a:endParaRPr lang="en-US" sz="8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E2E7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7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7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7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2E7F2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11"/>
                  </a:ext>
                </a:extLst>
              </a:tr>
            </a:tbl>
          </a:graphicData>
        </a:graphic>
      </p:graphicFrame>
    </p:spTree>
  </p:cSld>
  <p:clrMapOvr>
    <a:masterClrMapping/>
  </p:clrMapOvr>
</p:sld>
</file>

<file path=ppt/slides/slide3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6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292608"/>
            <a:ext cx="8229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b="1" kern="0" spc="200" dirty="0">
                <a:solidFill>
                  <a:srgbClr val="D9A44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SECTION 5 · ASCOTT EMBASSY SATHORN (AES)</a:t>
            </a:r>
            <a:endParaRPr lang="en-US" sz="1100" dirty="0"/>
          </a:p>
        </p:txBody>
      </p:sp>
      <p:sp>
        <p:nvSpPr>
          <p:cNvPr id="3" name="Text 1"/>
          <p:cNvSpPr/>
          <p:nvPr/>
        </p:nvSpPr>
        <p:spPr>
          <a:xfrm>
            <a:off x="548640" y="502920"/>
            <a:ext cx="11091672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800" b="1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Ascott Embassy Sathorn (AES) — P&amp;L, H1 2026</a:t>
            </a:r>
            <a:endParaRPr lang="en-US" sz="2800" dirty="0"/>
          </a:p>
        </p:txBody>
      </p:sp>
      <p:sp>
        <p:nvSpPr>
          <p:cNvPr id="4" name="Text 2"/>
          <p:cNvSpPr/>
          <p:nvPr/>
        </p:nvSpPr>
        <p:spPr>
          <a:xfrm>
            <a:off x="548640" y="1060704"/>
            <a:ext cx="11091672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5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YTD Jan–Jun vs MF budget · monthly P&amp;L: actual 2026 vs Budget (MF) and actual 2025 · ฿M</a:t>
            </a:r>
            <a:endParaRPr lang="en-US" sz="1250" dirty="0"/>
          </a:p>
        </p:txBody>
      </p:sp>
      <p:sp>
        <p:nvSpPr>
          <p:cNvPr id="5" name="Text 3"/>
          <p:cNvSpPr/>
          <p:nvPr/>
        </p:nvSpPr>
        <p:spPr>
          <a:xfrm>
            <a:off x="8165592" y="310896"/>
            <a:ext cx="34747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90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Mitsui Thailand Portfolio · H1 2026</a:t>
            </a:r>
            <a:endParaRPr lang="en-US" sz="900" dirty="0"/>
          </a:p>
        </p:txBody>
      </p:sp>
      <p:graphicFrame>
        <p:nvGraphicFramePr>
          <p:cNvPr id="6" name="Chart 0"/>
          <p:cNvGraphicFramePr/>
          <p:nvPr/>
        </p:nvGraphicFramePr>
        <p:xfrm>
          <a:off x="548640" y="1783080"/>
          <a:ext cx="5394960" cy="2011680"/>
        </p:xfrm>
        <a:graphic>
          <a:graphicData uri="http://schemas.openxmlformats.org/drawingml/2006/chart">
            <c:chart xmlns:c="http://schemas.openxmlformats.org/drawingml/2006/chart" xmlns:r="http://schemas.openxmlformats.org/officeDocument/2006/relationships" r:id="rId3"/>
          </a:graphicData>
        </a:graphic>
      </p:graphicFrame>
      <p:graphicFrame>
        <p:nvGraphicFramePr>
          <p:cNvPr id="27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548640" y="3886200"/>
          <a:ext cx="5394960" cy="2414016"/>
        </p:xfrm>
        <a:graphic>
          <a:graphicData uri="http://schemas.openxmlformats.org/drawingml/2006/table">
            <a:tbl>
              <a:tblPr/>
              <a:tblGrid>
                <a:gridCol w="932688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603504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603504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603504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  <a:gridCol w="603504">
                  <a:extLst>
                    <a:ext uri="{9D8B030D-6E8A-4147-A177-3AD203B41FA5}">
                      <a16:colId xmlns:a16="http://schemas.microsoft.com/office/drawing/2014/main" val="20004"/>
                    </a:ext>
                  </a:extLst>
                </a:gridCol>
                <a:gridCol w="603504">
                  <a:extLst>
                    <a:ext uri="{9D8B030D-6E8A-4147-A177-3AD203B41FA5}">
                      <a16:colId xmlns:a16="http://schemas.microsoft.com/office/drawing/2014/main" val="20005"/>
                    </a:ext>
                  </a:extLst>
                </a:gridCol>
                <a:gridCol w="603504">
                  <a:extLst>
                    <a:ext uri="{9D8B030D-6E8A-4147-A177-3AD203B41FA5}">
                      <a16:colId xmlns:a16="http://schemas.microsoft.com/office/drawing/2014/main" val="20006"/>
                    </a:ext>
                  </a:extLst>
                </a:gridCol>
                <a:gridCol w="841248">
                  <a:extLst>
                    <a:ext uri="{9D8B030D-6E8A-4147-A177-3AD203B41FA5}">
                      <a16:colId xmlns:a16="http://schemas.microsoft.com/office/drawing/2014/main" val="20007"/>
                    </a:ext>
                  </a:extLst>
                </a:gridCol>
              </a:tblGrid>
              <a:tr h="150876"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75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฿M</a:t>
                      </a:r>
                      <a:endParaRPr lang="en-US" sz="7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27432" marR="27432" marT="9144" marB="9144" anchor="ctr">
                    <a:lnL w="6350" cap="flat" cmpd="sng" algn="ctr">
                      <a:solidFill>
                        <a:srgbClr val="E2E7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7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7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7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E2761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75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Jan</a:t>
                      </a:r>
                      <a:endParaRPr lang="en-US" sz="7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27432" marR="27432" marT="9144" marB="9144" anchor="ctr">
                    <a:lnL w="6350" cap="flat" cmpd="sng" algn="ctr">
                      <a:solidFill>
                        <a:srgbClr val="E2E7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7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7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7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E2761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75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Feb</a:t>
                      </a:r>
                      <a:endParaRPr lang="en-US" sz="7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27432" marR="27432" marT="9144" marB="9144" anchor="ctr">
                    <a:lnL w="6350" cap="flat" cmpd="sng" algn="ctr">
                      <a:solidFill>
                        <a:srgbClr val="E2E7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7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7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7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E2761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75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Mar</a:t>
                      </a:r>
                      <a:endParaRPr lang="en-US" sz="7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27432" marR="27432" marT="9144" marB="9144" anchor="ctr">
                    <a:lnL w="6350" cap="flat" cmpd="sng" algn="ctr">
                      <a:solidFill>
                        <a:srgbClr val="E2E7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7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7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7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E2761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75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Apr</a:t>
                      </a:r>
                      <a:endParaRPr lang="en-US" sz="7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27432" marR="27432" marT="9144" marB="9144" anchor="ctr">
                    <a:lnL w="6350" cap="flat" cmpd="sng" algn="ctr">
                      <a:solidFill>
                        <a:srgbClr val="E2E7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7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7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7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E2761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75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May</a:t>
                      </a:r>
                      <a:endParaRPr lang="en-US" sz="7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27432" marR="27432" marT="9144" marB="9144" anchor="ctr">
                    <a:lnL w="6350" cap="flat" cmpd="sng" algn="ctr">
                      <a:solidFill>
                        <a:srgbClr val="E2E7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7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7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7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E2761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75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Jun</a:t>
                      </a:r>
                      <a:endParaRPr lang="en-US" sz="7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27432" marR="27432" marT="9144" marB="9144" anchor="ctr">
                    <a:lnL w="6350" cap="flat" cmpd="sng" algn="ctr">
                      <a:solidFill>
                        <a:srgbClr val="E2E7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7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7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7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E2761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75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H1</a:t>
                      </a:r>
                      <a:endParaRPr lang="en-US" sz="7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27432" marR="27432" marT="9144" marB="9144" anchor="ctr">
                    <a:lnL w="6350" cap="flat" cmpd="sng" algn="ctr">
                      <a:solidFill>
                        <a:srgbClr val="E2E7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7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7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7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E276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150876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750" b="1" dirty="0">
                          <a:solidFill>
                            <a:srgbClr val="26292E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Revenue ’26</a:t>
                      </a:r>
                      <a:endParaRPr lang="en-US" sz="7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27432" marR="27432" marT="9144" marB="9144" anchor="ctr">
                    <a:lnL w="6350" cap="flat" cmpd="sng" algn="ctr">
                      <a:solidFill>
                        <a:srgbClr val="E2E7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7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7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7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r">
                        <a:buNone/>
                      </a:pPr>
                      <a:r>
                        <a:rPr lang="en-US" sz="750" dirty="0">
                          <a:solidFill>
                            <a:srgbClr val="26292E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35.4</a:t>
                      </a:r>
                      <a:endParaRPr lang="en-US" sz="7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27432" marR="27432" marT="9144" marB="9144" anchor="ctr">
                    <a:lnL w="6350" cap="flat" cmpd="sng" algn="ctr">
                      <a:solidFill>
                        <a:srgbClr val="E2E7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7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7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7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r">
                        <a:buNone/>
                      </a:pPr>
                      <a:r>
                        <a:rPr lang="en-US" sz="750" dirty="0">
                          <a:solidFill>
                            <a:srgbClr val="26292E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38.9</a:t>
                      </a:r>
                      <a:endParaRPr lang="en-US" sz="7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27432" marR="27432" marT="9144" marB="9144" anchor="ctr">
                    <a:lnL w="6350" cap="flat" cmpd="sng" algn="ctr">
                      <a:solidFill>
                        <a:srgbClr val="E2E7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7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7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7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r">
                        <a:buNone/>
                      </a:pPr>
                      <a:r>
                        <a:rPr lang="en-US" sz="750" dirty="0">
                          <a:solidFill>
                            <a:srgbClr val="26292E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31.0</a:t>
                      </a:r>
                      <a:endParaRPr lang="en-US" sz="7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27432" marR="27432" marT="9144" marB="9144" anchor="ctr">
                    <a:lnL w="6350" cap="flat" cmpd="sng" algn="ctr">
                      <a:solidFill>
                        <a:srgbClr val="E2E7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7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7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7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r">
                        <a:buNone/>
                      </a:pPr>
                      <a:r>
                        <a:rPr lang="en-US" sz="750" dirty="0">
                          <a:solidFill>
                            <a:srgbClr val="26292E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26.2</a:t>
                      </a:r>
                      <a:endParaRPr lang="en-US" sz="7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27432" marR="27432" marT="9144" marB="9144" anchor="ctr">
                    <a:lnL w="6350" cap="flat" cmpd="sng" algn="ctr">
                      <a:solidFill>
                        <a:srgbClr val="E2E7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7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7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7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r">
                        <a:buNone/>
                      </a:pPr>
                      <a:r>
                        <a:rPr lang="en-US" sz="750" dirty="0">
                          <a:solidFill>
                            <a:srgbClr val="26292E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23.4</a:t>
                      </a:r>
                      <a:endParaRPr lang="en-US" sz="7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27432" marR="27432" marT="9144" marB="9144" anchor="ctr">
                    <a:lnL w="6350" cap="flat" cmpd="sng" algn="ctr">
                      <a:solidFill>
                        <a:srgbClr val="E2E7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7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7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7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r">
                        <a:buNone/>
                      </a:pPr>
                      <a:r>
                        <a:rPr lang="en-US" sz="750" dirty="0">
                          <a:solidFill>
                            <a:srgbClr val="26292E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24.3</a:t>
                      </a:r>
                      <a:endParaRPr lang="en-US" sz="7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27432" marR="27432" marT="9144" marB="9144" anchor="ctr">
                    <a:lnL w="6350" cap="flat" cmpd="sng" algn="ctr">
                      <a:solidFill>
                        <a:srgbClr val="E2E7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7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7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7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r">
                        <a:buNone/>
                      </a:pPr>
                      <a:r>
                        <a:rPr lang="en-US" sz="750" b="1" dirty="0">
                          <a:solidFill>
                            <a:srgbClr val="1E2761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179.2</a:t>
                      </a:r>
                      <a:endParaRPr lang="en-US" sz="7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27432" marR="27432" marT="9144" marB="9144" anchor="ctr">
                    <a:lnL w="6350" cap="flat" cmpd="sng" algn="ctr">
                      <a:solidFill>
                        <a:srgbClr val="E2E7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7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7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7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150876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750" dirty="0">
                          <a:solidFill>
                            <a:srgbClr val="6B728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Revenue ’25</a:t>
                      </a:r>
                      <a:endParaRPr lang="en-US" sz="7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27432" marR="27432" marT="9144" marB="9144" anchor="ctr">
                    <a:lnL w="6350" cap="flat" cmpd="sng" algn="ctr">
                      <a:solidFill>
                        <a:srgbClr val="E2E7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7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7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7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r">
                        <a:buNone/>
                      </a:pPr>
                      <a:r>
                        <a:rPr lang="en-US" sz="750" dirty="0">
                          <a:solidFill>
                            <a:srgbClr val="6B728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42.7</a:t>
                      </a:r>
                      <a:endParaRPr lang="en-US" sz="7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27432" marR="27432" marT="9144" marB="9144" anchor="ctr">
                    <a:lnL w="6350" cap="flat" cmpd="sng" algn="ctr">
                      <a:solidFill>
                        <a:srgbClr val="E2E7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7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7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7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r">
                        <a:buNone/>
                      </a:pPr>
                      <a:r>
                        <a:rPr lang="en-US" sz="750" dirty="0">
                          <a:solidFill>
                            <a:srgbClr val="6B728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34.3</a:t>
                      </a:r>
                      <a:endParaRPr lang="en-US" sz="7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27432" marR="27432" marT="9144" marB="9144" anchor="ctr">
                    <a:lnL w="6350" cap="flat" cmpd="sng" algn="ctr">
                      <a:solidFill>
                        <a:srgbClr val="E2E7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7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7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7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r">
                        <a:buNone/>
                      </a:pPr>
                      <a:r>
                        <a:rPr lang="en-US" sz="750" dirty="0">
                          <a:solidFill>
                            <a:srgbClr val="6B728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25.8</a:t>
                      </a:r>
                      <a:endParaRPr lang="en-US" sz="7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27432" marR="27432" marT="9144" marB="9144" anchor="ctr">
                    <a:lnL w="6350" cap="flat" cmpd="sng" algn="ctr">
                      <a:solidFill>
                        <a:srgbClr val="E2E7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7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7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7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r">
                        <a:buNone/>
                      </a:pPr>
                      <a:r>
                        <a:rPr lang="en-US" sz="750" dirty="0">
                          <a:solidFill>
                            <a:srgbClr val="6B728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29.0</a:t>
                      </a:r>
                      <a:endParaRPr lang="en-US" sz="7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27432" marR="27432" marT="9144" marB="9144" anchor="ctr">
                    <a:lnL w="6350" cap="flat" cmpd="sng" algn="ctr">
                      <a:solidFill>
                        <a:srgbClr val="E2E7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7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7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7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r">
                        <a:buNone/>
                      </a:pPr>
                      <a:r>
                        <a:rPr lang="en-US" sz="750" dirty="0">
                          <a:solidFill>
                            <a:srgbClr val="6B728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27.7</a:t>
                      </a:r>
                      <a:endParaRPr lang="en-US" sz="7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27432" marR="27432" marT="9144" marB="9144" anchor="ctr">
                    <a:lnL w="6350" cap="flat" cmpd="sng" algn="ctr">
                      <a:solidFill>
                        <a:srgbClr val="E2E7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7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7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7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r">
                        <a:buNone/>
                      </a:pPr>
                      <a:r>
                        <a:rPr lang="en-US" sz="750" dirty="0">
                          <a:solidFill>
                            <a:srgbClr val="6B728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25.8</a:t>
                      </a:r>
                      <a:endParaRPr lang="en-US" sz="7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27432" marR="27432" marT="9144" marB="9144" anchor="ctr">
                    <a:lnL w="6350" cap="flat" cmpd="sng" algn="ctr">
                      <a:solidFill>
                        <a:srgbClr val="E2E7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7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7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7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r">
                        <a:buNone/>
                      </a:pPr>
                      <a:r>
                        <a:rPr lang="en-US" sz="750" b="1" dirty="0">
                          <a:solidFill>
                            <a:srgbClr val="6B728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185.4</a:t>
                      </a:r>
                      <a:endParaRPr lang="en-US" sz="7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27432" marR="27432" marT="9144" marB="9144" anchor="ctr">
                    <a:lnL w="6350" cap="flat" cmpd="sng" algn="ctr">
                      <a:solidFill>
                        <a:srgbClr val="E2E7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7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7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7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150876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750" b="1" dirty="0">
                          <a:solidFill>
                            <a:srgbClr val="26292E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OPEX ’26</a:t>
                      </a:r>
                      <a:endParaRPr lang="en-US" sz="7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27432" marR="27432" marT="9144" marB="9144" anchor="ctr">
                    <a:lnL w="6350" cap="flat" cmpd="sng" algn="ctr">
                      <a:solidFill>
                        <a:srgbClr val="E2E7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7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7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7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6FB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r">
                        <a:buNone/>
                      </a:pPr>
                      <a:r>
                        <a:rPr lang="en-US" sz="750" dirty="0">
                          <a:solidFill>
                            <a:srgbClr val="26292E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-15.3</a:t>
                      </a:r>
                      <a:endParaRPr lang="en-US" sz="7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27432" marR="27432" marT="9144" marB="9144" anchor="ctr">
                    <a:lnL w="6350" cap="flat" cmpd="sng" algn="ctr">
                      <a:solidFill>
                        <a:srgbClr val="E2E7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7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7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7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6FB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r">
                        <a:buNone/>
                      </a:pPr>
                      <a:r>
                        <a:rPr lang="en-US" sz="750" dirty="0">
                          <a:solidFill>
                            <a:srgbClr val="26292E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-15.4</a:t>
                      </a:r>
                      <a:endParaRPr lang="en-US" sz="7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27432" marR="27432" marT="9144" marB="9144" anchor="ctr">
                    <a:lnL w="6350" cap="flat" cmpd="sng" algn="ctr">
                      <a:solidFill>
                        <a:srgbClr val="E2E7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7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7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7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6FB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r">
                        <a:buNone/>
                      </a:pPr>
                      <a:r>
                        <a:rPr lang="en-US" sz="750" dirty="0">
                          <a:solidFill>
                            <a:srgbClr val="26292E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-13.9</a:t>
                      </a:r>
                      <a:endParaRPr lang="en-US" sz="7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27432" marR="27432" marT="9144" marB="9144" anchor="ctr">
                    <a:lnL w="6350" cap="flat" cmpd="sng" algn="ctr">
                      <a:solidFill>
                        <a:srgbClr val="E2E7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7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7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7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6FB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r">
                        <a:buNone/>
                      </a:pPr>
                      <a:r>
                        <a:rPr lang="en-US" sz="750" dirty="0">
                          <a:solidFill>
                            <a:srgbClr val="26292E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-13.1</a:t>
                      </a:r>
                      <a:endParaRPr lang="en-US" sz="7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27432" marR="27432" marT="9144" marB="9144" anchor="ctr">
                    <a:lnL w="6350" cap="flat" cmpd="sng" algn="ctr">
                      <a:solidFill>
                        <a:srgbClr val="E2E7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7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7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7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6FB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r">
                        <a:buNone/>
                      </a:pPr>
                      <a:r>
                        <a:rPr lang="en-US" sz="750" dirty="0">
                          <a:solidFill>
                            <a:srgbClr val="26292E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-12.6</a:t>
                      </a:r>
                      <a:endParaRPr lang="en-US" sz="7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27432" marR="27432" marT="9144" marB="9144" anchor="ctr">
                    <a:lnL w="6350" cap="flat" cmpd="sng" algn="ctr">
                      <a:solidFill>
                        <a:srgbClr val="E2E7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7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7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7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6FB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r">
                        <a:buNone/>
                      </a:pPr>
                      <a:r>
                        <a:rPr lang="en-US" sz="750" dirty="0">
                          <a:solidFill>
                            <a:srgbClr val="26292E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-13.3</a:t>
                      </a:r>
                      <a:endParaRPr lang="en-US" sz="7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27432" marR="27432" marT="9144" marB="9144" anchor="ctr">
                    <a:lnL w="6350" cap="flat" cmpd="sng" algn="ctr">
                      <a:solidFill>
                        <a:srgbClr val="E2E7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7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7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7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6FB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r">
                        <a:buNone/>
                      </a:pPr>
                      <a:r>
                        <a:rPr lang="en-US" sz="750" b="1" dirty="0">
                          <a:solidFill>
                            <a:srgbClr val="1E2761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-83.6</a:t>
                      </a:r>
                      <a:endParaRPr lang="en-US" sz="7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27432" marR="27432" marT="9144" marB="9144" anchor="ctr">
                    <a:lnL w="6350" cap="flat" cmpd="sng" algn="ctr">
                      <a:solidFill>
                        <a:srgbClr val="E2E7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7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7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7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6FB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  <a:tr h="150876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750" dirty="0">
                          <a:solidFill>
                            <a:srgbClr val="6B728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OPEX Budget</a:t>
                      </a:r>
                      <a:endParaRPr lang="en-US" sz="7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27432" marR="27432" marT="9144" marB="9144" anchor="ctr">
                    <a:lnL w="6350" cap="flat" cmpd="sng" algn="ctr">
                      <a:solidFill>
                        <a:srgbClr val="E2E7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7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7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7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6FB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r">
                        <a:buNone/>
                      </a:pPr>
                      <a:r>
                        <a:rPr lang="en-US" sz="750" dirty="0">
                          <a:solidFill>
                            <a:srgbClr val="6B728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-17.3</a:t>
                      </a:r>
                      <a:endParaRPr lang="en-US" sz="7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27432" marR="27432" marT="9144" marB="9144" anchor="ctr">
                    <a:lnL w="6350" cap="flat" cmpd="sng" algn="ctr">
                      <a:solidFill>
                        <a:srgbClr val="E2E7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7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7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7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6FB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r">
                        <a:buNone/>
                      </a:pPr>
                      <a:r>
                        <a:rPr lang="en-US" sz="750" dirty="0">
                          <a:solidFill>
                            <a:srgbClr val="6B728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-16.8</a:t>
                      </a:r>
                      <a:endParaRPr lang="en-US" sz="7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27432" marR="27432" marT="9144" marB="9144" anchor="ctr">
                    <a:lnL w="6350" cap="flat" cmpd="sng" algn="ctr">
                      <a:solidFill>
                        <a:srgbClr val="E2E7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7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7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7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6FB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r">
                        <a:buNone/>
                      </a:pPr>
                      <a:r>
                        <a:rPr lang="en-US" sz="750" dirty="0">
                          <a:solidFill>
                            <a:srgbClr val="6B728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-16.0</a:t>
                      </a:r>
                      <a:endParaRPr lang="en-US" sz="7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27432" marR="27432" marT="9144" marB="9144" anchor="ctr">
                    <a:lnL w="6350" cap="flat" cmpd="sng" algn="ctr">
                      <a:solidFill>
                        <a:srgbClr val="E2E7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7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7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7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6FB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r">
                        <a:buNone/>
                      </a:pPr>
                      <a:r>
                        <a:rPr lang="en-US" sz="750" dirty="0">
                          <a:solidFill>
                            <a:srgbClr val="6B728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-16.4</a:t>
                      </a:r>
                      <a:endParaRPr lang="en-US" sz="7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27432" marR="27432" marT="9144" marB="9144" anchor="ctr">
                    <a:lnL w="6350" cap="flat" cmpd="sng" algn="ctr">
                      <a:solidFill>
                        <a:srgbClr val="E2E7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7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7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7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6FB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r">
                        <a:buNone/>
                      </a:pPr>
                      <a:r>
                        <a:rPr lang="en-US" sz="750" dirty="0">
                          <a:solidFill>
                            <a:srgbClr val="6B728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-16.5</a:t>
                      </a:r>
                      <a:endParaRPr lang="en-US" sz="7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27432" marR="27432" marT="9144" marB="9144" anchor="ctr">
                    <a:lnL w="6350" cap="flat" cmpd="sng" algn="ctr">
                      <a:solidFill>
                        <a:srgbClr val="E2E7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7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7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7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6FB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r">
                        <a:buNone/>
                      </a:pPr>
                      <a:r>
                        <a:rPr lang="en-US" sz="750" dirty="0">
                          <a:solidFill>
                            <a:srgbClr val="6B728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-16.3</a:t>
                      </a:r>
                      <a:endParaRPr lang="en-US" sz="7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27432" marR="27432" marT="9144" marB="9144" anchor="ctr">
                    <a:lnL w="6350" cap="flat" cmpd="sng" algn="ctr">
                      <a:solidFill>
                        <a:srgbClr val="E2E7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7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7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7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6FB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r">
                        <a:buNone/>
                      </a:pPr>
                      <a:r>
                        <a:rPr lang="en-US" sz="750" b="1" dirty="0">
                          <a:solidFill>
                            <a:srgbClr val="6B728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-99.2</a:t>
                      </a:r>
                      <a:endParaRPr lang="en-US" sz="7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27432" marR="27432" marT="9144" marB="9144" anchor="ctr">
                    <a:lnL w="6350" cap="flat" cmpd="sng" algn="ctr">
                      <a:solidFill>
                        <a:srgbClr val="E2E7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7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7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7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6FB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5"/>
                  </a:ext>
                </a:extLst>
              </a:tr>
              <a:tr h="150876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750" dirty="0">
                          <a:solidFill>
                            <a:srgbClr val="6B728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OPEX ’25</a:t>
                      </a:r>
                      <a:endParaRPr lang="en-US" sz="7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27432" marR="27432" marT="9144" marB="9144" anchor="ctr">
                    <a:lnL w="6350" cap="flat" cmpd="sng" algn="ctr">
                      <a:solidFill>
                        <a:srgbClr val="E2E7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7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7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7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6FB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r">
                        <a:buNone/>
                      </a:pPr>
                      <a:r>
                        <a:rPr lang="en-US" sz="750" dirty="0">
                          <a:solidFill>
                            <a:srgbClr val="6B728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-17.3</a:t>
                      </a:r>
                      <a:endParaRPr lang="en-US" sz="7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27432" marR="27432" marT="9144" marB="9144" anchor="ctr">
                    <a:lnL w="6350" cap="flat" cmpd="sng" algn="ctr">
                      <a:solidFill>
                        <a:srgbClr val="E2E7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7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7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7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6FB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r">
                        <a:buNone/>
                      </a:pPr>
                      <a:r>
                        <a:rPr lang="en-US" sz="750" dirty="0">
                          <a:solidFill>
                            <a:srgbClr val="6B728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-15.3</a:t>
                      </a:r>
                      <a:endParaRPr lang="en-US" sz="7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27432" marR="27432" marT="9144" marB="9144" anchor="ctr">
                    <a:lnL w="6350" cap="flat" cmpd="sng" algn="ctr">
                      <a:solidFill>
                        <a:srgbClr val="E2E7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7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7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7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6FB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r">
                        <a:buNone/>
                      </a:pPr>
                      <a:r>
                        <a:rPr lang="en-US" sz="750" dirty="0">
                          <a:solidFill>
                            <a:srgbClr val="6B728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-13.2</a:t>
                      </a:r>
                      <a:endParaRPr lang="en-US" sz="7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27432" marR="27432" marT="9144" marB="9144" anchor="ctr">
                    <a:lnL w="6350" cap="flat" cmpd="sng" algn="ctr">
                      <a:solidFill>
                        <a:srgbClr val="E2E7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7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7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7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6FB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r">
                        <a:buNone/>
                      </a:pPr>
                      <a:r>
                        <a:rPr lang="en-US" sz="750" dirty="0">
                          <a:solidFill>
                            <a:srgbClr val="6B728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-15.0</a:t>
                      </a:r>
                      <a:endParaRPr lang="en-US" sz="7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27432" marR="27432" marT="9144" marB="9144" anchor="ctr">
                    <a:lnL w="6350" cap="flat" cmpd="sng" algn="ctr">
                      <a:solidFill>
                        <a:srgbClr val="E2E7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7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7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7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6FB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r">
                        <a:buNone/>
                      </a:pPr>
                      <a:r>
                        <a:rPr lang="en-US" sz="750" dirty="0">
                          <a:solidFill>
                            <a:srgbClr val="6B728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-14.6</a:t>
                      </a:r>
                      <a:endParaRPr lang="en-US" sz="7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27432" marR="27432" marT="9144" marB="9144" anchor="ctr">
                    <a:lnL w="6350" cap="flat" cmpd="sng" algn="ctr">
                      <a:solidFill>
                        <a:srgbClr val="E2E7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7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7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7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6FB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r">
                        <a:buNone/>
                      </a:pPr>
                      <a:r>
                        <a:rPr lang="en-US" sz="750" dirty="0">
                          <a:solidFill>
                            <a:srgbClr val="6B728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-13.5</a:t>
                      </a:r>
                      <a:endParaRPr lang="en-US" sz="7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27432" marR="27432" marT="9144" marB="9144" anchor="ctr">
                    <a:lnL w="6350" cap="flat" cmpd="sng" algn="ctr">
                      <a:solidFill>
                        <a:srgbClr val="E2E7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7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7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7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6FB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r">
                        <a:buNone/>
                      </a:pPr>
                      <a:r>
                        <a:rPr lang="en-US" sz="750" b="1" dirty="0">
                          <a:solidFill>
                            <a:srgbClr val="6B728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-89.0</a:t>
                      </a:r>
                      <a:endParaRPr lang="en-US" sz="7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27432" marR="27432" marT="9144" marB="9144" anchor="ctr">
                    <a:lnL w="6350" cap="flat" cmpd="sng" algn="ctr">
                      <a:solidFill>
                        <a:srgbClr val="E2E7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7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7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7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6FB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5"/>
                  </a:ext>
                </a:extLst>
              </a:tr>
              <a:tr h="150876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750" b="1" dirty="0">
                          <a:solidFill>
                            <a:srgbClr val="26292E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GOP ’26</a:t>
                      </a:r>
                      <a:endParaRPr lang="en-US" sz="7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27432" marR="27432" marT="9144" marB="9144" anchor="ctr">
                    <a:lnL w="6350" cap="flat" cmpd="sng" algn="ctr">
                      <a:solidFill>
                        <a:srgbClr val="E2E7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7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7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7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r">
                        <a:buNone/>
                      </a:pPr>
                      <a:r>
                        <a:rPr lang="en-US" sz="750" dirty="0">
                          <a:solidFill>
                            <a:srgbClr val="26292E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20.1</a:t>
                      </a:r>
                      <a:endParaRPr lang="en-US" sz="7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27432" marR="27432" marT="9144" marB="9144" anchor="ctr">
                    <a:lnL w="6350" cap="flat" cmpd="sng" algn="ctr">
                      <a:solidFill>
                        <a:srgbClr val="E2E7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7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7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7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r">
                        <a:buNone/>
                      </a:pPr>
                      <a:r>
                        <a:rPr lang="en-US" sz="750" dirty="0">
                          <a:solidFill>
                            <a:srgbClr val="26292E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23.5</a:t>
                      </a:r>
                      <a:endParaRPr lang="en-US" sz="7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27432" marR="27432" marT="9144" marB="9144" anchor="ctr">
                    <a:lnL w="6350" cap="flat" cmpd="sng" algn="ctr">
                      <a:solidFill>
                        <a:srgbClr val="E2E7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7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7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7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r">
                        <a:buNone/>
                      </a:pPr>
                      <a:r>
                        <a:rPr lang="en-US" sz="750" dirty="0">
                          <a:solidFill>
                            <a:srgbClr val="26292E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17.1</a:t>
                      </a:r>
                      <a:endParaRPr lang="en-US" sz="7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27432" marR="27432" marT="9144" marB="9144" anchor="ctr">
                    <a:lnL w="6350" cap="flat" cmpd="sng" algn="ctr">
                      <a:solidFill>
                        <a:srgbClr val="E2E7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7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7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7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r">
                        <a:buNone/>
                      </a:pPr>
                      <a:r>
                        <a:rPr lang="en-US" sz="750" dirty="0">
                          <a:solidFill>
                            <a:srgbClr val="26292E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13.1</a:t>
                      </a:r>
                      <a:endParaRPr lang="en-US" sz="7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27432" marR="27432" marT="9144" marB="9144" anchor="ctr">
                    <a:lnL w="6350" cap="flat" cmpd="sng" algn="ctr">
                      <a:solidFill>
                        <a:srgbClr val="E2E7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7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7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7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r">
                        <a:buNone/>
                      </a:pPr>
                      <a:r>
                        <a:rPr lang="en-US" sz="750" dirty="0">
                          <a:solidFill>
                            <a:srgbClr val="26292E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10.8</a:t>
                      </a:r>
                      <a:endParaRPr lang="en-US" sz="7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27432" marR="27432" marT="9144" marB="9144" anchor="ctr">
                    <a:lnL w="6350" cap="flat" cmpd="sng" algn="ctr">
                      <a:solidFill>
                        <a:srgbClr val="E2E7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7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7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7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r">
                        <a:buNone/>
                      </a:pPr>
                      <a:r>
                        <a:rPr lang="en-US" sz="750" dirty="0">
                          <a:solidFill>
                            <a:srgbClr val="26292E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11.0</a:t>
                      </a:r>
                      <a:endParaRPr lang="en-US" sz="7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27432" marR="27432" marT="9144" marB="9144" anchor="ctr">
                    <a:lnL w="6350" cap="flat" cmpd="sng" algn="ctr">
                      <a:solidFill>
                        <a:srgbClr val="E2E7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7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7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7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r">
                        <a:buNone/>
                      </a:pPr>
                      <a:r>
                        <a:rPr lang="en-US" sz="750" b="1" dirty="0">
                          <a:solidFill>
                            <a:srgbClr val="1E2761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95.6</a:t>
                      </a:r>
                      <a:endParaRPr lang="en-US" sz="7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27432" marR="27432" marT="9144" marB="9144" anchor="ctr">
                    <a:lnL w="6350" cap="flat" cmpd="sng" algn="ctr">
                      <a:solidFill>
                        <a:srgbClr val="E2E7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7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7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7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7"/>
                  </a:ext>
                </a:extLst>
              </a:tr>
              <a:tr h="150876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750" dirty="0">
                          <a:solidFill>
                            <a:srgbClr val="6B728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GOP Budget</a:t>
                      </a:r>
                      <a:endParaRPr lang="en-US" sz="7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27432" marR="27432" marT="9144" marB="9144" anchor="ctr">
                    <a:lnL w="6350" cap="flat" cmpd="sng" algn="ctr">
                      <a:solidFill>
                        <a:srgbClr val="E2E7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7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7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7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r">
                        <a:buNone/>
                      </a:pPr>
                      <a:r>
                        <a:rPr lang="en-US" sz="750" dirty="0">
                          <a:solidFill>
                            <a:srgbClr val="6B728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22.0</a:t>
                      </a:r>
                      <a:endParaRPr lang="en-US" sz="7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27432" marR="27432" marT="9144" marB="9144" anchor="ctr">
                    <a:lnL w="6350" cap="flat" cmpd="sng" algn="ctr">
                      <a:solidFill>
                        <a:srgbClr val="E2E7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7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7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7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r">
                        <a:buNone/>
                      </a:pPr>
                      <a:r>
                        <a:rPr lang="en-US" sz="750" dirty="0">
                          <a:solidFill>
                            <a:srgbClr val="6B728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21.0</a:t>
                      </a:r>
                      <a:endParaRPr lang="en-US" sz="7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27432" marR="27432" marT="9144" marB="9144" anchor="ctr">
                    <a:lnL w="6350" cap="flat" cmpd="sng" algn="ctr">
                      <a:solidFill>
                        <a:srgbClr val="E2E7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7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7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7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r">
                        <a:buNone/>
                      </a:pPr>
                      <a:r>
                        <a:rPr lang="en-US" sz="750" dirty="0">
                          <a:solidFill>
                            <a:srgbClr val="6B728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15.0</a:t>
                      </a:r>
                      <a:endParaRPr lang="en-US" sz="7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27432" marR="27432" marT="9144" marB="9144" anchor="ctr">
                    <a:lnL w="6350" cap="flat" cmpd="sng" algn="ctr">
                      <a:solidFill>
                        <a:srgbClr val="E2E7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7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7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7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r">
                        <a:buNone/>
                      </a:pPr>
                      <a:r>
                        <a:rPr lang="en-US" sz="750" dirty="0">
                          <a:solidFill>
                            <a:srgbClr val="6B728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17.3</a:t>
                      </a:r>
                      <a:endParaRPr lang="en-US" sz="7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27432" marR="27432" marT="9144" marB="9144" anchor="ctr">
                    <a:lnL w="6350" cap="flat" cmpd="sng" algn="ctr">
                      <a:solidFill>
                        <a:srgbClr val="E2E7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7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7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7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r">
                        <a:buNone/>
                      </a:pPr>
                      <a:r>
                        <a:rPr lang="en-US" sz="750" dirty="0">
                          <a:solidFill>
                            <a:srgbClr val="6B728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14.7</a:t>
                      </a:r>
                      <a:endParaRPr lang="en-US" sz="7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27432" marR="27432" marT="9144" marB="9144" anchor="ctr">
                    <a:lnL w="6350" cap="flat" cmpd="sng" algn="ctr">
                      <a:solidFill>
                        <a:srgbClr val="E2E7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7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7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7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r">
                        <a:buNone/>
                      </a:pPr>
                      <a:r>
                        <a:rPr lang="en-US" sz="750" dirty="0">
                          <a:solidFill>
                            <a:srgbClr val="6B728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14.8</a:t>
                      </a:r>
                      <a:endParaRPr lang="en-US" sz="7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27432" marR="27432" marT="9144" marB="9144" anchor="ctr">
                    <a:lnL w="6350" cap="flat" cmpd="sng" algn="ctr">
                      <a:solidFill>
                        <a:srgbClr val="E2E7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7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7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7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r">
                        <a:buNone/>
                      </a:pPr>
                      <a:r>
                        <a:rPr lang="en-US" sz="750" b="1" dirty="0">
                          <a:solidFill>
                            <a:srgbClr val="6B728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104.8</a:t>
                      </a:r>
                      <a:endParaRPr lang="en-US" sz="7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27432" marR="27432" marT="9144" marB="9144" anchor="ctr">
                    <a:lnL w="6350" cap="flat" cmpd="sng" algn="ctr">
                      <a:solidFill>
                        <a:srgbClr val="E2E7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7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7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7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8"/>
                  </a:ext>
                </a:extLst>
              </a:tr>
              <a:tr h="150876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750" dirty="0">
                          <a:solidFill>
                            <a:srgbClr val="6B728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GOP ’25</a:t>
                      </a:r>
                      <a:endParaRPr lang="en-US" sz="7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27432" marR="27432" marT="9144" marB="9144" anchor="ctr">
                    <a:lnL w="6350" cap="flat" cmpd="sng" algn="ctr">
                      <a:solidFill>
                        <a:srgbClr val="E2E7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7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7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7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r">
                        <a:buNone/>
                      </a:pPr>
                      <a:r>
                        <a:rPr lang="en-US" sz="750" dirty="0">
                          <a:solidFill>
                            <a:srgbClr val="6B728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25.4</a:t>
                      </a:r>
                      <a:endParaRPr lang="en-US" sz="7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27432" marR="27432" marT="9144" marB="9144" anchor="ctr">
                    <a:lnL w="6350" cap="flat" cmpd="sng" algn="ctr">
                      <a:solidFill>
                        <a:srgbClr val="E2E7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7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7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7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r">
                        <a:buNone/>
                      </a:pPr>
                      <a:r>
                        <a:rPr lang="en-US" sz="750" dirty="0">
                          <a:solidFill>
                            <a:srgbClr val="6B728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18.9</a:t>
                      </a:r>
                      <a:endParaRPr lang="en-US" sz="7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27432" marR="27432" marT="9144" marB="9144" anchor="ctr">
                    <a:lnL w="6350" cap="flat" cmpd="sng" algn="ctr">
                      <a:solidFill>
                        <a:srgbClr val="E2E7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7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7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7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r">
                        <a:buNone/>
                      </a:pPr>
                      <a:r>
                        <a:rPr lang="en-US" sz="750" dirty="0">
                          <a:solidFill>
                            <a:srgbClr val="6B728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12.7</a:t>
                      </a:r>
                      <a:endParaRPr lang="en-US" sz="7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27432" marR="27432" marT="9144" marB="9144" anchor="ctr">
                    <a:lnL w="6350" cap="flat" cmpd="sng" algn="ctr">
                      <a:solidFill>
                        <a:srgbClr val="E2E7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7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7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7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r">
                        <a:buNone/>
                      </a:pPr>
                      <a:r>
                        <a:rPr lang="en-US" sz="750" dirty="0">
                          <a:solidFill>
                            <a:srgbClr val="6B728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14.0</a:t>
                      </a:r>
                      <a:endParaRPr lang="en-US" sz="7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27432" marR="27432" marT="9144" marB="9144" anchor="ctr">
                    <a:lnL w="6350" cap="flat" cmpd="sng" algn="ctr">
                      <a:solidFill>
                        <a:srgbClr val="E2E7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7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7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7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r">
                        <a:buNone/>
                      </a:pPr>
                      <a:r>
                        <a:rPr lang="en-US" sz="750" dirty="0">
                          <a:solidFill>
                            <a:srgbClr val="6B728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13.1</a:t>
                      </a:r>
                      <a:endParaRPr lang="en-US" sz="7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27432" marR="27432" marT="9144" marB="9144" anchor="ctr">
                    <a:lnL w="6350" cap="flat" cmpd="sng" algn="ctr">
                      <a:solidFill>
                        <a:srgbClr val="E2E7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7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7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7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r">
                        <a:buNone/>
                      </a:pPr>
                      <a:r>
                        <a:rPr lang="en-US" sz="750" dirty="0">
                          <a:solidFill>
                            <a:srgbClr val="6B728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12.3</a:t>
                      </a:r>
                      <a:endParaRPr lang="en-US" sz="7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27432" marR="27432" marT="9144" marB="9144" anchor="ctr">
                    <a:lnL w="6350" cap="flat" cmpd="sng" algn="ctr">
                      <a:solidFill>
                        <a:srgbClr val="E2E7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7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7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7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r">
                        <a:buNone/>
                      </a:pPr>
                      <a:r>
                        <a:rPr lang="en-US" sz="750" b="1" dirty="0">
                          <a:solidFill>
                            <a:srgbClr val="6B728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96.4</a:t>
                      </a:r>
                      <a:endParaRPr lang="en-US" sz="7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27432" marR="27432" marT="9144" marB="9144" anchor="ctr">
                    <a:lnL w="6350" cap="flat" cmpd="sng" algn="ctr">
                      <a:solidFill>
                        <a:srgbClr val="E2E7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7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7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7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8"/>
                  </a:ext>
                </a:extLst>
              </a:tr>
              <a:tr h="150876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750" b="1" dirty="0">
                          <a:solidFill>
                            <a:srgbClr val="26292E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EBIT ’26</a:t>
                      </a:r>
                      <a:endParaRPr lang="en-US" sz="7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27432" marR="27432" marT="9144" marB="9144" anchor="ctr">
                    <a:lnL w="6350" cap="flat" cmpd="sng" algn="ctr">
                      <a:solidFill>
                        <a:srgbClr val="E2E7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7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7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7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6FB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r">
                        <a:buNone/>
                      </a:pPr>
                      <a:r>
                        <a:rPr lang="en-US" sz="750" dirty="0">
                          <a:solidFill>
                            <a:srgbClr val="26292E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9.3</a:t>
                      </a:r>
                      <a:endParaRPr lang="en-US" sz="7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27432" marR="27432" marT="9144" marB="9144" anchor="ctr">
                    <a:lnL w="6350" cap="flat" cmpd="sng" algn="ctr">
                      <a:solidFill>
                        <a:srgbClr val="E2E7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7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7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7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6FB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r">
                        <a:buNone/>
                      </a:pPr>
                      <a:r>
                        <a:rPr lang="en-US" sz="750" dirty="0">
                          <a:solidFill>
                            <a:srgbClr val="26292E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11.1</a:t>
                      </a:r>
                      <a:endParaRPr lang="en-US" sz="7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27432" marR="27432" marT="9144" marB="9144" anchor="ctr">
                    <a:lnL w="6350" cap="flat" cmpd="sng" algn="ctr">
                      <a:solidFill>
                        <a:srgbClr val="E2E7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7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7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7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6FB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r">
                        <a:buNone/>
                      </a:pPr>
                      <a:r>
                        <a:rPr lang="en-US" sz="750" dirty="0">
                          <a:solidFill>
                            <a:srgbClr val="26292E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6.6</a:t>
                      </a:r>
                      <a:endParaRPr lang="en-US" sz="7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27432" marR="27432" marT="9144" marB="9144" anchor="ctr">
                    <a:lnL w="6350" cap="flat" cmpd="sng" algn="ctr">
                      <a:solidFill>
                        <a:srgbClr val="E2E7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7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7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7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6FB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r">
                        <a:buNone/>
                      </a:pPr>
                      <a:r>
                        <a:rPr lang="en-US" sz="750" dirty="0">
                          <a:solidFill>
                            <a:srgbClr val="26292E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2.9</a:t>
                      </a:r>
                      <a:endParaRPr lang="en-US" sz="7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27432" marR="27432" marT="9144" marB="9144" anchor="ctr">
                    <a:lnL w="6350" cap="flat" cmpd="sng" algn="ctr">
                      <a:solidFill>
                        <a:srgbClr val="E2E7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7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7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7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6FB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r">
                        <a:buNone/>
                      </a:pPr>
                      <a:r>
                        <a:rPr lang="en-US" sz="750" dirty="0">
                          <a:solidFill>
                            <a:srgbClr val="26292E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0.2</a:t>
                      </a:r>
                      <a:endParaRPr lang="en-US" sz="7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27432" marR="27432" marT="9144" marB="9144" anchor="ctr">
                    <a:lnL w="6350" cap="flat" cmpd="sng" algn="ctr">
                      <a:solidFill>
                        <a:srgbClr val="E2E7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7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7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7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6FB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r">
                        <a:buNone/>
                      </a:pPr>
                      <a:r>
                        <a:rPr lang="en-US" sz="750" dirty="0">
                          <a:solidFill>
                            <a:srgbClr val="26292E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3.4</a:t>
                      </a:r>
                      <a:endParaRPr lang="en-US" sz="7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27432" marR="27432" marT="9144" marB="9144" anchor="ctr">
                    <a:lnL w="6350" cap="flat" cmpd="sng" algn="ctr">
                      <a:solidFill>
                        <a:srgbClr val="E2E7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7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7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7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6FB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r">
                        <a:buNone/>
                      </a:pPr>
                      <a:r>
                        <a:rPr lang="en-US" sz="750" b="1" dirty="0">
                          <a:solidFill>
                            <a:srgbClr val="1E2761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33.5</a:t>
                      </a:r>
                      <a:endParaRPr lang="en-US" sz="7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27432" marR="27432" marT="9144" marB="9144" anchor="ctr">
                    <a:lnL w="6350" cap="flat" cmpd="sng" algn="ctr">
                      <a:solidFill>
                        <a:srgbClr val="E2E7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7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7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7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6FB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10"/>
                  </a:ext>
                </a:extLst>
              </a:tr>
              <a:tr h="150876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750" dirty="0">
                          <a:solidFill>
                            <a:srgbClr val="6B728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EBIT Budget</a:t>
                      </a:r>
                      <a:endParaRPr lang="en-US" sz="7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27432" marR="27432" marT="9144" marB="9144" anchor="ctr">
                    <a:lnL w="6350" cap="flat" cmpd="sng" algn="ctr">
                      <a:solidFill>
                        <a:srgbClr val="E2E7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7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7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7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6FB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r">
                        <a:buNone/>
                      </a:pPr>
                      <a:r>
                        <a:rPr lang="en-US" sz="750" dirty="0">
                          <a:solidFill>
                            <a:srgbClr val="6B728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10.0</a:t>
                      </a:r>
                      <a:endParaRPr lang="en-US" sz="7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27432" marR="27432" marT="9144" marB="9144" anchor="ctr">
                    <a:lnL w="6350" cap="flat" cmpd="sng" algn="ctr">
                      <a:solidFill>
                        <a:srgbClr val="E2E7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7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7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7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6FB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r">
                        <a:buNone/>
                      </a:pPr>
                      <a:r>
                        <a:rPr lang="en-US" sz="750" dirty="0">
                          <a:solidFill>
                            <a:srgbClr val="6B728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9.1</a:t>
                      </a:r>
                      <a:endParaRPr lang="en-US" sz="7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27432" marR="27432" marT="9144" marB="9144" anchor="ctr">
                    <a:lnL w="6350" cap="flat" cmpd="sng" algn="ctr">
                      <a:solidFill>
                        <a:srgbClr val="E2E7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7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7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7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6FB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r">
                        <a:buNone/>
                      </a:pPr>
                      <a:r>
                        <a:rPr lang="en-US" sz="750" dirty="0">
                          <a:solidFill>
                            <a:srgbClr val="6B728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3.5</a:t>
                      </a:r>
                      <a:endParaRPr lang="en-US" sz="7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27432" marR="27432" marT="9144" marB="9144" anchor="ctr">
                    <a:lnL w="6350" cap="flat" cmpd="sng" algn="ctr">
                      <a:solidFill>
                        <a:srgbClr val="E2E7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7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7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7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6FB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r">
                        <a:buNone/>
                      </a:pPr>
                      <a:r>
                        <a:rPr lang="en-US" sz="750" dirty="0">
                          <a:solidFill>
                            <a:srgbClr val="6B728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5.7</a:t>
                      </a:r>
                      <a:endParaRPr lang="en-US" sz="7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27432" marR="27432" marT="9144" marB="9144" anchor="ctr">
                    <a:lnL w="6350" cap="flat" cmpd="sng" algn="ctr">
                      <a:solidFill>
                        <a:srgbClr val="E2E7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7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7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7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6FB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r">
                        <a:buNone/>
                      </a:pPr>
                      <a:r>
                        <a:rPr lang="en-US" sz="750" dirty="0">
                          <a:solidFill>
                            <a:srgbClr val="6B728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3.3</a:t>
                      </a:r>
                      <a:endParaRPr lang="en-US" sz="7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27432" marR="27432" marT="9144" marB="9144" anchor="ctr">
                    <a:lnL w="6350" cap="flat" cmpd="sng" algn="ctr">
                      <a:solidFill>
                        <a:srgbClr val="E2E7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7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7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7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6FB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r">
                        <a:buNone/>
                      </a:pPr>
                      <a:r>
                        <a:rPr lang="en-US" sz="750" dirty="0">
                          <a:solidFill>
                            <a:srgbClr val="6B728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3.4</a:t>
                      </a:r>
                      <a:endParaRPr lang="en-US" sz="7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27432" marR="27432" marT="9144" marB="9144" anchor="ctr">
                    <a:lnL w="6350" cap="flat" cmpd="sng" algn="ctr">
                      <a:solidFill>
                        <a:srgbClr val="E2E7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7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7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7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6FB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r">
                        <a:buNone/>
                      </a:pPr>
                      <a:r>
                        <a:rPr lang="en-US" sz="750" b="1" dirty="0">
                          <a:solidFill>
                            <a:srgbClr val="6B728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35.1</a:t>
                      </a:r>
                      <a:endParaRPr lang="en-US" sz="7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27432" marR="27432" marT="9144" marB="9144" anchor="ctr">
                    <a:lnL w="6350" cap="flat" cmpd="sng" algn="ctr">
                      <a:solidFill>
                        <a:srgbClr val="E2E7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7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7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7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6FB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11"/>
                  </a:ext>
                </a:extLst>
              </a:tr>
              <a:tr h="150876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750" dirty="0">
                          <a:solidFill>
                            <a:srgbClr val="6B728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EBIT ’25</a:t>
                      </a:r>
                      <a:endParaRPr lang="en-US" sz="7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27432" marR="27432" marT="9144" marB="9144" anchor="ctr">
                    <a:lnL w="6350" cap="flat" cmpd="sng" algn="ctr">
                      <a:solidFill>
                        <a:srgbClr val="E2E7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7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7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7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6FB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r">
                        <a:buNone/>
                      </a:pPr>
                      <a:r>
                        <a:rPr lang="en-US" sz="750" dirty="0">
                          <a:solidFill>
                            <a:srgbClr val="6B728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13.5</a:t>
                      </a:r>
                      <a:endParaRPr lang="en-US" sz="7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27432" marR="27432" marT="9144" marB="9144" anchor="ctr">
                    <a:lnL w="6350" cap="flat" cmpd="sng" algn="ctr">
                      <a:solidFill>
                        <a:srgbClr val="E2E7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7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7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7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6FB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r">
                        <a:buNone/>
                      </a:pPr>
                      <a:r>
                        <a:rPr lang="en-US" sz="750" dirty="0">
                          <a:solidFill>
                            <a:srgbClr val="6B728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8.5</a:t>
                      </a:r>
                      <a:endParaRPr lang="en-US" sz="7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27432" marR="27432" marT="9144" marB="9144" anchor="ctr">
                    <a:lnL w="6350" cap="flat" cmpd="sng" algn="ctr">
                      <a:solidFill>
                        <a:srgbClr val="E2E7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7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7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7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6FB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r">
                        <a:buNone/>
                      </a:pPr>
                      <a:r>
                        <a:rPr lang="en-US" sz="750" dirty="0">
                          <a:solidFill>
                            <a:srgbClr val="6B728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2.0</a:t>
                      </a:r>
                      <a:endParaRPr lang="en-US" sz="7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27432" marR="27432" marT="9144" marB="9144" anchor="ctr">
                    <a:lnL w="6350" cap="flat" cmpd="sng" algn="ctr">
                      <a:solidFill>
                        <a:srgbClr val="E2E7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7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7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7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6FB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r">
                        <a:buNone/>
                      </a:pPr>
                      <a:r>
                        <a:rPr lang="en-US" sz="750" dirty="0">
                          <a:solidFill>
                            <a:srgbClr val="6B728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3.4</a:t>
                      </a:r>
                      <a:endParaRPr lang="en-US" sz="7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27432" marR="27432" marT="9144" marB="9144" anchor="ctr">
                    <a:lnL w="6350" cap="flat" cmpd="sng" algn="ctr">
                      <a:solidFill>
                        <a:srgbClr val="E2E7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7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7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7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6FB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r">
                        <a:buNone/>
                      </a:pPr>
                      <a:r>
                        <a:rPr lang="en-US" sz="750" dirty="0">
                          <a:solidFill>
                            <a:srgbClr val="6B728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2.4</a:t>
                      </a:r>
                      <a:endParaRPr lang="en-US" sz="7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27432" marR="27432" marT="9144" marB="9144" anchor="ctr">
                    <a:lnL w="6350" cap="flat" cmpd="sng" algn="ctr">
                      <a:solidFill>
                        <a:srgbClr val="E2E7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7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7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7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6FB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r">
                        <a:buNone/>
                      </a:pPr>
                      <a:r>
                        <a:rPr lang="en-US" sz="750" dirty="0">
                          <a:solidFill>
                            <a:srgbClr val="6B728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1.7</a:t>
                      </a:r>
                      <a:endParaRPr lang="en-US" sz="7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27432" marR="27432" marT="9144" marB="9144" anchor="ctr">
                    <a:lnL w="6350" cap="flat" cmpd="sng" algn="ctr">
                      <a:solidFill>
                        <a:srgbClr val="E2E7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7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7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7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6FB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r">
                        <a:buNone/>
                      </a:pPr>
                      <a:r>
                        <a:rPr lang="en-US" sz="750" b="1" dirty="0">
                          <a:solidFill>
                            <a:srgbClr val="6B728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31.6</a:t>
                      </a:r>
                      <a:endParaRPr lang="en-US" sz="7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27432" marR="27432" marT="9144" marB="9144" anchor="ctr">
                    <a:lnL w="6350" cap="flat" cmpd="sng" algn="ctr">
                      <a:solidFill>
                        <a:srgbClr val="E2E7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7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7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7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6FB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11"/>
                  </a:ext>
                </a:extLst>
              </a:tr>
              <a:tr h="150876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750" b="1" dirty="0">
                          <a:solidFill>
                            <a:srgbClr val="26292E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NPAT ’26</a:t>
                      </a:r>
                      <a:endParaRPr lang="en-US" sz="7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27432" marR="27432" marT="9144" marB="9144" anchor="ctr">
                    <a:lnL w="6350" cap="flat" cmpd="sng" algn="ctr">
                      <a:solidFill>
                        <a:srgbClr val="E2E7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7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7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7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r">
                        <a:buNone/>
                      </a:pPr>
                      <a:r>
                        <a:rPr lang="en-US" sz="750" dirty="0">
                          <a:solidFill>
                            <a:srgbClr val="26292E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1.1</a:t>
                      </a:r>
                      <a:endParaRPr lang="en-US" sz="7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27432" marR="27432" marT="9144" marB="9144" anchor="ctr">
                    <a:lnL w="6350" cap="flat" cmpd="sng" algn="ctr">
                      <a:solidFill>
                        <a:srgbClr val="E2E7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7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7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7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r">
                        <a:buNone/>
                      </a:pPr>
                      <a:r>
                        <a:rPr lang="en-US" sz="750" dirty="0">
                          <a:solidFill>
                            <a:srgbClr val="26292E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5.4</a:t>
                      </a:r>
                      <a:endParaRPr lang="en-US" sz="7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27432" marR="27432" marT="9144" marB="9144" anchor="ctr">
                    <a:lnL w="6350" cap="flat" cmpd="sng" algn="ctr">
                      <a:solidFill>
                        <a:srgbClr val="E2E7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7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7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7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r">
                        <a:buNone/>
                      </a:pPr>
                      <a:r>
                        <a:rPr lang="en-US" sz="750" dirty="0">
                          <a:solidFill>
                            <a:srgbClr val="26292E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0.3</a:t>
                      </a:r>
                      <a:endParaRPr lang="en-US" sz="7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27432" marR="27432" marT="9144" marB="9144" anchor="ctr">
                    <a:lnL w="6350" cap="flat" cmpd="sng" algn="ctr">
                      <a:solidFill>
                        <a:srgbClr val="E2E7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7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7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7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r">
                        <a:buNone/>
                      </a:pPr>
                      <a:r>
                        <a:rPr lang="en-US" sz="750" dirty="0">
                          <a:solidFill>
                            <a:srgbClr val="26292E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-2.4</a:t>
                      </a:r>
                      <a:endParaRPr lang="en-US" sz="7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27432" marR="27432" marT="9144" marB="9144" anchor="ctr">
                    <a:lnL w="6350" cap="flat" cmpd="sng" algn="ctr">
                      <a:solidFill>
                        <a:srgbClr val="E2E7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7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7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7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r">
                        <a:buNone/>
                      </a:pPr>
                      <a:r>
                        <a:rPr lang="en-US" sz="750" dirty="0">
                          <a:solidFill>
                            <a:srgbClr val="26292E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-4.8</a:t>
                      </a:r>
                      <a:endParaRPr lang="en-US" sz="7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27432" marR="27432" marT="9144" marB="9144" anchor="ctr">
                    <a:lnL w="6350" cap="flat" cmpd="sng" algn="ctr">
                      <a:solidFill>
                        <a:srgbClr val="E2E7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7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7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7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r">
                        <a:buNone/>
                      </a:pPr>
                      <a:r>
                        <a:rPr lang="en-US" sz="750" dirty="0">
                          <a:solidFill>
                            <a:srgbClr val="26292E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-2.0</a:t>
                      </a:r>
                      <a:endParaRPr lang="en-US" sz="7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27432" marR="27432" marT="9144" marB="9144" anchor="ctr">
                    <a:lnL w="6350" cap="flat" cmpd="sng" algn="ctr">
                      <a:solidFill>
                        <a:srgbClr val="E2E7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7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7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7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r">
                        <a:buNone/>
                      </a:pPr>
                      <a:r>
                        <a:rPr lang="en-US" sz="750" b="1" dirty="0">
                          <a:solidFill>
                            <a:srgbClr val="1E2761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-2.3</a:t>
                      </a:r>
                      <a:endParaRPr lang="en-US" sz="7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27432" marR="27432" marT="9144" marB="9144" anchor="ctr">
                    <a:lnL w="6350" cap="flat" cmpd="sng" algn="ctr">
                      <a:solidFill>
                        <a:srgbClr val="E2E7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7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7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7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13"/>
                  </a:ext>
                </a:extLst>
              </a:tr>
              <a:tr h="150876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750" dirty="0">
                          <a:solidFill>
                            <a:srgbClr val="6B728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NPAT ’25</a:t>
                      </a:r>
                      <a:endParaRPr lang="en-US" sz="7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27432" marR="27432" marT="9144" marB="9144" anchor="ctr">
                    <a:lnL w="6350" cap="flat" cmpd="sng" algn="ctr">
                      <a:solidFill>
                        <a:srgbClr val="E2E7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7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7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7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r">
                        <a:buNone/>
                      </a:pPr>
                      <a:r>
                        <a:rPr lang="en-US" sz="750" dirty="0">
                          <a:solidFill>
                            <a:srgbClr val="6B728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3.3</a:t>
                      </a:r>
                      <a:endParaRPr lang="en-US" sz="7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27432" marR="27432" marT="9144" marB="9144" anchor="ctr">
                    <a:lnL w="6350" cap="flat" cmpd="sng" algn="ctr">
                      <a:solidFill>
                        <a:srgbClr val="E2E7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7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7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7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r">
                        <a:buNone/>
                      </a:pPr>
                      <a:r>
                        <a:rPr lang="en-US" sz="750" dirty="0">
                          <a:solidFill>
                            <a:srgbClr val="6B728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0.5</a:t>
                      </a:r>
                      <a:endParaRPr lang="en-US" sz="7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27432" marR="27432" marT="9144" marB="9144" anchor="ctr">
                    <a:lnL w="6350" cap="flat" cmpd="sng" algn="ctr">
                      <a:solidFill>
                        <a:srgbClr val="E2E7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7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7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7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r">
                        <a:buNone/>
                      </a:pPr>
                      <a:r>
                        <a:rPr lang="en-US" sz="750" dirty="0">
                          <a:solidFill>
                            <a:srgbClr val="6B728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-5.3</a:t>
                      </a:r>
                      <a:endParaRPr lang="en-US" sz="7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27432" marR="27432" marT="9144" marB="9144" anchor="ctr">
                    <a:lnL w="6350" cap="flat" cmpd="sng" algn="ctr">
                      <a:solidFill>
                        <a:srgbClr val="E2E7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7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7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7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r">
                        <a:buNone/>
                      </a:pPr>
                      <a:r>
                        <a:rPr lang="en-US" sz="750" dirty="0">
                          <a:solidFill>
                            <a:srgbClr val="6B728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-3.9</a:t>
                      </a:r>
                      <a:endParaRPr lang="en-US" sz="7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27432" marR="27432" marT="9144" marB="9144" anchor="ctr">
                    <a:lnL w="6350" cap="flat" cmpd="sng" algn="ctr">
                      <a:solidFill>
                        <a:srgbClr val="E2E7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7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7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7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r">
                        <a:buNone/>
                      </a:pPr>
                      <a:r>
                        <a:rPr lang="en-US" sz="750" dirty="0">
                          <a:solidFill>
                            <a:srgbClr val="6B728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-4.9</a:t>
                      </a:r>
                      <a:endParaRPr lang="en-US" sz="7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27432" marR="27432" marT="9144" marB="9144" anchor="ctr">
                    <a:lnL w="6350" cap="flat" cmpd="sng" algn="ctr">
                      <a:solidFill>
                        <a:srgbClr val="E2E7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7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7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7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r">
                        <a:buNone/>
                      </a:pPr>
                      <a:r>
                        <a:rPr lang="en-US" sz="750" dirty="0">
                          <a:solidFill>
                            <a:srgbClr val="6B728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-5.0</a:t>
                      </a:r>
                      <a:endParaRPr lang="en-US" sz="7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27432" marR="27432" marT="9144" marB="9144" anchor="ctr">
                    <a:lnL w="6350" cap="flat" cmpd="sng" algn="ctr">
                      <a:solidFill>
                        <a:srgbClr val="E2E7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7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7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7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r">
                        <a:buNone/>
                      </a:pPr>
                      <a:r>
                        <a:rPr lang="en-US" sz="750" b="1" dirty="0">
                          <a:solidFill>
                            <a:srgbClr val="6B728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-15.4</a:t>
                      </a:r>
                      <a:endParaRPr lang="en-US" sz="7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27432" marR="27432" marT="9144" marB="9144" anchor="ctr">
                    <a:lnL w="6350" cap="flat" cmpd="sng" algn="ctr">
                      <a:solidFill>
                        <a:srgbClr val="E2E7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7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7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7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14"/>
                  </a:ext>
                </a:extLst>
              </a:tr>
            </a:tbl>
          </a:graphicData>
        </a:graphic>
      </p:graphicFrame>
      <p:graphicFrame>
        <p:nvGraphicFramePr>
          <p:cNvPr id="53" name="Table 1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3125127427"/>
              </p:ext>
            </p:extLst>
          </p:nvPr>
        </p:nvGraphicFramePr>
        <p:xfrm>
          <a:off x="5897880" y="1783080"/>
          <a:ext cx="5742432" cy="2334768"/>
        </p:xfrm>
        <a:graphic>
          <a:graphicData uri="http://schemas.openxmlformats.org/drawingml/2006/table">
            <a:tbl>
              <a:tblPr/>
              <a:tblGrid>
                <a:gridCol w="1024128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694944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694944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731520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  <a:gridCol w="658368">
                  <a:extLst>
                    <a:ext uri="{9D8B030D-6E8A-4147-A177-3AD203B41FA5}">
                      <a16:colId xmlns:a16="http://schemas.microsoft.com/office/drawing/2014/main" val="20004"/>
                    </a:ext>
                  </a:extLst>
                </a:gridCol>
                <a:gridCol w="676656">
                  <a:extLst>
                    <a:ext uri="{9D8B030D-6E8A-4147-A177-3AD203B41FA5}">
                      <a16:colId xmlns:a16="http://schemas.microsoft.com/office/drawing/2014/main" val="20005"/>
                    </a:ext>
                  </a:extLst>
                </a:gridCol>
                <a:gridCol w="621792">
                  <a:extLst>
                    <a:ext uri="{9D8B030D-6E8A-4147-A177-3AD203B41FA5}">
                      <a16:colId xmlns:a16="http://schemas.microsoft.com/office/drawing/2014/main" val="20006"/>
                    </a:ext>
                  </a:extLst>
                </a:gridCol>
                <a:gridCol w="640080">
                  <a:extLst>
                    <a:ext uri="{9D8B030D-6E8A-4147-A177-3AD203B41FA5}">
                      <a16:colId xmlns:a16="http://schemas.microsoft.com/office/drawing/2014/main" val="20007"/>
                    </a:ext>
                  </a:extLst>
                </a:gridCol>
              </a:tblGrid>
              <a:tr h="283464"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85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H1 2026 (YTD)</a:t>
                      </a:r>
                      <a:endParaRPr lang="en-US" sz="8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E2E7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7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7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7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E2761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85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Actual</a:t>
                      </a:r>
                      <a:endParaRPr lang="en-US" sz="8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E2E7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7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7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7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E2761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85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MF budget</a:t>
                      </a:r>
                      <a:endParaRPr lang="en-US" sz="8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E2E7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7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7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7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E2761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85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vs MF budget</a:t>
                      </a:r>
                      <a:endParaRPr lang="en-US" sz="8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E2E7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7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7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7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E2761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85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H1 2025</a:t>
                      </a:r>
                      <a:endParaRPr lang="en-US" sz="8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E2E7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7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7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7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E2761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85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vs H1 25</a:t>
                      </a:r>
                      <a:endParaRPr lang="en-US" sz="8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E2E7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7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7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7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E2761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85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H1 2024</a:t>
                      </a:r>
                      <a:endParaRPr lang="en-US" sz="8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E2E7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7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7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7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E2761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85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vs H1 24</a:t>
                      </a:r>
                      <a:endParaRPr lang="en-US" sz="8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E2E7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7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7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7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E276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283464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850" b="1" dirty="0">
                          <a:solidFill>
                            <a:srgbClr val="26292E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Revenue</a:t>
                      </a:r>
                      <a:endParaRPr lang="en-US" sz="8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E2E7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7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7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7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r">
                        <a:buNone/>
                      </a:pPr>
                      <a:r>
                        <a:rPr lang="en-US" sz="850" b="1" dirty="0">
                          <a:solidFill>
                            <a:srgbClr val="1E2761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฿179.2M</a:t>
                      </a:r>
                      <a:endParaRPr lang="en-US" sz="8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E2E7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7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7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7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r">
                        <a:buNone/>
                      </a:pPr>
                      <a:r>
                        <a:rPr lang="en-US" sz="850" dirty="0">
                          <a:solidFill>
                            <a:srgbClr val="26292E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—</a:t>
                      </a:r>
                      <a:endParaRPr lang="en-US" sz="8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E2E7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7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7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7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r">
                        <a:buNone/>
                      </a:pPr>
                      <a:r>
                        <a:rPr lang="en-US" sz="850" b="1" dirty="0">
                          <a:solidFill>
                            <a:srgbClr val="6B728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—</a:t>
                      </a:r>
                      <a:endParaRPr lang="en-US" sz="8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E2E7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7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7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7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r">
                        <a:buNone/>
                      </a:pPr>
                      <a:r>
                        <a:rPr lang="en-US" sz="850" dirty="0">
                          <a:solidFill>
                            <a:srgbClr val="26292E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฿185.4M</a:t>
                      </a:r>
                      <a:endParaRPr lang="en-US" sz="8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E2E7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7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7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7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r">
                        <a:buNone/>
                      </a:pPr>
                      <a:r>
                        <a:rPr lang="en-US" sz="850" b="1" dirty="0">
                          <a:solidFill>
                            <a:srgbClr val="C0392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-3.3%</a:t>
                      </a:r>
                      <a:endParaRPr lang="en-US" sz="8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E2E7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7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7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7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r">
                        <a:buNone/>
                      </a:pPr>
                      <a:r>
                        <a:rPr lang="en-US" sz="850" dirty="0">
                          <a:solidFill>
                            <a:srgbClr val="6B728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฿220.7M</a:t>
                      </a:r>
                      <a:endParaRPr lang="en-US" sz="8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E2E7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7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7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7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r">
                        <a:buNone/>
                      </a:pPr>
                      <a:r>
                        <a:rPr lang="en-US" sz="850" b="1" dirty="0">
                          <a:solidFill>
                            <a:srgbClr val="C0392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-18.8%</a:t>
                      </a:r>
                      <a:endParaRPr lang="en-US" sz="8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E2E7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7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7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7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283464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850" b="1" dirty="0">
                          <a:solidFill>
                            <a:srgbClr val="26292E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OPEX</a:t>
                      </a:r>
                      <a:endParaRPr lang="en-US" sz="8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E2E7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7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7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7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6FB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r">
                        <a:buNone/>
                      </a:pPr>
                      <a:r>
                        <a:rPr lang="en-US" sz="850" b="1" dirty="0">
                          <a:solidFill>
                            <a:srgbClr val="1E2761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−฿83.6M</a:t>
                      </a:r>
                      <a:endParaRPr lang="en-US" sz="8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E2E7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7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7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7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6FB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r">
                        <a:buNone/>
                      </a:pPr>
                      <a:r>
                        <a:rPr lang="en-US" sz="850" dirty="0">
                          <a:solidFill>
                            <a:srgbClr val="26292E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−฿99.2M</a:t>
                      </a:r>
                      <a:endParaRPr lang="en-US" sz="8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E2E7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7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7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7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6FB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r">
                        <a:buNone/>
                      </a:pPr>
                      <a:r>
                        <a:rPr lang="en-US" sz="850" b="1" dirty="0">
                          <a:solidFill>
                            <a:srgbClr val="2E7D32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-15.7%</a:t>
                      </a:r>
                      <a:endParaRPr lang="en-US" sz="8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E2E7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7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7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7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6FB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r">
                        <a:buNone/>
                      </a:pPr>
                      <a:r>
                        <a:rPr lang="en-US" sz="850" dirty="0">
                          <a:solidFill>
                            <a:srgbClr val="26292E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−฿89.0M</a:t>
                      </a:r>
                      <a:endParaRPr lang="en-US" sz="8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E2E7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7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7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7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6FB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r">
                        <a:buNone/>
                      </a:pPr>
                      <a:r>
                        <a:rPr lang="en-US" sz="850" b="1" dirty="0">
                          <a:solidFill>
                            <a:srgbClr val="2E7D32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-6.0%</a:t>
                      </a:r>
                      <a:endParaRPr lang="en-US" sz="8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E2E7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7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7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7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6FB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r">
                        <a:buNone/>
                      </a:pPr>
                      <a:r>
                        <a:rPr lang="en-US" sz="850" dirty="0">
                          <a:solidFill>
                            <a:srgbClr val="6B728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−฿97.2M</a:t>
                      </a:r>
                      <a:endParaRPr lang="en-US" sz="8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E2E7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7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7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7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6FB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r">
                        <a:buNone/>
                      </a:pPr>
                      <a:r>
                        <a:rPr lang="en-US" sz="850" b="1" dirty="0">
                          <a:solidFill>
                            <a:srgbClr val="2E7D32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-14.0%</a:t>
                      </a:r>
                      <a:endParaRPr lang="en-US" sz="8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E2E7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7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7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7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6FB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283464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850" b="1" dirty="0">
                          <a:solidFill>
                            <a:srgbClr val="26292E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GOP (EBITDA)</a:t>
                      </a:r>
                      <a:endParaRPr lang="en-US" sz="8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E2E7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7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7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7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r">
                        <a:buNone/>
                      </a:pPr>
                      <a:r>
                        <a:rPr lang="en-US" sz="850" b="1" dirty="0">
                          <a:solidFill>
                            <a:srgbClr val="1E2761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฿95.6M</a:t>
                      </a:r>
                      <a:endParaRPr lang="en-US" sz="8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E2E7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7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7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7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r">
                        <a:buNone/>
                      </a:pPr>
                      <a:r>
                        <a:rPr lang="en-US" sz="850" dirty="0">
                          <a:solidFill>
                            <a:srgbClr val="26292E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฿104.8M</a:t>
                      </a:r>
                      <a:endParaRPr lang="en-US" sz="8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E2E7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7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7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7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r">
                        <a:buNone/>
                      </a:pPr>
                      <a:r>
                        <a:rPr lang="en-US" sz="850" b="1" dirty="0">
                          <a:solidFill>
                            <a:srgbClr val="C0392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-8.8%</a:t>
                      </a:r>
                      <a:endParaRPr lang="en-US" sz="8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E2E7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7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7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7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r">
                        <a:buNone/>
                      </a:pPr>
                      <a:r>
                        <a:rPr lang="en-US" sz="850" dirty="0">
                          <a:solidFill>
                            <a:srgbClr val="26292E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฿96.4M</a:t>
                      </a:r>
                      <a:endParaRPr lang="en-US" sz="8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E2E7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7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7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7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r">
                        <a:buNone/>
                      </a:pPr>
                      <a:r>
                        <a:rPr lang="en-US" sz="850" b="1" dirty="0">
                          <a:solidFill>
                            <a:srgbClr val="C0392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-0.8%</a:t>
                      </a:r>
                      <a:endParaRPr lang="en-US" sz="8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E2E7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7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7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7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r">
                        <a:buNone/>
                      </a:pPr>
                      <a:r>
                        <a:rPr lang="en-US" sz="850" dirty="0">
                          <a:solidFill>
                            <a:srgbClr val="6B728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฿123.5M</a:t>
                      </a:r>
                      <a:endParaRPr lang="en-US" sz="8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E2E7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7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7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7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r">
                        <a:buNone/>
                      </a:pPr>
                      <a:r>
                        <a:rPr lang="en-US" sz="850" b="1" dirty="0">
                          <a:solidFill>
                            <a:srgbClr val="C0392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-22.6%</a:t>
                      </a:r>
                      <a:endParaRPr lang="en-US" sz="8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E2E7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7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7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7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283464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850" b="1" dirty="0">
                          <a:solidFill>
                            <a:srgbClr val="26292E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GOP margin</a:t>
                      </a:r>
                      <a:endParaRPr lang="en-US" sz="8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E2E7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7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7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7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6FB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r">
                        <a:buNone/>
                      </a:pPr>
                      <a:r>
                        <a:rPr lang="en-US" sz="850" b="1" dirty="0">
                          <a:solidFill>
                            <a:srgbClr val="1E2761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53.3%</a:t>
                      </a:r>
                      <a:endParaRPr lang="en-US" sz="8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E2E7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7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7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7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6FB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r">
                        <a:buNone/>
                      </a:pPr>
                      <a:r>
                        <a:rPr lang="en-US" sz="850" dirty="0">
                          <a:solidFill>
                            <a:srgbClr val="26292E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—</a:t>
                      </a:r>
                      <a:endParaRPr lang="en-US" sz="8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E2E7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7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7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7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6FB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r">
                        <a:buNone/>
                      </a:pPr>
                      <a:r>
                        <a:rPr lang="en-US" sz="850" b="1" dirty="0">
                          <a:solidFill>
                            <a:srgbClr val="6B728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—</a:t>
                      </a:r>
                      <a:endParaRPr lang="en-US" sz="8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E2E7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7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7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7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6FB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r">
                        <a:buNone/>
                      </a:pPr>
                      <a:r>
                        <a:rPr lang="en-US" sz="850" dirty="0">
                          <a:solidFill>
                            <a:srgbClr val="26292E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52.0%</a:t>
                      </a:r>
                      <a:endParaRPr lang="en-US" sz="8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E2E7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7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7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7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6FB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r">
                        <a:buNone/>
                      </a:pPr>
                      <a:r>
                        <a:rPr lang="en-US" sz="850" b="1" dirty="0">
                          <a:solidFill>
                            <a:srgbClr val="2E7D32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+1.3 pts</a:t>
                      </a:r>
                      <a:endParaRPr lang="en-US" sz="8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E2E7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7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7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7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6FB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r">
                        <a:buNone/>
                      </a:pPr>
                      <a:r>
                        <a:rPr lang="en-US" sz="850" dirty="0">
                          <a:solidFill>
                            <a:srgbClr val="6B728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55.9%</a:t>
                      </a:r>
                      <a:endParaRPr lang="en-US" sz="8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E2E7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7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7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7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6FB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r">
                        <a:buNone/>
                      </a:pPr>
                      <a:r>
                        <a:rPr lang="en-US" sz="850" b="1" dirty="0">
                          <a:solidFill>
                            <a:srgbClr val="C0392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-2.6 pts</a:t>
                      </a:r>
                      <a:endParaRPr lang="en-US" sz="8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E2E7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7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7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7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6FB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  <a:tr h="283464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850" b="1" dirty="0">
                          <a:solidFill>
                            <a:srgbClr val="26292E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JV expense</a:t>
                      </a:r>
                      <a:endParaRPr lang="en-US" sz="8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E2E7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7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7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7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r">
                        <a:buNone/>
                      </a:pPr>
                      <a:r>
                        <a:rPr lang="en-US" sz="850" b="1" dirty="0">
                          <a:solidFill>
                            <a:srgbClr val="1E2761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−฿62.1M</a:t>
                      </a:r>
                      <a:endParaRPr lang="en-US" sz="8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E2E7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7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7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7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r">
                        <a:buNone/>
                      </a:pPr>
                      <a:r>
                        <a:rPr lang="en-US" sz="850" dirty="0">
                          <a:solidFill>
                            <a:srgbClr val="26292E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−฿69.7M</a:t>
                      </a:r>
                      <a:endParaRPr lang="en-US" sz="8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E2E7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7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7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7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r">
                        <a:buNone/>
                      </a:pPr>
                      <a:r>
                        <a:rPr lang="en-US" sz="850" b="1" dirty="0">
                          <a:solidFill>
                            <a:srgbClr val="2E7D32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-10.9%</a:t>
                      </a:r>
                      <a:endParaRPr lang="en-US" sz="8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E2E7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7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7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7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r">
                        <a:buNone/>
                      </a:pPr>
                      <a:r>
                        <a:rPr lang="en-US" sz="850" dirty="0">
                          <a:solidFill>
                            <a:srgbClr val="26292E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−฿64.8M</a:t>
                      </a:r>
                      <a:endParaRPr lang="en-US" sz="8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E2E7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7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7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7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r">
                        <a:buNone/>
                      </a:pPr>
                      <a:r>
                        <a:rPr lang="en-US" sz="850" b="1" dirty="0">
                          <a:solidFill>
                            <a:srgbClr val="2E7D32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-4.2%</a:t>
                      </a:r>
                      <a:endParaRPr lang="en-US" sz="8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E2E7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7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7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7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r">
                        <a:buNone/>
                      </a:pPr>
                      <a:r>
                        <a:rPr lang="en-US" sz="850" dirty="0">
                          <a:solidFill>
                            <a:srgbClr val="6B728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−฿69.5M</a:t>
                      </a:r>
                      <a:endParaRPr lang="en-US" sz="8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E2E7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7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7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7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r">
                        <a:buNone/>
                      </a:pPr>
                      <a:r>
                        <a:rPr lang="en-US" sz="850" b="1" dirty="0">
                          <a:solidFill>
                            <a:srgbClr val="2E7D32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-10.6%</a:t>
                      </a:r>
                      <a:endParaRPr lang="en-US" sz="8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E2E7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7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7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7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5"/>
                  </a:ext>
                </a:extLst>
              </a:tr>
              <a:tr h="283464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850" b="1" dirty="0">
                          <a:solidFill>
                            <a:srgbClr val="26292E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EBIT</a:t>
                      </a:r>
                      <a:endParaRPr lang="en-US" sz="8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E2E7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7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7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7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6FB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r">
                        <a:buNone/>
                      </a:pPr>
                      <a:r>
                        <a:rPr lang="en-US" sz="850" b="1" dirty="0">
                          <a:solidFill>
                            <a:srgbClr val="1E2761"/>
                          </a:solidFill>
                          <a:highlight>
                            <a:srgbClr val="FFFF00"/>
                          </a:highlight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฿33.5M</a:t>
                      </a:r>
                      <a:endParaRPr lang="en-US" sz="850" dirty="0">
                        <a:highlight>
                          <a:srgbClr val="FFFF00"/>
                        </a:highlight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E2E7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7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7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7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6FB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r">
                        <a:buNone/>
                      </a:pPr>
                      <a:r>
                        <a:rPr lang="en-US" sz="850" dirty="0">
                          <a:solidFill>
                            <a:srgbClr val="26292E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฿35.1M</a:t>
                      </a:r>
                      <a:endParaRPr lang="en-US" sz="8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E2E7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7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7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7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6FB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r">
                        <a:buNone/>
                      </a:pPr>
                      <a:r>
                        <a:rPr lang="en-US" sz="850" b="1" dirty="0">
                          <a:solidFill>
                            <a:srgbClr val="C0392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-4.5%</a:t>
                      </a:r>
                      <a:endParaRPr lang="en-US" sz="8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E2E7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7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7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7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6FB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r">
                        <a:buNone/>
                      </a:pPr>
                      <a:r>
                        <a:rPr lang="en-US" sz="850" dirty="0">
                          <a:solidFill>
                            <a:srgbClr val="26292E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฿31.6M</a:t>
                      </a:r>
                      <a:endParaRPr lang="en-US" sz="8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E2E7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7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7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7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6FB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r">
                        <a:buNone/>
                      </a:pPr>
                      <a:r>
                        <a:rPr lang="en-US" sz="850" b="1" dirty="0">
                          <a:solidFill>
                            <a:srgbClr val="2E7D32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+6.1%</a:t>
                      </a:r>
                      <a:endParaRPr lang="en-US" sz="8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E2E7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7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7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7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6FB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r">
                        <a:buNone/>
                      </a:pPr>
                      <a:r>
                        <a:rPr lang="en-US" sz="850" dirty="0">
                          <a:solidFill>
                            <a:srgbClr val="6B728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฿54.0M</a:t>
                      </a:r>
                      <a:endParaRPr lang="en-US" sz="8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E2E7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7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7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7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6FB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r">
                        <a:buNone/>
                      </a:pPr>
                      <a:r>
                        <a:rPr lang="en-US" sz="850" b="1" dirty="0">
                          <a:solidFill>
                            <a:srgbClr val="C0392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-38.0%</a:t>
                      </a:r>
                      <a:endParaRPr lang="en-US" sz="8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E2E7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7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7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7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6FB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6"/>
                  </a:ext>
                </a:extLst>
              </a:tr>
              <a:tr h="283464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850" b="1" dirty="0">
                          <a:solidFill>
                            <a:srgbClr val="26292E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NPAT</a:t>
                      </a:r>
                      <a:endParaRPr lang="en-US" sz="8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E2E7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7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7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7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r">
                        <a:buNone/>
                      </a:pPr>
                      <a:r>
                        <a:rPr lang="en-US" sz="850" b="1" dirty="0">
                          <a:solidFill>
                            <a:srgbClr val="1E2761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−฿2.3M</a:t>
                      </a:r>
                      <a:endParaRPr lang="en-US" sz="8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E2E7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7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7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7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r">
                        <a:buNone/>
                      </a:pPr>
                      <a:r>
                        <a:rPr lang="en-US" sz="850" dirty="0">
                          <a:solidFill>
                            <a:srgbClr val="26292E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—</a:t>
                      </a:r>
                      <a:endParaRPr lang="en-US" sz="8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E2E7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7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7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7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r">
                        <a:buNone/>
                      </a:pPr>
                      <a:r>
                        <a:rPr lang="en-US" sz="850" b="1" dirty="0">
                          <a:solidFill>
                            <a:srgbClr val="6B728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—</a:t>
                      </a:r>
                      <a:endParaRPr lang="en-US" sz="8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E2E7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7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7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7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r">
                        <a:buNone/>
                      </a:pPr>
                      <a:r>
                        <a:rPr lang="en-US" sz="850" dirty="0">
                          <a:solidFill>
                            <a:srgbClr val="26292E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−฿15.4M</a:t>
                      </a:r>
                      <a:endParaRPr lang="en-US" sz="8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E2E7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7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7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7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r">
                        <a:buNone/>
                      </a:pPr>
                      <a:r>
                        <a:rPr lang="en-US" sz="850" b="1" dirty="0">
                          <a:solidFill>
                            <a:srgbClr val="2E7D32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+฿13.1M</a:t>
                      </a:r>
                      <a:endParaRPr lang="en-US" sz="8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E2E7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7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7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7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r">
                        <a:buNone/>
                      </a:pPr>
                      <a:r>
                        <a:rPr lang="en-US" sz="850" dirty="0">
                          <a:solidFill>
                            <a:srgbClr val="6B728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−฿2.4M</a:t>
                      </a:r>
                      <a:endParaRPr lang="en-US" sz="8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E2E7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7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7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7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r">
                        <a:buNone/>
                      </a:pPr>
                      <a:r>
                        <a:rPr lang="en-US" sz="850" b="1" dirty="0">
                          <a:solidFill>
                            <a:srgbClr val="2E7D32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+฿0.1M</a:t>
                      </a:r>
                      <a:endParaRPr lang="en-US" sz="8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E2E7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7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7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7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7"/>
                  </a:ext>
                </a:extLst>
              </a:tr>
            </a:tbl>
          </a:graphicData>
        </a:graphic>
      </p:graphicFrame>
      <p:sp>
        <p:nvSpPr>
          <p:cNvPr id="9" name="Shape 4"/>
          <p:cNvSpPr/>
          <p:nvPr/>
        </p:nvSpPr>
        <p:spPr>
          <a:xfrm>
            <a:off x="6126480" y="4206240"/>
            <a:ext cx="2651760" cy="1207008"/>
          </a:xfrm>
          <a:prstGeom prst="roundRect">
            <a:avLst>
              <a:gd name="adj" fmla="val 4545"/>
            </a:avLst>
          </a:prstGeom>
          <a:solidFill>
            <a:srgbClr val="F4F6FB"/>
          </a:solidFill>
          <a:ln w="9525">
            <a:solidFill>
              <a:srgbClr val="E2E7F2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0" name="Text 5"/>
          <p:cNvSpPr/>
          <p:nvPr/>
        </p:nvSpPr>
        <p:spPr>
          <a:xfrm>
            <a:off x="6272784" y="4297680"/>
            <a:ext cx="2359152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50" b="1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REVENUE H1 2026</a:t>
            </a:r>
            <a:endParaRPr lang="en-US" sz="1050" dirty="0"/>
          </a:p>
        </p:txBody>
      </p:sp>
      <p:sp>
        <p:nvSpPr>
          <p:cNvPr id="11" name="Text 6"/>
          <p:cNvSpPr/>
          <p:nvPr/>
        </p:nvSpPr>
        <p:spPr>
          <a:xfrm>
            <a:off x="6272784" y="4517136"/>
            <a:ext cx="2359152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400" b="1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฿179.2M</a:t>
            </a:r>
            <a:endParaRPr lang="en-US" sz="2400" dirty="0"/>
          </a:p>
        </p:txBody>
      </p:sp>
      <p:sp>
        <p:nvSpPr>
          <p:cNvPr id="12" name="Text 7"/>
          <p:cNvSpPr/>
          <p:nvPr/>
        </p:nvSpPr>
        <p:spPr>
          <a:xfrm>
            <a:off x="6272784" y="4974336"/>
            <a:ext cx="2359152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50" dirty="0">
                <a:solidFill>
                  <a:srgbClr val="C0392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-3.3% vs H1 2025</a:t>
            </a:r>
            <a:endParaRPr lang="en-US" sz="1050" dirty="0"/>
          </a:p>
        </p:txBody>
      </p:sp>
      <p:sp>
        <p:nvSpPr>
          <p:cNvPr id="13" name="Shape 8"/>
          <p:cNvSpPr/>
          <p:nvPr/>
        </p:nvSpPr>
        <p:spPr>
          <a:xfrm>
            <a:off x="8988552" y="4206240"/>
            <a:ext cx="2651760" cy="1207008"/>
          </a:xfrm>
          <a:prstGeom prst="roundRect">
            <a:avLst>
              <a:gd name="adj" fmla="val 4545"/>
            </a:avLst>
          </a:prstGeom>
          <a:solidFill>
            <a:srgbClr val="F4F6FB"/>
          </a:solidFill>
          <a:ln w="9525">
            <a:solidFill>
              <a:srgbClr val="E2E7F2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4" name="Text 9"/>
          <p:cNvSpPr/>
          <p:nvPr/>
        </p:nvSpPr>
        <p:spPr>
          <a:xfrm>
            <a:off x="9134856" y="4297680"/>
            <a:ext cx="2359152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50" b="1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EBIT H1 2026</a:t>
            </a:r>
            <a:endParaRPr lang="en-US" sz="1050" dirty="0"/>
          </a:p>
        </p:txBody>
      </p:sp>
      <p:sp>
        <p:nvSpPr>
          <p:cNvPr id="15" name="Text 10"/>
          <p:cNvSpPr/>
          <p:nvPr/>
        </p:nvSpPr>
        <p:spPr>
          <a:xfrm>
            <a:off x="9134856" y="4517136"/>
            <a:ext cx="2359152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400" b="1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฿33.5M</a:t>
            </a:r>
            <a:endParaRPr lang="en-US" sz="2400" dirty="0"/>
          </a:p>
        </p:txBody>
      </p:sp>
      <p:sp>
        <p:nvSpPr>
          <p:cNvPr id="16" name="Text 11"/>
          <p:cNvSpPr/>
          <p:nvPr/>
        </p:nvSpPr>
        <p:spPr>
          <a:xfrm>
            <a:off x="9134856" y="4974336"/>
            <a:ext cx="2359152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50" dirty="0">
                <a:solidFill>
                  <a:srgbClr val="2E7D3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+฿1.9M vs H1 2025 (฿31.6M)</a:t>
            </a:r>
            <a:endParaRPr lang="en-US" sz="1050" dirty="0"/>
          </a:p>
        </p:txBody>
      </p:sp>
      <p:sp>
        <p:nvSpPr>
          <p:cNvPr id="17" name="Text 12"/>
          <p:cNvSpPr/>
          <p:nvPr/>
        </p:nvSpPr>
        <p:spPr>
          <a:xfrm>
            <a:off x="548640" y="6355080"/>
            <a:ext cx="10881360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50" i="1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GOP = gross operating profit (≈ EBITDA). MF budget = Mitsui Fudosan budget. All figures are Jan–Jun sums of the monthly P&amp;L blocks in the result sheets; budget rows exist for OPEX, GOP and EBIT only (revenue, GOP margin and NPAT show —). JV expense derived as EBIT − GOP. Source: result FY24/FY25/FY26 sheets (official record).</a:t>
            </a:r>
            <a:endParaRPr lang="en-US" sz="1050" dirty="0"/>
          </a:p>
        </p:txBody>
      </p:sp>
      <p:sp>
        <p:nvSpPr>
          <p:cNvPr id="7" name="TextBox 6">
            <a:extLst>
              <a:ext uri="{FF2B5EF4-FFF2-40B4-BE49-F238E27FC236}">
                <a16:creationId xmlns:a16="http://schemas.microsoft.com/office/drawing/2014/main" id="{B17DD75E-562E-9FF2-4E5E-6EA629AC241A}"/>
              </a:ext>
            </a:extLst>
          </p:cNvPr>
          <p:cNvSpPr txBox="1"/>
          <p:nvPr/>
        </p:nvSpPr>
        <p:spPr>
          <a:xfrm>
            <a:off x="8185355" y="5047488"/>
            <a:ext cx="4385285" cy="120032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dirty="0"/>
              <a:t>The reason Why rev –</a:t>
            </a:r>
          </a:p>
          <a:p>
            <a:r>
              <a:rPr lang="en-US" dirty="0"/>
              <a:t>EBIT+</a:t>
            </a:r>
          </a:p>
          <a:p>
            <a:r>
              <a:rPr lang="en-US" dirty="0"/>
              <a:t>From last year. Background</a:t>
            </a:r>
          </a:p>
          <a:p>
            <a:r>
              <a:rPr lang="en-US" dirty="0"/>
              <a:t>House and building tax &gt;&gt;</a:t>
            </a:r>
          </a:p>
        </p:txBody>
      </p:sp>
    </p:spTree>
  </p:cSld>
  <p:clrMapOvr>
    <a:masterClrMapping/>
  </p:clrMapOvr>
</p:sld>
</file>

<file path=ppt/slides/slide3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2">
    <p:bg>
      <p:bgPr>
        <a:solidFill>
          <a:srgbClr val="1E276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1965960"/>
            <a:ext cx="2011680" cy="1554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600" b="1" dirty="0">
                <a:solidFill>
                  <a:srgbClr val="D9A44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6</a:t>
            </a:r>
            <a:endParaRPr lang="en-US" sz="9600" dirty="0"/>
          </a:p>
        </p:txBody>
      </p:sp>
      <p:sp>
        <p:nvSpPr>
          <p:cNvPr id="3" name="Text 1"/>
          <p:cNvSpPr/>
          <p:nvPr/>
        </p:nvSpPr>
        <p:spPr>
          <a:xfrm>
            <a:off x="2514600" y="2286000"/>
            <a:ext cx="877824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4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lyf Sukhumvit 8 Bangkok (LYF)</a:t>
            </a:r>
            <a:endParaRPr lang="en-US" sz="4000" dirty="0"/>
          </a:p>
        </p:txBody>
      </p:sp>
      <p:sp>
        <p:nvSpPr>
          <p:cNvPr id="4" name="Text 2"/>
          <p:cNvSpPr/>
          <p:nvPr/>
        </p:nvSpPr>
        <p:spPr>
          <a:xfrm>
            <a:off x="2542032" y="3246120"/>
            <a:ext cx="841248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dirty="0">
                <a:solidFill>
                  <a:srgbClr val="AFC0E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P&amp;L (EBIT) · Performance vs budget · Segmentation · Guest nationality</a:t>
            </a:r>
            <a:endParaRPr lang="en-US" sz="1400" dirty="0"/>
          </a:p>
        </p:txBody>
      </p:sp>
      <p:sp>
        <p:nvSpPr>
          <p:cNvPr id="5" name="Text 3"/>
          <p:cNvSpPr/>
          <p:nvPr/>
        </p:nvSpPr>
        <p:spPr>
          <a:xfrm>
            <a:off x="548640" y="6172200"/>
            <a:ext cx="5486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7C8BC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Mitsui Thailand Portfolio · H1 2026</a:t>
            </a:r>
            <a:endParaRPr lang="en-US" sz="1000" dirty="0"/>
          </a:p>
        </p:txBody>
      </p:sp>
    </p:spTree>
  </p:cSld>
  <p:clrMapOvr>
    <a:masterClrMapping/>
  </p:clrMapOvr>
</p:sld>
</file>

<file path=ppt/slides/slide3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4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292608"/>
            <a:ext cx="8229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b="1" kern="0" spc="200" dirty="0">
                <a:solidFill>
                  <a:srgbClr val="D9A44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SECTION 6 · LYF SUKHUMVIT 8 BANGKOK (LYF)</a:t>
            </a:r>
            <a:endParaRPr lang="en-US" sz="1100" dirty="0"/>
          </a:p>
        </p:txBody>
      </p:sp>
      <p:sp>
        <p:nvSpPr>
          <p:cNvPr id="3" name="Text 1"/>
          <p:cNvSpPr/>
          <p:nvPr/>
        </p:nvSpPr>
        <p:spPr>
          <a:xfrm>
            <a:off x="548640" y="502920"/>
            <a:ext cx="11091672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800" b="1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lyf Sukhumvit 8 Bangkok (LYF)</a:t>
            </a:r>
            <a:endParaRPr lang="en-US" sz="2800" dirty="0"/>
          </a:p>
        </p:txBody>
      </p:sp>
      <p:sp>
        <p:nvSpPr>
          <p:cNvPr id="4" name="Text 2"/>
          <p:cNvSpPr/>
          <p:nvPr/>
        </p:nvSpPr>
        <p:spPr>
          <a:xfrm>
            <a:off x="548640" y="1060704"/>
            <a:ext cx="11091672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5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206 keys · monthly + YTD Jan–Jun · actual vs MF Projection and actual 2025</a:t>
            </a:r>
            <a:endParaRPr lang="en-US" sz="1250" dirty="0"/>
          </a:p>
        </p:txBody>
      </p:sp>
      <p:sp>
        <p:nvSpPr>
          <p:cNvPr id="5" name="Text 3"/>
          <p:cNvSpPr/>
          <p:nvPr/>
        </p:nvSpPr>
        <p:spPr>
          <a:xfrm>
            <a:off x="8165592" y="310896"/>
            <a:ext cx="34747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90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Mitsui Thailand Portfolio · H1 2026</a:t>
            </a:r>
            <a:endParaRPr lang="en-US" sz="900" dirty="0"/>
          </a:p>
        </p:txBody>
      </p:sp>
      <p:graphicFrame>
        <p:nvGraphicFramePr>
          <p:cNvPr id="6" name="Chart 0"/>
          <p:cNvGraphicFramePr/>
          <p:nvPr/>
        </p:nvGraphicFramePr>
        <p:xfrm>
          <a:off x="548640" y="1691640"/>
          <a:ext cx="7223760" cy="2240280"/>
        </p:xfrm>
        <a:graphic>
          <a:graphicData uri="http://schemas.openxmlformats.org/drawingml/2006/chart">
            <c:chart xmlns:c="http://schemas.openxmlformats.org/drawingml/2006/chart" xmlns:r="http://schemas.openxmlformats.org/officeDocument/2006/relationships" r:id="rId3"/>
          </a:graphicData>
        </a:graphic>
      </p:graphicFrame>
      <p:graphicFrame>
        <p:nvGraphicFramePr>
          <p:cNvPr id="35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548640" y="4069080"/>
          <a:ext cx="7223760" cy="2011680"/>
        </p:xfrm>
        <a:graphic>
          <a:graphicData uri="http://schemas.openxmlformats.org/drawingml/2006/table">
            <a:tbl>
              <a:tblPr/>
              <a:tblGrid>
                <a:gridCol w="132588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795528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795528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795528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  <a:gridCol w="795528">
                  <a:extLst>
                    <a:ext uri="{9D8B030D-6E8A-4147-A177-3AD203B41FA5}">
                      <a16:colId xmlns:a16="http://schemas.microsoft.com/office/drawing/2014/main" val="20004"/>
                    </a:ext>
                  </a:extLst>
                </a:gridCol>
                <a:gridCol w="795528">
                  <a:extLst>
                    <a:ext uri="{9D8B030D-6E8A-4147-A177-3AD203B41FA5}">
                      <a16:colId xmlns:a16="http://schemas.microsoft.com/office/drawing/2014/main" val="20005"/>
                    </a:ext>
                  </a:extLst>
                </a:gridCol>
                <a:gridCol w="795528">
                  <a:extLst>
                    <a:ext uri="{9D8B030D-6E8A-4147-A177-3AD203B41FA5}">
                      <a16:colId xmlns:a16="http://schemas.microsoft.com/office/drawing/2014/main" val="20006"/>
                    </a:ext>
                  </a:extLst>
                </a:gridCol>
                <a:gridCol w="1124712">
                  <a:extLst>
                    <a:ext uri="{9D8B030D-6E8A-4147-A177-3AD203B41FA5}">
                      <a16:colId xmlns:a16="http://schemas.microsoft.com/office/drawing/2014/main" val="20007"/>
                    </a:ext>
                  </a:extLst>
                </a:gridCol>
              </a:tblGrid>
              <a:tr h="201168"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9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H1 2026</a:t>
                      </a:r>
                      <a:endParaRPr lang="en-US" sz="9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E2E7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7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7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7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E2761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9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Jan</a:t>
                      </a:r>
                      <a:endParaRPr lang="en-US" sz="9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E2E7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7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7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7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E2761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9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Feb</a:t>
                      </a:r>
                      <a:endParaRPr lang="en-US" sz="9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E2E7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7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7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7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E2761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9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Mar</a:t>
                      </a:r>
                      <a:endParaRPr lang="en-US" sz="9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E2E7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7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7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7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E2761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9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Apr</a:t>
                      </a:r>
                      <a:endParaRPr lang="en-US" sz="9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E2E7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7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7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7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E2761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9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May</a:t>
                      </a:r>
                      <a:endParaRPr lang="en-US" sz="9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E2E7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7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7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7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E2761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9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Jun</a:t>
                      </a:r>
                      <a:endParaRPr lang="en-US" sz="9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E2E7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7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7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7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E2761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9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YTD</a:t>
                      </a:r>
                      <a:endParaRPr lang="en-US" sz="9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E2E7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7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7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7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E276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201168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900" b="1" dirty="0">
                          <a:solidFill>
                            <a:srgbClr val="26292E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Occupancy</a:t>
                      </a:r>
                      <a:endParaRPr lang="en-US" sz="9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E2E7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7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7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7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r">
                        <a:buNone/>
                      </a:pPr>
                      <a:r>
                        <a:rPr lang="en-US" sz="900" dirty="0">
                          <a:solidFill>
                            <a:srgbClr val="26292E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92.6%</a:t>
                      </a:r>
                      <a:endParaRPr lang="en-US" sz="9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E2E7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7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7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7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r">
                        <a:buNone/>
                      </a:pPr>
                      <a:r>
                        <a:rPr lang="en-US" sz="900" dirty="0">
                          <a:solidFill>
                            <a:srgbClr val="26292E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94.6%</a:t>
                      </a:r>
                      <a:endParaRPr lang="en-US" sz="9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E2E7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7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7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7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r">
                        <a:buNone/>
                      </a:pPr>
                      <a:r>
                        <a:rPr lang="en-US" sz="900" dirty="0">
                          <a:solidFill>
                            <a:srgbClr val="26292E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87.8%</a:t>
                      </a:r>
                      <a:endParaRPr lang="en-US" sz="9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E2E7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7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7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7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r">
                        <a:buNone/>
                      </a:pPr>
                      <a:r>
                        <a:rPr lang="en-US" sz="900" dirty="0">
                          <a:solidFill>
                            <a:srgbClr val="26292E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50.4%</a:t>
                      </a:r>
                      <a:endParaRPr lang="en-US" sz="9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E2E7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7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7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7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r">
                        <a:buNone/>
                      </a:pPr>
                      <a:r>
                        <a:rPr lang="en-US" sz="900" dirty="0">
                          <a:solidFill>
                            <a:srgbClr val="26292E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74.0%</a:t>
                      </a:r>
                      <a:endParaRPr lang="en-US" sz="9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E2E7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7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7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7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r">
                        <a:buNone/>
                      </a:pPr>
                      <a:r>
                        <a:rPr lang="en-US" sz="900" dirty="0">
                          <a:solidFill>
                            <a:srgbClr val="26292E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69.5%</a:t>
                      </a:r>
                      <a:endParaRPr lang="en-US" sz="9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E2E7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7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7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7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r">
                        <a:buNone/>
                      </a:pPr>
                      <a:r>
                        <a:rPr lang="en-US" sz="900" b="1" dirty="0">
                          <a:solidFill>
                            <a:srgbClr val="1E2761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78.1%</a:t>
                      </a:r>
                      <a:endParaRPr lang="en-US" sz="9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E2E7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7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7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7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201168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900" b="0" dirty="0">
                          <a:solidFill>
                            <a:srgbClr val="595959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 MF Projection</a:t>
                      </a:r>
                      <a:endParaRPr lang="en-US" sz="9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E2E7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7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7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7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r">
                        <a:buNone/>
                      </a:pPr>
                      <a:r>
                        <a:rPr lang="en-US" sz="900" dirty="0">
                          <a:solidFill>
                            <a:srgbClr val="595959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88.1%</a:t>
                      </a:r>
                      <a:endParaRPr lang="en-US" sz="9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E2E7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7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7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7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r">
                        <a:buNone/>
                      </a:pPr>
                      <a:r>
                        <a:rPr lang="en-US" sz="900" dirty="0">
                          <a:solidFill>
                            <a:srgbClr val="595959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93.3%</a:t>
                      </a:r>
                      <a:endParaRPr lang="en-US" sz="9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E2E7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7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7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7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r">
                        <a:buNone/>
                      </a:pPr>
                      <a:r>
                        <a:rPr lang="en-US" sz="900" dirty="0">
                          <a:solidFill>
                            <a:srgbClr val="595959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77.5%</a:t>
                      </a:r>
                      <a:endParaRPr lang="en-US" sz="9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E2E7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7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7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7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r">
                        <a:buNone/>
                      </a:pPr>
                      <a:r>
                        <a:rPr lang="en-US" sz="900" dirty="0">
                          <a:solidFill>
                            <a:srgbClr val="595959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82.6%</a:t>
                      </a:r>
                      <a:endParaRPr lang="en-US" sz="9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E2E7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7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7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7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r">
                        <a:buNone/>
                      </a:pPr>
                      <a:r>
                        <a:rPr lang="en-US" sz="900" dirty="0">
                          <a:solidFill>
                            <a:srgbClr val="595959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78.2%</a:t>
                      </a:r>
                      <a:endParaRPr lang="en-US" sz="9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E2E7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7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7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7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r">
                        <a:buNone/>
                      </a:pPr>
                      <a:r>
                        <a:rPr lang="en-US" sz="900" dirty="0">
                          <a:solidFill>
                            <a:srgbClr val="595959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77.1%</a:t>
                      </a:r>
                      <a:endParaRPr lang="en-US" sz="9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E2E7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7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7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7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r">
                        <a:buNone/>
                      </a:pPr>
                      <a:r>
                        <a:rPr lang="en-US" sz="900" b="1" dirty="0">
                          <a:solidFill>
                            <a:srgbClr val="595959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82.6%</a:t>
                      </a:r>
                      <a:endParaRPr lang="en-US" sz="9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E2E7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7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7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7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201168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900" b="0" dirty="0">
                          <a:solidFill>
                            <a:srgbClr val="595959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 Actual 2025</a:t>
                      </a:r>
                      <a:endParaRPr lang="en-US" sz="9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E2E7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7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7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7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r">
                        <a:buNone/>
                      </a:pPr>
                      <a:r>
                        <a:rPr lang="en-US" sz="900" dirty="0">
                          <a:solidFill>
                            <a:srgbClr val="595959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93.3%</a:t>
                      </a:r>
                      <a:endParaRPr lang="en-US" sz="9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E2E7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7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7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7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r">
                        <a:buNone/>
                      </a:pPr>
                      <a:r>
                        <a:rPr lang="en-US" sz="900" dirty="0">
                          <a:solidFill>
                            <a:srgbClr val="595959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89.4%</a:t>
                      </a:r>
                      <a:endParaRPr lang="en-US" sz="9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E2E7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7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7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7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r">
                        <a:buNone/>
                      </a:pPr>
                      <a:r>
                        <a:rPr lang="en-US" sz="900" dirty="0">
                          <a:solidFill>
                            <a:srgbClr val="595959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73.8%</a:t>
                      </a:r>
                      <a:endParaRPr lang="en-US" sz="9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E2E7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7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7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7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r">
                        <a:buNone/>
                      </a:pPr>
                      <a:r>
                        <a:rPr lang="en-US" sz="900" dirty="0">
                          <a:solidFill>
                            <a:srgbClr val="595959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75.0%</a:t>
                      </a:r>
                      <a:endParaRPr lang="en-US" sz="9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E2E7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7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7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7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r">
                        <a:buNone/>
                      </a:pPr>
                      <a:r>
                        <a:rPr lang="en-US" sz="900" dirty="0">
                          <a:solidFill>
                            <a:srgbClr val="595959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72.8%</a:t>
                      </a:r>
                      <a:endParaRPr lang="en-US" sz="9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E2E7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7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7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7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r">
                        <a:buNone/>
                      </a:pPr>
                      <a:r>
                        <a:rPr lang="en-US" sz="900" dirty="0">
                          <a:solidFill>
                            <a:srgbClr val="595959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70.0%</a:t>
                      </a:r>
                      <a:endParaRPr lang="en-US" sz="9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E2E7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7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7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7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r">
                        <a:buNone/>
                      </a:pPr>
                      <a:r>
                        <a:rPr lang="en-US" sz="900" b="1" dirty="0">
                          <a:solidFill>
                            <a:srgbClr val="595959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79.0%</a:t>
                      </a:r>
                      <a:endParaRPr lang="en-US" sz="9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E2E7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7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7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7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201168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900" b="1" dirty="0">
                          <a:solidFill>
                            <a:srgbClr val="26292E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ADR (฿)</a:t>
                      </a:r>
                      <a:endParaRPr lang="en-US" sz="9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E2E7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7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7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7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6FB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r">
                        <a:buNone/>
                      </a:pPr>
                      <a:r>
                        <a:rPr lang="en-US" sz="900" dirty="0">
                          <a:solidFill>
                            <a:srgbClr val="26292E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1,578</a:t>
                      </a:r>
                      <a:endParaRPr lang="en-US" sz="9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E2E7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7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7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7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6FB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r">
                        <a:buNone/>
                      </a:pPr>
                      <a:r>
                        <a:rPr lang="en-US" sz="900" dirty="0">
                          <a:solidFill>
                            <a:srgbClr val="26292E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1,586</a:t>
                      </a:r>
                      <a:endParaRPr lang="en-US" sz="9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E2E7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7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7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7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6FB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r">
                        <a:buNone/>
                      </a:pPr>
                      <a:r>
                        <a:rPr lang="en-US" sz="900" dirty="0">
                          <a:solidFill>
                            <a:srgbClr val="26292E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1,289</a:t>
                      </a:r>
                      <a:endParaRPr lang="en-US" sz="9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E2E7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7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7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7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6FB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r">
                        <a:buNone/>
                      </a:pPr>
                      <a:r>
                        <a:rPr lang="en-US" sz="900" dirty="0">
                          <a:solidFill>
                            <a:srgbClr val="26292E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1,450</a:t>
                      </a:r>
                      <a:endParaRPr lang="en-US" sz="9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E2E7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7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7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7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6FB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r">
                        <a:buNone/>
                      </a:pPr>
                      <a:r>
                        <a:rPr lang="en-US" sz="900" dirty="0">
                          <a:solidFill>
                            <a:srgbClr val="26292E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1,188</a:t>
                      </a:r>
                      <a:endParaRPr lang="en-US" sz="9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E2E7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7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7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7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6FB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r">
                        <a:buNone/>
                      </a:pPr>
                      <a:r>
                        <a:rPr lang="en-US" sz="900" dirty="0">
                          <a:solidFill>
                            <a:srgbClr val="26292E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1,087</a:t>
                      </a:r>
                      <a:endParaRPr lang="en-US" sz="9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E2E7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7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7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7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6FB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r">
                        <a:buNone/>
                      </a:pPr>
                      <a:r>
                        <a:rPr lang="en-US" sz="900" b="1" dirty="0">
                          <a:solidFill>
                            <a:srgbClr val="1E2761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1,374</a:t>
                      </a:r>
                      <a:endParaRPr lang="en-US" sz="9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E2E7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7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7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7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6FB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201168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900" b="0" dirty="0">
                          <a:solidFill>
                            <a:srgbClr val="595959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 MF Projection</a:t>
                      </a:r>
                      <a:endParaRPr lang="en-US" sz="9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E2E7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7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7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7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6FB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r">
                        <a:buNone/>
                      </a:pPr>
                      <a:r>
                        <a:rPr lang="en-US" sz="900" dirty="0">
                          <a:solidFill>
                            <a:srgbClr val="595959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1,734</a:t>
                      </a:r>
                      <a:endParaRPr lang="en-US" sz="9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E2E7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7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7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7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6FB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r">
                        <a:buNone/>
                      </a:pPr>
                      <a:r>
                        <a:rPr lang="en-US" sz="900" dirty="0">
                          <a:solidFill>
                            <a:srgbClr val="595959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1,748</a:t>
                      </a:r>
                      <a:endParaRPr lang="en-US" sz="9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E2E7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7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7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7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6FB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r">
                        <a:buNone/>
                      </a:pPr>
                      <a:r>
                        <a:rPr lang="en-US" sz="900" dirty="0">
                          <a:solidFill>
                            <a:srgbClr val="595959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1,424</a:t>
                      </a:r>
                      <a:endParaRPr lang="en-US" sz="9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E2E7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7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7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7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6FB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r">
                        <a:buNone/>
                      </a:pPr>
                      <a:r>
                        <a:rPr lang="en-US" sz="900" dirty="0">
                          <a:solidFill>
                            <a:srgbClr val="595959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1,394</a:t>
                      </a:r>
                      <a:endParaRPr lang="en-US" sz="9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E2E7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7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7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7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6FB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r">
                        <a:buNone/>
                      </a:pPr>
                      <a:r>
                        <a:rPr lang="en-US" sz="900" dirty="0">
                          <a:solidFill>
                            <a:srgbClr val="595959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1,311</a:t>
                      </a:r>
                      <a:endParaRPr lang="en-US" sz="9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E2E7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7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7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7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6FB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r">
                        <a:buNone/>
                      </a:pPr>
                      <a:r>
                        <a:rPr lang="en-US" sz="900" dirty="0">
                          <a:solidFill>
                            <a:srgbClr val="595959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1,265</a:t>
                      </a:r>
                      <a:endParaRPr lang="en-US" sz="9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E2E7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7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7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7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6FB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r">
                        <a:buNone/>
                      </a:pPr>
                      <a:r>
                        <a:rPr lang="en-US" sz="900" b="1" dirty="0">
                          <a:solidFill>
                            <a:srgbClr val="595959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1,489</a:t>
                      </a:r>
                      <a:endParaRPr lang="en-US" sz="9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E2E7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7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7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7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6FB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201168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900" b="0" dirty="0">
                          <a:solidFill>
                            <a:srgbClr val="595959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 Actual 2025</a:t>
                      </a:r>
                      <a:endParaRPr lang="en-US" sz="9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E2E7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7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7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7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6FB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r">
                        <a:buNone/>
                      </a:pPr>
                      <a:r>
                        <a:rPr lang="en-US" sz="900" dirty="0">
                          <a:solidFill>
                            <a:srgbClr val="595959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1,701</a:t>
                      </a:r>
                      <a:endParaRPr lang="en-US" sz="9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E2E7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7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7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7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6FB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r">
                        <a:buNone/>
                      </a:pPr>
                      <a:r>
                        <a:rPr lang="en-US" sz="900" dirty="0">
                          <a:solidFill>
                            <a:srgbClr val="595959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1,631</a:t>
                      </a:r>
                      <a:endParaRPr lang="en-US" sz="9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E2E7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7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7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7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6FB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r">
                        <a:buNone/>
                      </a:pPr>
                      <a:r>
                        <a:rPr lang="en-US" sz="900" dirty="0">
                          <a:solidFill>
                            <a:srgbClr val="595959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1,422</a:t>
                      </a:r>
                      <a:endParaRPr lang="en-US" sz="9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E2E7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7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7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7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6FB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r">
                        <a:buNone/>
                      </a:pPr>
                      <a:r>
                        <a:rPr lang="en-US" sz="900" dirty="0">
                          <a:solidFill>
                            <a:srgbClr val="595959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1,363</a:t>
                      </a:r>
                      <a:endParaRPr lang="en-US" sz="9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E2E7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7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7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7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6FB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r">
                        <a:buNone/>
                      </a:pPr>
                      <a:r>
                        <a:rPr lang="en-US" sz="900" dirty="0">
                          <a:solidFill>
                            <a:srgbClr val="595959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1,254</a:t>
                      </a:r>
                      <a:endParaRPr lang="en-US" sz="9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E2E7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7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7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7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6FB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r">
                        <a:buNone/>
                      </a:pPr>
                      <a:r>
                        <a:rPr lang="en-US" sz="900" dirty="0">
                          <a:solidFill>
                            <a:srgbClr val="595959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1,205</a:t>
                      </a:r>
                      <a:endParaRPr lang="en-US" sz="9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E2E7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7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7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7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6FB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r">
                        <a:buNone/>
                      </a:pPr>
                      <a:r>
                        <a:rPr lang="en-US" sz="900" b="1" dirty="0">
                          <a:solidFill>
                            <a:srgbClr val="595959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1,447</a:t>
                      </a:r>
                      <a:endParaRPr lang="en-US" sz="9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E2E7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7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7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7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6FB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201168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900" b="1" dirty="0">
                          <a:solidFill>
                            <a:srgbClr val="26292E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RevPAR (฿)</a:t>
                      </a:r>
                      <a:endParaRPr lang="en-US" sz="9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E2E7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7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7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7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r">
                        <a:buNone/>
                      </a:pPr>
                      <a:r>
                        <a:rPr lang="en-US" sz="900" dirty="0">
                          <a:solidFill>
                            <a:srgbClr val="26292E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1,461</a:t>
                      </a:r>
                      <a:endParaRPr lang="en-US" sz="9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E2E7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7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7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7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r">
                        <a:buNone/>
                      </a:pPr>
                      <a:r>
                        <a:rPr lang="en-US" sz="900" dirty="0">
                          <a:solidFill>
                            <a:srgbClr val="26292E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1,500</a:t>
                      </a:r>
                      <a:endParaRPr lang="en-US" sz="9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E2E7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7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7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7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r">
                        <a:buNone/>
                      </a:pPr>
                      <a:r>
                        <a:rPr lang="en-US" sz="900" dirty="0">
                          <a:solidFill>
                            <a:srgbClr val="26292E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1,132</a:t>
                      </a:r>
                      <a:endParaRPr lang="en-US" sz="9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E2E7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7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7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7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r">
                        <a:buNone/>
                      </a:pPr>
                      <a:r>
                        <a:rPr lang="en-US" sz="900" dirty="0">
                          <a:solidFill>
                            <a:srgbClr val="26292E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731</a:t>
                      </a:r>
                      <a:endParaRPr lang="en-US" sz="9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E2E7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7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7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7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r">
                        <a:buNone/>
                      </a:pPr>
                      <a:r>
                        <a:rPr lang="en-US" sz="900" dirty="0">
                          <a:solidFill>
                            <a:srgbClr val="26292E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879</a:t>
                      </a:r>
                      <a:endParaRPr lang="en-US" sz="9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E2E7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7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7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7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r">
                        <a:buNone/>
                      </a:pPr>
                      <a:r>
                        <a:rPr lang="en-US" sz="900" dirty="0">
                          <a:solidFill>
                            <a:srgbClr val="26292E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756</a:t>
                      </a:r>
                      <a:endParaRPr lang="en-US" sz="9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E2E7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7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7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7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r">
                        <a:buNone/>
                      </a:pPr>
                      <a:r>
                        <a:rPr lang="en-US" sz="900" b="1" dirty="0">
                          <a:solidFill>
                            <a:srgbClr val="1E2761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1,073</a:t>
                      </a:r>
                      <a:endParaRPr lang="en-US" sz="9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E2E7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7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7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7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201168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900" b="0" dirty="0">
                          <a:solidFill>
                            <a:srgbClr val="595959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 MF Projection</a:t>
                      </a:r>
                      <a:endParaRPr lang="en-US" sz="9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E2E7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7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7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7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r">
                        <a:buNone/>
                      </a:pPr>
                      <a:r>
                        <a:rPr lang="en-US" sz="900" dirty="0">
                          <a:solidFill>
                            <a:srgbClr val="595959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1,527</a:t>
                      </a:r>
                      <a:endParaRPr lang="en-US" sz="9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E2E7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7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7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7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r">
                        <a:buNone/>
                      </a:pPr>
                      <a:r>
                        <a:rPr lang="en-US" sz="900" dirty="0">
                          <a:solidFill>
                            <a:srgbClr val="595959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1,631</a:t>
                      </a:r>
                      <a:endParaRPr lang="en-US" sz="9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E2E7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7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7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7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r">
                        <a:buNone/>
                      </a:pPr>
                      <a:r>
                        <a:rPr lang="en-US" sz="900" dirty="0">
                          <a:solidFill>
                            <a:srgbClr val="595959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1,104</a:t>
                      </a:r>
                      <a:endParaRPr lang="en-US" sz="9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E2E7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7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7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7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r">
                        <a:buNone/>
                      </a:pPr>
                      <a:r>
                        <a:rPr lang="en-US" sz="900" dirty="0">
                          <a:solidFill>
                            <a:srgbClr val="595959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1,152</a:t>
                      </a:r>
                      <a:endParaRPr lang="en-US" sz="9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E2E7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7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7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7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r">
                        <a:buNone/>
                      </a:pPr>
                      <a:r>
                        <a:rPr lang="en-US" sz="900" dirty="0">
                          <a:solidFill>
                            <a:srgbClr val="595959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1,024</a:t>
                      </a:r>
                      <a:endParaRPr lang="en-US" sz="9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E2E7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7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7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7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r">
                        <a:buNone/>
                      </a:pPr>
                      <a:r>
                        <a:rPr lang="en-US" sz="900" dirty="0">
                          <a:solidFill>
                            <a:srgbClr val="595959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976</a:t>
                      </a:r>
                      <a:endParaRPr lang="en-US" sz="9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E2E7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7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7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7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r">
                        <a:buNone/>
                      </a:pPr>
                      <a:r>
                        <a:rPr lang="en-US" sz="900" b="1" dirty="0">
                          <a:solidFill>
                            <a:srgbClr val="595959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1,231</a:t>
                      </a:r>
                      <a:endParaRPr lang="en-US" sz="9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E2E7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7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7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7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201168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900" b="0" dirty="0">
                          <a:solidFill>
                            <a:srgbClr val="595959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 Actual 2025</a:t>
                      </a:r>
                      <a:endParaRPr lang="en-US" sz="9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E2E7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7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7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7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r">
                        <a:buNone/>
                      </a:pPr>
                      <a:r>
                        <a:rPr lang="en-US" sz="900" dirty="0">
                          <a:solidFill>
                            <a:srgbClr val="595959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1,587</a:t>
                      </a:r>
                      <a:endParaRPr lang="en-US" sz="9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E2E7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7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7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7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r">
                        <a:buNone/>
                      </a:pPr>
                      <a:r>
                        <a:rPr lang="en-US" sz="900" dirty="0">
                          <a:solidFill>
                            <a:srgbClr val="595959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1,458</a:t>
                      </a:r>
                      <a:endParaRPr lang="en-US" sz="9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E2E7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7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7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7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r">
                        <a:buNone/>
                      </a:pPr>
                      <a:r>
                        <a:rPr lang="en-US" sz="900" dirty="0">
                          <a:solidFill>
                            <a:srgbClr val="595959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1,050</a:t>
                      </a:r>
                      <a:endParaRPr lang="en-US" sz="9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E2E7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7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7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7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r">
                        <a:buNone/>
                      </a:pPr>
                      <a:r>
                        <a:rPr lang="en-US" sz="900" dirty="0">
                          <a:solidFill>
                            <a:srgbClr val="595959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1,022</a:t>
                      </a:r>
                      <a:endParaRPr lang="en-US" sz="9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E2E7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7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7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7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r">
                        <a:buNone/>
                      </a:pPr>
                      <a:r>
                        <a:rPr lang="en-US" sz="900" dirty="0">
                          <a:solidFill>
                            <a:srgbClr val="595959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913</a:t>
                      </a:r>
                      <a:endParaRPr lang="en-US" sz="9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E2E7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7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7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7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r">
                        <a:buNone/>
                      </a:pPr>
                      <a:r>
                        <a:rPr lang="en-US" sz="900" dirty="0">
                          <a:solidFill>
                            <a:srgbClr val="595959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844</a:t>
                      </a:r>
                      <a:endParaRPr lang="en-US" sz="9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E2E7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7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7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7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r">
                        <a:buNone/>
                      </a:pPr>
                      <a:r>
                        <a:rPr lang="en-US" sz="900" b="1" dirty="0">
                          <a:solidFill>
                            <a:srgbClr val="595959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1,143</a:t>
                      </a:r>
                      <a:endParaRPr lang="en-US" sz="9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E2E7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7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7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7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</a:tbl>
          </a:graphicData>
        </a:graphic>
      </p:graphicFrame>
      <p:sp>
        <p:nvSpPr>
          <p:cNvPr id="8" name="Shape 4"/>
          <p:cNvSpPr/>
          <p:nvPr/>
        </p:nvSpPr>
        <p:spPr>
          <a:xfrm>
            <a:off x="8092440" y="1828800"/>
            <a:ext cx="3520440" cy="1261872"/>
          </a:xfrm>
          <a:prstGeom prst="roundRect">
            <a:avLst>
              <a:gd name="adj" fmla="val 4348"/>
            </a:avLst>
          </a:prstGeom>
          <a:solidFill>
            <a:srgbClr val="F4F6FB"/>
          </a:solidFill>
          <a:ln w="9525">
            <a:solidFill>
              <a:srgbClr val="E2E7F2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9" name="Text 5"/>
          <p:cNvSpPr/>
          <p:nvPr/>
        </p:nvSpPr>
        <p:spPr>
          <a:xfrm>
            <a:off x="8238744" y="1920240"/>
            <a:ext cx="3227832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50" b="1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OCCUPANCY · YTD</a:t>
            </a:r>
            <a:endParaRPr lang="en-US" sz="1050" dirty="0"/>
          </a:p>
        </p:txBody>
      </p:sp>
      <p:sp>
        <p:nvSpPr>
          <p:cNvPr id="10" name="Text 6"/>
          <p:cNvSpPr/>
          <p:nvPr/>
        </p:nvSpPr>
        <p:spPr>
          <a:xfrm>
            <a:off x="8238744" y="2139696"/>
            <a:ext cx="3227832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400" b="1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78.1%</a:t>
            </a:r>
            <a:endParaRPr lang="en-US" sz="2400" dirty="0"/>
          </a:p>
        </p:txBody>
      </p:sp>
      <p:sp>
        <p:nvSpPr>
          <p:cNvPr id="11" name="Text 7"/>
          <p:cNvSpPr/>
          <p:nvPr/>
        </p:nvSpPr>
        <p:spPr>
          <a:xfrm>
            <a:off x="8238744" y="2596896"/>
            <a:ext cx="3227832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50" dirty="0">
                <a:solidFill>
                  <a:srgbClr val="C0392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-4.6 pts vs budget</a:t>
            </a:r>
            <a:r>
              <a:rPr lang="en-US" sz="105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· </a:t>
            </a:r>
            <a:r>
              <a:rPr lang="en-US" sz="1050" dirty="0">
                <a:solidFill>
                  <a:srgbClr val="C0392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-0.9 pts vs LY</a:t>
            </a:r>
            <a:endParaRPr lang="en-US" sz="1050" dirty="0"/>
          </a:p>
        </p:txBody>
      </p:sp>
      <p:sp>
        <p:nvSpPr>
          <p:cNvPr id="12" name="Shape 8"/>
          <p:cNvSpPr/>
          <p:nvPr/>
        </p:nvSpPr>
        <p:spPr>
          <a:xfrm>
            <a:off x="8092440" y="3236976"/>
            <a:ext cx="3520440" cy="1261872"/>
          </a:xfrm>
          <a:prstGeom prst="roundRect">
            <a:avLst>
              <a:gd name="adj" fmla="val 4348"/>
            </a:avLst>
          </a:prstGeom>
          <a:solidFill>
            <a:srgbClr val="F4F6FB"/>
          </a:solidFill>
          <a:ln w="9525">
            <a:solidFill>
              <a:srgbClr val="E2E7F2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3" name="Text 9"/>
          <p:cNvSpPr/>
          <p:nvPr/>
        </p:nvSpPr>
        <p:spPr>
          <a:xfrm>
            <a:off x="8238744" y="3328416"/>
            <a:ext cx="3227832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50" b="1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ADR · YTD</a:t>
            </a:r>
            <a:endParaRPr lang="en-US" sz="1050" dirty="0"/>
          </a:p>
        </p:txBody>
      </p:sp>
      <p:sp>
        <p:nvSpPr>
          <p:cNvPr id="14" name="Text 10"/>
          <p:cNvSpPr/>
          <p:nvPr/>
        </p:nvSpPr>
        <p:spPr>
          <a:xfrm>
            <a:off x="8238744" y="3547872"/>
            <a:ext cx="3227832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400" b="1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฿1,374</a:t>
            </a:r>
            <a:endParaRPr lang="en-US" sz="2400" dirty="0"/>
          </a:p>
        </p:txBody>
      </p:sp>
      <p:sp>
        <p:nvSpPr>
          <p:cNvPr id="15" name="Text 11"/>
          <p:cNvSpPr/>
          <p:nvPr/>
        </p:nvSpPr>
        <p:spPr>
          <a:xfrm>
            <a:off x="8238744" y="4005072"/>
            <a:ext cx="3227832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50" dirty="0">
                <a:solidFill>
                  <a:srgbClr val="C0392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-7.7% vs budget</a:t>
            </a:r>
            <a:r>
              <a:rPr lang="en-US" sz="105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· </a:t>
            </a:r>
            <a:r>
              <a:rPr lang="en-US" sz="1050" dirty="0">
                <a:solidFill>
                  <a:srgbClr val="C0392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-5.0% vs LY</a:t>
            </a:r>
            <a:endParaRPr lang="en-US" sz="1050" dirty="0"/>
          </a:p>
        </p:txBody>
      </p:sp>
      <p:sp>
        <p:nvSpPr>
          <p:cNvPr id="16" name="Shape 12"/>
          <p:cNvSpPr/>
          <p:nvPr/>
        </p:nvSpPr>
        <p:spPr>
          <a:xfrm>
            <a:off x="8092440" y="4645152"/>
            <a:ext cx="3520440" cy="1261872"/>
          </a:xfrm>
          <a:prstGeom prst="roundRect">
            <a:avLst>
              <a:gd name="adj" fmla="val 4348"/>
            </a:avLst>
          </a:prstGeom>
          <a:solidFill>
            <a:srgbClr val="F4F6FB"/>
          </a:solidFill>
          <a:ln w="9525">
            <a:solidFill>
              <a:srgbClr val="E2E7F2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7" name="Text 13"/>
          <p:cNvSpPr/>
          <p:nvPr/>
        </p:nvSpPr>
        <p:spPr>
          <a:xfrm>
            <a:off x="8238744" y="4736592"/>
            <a:ext cx="3227832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50" b="1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REVPAR · YTD</a:t>
            </a:r>
            <a:endParaRPr lang="en-US" sz="1050" dirty="0"/>
          </a:p>
        </p:txBody>
      </p:sp>
      <p:sp>
        <p:nvSpPr>
          <p:cNvPr id="18" name="Text 14"/>
          <p:cNvSpPr/>
          <p:nvPr/>
        </p:nvSpPr>
        <p:spPr>
          <a:xfrm>
            <a:off x="8238744" y="4956048"/>
            <a:ext cx="3227832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400" b="1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฿1,073</a:t>
            </a:r>
            <a:endParaRPr lang="en-US" sz="2400" dirty="0"/>
          </a:p>
        </p:txBody>
      </p:sp>
      <p:sp>
        <p:nvSpPr>
          <p:cNvPr id="19" name="Text 15"/>
          <p:cNvSpPr/>
          <p:nvPr/>
        </p:nvSpPr>
        <p:spPr>
          <a:xfrm>
            <a:off x="8238744" y="5413248"/>
            <a:ext cx="3227832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50" dirty="0">
                <a:solidFill>
                  <a:srgbClr val="C0392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-12.8% vs budget</a:t>
            </a:r>
            <a:r>
              <a:rPr lang="en-US" sz="105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· </a:t>
            </a:r>
            <a:r>
              <a:rPr lang="en-US" sz="1050" dirty="0">
                <a:solidFill>
                  <a:srgbClr val="C0392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-6.1% vs LY</a:t>
            </a:r>
            <a:endParaRPr lang="en-US" sz="1050" dirty="0"/>
          </a:p>
        </p:txBody>
      </p:sp>
      <p:sp>
        <p:nvSpPr>
          <p:cNvPr id="20" name="Text 16"/>
          <p:cNvSpPr/>
          <p:nvPr/>
        </p:nvSpPr>
        <p:spPr>
          <a:xfrm>
            <a:off x="548640" y="6172200"/>
            <a:ext cx="10881360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50" i="1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LYF: strong Q1 above budget, then April dropped sharply (occupancy −32 pts vs budget) — recovering since May.</a:t>
            </a:r>
            <a:endParaRPr lang="en-US" sz="1050" dirty="0"/>
          </a:p>
        </p:txBody>
      </p:sp>
    </p:spTree>
  </p:cSld>
  <p:clrMapOvr>
    <a:masterClrMapping/>
  </p:clrMapOvr>
</p:sld>
</file>

<file path=ppt/slides/slide3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5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292608"/>
            <a:ext cx="8229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b="1" kern="0" spc="200" dirty="0">
                <a:solidFill>
                  <a:srgbClr val="D9A44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SECTION 6 · LYF SUKHUMVIT 8 BANGKOK (LYF)</a:t>
            </a:r>
            <a:endParaRPr lang="en-US" sz="1100" dirty="0"/>
          </a:p>
        </p:txBody>
      </p:sp>
      <p:sp>
        <p:nvSpPr>
          <p:cNvPr id="3" name="Text 1"/>
          <p:cNvSpPr/>
          <p:nvPr/>
        </p:nvSpPr>
        <p:spPr>
          <a:xfrm>
            <a:off x="548640" y="502920"/>
            <a:ext cx="11091672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800" b="1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lyf Sukhumvit 8 Bangkok (LYF) — room nights by segment</a:t>
            </a:r>
            <a:endParaRPr lang="en-US" sz="2800" dirty="0"/>
          </a:p>
        </p:txBody>
      </p:sp>
      <p:sp>
        <p:nvSpPr>
          <p:cNvPr id="4" name="Text 2"/>
          <p:cNvSpPr/>
          <p:nvPr/>
        </p:nvSpPr>
        <p:spPr>
          <a:xfrm>
            <a:off x="548640" y="1060704"/>
            <a:ext cx="11091672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5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Monthly mix 2026 (left) · YTD share (right) · table: room nights by month — 2026 vs 2025, mix and H1 change</a:t>
            </a:r>
            <a:endParaRPr lang="en-US" sz="1250" dirty="0"/>
          </a:p>
        </p:txBody>
      </p:sp>
      <p:sp>
        <p:nvSpPr>
          <p:cNvPr id="5" name="Text 3"/>
          <p:cNvSpPr/>
          <p:nvPr/>
        </p:nvSpPr>
        <p:spPr>
          <a:xfrm>
            <a:off x="8165592" y="310896"/>
            <a:ext cx="34747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90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Mitsui Thailand Portfolio · H1 2026</a:t>
            </a:r>
            <a:endParaRPr lang="en-US" sz="900" dirty="0"/>
          </a:p>
        </p:txBody>
      </p:sp>
      <p:graphicFrame>
        <p:nvGraphicFramePr>
          <p:cNvPr id="6" name="Chart 0"/>
          <p:cNvGraphicFramePr/>
          <p:nvPr/>
        </p:nvGraphicFramePr>
        <p:xfrm>
          <a:off x="548640" y="1627632"/>
          <a:ext cx="6675120" cy="1783080"/>
        </p:xfrm>
        <a:graphic>
          <a:graphicData uri="http://schemas.openxmlformats.org/drawingml/2006/chart">
            <c:chart xmlns:c="http://schemas.openxmlformats.org/drawingml/2006/chart" xmlns:r="http://schemas.openxmlformats.org/officeDocument/2006/relationships" r:id="rId3"/>
          </a:graphicData>
        </a:graphic>
      </p:graphicFrame>
      <p:graphicFrame>
        <p:nvGraphicFramePr>
          <p:cNvPr id="7" name="Chart 1"/>
          <p:cNvGraphicFramePr/>
          <p:nvPr/>
        </p:nvGraphicFramePr>
        <p:xfrm>
          <a:off x="7635240" y="1627632"/>
          <a:ext cx="4023360" cy="1783080"/>
        </p:xfrm>
        <a:graphic>
          <a:graphicData uri="http://schemas.openxmlformats.org/drawingml/2006/chart">
            <c:chart xmlns:c="http://schemas.openxmlformats.org/drawingml/2006/chart" xmlns:r="http://schemas.openxmlformats.org/officeDocument/2006/relationships" r:id="rId4"/>
          </a:graphicData>
        </a:graphic>
      </p:graphicFrame>
      <p:sp>
        <p:nvSpPr>
          <p:cNvPr id="8" name="Text 4"/>
          <p:cNvSpPr/>
          <p:nvPr/>
        </p:nvSpPr>
        <p:spPr>
          <a:xfrm>
            <a:off x="548640" y="6492240"/>
            <a:ext cx="10881360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50" i="1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Largest segment YTD: Online (66% of room nights). Gray rows = same month 2025 · Chg % = H1 2026 vs H1 2025 room nights.</a:t>
            </a:r>
            <a:endParaRPr lang="en-US" sz="1050" dirty="0"/>
          </a:p>
        </p:txBody>
      </p:sp>
      <p:sp>
        <p:nvSpPr>
          <p:cNvPr id="9" name="Rectangle 8">
            <a:extLst>
              <a:ext uri="{FF2B5EF4-FFF2-40B4-BE49-F238E27FC236}">
                <a16:creationId xmlns:a16="http://schemas.microsoft.com/office/drawing/2014/main" id="{6601CC85-EDF6-E437-4EA7-D3CE1E7B18AC}"/>
              </a:ext>
            </a:extLst>
          </p:cNvPr>
          <p:cNvSpPr/>
          <p:nvPr/>
        </p:nvSpPr>
        <p:spPr>
          <a:xfrm>
            <a:off x="6223819" y="5447071"/>
            <a:ext cx="806246" cy="226142"/>
          </a:xfrm>
          <a:prstGeom prst="rect">
            <a:avLst/>
          </a:prstGeom>
          <a:noFill/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graphicFrame>
        <p:nvGraphicFramePr>
          <p:cNvPr id="10" name="Table 9"/>
          <p:cNvGraphicFramePr>
            <a:graphicFrameLocks noGrp="1"/>
          </p:cNvGraphicFramePr>
          <p:nvPr/>
        </p:nvGraphicFramePr>
        <p:xfrm>
          <a:off x="548640" y="3493008"/>
          <a:ext cx="11091672" cy="2953512"/>
        </p:xfrm>
        <a:graphic>
          <a:graphicData uri="http://schemas.openxmlformats.org/drawingml/2006/table">
            <a:tbl>
              <a:tblPr>
                <a:tableStyleId>{5C22544A-7EE6-4342-B048-85BDC9FD1C3A}</a:tableStyleId>
              </a:tblPr>
              <a:tblGrid>
                <a:gridCol w="1737360"/>
                <a:gridCol w="1170432"/>
                <a:gridCol w="1170432"/>
                <a:gridCol w="1170432"/>
                <a:gridCol w="1170432"/>
                <a:gridCol w="1170432"/>
                <a:gridCol w="1170432"/>
                <a:gridCol w="960120"/>
                <a:gridCol w="640080"/>
                <a:gridCol w="731520"/>
              </a:tblGrid>
              <a:tr h="173736">
                <a:tc>
                  <a:txBody>
                    <a:bodyPr wrap="none"/>
                    <a:lstStyle/>
                    <a:p>
                      <a:pPr algn="l"/>
                      <a:r>
                        <a:rPr sz="800" b="1">
                          <a:solidFill>
                            <a:srgbClr val="FFFFFF"/>
                          </a:solidFill>
                          <a:latin typeface="Calibri"/>
                        </a:rPr>
                        <a:t>Segment</a:t>
                      </a:r>
                    </a:p>
                  </a:txBody>
                  <a:tcPr anchor="ctr" marL="27432" marR="27432" marT="4572" marB="4572">
                    <a:lnL w="6350">
                      <a:solidFill>
                        <a:srgbClr val="E2E7F2"/>
                      </a:solidFill>
                    </a:lnL>
                    <a:lnR w="6350">
                      <a:solidFill>
                        <a:srgbClr val="E2E7F2"/>
                      </a:solidFill>
                    </a:lnR>
                    <a:lnT w="6350">
                      <a:solidFill>
                        <a:srgbClr val="E2E7F2"/>
                      </a:solidFill>
                    </a:lnT>
                    <a:lnB w="6350">
                      <a:solidFill>
                        <a:srgbClr val="E2E7F2"/>
                      </a:solidFill>
                    </a:lnB>
                    <a:solidFill>
                      <a:srgbClr val="1E2761"/>
                    </a:solidFill>
                  </a:tcPr>
                </a:tc>
                <a:tc>
                  <a:txBody>
                    <a:bodyPr wrap="none"/>
                    <a:lstStyle/>
                    <a:p>
                      <a:pPr algn="r"/>
                      <a:r>
                        <a:rPr sz="800" b="1">
                          <a:solidFill>
                            <a:srgbClr val="FFFFFF"/>
                          </a:solidFill>
                          <a:latin typeface="Calibri"/>
                        </a:rPr>
                        <a:t>Jan</a:t>
                      </a:r>
                    </a:p>
                  </a:txBody>
                  <a:tcPr anchor="ctr" marL="27432" marR="27432" marT="4572" marB="4572">
                    <a:lnL w="6350">
                      <a:solidFill>
                        <a:srgbClr val="E2E7F2"/>
                      </a:solidFill>
                    </a:lnL>
                    <a:lnR w="6350">
                      <a:solidFill>
                        <a:srgbClr val="E2E7F2"/>
                      </a:solidFill>
                    </a:lnR>
                    <a:lnT w="6350">
                      <a:solidFill>
                        <a:srgbClr val="E2E7F2"/>
                      </a:solidFill>
                    </a:lnT>
                    <a:lnB w="6350">
                      <a:solidFill>
                        <a:srgbClr val="E2E7F2"/>
                      </a:solidFill>
                    </a:lnB>
                    <a:solidFill>
                      <a:srgbClr val="1E2761"/>
                    </a:solidFill>
                  </a:tcPr>
                </a:tc>
                <a:tc>
                  <a:txBody>
                    <a:bodyPr wrap="none"/>
                    <a:lstStyle/>
                    <a:p>
                      <a:pPr algn="r"/>
                      <a:r>
                        <a:rPr sz="800" b="1">
                          <a:solidFill>
                            <a:srgbClr val="FFFFFF"/>
                          </a:solidFill>
                          <a:latin typeface="Calibri"/>
                        </a:rPr>
                        <a:t>Feb</a:t>
                      </a:r>
                    </a:p>
                  </a:txBody>
                  <a:tcPr anchor="ctr" marL="27432" marR="27432" marT="4572" marB="4572">
                    <a:lnL w="6350">
                      <a:solidFill>
                        <a:srgbClr val="E2E7F2"/>
                      </a:solidFill>
                    </a:lnL>
                    <a:lnR w="6350">
                      <a:solidFill>
                        <a:srgbClr val="E2E7F2"/>
                      </a:solidFill>
                    </a:lnR>
                    <a:lnT w="6350">
                      <a:solidFill>
                        <a:srgbClr val="E2E7F2"/>
                      </a:solidFill>
                    </a:lnT>
                    <a:lnB w="6350">
                      <a:solidFill>
                        <a:srgbClr val="E2E7F2"/>
                      </a:solidFill>
                    </a:lnB>
                    <a:solidFill>
                      <a:srgbClr val="1E2761"/>
                    </a:solidFill>
                  </a:tcPr>
                </a:tc>
                <a:tc>
                  <a:txBody>
                    <a:bodyPr wrap="none"/>
                    <a:lstStyle/>
                    <a:p>
                      <a:pPr algn="r"/>
                      <a:r>
                        <a:rPr sz="800" b="1">
                          <a:solidFill>
                            <a:srgbClr val="FFFFFF"/>
                          </a:solidFill>
                          <a:latin typeface="Calibri"/>
                        </a:rPr>
                        <a:t>Mar</a:t>
                      </a:r>
                    </a:p>
                  </a:txBody>
                  <a:tcPr anchor="ctr" marL="27432" marR="27432" marT="4572" marB="4572">
                    <a:lnL w="6350">
                      <a:solidFill>
                        <a:srgbClr val="E2E7F2"/>
                      </a:solidFill>
                    </a:lnL>
                    <a:lnR w="6350">
                      <a:solidFill>
                        <a:srgbClr val="E2E7F2"/>
                      </a:solidFill>
                    </a:lnR>
                    <a:lnT w="6350">
                      <a:solidFill>
                        <a:srgbClr val="E2E7F2"/>
                      </a:solidFill>
                    </a:lnT>
                    <a:lnB w="6350">
                      <a:solidFill>
                        <a:srgbClr val="E2E7F2"/>
                      </a:solidFill>
                    </a:lnB>
                    <a:solidFill>
                      <a:srgbClr val="1E2761"/>
                    </a:solidFill>
                  </a:tcPr>
                </a:tc>
                <a:tc>
                  <a:txBody>
                    <a:bodyPr wrap="none"/>
                    <a:lstStyle/>
                    <a:p>
                      <a:pPr algn="r"/>
                      <a:r>
                        <a:rPr sz="800" b="1">
                          <a:solidFill>
                            <a:srgbClr val="FFFFFF"/>
                          </a:solidFill>
                          <a:latin typeface="Calibri"/>
                        </a:rPr>
                        <a:t>Apr</a:t>
                      </a:r>
                    </a:p>
                  </a:txBody>
                  <a:tcPr anchor="ctr" marL="27432" marR="27432" marT="4572" marB="4572">
                    <a:lnL w="6350">
                      <a:solidFill>
                        <a:srgbClr val="E2E7F2"/>
                      </a:solidFill>
                    </a:lnL>
                    <a:lnR w="6350">
                      <a:solidFill>
                        <a:srgbClr val="E2E7F2"/>
                      </a:solidFill>
                    </a:lnR>
                    <a:lnT w="6350">
                      <a:solidFill>
                        <a:srgbClr val="E2E7F2"/>
                      </a:solidFill>
                    </a:lnT>
                    <a:lnB w="6350">
                      <a:solidFill>
                        <a:srgbClr val="E2E7F2"/>
                      </a:solidFill>
                    </a:lnB>
                    <a:solidFill>
                      <a:srgbClr val="1E2761"/>
                    </a:solidFill>
                  </a:tcPr>
                </a:tc>
                <a:tc>
                  <a:txBody>
                    <a:bodyPr wrap="none"/>
                    <a:lstStyle/>
                    <a:p>
                      <a:pPr algn="r"/>
                      <a:r>
                        <a:rPr sz="800" b="1">
                          <a:solidFill>
                            <a:srgbClr val="FFFFFF"/>
                          </a:solidFill>
                          <a:latin typeface="Calibri"/>
                        </a:rPr>
                        <a:t>May</a:t>
                      </a:r>
                    </a:p>
                  </a:txBody>
                  <a:tcPr anchor="ctr" marL="27432" marR="27432" marT="4572" marB="4572">
                    <a:lnL w="6350">
                      <a:solidFill>
                        <a:srgbClr val="E2E7F2"/>
                      </a:solidFill>
                    </a:lnL>
                    <a:lnR w="6350">
                      <a:solidFill>
                        <a:srgbClr val="E2E7F2"/>
                      </a:solidFill>
                    </a:lnR>
                    <a:lnT w="6350">
                      <a:solidFill>
                        <a:srgbClr val="E2E7F2"/>
                      </a:solidFill>
                    </a:lnT>
                    <a:lnB w="6350">
                      <a:solidFill>
                        <a:srgbClr val="E2E7F2"/>
                      </a:solidFill>
                    </a:lnB>
                    <a:solidFill>
                      <a:srgbClr val="1E2761"/>
                    </a:solidFill>
                  </a:tcPr>
                </a:tc>
                <a:tc>
                  <a:txBody>
                    <a:bodyPr wrap="none"/>
                    <a:lstStyle/>
                    <a:p>
                      <a:pPr algn="r"/>
                      <a:r>
                        <a:rPr sz="800" b="1">
                          <a:solidFill>
                            <a:srgbClr val="FFFFFF"/>
                          </a:solidFill>
                          <a:latin typeface="Calibri"/>
                        </a:rPr>
                        <a:t>Jun</a:t>
                      </a:r>
                    </a:p>
                  </a:txBody>
                  <a:tcPr anchor="ctr" marL="27432" marR="27432" marT="4572" marB="4572">
                    <a:lnL w="6350">
                      <a:solidFill>
                        <a:srgbClr val="E2E7F2"/>
                      </a:solidFill>
                    </a:lnL>
                    <a:lnR w="6350">
                      <a:solidFill>
                        <a:srgbClr val="E2E7F2"/>
                      </a:solidFill>
                    </a:lnR>
                    <a:lnT w="6350">
                      <a:solidFill>
                        <a:srgbClr val="E2E7F2"/>
                      </a:solidFill>
                    </a:lnT>
                    <a:lnB w="6350">
                      <a:solidFill>
                        <a:srgbClr val="E2E7F2"/>
                      </a:solidFill>
                    </a:lnB>
                    <a:solidFill>
                      <a:srgbClr val="1E2761"/>
                    </a:solidFill>
                  </a:tcPr>
                </a:tc>
                <a:tc>
                  <a:txBody>
                    <a:bodyPr wrap="none"/>
                    <a:lstStyle/>
                    <a:p>
                      <a:pPr algn="r"/>
                      <a:r>
                        <a:rPr sz="800" b="1">
                          <a:solidFill>
                            <a:srgbClr val="FFFFFF"/>
                          </a:solidFill>
                          <a:latin typeface="Calibri"/>
                        </a:rPr>
                        <a:t>H1</a:t>
                      </a:r>
                    </a:p>
                  </a:txBody>
                  <a:tcPr anchor="ctr" marL="27432" marR="27432" marT="4572" marB="4572">
                    <a:lnL w="6350">
                      <a:solidFill>
                        <a:srgbClr val="E2E7F2"/>
                      </a:solidFill>
                    </a:lnL>
                    <a:lnR w="6350">
                      <a:solidFill>
                        <a:srgbClr val="E2E7F2"/>
                      </a:solidFill>
                    </a:lnR>
                    <a:lnT w="6350">
                      <a:solidFill>
                        <a:srgbClr val="E2E7F2"/>
                      </a:solidFill>
                    </a:lnT>
                    <a:lnB w="6350">
                      <a:solidFill>
                        <a:srgbClr val="E2E7F2"/>
                      </a:solidFill>
                    </a:lnB>
                    <a:solidFill>
                      <a:srgbClr val="1E2761"/>
                    </a:solidFill>
                  </a:tcPr>
                </a:tc>
                <a:tc>
                  <a:txBody>
                    <a:bodyPr wrap="none"/>
                    <a:lstStyle/>
                    <a:p>
                      <a:pPr algn="r"/>
                      <a:r>
                        <a:rPr sz="800" b="1">
                          <a:solidFill>
                            <a:srgbClr val="FFFFFF"/>
                          </a:solidFill>
                          <a:latin typeface="Calibri"/>
                        </a:rPr>
                        <a:t>Mix</a:t>
                      </a:r>
                    </a:p>
                  </a:txBody>
                  <a:tcPr anchor="ctr" marL="27432" marR="27432" marT="4572" marB="4572">
                    <a:lnL w="6350">
                      <a:solidFill>
                        <a:srgbClr val="E2E7F2"/>
                      </a:solidFill>
                    </a:lnL>
                    <a:lnR w="6350">
                      <a:solidFill>
                        <a:srgbClr val="E2E7F2"/>
                      </a:solidFill>
                    </a:lnR>
                    <a:lnT w="6350">
                      <a:solidFill>
                        <a:srgbClr val="E2E7F2"/>
                      </a:solidFill>
                    </a:lnT>
                    <a:lnB w="6350">
                      <a:solidFill>
                        <a:srgbClr val="E2E7F2"/>
                      </a:solidFill>
                    </a:lnB>
                    <a:solidFill>
                      <a:srgbClr val="1E2761"/>
                    </a:solidFill>
                  </a:tcPr>
                </a:tc>
                <a:tc>
                  <a:txBody>
                    <a:bodyPr wrap="none"/>
                    <a:lstStyle/>
                    <a:p>
                      <a:pPr algn="r"/>
                      <a:r>
                        <a:rPr sz="800" b="1">
                          <a:solidFill>
                            <a:srgbClr val="FFFFFF"/>
                          </a:solidFill>
                          <a:latin typeface="Calibri"/>
                        </a:rPr>
                        <a:t>Chg %</a:t>
                      </a:r>
                    </a:p>
                  </a:txBody>
                  <a:tcPr anchor="ctr" marL="27432" marR="27432" marT="4572" marB="4572">
                    <a:lnL w="6350">
                      <a:solidFill>
                        <a:srgbClr val="E2E7F2"/>
                      </a:solidFill>
                    </a:lnL>
                    <a:lnR w="6350">
                      <a:solidFill>
                        <a:srgbClr val="E2E7F2"/>
                      </a:solidFill>
                    </a:lnR>
                    <a:lnT w="6350">
                      <a:solidFill>
                        <a:srgbClr val="E2E7F2"/>
                      </a:solidFill>
                    </a:lnT>
                    <a:lnB w="6350">
                      <a:solidFill>
                        <a:srgbClr val="E2E7F2"/>
                      </a:solidFill>
                    </a:lnB>
                    <a:solidFill>
                      <a:srgbClr val="1E2761"/>
                    </a:solidFill>
                  </a:tcPr>
                </a:tc>
              </a:tr>
              <a:tr h="173736">
                <a:tc>
                  <a:txBody>
                    <a:bodyPr wrap="none"/>
                    <a:lstStyle/>
                    <a:p>
                      <a:pPr algn="l"/>
                      <a:r>
                        <a:rPr sz="800" b="1">
                          <a:solidFill>
                            <a:srgbClr val="26292E"/>
                          </a:solidFill>
                          <a:latin typeface="Calibri"/>
                        </a:rPr>
                        <a:t>Corporate SS</a:t>
                      </a:r>
                    </a:p>
                  </a:txBody>
                  <a:tcPr anchor="ctr" marL="27432" marR="27432" marT="4572" marB="4572">
                    <a:lnL w="6350">
                      <a:solidFill>
                        <a:srgbClr val="E2E7F2"/>
                      </a:solidFill>
                    </a:lnL>
                    <a:lnR w="6350">
                      <a:solidFill>
                        <a:srgbClr val="E2E7F2"/>
                      </a:solidFill>
                    </a:lnR>
                    <a:lnT w="6350">
                      <a:solidFill>
                        <a:srgbClr val="E2E7F2"/>
                      </a:solidFill>
                    </a:lnT>
                    <a:lnB w="6350">
                      <a:solidFill>
                        <a:srgbClr val="E2E7F2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wrap="none"/>
                    <a:lstStyle/>
                    <a:p>
                      <a:pPr algn="r"/>
                      <a:r>
                        <a:rPr sz="800" b="0">
                          <a:solidFill>
                            <a:srgbClr val="26292E"/>
                          </a:solidFill>
                          <a:latin typeface="Calibri"/>
                        </a:rPr>
                        <a:t>102</a:t>
                      </a:r>
                    </a:p>
                  </a:txBody>
                  <a:tcPr anchor="ctr" marL="27432" marR="27432" marT="4572" marB="4572">
                    <a:lnL w="6350">
                      <a:solidFill>
                        <a:srgbClr val="E2E7F2"/>
                      </a:solidFill>
                    </a:lnL>
                    <a:lnR w="6350">
                      <a:solidFill>
                        <a:srgbClr val="E2E7F2"/>
                      </a:solidFill>
                    </a:lnR>
                    <a:lnT w="6350">
                      <a:solidFill>
                        <a:srgbClr val="E2E7F2"/>
                      </a:solidFill>
                    </a:lnT>
                    <a:lnB w="6350">
                      <a:solidFill>
                        <a:srgbClr val="E2E7F2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wrap="none"/>
                    <a:lstStyle/>
                    <a:p>
                      <a:pPr algn="r"/>
                      <a:r>
                        <a:rPr sz="800" b="0">
                          <a:solidFill>
                            <a:srgbClr val="26292E"/>
                          </a:solidFill>
                          <a:latin typeface="Calibri"/>
                        </a:rPr>
                        <a:t>158</a:t>
                      </a:r>
                    </a:p>
                  </a:txBody>
                  <a:tcPr anchor="ctr" marL="27432" marR="27432" marT="4572" marB="4572">
                    <a:lnL w="6350">
                      <a:solidFill>
                        <a:srgbClr val="E2E7F2"/>
                      </a:solidFill>
                    </a:lnL>
                    <a:lnR w="6350">
                      <a:solidFill>
                        <a:srgbClr val="E2E7F2"/>
                      </a:solidFill>
                    </a:lnR>
                    <a:lnT w="6350">
                      <a:solidFill>
                        <a:srgbClr val="E2E7F2"/>
                      </a:solidFill>
                    </a:lnT>
                    <a:lnB w="6350">
                      <a:solidFill>
                        <a:srgbClr val="E2E7F2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wrap="none"/>
                    <a:lstStyle/>
                    <a:p>
                      <a:pPr algn="r"/>
                      <a:r>
                        <a:rPr sz="800" b="0">
                          <a:solidFill>
                            <a:srgbClr val="26292E"/>
                          </a:solidFill>
                          <a:latin typeface="Calibri"/>
                        </a:rPr>
                        <a:t>203</a:t>
                      </a:r>
                    </a:p>
                  </a:txBody>
                  <a:tcPr anchor="ctr" marL="27432" marR="27432" marT="4572" marB="4572">
                    <a:lnL w="6350">
                      <a:solidFill>
                        <a:srgbClr val="E2E7F2"/>
                      </a:solidFill>
                    </a:lnL>
                    <a:lnR w="6350">
                      <a:solidFill>
                        <a:srgbClr val="E2E7F2"/>
                      </a:solidFill>
                    </a:lnR>
                    <a:lnT w="6350">
                      <a:solidFill>
                        <a:srgbClr val="E2E7F2"/>
                      </a:solidFill>
                    </a:lnT>
                    <a:lnB w="6350">
                      <a:solidFill>
                        <a:srgbClr val="E2E7F2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wrap="none"/>
                    <a:lstStyle/>
                    <a:p>
                      <a:pPr algn="r"/>
                      <a:r>
                        <a:rPr sz="800" b="0">
                          <a:solidFill>
                            <a:srgbClr val="26292E"/>
                          </a:solidFill>
                          <a:latin typeface="Calibri"/>
                        </a:rPr>
                        <a:t>194</a:t>
                      </a:r>
                    </a:p>
                  </a:txBody>
                  <a:tcPr anchor="ctr" marL="27432" marR="27432" marT="4572" marB="4572">
                    <a:lnL w="6350">
                      <a:solidFill>
                        <a:srgbClr val="E2E7F2"/>
                      </a:solidFill>
                    </a:lnL>
                    <a:lnR w="6350">
                      <a:solidFill>
                        <a:srgbClr val="E2E7F2"/>
                      </a:solidFill>
                    </a:lnR>
                    <a:lnT w="6350">
                      <a:solidFill>
                        <a:srgbClr val="E2E7F2"/>
                      </a:solidFill>
                    </a:lnT>
                    <a:lnB w="6350">
                      <a:solidFill>
                        <a:srgbClr val="E2E7F2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wrap="none"/>
                    <a:lstStyle/>
                    <a:p>
                      <a:pPr algn="r"/>
                      <a:r>
                        <a:rPr sz="800" b="0">
                          <a:solidFill>
                            <a:srgbClr val="26292E"/>
                          </a:solidFill>
                          <a:latin typeface="Calibri"/>
                        </a:rPr>
                        <a:t>176</a:t>
                      </a:r>
                    </a:p>
                  </a:txBody>
                  <a:tcPr anchor="ctr" marL="27432" marR="27432" marT="4572" marB="4572">
                    <a:lnL w="6350">
                      <a:solidFill>
                        <a:srgbClr val="E2E7F2"/>
                      </a:solidFill>
                    </a:lnL>
                    <a:lnR w="6350">
                      <a:solidFill>
                        <a:srgbClr val="E2E7F2"/>
                      </a:solidFill>
                    </a:lnR>
                    <a:lnT w="6350">
                      <a:solidFill>
                        <a:srgbClr val="E2E7F2"/>
                      </a:solidFill>
                    </a:lnT>
                    <a:lnB w="6350">
                      <a:solidFill>
                        <a:srgbClr val="E2E7F2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wrap="none"/>
                    <a:lstStyle/>
                    <a:p>
                      <a:pPr algn="r"/>
                      <a:r>
                        <a:rPr sz="800" b="0">
                          <a:solidFill>
                            <a:srgbClr val="26292E"/>
                          </a:solidFill>
                          <a:latin typeface="Calibri"/>
                        </a:rPr>
                        <a:t>67</a:t>
                      </a:r>
                    </a:p>
                  </a:txBody>
                  <a:tcPr anchor="ctr" marL="27432" marR="27432" marT="4572" marB="4572">
                    <a:lnL w="6350">
                      <a:solidFill>
                        <a:srgbClr val="E2E7F2"/>
                      </a:solidFill>
                    </a:lnL>
                    <a:lnR w="6350">
                      <a:solidFill>
                        <a:srgbClr val="E2E7F2"/>
                      </a:solidFill>
                    </a:lnR>
                    <a:lnT w="6350">
                      <a:solidFill>
                        <a:srgbClr val="E2E7F2"/>
                      </a:solidFill>
                    </a:lnT>
                    <a:lnB w="6350">
                      <a:solidFill>
                        <a:srgbClr val="E2E7F2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wrap="none"/>
                    <a:lstStyle/>
                    <a:p>
                      <a:pPr algn="r"/>
                      <a:r>
                        <a:rPr sz="800" b="1">
                          <a:solidFill>
                            <a:srgbClr val="26292E"/>
                          </a:solidFill>
                          <a:latin typeface="Calibri"/>
                        </a:rPr>
                        <a:t>900</a:t>
                      </a:r>
                    </a:p>
                  </a:txBody>
                  <a:tcPr anchor="ctr" marL="27432" marR="27432" marT="4572" marB="4572">
                    <a:lnL w="6350">
                      <a:solidFill>
                        <a:srgbClr val="E2E7F2"/>
                      </a:solidFill>
                    </a:lnL>
                    <a:lnR w="6350">
                      <a:solidFill>
                        <a:srgbClr val="E2E7F2"/>
                      </a:solidFill>
                    </a:lnR>
                    <a:lnT w="6350">
                      <a:solidFill>
                        <a:srgbClr val="E2E7F2"/>
                      </a:solidFill>
                    </a:lnT>
                    <a:lnB w="6350">
                      <a:solidFill>
                        <a:srgbClr val="E2E7F2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wrap="none"/>
                    <a:lstStyle/>
                    <a:p>
                      <a:pPr algn="r"/>
                      <a:r>
                        <a:rPr sz="800" b="0">
                          <a:solidFill>
                            <a:srgbClr val="26292E"/>
                          </a:solidFill>
                          <a:latin typeface="Calibri"/>
                        </a:rPr>
                        <a:t>3%</a:t>
                      </a:r>
                    </a:p>
                  </a:txBody>
                  <a:tcPr anchor="ctr" marL="27432" marR="27432" marT="4572" marB="4572">
                    <a:lnL w="6350">
                      <a:solidFill>
                        <a:srgbClr val="E2E7F2"/>
                      </a:solidFill>
                    </a:lnL>
                    <a:lnR w="6350">
                      <a:solidFill>
                        <a:srgbClr val="E2E7F2"/>
                      </a:solidFill>
                    </a:lnR>
                    <a:lnT w="6350">
                      <a:solidFill>
                        <a:srgbClr val="E2E7F2"/>
                      </a:solidFill>
                    </a:lnT>
                    <a:lnB w="6350">
                      <a:solidFill>
                        <a:srgbClr val="E2E7F2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wrap="none"/>
                    <a:lstStyle/>
                    <a:p>
                      <a:pPr algn="r"/>
                      <a:r>
                        <a:rPr sz="800" b="1">
                          <a:solidFill>
                            <a:srgbClr val="1E7B34"/>
                          </a:solidFill>
                          <a:latin typeface="Calibri"/>
                        </a:rPr>
                        <a:t>+36%</a:t>
                      </a:r>
                    </a:p>
                  </a:txBody>
                  <a:tcPr anchor="ctr" marL="27432" marR="27432" marT="4572" marB="4572">
                    <a:lnL w="6350">
                      <a:solidFill>
                        <a:srgbClr val="E2E7F2"/>
                      </a:solidFill>
                    </a:lnL>
                    <a:lnR w="6350">
                      <a:solidFill>
                        <a:srgbClr val="E2E7F2"/>
                      </a:solidFill>
                    </a:lnR>
                    <a:lnT w="6350">
                      <a:solidFill>
                        <a:srgbClr val="E2E7F2"/>
                      </a:solidFill>
                    </a:lnT>
                    <a:lnB w="6350">
                      <a:solidFill>
                        <a:srgbClr val="E2E7F2"/>
                      </a:solidFill>
                    </a:lnB>
                    <a:solidFill>
                      <a:srgbClr val="FFFFFF"/>
                    </a:solidFill>
                  </a:tcPr>
                </a:tc>
              </a:tr>
              <a:tr h="173736">
                <a:tc>
                  <a:txBody>
                    <a:bodyPr wrap="none"/>
                    <a:lstStyle/>
                    <a:p>
                      <a:pPr algn="l"/>
                      <a:r>
                        <a:rPr sz="800" b="0">
                          <a:solidFill>
                            <a:srgbClr val="595959"/>
                          </a:solidFill>
                          <a:latin typeface="Calibri"/>
                        </a:rPr>
                        <a:t>   ’25</a:t>
                      </a:r>
                    </a:p>
                  </a:txBody>
                  <a:tcPr anchor="ctr" marL="27432" marR="27432" marT="4572" marB="4572">
                    <a:lnL w="6350">
                      <a:solidFill>
                        <a:srgbClr val="E2E7F2"/>
                      </a:solidFill>
                    </a:lnL>
                    <a:lnR w="6350">
                      <a:solidFill>
                        <a:srgbClr val="E2E7F2"/>
                      </a:solidFill>
                    </a:lnR>
                    <a:lnT w="6350">
                      <a:solidFill>
                        <a:srgbClr val="E2E7F2"/>
                      </a:solidFill>
                    </a:lnT>
                    <a:lnB w="6350">
                      <a:solidFill>
                        <a:srgbClr val="E2E7F2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wrap="none"/>
                    <a:lstStyle/>
                    <a:p>
                      <a:pPr algn="r"/>
                      <a:r>
                        <a:rPr sz="800" b="0">
                          <a:solidFill>
                            <a:srgbClr val="595959"/>
                          </a:solidFill>
                          <a:latin typeface="Calibri"/>
                        </a:rPr>
                        <a:t>180</a:t>
                      </a:r>
                    </a:p>
                  </a:txBody>
                  <a:tcPr anchor="ctr" marL="27432" marR="27432" marT="4572" marB="4572">
                    <a:lnL w="6350">
                      <a:solidFill>
                        <a:srgbClr val="E2E7F2"/>
                      </a:solidFill>
                    </a:lnL>
                    <a:lnR w="6350">
                      <a:solidFill>
                        <a:srgbClr val="E2E7F2"/>
                      </a:solidFill>
                    </a:lnR>
                    <a:lnT w="6350">
                      <a:solidFill>
                        <a:srgbClr val="E2E7F2"/>
                      </a:solidFill>
                    </a:lnT>
                    <a:lnB w="6350">
                      <a:solidFill>
                        <a:srgbClr val="E2E7F2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wrap="none"/>
                    <a:lstStyle/>
                    <a:p>
                      <a:pPr algn="r"/>
                      <a:r>
                        <a:rPr sz="800" b="0">
                          <a:solidFill>
                            <a:srgbClr val="595959"/>
                          </a:solidFill>
                          <a:latin typeface="Calibri"/>
                        </a:rPr>
                        <a:t>56</a:t>
                      </a:r>
                    </a:p>
                  </a:txBody>
                  <a:tcPr anchor="ctr" marL="27432" marR="27432" marT="4572" marB="4572">
                    <a:lnL w="6350">
                      <a:solidFill>
                        <a:srgbClr val="E2E7F2"/>
                      </a:solidFill>
                    </a:lnL>
                    <a:lnR w="6350">
                      <a:solidFill>
                        <a:srgbClr val="E2E7F2"/>
                      </a:solidFill>
                    </a:lnR>
                    <a:lnT w="6350">
                      <a:solidFill>
                        <a:srgbClr val="E2E7F2"/>
                      </a:solidFill>
                    </a:lnT>
                    <a:lnB w="6350">
                      <a:solidFill>
                        <a:srgbClr val="E2E7F2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wrap="none"/>
                    <a:lstStyle/>
                    <a:p>
                      <a:pPr algn="r"/>
                      <a:r>
                        <a:rPr sz="800" b="0">
                          <a:solidFill>
                            <a:srgbClr val="595959"/>
                          </a:solidFill>
                          <a:latin typeface="Calibri"/>
                        </a:rPr>
                        <a:t>135</a:t>
                      </a:r>
                    </a:p>
                  </a:txBody>
                  <a:tcPr anchor="ctr" marL="27432" marR="27432" marT="4572" marB="4572">
                    <a:lnL w="6350">
                      <a:solidFill>
                        <a:srgbClr val="E2E7F2"/>
                      </a:solidFill>
                    </a:lnL>
                    <a:lnR w="6350">
                      <a:solidFill>
                        <a:srgbClr val="E2E7F2"/>
                      </a:solidFill>
                    </a:lnR>
                    <a:lnT w="6350">
                      <a:solidFill>
                        <a:srgbClr val="E2E7F2"/>
                      </a:solidFill>
                    </a:lnT>
                    <a:lnB w="6350">
                      <a:solidFill>
                        <a:srgbClr val="E2E7F2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wrap="none"/>
                    <a:lstStyle/>
                    <a:p>
                      <a:pPr algn="r"/>
                      <a:r>
                        <a:rPr sz="800" b="0">
                          <a:solidFill>
                            <a:srgbClr val="595959"/>
                          </a:solidFill>
                          <a:latin typeface="Calibri"/>
                        </a:rPr>
                        <a:t>109</a:t>
                      </a:r>
                    </a:p>
                  </a:txBody>
                  <a:tcPr anchor="ctr" marL="27432" marR="27432" marT="4572" marB="4572">
                    <a:lnL w="6350">
                      <a:solidFill>
                        <a:srgbClr val="E2E7F2"/>
                      </a:solidFill>
                    </a:lnL>
                    <a:lnR w="6350">
                      <a:solidFill>
                        <a:srgbClr val="E2E7F2"/>
                      </a:solidFill>
                    </a:lnR>
                    <a:lnT w="6350">
                      <a:solidFill>
                        <a:srgbClr val="E2E7F2"/>
                      </a:solidFill>
                    </a:lnT>
                    <a:lnB w="6350">
                      <a:solidFill>
                        <a:srgbClr val="E2E7F2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wrap="none"/>
                    <a:lstStyle/>
                    <a:p>
                      <a:pPr algn="r"/>
                      <a:r>
                        <a:rPr sz="800" b="0">
                          <a:solidFill>
                            <a:srgbClr val="595959"/>
                          </a:solidFill>
                          <a:latin typeface="Calibri"/>
                        </a:rPr>
                        <a:t>32</a:t>
                      </a:r>
                    </a:p>
                  </a:txBody>
                  <a:tcPr anchor="ctr" marL="27432" marR="27432" marT="4572" marB="4572">
                    <a:lnL w="6350">
                      <a:solidFill>
                        <a:srgbClr val="E2E7F2"/>
                      </a:solidFill>
                    </a:lnL>
                    <a:lnR w="6350">
                      <a:solidFill>
                        <a:srgbClr val="E2E7F2"/>
                      </a:solidFill>
                    </a:lnR>
                    <a:lnT w="6350">
                      <a:solidFill>
                        <a:srgbClr val="E2E7F2"/>
                      </a:solidFill>
                    </a:lnT>
                    <a:lnB w="6350">
                      <a:solidFill>
                        <a:srgbClr val="E2E7F2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wrap="none"/>
                    <a:lstStyle/>
                    <a:p>
                      <a:pPr algn="r"/>
                      <a:r>
                        <a:rPr sz="800" b="0">
                          <a:solidFill>
                            <a:srgbClr val="595959"/>
                          </a:solidFill>
                          <a:latin typeface="Calibri"/>
                        </a:rPr>
                        <a:t>148</a:t>
                      </a:r>
                    </a:p>
                  </a:txBody>
                  <a:tcPr anchor="ctr" marL="27432" marR="27432" marT="4572" marB="4572">
                    <a:lnL w="6350">
                      <a:solidFill>
                        <a:srgbClr val="E2E7F2"/>
                      </a:solidFill>
                    </a:lnL>
                    <a:lnR w="6350">
                      <a:solidFill>
                        <a:srgbClr val="E2E7F2"/>
                      </a:solidFill>
                    </a:lnR>
                    <a:lnT w="6350">
                      <a:solidFill>
                        <a:srgbClr val="E2E7F2"/>
                      </a:solidFill>
                    </a:lnT>
                    <a:lnB w="6350">
                      <a:solidFill>
                        <a:srgbClr val="E2E7F2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wrap="none"/>
                    <a:lstStyle/>
                    <a:p>
                      <a:pPr algn="r"/>
                      <a:r>
                        <a:rPr sz="800" b="0">
                          <a:solidFill>
                            <a:srgbClr val="595959"/>
                          </a:solidFill>
                          <a:latin typeface="Calibri"/>
                        </a:rPr>
                        <a:t>660</a:t>
                      </a:r>
                    </a:p>
                  </a:txBody>
                  <a:tcPr anchor="ctr" marL="27432" marR="27432" marT="4572" marB="4572">
                    <a:lnL w="6350">
                      <a:solidFill>
                        <a:srgbClr val="E2E7F2"/>
                      </a:solidFill>
                    </a:lnL>
                    <a:lnR w="6350">
                      <a:solidFill>
                        <a:srgbClr val="E2E7F2"/>
                      </a:solidFill>
                    </a:lnR>
                    <a:lnT w="6350">
                      <a:solidFill>
                        <a:srgbClr val="E2E7F2"/>
                      </a:solidFill>
                    </a:lnT>
                    <a:lnB w="6350">
                      <a:solidFill>
                        <a:srgbClr val="E2E7F2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wrap="none"/>
                    <a:lstStyle/>
                    <a:p>
                      <a:pPr algn="r"/>
                      <a:r>
                        <a:rPr sz="800" b="0">
                          <a:solidFill>
                            <a:srgbClr val="595959"/>
                          </a:solidFill>
                          <a:latin typeface="Calibri"/>
                        </a:rPr>
                        <a:t>2%</a:t>
                      </a:r>
                    </a:p>
                  </a:txBody>
                  <a:tcPr anchor="ctr" marL="27432" marR="27432" marT="4572" marB="4572">
                    <a:lnL w="6350">
                      <a:solidFill>
                        <a:srgbClr val="E2E7F2"/>
                      </a:solidFill>
                    </a:lnL>
                    <a:lnR w="6350">
                      <a:solidFill>
                        <a:srgbClr val="E2E7F2"/>
                      </a:solidFill>
                    </a:lnR>
                    <a:lnT w="6350">
                      <a:solidFill>
                        <a:srgbClr val="E2E7F2"/>
                      </a:solidFill>
                    </a:lnT>
                    <a:lnB w="6350">
                      <a:solidFill>
                        <a:srgbClr val="E2E7F2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wrap="none"/>
                    <a:lstStyle/>
                    <a:p>
                      <a:pPr algn="l"/>
                      <a:r>
                        <a:rPr sz="800" b="0">
                          <a:solidFill>
                            <a:srgbClr val="26292E"/>
                          </a:solidFill>
                          <a:latin typeface="Calibri"/>
                        </a:rPr>
                        <a:t/>
                      </a:r>
                    </a:p>
                  </a:txBody>
                  <a:tcPr anchor="ctr" marL="27432" marR="27432" marT="4572" marB="4572">
                    <a:lnL w="6350">
                      <a:solidFill>
                        <a:srgbClr val="E2E7F2"/>
                      </a:solidFill>
                    </a:lnL>
                    <a:lnR w="6350">
                      <a:solidFill>
                        <a:srgbClr val="E2E7F2"/>
                      </a:solidFill>
                    </a:lnR>
                    <a:lnT w="6350">
                      <a:solidFill>
                        <a:srgbClr val="E2E7F2"/>
                      </a:solidFill>
                    </a:lnT>
                    <a:lnB w="6350">
                      <a:solidFill>
                        <a:srgbClr val="E2E7F2"/>
                      </a:solidFill>
                    </a:lnB>
                    <a:solidFill>
                      <a:srgbClr val="FFFFFF"/>
                    </a:solidFill>
                  </a:tcPr>
                </a:tc>
              </a:tr>
              <a:tr h="173736">
                <a:tc>
                  <a:txBody>
                    <a:bodyPr wrap="none"/>
                    <a:lstStyle/>
                    <a:p>
                      <a:pPr algn="l"/>
                      <a:r>
                        <a:rPr sz="800" b="1">
                          <a:solidFill>
                            <a:srgbClr val="26292E"/>
                          </a:solidFill>
                          <a:latin typeface="Calibri"/>
                        </a:rPr>
                        <a:t>Corporate LS</a:t>
                      </a:r>
                    </a:p>
                  </a:txBody>
                  <a:tcPr anchor="ctr" marL="27432" marR="27432" marT="4572" marB="4572">
                    <a:lnL w="6350">
                      <a:solidFill>
                        <a:srgbClr val="E2E7F2"/>
                      </a:solidFill>
                    </a:lnL>
                    <a:lnR w="6350">
                      <a:solidFill>
                        <a:srgbClr val="E2E7F2"/>
                      </a:solidFill>
                    </a:lnR>
                    <a:lnT w="6350">
                      <a:solidFill>
                        <a:srgbClr val="E2E7F2"/>
                      </a:solidFill>
                    </a:lnT>
                    <a:lnB w="6350">
                      <a:solidFill>
                        <a:srgbClr val="E2E7F2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wrap="none"/>
                    <a:lstStyle/>
                    <a:p>
                      <a:pPr algn="r"/>
                      <a:r>
                        <a:rPr sz="800" b="0">
                          <a:solidFill>
                            <a:srgbClr val="26292E"/>
                          </a:solidFill>
                          <a:latin typeface="Calibri"/>
                        </a:rPr>
                        <a:t>31</a:t>
                      </a:r>
                    </a:p>
                  </a:txBody>
                  <a:tcPr anchor="ctr" marL="27432" marR="27432" marT="4572" marB="4572">
                    <a:lnL w="6350">
                      <a:solidFill>
                        <a:srgbClr val="E2E7F2"/>
                      </a:solidFill>
                    </a:lnL>
                    <a:lnR w="6350">
                      <a:solidFill>
                        <a:srgbClr val="E2E7F2"/>
                      </a:solidFill>
                    </a:lnR>
                    <a:lnT w="6350">
                      <a:solidFill>
                        <a:srgbClr val="E2E7F2"/>
                      </a:solidFill>
                    </a:lnT>
                    <a:lnB w="6350">
                      <a:solidFill>
                        <a:srgbClr val="E2E7F2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wrap="none"/>
                    <a:lstStyle/>
                    <a:p>
                      <a:pPr algn="r"/>
                      <a:r>
                        <a:rPr sz="800" b="0">
                          <a:solidFill>
                            <a:srgbClr val="26292E"/>
                          </a:solidFill>
                          <a:latin typeface="Calibri"/>
                        </a:rPr>
                        <a:t>28</a:t>
                      </a:r>
                    </a:p>
                  </a:txBody>
                  <a:tcPr anchor="ctr" marL="27432" marR="27432" marT="4572" marB="4572">
                    <a:lnL w="6350">
                      <a:solidFill>
                        <a:srgbClr val="E2E7F2"/>
                      </a:solidFill>
                    </a:lnL>
                    <a:lnR w="6350">
                      <a:solidFill>
                        <a:srgbClr val="E2E7F2"/>
                      </a:solidFill>
                    </a:lnR>
                    <a:lnT w="6350">
                      <a:solidFill>
                        <a:srgbClr val="E2E7F2"/>
                      </a:solidFill>
                    </a:lnT>
                    <a:lnB w="6350">
                      <a:solidFill>
                        <a:srgbClr val="E2E7F2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wrap="none"/>
                    <a:lstStyle/>
                    <a:p>
                      <a:pPr algn="r"/>
                      <a:r>
                        <a:rPr sz="800" b="0">
                          <a:solidFill>
                            <a:srgbClr val="26292E"/>
                          </a:solidFill>
                          <a:latin typeface="Calibri"/>
                        </a:rPr>
                        <a:t>31</a:t>
                      </a:r>
                    </a:p>
                  </a:txBody>
                  <a:tcPr anchor="ctr" marL="27432" marR="27432" marT="4572" marB="4572">
                    <a:lnL w="6350">
                      <a:solidFill>
                        <a:srgbClr val="E2E7F2"/>
                      </a:solidFill>
                    </a:lnL>
                    <a:lnR w="6350">
                      <a:solidFill>
                        <a:srgbClr val="E2E7F2"/>
                      </a:solidFill>
                    </a:lnR>
                    <a:lnT w="6350">
                      <a:solidFill>
                        <a:srgbClr val="E2E7F2"/>
                      </a:solidFill>
                    </a:lnT>
                    <a:lnB w="6350">
                      <a:solidFill>
                        <a:srgbClr val="E2E7F2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wrap="none"/>
                    <a:lstStyle/>
                    <a:p>
                      <a:pPr algn="r"/>
                      <a:r>
                        <a:rPr sz="800" b="0">
                          <a:solidFill>
                            <a:srgbClr val="26292E"/>
                          </a:solidFill>
                          <a:latin typeface="Calibri"/>
                        </a:rPr>
                        <a:t>30</a:t>
                      </a:r>
                    </a:p>
                  </a:txBody>
                  <a:tcPr anchor="ctr" marL="27432" marR="27432" marT="4572" marB="4572">
                    <a:lnL w="6350">
                      <a:solidFill>
                        <a:srgbClr val="E2E7F2"/>
                      </a:solidFill>
                    </a:lnL>
                    <a:lnR w="6350">
                      <a:solidFill>
                        <a:srgbClr val="E2E7F2"/>
                      </a:solidFill>
                    </a:lnR>
                    <a:lnT w="6350">
                      <a:solidFill>
                        <a:srgbClr val="E2E7F2"/>
                      </a:solidFill>
                    </a:lnT>
                    <a:lnB w="6350">
                      <a:solidFill>
                        <a:srgbClr val="E2E7F2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wrap="none"/>
                    <a:lstStyle/>
                    <a:p>
                      <a:pPr algn="r"/>
                      <a:r>
                        <a:rPr sz="800" b="0">
                          <a:solidFill>
                            <a:srgbClr val="26292E"/>
                          </a:solidFill>
                          <a:latin typeface="Calibri"/>
                        </a:rPr>
                        <a:t>31</a:t>
                      </a:r>
                    </a:p>
                  </a:txBody>
                  <a:tcPr anchor="ctr" marL="27432" marR="27432" marT="4572" marB="4572">
                    <a:lnL w="6350">
                      <a:solidFill>
                        <a:srgbClr val="E2E7F2"/>
                      </a:solidFill>
                    </a:lnL>
                    <a:lnR w="6350">
                      <a:solidFill>
                        <a:srgbClr val="E2E7F2"/>
                      </a:solidFill>
                    </a:lnR>
                    <a:lnT w="6350">
                      <a:solidFill>
                        <a:srgbClr val="E2E7F2"/>
                      </a:solidFill>
                    </a:lnT>
                    <a:lnB w="6350">
                      <a:solidFill>
                        <a:srgbClr val="E2E7F2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wrap="none"/>
                    <a:lstStyle/>
                    <a:p>
                      <a:pPr algn="r"/>
                      <a:r>
                        <a:rPr sz="800" b="0">
                          <a:solidFill>
                            <a:srgbClr val="26292E"/>
                          </a:solidFill>
                          <a:latin typeface="Calibri"/>
                        </a:rPr>
                        <a:t>30</a:t>
                      </a:r>
                    </a:p>
                  </a:txBody>
                  <a:tcPr anchor="ctr" marL="27432" marR="27432" marT="4572" marB="4572">
                    <a:lnL w="6350">
                      <a:solidFill>
                        <a:srgbClr val="E2E7F2"/>
                      </a:solidFill>
                    </a:lnL>
                    <a:lnR w="6350">
                      <a:solidFill>
                        <a:srgbClr val="E2E7F2"/>
                      </a:solidFill>
                    </a:lnR>
                    <a:lnT w="6350">
                      <a:solidFill>
                        <a:srgbClr val="E2E7F2"/>
                      </a:solidFill>
                    </a:lnT>
                    <a:lnB w="6350">
                      <a:solidFill>
                        <a:srgbClr val="E2E7F2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wrap="none"/>
                    <a:lstStyle/>
                    <a:p>
                      <a:pPr algn="r"/>
                      <a:r>
                        <a:rPr sz="800" b="1">
                          <a:solidFill>
                            <a:srgbClr val="26292E"/>
                          </a:solidFill>
                          <a:latin typeface="Calibri"/>
                        </a:rPr>
                        <a:t>181</a:t>
                      </a:r>
                    </a:p>
                  </a:txBody>
                  <a:tcPr anchor="ctr" marL="27432" marR="27432" marT="4572" marB="4572">
                    <a:lnL w="6350">
                      <a:solidFill>
                        <a:srgbClr val="E2E7F2"/>
                      </a:solidFill>
                    </a:lnL>
                    <a:lnR w="6350">
                      <a:solidFill>
                        <a:srgbClr val="E2E7F2"/>
                      </a:solidFill>
                    </a:lnR>
                    <a:lnT w="6350">
                      <a:solidFill>
                        <a:srgbClr val="E2E7F2"/>
                      </a:solidFill>
                    </a:lnT>
                    <a:lnB w="6350">
                      <a:solidFill>
                        <a:srgbClr val="E2E7F2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wrap="none"/>
                    <a:lstStyle/>
                    <a:p>
                      <a:pPr algn="r"/>
                      <a:r>
                        <a:rPr sz="800" b="0">
                          <a:solidFill>
                            <a:srgbClr val="26292E"/>
                          </a:solidFill>
                          <a:latin typeface="Calibri"/>
                        </a:rPr>
                        <a:t>1%</a:t>
                      </a:r>
                    </a:p>
                  </a:txBody>
                  <a:tcPr anchor="ctr" marL="27432" marR="27432" marT="4572" marB="4572">
                    <a:lnL w="6350">
                      <a:solidFill>
                        <a:srgbClr val="E2E7F2"/>
                      </a:solidFill>
                    </a:lnL>
                    <a:lnR w="6350">
                      <a:solidFill>
                        <a:srgbClr val="E2E7F2"/>
                      </a:solidFill>
                    </a:lnR>
                    <a:lnT w="6350">
                      <a:solidFill>
                        <a:srgbClr val="E2E7F2"/>
                      </a:solidFill>
                    </a:lnT>
                    <a:lnB w="6350">
                      <a:solidFill>
                        <a:srgbClr val="E2E7F2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wrap="none"/>
                    <a:lstStyle/>
                    <a:p>
                      <a:pPr algn="r"/>
                      <a:r>
                        <a:rPr sz="800" b="1">
                          <a:solidFill>
                            <a:srgbClr val="1E7B34"/>
                          </a:solidFill>
                          <a:latin typeface="Calibri"/>
                        </a:rPr>
                        <a:t>+262%</a:t>
                      </a:r>
                    </a:p>
                  </a:txBody>
                  <a:tcPr anchor="ctr" marL="27432" marR="27432" marT="4572" marB="4572">
                    <a:lnL w="6350">
                      <a:solidFill>
                        <a:srgbClr val="E2E7F2"/>
                      </a:solidFill>
                    </a:lnL>
                    <a:lnR w="6350">
                      <a:solidFill>
                        <a:srgbClr val="E2E7F2"/>
                      </a:solidFill>
                    </a:lnR>
                    <a:lnT w="6350">
                      <a:solidFill>
                        <a:srgbClr val="E2E7F2"/>
                      </a:solidFill>
                    </a:lnT>
                    <a:lnB w="6350">
                      <a:solidFill>
                        <a:srgbClr val="E2E7F2"/>
                      </a:solidFill>
                    </a:lnB>
                    <a:solidFill>
                      <a:srgbClr val="FFFFFF"/>
                    </a:solidFill>
                  </a:tcPr>
                </a:tc>
              </a:tr>
              <a:tr h="173736">
                <a:tc>
                  <a:txBody>
                    <a:bodyPr wrap="none"/>
                    <a:lstStyle/>
                    <a:p>
                      <a:pPr algn="l"/>
                      <a:r>
                        <a:rPr sz="800" b="0">
                          <a:solidFill>
                            <a:srgbClr val="595959"/>
                          </a:solidFill>
                          <a:latin typeface="Calibri"/>
                        </a:rPr>
                        <a:t>   ’25</a:t>
                      </a:r>
                    </a:p>
                  </a:txBody>
                  <a:tcPr anchor="ctr" marL="27432" marR="27432" marT="4572" marB="4572">
                    <a:lnL w="6350">
                      <a:solidFill>
                        <a:srgbClr val="E2E7F2"/>
                      </a:solidFill>
                    </a:lnL>
                    <a:lnR w="6350">
                      <a:solidFill>
                        <a:srgbClr val="E2E7F2"/>
                      </a:solidFill>
                    </a:lnR>
                    <a:lnT w="6350">
                      <a:solidFill>
                        <a:srgbClr val="E2E7F2"/>
                      </a:solidFill>
                    </a:lnT>
                    <a:lnB w="6350">
                      <a:solidFill>
                        <a:srgbClr val="E2E7F2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wrap="none"/>
                    <a:lstStyle/>
                    <a:p>
                      <a:pPr algn="r"/>
                      <a:r>
                        <a:rPr sz="800" b="0">
                          <a:solidFill>
                            <a:srgbClr val="595959"/>
                          </a:solidFill>
                          <a:latin typeface="Calibri"/>
                        </a:rPr>
                        <a:t>–</a:t>
                      </a:r>
                    </a:p>
                  </a:txBody>
                  <a:tcPr anchor="ctr" marL="27432" marR="27432" marT="4572" marB="4572">
                    <a:lnL w="6350">
                      <a:solidFill>
                        <a:srgbClr val="E2E7F2"/>
                      </a:solidFill>
                    </a:lnL>
                    <a:lnR w="6350">
                      <a:solidFill>
                        <a:srgbClr val="E2E7F2"/>
                      </a:solidFill>
                    </a:lnR>
                    <a:lnT w="6350">
                      <a:solidFill>
                        <a:srgbClr val="E2E7F2"/>
                      </a:solidFill>
                    </a:lnT>
                    <a:lnB w="6350">
                      <a:solidFill>
                        <a:srgbClr val="E2E7F2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wrap="none"/>
                    <a:lstStyle/>
                    <a:p>
                      <a:pPr algn="r"/>
                      <a:r>
                        <a:rPr sz="800" b="0">
                          <a:solidFill>
                            <a:srgbClr val="595959"/>
                          </a:solidFill>
                          <a:latin typeface="Calibri"/>
                        </a:rPr>
                        <a:t>–</a:t>
                      </a:r>
                    </a:p>
                  </a:txBody>
                  <a:tcPr anchor="ctr" marL="27432" marR="27432" marT="4572" marB="4572">
                    <a:lnL w="6350">
                      <a:solidFill>
                        <a:srgbClr val="E2E7F2"/>
                      </a:solidFill>
                    </a:lnL>
                    <a:lnR w="6350">
                      <a:solidFill>
                        <a:srgbClr val="E2E7F2"/>
                      </a:solidFill>
                    </a:lnR>
                    <a:lnT w="6350">
                      <a:solidFill>
                        <a:srgbClr val="E2E7F2"/>
                      </a:solidFill>
                    </a:lnT>
                    <a:lnB w="6350">
                      <a:solidFill>
                        <a:srgbClr val="E2E7F2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wrap="none"/>
                    <a:lstStyle/>
                    <a:p>
                      <a:pPr algn="r"/>
                      <a:r>
                        <a:rPr sz="800" b="0">
                          <a:solidFill>
                            <a:srgbClr val="595959"/>
                          </a:solidFill>
                          <a:latin typeface="Calibri"/>
                        </a:rPr>
                        <a:t>–</a:t>
                      </a:r>
                    </a:p>
                  </a:txBody>
                  <a:tcPr anchor="ctr" marL="27432" marR="27432" marT="4572" marB="4572">
                    <a:lnL w="6350">
                      <a:solidFill>
                        <a:srgbClr val="E2E7F2"/>
                      </a:solidFill>
                    </a:lnL>
                    <a:lnR w="6350">
                      <a:solidFill>
                        <a:srgbClr val="E2E7F2"/>
                      </a:solidFill>
                    </a:lnR>
                    <a:lnT w="6350">
                      <a:solidFill>
                        <a:srgbClr val="E2E7F2"/>
                      </a:solidFill>
                    </a:lnT>
                    <a:lnB w="6350">
                      <a:solidFill>
                        <a:srgbClr val="E2E7F2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wrap="none"/>
                    <a:lstStyle/>
                    <a:p>
                      <a:pPr algn="r"/>
                      <a:r>
                        <a:rPr sz="800" b="0">
                          <a:solidFill>
                            <a:srgbClr val="595959"/>
                          </a:solidFill>
                          <a:latin typeface="Calibri"/>
                        </a:rPr>
                        <a:t>–</a:t>
                      </a:r>
                    </a:p>
                  </a:txBody>
                  <a:tcPr anchor="ctr" marL="27432" marR="27432" marT="4572" marB="4572">
                    <a:lnL w="6350">
                      <a:solidFill>
                        <a:srgbClr val="E2E7F2"/>
                      </a:solidFill>
                    </a:lnL>
                    <a:lnR w="6350">
                      <a:solidFill>
                        <a:srgbClr val="E2E7F2"/>
                      </a:solidFill>
                    </a:lnR>
                    <a:lnT w="6350">
                      <a:solidFill>
                        <a:srgbClr val="E2E7F2"/>
                      </a:solidFill>
                    </a:lnT>
                    <a:lnB w="6350">
                      <a:solidFill>
                        <a:srgbClr val="E2E7F2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wrap="none"/>
                    <a:lstStyle/>
                    <a:p>
                      <a:pPr algn="r"/>
                      <a:r>
                        <a:rPr sz="800" b="0">
                          <a:solidFill>
                            <a:srgbClr val="595959"/>
                          </a:solidFill>
                          <a:latin typeface="Calibri"/>
                        </a:rPr>
                        <a:t>4</a:t>
                      </a:r>
                    </a:p>
                  </a:txBody>
                  <a:tcPr anchor="ctr" marL="27432" marR="27432" marT="4572" marB="4572">
                    <a:lnL w="6350">
                      <a:solidFill>
                        <a:srgbClr val="E2E7F2"/>
                      </a:solidFill>
                    </a:lnL>
                    <a:lnR w="6350">
                      <a:solidFill>
                        <a:srgbClr val="E2E7F2"/>
                      </a:solidFill>
                    </a:lnR>
                    <a:lnT w="6350">
                      <a:solidFill>
                        <a:srgbClr val="E2E7F2"/>
                      </a:solidFill>
                    </a:lnT>
                    <a:lnB w="6350">
                      <a:solidFill>
                        <a:srgbClr val="E2E7F2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wrap="none"/>
                    <a:lstStyle/>
                    <a:p>
                      <a:pPr algn="r"/>
                      <a:r>
                        <a:rPr sz="800" b="0">
                          <a:solidFill>
                            <a:srgbClr val="595959"/>
                          </a:solidFill>
                          <a:latin typeface="Calibri"/>
                        </a:rPr>
                        <a:t>46</a:t>
                      </a:r>
                    </a:p>
                  </a:txBody>
                  <a:tcPr anchor="ctr" marL="27432" marR="27432" marT="4572" marB="4572">
                    <a:lnL w="6350">
                      <a:solidFill>
                        <a:srgbClr val="E2E7F2"/>
                      </a:solidFill>
                    </a:lnL>
                    <a:lnR w="6350">
                      <a:solidFill>
                        <a:srgbClr val="E2E7F2"/>
                      </a:solidFill>
                    </a:lnR>
                    <a:lnT w="6350">
                      <a:solidFill>
                        <a:srgbClr val="E2E7F2"/>
                      </a:solidFill>
                    </a:lnT>
                    <a:lnB w="6350">
                      <a:solidFill>
                        <a:srgbClr val="E2E7F2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wrap="none"/>
                    <a:lstStyle/>
                    <a:p>
                      <a:pPr algn="r"/>
                      <a:r>
                        <a:rPr sz="800" b="0">
                          <a:solidFill>
                            <a:srgbClr val="595959"/>
                          </a:solidFill>
                          <a:latin typeface="Calibri"/>
                        </a:rPr>
                        <a:t>50</a:t>
                      </a:r>
                    </a:p>
                  </a:txBody>
                  <a:tcPr anchor="ctr" marL="27432" marR="27432" marT="4572" marB="4572">
                    <a:lnL w="6350">
                      <a:solidFill>
                        <a:srgbClr val="E2E7F2"/>
                      </a:solidFill>
                    </a:lnL>
                    <a:lnR w="6350">
                      <a:solidFill>
                        <a:srgbClr val="E2E7F2"/>
                      </a:solidFill>
                    </a:lnR>
                    <a:lnT w="6350">
                      <a:solidFill>
                        <a:srgbClr val="E2E7F2"/>
                      </a:solidFill>
                    </a:lnT>
                    <a:lnB w="6350">
                      <a:solidFill>
                        <a:srgbClr val="E2E7F2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wrap="none"/>
                    <a:lstStyle/>
                    <a:p>
                      <a:pPr algn="r"/>
                      <a:r>
                        <a:rPr sz="800" b="0">
                          <a:solidFill>
                            <a:srgbClr val="595959"/>
                          </a:solidFill>
                          <a:latin typeface="Calibri"/>
                        </a:rPr>
                        <a:t>0%</a:t>
                      </a:r>
                    </a:p>
                  </a:txBody>
                  <a:tcPr anchor="ctr" marL="27432" marR="27432" marT="4572" marB="4572">
                    <a:lnL w="6350">
                      <a:solidFill>
                        <a:srgbClr val="E2E7F2"/>
                      </a:solidFill>
                    </a:lnL>
                    <a:lnR w="6350">
                      <a:solidFill>
                        <a:srgbClr val="E2E7F2"/>
                      </a:solidFill>
                    </a:lnR>
                    <a:lnT w="6350">
                      <a:solidFill>
                        <a:srgbClr val="E2E7F2"/>
                      </a:solidFill>
                    </a:lnT>
                    <a:lnB w="6350">
                      <a:solidFill>
                        <a:srgbClr val="E2E7F2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wrap="none"/>
                    <a:lstStyle/>
                    <a:p>
                      <a:pPr algn="l"/>
                      <a:r>
                        <a:rPr sz="800" b="0">
                          <a:solidFill>
                            <a:srgbClr val="26292E"/>
                          </a:solidFill>
                          <a:latin typeface="Calibri"/>
                        </a:rPr>
                        <a:t/>
                      </a:r>
                    </a:p>
                  </a:txBody>
                  <a:tcPr anchor="ctr" marL="27432" marR="27432" marT="4572" marB="4572">
                    <a:lnL w="6350">
                      <a:solidFill>
                        <a:srgbClr val="E2E7F2"/>
                      </a:solidFill>
                    </a:lnL>
                    <a:lnR w="6350">
                      <a:solidFill>
                        <a:srgbClr val="E2E7F2"/>
                      </a:solidFill>
                    </a:lnR>
                    <a:lnT w="6350">
                      <a:solidFill>
                        <a:srgbClr val="E2E7F2"/>
                      </a:solidFill>
                    </a:lnT>
                    <a:lnB w="6350">
                      <a:solidFill>
                        <a:srgbClr val="E2E7F2"/>
                      </a:solidFill>
                    </a:lnB>
                    <a:solidFill>
                      <a:srgbClr val="FFFFFF"/>
                    </a:solidFill>
                  </a:tcPr>
                </a:tc>
              </a:tr>
              <a:tr h="173736">
                <a:tc>
                  <a:txBody>
                    <a:bodyPr wrap="none"/>
                    <a:lstStyle/>
                    <a:p>
                      <a:pPr algn="l"/>
                      <a:r>
                        <a:rPr sz="800" b="1">
                          <a:solidFill>
                            <a:srgbClr val="26292E"/>
                          </a:solidFill>
                          <a:latin typeface="Calibri"/>
                        </a:rPr>
                        <a:t>Online</a:t>
                      </a:r>
                    </a:p>
                  </a:txBody>
                  <a:tcPr anchor="ctr" marL="27432" marR="27432" marT="4572" marB="4572">
                    <a:lnL w="6350">
                      <a:solidFill>
                        <a:srgbClr val="E2E7F2"/>
                      </a:solidFill>
                    </a:lnL>
                    <a:lnR w="6350">
                      <a:solidFill>
                        <a:srgbClr val="E2E7F2"/>
                      </a:solidFill>
                    </a:lnR>
                    <a:lnT w="6350">
                      <a:solidFill>
                        <a:srgbClr val="E2E7F2"/>
                      </a:solidFill>
                    </a:lnT>
                    <a:lnB w="6350">
                      <a:solidFill>
                        <a:srgbClr val="E2E7F2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wrap="none"/>
                    <a:lstStyle/>
                    <a:p>
                      <a:pPr algn="r"/>
                      <a:r>
                        <a:rPr sz="800" b="0">
                          <a:solidFill>
                            <a:srgbClr val="26292E"/>
                          </a:solidFill>
                          <a:latin typeface="Calibri"/>
                        </a:rPr>
                        <a:t>3,853</a:t>
                      </a:r>
                    </a:p>
                  </a:txBody>
                  <a:tcPr anchor="ctr" marL="27432" marR="27432" marT="4572" marB="4572">
                    <a:lnL w="6350">
                      <a:solidFill>
                        <a:srgbClr val="E2E7F2"/>
                      </a:solidFill>
                    </a:lnL>
                    <a:lnR w="6350">
                      <a:solidFill>
                        <a:srgbClr val="E2E7F2"/>
                      </a:solidFill>
                    </a:lnR>
                    <a:lnT w="6350">
                      <a:solidFill>
                        <a:srgbClr val="E2E7F2"/>
                      </a:solidFill>
                    </a:lnT>
                    <a:lnB w="6350">
                      <a:solidFill>
                        <a:srgbClr val="E2E7F2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wrap="none"/>
                    <a:lstStyle/>
                    <a:p>
                      <a:pPr algn="r"/>
                      <a:r>
                        <a:rPr sz="800" b="0">
                          <a:solidFill>
                            <a:srgbClr val="26292E"/>
                          </a:solidFill>
                          <a:latin typeface="Calibri"/>
                        </a:rPr>
                        <a:t>3,409</a:t>
                      </a:r>
                    </a:p>
                  </a:txBody>
                  <a:tcPr anchor="ctr" marL="27432" marR="27432" marT="4572" marB="4572">
                    <a:lnL w="6350">
                      <a:solidFill>
                        <a:srgbClr val="E2E7F2"/>
                      </a:solidFill>
                    </a:lnL>
                    <a:lnR w="6350">
                      <a:solidFill>
                        <a:srgbClr val="E2E7F2"/>
                      </a:solidFill>
                    </a:lnR>
                    <a:lnT w="6350">
                      <a:solidFill>
                        <a:srgbClr val="E2E7F2"/>
                      </a:solidFill>
                    </a:lnT>
                    <a:lnB w="6350">
                      <a:solidFill>
                        <a:srgbClr val="E2E7F2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wrap="none"/>
                    <a:lstStyle/>
                    <a:p>
                      <a:pPr algn="r"/>
                      <a:r>
                        <a:rPr sz="800" b="0">
                          <a:solidFill>
                            <a:srgbClr val="26292E"/>
                          </a:solidFill>
                          <a:latin typeface="Calibri"/>
                        </a:rPr>
                        <a:t>4,095</a:t>
                      </a:r>
                    </a:p>
                  </a:txBody>
                  <a:tcPr anchor="ctr" marL="27432" marR="27432" marT="4572" marB="4572">
                    <a:lnL w="6350">
                      <a:solidFill>
                        <a:srgbClr val="E2E7F2"/>
                      </a:solidFill>
                    </a:lnL>
                    <a:lnR w="6350">
                      <a:solidFill>
                        <a:srgbClr val="E2E7F2"/>
                      </a:solidFill>
                    </a:lnR>
                    <a:lnT w="6350">
                      <a:solidFill>
                        <a:srgbClr val="E2E7F2"/>
                      </a:solidFill>
                    </a:lnT>
                    <a:lnB w="6350">
                      <a:solidFill>
                        <a:srgbClr val="E2E7F2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wrap="none"/>
                    <a:lstStyle/>
                    <a:p>
                      <a:pPr algn="r"/>
                      <a:r>
                        <a:rPr sz="800" b="0">
                          <a:solidFill>
                            <a:srgbClr val="26292E"/>
                          </a:solidFill>
                          <a:latin typeface="Calibri"/>
                        </a:rPr>
                        <a:t>1,641</a:t>
                      </a:r>
                    </a:p>
                  </a:txBody>
                  <a:tcPr anchor="ctr" marL="27432" marR="27432" marT="4572" marB="4572">
                    <a:lnL w="6350">
                      <a:solidFill>
                        <a:srgbClr val="E2E7F2"/>
                      </a:solidFill>
                    </a:lnL>
                    <a:lnR w="6350">
                      <a:solidFill>
                        <a:srgbClr val="E2E7F2"/>
                      </a:solidFill>
                    </a:lnR>
                    <a:lnT w="6350">
                      <a:solidFill>
                        <a:srgbClr val="E2E7F2"/>
                      </a:solidFill>
                    </a:lnT>
                    <a:lnB w="6350">
                      <a:solidFill>
                        <a:srgbClr val="E2E7F2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wrap="none"/>
                    <a:lstStyle/>
                    <a:p>
                      <a:pPr algn="r"/>
                      <a:r>
                        <a:rPr sz="800" b="0">
                          <a:solidFill>
                            <a:srgbClr val="26292E"/>
                          </a:solidFill>
                          <a:latin typeface="Calibri"/>
                        </a:rPr>
                        <a:t>2,723</a:t>
                      </a:r>
                    </a:p>
                  </a:txBody>
                  <a:tcPr anchor="ctr" marL="27432" marR="27432" marT="4572" marB="4572">
                    <a:lnL w="6350">
                      <a:solidFill>
                        <a:srgbClr val="E2E7F2"/>
                      </a:solidFill>
                    </a:lnL>
                    <a:lnR w="6350">
                      <a:solidFill>
                        <a:srgbClr val="E2E7F2"/>
                      </a:solidFill>
                    </a:lnR>
                    <a:lnT w="6350">
                      <a:solidFill>
                        <a:srgbClr val="E2E7F2"/>
                      </a:solidFill>
                    </a:lnT>
                    <a:lnB w="6350">
                      <a:solidFill>
                        <a:srgbClr val="E2E7F2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wrap="none"/>
                    <a:lstStyle/>
                    <a:p>
                      <a:pPr algn="r"/>
                      <a:r>
                        <a:rPr sz="800" b="0">
                          <a:solidFill>
                            <a:srgbClr val="26292E"/>
                          </a:solidFill>
                          <a:latin typeface="Calibri"/>
                        </a:rPr>
                        <a:t>2,549</a:t>
                      </a:r>
                    </a:p>
                  </a:txBody>
                  <a:tcPr anchor="ctr" marL="27432" marR="27432" marT="4572" marB="4572">
                    <a:lnL w="6350">
                      <a:solidFill>
                        <a:srgbClr val="E2E7F2"/>
                      </a:solidFill>
                    </a:lnL>
                    <a:lnR w="6350">
                      <a:solidFill>
                        <a:srgbClr val="E2E7F2"/>
                      </a:solidFill>
                    </a:lnR>
                    <a:lnT w="6350">
                      <a:solidFill>
                        <a:srgbClr val="E2E7F2"/>
                      </a:solidFill>
                    </a:lnT>
                    <a:lnB w="6350">
                      <a:solidFill>
                        <a:srgbClr val="E2E7F2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wrap="none"/>
                    <a:lstStyle/>
                    <a:p>
                      <a:pPr algn="r"/>
                      <a:r>
                        <a:rPr sz="800" b="1">
                          <a:solidFill>
                            <a:srgbClr val="26292E"/>
                          </a:solidFill>
                          <a:latin typeface="Calibri"/>
                        </a:rPr>
                        <a:t>18,270</a:t>
                      </a:r>
                    </a:p>
                  </a:txBody>
                  <a:tcPr anchor="ctr" marL="27432" marR="27432" marT="4572" marB="4572">
                    <a:lnL w="6350">
                      <a:solidFill>
                        <a:srgbClr val="E2E7F2"/>
                      </a:solidFill>
                    </a:lnL>
                    <a:lnR w="6350">
                      <a:solidFill>
                        <a:srgbClr val="E2E7F2"/>
                      </a:solidFill>
                    </a:lnR>
                    <a:lnT w="6350">
                      <a:solidFill>
                        <a:srgbClr val="E2E7F2"/>
                      </a:solidFill>
                    </a:lnT>
                    <a:lnB w="6350">
                      <a:solidFill>
                        <a:srgbClr val="E2E7F2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wrap="none"/>
                    <a:lstStyle/>
                    <a:p>
                      <a:pPr algn="r"/>
                      <a:r>
                        <a:rPr sz="800" b="0">
                          <a:solidFill>
                            <a:srgbClr val="26292E"/>
                          </a:solidFill>
                          <a:latin typeface="Calibri"/>
                        </a:rPr>
                        <a:t>66%</a:t>
                      </a:r>
                    </a:p>
                  </a:txBody>
                  <a:tcPr anchor="ctr" marL="27432" marR="27432" marT="4572" marB="4572">
                    <a:lnL w="6350">
                      <a:solidFill>
                        <a:srgbClr val="E2E7F2"/>
                      </a:solidFill>
                    </a:lnL>
                    <a:lnR w="6350">
                      <a:solidFill>
                        <a:srgbClr val="E2E7F2"/>
                      </a:solidFill>
                    </a:lnR>
                    <a:lnT w="6350">
                      <a:solidFill>
                        <a:srgbClr val="E2E7F2"/>
                      </a:solidFill>
                    </a:lnT>
                    <a:lnB w="6350">
                      <a:solidFill>
                        <a:srgbClr val="E2E7F2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wrap="none"/>
                    <a:lstStyle/>
                    <a:p>
                      <a:pPr algn="r"/>
                      <a:r>
                        <a:rPr sz="800" b="1">
                          <a:solidFill>
                            <a:srgbClr val="1E7B34"/>
                          </a:solidFill>
                          <a:latin typeface="Calibri"/>
                        </a:rPr>
                        <a:t>+3%</a:t>
                      </a:r>
                    </a:p>
                  </a:txBody>
                  <a:tcPr anchor="ctr" marL="27432" marR="27432" marT="4572" marB="4572">
                    <a:lnL w="6350">
                      <a:solidFill>
                        <a:srgbClr val="E2E7F2"/>
                      </a:solidFill>
                    </a:lnL>
                    <a:lnR w="6350">
                      <a:solidFill>
                        <a:srgbClr val="E2E7F2"/>
                      </a:solidFill>
                    </a:lnR>
                    <a:lnT w="6350">
                      <a:solidFill>
                        <a:srgbClr val="E2E7F2"/>
                      </a:solidFill>
                    </a:lnT>
                    <a:lnB w="6350">
                      <a:solidFill>
                        <a:srgbClr val="E2E7F2"/>
                      </a:solidFill>
                    </a:lnB>
                    <a:solidFill>
                      <a:srgbClr val="FFFFFF"/>
                    </a:solidFill>
                  </a:tcPr>
                </a:tc>
              </a:tr>
              <a:tr h="173736">
                <a:tc>
                  <a:txBody>
                    <a:bodyPr wrap="none"/>
                    <a:lstStyle/>
                    <a:p>
                      <a:pPr algn="l"/>
                      <a:r>
                        <a:rPr sz="800" b="0">
                          <a:solidFill>
                            <a:srgbClr val="595959"/>
                          </a:solidFill>
                          <a:latin typeface="Calibri"/>
                        </a:rPr>
                        <a:t>   ’25</a:t>
                      </a:r>
                    </a:p>
                  </a:txBody>
                  <a:tcPr anchor="ctr" marL="27432" marR="27432" marT="4572" marB="4572">
                    <a:lnL w="6350">
                      <a:solidFill>
                        <a:srgbClr val="E2E7F2"/>
                      </a:solidFill>
                    </a:lnL>
                    <a:lnR w="6350">
                      <a:solidFill>
                        <a:srgbClr val="E2E7F2"/>
                      </a:solidFill>
                    </a:lnR>
                    <a:lnT w="6350">
                      <a:solidFill>
                        <a:srgbClr val="E2E7F2"/>
                      </a:solidFill>
                    </a:lnT>
                    <a:lnB w="6350">
                      <a:solidFill>
                        <a:srgbClr val="E2E7F2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wrap="none"/>
                    <a:lstStyle/>
                    <a:p>
                      <a:pPr algn="r"/>
                      <a:r>
                        <a:rPr sz="800" b="0">
                          <a:solidFill>
                            <a:srgbClr val="595959"/>
                          </a:solidFill>
                          <a:latin typeface="Calibri"/>
                        </a:rPr>
                        <a:t>3,512</a:t>
                      </a:r>
                    </a:p>
                  </a:txBody>
                  <a:tcPr anchor="ctr" marL="27432" marR="27432" marT="4572" marB="4572">
                    <a:lnL w="6350">
                      <a:solidFill>
                        <a:srgbClr val="E2E7F2"/>
                      </a:solidFill>
                    </a:lnL>
                    <a:lnR w="6350">
                      <a:solidFill>
                        <a:srgbClr val="E2E7F2"/>
                      </a:solidFill>
                    </a:lnR>
                    <a:lnT w="6350">
                      <a:solidFill>
                        <a:srgbClr val="E2E7F2"/>
                      </a:solidFill>
                    </a:lnT>
                    <a:lnB w="6350">
                      <a:solidFill>
                        <a:srgbClr val="E2E7F2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wrap="none"/>
                    <a:lstStyle/>
                    <a:p>
                      <a:pPr algn="r"/>
                      <a:r>
                        <a:rPr sz="800" b="0">
                          <a:solidFill>
                            <a:srgbClr val="595959"/>
                          </a:solidFill>
                          <a:latin typeface="Calibri"/>
                        </a:rPr>
                        <a:t>3,123</a:t>
                      </a:r>
                    </a:p>
                  </a:txBody>
                  <a:tcPr anchor="ctr" marL="27432" marR="27432" marT="4572" marB="4572">
                    <a:lnL w="6350">
                      <a:solidFill>
                        <a:srgbClr val="E2E7F2"/>
                      </a:solidFill>
                    </a:lnL>
                    <a:lnR w="6350">
                      <a:solidFill>
                        <a:srgbClr val="E2E7F2"/>
                      </a:solidFill>
                    </a:lnR>
                    <a:lnT w="6350">
                      <a:solidFill>
                        <a:srgbClr val="E2E7F2"/>
                      </a:solidFill>
                    </a:lnT>
                    <a:lnB w="6350">
                      <a:solidFill>
                        <a:srgbClr val="E2E7F2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wrap="none"/>
                    <a:lstStyle/>
                    <a:p>
                      <a:pPr algn="r"/>
                      <a:r>
                        <a:rPr sz="800" b="0">
                          <a:solidFill>
                            <a:srgbClr val="595959"/>
                          </a:solidFill>
                          <a:latin typeface="Calibri"/>
                        </a:rPr>
                        <a:t>2,733</a:t>
                      </a:r>
                    </a:p>
                  </a:txBody>
                  <a:tcPr anchor="ctr" marL="27432" marR="27432" marT="4572" marB="4572">
                    <a:lnL w="6350">
                      <a:solidFill>
                        <a:srgbClr val="E2E7F2"/>
                      </a:solidFill>
                    </a:lnL>
                    <a:lnR w="6350">
                      <a:solidFill>
                        <a:srgbClr val="E2E7F2"/>
                      </a:solidFill>
                    </a:lnR>
                    <a:lnT w="6350">
                      <a:solidFill>
                        <a:srgbClr val="E2E7F2"/>
                      </a:solidFill>
                    </a:lnT>
                    <a:lnB w="6350">
                      <a:solidFill>
                        <a:srgbClr val="E2E7F2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wrap="none"/>
                    <a:lstStyle/>
                    <a:p>
                      <a:pPr algn="r"/>
                      <a:r>
                        <a:rPr sz="800" b="0">
                          <a:solidFill>
                            <a:srgbClr val="595959"/>
                          </a:solidFill>
                          <a:latin typeface="Calibri"/>
                        </a:rPr>
                        <a:t>3,000</a:t>
                      </a:r>
                    </a:p>
                  </a:txBody>
                  <a:tcPr anchor="ctr" marL="27432" marR="27432" marT="4572" marB="4572">
                    <a:lnL w="6350">
                      <a:solidFill>
                        <a:srgbClr val="E2E7F2"/>
                      </a:solidFill>
                    </a:lnL>
                    <a:lnR w="6350">
                      <a:solidFill>
                        <a:srgbClr val="E2E7F2"/>
                      </a:solidFill>
                    </a:lnR>
                    <a:lnT w="6350">
                      <a:solidFill>
                        <a:srgbClr val="E2E7F2"/>
                      </a:solidFill>
                    </a:lnT>
                    <a:lnB w="6350">
                      <a:solidFill>
                        <a:srgbClr val="E2E7F2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wrap="none"/>
                    <a:lstStyle/>
                    <a:p>
                      <a:pPr algn="r"/>
                      <a:r>
                        <a:rPr sz="800" b="0">
                          <a:solidFill>
                            <a:srgbClr val="595959"/>
                          </a:solidFill>
                          <a:latin typeface="Calibri"/>
                        </a:rPr>
                        <a:t>2,766</a:t>
                      </a:r>
                    </a:p>
                  </a:txBody>
                  <a:tcPr anchor="ctr" marL="27432" marR="27432" marT="4572" marB="4572">
                    <a:lnL w="6350">
                      <a:solidFill>
                        <a:srgbClr val="E2E7F2"/>
                      </a:solidFill>
                    </a:lnL>
                    <a:lnR w="6350">
                      <a:solidFill>
                        <a:srgbClr val="E2E7F2"/>
                      </a:solidFill>
                    </a:lnR>
                    <a:lnT w="6350">
                      <a:solidFill>
                        <a:srgbClr val="E2E7F2"/>
                      </a:solidFill>
                    </a:lnT>
                    <a:lnB w="6350">
                      <a:solidFill>
                        <a:srgbClr val="E2E7F2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wrap="none"/>
                    <a:lstStyle/>
                    <a:p>
                      <a:pPr algn="r"/>
                      <a:r>
                        <a:rPr sz="800" b="0">
                          <a:solidFill>
                            <a:srgbClr val="595959"/>
                          </a:solidFill>
                          <a:latin typeface="Calibri"/>
                        </a:rPr>
                        <a:t>2,669</a:t>
                      </a:r>
                    </a:p>
                  </a:txBody>
                  <a:tcPr anchor="ctr" marL="27432" marR="27432" marT="4572" marB="4572">
                    <a:lnL w="6350">
                      <a:solidFill>
                        <a:srgbClr val="E2E7F2"/>
                      </a:solidFill>
                    </a:lnL>
                    <a:lnR w="6350">
                      <a:solidFill>
                        <a:srgbClr val="E2E7F2"/>
                      </a:solidFill>
                    </a:lnR>
                    <a:lnT w="6350">
                      <a:solidFill>
                        <a:srgbClr val="E2E7F2"/>
                      </a:solidFill>
                    </a:lnT>
                    <a:lnB w="6350">
                      <a:solidFill>
                        <a:srgbClr val="E2E7F2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wrap="none"/>
                    <a:lstStyle/>
                    <a:p>
                      <a:pPr algn="r"/>
                      <a:r>
                        <a:rPr sz="800" b="0">
                          <a:solidFill>
                            <a:srgbClr val="595959"/>
                          </a:solidFill>
                          <a:latin typeface="Calibri"/>
                        </a:rPr>
                        <a:t>17,803</a:t>
                      </a:r>
                    </a:p>
                  </a:txBody>
                  <a:tcPr anchor="ctr" marL="27432" marR="27432" marT="4572" marB="4572">
                    <a:lnL w="6350">
                      <a:solidFill>
                        <a:srgbClr val="E2E7F2"/>
                      </a:solidFill>
                    </a:lnL>
                    <a:lnR w="6350">
                      <a:solidFill>
                        <a:srgbClr val="E2E7F2"/>
                      </a:solidFill>
                    </a:lnR>
                    <a:lnT w="6350">
                      <a:solidFill>
                        <a:srgbClr val="E2E7F2"/>
                      </a:solidFill>
                    </a:lnT>
                    <a:lnB w="6350">
                      <a:solidFill>
                        <a:srgbClr val="E2E7F2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wrap="none"/>
                    <a:lstStyle/>
                    <a:p>
                      <a:pPr algn="r"/>
                      <a:r>
                        <a:rPr sz="800" b="0">
                          <a:solidFill>
                            <a:srgbClr val="595959"/>
                          </a:solidFill>
                          <a:latin typeface="Calibri"/>
                        </a:rPr>
                        <a:t>64%</a:t>
                      </a:r>
                    </a:p>
                  </a:txBody>
                  <a:tcPr anchor="ctr" marL="27432" marR="27432" marT="4572" marB="4572">
                    <a:lnL w="6350">
                      <a:solidFill>
                        <a:srgbClr val="E2E7F2"/>
                      </a:solidFill>
                    </a:lnL>
                    <a:lnR w="6350">
                      <a:solidFill>
                        <a:srgbClr val="E2E7F2"/>
                      </a:solidFill>
                    </a:lnR>
                    <a:lnT w="6350">
                      <a:solidFill>
                        <a:srgbClr val="E2E7F2"/>
                      </a:solidFill>
                    </a:lnT>
                    <a:lnB w="6350">
                      <a:solidFill>
                        <a:srgbClr val="E2E7F2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wrap="none"/>
                    <a:lstStyle/>
                    <a:p>
                      <a:pPr algn="l"/>
                      <a:r>
                        <a:rPr sz="800" b="0">
                          <a:solidFill>
                            <a:srgbClr val="26292E"/>
                          </a:solidFill>
                          <a:latin typeface="Calibri"/>
                        </a:rPr>
                        <a:t/>
                      </a:r>
                    </a:p>
                  </a:txBody>
                  <a:tcPr anchor="ctr" marL="27432" marR="27432" marT="4572" marB="4572">
                    <a:lnL w="6350">
                      <a:solidFill>
                        <a:srgbClr val="E2E7F2"/>
                      </a:solidFill>
                    </a:lnL>
                    <a:lnR w="6350">
                      <a:solidFill>
                        <a:srgbClr val="E2E7F2"/>
                      </a:solidFill>
                    </a:lnR>
                    <a:lnT w="6350">
                      <a:solidFill>
                        <a:srgbClr val="E2E7F2"/>
                      </a:solidFill>
                    </a:lnT>
                    <a:lnB w="6350">
                      <a:solidFill>
                        <a:srgbClr val="E2E7F2"/>
                      </a:solidFill>
                    </a:lnB>
                    <a:solidFill>
                      <a:srgbClr val="FFFFFF"/>
                    </a:solidFill>
                  </a:tcPr>
                </a:tc>
              </a:tr>
              <a:tr h="173736">
                <a:tc>
                  <a:txBody>
                    <a:bodyPr wrap="none"/>
                    <a:lstStyle/>
                    <a:p>
                      <a:pPr algn="l"/>
                      <a:r>
                        <a:rPr sz="800" b="1">
                          <a:solidFill>
                            <a:srgbClr val="26292E"/>
                          </a:solidFill>
                          <a:latin typeface="Calibri"/>
                        </a:rPr>
                        <a:t>ASR</a:t>
                      </a:r>
                    </a:p>
                  </a:txBody>
                  <a:tcPr anchor="ctr" marL="27432" marR="27432" marT="4572" marB="4572">
                    <a:lnL w="6350">
                      <a:solidFill>
                        <a:srgbClr val="E2E7F2"/>
                      </a:solidFill>
                    </a:lnL>
                    <a:lnR w="6350">
                      <a:solidFill>
                        <a:srgbClr val="E2E7F2"/>
                      </a:solidFill>
                    </a:lnR>
                    <a:lnT w="6350">
                      <a:solidFill>
                        <a:srgbClr val="E2E7F2"/>
                      </a:solidFill>
                    </a:lnT>
                    <a:lnB w="6350">
                      <a:solidFill>
                        <a:srgbClr val="E2E7F2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wrap="none"/>
                    <a:lstStyle/>
                    <a:p>
                      <a:pPr algn="r"/>
                      <a:r>
                        <a:rPr sz="800" b="0">
                          <a:solidFill>
                            <a:srgbClr val="26292E"/>
                          </a:solidFill>
                          <a:latin typeface="Calibri"/>
                        </a:rPr>
                        <a:t>610</a:t>
                      </a:r>
                    </a:p>
                  </a:txBody>
                  <a:tcPr anchor="ctr" marL="27432" marR="27432" marT="4572" marB="4572">
                    <a:lnL w="6350">
                      <a:solidFill>
                        <a:srgbClr val="E2E7F2"/>
                      </a:solidFill>
                    </a:lnL>
                    <a:lnR w="6350">
                      <a:solidFill>
                        <a:srgbClr val="E2E7F2"/>
                      </a:solidFill>
                    </a:lnR>
                    <a:lnT w="6350">
                      <a:solidFill>
                        <a:srgbClr val="E2E7F2"/>
                      </a:solidFill>
                    </a:lnT>
                    <a:lnB w="6350">
                      <a:solidFill>
                        <a:srgbClr val="E2E7F2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wrap="none"/>
                    <a:lstStyle/>
                    <a:p>
                      <a:pPr algn="r"/>
                      <a:r>
                        <a:rPr sz="800" b="0">
                          <a:solidFill>
                            <a:srgbClr val="26292E"/>
                          </a:solidFill>
                          <a:latin typeface="Calibri"/>
                        </a:rPr>
                        <a:t>559</a:t>
                      </a:r>
                    </a:p>
                  </a:txBody>
                  <a:tcPr anchor="ctr" marL="27432" marR="27432" marT="4572" marB="4572">
                    <a:lnL w="6350">
                      <a:solidFill>
                        <a:srgbClr val="E2E7F2"/>
                      </a:solidFill>
                    </a:lnL>
                    <a:lnR w="6350">
                      <a:solidFill>
                        <a:srgbClr val="E2E7F2"/>
                      </a:solidFill>
                    </a:lnR>
                    <a:lnT w="6350">
                      <a:solidFill>
                        <a:srgbClr val="E2E7F2"/>
                      </a:solidFill>
                    </a:lnT>
                    <a:lnB w="6350">
                      <a:solidFill>
                        <a:srgbClr val="E2E7F2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wrap="none"/>
                    <a:lstStyle/>
                    <a:p>
                      <a:pPr algn="r"/>
                      <a:r>
                        <a:rPr sz="800" b="0">
                          <a:solidFill>
                            <a:srgbClr val="26292E"/>
                          </a:solidFill>
                          <a:latin typeface="Calibri"/>
                        </a:rPr>
                        <a:t>438</a:t>
                      </a:r>
                    </a:p>
                  </a:txBody>
                  <a:tcPr anchor="ctr" marL="27432" marR="27432" marT="4572" marB="4572">
                    <a:lnL w="6350">
                      <a:solidFill>
                        <a:srgbClr val="E2E7F2"/>
                      </a:solidFill>
                    </a:lnL>
                    <a:lnR w="6350">
                      <a:solidFill>
                        <a:srgbClr val="E2E7F2"/>
                      </a:solidFill>
                    </a:lnR>
                    <a:lnT w="6350">
                      <a:solidFill>
                        <a:srgbClr val="E2E7F2"/>
                      </a:solidFill>
                    </a:lnT>
                    <a:lnB w="6350">
                      <a:solidFill>
                        <a:srgbClr val="E2E7F2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wrap="none"/>
                    <a:lstStyle/>
                    <a:p>
                      <a:pPr algn="r"/>
                      <a:r>
                        <a:rPr sz="800" b="0">
                          <a:solidFill>
                            <a:srgbClr val="26292E"/>
                          </a:solidFill>
                          <a:latin typeface="Calibri"/>
                        </a:rPr>
                        <a:t>394</a:t>
                      </a:r>
                    </a:p>
                  </a:txBody>
                  <a:tcPr anchor="ctr" marL="27432" marR="27432" marT="4572" marB="4572">
                    <a:lnL w="6350">
                      <a:solidFill>
                        <a:srgbClr val="E2E7F2"/>
                      </a:solidFill>
                    </a:lnL>
                    <a:lnR w="6350">
                      <a:solidFill>
                        <a:srgbClr val="E2E7F2"/>
                      </a:solidFill>
                    </a:lnR>
                    <a:lnT w="6350">
                      <a:solidFill>
                        <a:srgbClr val="E2E7F2"/>
                      </a:solidFill>
                    </a:lnT>
                    <a:lnB w="6350">
                      <a:solidFill>
                        <a:srgbClr val="E2E7F2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wrap="none"/>
                    <a:lstStyle/>
                    <a:p>
                      <a:pPr algn="r"/>
                      <a:r>
                        <a:rPr sz="800" b="0">
                          <a:solidFill>
                            <a:srgbClr val="26292E"/>
                          </a:solidFill>
                          <a:latin typeface="Calibri"/>
                        </a:rPr>
                        <a:t>622</a:t>
                      </a:r>
                    </a:p>
                  </a:txBody>
                  <a:tcPr anchor="ctr" marL="27432" marR="27432" marT="4572" marB="4572">
                    <a:lnL w="6350">
                      <a:solidFill>
                        <a:srgbClr val="E2E7F2"/>
                      </a:solidFill>
                    </a:lnL>
                    <a:lnR w="6350">
                      <a:solidFill>
                        <a:srgbClr val="E2E7F2"/>
                      </a:solidFill>
                    </a:lnR>
                    <a:lnT w="6350">
                      <a:solidFill>
                        <a:srgbClr val="E2E7F2"/>
                      </a:solidFill>
                    </a:lnT>
                    <a:lnB w="6350">
                      <a:solidFill>
                        <a:srgbClr val="E2E7F2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wrap="none"/>
                    <a:lstStyle/>
                    <a:p>
                      <a:pPr algn="r"/>
                      <a:r>
                        <a:rPr sz="800" b="0">
                          <a:solidFill>
                            <a:srgbClr val="26292E"/>
                          </a:solidFill>
                          <a:latin typeface="Calibri"/>
                        </a:rPr>
                        <a:t>614</a:t>
                      </a:r>
                    </a:p>
                  </a:txBody>
                  <a:tcPr anchor="ctr" marL="27432" marR="27432" marT="4572" marB="4572">
                    <a:lnL w="6350">
                      <a:solidFill>
                        <a:srgbClr val="E2E7F2"/>
                      </a:solidFill>
                    </a:lnL>
                    <a:lnR w="6350">
                      <a:solidFill>
                        <a:srgbClr val="E2E7F2"/>
                      </a:solidFill>
                    </a:lnR>
                    <a:lnT w="6350">
                      <a:solidFill>
                        <a:srgbClr val="E2E7F2"/>
                      </a:solidFill>
                    </a:lnT>
                    <a:lnB w="6350">
                      <a:solidFill>
                        <a:srgbClr val="E2E7F2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wrap="none"/>
                    <a:lstStyle/>
                    <a:p>
                      <a:pPr algn="r"/>
                      <a:r>
                        <a:rPr sz="800" b="1">
                          <a:solidFill>
                            <a:srgbClr val="26292E"/>
                          </a:solidFill>
                          <a:latin typeface="Calibri"/>
                        </a:rPr>
                        <a:t>3,237</a:t>
                      </a:r>
                    </a:p>
                  </a:txBody>
                  <a:tcPr anchor="ctr" marL="27432" marR="27432" marT="4572" marB="4572">
                    <a:lnL w="6350">
                      <a:solidFill>
                        <a:srgbClr val="E2E7F2"/>
                      </a:solidFill>
                    </a:lnL>
                    <a:lnR w="6350">
                      <a:solidFill>
                        <a:srgbClr val="E2E7F2"/>
                      </a:solidFill>
                    </a:lnR>
                    <a:lnT w="6350">
                      <a:solidFill>
                        <a:srgbClr val="E2E7F2"/>
                      </a:solidFill>
                    </a:lnT>
                    <a:lnB w="6350">
                      <a:solidFill>
                        <a:srgbClr val="E2E7F2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wrap="none"/>
                    <a:lstStyle/>
                    <a:p>
                      <a:pPr algn="r"/>
                      <a:r>
                        <a:rPr sz="800" b="0">
                          <a:solidFill>
                            <a:srgbClr val="26292E"/>
                          </a:solidFill>
                          <a:latin typeface="Calibri"/>
                        </a:rPr>
                        <a:t>12%</a:t>
                      </a:r>
                    </a:p>
                  </a:txBody>
                  <a:tcPr anchor="ctr" marL="27432" marR="27432" marT="4572" marB="4572">
                    <a:lnL w="6350">
                      <a:solidFill>
                        <a:srgbClr val="E2E7F2"/>
                      </a:solidFill>
                    </a:lnL>
                    <a:lnR w="6350">
                      <a:solidFill>
                        <a:srgbClr val="E2E7F2"/>
                      </a:solidFill>
                    </a:lnR>
                    <a:lnT w="6350">
                      <a:solidFill>
                        <a:srgbClr val="E2E7F2"/>
                      </a:solidFill>
                    </a:lnT>
                    <a:lnB w="6350">
                      <a:solidFill>
                        <a:srgbClr val="E2E7F2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wrap="none"/>
                    <a:lstStyle/>
                    <a:p>
                      <a:pPr algn="r"/>
                      <a:r>
                        <a:rPr sz="800" b="1">
                          <a:solidFill>
                            <a:srgbClr val="C62828"/>
                          </a:solidFill>
                          <a:latin typeface="Calibri"/>
                        </a:rPr>
                        <a:t>-24%</a:t>
                      </a:r>
                    </a:p>
                  </a:txBody>
                  <a:tcPr anchor="ctr" marL="27432" marR="27432" marT="4572" marB="4572">
                    <a:lnL w="6350">
                      <a:solidFill>
                        <a:srgbClr val="E2E7F2"/>
                      </a:solidFill>
                    </a:lnL>
                    <a:lnR w="6350">
                      <a:solidFill>
                        <a:srgbClr val="E2E7F2"/>
                      </a:solidFill>
                    </a:lnR>
                    <a:lnT w="6350">
                      <a:solidFill>
                        <a:srgbClr val="E2E7F2"/>
                      </a:solidFill>
                    </a:lnT>
                    <a:lnB w="6350">
                      <a:solidFill>
                        <a:srgbClr val="E2E7F2"/>
                      </a:solidFill>
                    </a:lnB>
                    <a:solidFill>
                      <a:srgbClr val="FFFFFF"/>
                    </a:solidFill>
                  </a:tcPr>
                </a:tc>
              </a:tr>
              <a:tr h="173736">
                <a:tc>
                  <a:txBody>
                    <a:bodyPr wrap="none"/>
                    <a:lstStyle/>
                    <a:p>
                      <a:pPr algn="l"/>
                      <a:r>
                        <a:rPr sz="800" b="0">
                          <a:solidFill>
                            <a:srgbClr val="595959"/>
                          </a:solidFill>
                          <a:latin typeface="Calibri"/>
                        </a:rPr>
                        <a:t>   ’25</a:t>
                      </a:r>
                    </a:p>
                  </a:txBody>
                  <a:tcPr anchor="ctr" marL="27432" marR="27432" marT="4572" marB="4572">
                    <a:lnL w="6350">
                      <a:solidFill>
                        <a:srgbClr val="E2E7F2"/>
                      </a:solidFill>
                    </a:lnL>
                    <a:lnR w="6350">
                      <a:solidFill>
                        <a:srgbClr val="E2E7F2"/>
                      </a:solidFill>
                    </a:lnR>
                    <a:lnT w="6350">
                      <a:solidFill>
                        <a:srgbClr val="E2E7F2"/>
                      </a:solidFill>
                    </a:lnT>
                    <a:lnB w="6350">
                      <a:solidFill>
                        <a:srgbClr val="E2E7F2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wrap="none"/>
                    <a:lstStyle/>
                    <a:p>
                      <a:pPr algn="r"/>
                      <a:r>
                        <a:rPr sz="800" b="0">
                          <a:solidFill>
                            <a:srgbClr val="595959"/>
                          </a:solidFill>
                          <a:latin typeface="Calibri"/>
                        </a:rPr>
                        <a:t>697</a:t>
                      </a:r>
                    </a:p>
                  </a:txBody>
                  <a:tcPr anchor="ctr" marL="27432" marR="27432" marT="4572" marB="4572">
                    <a:lnL w="6350">
                      <a:solidFill>
                        <a:srgbClr val="E2E7F2"/>
                      </a:solidFill>
                    </a:lnL>
                    <a:lnR w="6350">
                      <a:solidFill>
                        <a:srgbClr val="E2E7F2"/>
                      </a:solidFill>
                    </a:lnR>
                    <a:lnT w="6350">
                      <a:solidFill>
                        <a:srgbClr val="E2E7F2"/>
                      </a:solidFill>
                    </a:lnT>
                    <a:lnB w="6350">
                      <a:solidFill>
                        <a:srgbClr val="E2E7F2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wrap="none"/>
                    <a:lstStyle/>
                    <a:p>
                      <a:pPr algn="r"/>
                      <a:r>
                        <a:rPr sz="800" b="0">
                          <a:solidFill>
                            <a:srgbClr val="595959"/>
                          </a:solidFill>
                          <a:latin typeface="Calibri"/>
                        </a:rPr>
                        <a:t>787</a:t>
                      </a:r>
                    </a:p>
                  </a:txBody>
                  <a:tcPr anchor="ctr" marL="27432" marR="27432" marT="4572" marB="4572">
                    <a:lnL w="6350">
                      <a:solidFill>
                        <a:srgbClr val="E2E7F2"/>
                      </a:solidFill>
                    </a:lnL>
                    <a:lnR w="6350">
                      <a:solidFill>
                        <a:srgbClr val="E2E7F2"/>
                      </a:solidFill>
                    </a:lnR>
                    <a:lnT w="6350">
                      <a:solidFill>
                        <a:srgbClr val="E2E7F2"/>
                      </a:solidFill>
                    </a:lnT>
                    <a:lnB w="6350">
                      <a:solidFill>
                        <a:srgbClr val="E2E7F2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wrap="none"/>
                    <a:lstStyle/>
                    <a:p>
                      <a:pPr algn="r"/>
                      <a:r>
                        <a:rPr sz="800" b="0">
                          <a:solidFill>
                            <a:srgbClr val="595959"/>
                          </a:solidFill>
                          <a:latin typeface="Calibri"/>
                        </a:rPr>
                        <a:t>759</a:t>
                      </a:r>
                    </a:p>
                  </a:txBody>
                  <a:tcPr anchor="ctr" marL="27432" marR="27432" marT="4572" marB="4572">
                    <a:lnL w="6350">
                      <a:solidFill>
                        <a:srgbClr val="E2E7F2"/>
                      </a:solidFill>
                    </a:lnL>
                    <a:lnR w="6350">
                      <a:solidFill>
                        <a:srgbClr val="E2E7F2"/>
                      </a:solidFill>
                    </a:lnR>
                    <a:lnT w="6350">
                      <a:solidFill>
                        <a:srgbClr val="E2E7F2"/>
                      </a:solidFill>
                    </a:lnT>
                    <a:lnB w="6350">
                      <a:solidFill>
                        <a:srgbClr val="E2E7F2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wrap="none"/>
                    <a:lstStyle/>
                    <a:p>
                      <a:pPr algn="r"/>
                      <a:r>
                        <a:rPr sz="800" b="0">
                          <a:solidFill>
                            <a:srgbClr val="595959"/>
                          </a:solidFill>
                          <a:latin typeface="Calibri"/>
                        </a:rPr>
                        <a:t>711</a:t>
                      </a:r>
                    </a:p>
                  </a:txBody>
                  <a:tcPr anchor="ctr" marL="27432" marR="27432" marT="4572" marB="4572">
                    <a:lnL w="6350">
                      <a:solidFill>
                        <a:srgbClr val="E2E7F2"/>
                      </a:solidFill>
                    </a:lnL>
                    <a:lnR w="6350">
                      <a:solidFill>
                        <a:srgbClr val="E2E7F2"/>
                      </a:solidFill>
                    </a:lnR>
                    <a:lnT w="6350">
                      <a:solidFill>
                        <a:srgbClr val="E2E7F2"/>
                      </a:solidFill>
                    </a:lnT>
                    <a:lnB w="6350">
                      <a:solidFill>
                        <a:srgbClr val="E2E7F2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wrap="none"/>
                    <a:lstStyle/>
                    <a:p>
                      <a:pPr algn="r"/>
                      <a:r>
                        <a:rPr sz="800" b="0">
                          <a:solidFill>
                            <a:srgbClr val="595959"/>
                          </a:solidFill>
                          <a:latin typeface="Calibri"/>
                        </a:rPr>
                        <a:t>789</a:t>
                      </a:r>
                    </a:p>
                  </a:txBody>
                  <a:tcPr anchor="ctr" marL="27432" marR="27432" marT="4572" marB="4572">
                    <a:lnL w="6350">
                      <a:solidFill>
                        <a:srgbClr val="E2E7F2"/>
                      </a:solidFill>
                    </a:lnL>
                    <a:lnR w="6350">
                      <a:solidFill>
                        <a:srgbClr val="E2E7F2"/>
                      </a:solidFill>
                    </a:lnR>
                    <a:lnT w="6350">
                      <a:solidFill>
                        <a:srgbClr val="E2E7F2"/>
                      </a:solidFill>
                    </a:lnT>
                    <a:lnB w="6350">
                      <a:solidFill>
                        <a:srgbClr val="E2E7F2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wrap="none"/>
                    <a:lstStyle/>
                    <a:p>
                      <a:pPr algn="r"/>
                      <a:r>
                        <a:rPr sz="800" b="0">
                          <a:solidFill>
                            <a:srgbClr val="595959"/>
                          </a:solidFill>
                          <a:latin typeface="Calibri"/>
                        </a:rPr>
                        <a:t>526</a:t>
                      </a:r>
                    </a:p>
                  </a:txBody>
                  <a:tcPr anchor="ctr" marL="27432" marR="27432" marT="4572" marB="4572">
                    <a:lnL w="6350">
                      <a:solidFill>
                        <a:srgbClr val="E2E7F2"/>
                      </a:solidFill>
                    </a:lnL>
                    <a:lnR w="6350">
                      <a:solidFill>
                        <a:srgbClr val="E2E7F2"/>
                      </a:solidFill>
                    </a:lnR>
                    <a:lnT w="6350">
                      <a:solidFill>
                        <a:srgbClr val="E2E7F2"/>
                      </a:solidFill>
                    </a:lnT>
                    <a:lnB w="6350">
                      <a:solidFill>
                        <a:srgbClr val="E2E7F2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wrap="none"/>
                    <a:lstStyle/>
                    <a:p>
                      <a:pPr algn="r"/>
                      <a:r>
                        <a:rPr sz="800" b="0">
                          <a:solidFill>
                            <a:srgbClr val="595959"/>
                          </a:solidFill>
                          <a:latin typeface="Calibri"/>
                        </a:rPr>
                        <a:t>4,269</a:t>
                      </a:r>
                    </a:p>
                  </a:txBody>
                  <a:tcPr anchor="ctr" marL="27432" marR="27432" marT="4572" marB="4572">
                    <a:lnL w="6350">
                      <a:solidFill>
                        <a:srgbClr val="E2E7F2"/>
                      </a:solidFill>
                    </a:lnL>
                    <a:lnR w="6350">
                      <a:solidFill>
                        <a:srgbClr val="E2E7F2"/>
                      </a:solidFill>
                    </a:lnR>
                    <a:lnT w="6350">
                      <a:solidFill>
                        <a:srgbClr val="E2E7F2"/>
                      </a:solidFill>
                    </a:lnT>
                    <a:lnB w="6350">
                      <a:solidFill>
                        <a:srgbClr val="E2E7F2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wrap="none"/>
                    <a:lstStyle/>
                    <a:p>
                      <a:pPr algn="r"/>
                      <a:r>
                        <a:rPr sz="800" b="0">
                          <a:solidFill>
                            <a:srgbClr val="595959"/>
                          </a:solidFill>
                          <a:latin typeface="Calibri"/>
                        </a:rPr>
                        <a:t>15%</a:t>
                      </a:r>
                    </a:p>
                  </a:txBody>
                  <a:tcPr anchor="ctr" marL="27432" marR="27432" marT="4572" marB="4572">
                    <a:lnL w="6350">
                      <a:solidFill>
                        <a:srgbClr val="E2E7F2"/>
                      </a:solidFill>
                    </a:lnL>
                    <a:lnR w="6350">
                      <a:solidFill>
                        <a:srgbClr val="E2E7F2"/>
                      </a:solidFill>
                    </a:lnR>
                    <a:lnT w="6350">
                      <a:solidFill>
                        <a:srgbClr val="E2E7F2"/>
                      </a:solidFill>
                    </a:lnT>
                    <a:lnB w="6350">
                      <a:solidFill>
                        <a:srgbClr val="E2E7F2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wrap="none"/>
                    <a:lstStyle/>
                    <a:p>
                      <a:pPr algn="l"/>
                      <a:r>
                        <a:rPr sz="800" b="0">
                          <a:solidFill>
                            <a:srgbClr val="26292E"/>
                          </a:solidFill>
                          <a:latin typeface="Calibri"/>
                        </a:rPr>
                        <a:t/>
                      </a:r>
                    </a:p>
                  </a:txBody>
                  <a:tcPr anchor="ctr" marL="27432" marR="27432" marT="4572" marB="4572">
                    <a:lnL w="6350">
                      <a:solidFill>
                        <a:srgbClr val="E2E7F2"/>
                      </a:solidFill>
                    </a:lnL>
                    <a:lnR w="6350">
                      <a:solidFill>
                        <a:srgbClr val="E2E7F2"/>
                      </a:solidFill>
                    </a:lnR>
                    <a:lnT w="6350">
                      <a:solidFill>
                        <a:srgbClr val="E2E7F2"/>
                      </a:solidFill>
                    </a:lnT>
                    <a:lnB w="6350">
                      <a:solidFill>
                        <a:srgbClr val="E2E7F2"/>
                      </a:solidFill>
                    </a:lnB>
                    <a:solidFill>
                      <a:srgbClr val="FFFFFF"/>
                    </a:solidFill>
                  </a:tcPr>
                </a:tc>
              </a:tr>
              <a:tr h="173736">
                <a:tc>
                  <a:txBody>
                    <a:bodyPr wrap="none"/>
                    <a:lstStyle/>
                    <a:p>
                      <a:pPr algn="l"/>
                      <a:r>
                        <a:rPr sz="800" b="1">
                          <a:solidFill>
                            <a:srgbClr val="26292E"/>
                          </a:solidFill>
                          <a:latin typeface="Calibri"/>
                        </a:rPr>
                        <a:t>Wholesale</a:t>
                      </a:r>
                    </a:p>
                  </a:txBody>
                  <a:tcPr anchor="ctr" marL="27432" marR="27432" marT="4572" marB="4572">
                    <a:lnL w="6350">
                      <a:solidFill>
                        <a:srgbClr val="E2E7F2"/>
                      </a:solidFill>
                    </a:lnL>
                    <a:lnR w="6350">
                      <a:solidFill>
                        <a:srgbClr val="E2E7F2"/>
                      </a:solidFill>
                    </a:lnR>
                    <a:lnT w="6350">
                      <a:solidFill>
                        <a:srgbClr val="E2E7F2"/>
                      </a:solidFill>
                    </a:lnT>
                    <a:lnB w="6350">
                      <a:solidFill>
                        <a:srgbClr val="E2E7F2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wrap="none"/>
                    <a:lstStyle/>
                    <a:p>
                      <a:pPr algn="r"/>
                      <a:r>
                        <a:rPr sz="800" b="0">
                          <a:solidFill>
                            <a:srgbClr val="26292E"/>
                          </a:solidFill>
                          <a:latin typeface="Calibri"/>
                        </a:rPr>
                        <a:t>1,024</a:t>
                      </a:r>
                    </a:p>
                  </a:txBody>
                  <a:tcPr anchor="ctr" marL="27432" marR="27432" marT="4572" marB="4572">
                    <a:lnL w="6350">
                      <a:solidFill>
                        <a:srgbClr val="E2E7F2"/>
                      </a:solidFill>
                    </a:lnL>
                    <a:lnR w="6350">
                      <a:solidFill>
                        <a:srgbClr val="E2E7F2"/>
                      </a:solidFill>
                    </a:lnR>
                    <a:lnT w="6350">
                      <a:solidFill>
                        <a:srgbClr val="E2E7F2"/>
                      </a:solidFill>
                    </a:lnT>
                    <a:lnB w="6350">
                      <a:solidFill>
                        <a:srgbClr val="E2E7F2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wrap="none"/>
                    <a:lstStyle/>
                    <a:p>
                      <a:pPr algn="r"/>
                      <a:r>
                        <a:rPr sz="800" b="0">
                          <a:solidFill>
                            <a:srgbClr val="26292E"/>
                          </a:solidFill>
                          <a:latin typeface="Calibri"/>
                        </a:rPr>
                        <a:t>1,021</a:t>
                      </a:r>
                    </a:p>
                  </a:txBody>
                  <a:tcPr anchor="ctr" marL="27432" marR="27432" marT="4572" marB="4572">
                    <a:lnL w="6350">
                      <a:solidFill>
                        <a:srgbClr val="E2E7F2"/>
                      </a:solidFill>
                    </a:lnL>
                    <a:lnR w="6350">
                      <a:solidFill>
                        <a:srgbClr val="E2E7F2"/>
                      </a:solidFill>
                    </a:lnR>
                    <a:lnT w="6350">
                      <a:solidFill>
                        <a:srgbClr val="E2E7F2"/>
                      </a:solidFill>
                    </a:lnT>
                    <a:lnB w="6350">
                      <a:solidFill>
                        <a:srgbClr val="E2E7F2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wrap="none"/>
                    <a:lstStyle/>
                    <a:p>
                      <a:pPr algn="r"/>
                      <a:r>
                        <a:rPr sz="800" b="0">
                          <a:solidFill>
                            <a:srgbClr val="26292E"/>
                          </a:solidFill>
                          <a:latin typeface="Calibri"/>
                        </a:rPr>
                        <a:t>558</a:t>
                      </a:r>
                    </a:p>
                  </a:txBody>
                  <a:tcPr anchor="ctr" marL="27432" marR="27432" marT="4572" marB="4572">
                    <a:lnL w="6350">
                      <a:solidFill>
                        <a:srgbClr val="E2E7F2"/>
                      </a:solidFill>
                    </a:lnL>
                    <a:lnR w="6350">
                      <a:solidFill>
                        <a:srgbClr val="E2E7F2"/>
                      </a:solidFill>
                    </a:lnR>
                    <a:lnT w="6350">
                      <a:solidFill>
                        <a:srgbClr val="E2E7F2"/>
                      </a:solidFill>
                    </a:lnT>
                    <a:lnB w="6350">
                      <a:solidFill>
                        <a:srgbClr val="E2E7F2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wrap="none"/>
                    <a:lstStyle/>
                    <a:p>
                      <a:pPr algn="r"/>
                      <a:r>
                        <a:rPr sz="800" b="0">
                          <a:solidFill>
                            <a:srgbClr val="26292E"/>
                          </a:solidFill>
                          <a:latin typeface="Calibri"/>
                        </a:rPr>
                        <a:t>689</a:t>
                      </a:r>
                    </a:p>
                  </a:txBody>
                  <a:tcPr anchor="ctr" marL="27432" marR="27432" marT="4572" marB="4572">
                    <a:lnL w="6350">
                      <a:solidFill>
                        <a:srgbClr val="E2E7F2"/>
                      </a:solidFill>
                    </a:lnL>
                    <a:lnR w="6350">
                      <a:solidFill>
                        <a:srgbClr val="E2E7F2"/>
                      </a:solidFill>
                    </a:lnR>
                    <a:lnT w="6350">
                      <a:solidFill>
                        <a:srgbClr val="E2E7F2"/>
                      </a:solidFill>
                    </a:lnT>
                    <a:lnB w="6350">
                      <a:solidFill>
                        <a:srgbClr val="E2E7F2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wrap="none"/>
                    <a:lstStyle/>
                    <a:p>
                      <a:pPr algn="r"/>
                      <a:r>
                        <a:rPr sz="800" b="0">
                          <a:solidFill>
                            <a:srgbClr val="26292E"/>
                          </a:solidFill>
                          <a:latin typeface="Calibri"/>
                        </a:rPr>
                        <a:t>874</a:t>
                      </a:r>
                    </a:p>
                  </a:txBody>
                  <a:tcPr anchor="ctr" marL="27432" marR="27432" marT="4572" marB="4572">
                    <a:lnL w="6350">
                      <a:solidFill>
                        <a:srgbClr val="E2E7F2"/>
                      </a:solidFill>
                    </a:lnL>
                    <a:lnR w="6350">
                      <a:solidFill>
                        <a:srgbClr val="E2E7F2"/>
                      </a:solidFill>
                    </a:lnR>
                    <a:lnT w="6350">
                      <a:solidFill>
                        <a:srgbClr val="E2E7F2"/>
                      </a:solidFill>
                    </a:lnT>
                    <a:lnB w="6350">
                      <a:solidFill>
                        <a:srgbClr val="E2E7F2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wrap="none"/>
                    <a:lstStyle/>
                    <a:p>
                      <a:pPr algn="r"/>
                      <a:r>
                        <a:rPr sz="800" b="0">
                          <a:solidFill>
                            <a:srgbClr val="26292E"/>
                          </a:solidFill>
                          <a:latin typeface="Calibri"/>
                        </a:rPr>
                        <a:t>799</a:t>
                      </a:r>
                    </a:p>
                  </a:txBody>
                  <a:tcPr anchor="ctr" marL="27432" marR="27432" marT="4572" marB="4572">
                    <a:lnL w="6350">
                      <a:solidFill>
                        <a:srgbClr val="E2E7F2"/>
                      </a:solidFill>
                    </a:lnL>
                    <a:lnR w="6350">
                      <a:solidFill>
                        <a:srgbClr val="E2E7F2"/>
                      </a:solidFill>
                    </a:lnR>
                    <a:lnT w="6350">
                      <a:solidFill>
                        <a:srgbClr val="E2E7F2"/>
                      </a:solidFill>
                    </a:lnT>
                    <a:lnB w="6350">
                      <a:solidFill>
                        <a:srgbClr val="E2E7F2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wrap="none"/>
                    <a:lstStyle/>
                    <a:p>
                      <a:pPr algn="r"/>
                      <a:r>
                        <a:rPr sz="800" b="1">
                          <a:solidFill>
                            <a:srgbClr val="26292E"/>
                          </a:solidFill>
                          <a:latin typeface="Calibri"/>
                        </a:rPr>
                        <a:t>4,965</a:t>
                      </a:r>
                    </a:p>
                  </a:txBody>
                  <a:tcPr anchor="ctr" marL="27432" marR="27432" marT="4572" marB="4572">
                    <a:lnL w="6350">
                      <a:solidFill>
                        <a:srgbClr val="E2E7F2"/>
                      </a:solidFill>
                    </a:lnL>
                    <a:lnR w="6350">
                      <a:solidFill>
                        <a:srgbClr val="E2E7F2"/>
                      </a:solidFill>
                    </a:lnR>
                    <a:lnT w="6350">
                      <a:solidFill>
                        <a:srgbClr val="E2E7F2"/>
                      </a:solidFill>
                    </a:lnT>
                    <a:lnB w="6350">
                      <a:solidFill>
                        <a:srgbClr val="E2E7F2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wrap="none"/>
                    <a:lstStyle/>
                    <a:p>
                      <a:pPr algn="r"/>
                      <a:r>
                        <a:rPr sz="800" b="0">
                          <a:solidFill>
                            <a:srgbClr val="26292E"/>
                          </a:solidFill>
                          <a:latin typeface="Calibri"/>
                        </a:rPr>
                        <a:t>18%</a:t>
                      </a:r>
                    </a:p>
                  </a:txBody>
                  <a:tcPr anchor="ctr" marL="27432" marR="27432" marT="4572" marB="4572">
                    <a:lnL w="6350">
                      <a:solidFill>
                        <a:srgbClr val="E2E7F2"/>
                      </a:solidFill>
                    </a:lnL>
                    <a:lnR w="6350">
                      <a:solidFill>
                        <a:srgbClr val="E2E7F2"/>
                      </a:solidFill>
                    </a:lnR>
                    <a:lnT w="6350">
                      <a:solidFill>
                        <a:srgbClr val="E2E7F2"/>
                      </a:solidFill>
                    </a:lnT>
                    <a:lnB w="6350">
                      <a:solidFill>
                        <a:srgbClr val="E2E7F2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wrap="none"/>
                    <a:lstStyle/>
                    <a:p>
                      <a:pPr algn="r"/>
                      <a:r>
                        <a:rPr sz="800" b="1">
                          <a:solidFill>
                            <a:srgbClr val="C62828"/>
                          </a:solidFill>
                          <a:latin typeface="Calibri"/>
                        </a:rPr>
                        <a:t>-1%</a:t>
                      </a:r>
                    </a:p>
                  </a:txBody>
                  <a:tcPr anchor="ctr" marL="27432" marR="27432" marT="4572" marB="4572">
                    <a:lnL w="6350">
                      <a:solidFill>
                        <a:srgbClr val="E2E7F2"/>
                      </a:solidFill>
                    </a:lnL>
                    <a:lnR w="6350">
                      <a:solidFill>
                        <a:srgbClr val="E2E7F2"/>
                      </a:solidFill>
                    </a:lnR>
                    <a:lnT w="6350">
                      <a:solidFill>
                        <a:srgbClr val="E2E7F2"/>
                      </a:solidFill>
                    </a:lnT>
                    <a:lnB w="6350">
                      <a:solidFill>
                        <a:srgbClr val="E2E7F2"/>
                      </a:solidFill>
                    </a:lnB>
                    <a:solidFill>
                      <a:srgbClr val="FFFFFF"/>
                    </a:solidFill>
                  </a:tcPr>
                </a:tc>
              </a:tr>
              <a:tr h="173736">
                <a:tc>
                  <a:txBody>
                    <a:bodyPr wrap="none"/>
                    <a:lstStyle/>
                    <a:p>
                      <a:pPr algn="l"/>
                      <a:r>
                        <a:rPr sz="800" b="0">
                          <a:solidFill>
                            <a:srgbClr val="595959"/>
                          </a:solidFill>
                          <a:latin typeface="Calibri"/>
                        </a:rPr>
                        <a:t>   ’25</a:t>
                      </a:r>
                    </a:p>
                  </a:txBody>
                  <a:tcPr anchor="ctr" marL="27432" marR="27432" marT="4572" marB="4572">
                    <a:lnL w="6350">
                      <a:solidFill>
                        <a:srgbClr val="E2E7F2"/>
                      </a:solidFill>
                    </a:lnL>
                    <a:lnR w="6350">
                      <a:solidFill>
                        <a:srgbClr val="E2E7F2"/>
                      </a:solidFill>
                    </a:lnR>
                    <a:lnT w="6350">
                      <a:solidFill>
                        <a:srgbClr val="E2E7F2"/>
                      </a:solidFill>
                    </a:lnT>
                    <a:lnB w="6350">
                      <a:solidFill>
                        <a:srgbClr val="E2E7F2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wrap="none"/>
                    <a:lstStyle/>
                    <a:p>
                      <a:pPr algn="r"/>
                      <a:r>
                        <a:rPr sz="800" b="0">
                          <a:solidFill>
                            <a:srgbClr val="595959"/>
                          </a:solidFill>
                          <a:latin typeface="Calibri"/>
                        </a:rPr>
                        <a:t>1,282</a:t>
                      </a:r>
                    </a:p>
                  </a:txBody>
                  <a:tcPr anchor="ctr" marL="27432" marR="27432" marT="4572" marB="4572">
                    <a:lnL w="6350">
                      <a:solidFill>
                        <a:srgbClr val="E2E7F2"/>
                      </a:solidFill>
                    </a:lnL>
                    <a:lnR w="6350">
                      <a:solidFill>
                        <a:srgbClr val="E2E7F2"/>
                      </a:solidFill>
                    </a:lnR>
                    <a:lnT w="6350">
                      <a:solidFill>
                        <a:srgbClr val="E2E7F2"/>
                      </a:solidFill>
                    </a:lnT>
                    <a:lnB w="6350">
                      <a:solidFill>
                        <a:srgbClr val="E2E7F2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wrap="none"/>
                    <a:lstStyle/>
                    <a:p>
                      <a:pPr algn="r"/>
                      <a:r>
                        <a:rPr sz="800" b="0">
                          <a:solidFill>
                            <a:srgbClr val="595959"/>
                          </a:solidFill>
                          <a:latin typeface="Calibri"/>
                        </a:rPr>
                        <a:t>942</a:t>
                      </a:r>
                    </a:p>
                  </a:txBody>
                  <a:tcPr anchor="ctr" marL="27432" marR="27432" marT="4572" marB="4572">
                    <a:lnL w="6350">
                      <a:solidFill>
                        <a:srgbClr val="E2E7F2"/>
                      </a:solidFill>
                    </a:lnL>
                    <a:lnR w="6350">
                      <a:solidFill>
                        <a:srgbClr val="E2E7F2"/>
                      </a:solidFill>
                    </a:lnR>
                    <a:lnT w="6350">
                      <a:solidFill>
                        <a:srgbClr val="E2E7F2"/>
                      </a:solidFill>
                    </a:lnT>
                    <a:lnB w="6350">
                      <a:solidFill>
                        <a:srgbClr val="E2E7F2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wrap="none"/>
                    <a:lstStyle/>
                    <a:p>
                      <a:pPr algn="r"/>
                      <a:r>
                        <a:rPr sz="800" b="0">
                          <a:solidFill>
                            <a:srgbClr val="595959"/>
                          </a:solidFill>
                          <a:latin typeface="Calibri"/>
                        </a:rPr>
                        <a:t>859</a:t>
                      </a:r>
                    </a:p>
                  </a:txBody>
                  <a:tcPr anchor="ctr" marL="27432" marR="27432" marT="4572" marB="4572">
                    <a:lnL w="6350">
                      <a:solidFill>
                        <a:srgbClr val="E2E7F2"/>
                      </a:solidFill>
                    </a:lnL>
                    <a:lnR w="6350">
                      <a:solidFill>
                        <a:srgbClr val="E2E7F2"/>
                      </a:solidFill>
                    </a:lnR>
                    <a:lnT w="6350">
                      <a:solidFill>
                        <a:srgbClr val="E2E7F2"/>
                      </a:solidFill>
                    </a:lnT>
                    <a:lnB w="6350">
                      <a:solidFill>
                        <a:srgbClr val="E2E7F2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wrap="none"/>
                    <a:lstStyle/>
                    <a:p>
                      <a:pPr algn="r"/>
                      <a:r>
                        <a:rPr sz="800" b="0">
                          <a:solidFill>
                            <a:srgbClr val="595959"/>
                          </a:solidFill>
                          <a:latin typeface="Calibri"/>
                        </a:rPr>
                        <a:t>590</a:t>
                      </a:r>
                    </a:p>
                  </a:txBody>
                  <a:tcPr anchor="ctr" marL="27432" marR="27432" marT="4572" marB="4572">
                    <a:lnL w="6350">
                      <a:solidFill>
                        <a:srgbClr val="E2E7F2"/>
                      </a:solidFill>
                    </a:lnL>
                    <a:lnR w="6350">
                      <a:solidFill>
                        <a:srgbClr val="E2E7F2"/>
                      </a:solidFill>
                    </a:lnR>
                    <a:lnT w="6350">
                      <a:solidFill>
                        <a:srgbClr val="E2E7F2"/>
                      </a:solidFill>
                    </a:lnT>
                    <a:lnB w="6350">
                      <a:solidFill>
                        <a:srgbClr val="E2E7F2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wrap="none"/>
                    <a:lstStyle/>
                    <a:p>
                      <a:pPr algn="r"/>
                      <a:r>
                        <a:rPr sz="800" b="0">
                          <a:solidFill>
                            <a:srgbClr val="595959"/>
                          </a:solidFill>
                          <a:latin typeface="Calibri"/>
                        </a:rPr>
                        <a:t>669</a:t>
                      </a:r>
                    </a:p>
                  </a:txBody>
                  <a:tcPr anchor="ctr" marL="27432" marR="27432" marT="4572" marB="4572">
                    <a:lnL w="6350">
                      <a:solidFill>
                        <a:srgbClr val="E2E7F2"/>
                      </a:solidFill>
                    </a:lnL>
                    <a:lnR w="6350">
                      <a:solidFill>
                        <a:srgbClr val="E2E7F2"/>
                      </a:solidFill>
                    </a:lnR>
                    <a:lnT w="6350">
                      <a:solidFill>
                        <a:srgbClr val="E2E7F2"/>
                      </a:solidFill>
                    </a:lnT>
                    <a:lnB w="6350">
                      <a:solidFill>
                        <a:srgbClr val="E2E7F2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wrap="none"/>
                    <a:lstStyle/>
                    <a:p>
                      <a:pPr algn="r"/>
                      <a:r>
                        <a:rPr sz="800" b="0">
                          <a:solidFill>
                            <a:srgbClr val="595959"/>
                          </a:solidFill>
                          <a:latin typeface="Calibri"/>
                        </a:rPr>
                        <a:t>675</a:t>
                      </a:r>
                    </a:p>
                  </a:txBody>
                  <a:tcPr anchor="ctr" marL="27432" marR="27432" marT="4572" marB="4572">
                    <a:lnL w="6350">
                      <a:solidFill>
                        <a:srgbClr val="E2E7F2"/>
                      </a:solidFill>
                    </a:lnL>
                    <a:lnR w="6350">
                      <a:solidFill>
                        <a:srgbClr val="E2E7F2"/>
                      </a:solidFill>
                    </a:lnR>
                    <a:lnT w="6350">
                      <a:solidFill>
                        <a:srgbClr val="E2E7F2"/>
                      </a:solidFill>
                    </a:lnT>
                    <a:lnB w="6350">
                      <a:solidFill>
                        <a:srgbClr val="E2E7F2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wrap="none"/>
                    <a:lstStyle/>
                    <a:p>
                      <a:pPr algn="r"/>
                      <a:r>
                        <a:rPr sz="800" b="0">
                          <a:solidFill>
                            <a:srgbClr val="595959"/>
                          </a:solidFill>
                          <a:latin typeface="Calibri"/>
                        </a:rPr>
                        <a:t>5,017</a:t>
                      </a:r>
                    </a:p>
                  </a:txBody>
                  <a:tcPr anchor="ctr" marL="27432" marR="27432" marT="4572" marB="4572">
                    <a:lnL w="6350">
                      <a:solidFill>
                        <a:srgbClr val="E2E7F2"/>
                      </a:solidFill>
                    </a:lnL>
                    <a:lnR w="6350">
                      <a:solidFill>
                        <a:srgbClr val="E2E7F2"/>
                      </a:solidFill>
                    </a:lnR>
                    <a:lnT w="6350">
                      <a:solidFill>
                        <a:srgbClr val="E2E7F2"/>
                      </a:solidFill>
                    </a:lnT>
                    <a:lnB w="6350">
                      <a:solidFill>
                        <a:srgbClr val="E2E7F2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wrap="none"/>
                    <a:lstStyle/>
                    <a:p>
                      <a:pPr algn="r"/>
                      <a:r>
                        <a:rPr sz="800" b="0">
                          <a:solidFill>
                            <a:srgbClr val="595959"/>
                          </a:solidFill>
                          <a:latin typeface="Calibri"/>
                        </a:rPr>
                        <a:t>18%</a:t>
                      </a:r>
                    </a:p>
                  </a:txBody>
                  <a:tcPr anchor="ctr" marL="27432" marR="27432" marT="4572" marB="4572">
                    <a:lnL w="6350">
                      <a:solidFill>
                        <a:srgbClr val="E2E7F2"/>
                      </a:solidFill>
                    </a:lnL>
                    <a:lnR w="6350">
                      <a:solidFill>
                        <a:srgbClr val="E2E7F2"/>
                      </a:solidFill>
                    </a:lnR>
                    <a:lnT w="6350">
                      <a:solidFill>
                        <a:srgbClr val="E2E7F2"/>
                      </a:solidFill>
                    </a:lnT>
                    <a:lnB w="6350">
                      <a:solidFill>
                        <a:srgbClr val="E2E7F2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wrap="none"/>
                    <a:lstStyle/>
                    <a:p>
                      <a:pPr algn="l"/>
                      <a:r>
                        <a:rPr sz="800" b="0">
                          <a:solidFill>
                            <a:srgbClr val="26292E"/>
                          </a:solidFill>
                          <a:latin typeface="Calibri"/>
                        </a:rPr>
                        <a:t/>
                      </a:r>
                    </a:p>
                  </a:txBody>
                  <a:tcPr anchor="ctr" marL="27432" marR="27432" marT="4572" marB="4572">
                    <a:lnL w="6350">
                      <a:solidFill>
                        <a:srgbClr val="E2E7F2"/>
                      </a:solidFill>
                    </a:lnL>
                    <a:lnR w="6350">
                      <a:solidFill>
                        <a:srgbClr val="E2E7F2"/>
                      </a:solidFill>
                    </a:lnR>
                    <a:lnT w="6350">
                      <a:solidFill>
                        <a:srgbClr val="E2E7F2"/>
                      </a:solidFill>
                    </a:lnT>
                    <a:lnB w="6350">
                      <a:solidFill>
                        <a:srgbClr val="E2E7F2"/>
                      </a:solidFill>
                    </a:lnB>
                    <a:solidFill>
                      <a:srgbClr val="FFFFFF"/>
                    </a:solidFill>
                  </a:tcPr>
                </a:tc>
              </a:tr>
              <a:tr h="173736">
                <a:tc>
                  <a:txBody>
                    <a:bodyPr wrap="none"/>
                    <a:lstStyle/>
                    <a:p>
                      <a:pPr algn="l"/>
                      <a:r>
                        <a:rPr sz="800" b="1">
                          <a:solidFill>
                            <a:srgbClr val="26292E"/>
                          </a:solidFill>
                          <a:latin typeface="Calibri"/>
                        </a:rPr>
                        <a:t>Group Corporate</a:t>
                      </a:r>
                    </a:p>
                  </a:txBody>
                  <a:tcPr anchor="ctr" marL="27432" marR="27432" marT="4572" marB="4572">
                    <a:lnL w="6350">
                      <a:solidFill>
                        <a:srgbClr val="E2E7F2"/>
                      </a:solidFill>
                    </a:lnL>
                    <a:lnR w="6350">
                      <a:solidFill>
                        <a:srgbClr val="E2E7F2"/>
                      </a:solidFill>
                    </a:lnR>
                    <a:lnT w="6350">
                      <a:solidFill>
                        <a:srgbClr val="E2E7F2"/>
                      </a:solidFill>
                    </a:lnT>
                    <a:lnB w="6350">
                      <a:solidFill>
                        <a:srgbClr val="E2E7F2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wrap="none"/>
                    <a:lstStyle/>
                    <a:p>
                      <a:pPr algn="r"/>
                      <a:r>
                        <a:rPr sz="800" b="0">
                          <a:solidFill>
                            <a:srgbClr val="26292E"/>
                          </a:solidFill>
                          <a:latin typeface="Calibri"/>
                        </a:rPr>
                        <a:t>–</a:t>
                      </a:r>
                    </a:p>
                  </a:txBody>
                  <a:tcPr anchor="ctr" marL="27432" marR="27432" marT="4572" marB="4572">
                    <a:lnL w="6350">
                      <a:solidFill>
                        <a:srgbClr val="E2E7F2"/>
                      </a:solidFill>
                    </a:lnL>
                    <a:lnR w="6350">
                      <a:solidFill>
                        <a:srgbClr val="E2E7F2"/>
                      </a:solidFill>
                    </a:lnR>
                    <a:lnT w="6350">
                      <a:solidFill>
                        <a:srgbClr val="E2E7F2"/>
                      </a:solidFill>
                    </a:lnT>
                    <a:lnB w="6350">
                      <a:solidFill>
                        <a:srgbClr val="E2E7F2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wrap="none"/>
                    <a:lstStyle/>
                    <a:p>
                      <a:pPr algn="r"/>
                      <a:r>
                        <a:rPr sz="800" b="0">
                          <a:solidFill>
                            <a:srgbClr val="26292E"/>
                          </a:solidFill>
                          <a:latin typeface="Calibri"/>
                        </a:rPr>
                        <a:t>–</a:t>
                      </a:r>
                    </a:p>
                  </a:txBody>
                  <a:tcPr anchor="ctr" marL="27432" marR="27432" marT="4572" marB="4572">
                    <a:lnL w="6350">
                      <a:solidFill>
                        <a:srgbClr val="E2E7F2"/>
                      </a:solidFill>
                    </a:lnL>
                    <a:lnR w="6350">
                      <a:solidFill>
                        <a:srgbClr val="E2E7F2"/>
                      </a:solidFill>
                    </a:lnR>
                    <a:lnT w="6350">
                      <a:solidFill>
                        <a:srgbClr val="E2E7F2"/>
                      </a:solidFill>
                    </a:lnT>
                    <a:lnB w="6350">
                      <a:solidFill>
                        <a:srgbClr val="E2E7F2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wrap="none"/>
                    <a:lstStyle/>
                    <a:p>
                      <a:pPr algn="r"/>
                      <a:r>
                        <a:rPr sz="800" b="0">
                          <a:solidFill>
                            <a:srgbClr val="26292E"/>
                          </a:solidFill>
                          <a:latin typeface="Calibri"/>
                        </a:rPr>
                        <a:t>–</a:t>
                      </a:r>
                    </a:p>
                  </a:txBody>
                  <a:tcPr anchor="ctr" marL="27432" marR="27432" marT="4572" marB="4572">
                    <a:lnL w="6350">
                      <a:solidFill>
                        <a:srgbClr val="E2E7F2"/>
                      </a:solidFill>
                    </a:lnL>
                    <a:lnR w="6350">
                      <a:solidFill>
                        <a:srgbClr val="E2E7F2"/>
                      </a:solidFill>
                    </a:lnR>
                    <a:lnT w="6350">
                      <a:solidFill>
                        <a:srgbClr val="E2E7F2"/>
                      </a:solidFill>
                    </a:lnT>
                    <a:lnB w="6350">
                      <a:solidFill>
                        <a:srgbClr val="E2E7F2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wrap="none"/>
                    <a:lstStyle/>
                    <a:p>
                      <a:pPr algn="r"/>
                      <a:r>
                        <a:rPr sz="800" b="0">
                          <a:solidFill>
                            <a:srgbClr val="26292E"/>
                          </a:solidFill>
                          <a:latin typeface="Calibri"/>
                        </a:rPr>
                        <a:t>–</a:t>
                      </a:r>
                    </a:p>
                  </a:txBody>
                  <a:tcPr anchor="ctr" marL="27432" marR="27432" marT="4572" marB="4572">
                    <a:lnL w="6350">
                      <a:solidFill>
                        <a:srgbClr val="E2E7F2"/>
                      </a:solidFill>
                    </a:lnL>
                    <a:lnR w="6350">
                      <a:solidFill>
                        <a:srgbClr val="E2E7F2"/>
                      </a:solidFill>
                    </a:lnR>
                    <a:lnT w="6350">
                      <a:solidFill>
                        <a:srgbClr val="E2E7F2"/>
                      </a:solidFill>
                    </a:lnT>
                    <a:lnB w="6350">
                      <a:solidFill>
                        <a:srgbClr val="E2E7F2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wrap="none"/>
                    <a:lstStyle/>
                    <a:p>
                      <a:pPr algn="r"/>
                      <a:r>
                        <a:rPr sz="800" b="0">
                          <a:solidFill>
                            <a:srgbClr val="26292E"/>
                          </a:solidFill>
                          <a:latin typeface="Calibri"/>
                        </a:rPr>
                        <a:t>43</a:t>
                      </a:r>
                    </a:p>
                  </a:txBody>
                  <a:tcPr anchor="ctr" marL="27432" marR="27432" marT="4572" marB="4572">
                    <a:lnL w="6350">
                      <a:solidFill>
                        <a:srgbClr val="E2E7F2"/>
                      </a:solidFill>
                    </a:lnL>
                    <a:lnR w="6350">
                      <a:solidFill>
                        <a:srgbClr val="E2E7F2"/>
                      </a:solidFill>
                    </a:lnR>
                    <a:lnT w="6350">
                      <a:solidFill>
                        <a:srgbClr val="E2E7F2"/>
                      </a:solidFill>
                    </a:lnT>
                    <a:lnB w="6350">
                      <a:solidFill>
                        <a:srgbClr val="E2E7F2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wrap="none"/>
                    <a:lstStyle/>
                    <a:p>
                      <a:pPr algn="r"/>
                      <a:r>
                        <a:rPr sz="800" b="0">
                          <a:solidFill>
                            <a:srgbClr val="26292E"/>
                          </a:solidFill>
                          <a:latin typeface="Calibri"/>
                        </a:rPr>
                        <a:t>–</a:t>
                      </a:r>
                    </a:p>
                  </a:txBody>
                  <a:tcPr anchor="ctr" marL="27432" marR="27432" marT="4572" marB="4572">
                    <a:lnL w="6350">
                      <a:solidFill>
                        <a:srgbClr val="E2E7F2"/>
                      </a:solidFill>
                    </a:lnL>
                    <a:lnR w="6350">
                      <a:solidFill>
                        <a:srgbClr val="E2E7F2"/>
                      </a:solidFill>
                    </a:lnR>
                    <a:lnT w="6350">
                      <a:solidFill>
                        <a:srgbClr val="E2E7F2"/>
                      </a:solidFill>
                    </a:lnT>
                    <a:lnB w="6350">
                      <a:solidFill>
                        <a:srgbClr val="E2E7F2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wrap="none"/>
                    <a:lstStyle/>
                    <a:p>
                      <a:pPr algn="r"/>
                      <a:r>
                        <a:rPr sz="800" b="1">
                          <a:solidFill>
                            <a:srgbClr val="26292E"/>
                          </a:solidFill>
                          <a:latin typeface="Calibri"/>
                        </a:rPr>
                        <a:t>43</a:t>
                      </a:r>
                    </a:p>
                  </a:txBody>
                  <a:tcPr anchor="ctr" marL="27432" marR="27432" marT="4572" marB="4572">
                    <a:lnL w="6350">
                      <a:solidFill>
                        <a:srgbClr val="E2E7F2"/>
                      </a:solidFill>
                    </a:lnL>
                    <a:lnR w="6350">
                      <a:solidFill>
                        <a:srgbClr val="E2E7F2"/>
                      </a:solidFill>
                    </a:lnR>
                    <a:lnT w="6350">
                      <a:solidFill>
                        <a:srgbClr val="E2E7F2"/>
                      </a:solidFill>
                    </a:lnT>
                    <a:lnB w="6350">
                      <a:solidFill>
                        <a:srgbClr val="E2E7F2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wrap="none"/>
                    <a:lstStyle/>
                    <a:p>
                      <a:pPr algn="r"/>
                      <a:r>
                        <a:rPr sz="800" b="0">
                          <a:solidFill>
                            <a:srgbClr val="26292E"/>
                          </a:solidFill>
                          <a:latin typeface="Calibri"/>
                        </a:rPr>
                        <a:t>0%</a:t>
                      </a:r>
                    </a:p>
                  </a:txBody>
                  <a:tcPr anchor="ctr" marL="27432" marR="27432" marT="4572" marB="4572">
                    <a:lnL w="6350">
                      <a:solidFill>
                        <a:srgbClr val="E2E7F2"/>
                      </a:solidFill>
                    </a:lnL>
                    <a:lnR w="6350">
                      <a:solidFill>
                        <a:srgbClr val="E2E7F2"/>
                      </a:solidFill>
                    </a:lnR>
                    <a:lnT w="6350">
                      <a:solidFill>
                        <a:srgbClr val="E2E7F2"/>
                      </a:solidFill>
                    </a:lnT>
                    <a:lnB w="6350">
                      <a:solidFill>
                        <a:srgbClr val="E2E7F2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wrap="none"/>
                    <a:lstStyle/>
                    <a:p>
                      <a:pPr algn="r"/>
                      <a:r>
                        <a:rPr sz="800" b="1">
                          <a:solidFill>
                            <a:srgbClr val="1E7B34"/>
                          </a:solidFill>
                          <a:latin typeface="Calibri"/>
                        </a:rPr>
                        <a:t>new</a:t>
                      </a:r>
                    </a:p>
                  </a:txBody>
                  <a:tcPr anchor="ctr" marL="27432" marR="27432" marT="4572" marB="4572">
                    <a:lnL w="6350">
                      <a:solidFill>
                        <a:srgbClr val="E2E7F2"/>
                      </a:solidFill>
                    </a:lnL>
                    <a:lnR w="6350">
                      <a:solidFill>
                        <a:srgbClr val="E2E7F2"/>
                      </a:solidFill>
                    </a:lnR>
                    <a:lnT w="6350">
                      <a:solidFill>
                        <a:srgbClr val="E2E7F2"/>
                      </a:solidFill>
                    </a:lnT>
                    <a:lnB w="6350">
                      <a:solidFill>
                        <a:srgbClr val="E2E7F2"/>
                      </a:solidFill>
                    </a:lnB>
                    <a:solidFill>
                      <a:srgbClr val="FFFFFF"/>
                    </a:solidFill>
                  </a:tcPr>
                </a:tc>
              </a:tr>
              <a:tr h="173736">
                <a:tc>
                  <a:txBody>
                    <a:bodyPr wrap="none"/>
                    <a:lstStyle/>
                    <a:p>
                      <a:pPr algn="l"/>
                      <a:r>
                        <a:rPr sz="800" b="0">
                          <a:solidFill>
                            <a:srgbClr val="595959"/>
                          </a:solidFill>
                          <a:latin typeface="Calibri"/>
                        </a:rPr>
                        <a:t>   ’25</a:t>
                      </a:r>
                    </a:p>
                  </a:txBody>
                  <a:tcPr anchor="ctr" marL="27432" marR="27432" marT="4572" marB="4572">
                    <a:lnL w="6350">
                      <a:solidFill>
                        <a:srgbClr val="E2E7F2"/>
                      </a:solidFill>
                    </a:lnL>
                    <a:lnR w="6350">
                      <a:solidFill>
                        <a:srgbClr val="E2E7F2"/>
                      </a:solidFill>
                    </a:lnR>
                    <a:lnT w="6350">
                      <a:solidFill>
                        <a:srgbClr val="E2E7F2"/>
                      </a:solidFill>
                    </a:lnT>
                    <a:lnB w="6350">
                      <a:solidFill>
                        <a:srgbClr val="E2E7F2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wrap="none"/>
                    <a:lstStyle/>
                    <a:p>
                      <a:pPr algn="r"/>
                      <a:r>
                        <a:rPr sz="800" b="0">
                          <a:solidFill>
                            <a:srgbClr val="595959"/>
                          </a:solidFill>
                          <a:latin typeface="Calibri"/>
                        </a:rPr>
                        <a:t>–</a:t>
                      </a:r>
                    </a:p>
                  </a:txBody>
                  <a:tcPr anchor="ctr" marL="27432" marR="27432" marT="4572" marB="4572">
                    <a:lnL w="6350">
                      <a:solidFill>
                        <a:srgbClr val="E2E7F2"/>
                      </a:solidFill>
                    </a:lnL>
                    <a:lnR w="6350">
                      <a:solidFill>
                        <a:srgbClr val="E2E7F2"/>
                      </a:solidFill>
                    </a:lnR>
                    <a:lnT w="6350">
                      <a:solidFill>
                        <a:srgbClr val="E2E7F2"/>
                      </a:solidFill>
                    </a:lnT>
                    <a:lnB w="6350">
                      <a:solidFill>
                        <a:srgbClr val="E2E7F2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wrap="none"/>
                    <a:lstStyle/>
                    <a:p>
                      <a:pPr algn="r"/>
                      <a:r>
                        <a:rPr sz="800" b="0">
                          <a:solidFill>
                            <a:srgbClr val="595959"/>
                          </a:solidFill>
                          <a:latin typeface="Calibri"/>
                        </a:rPr>
                        <a:t>–</a:t>
                      </a:r>
                    </a:p>
                  </a:txBody>
                  <a:tcPr anchor="ctr" marL="27432" marR="27432" marT="4572" marB="4572">
                    <a:lnL w="6350">
                      <a:solidFill>
                        <a:srgbClr val="E2E7F2"/>
                      </a:solidFill>
                    </a:lnL>
                    <a:lnR w="6350">
                      <a:solidFill>
                        <a:srgbClr val="E2E7F2"/>
                      </a:solidFill>
                    </a:lnR>
                    <a:lnT w="6350">
                      <a:solidFill>
                        <a:srgbClr val="E2E7F2"/>
                      </a:solidFill>
                    </a:lnT>
                    <a:lnB w="6350">
                      <a:solidFill>
                        <a:srgbClr val="E2E7F2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wrap="none"/>
                    <a:lstStyle/>
                    <a:p>
                      <a:pPr algn="r"/>
                      <a:r>
                        <a:rPr sz="800" b="0">
                          <a:solidFill>
                            <a:srgbClr val="595959"/>
                          </a:solidFill>
                          <a:latin typeface="Calibri"/>
                        </a:rPr>
                        <a:t>–</a:t>
                      </a:r>
                    </a:p>
                  </a:txBody>
                  <a:tcPr anchor="ctr" marL="27432" marR="27432" marT="4572" marB="4572">
                    <a:lnL w="6350">
                      <a:solidFill>
                        <a:srgbClr val="E2E7F2"/>
                      </a:solidFill>
                    </a:lnL>
                    <a:lnR w="6350">
                      <a:solidFill>
                        <a:srgbClr val="E2E7F2"/>
                      </a:solidFill>
                    </a:lnR>
                    <a:lnT w="6350">
                      <a:solidFill>
                        <a:srgbClr val="E2E7F2"/>
                      </a:solidFill>
                    </a:lnT>
                    <a:lnB w="6350">
                      <a:solidFill>
                        <a:srgbClr val="E2E7F2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wrap="none"/>
                    <a:lstStyle/>
                    <a:p>
                      <a:pPr algn="r"/>
                      <a:r>
                        <a:rPr sz="800" b="0">
                          <a:solidFill>
                            <a:srgbClr val="595959"/>
                          </a:solidFill>
                          <a:latin typeface="Calibri"/>
                        </a:rPr>
                        <a:t>–</a:t>
                      </a:r>
                    </a:p>
                  </a:txBody>
                  <a:tcPr anchor="ctr" marL="27432" marR="27432" marT="4572" marB="4572">
                    <a:lnL w="6350">
                      <a:solidFill>
                        <a:srgbClr val="E2E7F2"/>
                      </a:solidFill>
                    </a:lnL>
                    <a:lnR w="6350">
                      <a:solidFill>
                        <a:srgbClr val="E2E7F2"/>
                      </a:solidFill>
                    </a:lnR>
                    <a:lnT w="6350">
                      <a:solidFill>
                        <a:srgbClr val="E2E7F2"/>
                      </a:solidFill>
                    </a:lnT>
                    <a:lnB w="6350">
                      <a:solidFill>
                        <a:srgbClr val="E2E7F2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wrap="none"/>
                    <a:lstStyle/>
                    <a:p>
                      <a:pPr algn="r"/>
                      <a:r>
                        <a:rPr sz="800" b="0">
                          <a:solidFill>
                            <a:srgbClr val="595959"/>
                          </a:solidFill>
                          <a:latin typeface="Calibri"/>
                        </a:rPr>
                        <a:t>–</a:t>
                      </a:r>
                    </a:p>
                  </a:txBody>
                  <a:tcPr anchor="ctr" marL="27432" marR="27432" marT="4572" marB="4572">
                    <a:lnL w="6350">
                      <a:solidFill>
                        <a:srgbClr val="E2E7F2"/>
                      </a:solidFill>
                    </a:lnL>
                    <a:lnR w="6350">
                      <a:solidFill>
                        <a:srgbClr val="E2E7F2"/>
                      </a:solidFill>
                    </a:lnR>
                    <a:lnT w="6350">
                      <a:solidFill>
                        <a:srgbClr val="E2E7F2"/>
                      </a:solidFill>
                    </a:lnT>
                    <a:lnB w="6350">
                      <a:solidFill>
                        <a:srgbClr val="E2E7F2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wrap="none"/>
                    <a:lstStyle/>
                    <a:p>
                      <a:pPr algn="r"/>
                      <a:r>
                        <a:rPr sz="800" b="0">
                          <a:solidFill>
                            <a:srgbClr val="595959"/>
                          </a:solidFill>
                          <a:latin typeface="Calibri"/>
                        </a:rPr>
                        <a:t>–</a:t>
                      </a:r>
                    </a:p>
                  </a:txBody>
                  <a:tcPr anchor="ctr" marL="27432" marR="27432" marT="4572" marB="4572">
                    <a:lnL w="6350">
                      <a:solidFill>
                        <a:srgbClr val="E2E7F2"/>
                      </a:solidFill>
                    </a:lnL>
                    <a:lnR w="6350">
                      <a:solidFill>
                        <a:srgbClr val="E2E7F2"/>
                      </a:solidFill>
                    </a:lnR>
                    <a:lnT w="6350">
                      <a:solidFill>
                        <a:srgbClr val="E2E7F2"/>
                      </a:solidFill>
                    </a:lnT>
                    <a:lnB w="6350">
                      <a:solidFill>
                        <a:srgbClr val="E2E7F2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wrap="none"/>
                    <a:lstStyle/>
                    <a:p>
                      <a:pPr algn="r"/>
                      <a:r>
                        <a:rPr sz="800" b="0">
                          <a:solidFill>
                            <a:srgbClr val="595959"/>
                          </a:solidFill>
                          <a:latin typeface="Calibri"/>
                        </a:rPr>
                        <a:t>–</a:t>
                      </a:r>
                    </a:p>
                  </a:txBody>
                  <a:tcPr anchor="ctr" marL="27432" marR="27432" marT="4572" marB="4572">
                    <a:lnL w="6350">
                      <a:solidFill>
                        <a:srgbClr val="E2E7F2"/>
                      </a:solidFill>
                    </a:lnL>
                    <a:lnR w="6350">
                      <a:solidFill>
                        <a:srgbClr val="E2E7F2"/>
                      </a:solidFill>
                    </a:lnR>
                    <a:lnT w="6350">
                      <a:solidFill>
                        <a:srgbClr val="E2E7F2"/>
                      </a:solidFill>
                    </a:lnT>
                    <a:lnB w="6350">
                      <a:solidFill>
                        <a:srgbClr val="E2E7F2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wrap="none"/>
                    <a:lstStyle/>
                    <a:p>
                      <a:pPr algn="r"/>
                      <a:r>
                        <a:rPr sz="800" b="0">
                          <a:solidFill>
                            <a:srgbClr val="595959"/>
                          </a:solidFill>
                          <a:latin typeface="Calibri"/>
                        </a:rPr>
                        <a:t>0%</a:t>
                      </a:r>
                    </a:p>
                  </a:txBody>
                  <a:tcPr anchor="ctr" marL="27432" marR="27432" marT="4572" marB="4572">
                    <a:lnL w="6350">
                      <a:solidFill>
                        <a:srgbClr val="E2E7F2"/>
                      </a:solidFill>
                    </a:lnL>
                    <a:lnR w="6350">
                      <a:solidFill>
                        <a:srgbClr val="E2E7F2"/>
                      </a:solidFill>
                    </a:lnR>
                    <a:lnT w="6350">
                      <a:solidFill>
                        <a:srgbClr val="E2E7F2"/>
                      </a:solidFill>
                    </a:lnT>
                    <a:lnB w="6350">
                      <a:solidFill>
                        <a:srgbClr val="E2E7F2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wrap="none"/>
                    <a:lstStyle/>
                    <a:p>
                      <a:pPr algn="l"/>
                      <a:r>
                        <a:rPr sz="800" b="0">
                          <a:solidFill>
                            <a:srgbClr val="26292E"/>
                          </a:solidFill>
                          <a:latin typeface="Calibri"/>
                        </a:rPr>
                        <a:t/>
                      </a:r>
                    </a:p>
                  </a:txBody>
                  <a:tcPr anchor="ctr" marL="27432" marR="27432" marT="4572" marB="4572">
                    <a:lnL w="6350">
                      <a:solidFill>
                        <a:srgbClr val="E2E7F2"/>
                      </a:solidFill>
                    </a:lnL>
                    <a:lnR w="6350">
                      <a:solidFill>
                        <a:srgbClr val="E2E7F2"/>
                      </a:solidFill>
                    </a:lnR>
                    <a:lnT w="6350">
                      <a:solidFill>
                        <a:srgbClr val="E2E7F2"/>
                      </a:solidFill>
                    </a:lnT>
                    <a:lnB w="6350">
                      <a:solidFill>
                        <a:srgbClr val="E2E7F2"/>
                      </a:solidFill>
                    </a:lnB>
                    <a:solidFill>
                      <a:srgbClr val="FFFFFF"/>
                    </a:solidFill>
                  </a:tcPr>
                </a:tc>
              </a:tr>
              <a:tr h="173736">
                <a:tc>
                  <a:txBody>
                    <a:bodyPr wrap="none"/>
                    <a:lstStyle/>
                    <a:p>
                      <a:pPr algn="l"/>
                      <a:r>
                        <a:rPr sz="800" b="1">
                          <a:solidFill>
                            <a:srgbClr val="26292E"/>
                          </a:solidFill>
                          <a:latin typeface="Calibri"/>
                        </a:rPr>
                        <a:t>Employee</a:t>
                      </a:r>
                    </a:p>
                  </a:txBody>
                  <a:tcPr anchor="ctr" marL="27432" marR="27432" marT="4572" marB="4572">
                    <a:lnL w="6350">
                      <a:solidFill>
                        <a:srgbClr val="E2E7F2"/>
                      </a:solidFill>
                    </a:lnL>
                    <a:lnR w="6350">
                      <a:solidFill>
                        <a:srgbClr val="E2E7F2"/>
                      </a:solidFill>
                    </a:lnR>
                    <a:lnT w="6350">
                      <a:solidFill>
                        <a:srgbClr val="E2E7F2"/>
                      </a:solidFill>
                    </a:lnT>
                    <a:lnB w="6350">
                      <a:solidFill>
                        <a:srgbClr val="E2E7F2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wrap="none"/>
                    <a:lstStyle/>
                    <a:p>
                      <a:pPr algn="r"/>
                      <a:r>
                        <a:rPr sz="800" b="0">
                          <a:solidFill>
                            <a:srgbClr val="26292E"/>
                          </a:solidFill>
                          <a:latin typeface="Calibri"/>
                        </a:rPr>
                        <a:t>19</a:t>
                      </a:r>
                    </a:p>
                  </a:txBody>
                  <a:tcPr anchor="ctr" marL="27432" marR="27432" marT="4572" marB="4572">
                    <a:lnL w="6350">
                      <a:solidFill>
                        <a:srgbClr val="E2E7F2"/>
                      </a:solidFill>
                    </a:lnL>
                    <a:lnR w="6350">
                      <a:solidFill>
                        <a:srgbClr val="E2E7F2"/>
                      </a:solidFill>
                    </a:lnR>
                    <a:lnT w="6350">
                      <a:solidFill>
                        <a:srgbClr val="E2E7F2"/>
                      </a:solidFill>
                    </a:lnT>
                    <a:lnB w="6350">
                      <a:solidFill>
                        <a:srgbClr val="E2E7F2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wrap="none"/>
                    <a:lstStyle/>
                    <a:p>
                      <a:pPr algn="r"/>
                      <a:r>
                        <a:rPr sz="800" b="0">
                          <a:solidFill>
                            <a:srgbClr val="26292E"/>
                          </a:solidFill>
                          <a:latin typeface="Calibri"/>
                        </a:rPr>
                        <a:t>17</a:t>
                      </a:r>
                    </a:p>
                  </a:txBody>
                  <a:tcPr anchor="ctr" marL="27432" marR="27432" marT="4572" marB="4572">
                    <a:lnL w="6350">
                      <a:solidFill>
                        <a:srgbClr val="E2E7F2"/>
                      </a:solidFill>
                    </a:lnL>
                    <a:lnR w="6350">
                      <a:solidFill>
                        <a:srgbClr val="E2E7F2"/>
                      </a:solidFill>
                    </a:lnR>
                    <a:lnT w="6350">
                      <a:solidFill>
                        <a:srgbClr val="E2E7F2"/>
                      </a:solidFill>
                    </a:lnT>
                    <a:lnB w="6350">
                      <a:solidFill>
                        <a:srgbClr val="E2E7F2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wrap="none"/>
                    <a:lstStyle/>
                    <a:p>
                      <a:pPr algn="r"/>
                      <a:r>
                        <a:rPr sz="800" b="0">
                          <a:solidFill>
                            <a:srgbClr val="26292E"/>
                          </a:solidFill>
                          <a:latin typeface="Calibri"/>
                        </a:rPr>
                        <a:t>11</a:t>
                      </a:r>
                    </a:p>
                  </a:txBody>
                  <a:tcPr anchor="ctr" marL="27432" marR="27432" marT="4572" marB="4572">
                    <a:lnL w="6350">
                      <a:solidFill>
                        <a:srgbClr val="E2E7F2"/>
                      </a:solidFill>
                    </a:lnL>
                    <a:lnR w="6350">
                      <a:solidFill>
                        <a:srgbClr val="E2E7F2"/>
                      </a:solidFill>
                    </a:lnR>
                    <a:lnT w="6350">
                      <a:solidFill>
                        <a:srgbClr val="E2E7F2"/>
                      </a:solidFill>
                    </a:lnT>
                    <a:lnB w="6350">
                      <a:solidFill>
                        <a:srgbClr val="E2E7F2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wrap="none"/>
                    <a:lstStyle/>
                    <a:p>
                      <a:pPr algn="r"/>
                      <a:r>
                        <a:rPr sz="800" b="0">
                          <a:solidFill>
                            <a:srgbClr val="26292E"/>
                          </a:solidFill>
                          <a:latin typeface="Calibri"/>
                        </a:rPr>
                        <a:t>17</a:t>
                      </a:r>
                    </a:p>
                  </a:txBody>
                  <a:tcPr anchor="ctr" marL="27432" marR="27432" marT="4572" marB="4572">
                    <a:lnL w="6350">
                      <a:solidFill>
                        <a:srgbClr val="E2E7F2"/>
                      </a:solidFill>
                    </a:lnL>
                    <a:lnR w="6350">
                      <a:solidFill>
                        <a:srgbClr val="E2E7F2"/>
                      </a:solidFill>
                    </a:lnR>
                    <a:lnT w="6350">
                      <a:solidFill>
                        <a:srgbClr val="E2E7F2"/>
                      </a:solidFill>
                    </a:lnT>
                    <a:lnB w="6350">
                      <a:solidFill>
                        <a:srgbClr val="E2E7F2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wrap="none"/>
                    <a:lstStyle/>
                    <a:p>
                      <a:pPr algn="r"/>
                      <a:r>
                        <a:rPr sz="800" b="0">
                          <a:solidFill>
                            <a:srgbClr val="26292E"/>
                          </a:solidFill>
                          <a:latin typeface="Calibri"/>
                        </a:rPr>
                        <a:t>25</a:t>
                      </a:r>
                    </a:p>
                  </a:txBody>
                  <a:tcPr anchor="ctr" marL="27432" marR="27432" marT="4572" marB="4572">
                    <a:lnL w="6350">
                      <a:solidFill>
                        <a:srgbClr val="E2E7F2"/>
                      </a:solidFill>
                    </a:lnL>
                    <a:lnR w="6350">
                      <a:solidFill>
                        <a:srgbClr val="E2E7F2"/>
                      </a:solidFill>
                    </a:lnR>
                    <a:lnT w="6350">
                      <a:solidFill>
                        <a:srgbClr val="E2E7F2"/>
                      </a:solidFill>
                    </a:lnT>
                    <a:lnB w="6350">
                      <a:solidFill>
                        <a:srgbClr val="E2E7F2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wrap="none"/>
                    <a:lstStyle/>
                    <a:p>
                      <a:pPr algn="r"/>
                      <a:r>
                        <a:rPr sz="800" b="0">
                          <a:solidFill>
                            <a:srgbClr val="26292E"/>
                          </a:solidFill>
                          <a:latin typeface="Calibri"/>
                        </a:rPr>
                        <a:t>29</a:t>
                      </a:r>
                    </a:p>
                  </a:txBody>
                  <a:tcPr anchor="ctr" marL="27432" marR="27432" marT="4572" marB="4572">
                    <a:lnL w="6350">
                      <a:solidFill>
                        <a:srgbClr val="E2E7F2"/>
                      </a:solidFill>
                    </a:lnL>
                    <a:lnR w="6350">
                      <a:solidFill>
                        <a:srgbClr val="E2E7F2"/>
                      </a:solidFill>
                    </a:lnR>
                    <a:lnT w="6350">
                      <a:solidFill>
                        <a:srgbClr val="E2E7F2"/>
                      </a:solidFill>
                    </a:lnT>
                    <a:lnB w="6350">
                      <a:solidFill>
                        <a:srgbClr val="E2E7F2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wrap="none"/>
                    <a:lstStyle/>
                    <a:p>
                      <a:pPr algn="r"/>
                      <a:r>
                        <a:rPr sz="800" b="1">
                          <a:solidFill>
                            <a:srgbClr val="26292E"/>
                          </a:solidFill>
                          <a:latin typeface="Calibri"/>
                        </a:rPr>
                        <a:t>118</a:t>
                      </a:r>
                    </a:p>
                  </a:txBody>
                  <a:tcPr anchor="ctr" marL="27432" marR="27432" marT="4572" marB="4572">
                    <a:lnL w="6350">
                      <a:solidFill>
                        <a:srgbClr val="E2E7F2"/>
                      </a:solidFill>
                    </a:lnL>
                    <a:lnR w="6350">
                      <a:solidFill>
                        <a:srgbClr val="E2E7F2"/>
                      </a:solidFill>
                    </a:lnR>
                    <a:lnT w="6350">
                      <a:solidFill>
                        <a:srgbClr val="E2E7F2"/>
                      </a:solidFill>
                    </a:lnT>
                    <a:lnB w="6350">
                      <a:solidFill>
                        <a:srgbClr val="E2E7F2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wrap="none"/>
                    <a:lstStyle/>
                    <a:p>
                      <a:pPr algn="r"/>
                      <a:r>
                        <a:rPr sz="800" b="0">
                          <a:solidFill>
                            <a:srgbClr val="26292E"/>
                          </a:solidFill>
                          <a:latin typeface="Calibri"/>
                        </a:rPr>
                        <a:t>0%</a:t>
                      </a:r>
                    </a:p>
                  </a:txBody>
                  <a:tcPr anchor="ctr" marL="27432" marR="27432" marT="4572" marB="4572">
                    <a:lnL w="6350">
                      <a:solidFill>
                        <a:srgbClr val="E2E7F2"/>
                      </a:solidFill>
                    </a:lnL>
                    <a:lnR w="6350">
                      <a:solidFill>
                        <a:srgbClr val="E2E7F2"/>
                      </a:solidFill>
                    </a:lnR>
                    <a:lnT w="6350">
                      <a:solidFill>
                        <a:srgbClr val="E2E7F2"/>
                      </a:solidFill>
                    </a:lnT>
                    <a:lnB w="6350">
                      <a:solidFill>
                        <a:srgbClr val="E2E7F2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wrap="none"/>
                    <a:lstStyle/>
                    <a:p>
                      <a:pPr algn="r"/>
                      <a:r>
                        <a:rPr sz="800" b="1">
                          <a:solidFill>
                            <a:srgbClr val="C62828"/>
                          </a:solidFill>
                          <a:latin typeface="Calibri"/>
                        </a:rPr>
                        <a:t>-46%</a:t>
                      </a:r>
                    </a:p>
                  </a:txBody>
                  <a:tcPr anchor="ctr" marL="27432" marR="27432" marT="4572" marB="4572">
                    <a:lnL w="6350">
                      <a:solidFill>
                        <a:srgbClr val="E2E7F2"/>
                      </a:solidFill>
                    </a:lnL>
                    <a:lnR w="6350">
                      <a:solidFill>
                        <a:srgbClr val="E2E7F2"/>
                      </a:solidFill>
                    </a:lnR>
                    <a:lnT w="6350">
                      <a:solidFill>
                        <a:srgbClr val="E2E7F2"/>
                      </a:solidFill>
                    </a:lnT>
                    <a:lnB w="6350">
                      <a:solidFill>
                        <a:srgbClr val="E2E7F2"/>
                      </a:solidFill>
                    </a:lnB>
                    <a:solidFill>
                      <a:srgbClr val="FFFFFF"/>
                    </a:solidFill>
                  </a:tcPr>
                </a:tc>
              </a:tr>
              <a:tr h="173736">
                <a:tc>
                  <a:txBody>
                    <a:bodyPr wrap="none"/>
                    <a:lstStyle/>
                    <a:p>
                      <a:pPr algn="l"/>
                      <a:r>
                        <a:rPr sz="800" b="0">
                          <a:solidFill>
                            <a:srgbClr val="595959"/>
                          </a:solidFill>
                          <a:latin typeface="Calibri"/>
                        </a:rPr>
                        <a:t>   ’25</a:t>
                      </a:r>
                    </a:p>
                  </a:txBody>
                  <a:tcPr anchor="ctr" marL="27432" marR="27432" marT="4572" marB="4572">
                    <a:lnL w="6350">
                      <a:solidFill>
                        <a:srgbClr val="E2E7F2"/>
                      </a:solidFill>
                    </a:lnL>
                    <a:lnR w="6350">
                      <a:solidFill>
                        <a:srgbClr val="E2E7F2"/>
                      </a:solidFill>
                    </a:lnR>
                    <a:lnT w="6350">
                      <a:solidFill>
                        <a:srgbClr val="E2E7F2"/>
                      </a:solidFill>
                    </a:lnT>
                    <a:lnB w="6350">
                      <a:solidFill>
                        <a:srgbClr val="E2E7F2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wrap="none"/>
                    <a:lstStyle/>
                    <a:p>
                      <a:pPr algn="r"/>
                      <a:r>
                        <a:rPr sz="800" b="0">
                          <a:solidFill>
                            <a:srgbClr val="595959"/>
                          </a:solidFill>
                          <a:latin typeface="Calibri"/>
                        </a:rPr>
                        <a:t>–</a:t>
                      </a:r>
                    </a:p>
                  </a:txBody>
                  <a:tcPr anchor="ctr" marL="27432" marR="27432" marT="4572" marB="4572">
                    <a:lnL w="6350">
                      <a:solidFill>
                        <a:srgbClr val="E2E7F2"/>
                      </a:solidFill>
                    </a:lnL>
                    <a:lnR w="6350">
                      <a:solidFill>
                        <a:srgbClr val="E2E7F2"/>
                      </a:solidFill>
                    </a:lnR>
                    <a:lnT w="6350">
                      <a:solidFill>
                        <a:srgbClr val="E2E7F2"/>
                      </a:solidFill>
                    </a:lnT>
                    <a:lnB w="6350">
                      <a:solidFill>
                        <a:srgbClr val="E2E7F2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wrap="none"/>
                    <a:lstStyle/>
                    <a:p>
                      <a:pPr algn="r"/>
                      <a:r>
                        <a:rPr sz="800" b="0">
                          <a:solidFill>
                            <a:srgbClr val="595959"/>
                          </a:solidFill>
                          <a:latin typeface="Calibri"/>
                        </a:rPr>
                        <a:t>44</a:t>
                      </a:r>
                    </a:p>
                  </a:txBody>
                  <a:tcPr anchor="ctr" marL="27432" marR="27432" marT="4572" marB="4572">
                    <a:lnL w="6350">
                      <a:solidFill>
                        <a:srgbClr val="E2E7F2"/>
                      </a:solidFill>
                    </a:lnL>
                    <a:lnR w="6350">
                      <a:solidFill>
                        <a:srgbClr val="E2E7F2"/>
                      </a:solidFill>
                    </a:lnR>
                    <a:lnT w="6350">
                      <a:solidFill>
                        <a:srgbClr val="E2E7F2"/>
                      </a:solidFill>
                    </a:lnT>
                    <a:lnB w="6350">
                      <a:solidFill>
                        <a:srgbClr val="E2E7F2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wrap="none"/>
                    <a:lstStyle/>
                    <a:p>
                      <a:pPr algn="r"/>
                      <a:r>
                        <a:rPr sz="800" b="0">
                          <a:solidFill>
                            <a:srgbClr val="595959"/>
                          </a:solidFill>
                          <a:latin typeface="Calibri"/>
                        </a:rPr>
                        <a:t>40</a:t>
                      </a:r>
                    </a:p>
                  </a:txBody>
                  <a:tcPr anchor="ctr" marL="27432" marR="27432" marT="4572" marB="4572">
                    <a:lnL w="6350">
                      <a:solidFill>
                        <a:srgbClr val="E2E7F2"/>
                      </a:solidFill>
                    </a:lnL>
                    <a:lnR w="6350">
                      <a:solidFill>
                        <a:srgbClr val="E2E7F2"/>
                      </a:solidFill>
                    </a:lnR>
                    <a:lnT w="6350">
                      <a:solidFill>
                        <a:srgbClr val="E2E7F2"/>
                      </a:solidFill>
                    </a:lnT>
                    <a:lnB w="6350">
                      <a:solidFill>
                        <a:srgbClr val="E2E7F2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wrap="none"/>
                    <a:lstStyle/>
                    <a:p>
                      <a:pPr algn="r"/>
                      <a:r>
                        <a:rPr sz="800" b="0">
                          <a:solidFill>
                            <a:srgbClr val="595959"/>
                          </a:solidFill>
                          <a:latin typeface="Calibri"/>
                        </a:rPr>
                        <a:t>34</a:t>
                      </a:r>
                    </a:p>
                  </a:txBody>
                  <a:tcPr anchor="ctr" marL="27432" marR="27432" marT="4572" marB="4572">
                    <a:lnL w="6350">
                      <a:solidFill>
                        <a:srgbClr val="E2E7F2"/>
                      </a:solidFill>
                    </a:lnL>
                    <a:lnR w="6350">
                      <a:solidFill>
                        <a:srgbClr val="E2E7F2"/>
                      </a:solidFill>
                    </a:lnR>
                    <a:lnT w="6350">
                      <a:solidFill>
                        <a:srgbClr val="E2E7F2"/>
                      </a:solidFill>
                    </a:lnT>
                    <a:lnB w="6350">
                      <a:solidFill>
                        <a:srgbClr val="E2E7F2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wrap="none"/>
                    <a:lstStyle/>
                    <a:p>
                      <a:pPr algn="r"/>
                      <a:r>
                        <a:rPr sz="800" b="0">
                          <a:solidFill>
                            <a:srgbClr val="595959"/>
                          </a:solidFill>
                          <a:latin typeface="Calibri"/>
                        </a:rPr>
                        <a:t>49</a:t>
                      </a:r>
                    </a:p>
                  </a:txBody>
                  <a:tcPr anchor="ctr" marL="27432" marR="27432" marT="4572" marB="4572">
                    <a:lnL w="6350">
                      <a:solidFill>
                        <a:srgbClr val="E2E7F2"/>
                      </a:solidFill>
                    </a:lnL>
                    <a:lnR w="6350">
                      <a:solidFill>
                        <a:srgbClr val="E2E7F2"/>
                      </a:solidFill>
                    </a:lnR>
                    <a:lnT w="6350">
                      <a:solidFill>
                        <a:srgbClr val="E2E7F2"/>
                      </a:solidFill>
                    </a:lnT>
                    <a:lnB w="6350">
                      <a:solidFill>
                        <a:srgbClr val="E2E7F2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wrap="none"/>
                    <a:lstStyle/>
                    <a:p>
                      <a:pPr algn="r"/>
                      <a:r>
                        <a:rPr sz="800" b="0">
                          <a:solidFill>
                            <a:srgbClr val="595959"/>
                          </a:solidFill>
                          <a:latin typeface="Calibri"/>
                        </a:rPr>
                        <a:t>53</a:t>
                      </a:r>
                    </a:p>
                  </a:txBody>
                  <a:tcPr anchor="ctr" marL="27432" marR="27432" marT="4572" marB="4572">
                    <a:lnL w="6350">
                      <a:solidFill>
                        <a:srgbClr val="E2E7F2"/>
                      </a:solidFill>
                    </a:lnL>
                    <a:lnR w="6350">
                      <a:solidFill>
                        <a:srgbClr val="E2E7F2"/>
                      </a:solidFill>
                    </a:lnR>
                    <a:lnT w="6350">
                      <a:solidFill>
                        <a:srgbClr val="E2E7F2"/>
                      </a:solidFill>
                    </a:lnT>
                    <a:lnB w="6350">
                      <a:solidFill>
                        <a:srgbClr val="E2E7F2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wrap="none"/>
                    <a:lstStyle/>
                    <a:p>
                      <a:pPr algn="r"/>
                      <a:r>
                        <a:rPr sz="800" b="0">
                          <a:solidFill>
                            <a:srgbClr val="595959"/>
                          </a:solidFill>
                          <a:latin typeface="Calibri"/>
                        </a:rPr>
                        <a:t>220</a:t>
                      </a:r>
                    </a:p>
                  </a:txBody>
                  <a:tcPr anchor="ctr" marL="27432" marR="27432" marT="4572" marB="4572">
                    <a:lnL w="6350">
                      <a:solidFill>
                        <a:srgbClr val="E2E7F2"/>
                      </a:solidFill>
                    </a:lnL>
                    <a:lnR w="6350">
                      <a:solidFill>
                        <a:srgbClr val="E2E7F2"/>
                      </a:solidFill>
                    </a:lnR>
                    <a:lnT w="6350">
                      <a:solidFill>
                        <a:srgbClr val="E2E7F2"/>
                      </a:solidFill>
                    </a:lnT>
                    <a:lnB w="6350">
                      <a:solidFill>
                        <a:srgbClr val="E2E7F2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wrap="none"/>
                    <a:lstStyle/>
                    <a:p>
                      <a:pPr algn="r"/>
                      <a:r>
                        <a:rPr sz="800" b="0">
                          <a:solidFill>
                            <a:srgbClr val="595959"/>
                          </a:solidFill>
                          <a:latin typeface="Calibri"/>
                        </a:rPr>
                        <a:t>1%</a:t>
                      </a:r>
                    </a:p>
                  </a:txBody>
                  <a:tcPr anchor="ctr" marL="27432" marR="27432" marT="4572" marB="4572">
                    <a:lnL w="6350">
                      <a:solidFill>
                        <a:srgbClr val="E2E7F2"/>
                      </a:solidFill>
                    </a:lnL>
                    <a:lnR w="6350">
                      <a:solidFill>
                        <a:srgbClr val="E2E7F2"/>
                      </a:solidFill>
                    </a:lnR>
                    <a:lnT w="6350">
                      <a:solidFill>
                        <a:srgbClr val="E2E7F2"/>
                      </a:solidFill>
                    </a:lnT>
                    <a:lnB w="6350">
                      <a:solidFill>
                        <a:srgbClr val="E2E7F2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wrap="none"/>
                    <a:lstStyle/>
                    <a:p>
                      <a:pPr algn="l"/>
                      <a:r>
                        <a:rPr sz="800" b="0">
                          <a:solidFill>
                            <a:srgbClr val="26292E"/>
                          </a:solidFill>
                          <a:latin typeface="Calibri"/>
                        </a:rPr>
                        <a:t/>
                      </a:r>
                    </a:p>
                  </a:txBody>
                  <a:tcPr anchor="ctr" marL="27432" marR="27432" marT="4572" marB="4572">
                    <a:lnL w="6350">
                      <a:solidFill>
                        <a:srgbClr val="E2E7F2"/>
                      </a:solidFill>
                    </a:lnL>
                    <a:lnR w="6350">
                      <a:solidFill>
                        <a:srgbClr val="E2E7F2"/>
                      </a:solidFill>
                    </a:lnR>
                    <a:lnT w="6350">
                      <a:solidFill>
                        <a:srgbClr val="E2E7F2"/>
                      </a:solidFill>
                    </a:lnT>
                    <a:lnB w="6350">
                      <a:solidFill>
                        <a:srgbClr val="E2E7F2"/>
                      </a:solidFill>
                    </a:lnB>
                    <a:solidFill>
                      <a:srgbClr val="FFFFFF"/>
                    </a:solidFill>
                  </a:tcPr>
                </a:tc>
              </a:tr>
              <a:tr h="173736">
                <a:tc>
                  <a:txBody>
                    <a:bodyPr wrap="none"/>
                    <a:lstStyle/>
                    <a:p>
                      <a:pPr algn="l"/>
                      <a:r>
                        <a:rPr sz="800" b="1">
                          <a:solidFill>
                            <a:srgbClr val="26292E"/>
                          </a:solidFill>
                          <a:latin typeface="Calibri"/>
                        </a:rPr>
                        <a:t>Total</a:t>
                      </a:r>
                    </a:p>
                  </a:txBody>
                  <a:tcPr anchor="ctr" marL="27432" marR="27432" marT="4572" marB="4572">
                    <a:lnL w="6350">
                      <a:solidFill>
                        <a:srgbClr val="E2E7F2"/>
                      </a:solidFill>
                    </a:lnL>
                    <a:lnR w="6350">
                      <a:solidFill>
                        <a:srgbClr val="E2E7F2"/>
                      </a:solidFill>
                    </a:lnR>
                    <a:lnT w="6350">
                      <a:solidFill>
                        <a:srgbClr val="E2E7F2"/>
                      </a:solidFill>
                    </a:lnT>
                    <a:lnB w="6350">
                      <a:solidFill>
                        <a:srgbClr val="E2E7F2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wrap="none"/>
                    <a:lstStyle/>
                    <a:p>
                      <a:pPr algn="r"/>
                      <a:r>
                        <a:rPr sz="800" b="1">
                          <a:solidFill>
                            <a:srgbClr val="26292E"/>
                          </a:solidFill>
                          <a:latin typeface="Calibri"/>
                        </a:rPr>
                        <a:t>5,639</a:t>
                      </a:r>
                    </a:p>
                  </a:txBody>
                  <a:tcPr anchor="ctr" marL="27432" marR="27432" marT="4572" marB="4572">
                    <a:lnL w="6350">
                      <a:solidFill>
                        <a:srgbClr val="E2E7F2"/>
                      </a:solidFill>
                    </a:lnL>
                    <a:lnR w="6350">
                      <a:solidFill>
                        <a:srgbClr val="E2E7F2"/>
                      </a:solidFill>
                    </a:lnR>
                    <a:lnT w="6350">
                      <a:solidFill>
                        <a:srgbClr val="E2E7F2"/>
                      </a:solidFill>
                    </a:lnT>
                    <a:lnB w="6350">
                      <a:solidFill>
                        <a:srgbClr val="E2E7F2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wrap="none"/>
                    <a:lstStyle/>
                    <a:p>
                      <a:pPr algn="r"/>
                      <a:r>
                        <a:rPr sz="800" b="1">
                          <a:solidFill>
                            <a:srgbClr val="26292E"/>
                          </a:solidFill>
                          <a:latin typeface="Calibri"/>
                        </a:rPr>
                        <a:t>5,192</a:t>
                      </a:r>
                    </a:p>
                  </a:txBody>
                  <a:tcPr anchor="ctr" marL="27432" marR="27432" marT="4572" marB="4572">
                    <a:lnL w="6350">
                      <a:solidFill>
                        <a:srgbClr val="E2E7F2"/>
                      </a:solidFill>
                    </a:lnL>
                    <a:lnR w="6350">
                      <a:solidFill>
                        <a:srgbClr val="E2E7F2"/>
                      </a:solidFill>
                    </a:lnR>
                    <a:lnT w="6350">
                      <a:solidFill>
                        <a:srgbClr val="E2E7F2"/>
                      </a:solidFill>
                    </a:lnT>
                    <a:lnB w="6350">
                      <a:solidFill>
                        <a:srgbClr val="E2E7F2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wrap="none"/>
                    <a:lstStyle/>
                    <a:p>
                      <a:pPr algn="r"/>
                      <a:r>
                        <a:rPr sz="800" b="1">
                          <a:solidFill>
                            <a:srgbClr val="26292E"/>
                          </a:solidFill>
                          <a:latin typeface="Calibri"/>
                        </a:rPr>
                        <a:t>5,336</a:t>
                      </a:r>
                    </a:p>
                  </a:txBody>
                  <a:tcPr anchor="ctr" marL="27432" marR="27432" marT="4572" marB="4572">
                    <a:lnL w="6350">
                      <a:solidFill>
                        <a:srgbClr val="E2E7F2"/>
                      </a:solidFill>
                    </a:lnL>
                    <a:lnR w="6350">
                      <a:solidFill>
                        <a:srgbClr val="E2E7F2"/>
                      </a:solidFill>
                    </a:lnR>
                    <a:lnT w="6350">
                      <a:solidFill>
                        <a:srgbClr val="E2E7F2"/>
                      </a:solidFill>
                    </a:lnT>
                    <a:lnB w="6350">
                      <a:solidFill>
                        <a:srgbClr val="E2E7F2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wrap="none"/>
                    <a:lstStyle/>
                    <a:p>
                      <a:pPr algn="r"/>
                      <a:r>
                        <a:rPr sz="800" b="1">
                          <a:solidFill>
                            <a:srgbClr val="26292E"/>
                          </a:solidFill>
                          <a:latin typeface="Calibri"/>
                        </a:rPr>
                        <a:t>2,965</a:t>
                      </a:r>
                    </a:p>
                  </a:txBody>
                  <a:tcPr anchor="ctr" marL="27432" marR="27432" marT="4572" marB="4572">
                    <a:lnL w="6350">
                      <a:solidFill>
                        <a:srgbClr val="E2E7F2"/>
                      </a:solidFill>
                    </a:lnL>
                    <a:lnR w="6350">
                      <a:solidFill>
                        <a:srgbClr val="E2E7F2"/>
                      </a:solidFill>
                    </a:lnR>
                    <a:lnT w="6350">
                      <a:solidFill>
                        <a:srgbClr val="E2E7F2"/>
                      </a:solidFill>
                    </a:lnT>
                    <a:lnB w="6350">
                      <a:solidFill>
                        <a:srgbClr val="E2E7F2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wrap="none"/>
                    <a:lstStyle/>
                    <a:p>
                      <a:pPr algn="r"/>
                      <a:r>
                        <a:rPr sz="800" b="1">
                          <a:solidFill>
                            <a:srgbClr val="26292E"/>
                          </a:solidFill>
                          <a:latin typeface="Calibri"/>
                        </a:rPr>
                        <a:t>4,494</a:t>
                      </a:r>
                    </a:p>
                  </a:txBody>
                  <a:tcPr anchor="ctr" marL="27432" marR="27432" marT="4572" marB="4572">
                    <a:lnL w="6350">
                      <a:solidFill>
                        <a:srgbClr val="E2E7F2"/>
                      </a:solidFill>
                    </a:lnL>
                    <a:lnR w="6350">
                      <a:solidFill>
                        <a:srgbClr val="E2E7F2"/>
                      </a:solidFill>
                    </a:lnR>
                    <a:lnT w="6350">
                      <a:solidFill>
                        <a:srgbClr val="E2E7F2"/>
                      </a:solidFill>
                    </a:lnT>
                    <a:lnB w="6350">
                      <a:solidFill>
                        <a:srgbClr val="E2E7F2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wrap="none"/>
                    <a:lstStyle/>
                    <a:p>
                      <a:pPr algn="r"/>
                      <a:r>
                        <a:rPr sz="800" b="1">
                          <a:solidFill>
                            <a:srgbClr val="26292E"/>
                          </a:solidFill>
                          <a:latin typeface="Calibri"/>
                        </a:rPr>
                        <a:t>4,088</a:t>
                      </a:r>
                    </a:p>
                  </a:txBody>
                  <a:tcPr anchor="ctr" marL="27432" marR="27432" marT="4572" marB="4572">
                    <a:lnL w="6350">
                      <a:solidFill>
                        <a:srgbClr val="E2E7F2"/>
                      </a:solidFill>
                    </a:lnL>
                    <a:lnR w="6350">
                      <a:solidFill>
                        <a:srgbClr val="E2E7F2"/>
                      </a:solidFill>
                    </a:lnR>
                    <a:lnT w="6350">
                      <a:solidFill>
                        <a:srgbClr val="E2E7F2"/>
                      </a:solidFill>
                    </a:lnT>
                    <a:lnB w="6350">
                      <a:solidFill>
                        <a:srgbClr val="E2E7F2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wrap="none"/>
                    <a:lstStyle/>
                    <a:p>
                      <a:pPr algn="r"/>
                      <a:r>
                        <a:rPr sz="800" b="1">
                          <a:solidFill>
                            <a:srgbClr val="26292E"/>
                          </a:solidFill>
                          <a:latin typeface="Calibri"/>
                        </a:rPr>
                        <a:t>27,714</a:t>
                      </a:r>
                    </a:p>
                  </a:txBody>
                  <a:tcPr anchor="ctr" marL="27432" marR="27432" marT="4572" marB="4572">
                    <a:lnL w="6350">
                      <a:solidFill>
                        <a:srgbClr val="E2E7F2"/>
                      </a:solidFill>
                    </a:lnL>
                    <a:lnR w="6350">
                      <a:solidFill>
                        <a:srgbClr val="E2E7F2"/>
                      </a:solidFill>
                    </a:lnR>
                    <a:lnT w="6350">
                      <a:solidFill>
                        <a:srgbClr val="E2E7F2"/>
                      </a:solidFill>
                    </a:lnT>
                    <a:lnB w="6350">
                      <a:solidFill>
                        <a:srgbClr val="E2E7F2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wrap="none"/>
                    <a:lstStyle/>
                    <a:p>
                      <a:pPr algn="r"/>
                      <a:r>
                        <a:rPr sz="800" b="0">
                          <a:solidFill>
                            <a:srgbClr val="26292E"/>
                          </a:solidFill>
                          <a:latin typeface="Calibri"/>
                        </a:rPr>
                        <a:t>100%</a:t>
                      </a:r>
                    </a:p>
                  </a:txBody>
                  <a:tcPr anchor="ctr" marL="27432" marR="27432" marT="4572" marB="4572">
                    <a:lnL w="6350">
                      <a:solidFill>
                        <a:srgbClr val="E2E7F2"/>
                      </a:solidFill>
                    </a:lnL>
                    <a:lnR w="6350">
                      <a:solidFill>
                        <a:srgbClr val="E2E7F2"/>
                      </a:solidFill>
                    </a:lnR>
                    <a:lnT w="6350">
                      <a:solidFill>
                        <a:srgbClr val="E2E7F2"/>
                      </a:solidFill>
                    </a:lnT>
                    <a:lnB w="6350">
                      <a:solidFill>
                        <a:srgbClr val="E2E7F2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wrap="none"/>
                    <a:lstStyle/>
                    <a:p>
                      <a:pPr algn="r"/>
                      <a:r>
                        <a:rPr sz="800" b="1">
                          <a:solidFill>
                            <a:srgbClr val="C62828"/>
                          </a:solidFill>
                          <a:latin typeface="Calibri"/>
                        </a:rPr>
                        <a:t>-1%</a:t>
                      </a:r>
                    </a:p>
                  </a:txBody>
                  <a:tcPr anchor="ctr" marL="27432" marR="27432" marT="4572" marB="4572">
                    <a:lnL w="6350">
                      <a:solidFill>
                        <a:srgbClr val="E2E7F2"/>
                      </a:solidFill>
                    </a:lnL>
                    <a:lnR w="6350">
                      <a:solidFill>
                        <a:srgbClr val="E2E7F2"/>
                      </a:solidFill>
                    </a:lnR>
                    <a:lnT w="6350">
                      <a:solidFill>
                        <a:srgbClr val="E2E7F2"/>
                      </a:solidFill>
                    </a:lnT>
                    <a:lnB w="6350">
                      <a:solidFill>
                        <a:srgbClr val="E2E7F2"/>
                      </a:solidFill>
                    </a:lnB>
                    <a:solidFill>
                      <a:srgbClr val="FFFFFF"/>
                    </a:solidFill>
                  </a:tcPr>
                </a:tc>
              </a:tr>
              <a:tr h="173736">
                <a:tc>
                  <a:txBody>
                    <a:bodyPr wrap="none"/>
                    <a:lstStyle/>
                    <a:p>
                      <a:pPr algn="l"/>
                      <a:r>
                        <a:rPr sz="800" b="0">
                          <a:solidFill>
                            <a:srgbClr val="595959"/>
                          </a:solidFill>
                          <a:latin typeface="Calibri"/>
                        </a:rPr>
                        <a:t>   ’25</a:t>
                      </a:r>
                    </a:p>
                  </a:txBody>
                  <a:tcPr anchor="ctr" marL="27432" marR="27432" marT="4572" marB="4572">
                    <a:lnL w="6350">
                      <a:solidFill>
                        <a:srgbClr val="E2E7F2"/>
                      </a:solidFill>
                    </a:lnL>
                    <a:lnR w="6350">
                      <a:solidFill>
                        <a:srgbClr val="E2E7F2"/>
                      </a:solidFill>
                    </a:lnR>
                    <a:lnT w="6350">
                      <a:solidFill>
                        <a:srgbClr val="E2E7F2"/>
                      </a:solidFill>
                    </a:lnT>
                    <a:lnB w="6350">
                      <a:solidFill>
                        <a:srgbClr val="E2E7F2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wrap="none"/>
                    <a:lstStyle/>
                    <a:p>
                      <a:pPr algn="r"/>
                      <a:r>
                        <a:rPr sz="800" b="0">
                          <a:solidFill>
                            <a:srgbClr val="595959"/>
                          </a:solidFill>
                          <a:latin typeface="Calibri"/>
                        </a:rPr>
                        <a:t>5,671</a:t>
                      </a:r>
                    </a:p>
                  </a:txBody>
                  <a:tcPr anchor="ctr" marL="27432" marR="27432" marT="4572" marB="4572">
                    <a:lnL w="6350">
                      <a:solidFill>
                        <a:srgbClr val="E2E7F2"/>
                      </a:solidFill>
                    </a:lnL>
                    <a:lnR w="6350">
                      <a:solidFill>
                        <a:srgbClr val="E2E7F2"/>
                      </a:solidFill>
                    </a:lnR>
                    <a:lnT w="6350">
                      <a:solidFill>
                        <a:srgbClr val="E2E7F2"/>
                      </a:solidFill>
                    </a:lnT>
                    <a:lnB w="6350">
                      <a:solidFill>
                        <a:srgbClr val="E2E7F2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wrap="none"/>
                    <a:lstStyle/>
                    <a:p>
                      <a:pPr algn="r"/>
                      <a:r>
                        <a:rPr sz="800" b="0">
                          <a:solidFill>
                            <a:srgbClr val="595959"/>
                          </a:solidFill>
                          <a:latin typeface="Calibri"/>
                        </a:rPr>
                        <a:t>4,952</a:t>
                      </a:r>
                    </a:p>
                  </a:txBody>
                  <a:tcPr anchor="ctr" marL="27432" marR="27432" marT="4572" marB="4572">
                    <a:lnL w="6350">
                      <a:solidFill>
                        <a:srgbClr val="E2E7F2"/>
                      </a:solidFill>
                    </a:lnL>
                    <a:lnR w="6350">
                      <a:solidFill>
                        <a:srgbClr val="E2E7F2"/>
                      </a:solidFill>
                    </a:lnR>
                    <a:lnT w="6350">
                      <a:solidFill>
                        <a:srgbClr val="E2E7F2"/>
                      </a:solidFill>
                    </a:lnT>
                    <a:lnB w="6350">
                      <a:solidFill>
                        <a:srgbClr val="E2E7F2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wrap="none"/>
                    <a:lstStyle/>
                    <a:p>
                      <a:pPr algn="r"/>
                      <a:r>
                        <a:rPr sz="800" b="0">
                          <a:solidFill>
                            <a:srgbClr val="595959"/>
                          </a:solidFill>
                          <a:latin typeface="Calibri"/>
                        </a:rPr>
                        <a:t>4,526</a:t>
                      </a:r>
                    </a:p>
                  </a:txBody>
                  <a:tcPr anchor="ctr" marL="27432" marR="27432" marT="4572" marB="4572">
                    <a:lnL w="6350">
                      <a:solidFill>
                        <a:srgbClr val="E2E7F2"/>
                      </a:solidFill>
                    </a:lnL>
                    <a:lnR w="6350">
                      <a:solidFill>
                        <a:srgbClr val="E2E7F2"/>
                      </a:solidFill>
                    </a:lnR>
                    <a:lnT w="6350">
                      <a:solidFill>
                        <a:srgbClr val="E2E7F2"/>
                      </a:solidFill>
                    </a:lnT>
                    <a:lnB w="6350">
                      <a:solidFill>
                        <a:srgbClr val="E2E7F2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wrap="none"/>
                    <a:lstStyle/>
                    <a:p>
                      <a:pPr algn="r"/>
                      <a:r>
                        <a:rPr sz="800" b="0">
                          <a:solidFill>
                            <a:srgbClr val="595959"/>
                          </a:solidFill>
                          <a:latin typeface="Calibri"/>
                        </a:rPr>
                        <a:t>4,444</a:t>
                      </a:r>
                    </a:p>
                  </a:txBody>
                  <a:tcPr anchor="ctr" marL="27432" marR="27432" marT="4572" marB="4572">
                    <a:lnL w="6350">
                      <a:solidFill>
                        <a:srgbClr val="E2E7F2"/>
                      </a:solidFill>
                    </a:lnL>
                    <a:lnR w="6350">
                      <a:solidFill>
                        <a:srgbClr val="E2E7F2"/>
                      </a:solidFill>
                    </a:lnR>
                    <a:lnT w="6350">
                      <a:solidFill>
                        <a:srgbClr val="E2E7F2"/>
                      </a:solidFill>
                    </a:lnT>
                    <a:lnB w="6350">
                      <a:solidFill>
                        <a:srgbClr val="E2E7F2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wrap="none"/>
                    <a:lstStyle/>
                    <a:p>
                      <a:pPr algn="r"/>
                      <a:r>
                        <a:rPr sz="800" b="0">
                          <a:solidFill>
                            <a:srgbClr val="595959"/>
                          </a:solidFill>
                          <a:latin typeface="Calibri"/>
                        </a:rPr>
                        <a:t>4,309</a:t>
                      </a:r>
                    </a:p>
                  </a:txBody>
                  <a:tcPr anchor="ctr" marL="27432" marR="27432" marT="4572" marB="4572">
                    <a:lnL w="6350">
                      <a:solidFill>
                        <a:srgbClr val="E2E7F2"/>
                      </a:solidFill>
                    </a:lnL>
                    <a:lnR w="6350">
                      <a:solidFill>
                        <a:srgbClr val="E2E7F2"/>
                      </a:solidFill>
                    </a:lnR>
                    <a:lnT w="6350">
                      <a:solidFill>
                        <a:srgbClr val="E2E7F2"/>
                      </a:solidFill>
                    </a:lnT>
                    <a:lnB w="6350">
                      <a:solidFill>
                        <a:srgbClr val="E2E7F2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wrap="none"/>
                    <a:lstStyle/>
                    <a:p>
                      <a:pPr algn="r"/>
                      <a:r>
                        <a:rPr sz="800" b="0">
                          <a:solidFill>
                            <a:srgbClr val="595959"/>
                          </a:solidFill>
                          <a:latin typeface="Calibri"/>
                        </a:rPr>
                        <a:t>4,117</a:t>
                      </a:r>
                    </a:p>
                  </a:txBody>
                  <a:tcPr anchor="ctr" marL="27432" marR="27432" marT="4572" marB="4572">
                    <a:lnL w="6350">
                      <a:solidFill>
                        <a:srgbClr val="E2E7F2"/>
                      </a:solidFill>
                    </a:lnL>
                    <a:lnR w="6350">
                      <a:solidFill>
                        <a:srgbClr val="E2E7F2"/>
                      </a:solidFill>
                    </a:lnR>
                    <a:lnT w="6350">
                      <a:solidFill>
                        <a:srgbClr val="E2E7F2"/>
                      </a:solidFill>
                    </a:lnT>
                    <a:lnB w="6350">
                      <a:solidFill>
                        <a:srgbClr val="E2E7F2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wrap="none"/>
                    <a:lstStyle/>
                    <a:p>
                      <a:pPr algn="r"/>
                      <a:r>
                        <a:rPr sz="800" b="0">
                          <a:solidFill>
                            <a:srgbClr val="595959"/>
                          </a:solidFill>
                          <a:latin typeface="Calibri"/>
                        </a:rPr>
                        <a:t>28,019</a:t>
                      </a:r>
                    </a:p>
                  </a:txBody>
                  <a:tcPr anchor="ctr" marL="27432" marR="27432" marT="4572" marB="4572">
                    <a:lnL w="6350">
                      <a:solidFill>
                        <a:srgbClr val="E2E7F2"/>
                      </a:solidFill>
                    </a:lnL>
                    <a:lnR w="6350">
                      <a:solidFill>
                        <a:srgbClr val="E2E7F2"/>
                      </a:solidFill>
                    </a:lnR>
                    <a:lnT w="6350">
                      <a:solidFill>
                        <a:srgbClr val="E2E7F2"/>
                      </a:solidFill>
                    </a:lnT>
                    <a:lnB w="6350">
                      <a:solidFill>
                        <a:srgbClr val="E2E7F2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wrap="none"/>
                    <a:lstStyle/>
                    <a:p>
                      <a:pPr algn="r"/>
                      <a:r>
                        <a:rPr sz="800" b="0">
                          <a:solidFill>
                            <a:srgbClr val="595959"/>
                          </a:solidFill>
                          <a:latin typeface="Calibri"/>
                        </a:rPr>
                        <a:t>100%</a:t>
                      </a:r>
                    </a:p>
                  </a:txBody>
                  <a:tcPr anchor="ctr" marL="27432" marR="27432" marT="4572" marB="4572">
                    <a:lnL w="6350">
                      <a:solidFill>
                        <a:srgbClr val="E2E7F2"/>
                      </a:solidFill>
                    </a:lnL>
                    <a:lnR w="6350">
                      <a:solidFill>
                        <a:srgbClr val="E2E7F2"/>
                      </a:solidFill>
                    </a:lnR>
                    <a:lnT w="6350">
                      <a:solidFill>
                        <a:srgbClr val="E2E7F2"/>
                      </a:solidFill>
                    </a:lnT>
                    <a:lnB w="6350">
                      <a:solidFill>
                        <a:srgbClr val="E2E7F2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wrap="none"/>
                    <a:lstStyle/>
                    <a:p>
                      <a:pPr algn="l"/>
                      <a:r>
                        <a:rPr sz="800" b="0">
                          <a:solidFill>
                            <a:srgbClr val="26292E"/>
                          </a:solidFill>
                          <a:latin typeface="Calibri"/>
                        </a:rPr>
                        <a:t/>
                      </a:r>
                    </a:p>
                  </a:txBody>
                  <a:tcPr anchor="ctr" marL="27432" marR="27432" marT="4572" marB="4572">
                    <a:lnL w="6350">
                      <a:solidFill>
                        <a:srgbClr val="E2E7F2"/>
                      </a:solidFill>
                    </a:lnL>
                    <a:lnR w="6350">
                      <a:solidFill>
                        <a:srgbClr val="E2E7F2"/>
                      </a:solidFill>
                    </a:lnR>
                    <a:lnT w="6350">
                      <a:solidFill>
                        <a:srgbClr val="E2E7F2"/>
                      </a:solidFill>
                    </a:lnT>
                    <a:lnB w="6350">
                      <a:solidFill>
                        <a:srgbClr val="E2E7F2"/>
                      </a:solidFill>
                    </a:lnB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</p:spTree>
  </p:cSld>
  <p:clrMapOvr>
    <a:masterClrMapping/>
  </p:clrMapOvr>
</p:sld>
</file>

<file path=ppt/slides/slide3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5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292608"/>
            <a:ext cx="8229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b="1" kern="0" spc="200" dirty="0">
                <a:solidFill>
                  <a:srgbClr val="D9A44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SECTION 6 · LYF SUKHUMVIT 8 BANGKOK (LYF)</a:t>
            </a:r>
            <a:endParaRPr lang="en-US" sz="1100" dirty="0"/>
          </a:p>
        </p:txBody>
      </p:sp>
      <p:sp>
        <p:nvSpPr>
          <p:cNvPr id="3" name="Text 1"/>
          <p:cNvSpPr/>
          <p:nvPr/>
        </p:nvSpPr>
        <p:spPr>
          <a:xfrm>
            <a:off x="548640" y="502920"/>
            <a:ext cx="11091672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800" b="1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lyf Sukhumvit 8 Bangkok (LYF) — ADR by segment (฿ / room night)</a:t>
            </a:r>
            <a:endParaRPr lang="en-US" sz="2800" dirty="0"/>
          </a:p>
        </p:txBody>
      </p:sp>
      <p:sp>
        <p:nvSpPr>
          <p:cNvPr id="4" name="Text 2"/>
          <p:cNvSpPr/>
          <p:nvPr/>
        </p:nvSpPr>
        <p:spPr>
          <a:xfrm>
            <a:off x="548640" y="1060704"/>
            <a:ext cx="11091672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5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ADR = segment revenue ÷ segment room nights · monthly 2026 vs 2025 (gray) · H1 = Jan–Jun · Chg % = H1 2026 vs H1 2025</a:t>
            </a:r>
            <a:endParaRPr lang="en-US" sz="1250" dirty="0"/>
          </a:p>
        </p:txBody>
      </p:sp>
      <p:sp>
        <p:nvSpPr>
          <p:cNvPr id="5" name="Text 3"/>
          <p:cNvSpPr/>
          <p:nvPr/>
        </p:nvSpPr>
        <p:spPr>
          <a:xfrm>
            <a:off x="8165592" y="310896"/>
            <a:ext cx="34747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90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Mitsui Thailand Portfolio · H1 2026</a:t>
            </a:r>
            <a:endParaRPr lang="en-US" sz="900" dirty="0"/>
          </a:p>
        </p:txBody>
      </p:sp>
      <p:sp>
        <p:nvSpPr>
          <p:cNvPr id="8" name="Text 4"/>
          <p:cNvSpPr/>
          <p:nvPr/>
        </p:nvSpPr>
        <p:spPr>
          <a:xfrm>
            <a:off x="548640" y="6400800"/>
            <a:ext cx="10881360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50" i="1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</a:t>
            </a:r>
            <a:endParaRPr lang="en-US" sz="1050" dirty="0"/>
          </a:p>
        </p:txBody>
      </p:sp>
      <p:sp>
        <p:nvSpPr>
          <p:cNvPr id="9" name="Rectangle 8">
            <a:extLst>
              <a:ext uri="{FF2B5EF4-FFF2-40B4-BE49-F238E27FC236}">
                <a16:creationId xmlns:a16="http://schemas.microsoft.com/office/drawing/2014/main" id="{6601CC85-EDF6-E437-4EA7-D3CE1E7B18AC}"/>
              </a:ext>
            </a:extLst>
          </p:cNvPr>
          <p:cNvSpPr/>
          <p:nvPr/>
        </p:nvSpPr>
        <p:spPr>
          <a:xfrm>
            <a:off x="6223819" y="5447071"/>
            <a:ext cx="806246" cy="226142"/>
          </a:xfrm>
          <a:prstGeom prst="rect">
            <a:avLst/>
          </a:prstGeom>
          <a:noFill/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graphicFrame>
        <p:nvGraphicFramePr>
          <p:cNvPr id="10" name="Table 9"/>
          <p:cNvGraphicFramePr>
            <a:graphicFrameLocks noGrp="1"/>
          </p:cNvGraphicFramePr>
          <p:nvPr/>
        </p:nvGraphicFramePr>
        <p:xfrm>
          <a:off x="548640" y="1645920"/>
          <a:ext cx="11091672" cy="3653027"/>
        </p:xfrm>
        <a:graphic>
          <a:graphicData uri="http://schemas.openxmlformats.org/drawingml/2006/table">
            <a:tbl>
              <a:tblPr>
                <a:tableStyleId>{5C22544A-7EE6-4342-B048-85BDC9FD1C3A}</a:tableStyleId>
              </a:tblPr>
              <a:tblGrid>
                <a:gridCol w="1737360"/>
                <a:gridCol w="1234440"/>
                <a:gridCol w="1234440"/>
                <a:gridCol w="1234440"/>
                <a:gridCol w="1234440"/>
                <a:gridCol w="1234440"/>
                <a:gridCol w="1234440"/>
                <a:gridCol w="960120"/>
                <a:gridCol w="987552"/>
              </a:tblGrid>
              <a:tr h="214884">
                <a:tc>
                  <a:txBody>
                    <a:bodyPr wrap="none"/>
                    <a:lstStyle/>
                    <a:p>
                      <a:pPr algn="l"/>
                      <a:r>
                        <a:rPr sz="850" b="1">
                          <a:solidFill>
                            <a:srgbClr val="FFFFFF"/>
                          </a:solidFill>
                          <a:latin typeface="Calibri"/>
                        </a:rPr>
                        <a:t>Segment</a:t>
                      </a:r>
                    </a:p>
                  </a:txBody>
                  <a:tcPr anchor="ctr" marL="27432" marR="27432" marT="4572" marB="4572">
                    <a:lnL w="6350">
                      <a:solidFill>
                        <a:srgbClr val="E2E7F2"/>
                      </a:solidFill>
                    </a:lnL>
                    <a:lnR w="6350">
                      <a:solidFill>
                        <a:srgbClr val="E2E7F2"/>
                      </a:solidFill>
                    </a:lnR>
                    <a:lnT w="6350">
                      <a:solidFill>
                        <a:srgbClr val="E2E7F2"/>
                      </a:solidFill>
                    </a:lnT>
                    <a:lnB w="6350">
                      <a:solidFill>
                        <a:srgbClr val="E2E7F2"/>
                      </a:solidFill>
                    </a:lnB>
                    <a:solidFill>
                      <a:srgbClr val="1E2761"/>
                    </a:solidFill>
                  </a:tcPr>
                </a:tc>
                <a:tc>
                  <a:txBody>
                    <a:bodyPr wrap="none"/>
                    <a:lstStyle/>
                    <a:p>
                      <a:pPr algn="r"/>
                      <a:r>
                        <a:rPr sz="850" b="1">
                          <a:solidFill>
                            <a:srgbClr val="FFFFFF"/>
                          </a:solidFill>
                          <a:latin typeface="Calibri"/>
                        </a:rPr>
                        <a:t>Jan</a:t>
                      </a:r>
                    </a:p>
                  </a:txBody>
                  <a:tcPr anchor="ctr" marL="27432" marR="27432" marT="4572" marB="4572">
                    <a:lnL w="6350">
                      <a:solidFill>
                        <a:srgbClr val="E2E7F2"/>
                      </a:solidFill>
                    </a:lnL>
                    <a:lnR w="6350">
                      <a:solidFill>
                        <a:srgbClr val="E2E7F2"/>
                      </a:solidFill>
                    </a:lnR>
                    <a:lnT w="6350">
                      <a:solidFill>
                        <a:srgbClr val="E2E7F2"/>
                      </a:solidFill>
                    </a:lnT>
                    <a:lnB w="6350">
                      <a:solidFill>
                        <a:srgbClr val="E2E7F2"/>
                      </a:solidFill>
                    </a:lnB>
                    <a:solidFill>
                      <a:srgbClr val="1E2761"/>
                    </a:solidFill>
                  </a:tcPr>
                </a:tc>
                <a:tc>
                  <a:txBody>
                    <a:bodyPr wrap="none"/>
                    <a:lstStyle/>
                    <a:p>
                      <a:pPr algn="r"/>
                      <a:r>
                        <a:rPr sz="850" b="1">
                          <a:solidFill>
                            <a:srgbClr val="FFFFFF"/>
                          </a:solidFill>
                          <a:latin typeface="Calibri"/>
                        </a:rPr>
                        <a:t>Feb</a:t>
                      </a:r>
                    </a:p>
                  </a:txBody>
                  <a:tcPr anchor="ctr" marL="27432" marR="27432" marT="4572" marB="4572">
                    <a:lnL w="6350">
                      <a:solidFill>
                        <a:srgbClr val="E2E7F2"/>
                      </a:solidFill>
                    </a:lnL>
                    <a:lnR w="6350">
                      <a:solidFill>
                        <a:srgbClr val="E2E7F2"/>
                      </a:solidFill>
                    </a:lnR>
                    <a:lnT w="6350">
                      <a:solidFill>
                        <a:srgbClr val="E2E7F2"/>
                      </a:solidFill>
                    </a:lnT>
                    <a:lnB w="6350">
                      <a:solidFill>
                        <a:srgbClr val="E2E7F2"/>
                      </a:solidFill>
                    </a:lnB>
                    <a:solidFill>
                      <a:srgbClr val="1E2761"/>
                    </a:solidFill>
                  </a:tcPr>
                </a:tc>
                <a:tc>
                  <a:txBody>
                    <a:bodyPr wrap="none"/>
                    <a:lstStyle/>
                    <a:p>
                      <a:pPr algn="r"/>
                      <a:r>
                        <a:rPr sz="850" b="1">
                          <a:solidFill>
                            <a:srgbClr val="FFFFFF"/>
                          </a:solidFill>
                          <a:latin typeface="Calibri"/>
                        </a:rPr>
                        <a:t>Mar</a:t>
                      </a:r>
                    </a:p>
                  </a:txBody>
                  <a:tcPr anchor="ctr" marL="27432" marR="27432" marT="4572" marB="4572">
                    <a:lnL w="6350">
                      <a:solidFill>
                        <a:srgbClr val="E2E7F2"/>
                      </a:solidFill>
                    </a:lnL>
                    <a:lnR w="6350">
                      <a:solidFill>
                        <a:srgbClr val="E2E7F2"/>
                      </a:solidFill>
                    </a:lnR>
                    <a:lnT w="6350">
                      <a:solidFill>
                        <a:srgbClr val="E2E7F2"/>
                      </a:solidFill>
                    </a:lnT>
                    <a:lnB w="6350">
                      <a:solidFill>
                        <a:srgbClr val="E2E7F2"/>
                      </a:solidFill>
                    </a:lnB>
                    <a:solidFill>
                      <a:srgbClr val="1E2761"/>
                    </a:solidFill>
                  </a:tcPr>
                </a:tc>
                <a:tc>
                  <a:txBody>
                    <a:bodyPr wrap="none"/>
                    <a:lstStyle/>
                    <a:p>
                      <a:pPr algn="r"/>
                      <a:r>
                        <a:rPr sz="850" b="1">
                          <a:solidFill>
                            <a:srgbClr val="FFFFFF"/>
                          </a:solidFill>
                          <a:latin typeface="Calibri"/>
                        </a:rPr>
                        <a:t>Apr</a:t>
                      </a:r>
                    </a:p>
                  </a:txBody>
                  <a:tcPr anchor="ctr" marL="27432" marR="27432" marT="4572" marB="4572">
                    <a:lnL w="6350">
                      <a:solidFill>
                        <a:srgbClr val="E2E7F2"/>
                      </a:solidFill>
                    </a:lnL>
                    <a:lnR w="6350">
                      <a:solidFill>
                        <a:srgbClr val="E2E7F2"/>
                      </a:solidFill>
                    </a:lnR>
                    <a:lnT w="6350">
                      <a:solidFill>
                        <a:srgbClr val="E2E7F2"/>
                      </a:solidFill>
                    </a:lnT>
                    <a:lnB w="6350">
                      <a:solidFill>
                        <a:srgbClr val="E2E7F2"/>
                      </a:solidFill>
                    </a:lnB>
                    <a:solidFill>
                      <a:srgbClr val="1E2761"/>
                    </a:solidFill>
                  </a:tcPr>
                </a:tc>
                <a:tc>
                  <a:txBody>
                    <a:bodyPr wrap="none"/>
                    <a:lstStyle/>
                    <a:p>
                      <a:pPr algn="r"/>
                      <a:r>
                        <a:rPr sz="850" b="1">
                          <a:solidFill>
                            <a:srgbClr val="FFFFFF"/>
                          </a:solidFill>
                          <a:latin typeface="Calibri"/>
                        </a:rPr>
                        <a:t>May</a:t>
                      </a:r>
                    </a:p>
                  </a:txBody>
                  <a:tcPr anchor="ctr" marL="27432" marR="27432" marT="4572" marB="4572">
                    <a:lnL w="6350">
                      <a:solidFill>
                        <a:srgbClr val="E2E7F2"/>
                      </a:solidFill>
                    </a:lnL>
                    <a:lnR w="6350">
                      <a:solidFill>
                        <a:srgbClr val="E2E7F2"/>
                      </a:solidFill>
                    </a:lnR>
                    <a:lnT w="6350">
                      <a:solidFill>
                        <a:srgbClr val="E2E7F2"/>
                      </a:solidFill>
                    </a:lnT>
                    <a:lnB w="6350">
                      <a:solidFill>
                        <a:srgbClr val="E2E7F2"/>
                      </a:solidFill>
                    </a:lnB>
                    <a:solidFill>
                      <a:srgbClr val="1E2761"/>
                    </a:solidFill>
                  </a:tcPr>
                </a:tc>
                <a:tc>
                  <a:txBody>
                    <a:bodyPr wrap="none"/>
                    <a:lstStyle/>
                    <a:p>
                      <a:pPr algn="r"/>
                      <a:r>
                        <a:rPr sz="850" b="1">
                          <a:solidFill>
                            <a:srgbClr val="FFFFFF"/>
                          </a:solidFill>
                          <a:latin typeface="Calibri"/>
                        </a:rPr>
                        <a:t>Jun</a:t>
                      </a:r>
                    </a:p>
                  </a:txBody>
                  <a:tcPr anchor="ctr" marL="27432" marR="27432" marT="4572" marB="4572">
                    <a:lnL w="6350">
                      <a:solidFill>
                        <a:srgbClr val="E2E7F2"/>
                      </a:solidFill>
                    </a:lnL>
                    <a:lnR w="6350">
                      <a:solidFill>
                        <a:srgbClr val="E2E7F2"/>
                      </a:solidFill>
                    </a:lnR>
                    <a:lnT w="6350">
                      <a:solidFill>
                        <a:srgbClr val="E2E7F2"/>
                      </a:solidFill>
                    </a:lnT>
                    <a:lnB w="6350">
                      <a:solidFill>
                        <a:srgbClr val="E2E7F2"/>
                      </a:solidFill>
                    </a:lnB>
                    <a:solidFill>
                      <a:srgbClr val="1E2761"/>
                    </a:solidFill>
                  </a:tcPr>
                </a:tc>
                <a:tc>
                  <a:txBody>
                    <a:bodyPr wrap="none"/>
                    <a:lstStyle/>
                    <a:p>
                      <a:pPr algn="r"/>
                      <a:r>
                        <a:rPr sz="850" b="1">
                          <a:solidFill>
                            <a:srgbClr val="FFFFFF"/>
                          </a:solidFill>
                          <a:latin typeface="Calibri"/>
                        </a:rPr>
                        <a:t>H1</a:t>
                      </a:r>
                    </a:p>
                  </a:txBody>
                  <a:tcPr anchor="ctr" marL="27432" marR="27432" marT="4572" marB="4572">
                    <a:lnL w="6350">
                      <a:solidFill>
                        <a:srgbClr val="E2E7F2"/>
                      </a:solidFill>
                    </a:lnL>
                    <a:lnR w="6350">
                      <a:solidFill>
                        <a:srgbClr val="E2E7F2"/>
                      </a:solidFill>
                    </a:lnR>
                    <a:lnT w="6350">
                      <a:solidFill>
                        <a:srgbClr val="E2E7F2"/>
                      </a:solidFill>
                    </a:lnT>
                    <a:lnB w="6350">
                      <a:solidFill>
                        <a:srgbClr val="E2E7F2"/>
                      </a:solidFill>
                    </a:lnB>
                    <a:solidFill>
                      <a:srgbClr val="1E2761"/>
                    </a:solidFill>
                  </a:tcPr>
                </a:tc>
                <a:tc>
                  <a:txBody>
                    <a:bodyPr wrap="none"/>
                    <a:lstStyle/>
                    <a:p>
                      <a:pPr algn="r"/>
                      <a:r>
                        <a:rPr sz="850" b="1">
                          <a:solidFill>
                            <a:srgbClr val="FFFFFF"/>
                          </a:solidFill>
                          <a:latin typeface="Calibri"/>
                        </a:rPr>
                        <a:t>Chg %</a:t>
                      </a:r>
                    </a:p>
                  </a:txBody>
                  <a:tcPr anchor="ctr" marL="27432" marR="27432" marT="4572" marB="4572">
                    <a:lnL w="6350">
                      <a:solidFill>
                        <a:srgbClr val="E2E7F2"/>
                      </a:solidFill>
                    </a:lnL>
                    <a:lnR w="6350">
                      <a:solidFill>
                        <a:srgbClr val="E2E7F2"/>
                      </a:solidFill>
                    </a:lnR>
                    <a:lnT w="6350">
                      <a:solidFill>
                        <a:srgbClr val="E2E7F2"/>
                      </a:solidFill>
                    </a:lnT>
                    <a:lnB w="6350">
                      <a:solidFill>
                        <a:srgbClr val="E2E7F2"/>
                      </a:solidFill>
                    </a:lnB>
                    <a:solidFill>
                      <a:srgbClr val="1E2761"/>
                    </a:solidFill>
                  </a:tcPr>
                </a:tc>
              </a:tr>
              <a:tr h="214884">
                <a:tc>
                  <a:txBody>
                    <a:bodyPr wrap="none"/>
                    <a:lstStyle/>
                    <a:p>
                      <a:pPr algn="l"/>
                      <a:r>
                        <a:rPr sz="850" b="1">
                          <a:solidFill>
                            <a:srgbClr val="26292E"/>
                          </a:solidFill>
                          <a:latin typeface="Calibri"/>
                        </a:rPr>
                        <a:t>Corporate SS</a:t>
                      </a:r>
                    </a:p>
                  </a:txBody>
                  <a:tcPr anchor="ctr" marL="27432" marR="27432" marT="4572" marB="4572">
                    <a:lnL w="6350">
                      <a:solidFill>
                        <a:srgbClr val="E2E7F2"/>
                      </a:solidFill>
                    </a:lnL>
                    <a:lnR w="6350">
                      <a:solidFill>
                        <a:srgbClr val="E2E7F2"/>
                      </a:solidFill>
                    </a:lnR>
                    <a:lnT w="6350">
                      <a:solidFill>
                        <a:srgbClr val="E2E7F2"/>
                      </a:solidFill>
                    </a:lnT>
                    <a:lnB w="6350">
                      <a:solidFill>
                        <a:srgbClr val="E2E7F2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wrap="none"/>
                    <a:lstStyle/>
                    <a:p>
                      <a:pPr algn="r"/>
                      <a:r>
                        <a:rPr sz="850" b="0">
                          <a:solidFill>
                            <a:srgbClr val="26292E"/>
                          </a:solidFill>
                          <a:latin typeface="Calibri"/>
                        </a:rPr>
                        <a:t>1,402</a:t>
                      </a:r>
                    </a:p>
                  </a:txBody>
                  <a:tcPr anchor="ctr" marL="27432" marR="27432" marT="4572" marB="4572">
                    <a:lnL w="6350">
                      <a:solidFill>
                        <a:srgbClr val="E2E7F2"/>
                      </a:solidFill>
                    </a:lnL>
                    <a:lnR w="6350">
                      <a:solidFill>
                        <a:srgbClr val="E2E7F2"/>
                      </a:solidFill>
                    </a:lnR>
                    <a:lnT w="6350">
                      <a:solidFill>
                        <a:srgbClr val="E2E7F2"/>
                      </a:solidFill>
                    </a:lnT>
                    <a:lnB w="6350">
                      <a:solidFill>
                        <a:srgbClr val="E2E7F2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wrap="none"/>
                    <a:lstStyle/>
                    <a:p>
                      <a:pPr algn="r"/>
                      <a:r>
                        <a:rPr sz="850" b="0">
                          <a:solidFill>
                            <a:srgbClr val="26292E"/>
                          </a:solidFill>
                          <a:latin typeface="Calibri"/>
                        </a:rPr>
                        <a:t>1,504</a:t>
                      </a:r>
                    </a:p>
                  </a:txBody>
                  <a:tcPr anchor="ctr" marL="27432" marR="27432" marT="4572" marB="4572">
                    <a:lnL w="6350">
                      <a:solidFill>
                        <a:srgbClr val="E2E7F2"/>
                      </a:solidFill>
                    </a:lnL>
                    <a:lnR w="6350">
                      <a:solidFill>
                        <a:srgbClr val="E2E7F2"/>
                      </a:solidFill>
                    </a:lnR>
                    <a:lnT w="6350">
                      <a:solidFill>
                        <a:srgbClr val="E2E7F2"/>
                      </a:solidFill>
                    </a:lnT>
                    <a:lnB w="6350">
                      <a:solidFill>
                        <a:srgbClr val="E2E7F2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wrap="none"/>
                    <a:lstStyle/>
                    <a:p>
                      <a:pPr algn="r"/>
                      <a:r>
                        <a:rPr sz="850" b="0">
                          <a:solidFill>
                            <a:srgbClr val="26292E"/>
                          </a:solidFill>
                          <a:latin typeface="Calibri"/>
                        </a:rPr>
                        <a:t>1,396</a:t>
                      </a:r>
                    </a:p>
                  </a:txBody>
                  <a:tcPr anchor="ctr" marL="27432" marR="27432" marT="4572" marB="4572">
                    <a:lnL w="6350">
                      <a:solidFill>
                        <a:srgbClr val="E2E7F2"/>
                      </a:solidFill>
                    </a:lnL>
                    <a:lnR w="6350">
                      <a:solidFill>
                        <a:srgbClr val="E2E7F2"/>
                      </a:solidFill>
                    </a:lnR>
                    <a:lnT w="6350">
                      <a:solidFill>
                        <a:srgbClr val="E2E7F2"/>
                      </a:solidFill>
                    </a:lnT>
                    <a:lnB w="6350">
                      <a:solidFill>
                        <a:srgbClr val="E2E7F2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wrap="none"/>
                    <a:lstStyle/>
                    <a:p>
                      <a:pPr algn="r"/>
                      <a:r>
                        <a:rPr sz="850" b="0">
                          <a:solidFill>
                            <a:srgbClr val="26292E"/>
                          </a:solidFill>
                          <a:latin typeface="Calibri"/>
                        </a:rPr>
                        <a:t>1,328</a:t>
                      </a:r>
                    </a:p>
                  </a:txBody>
                  <a:tcPr anchor="ctr" marL="27432" marR="27432" marT="4572" marB="4572">
                    <a:lnL w="6350">
                      <a:solidFill>
                        <a:srgbClr val="E2E7F2"/>
                      </a:solidFill>
                    </a:lnL>
                    <a:lnR w="6350">
                      <a:solidFill>
                        <a:srgbClr val="E2E7F2"/>
                      </a:solidFill>
                    </a:lnR>
                    <a:lnT w="6350">
                      <a:solidFill>
                        <a:srgbClr val="E2E7F2"/>
                      </a:solidFill>
                    </a:lnT>
                    <a:lnB w="6350">
                      <a:solidFill>
                        <a:srgbClr val="E2E7F2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wrap="none"/>
                    <a:lstStyle/>
                    <a:p>
                      <a:pPr algn="r"/>
                      <a:r>
                        <a:rPr sz="850" b="0">
                          <a:solidFill>
                            <a:srgbClr val="26292E"/>
                          </a:solidFill>
                          <a:latin typeface="Calibri"/>
                        </a:rPr>
                        <a:t>1,295</a:t>
                      </a:r>
                    </a:p>
                  </a:txBody>
                  <a:tcPr anchor="ctr" marL="27432" marR="27432" marT="4572" marB="4572">
                    <a:lnL w="6350">
                      <a:solidFill>
                        <a:srgbClr val="E2E7F2"/>
                      </a:solidFill>
                    </a:lnL>
                    <a:lnR w="6350">
                      <a:solidFill>
                        <a:srgbClr val="E2E7F2"/>
                      </a:solidFill>
                    </a:lnR>
                    <a:lnT w="6350">
                      <a:solidFill>
                        <a:srgbClr val="E2E7F2"/>
                      </a:solidFill>
                    </a:lnT>
                    <a:lnB w="6350">
                      <a:solidFill>
                        <a:srgbClr val="E2E7F2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wrap="none"/>
                    <a:lstStyle/>
                    <a:p>
                      <a:pPr algn="r"/>
                      <a:r>
                        <a:rPr sz="850" b="0">
                          <a:solidFill>
                            <a:srgbClr val="26292E"/>
                          </a:solidFill>
                          <a:latin typeface="Calibri"/>
                        </a:rPr>
                        <a:t>1,236</a:t>
                      </a:r>
                    </a:p>
                  </a:txBody>
                  <a:tcPr anchor="ctr" marL="27432" marR="27432" marT="4572" marB="4572">
                    <a:lnL w="6350">
                      <a:solidFill>
                        <a:srgbClr val="E2E7F2"/>
                      </a:solidFill>
                    </a:lnL>
                    <a:lnR w="6350">
                      <a:solidFill>
                        <a:srgbClr val="E2E7F2"/>
                      </a:solidFill>
                    </a:lnR>
                    <a:lnT w="6350">
                      <a:solidFill>
                        <a:srgbClr val="E2E7F2"/>
                      </a:solidFill>
                    </a:lnT>
                    <a:lnB w="6350">
                      <a:solidFill>
                        <a:srgbClr val="E2E7F2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wrap="none"/>
                    <a:lstStyle/>
                    <a:p>
                      <a:pPr algn="r"/>
                      <a:r>
                        <a:rPr sz="850" b="1">
                          <a:solidFill>
                            <a:srgbClr val="26292E"/>
                          </a:solidFill>
                          <a:latin typeface="Calibri"/>
                        </a:rPr>
                        <a:t>1,369</a:t>
                      </a:r>
                    </a:p>
                  </a:txBody>
                  <a:tcPr anchor="ctr" marL="27432" marR="27432" marT="4572" marB="4572">
                    <a:lnL w="6350">
                      <a:solidFill>
                        <a:srgbClr val="E2E7F2"/>
                      </a:solidFill>
                    </a:lnL>
                    <a:lnR w="6350">
                      <a:solidFill>
                        <a:srgbClr val="E2E7F2"/>
                      </a:solidFill>
                    </a:lnR>
                    <a:lnT w="6350">
                      <a:solidFill>
                        <a:srgbClr val="E2E7F2"/>
                      </a:solidFill>
                    </a:lnT>
                    <a:lnB w="6350">
                      <a:solidFill>
                        <a:srgbClr val="E2E7F2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wrap="none"/>
                    <a:lstStyle/>
                    <a:p>
                      <a:pPr algn="r"/>
                      <a:r>
                        <a:rPr sz="850" b="1">
                          <a:solidFill>
                            <a:srgbClr val="1E7B34"/>
                          </a:solidFill>
                          <a:latin typeface="Calibri"/>
                        </a:rPr>
                        <a:t>+7.0%</a:t>
                      </a:r>
                    </a:p>
                  </a:txBody>
                  <a:tcPr anchor="ctr" marL="27432" marR="27432" marT="4572" marB="4572">
                    <a:lnL w="6350">
                      <a:solidFill>
                        <a:srgbClr val="E2E7F2"/>
                      </a:solidFill>
                    </a:lnL>
                    <a:lnR w="6350">
                      <a:solidFill>
                        <a:srgbClr val="E2E7F2"/>
                      </a:solidFill>
                    </a:lnR>
                    <a:lnT w="6350">
                      <a:solidFill>
                        <a:srgbClr val="E2E7F2"/>
                      </a:solidFill>
                    </a:lnT>
                    <a:lnB w="6350">
                      <a:solidFill>
                        <a:srgbClr val="E2E7F2"/>
                      </a:solidFill>
                    </a:lnB>
                    <a:solidFill>
                      <a:srgbClr val="FFFFFF"/>
                    </a:solidFill>
                  </a:tcPr>
                </a:tc>
              </a:tr>
              <a:tr h="214884">
                <a:tc>
                  <a:txBody>
                    <a:bodyPr wrap="none"/>
                    <a:lstStyle/>
                    <a:p>
                      <a:pPr algn="l"/>
                      <a:r>
                        <a:rPr sz="850" b="0">
                          <a:solidFill>
                            <a:srgbClr val="595959"/>
                          </a:solidFill>
                          <a:latin typeface="Calibri"/>
                        </a:rPr>
                        <a:t>   ’25</a:t>
                      </a:r>
                    </a:p>
                  </a:txBody>
                  <a:tcPr anchor="ctr" marL="27432" marR="27432" marT="4572" marB="4572">
                    <a:lnL w="6350">
                      <a:solidFill>
                        <a:srgbClr val="E2E7F2"/>
                      </a:solidFill>
                    </a:lnL>
                    <a:lnR w="6350">
                      <a:solidFill>
                        <a:srgbClr val="E2E7F2"/>
                      </a:solidFill>
                    </a:lnR>
                    <a:lnT w="6350">
                      <a:solidFill>
                        <a:srgbClr val="E2E7F2"/>
                      </a:solidFill>
                    </a:lnT>
                    <a:lnB w="6350">
                      <a:solidFill>
                        <a:srgbClr val="E2E7F2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wrap="none"/>
                    <a:lstStyle/>
                    <a:p>
                      <a:pPr algn="r"/>
                      <a:r>
                        <a:rPr sz="850" b="0">
                          <a:solidFill>
                            <a:srgbClr val="595959"/>
                          </a:solidFill>
                          <a:latin typeface="Calibri"/>
                        </a:rPr>
                        <a:t>1,373</a:t>
                      </a:r>
                    </a:p>
                  </a:txBody>
                  <a:tcPr anchor="ctr" marL="27432" marR="27432" marT="4572" marB="4572">
                    <a:lnL w="6350">
                      <a:solidFill>
                        <a:srgbClr val="E2E7F2"/>
                      </a:solidFill>
                    </a:lnL>
                    <a:lnR w="6350">
                      <a:solidFill>
                        <a:srgbClr val="E2E7F2"/>
                      </a:solidFill>
                    </a:lnR>
                    <a:lnT w="6350">
                      <a:solidFill>
                        <a:srgbClr val="E2E7F2"/>
                      </a:solidFill>
                    </a:lnT>
                    <a:lnB w="6350">
                      <a:solidFill>
                        <a:srgbClr val="E2E7F2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wrap="none"/>
                    <a:lstStyle/>
                    <a:p>
                      <a:pPr algn="r"/>
                      <a:r>
                        <a:rPr sz="850" b="0">
                          <a:solidFill>
                            <a:srgbClr val="595959"/>
                          </a:solidFill>
                          <a:latin typeface="Calibri"/>
                        </a:rPr>
                        <a:t>1,387</a:t>
                      </a:r>
                    </a:p>
                  </a:txBody>
                  <a:tcPr anchor="ctr" marL="27432" marR="27432" marT="4572" marB="4572">
                    <a:lnL w="6350">
                      <a:solidFill>
                        <a:srgbClr val="E2E7F2"/>
                      </a:solidFill>
                    </a:lnL>
                    <a:lnR w="6350">
                      <a:solidFill>
                        <a:srgbClr val="E2E7F2"/>
                      </a:solidFill>
                    </a:lnR>
                    <a:lnT w="6350">
                      <a:solidFill>
                        <a:srgbClr val="E2E7F2"/>
                      </a:solidFill>
                    </a:lnT>
                    <a:lnB w="6350">
                      <a:solidFill>
                        <a:srgbClr val="E2E7F2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wrap="none"/>
                    <a:lstStyle/>
                    <a:p>
                      <a:pPr algn="r"/>
                      <a:r>
                        <a:rPr sz="850" b="0">
                          <a:solidFill>
                            <a:srgbClr val="595959"/>
                          </a:solidFill>
                          <a:latin typeface="Calibri"/>
                        </a:rPr>
                        <a:t>1,383</a:t>
                      </a:r>
                    </a:p>
                  </a:txBody>
                  <a:tcPr anchor="ctr" marL="27432" marR="27432" marT="4572" marB="4572">
                    <a:lnL w="6350">
                      <a:solidFill>
                        <a:srgbClr val="E2E7F2"/>
                      </a:solidFill>
                    </a:lnL>
                    <a:lnR w="6350">
                      <a:solidFill>
                        <a:srgbClr val="E2E7F2"/>
                      </a:solidFill>
                    </a:lnR>
                    <a:lnT w="6350">
                      <a:solidFill>
                        <a:srgbClr val="E2E7F2"/>
                      </a:solidFill>
                    </a:lnT>
                    <a:lnB w="6350">
                      <a:solidFill>
                        <a:srgbClr val="E2E7F2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wrap="none"/>
                    <a:lstStyle/>
                    <a:p>
                      <a:pPr algn="r"/>
                      <a:r>
                        <a:rPr sz="850" b="0">
                          <a:solidFill>
                            <a:srgbClr val="595959"/>
                          </a:solidFill>
                          <a:latin typeface="Calibri"/>
                        </a:rPr>
                        <a:t>1,207</a:t>
                      </a:r>
                    </a:p>
                  </a:txBody>
                  <a:tcPr anchor="ctr" marL="27432" marR="27432" marT="4572" marB="4572">
                    <a:lnL w="6350">
                      <a:solidFill>
                        <a:srgbClr val="E2E7F2"/>
                      </a:solidFill>
                    </a:lnL>
                    <a:lnR w="6350">
                      <a:solidFill>
                        <a:srgbClr val="E2E7F2"/>
                      </a:solidFill>
                    </a:lnR>
                    <a:lnT w="6350">
                      <a:solidFill>
                        <a:srgbClr val="E2E7F2"/>
                      </a:solidFill>
                    </a:lnT>
                    <a:lnB w="6350">
                      <a:solidFill>
                        <a:srgbClr val="E2E7F2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wrap="none"/>
                    <a:lstStyle/>
                    <a:p>
                      <a:pPr algn="r"/>
                      <a:r>
                        <a:rPr sz="850" b="0">
                          <a:solidFill>
                            <a:srgbClr val="595959"/>
                          </a:solidFill>
                          <a:latin typeface="Calibri"/>
                        </a:rPr>
                        <a:t>1,254</a:t>
                      </a:r>
                    </a:p>
                  </a:txBody>
                  <a:tcPr anchor="ctr" marL="27432" marR="27432" marT="4572" marB="4572">
                    <a:lnL w="6350">
                      <a:solidFill>
                        <a:srgbClr val="E2E7F2"/>
                      </a:solidFill>
                    </a:lnL>
                    <a:lnR w="6350">
                      <a:solidFill>
                        <a:srgbClr val="E2E7F2"/>
                      </a:solidFill>
                    </a:lnR>
                    <a:lnT w="6350">
                      <a:solidFill>
                        <a:srgbClr val="E2E7F2"/>
                      </a:solidFill>
                    </a:lnT>
                    <a:lnB w="6350">
                      <a:solidFill>
                        <a:srgbClr val="E2E7F2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wrap="none"/>
                    <a:lstStyle/>
                    <a:p>
                      <a:pPr algn="r"/>
                      <a:r>
                        <a:rPr sz="850" b="0">
                          <a:solidFill>
                            <a:srgbClr val="595959"/>
                          </a:solidFill>
                          <a:latin typeface="Calibri"/>
                        </a:rPr>
                        <a:t>1,089</a:t>
                      </a:r>
                    </a:p>
                  </a:txBody>
                  <a:tcPr anchor="ctr" marL="27432" marR="27432" marT="4572" marB="4572">
                    <a:lnL w="6350">
                      <a:solidFill>
                        <a:srgbClr val="E2E7F2"/>
                      </a:solidFill>
                    </a:lnL>
                    <a:lnR w="6350">
                      <a:solidFill>
                        <a:srgbClr val="E2E7F2"/>
                      </a:solidFill>
                    </a:lnR>
                    <a:lnT w="6350">
                      <a:solidFill>
                        <a:srgbClr val="E2E7F2"/>
                      </a:solidFill>
                    </a:lnT>
                    <a:lnB w="6350">
                      <a:solidFill>
                        <a:srgbClr val="E2E7F2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wrap="none"/>
                    <a:lstStyle/>
                    <a:p>
                      <a:pPr algn="r"/>
                      <a:r>
                        <a:rPr sz="850" b="0">
                          <a:solidFill>
                            <a:srgbClr val="595959"/>
                          </a:solidFill>
                          <a:latin typeface="Calibri"/>
                        </a:rPr>
                        <a:t>1,279</a:t>
                      </a:r>
                    </a:p>
                  </a:txBody>
                  <a:tcPr anchor="ctr" marL="27432" marR="27432" marT="4572" marB="4572">
                    <a:lnL w="6350">
                      <a:solidFill>
                        <a:srgbClr val="E2E7F2"/>
                      </a:solidFill>
                    </a:lnL>
                    <a:lnR w="6350">
                      <a:solidFill>
                        <a:srgbClr val="E2E7F2"/>
                      </a:solidFill>
                    </a:lnR>
                    <a:lnT w="6350">
                      <a:solidFill>
                        <a:srgbClr val="E2E7F2"/>
                      </a:solidFill>
                    </a:lnT>
                    <a:lnB w="6350">
                      <a:solidFill>
                        <a:srgbClr val="E2E7F2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wrap="none"/>
                    <a:lstStyle/>
                    <a:p>
                      <a:pPr algn="l"/>
                      <a:r>
                        <a:rPr sz="850" b="0">
                          <a:solidFill>
                            <a:srgbClr val="26292E"/>
                          </a:solidFill>
                          <a:latin typeface="Calibri"/>
                        </a:rPr>
                        <a:t/>
                      </a:r>
                    </a:p>
                  </a:txBody>
                  <a:tcPr anchor="ctr" marL="27432" marR="27432" marT="4572" marB="4572">
                    <a:lnL w="6350">
                      <a:solidFill>
                        <a:srgbClr val="E2E7F2"/>
                      </a:solidFill>
                    </a:lnL>
                    <a:lnR w="6350">
                      <a:solidFill>
                        <a:srgbClr val="E2E7F2"/>
                      </a:solidFill>
                    </a:lnR>
                    <a:lnT w="6350">
                      <a:solidFill>
                        <a:srgbClr val="E2E7F2"/>
                      </a:solidFill>
                    </a:lnT>
                    <a:lnB w="6350">
                      <a:solidFill>
                        <a:srgbClr val="E2E7F2"/>
                      </a:solidFill>
                    </a:lnB>
                    <a:solidFill>
                      <a:srgbClr val="FFFFFF"/>
                    </a:solidFill>
                  </a:tcPr>
                </a:tc>
              </a:tr>
              <a:tr h="214884">
                <a:tc>
                  <a:txBody>
                    <a:bodyPr wrap="none"/>
                    <a:lstStyle/>
                    <a:p>
                      <a:pPr algn="l"/>
                      <a:r>
                        <a:rPr sz="850" b="1">
                          <a:solidFill>
                            <a:srgbClr val="26292E"/>
                          </a:solidFill>
                          <a:latin typeface="Calibri"/>
                        </a:rPr>
                        <a:t>Corporate LS</a:t>
                      </a:r>
                    </a:p>
                  </a:txBody>
                  <a:tcPr anchor="ctr" marL="27432" marR="27432" marT="4572" marB="4572">
                    <a:lnL w="6350">
                      <a:solidFill>
                        <a:srgbClr val="E2E7F2"/>
                      </a:solidFill>
                    </a:lnL>
                    <a:lnR w="6350">
                      <a:solidFill>
                        <a:srgbClr val="E2E7F2"/>
                      </a:solidFill>
                    </a:lnR>
                    <a:lnT w="6350">
                      <a:solidFill>
                        <a:srgbClr val="E2E7F2"/>
                      </a:solidFill>
                    </a:lnT>
                    <a:lnB w="6350">
                      <a:solidFill>
                        <a:srgbClr val="E2E7F2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wrap="none"/>
                    <a:lstStyle/>
                    <a:p>
                      <a:pPr algn="r"/>
                      <a:r>
                        <a:rPr sz="850" b="0">
                          <a:solidFill>
                            <a:srgbClr val="26292E"/>
                          </a:solidFill>
                          <a:latin typeface="Calibri"/>
                        </a:rPr>
                        <a:t>935</a:t>
                      </a:r>
                    </a:p>
                  </a:txBody>
                  <a:tcPr anchor="ctr" marL="27432" marR="27432" marT="4572" marB="4572">
                    <a:lnL w="6350">
                      <a:solidFill>
                        <a:srgbClr val="E2E7F2"/>
                      </a:solidFill>
                    </a:lnL>
                    <a:lnR w="6350">
                      <a:solidFill>
                        <a:srgbClr val="E2E7F2"/>
                      </a:solidFill>
                    </a:lnR>
                    <a:lnT w="6350">
                      <a:solidFill>
                        <a:srgbClr val="E2E7F2"/>
                      </a:solidFill>
                    </a:lnT>
                    <a:lnB w="6350">
                      <a:solidFill>
                        <a:srgbClr val="E2E7F2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wrap="none"/>
                    <a:lstStyle/>
                    <a:p>
                      <a:pPr algn="r"/>
                      <a:r>
                        <a:rPr sz="850" b="0">
                          <a:solidFill>
                            <a:srgbClr val="26292E"/>
                          </a:solidFill>
                          <a:latin typeface="Calibri"/>
                        </a:rPr>
                        <a:t>935</a:t>
                      </a:r>
                    </a:p>
                  </a:txBody>
                  <a:tcPr anchor="ctr" marL="27432" marR="27432" marT="4572" marB="4572">
                    <a:lnL w="6350">
                      <a:solidFill>
                        <a:srgbClr val="E2E7F2"/>
                      </a:solidFill>
                    </a:lnL>
                    <a:lnR w="6350">
                      <a:solidFill>
                        <a:srgbClr val="E2E7F2"/>
                      </a:solidFill>
                    </a:lnR>
                    <a:lnT w="6350">
                      <a:solidFill>
                        <a:srgbClr val="E2E7F2"/>
                      </a:solidFill>
                    </a:lnT>
                    <a:lnB w="6350">
                      <a:solidFill>
                        <a:srgbClr val="E2E7F2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wrap="none"/>
                    <a:lstStyle/>
                    <a:p>
                      <a:pPr algn="r"/>
                      <a:r>
                        <a:rPr sz="850" b="0">
                          <a:solidFill>
                            <a:srgbClr val="26292E"/>
                          </a:solidFill>
                          <a:latin typeface="Calibri"/>
                        </a:rPr>
                        <a:t>935</a:t>
                      </a:r>
                    </a:p>
                  </a:txBody>
                  <a:tcPr anchor="ctr" marL="27432" marR="27432" marT="4572" marB="4572">
                    <a:lnL w="6350">
                      <a:solidFill>
                        <a:srgbClr val="E2E7F2"/>
                      </a:solidFill>
                    </a:lnL>
                    <a:lnR w="6350">
                      <a:solidFill>
                        <a:srgbClr val="E2E7F2"/>
                      </a:solidFill>
                    </a:lnR>
                    <a:lnT w="6350">
                      <a:solidFill>
                        <a:srgbClr val="E2E7F2"/>
                      </a:solidFill>
                    </a:lnT>
                    <a:lnB w="6350">
                      <a:solidFill>
                        <a:srgbClr val="E2E7F2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wrap="none"/>
                    <a:lstStyle/>
                    <a:p>
                      <a:pPr algn="r"/>
                      <a:r>
                        <a:rPr sz="850" b="0">
                          <a:solidFill>
                            <a:srgbClr val="26292E"/>
                          </a:solidFill>
                          <a:latin typeface="Calibri"/>
                        </a:rPr>
                        <a:t>935</a:t>
                      </a:r>
                    </a:p>
                  </a:txBody>
                  <a:tcPr anchor="ctr" marL="27432" marR="27432" marT="4572" marB="4572">
                    <a:lnL w="6350">
                      <a:solidFill>
                        <a:srgbClr val="E2E7F2"/>
                      </a:solidFill>
                    </a:lnL>
                    <a:lnR w="6350">
                      <a:solidFill>
                        <a:srgbClr val="E2E7F2"/>
                      </a:solidFill>
                    </a:lnR>
                    <a:lnT w="6350">
                      <a:solidFill>
                        <a:srgbClr val="E2E7F2"/>
                      </a:solidFill>
                    </a:lnT>
                    <a:lnB w="6350">
                      <a:solidFill>
                        <a:srgbClr val="E2E7F2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wrap="none"/>
                    <a:lstStyle/>
                    <a:p>
                      <a:pPr algn="r"/>
                      <a:r>
                        <a:rPr sz="850" b="0">
                          <a:solidFill>
                            <a:srgbClr val="26292E"/>
                          </a:solidFill>
                          <a:latin typeface="Calibri"/>
                        </a:rPr>
                        <a:t>959</a:t>
                      </a:r>
                    </a:p>
                  </a:txBody>
                  <a:tcPr anchor="ctr" marL="27432" marR="27432" marT="4572" marB="4572">
                    <a:lnL w="6350">
                      <a:solidFill>
                        <a:srgbClr val="E2E7F2"/>
                      </a:solidFill>
                    </a:lnL>
                    <a:lnR w="6350">
                      <a:solidFill>
                        <a:srgbClr val="E2E7F2"/>
                      </a:solidFill>
                    </a:lnR>
                    <a:lnT w="6350">
                      <a:solidFill>
                        <a:srgbClr val="E2E7F2"/>
                      </a:solidFill>
                    </a:lnT>
                    <a:lnB w="6350">
                      <a:solidFill>
                        <a:srgbClr val="E2E7F2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wrap="none"/>
                    <a:lstStyle/>
                    <a:p>
                      <a:pPr algn="r"/>
                      <a:r>
                        <a:rPr sz="850" b="0">
                          <a:solidFill>
                            <a:srgbClr val="26292E"/>
                          </a:solidFill>
                          <a:latin typeface="Calibri"/>
                        </a:rPr>
                        <a:t>941</a:t>
                      </a:r>
                    </a:p>
                  </a:txBody>
                  <a:tcPr anchor="ctr" marL="27432" marR="27432" marT="4572" marB="4572">
                    <a:lnL w="6350">
                      <a:solidFill>
                        <a:srgbClr val="E2E7F2"/>
                      </a:solidFill>
                    </a:lnL>
                    <a:lnR w="6350">
                      <a:solidFill>
                        <a:srgbClr val="E2E7F2"/>
                      </a:solidFill>
                    </a:lnR>
                    <a:lnT w="6350">
                      <a:solidFill>
                        <a:srgbClr val="E2E7F2"/>
                      </a:solidFill>
                    </a:lnT>
                    <a:lnB w="6350">
                      <a:solidFill>
                        <a:srgbClr val="E2E7F2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wrap="none"/>
                    <a:lstStyle/>
                    <a:p>
                      <a:pPr algn="r"/>
                      <a:r>
                        <a:rPr sz="850" b="1">
                          <a:solidFill>
                            <a:srgbClr val="26292E"/>
                          </a:solidFill>
                          <a:latin typeface="Calibri"/>
                        </a:rPr>
                        <a:t>940</a:t>
                      </a:r>
                    </a:p>
                  </a:txBody>
                  <a:tcPr anchor="ctr" marL="27432" marR="27432" marT="4572" marB="4572">
                    <a:lnL w="6350">
                      <a:solidFill>
                        <a:srgbClr val="E2E7F2"/>
                      </a:solidFill>
                    </a:lnL>
                    <a:lnR w="6350">
                      <a:solidFill>
                        <a:srgbClr val="E2E7F2"/>
                      </a:solidFill>
                    </a:lnR>
                    <a:lnT w="6350">
                      <a:solidFill>
                        <a:srgbClr val="E2E7F2"/>
                      </a:solidFill>
                    </a:lnT>
                    <a:lnB w="6350">
                      <a:solidFill>
                        <a:srgbClr val="E2E7F2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wrap="none"/>
                    <a:lstStyle/>
                    <a:p>
                      <a:pPr algn="r"/>
                      <a:r>
                        <a:rPr sz="850" b="1">
                          <a:solidFill>
                            <a:srgbClr val="C62828"/>
                          </a:solidFill>
                          <a:latin typeface="Calibri"/>
                        </a:rPr>
                        <a:t>-28.5%</a:t>
                      </a:r>
                    </a:p>
                  </a:txBody>
                  <a:tcPr anchor="ctr" marL="27432" marR="27432" marT="4572" marB="4572">
                    <a:lnL w="6350">
                      <a:solidFill>
                        <a:srgbClr val="E2E7F2"/>
                      </a:solidFill>
                    </a:lnL>
                    <a:lnR w="6350">
                      <a:solidFill>
                        <a:srgbClr val="E2E7F2"/>
                      </a:solidFill>
                    </a:lnR>
                    <a:lnT w="6350">
                      <a:solidFill>
                        <a:srgbClr val="E2E7F2"/>
                      </a:solidFill>
                    </a:lnT>
                    <a:lnB w="6350">
                      <a:solidFill>
                        <a:srgbClr val="E2E7F2"/>
                      </a:solidFill>
                    </a:lnB>
                    <a:solidFill>
                      <a:srgbClr val="FFFFFF"/>
                    </a:solidFill>
                  </a:tcPr>
                </a:tc>
              </a:tr>
              <a:tr h="214884">
                <a:tc>
                  <a:txBody>
                    <a:bodyPr wrap="none"/>
                    <a:lstStyle/>
                    <a:p>
                      <a:pPr algn="l"/>
                      <a:r>
                        <a:rPr sz="850" b="0">
                          <a:solidFill>
                            <a:srgbClr val="595959"/>
                          </a:solidFill>
                          <a:latin typeface="Calibri"/>
                        </a:rPr>
                        <a:t>   ’25</a:t>
                      </a:r>
                    </a:p>
                  </a:txBody>
                  <a:tcPr anchor="ctr" marL="27432" marR="27432" marT="4572" marB="4572">
                    <a:lnL w="6350">
                      <a:solidFill>
                        <a:srgbClr val="E2E7F2"/>
                      </a:solidFill>
                    </a:lnL>
                    <a:lnR w="6350">
                      <a:solidFill>
                        <a:srgbClr val="E2E7F2"/>
                      </a:solidFill>
                    </a:lnR>
                    <a:lnT w="6350">
                      <a:solidFill>
                        <a:srgbClr val="E2E7F2"/>
                      </a:solidFill>
                    </a:lnT>
                    <a:lnB w="6350">
                      <a:solidFill>
                        <a:srgbClr val="E2E7F2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wrap="none"/>
                    <a:lstStyle/>
                    <a:p>
                      <a:pPr algn="r"/>
                      <a:r>
                        <a:rPr sz="850" b="0">
                          <a:solidFill>
                            <a:srgbClr val="595959"/>
                          </a:solidFill>
                          <a:latin typeface="Calibri"/>
                        </a:rPr>
                        <a:t>–</a:t>
                      </a:r>
                    </a:p>
                  </a:txBody>
                  <a:tcPr anchor="ctr" marL="27432" marR="27432" marT="4572" marB="4572">
                    <a:lnL w="6350">
                      <a:solidFill>
                        <a:srgbClr val="E2E7F2"/>
                      </a:solidFill>
                    </a:lnL>
                    <a:lnR w="6350">
                      <a:solidFill>
                        <a:srgbClr val="E2E7F2"/>
                      </a:solidFill>
                    </a:lnR>
                    <a:lnT w="6350">
                      <a:solidFill>
                        <a:srgbClr val="E2E7F2"/>
                      </a:solidFill>
                    </a:lnT>
                    <a:lnB w="6350">
                      <a:solidFill>
                        <a:srgbClr val="E2E7F2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wrap="none"/>
                    <a:lstStyle/>
                    <a:p>
                      <a:pPr algn="r"/>
                      <a:r>
                        <a:rPr sz="850" b="0">
                          <a:solidFill>
                            <a:srgbClr val="595959"/>
                          </a:solidFill>
                          <a:latin typeface="Calibri"/>
                        </a:rPr>
                        <a:t>–</a:t>
                      </a:r>
                    </a:p>
                  </a:txBody>
                  <a:tcPr anchor="ctr" marL="27432" marR="27432" marT="4572" marB="4572">
                    <a:lnL w="6350">
                      <a:solidFill>
                        <a:srgbClr val="E2E7F2"/>
                      </a:solidFill>
                    </a:lnL>
                    <a:lnR w="6350">
                      <a:solidFill>
                        <a:srgbClr val="E2E7F2"/>
                      </a:solidFill>
                    </a:lnR>
                    <a:lnT w="6350">
                      <a:solidFill>
                        <a:srgbClr val="E2E7F2"/>
                      </a:solidFill>
                    </a:lnT>
                    <a:lnB w="6350">
                      <a:solidFill>
                        <a:srgbClr val="E2E7F2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wrap="none"/>
                    <a:lstStyle/>
                    <a:p>
                      <a:pPr algn="r"/>
                      <a:r>
                        <a:rPr sz="850" b="0">
                          <a:solidFill>
                            <a:srgbClr val="595959"/>
                          </a:solidFill>
                          <a:latin typeface="Calibri"/>
                        </a:rPr>
                        <a:t>–</a:t>
                      </a:r>
                    </a:p>
                  </a:txBody>
                  <a:tcPr anchor="ctr" marL="27432" marR="27432" marT="4572" marB="4572">
                    <a:lnL w="6350">
                      <a:solidFill>
                        <a:srgbClr val="E2E7F2"/>
                      </a:solidFill>
                    </a:lnL>
                    <a:lnR w="6350">
                      <a:solidFill>
                        <a:srgbClr val="E2E7F2"/>
                      </a:solidFill>
                    </a:lnR>
                    <a:lnT w="6350">
                      <a:solidFill>
                        <a:srgbClr val="E2E7F2"/>
                      </a:solidFill>
                    </a:lnT>
                    <a:lnB w="6350">
                      <a:solidFill>
                        <a:srgbClr val="E2E7F2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wrap="none"/>
                    <a:lstStyle/>
                    <a:p>
                      <a:pPr algn="r"/>
                      <a:r>
                        <a:rPr sz="850" b="0">
                          <a:solidFill>
                            <a:srgbClr val="595959"/>
                          </a:solidFill>
                          <a:latin typeface="Calibri"/>
                        </a:rPr>
                        <a:t>–</a:t>
                      </a:r>
                    </a:p>
                  </a:txBody>
                  <a:tcPr anchor="ctr" marL="27432" marR="27432" marT="4572" marB="4572">
                    <a:lnL w="6350">
                      <a:solidFill>
                        <a:srgbClr val="E2E7F2"/>
                      </a:solidFill>
                    </a:lnL>
                    <a:lnR w="6350">
                      <a:solidFill>
                        <a:srgbClr val="E2E7F2"/>
                      </a:solidFill>
                    </a:lnR>
                    <a:lnT w="6350">
                      <a:solidFill>
                        <a:srgbClr val="E2E7F2"/>
                      </a:solidFill>
                    </a:lnT>
                    <a:lnB w="6350">
                      <a:solidFill>
                        <a:srgbClr val="E2E7F2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wrap="none"/>
                    <a:lstStyle/>
                    <a:p>
                      <a:pPr algn="r"/>
                      <a:r>
                        <a:rPr sz="850" b="0">
                          <a:solidFill>
                            <a:srgbClr val="595959"/>
                          </a:solidFill>
                          <a:latin typeface="Calibri"/>
                        </a:rPr>
                        <a:t>904</a:t>
                      </a:r>
                    </a:p>
                  </a:txBody>
                  <a:tcPr anchor="ctr" marL="27432" marR="27432" marT="4572" marB="4572">
                    <a:lnL w="6350">
                      <a:solidFill>
                        <a:srgbClr val="E2E7F2"/>
                      </a:solidFill>
                    </a:lnL>
                    <a:lnR w="6350">
                      <a:solidFill>
                        <a:srgbClr val="E2E7F2"/>
                      </a:solidFill>
                    </a:lnR>
                    <a:lnT w="6350">
                      <a:solidFill>
                        <a:srgbClr val="E2E7F2"/>
                      </a:solidFill>
                    </a:lnT>
                    <a:lnB w="6350">
                      <a:solidFill>
                        <a:srgbClr val="E2E7F2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wrap="none"/>
                    <a:lstStyle/>
                    <a:p>
                      <a:pPr algn="r"/>
                      <a:r>
                        <a:rPr sz="850" b="0">
                          <a:solidFill>
                            <a:srgbClr val="595959"/>
                          </a:solidFill>
                          <a:latin typeface="Calibri"/>
                        </a:rPr>
                        <a:t>1,349</a:t>
                      </a:r>
                    </a:p>
                  </a:txBody>
                  <a:tcPr anchor="ctr" marL="27432" marR="27432" marT="4572" marB="4572">
                    <a:lnL w="6350">
                      <a:solidFill>
                        <a:srgbClr val="E2E7F2"/>
                      </a:solidFill>
                    </a:lnL>
                    <a:lnR w="6350">
                      <a:solidFill>
                        <a:srgbClr val="E2E7F2"/>
                      </a:solidFill>
                    </a:lnR>
                    <a:lnT w="6350">
                      <a:solidFill>
                        <a:srgbClr val="E2E7F2"/>
                      </a:solidFill>
                    </a:lnT>
                    <a:lnB w="6350">
                      <a:solidFill>
                        <a:srgbClr val="E2E7F2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wrap="none"/>
                    <a:lstStyle/>
                    <a:p>
                      <a:pPr algn="r"/>
                      <a:r>
                        <a:rPr sz="850" b="0">
                          <a:solidFill>
                            <a:srgbClr val="595959"/>
                          </a:solidFill>
                          <a:latin typeface="Calibri"/>
                        </a:rPr>
                        <a:t>1,314</a:t>
                      </a:r>
                    </a:p>
                  </a:txBody>
                  <a:tcPr anchor="ctr" marL="27432" marR="27432" marT="4572" marB="4572">
                    <a:lnL w="6350">
                      <a:solidFill>
                        <a:srgbClr val="E2E7F2"/>
                      </a:solidFill>
                    </a:lnL>
                    <a:lnR w="6350">
                      <a:solidFill>
                        <a:srgbClr val="E2E7F2"/>
                      </a:solidFill>
                    </a:lnR>
                    <a:lnT w="6350">
                      <a:solidFill>
                        <a:srgbClr val="E2E7F2"/>
                      </a:solidFill>
                    </a:lnT>
                    <a:lnB w="6350">
                      <a:solidFill>
                        <a:srgbClr val="E2E7F2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wrap="none"/>
                    <a:lstStyle/>
                    <a:p>
                      <a:pPr algn="l"/>
                      <a:r>
                        <a:rPr sz="850" b="0">
                          <a:solidFill>
                            <a:srgbClr val="26292E"/>
                          </a:solidFill>
                          <a:latin typeface="Calibri"/>
                        </a:rPr>
                        <a:t/>
                      </a:r>
                    </a:p>
                  </a:txBody>
                  <a:tcPr anchor="ctr" marL="27432" marR="27432" marT="4572" marB="4572">
                    <a:lnL w="6350">
                      <a:solidFill>
                        <a:srgbClr val="E2E7F2"/>
                      </a:solidFill>
                    </a:lnL>
                    <a:lnR w="6350">
                      <a:solidFill>
                        <a:srgbClr val="E2E7F2"/>
                      </a:solidFill>
                    </a:lnR>
                    <a:lnT w="6350">
                      <a:solidFill>
                        <a:srgbClr val="E2E7F2"/>
                      </a:solidFill>
                    </a:lnT>
                    <a:lnB w="6350">
                      <a:solidFill>
                        <a:srgbClr val="E2E7F2"/>
                      </a:solidFill>
                    </a:lnB>
                    <a:solidFill>
                      <a:srgbClr val="FFFFFF"/>
                    </a:solidFill>
                  </a:tcPr>
                </a:tc>
              </a:tr>
              <a:tr h="214884">
                <a:tc>
                  <a:txBody>
                    <a:bodyPr wrap="none"/>
                    <a:lstStyle/>
                    <a:p>
                      <a:pPr algn="l"/>
                      <a:r>
                        <a:rPr sz="850" b="1">
                          <a:solidFill>
                            <a:srgbClr val="26292E"/>
                          </a:solidFill>
                          <a:latin typeface="Calibri"/>
                        </a:rPr>
                        <a:t>Online</a:t>
                      </a:r>
                    </a:p>
                  </a:txBody>
                  <a:tcPr anchor="ctr" marL="27432" marR="27432" marT="4572" marB="4572">
                    <a:lnL w="6350">
                      <a:solidFill>
                        <a:srgbClr val="E2E7F2"/>
                      </a:solidFill>
                    </a:lnL>
                    <a:lnR w="6350">
                      <a:solidFill>
                        <a:srgbClr val="E2E7F2"/>
                      </a:solidFill>
                    </a:lnR>
                    <a:lnT w="6350">
                      <a:solidFill>
                        <a:srgbClr val="E2E7F2"/>
                      </a:solidFill>
                    </a:lnT>
                    <a:lnB w="6350">
                      <a:solidFill>
                        <a:srgbClr val="E2E7F2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wrap="none"/>
                    <a:lstStyle/>
                    <a:p>
                      <a:pPr algn="r"/>
                      <a:r>
                        <a:rPr sz="850" b="0">
                          <a:solidFill>
                            <a:srgbClr val="26292E"/>
                          </a:solidFill>
                          <a:latin typeface="Calibri"/>
                        </a:rPr>
                        <a:t>1,667</a:t>
                      </a:r>
                    </a:p>
                  </a:txBody>
                  <a:tcPr anchor="ctr" marL="27432" marR="27432" marT="4572" marB="4572">
                    <a:lnL w="6350">
                      <a:solidFill>
                        <a:srgbClr val="E2E7F2"/>
                      </a:solidFill>
                    </a:lnL>
                    <a:lnR w="6350">
                      <a:solidFill>
                        <a:srgbClr val="E2E7F2"/>
                      </a:solidFill>
                    </a:lnR>
                    <a:lnT w="6350">
                      <a:solidFill>
                        <a:srgbClr val="E2E7F2"/>
                      </a:solidFill>
                    </a:lnT>
                    <a:lnB w="6350">
                      <a:solidFill>
                        <a:srgbClr val="E2E7F2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wrap="none"/>
                    <a:lstStyle/>
                    <a:p>
                      <a:pPr algn="r"/>
                      <a:r>
                        <a:rPr sz="850" b="0">
                          <a:solidFill>
                            <a:srgbClr val="26292E"/>
                          </a:solidFill>
                          <a:latin typeface="Calibri"/>
                        </a:rPr>
                        <a:t>1,671</a:t>
                      </a:r>
                    </a:p>
                  </a:txBody>
                  <a:tcPr anchor="ctr" marL="27432" marR="27432" marT="4572" marB="4572">
                    <a:lnL w="6350">
                      <a:solidFill>
                        <a:srgbClr val="E2E7F2"/>
                      </a:solidFill>
                    </a:lnL>
                    <a:lnR w="6350">
                      <a:solidFill>
                        <a:srgbClr val="E2E7F2"/>
                      </a:solidFill>
                    </a:lnR>
                    <a:lnT w="6350">
                      <a:solidFill>
                        <a:srgbClr val="E2E7F2"/>
                      </a:solidFill>
                    </a:lnT>
                    <a:lnB w="6350">
                      <a:solidFill>
                        <a:srgbClr val="E2E7F2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wrap="none"/>
                    <a:lstStyle/>
                    <a:p>
                      <a:pPr algn="r"/>
                      <a:r>
                        <a:rPr sz="850" b="0">
                          <a:solidFill>
                            <a:srgbClr val="26292E"/>
                          </a:solidFill>
                          <a:latin typeface="Calibri"/>
                        </a:rPr>
                        <a:t>1,288</a:t>
                      </a:r>
                    </a:p>
                  </a:txBody>
                  <a:tcPr anchor="ctr" marL="27432" marR="27432" marT="4572" marB="4572">
                    <a:lnL w="6350">
                      <a:solidFill>
                        <a:srgbClr val="E2E7F2"/>
                      </a:solidFill>
                    </a:lnL>
                    <a:lnR w="6350">
                      <a:solidFill>
                        <a:srgbClr val="E2E7F2"/>
                      </a:solidFill>
                    </a:lnR>
                    <a:lnT w="6350">
                      <a:solidFill>
                        <a:srgbClr val="E2E7F2"/>
                      </a:solidFill>
                    </a:lnT>
                    <a:lnB w="6350">
                      <a:solidFill>
                        <a:srgbClr val="E2E7F2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wrap="none"/>
                    <a:lstStyle/>
                    <a:p>
                      <a:pPr algn="r"/>
                      <a:r>
                        <a:rPr sz="850" b="0">
                          <a:solidFill>
                            <a:srgbClr val="26292E"/>
                          </a:solidFill>
                          <a:latin typeface="Calibri"/>
                        </a:rPr>
                        <a:t>1,521</a:t>
                      </a:r>
                    </a:p>
                  </a:txBody>
                  <a:tcPr anchor="ctr" marL="27432" marR="27432" marT="4572" marB="4572">
                    <a:lnL w="6350">
                      <a:solidFill>
                        <a:srgbClr val="E2E7F2"/>
                      </a:solidFill>
                    </a:lnL>
                    <a:lnR w="6350">
                      <a:solidFill>
                        <a:srgbClr val="E2E7F2"/>
                      </a:solidFill>
                    </a:lnR>
                    <a:lnT w="6350">
                      <a:solidFill>
                        <a:srgbClr val="E2E7F2"/>
                      </a:solidFill>
                    </a:lnT>
                    <a:lnB w="6350">
                      <a:solidFill>
                        <a:srgbClr val="E2E7F2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wrap="none"/>
                    <a:lstStyle/>
                    <a:p>
                      <a:pPr algn="r"/>
                      <a:r>
                        <a:rPr sz="850" b="0">
                          <a:solidFill>
                            <a:srgbClr val="26292E"/>
                          </a:solidFill>
                          <a:latin typeface="Calibri"/>
                        </a:rPr>
                        <a:t>1,224</a:t>
                      </a:r>
                    </a:p>
                  </a:txBody>
                  <a:tcPr anchor="ctr" marL="27432" marR="27432" marT="4572" marB="4572">
                    <a:lnL w="6350">
                      <a:solidFill>
                        <a:srgbClr val="E2E7F2"/>
                      </a:solidFill>
                    </a:lnL>
                    <a:lnR w="6350">
                      <a:solidFill>
                        <a:srgbClr val="E2E7F2"/>
                      </a:solidFill>
                    </a:lnR>
                    <a:lnT w="6350">
                      <a:solidFill>
                        <a:srgbClr val="E2E7F2"/>
                      </a:solidFill>
                    </a:lnT>
                    <a:lnB w="6350">
                      <a:solidFill>
                        <a:srgbClr val="E2E7F2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wrap="none"/>
                    <a:lstStyle/>
                    <a:p>
                      <a:pPr algn="r"/>
                      <a:r>
                        <a:rPr sz="850" b="0">
                          <a:solidFill>
                            <a:srgbClr val="26292E"/>
                          </a:solidFill>
                          <a:latin typeface="Calibri"/>
                        </a:rPr>
                        <a:t>1,140</a:t>
                      </a:r>
                    </a:p>
                  </a:txBody>
                  <a:tcPr anchor="ctr" marL="27432" marR="27432" marT="4572" marB="4572">
                    <a:lnL w="6350">
                      <a:solidFill>
                        <a:srgbClr val="E2E7F2"/>
                      </a:solidFill>
                    </a:lnL>
                    <a:lnR w="6350">
                      <a:solidFill>
                        <a:srgbClr val="E2E7F2"/>
                      </a:solidFill>
                    </a:lnR>
                    <a:lnT w="6350">
                      <a:solidFill>
                        <a:srgbClr val="E2E7F2"/>
                      </a:solidFill>
                    </a:lnT>
                    <a:lnB w="6350">
                      <a:solidFill>
                        <a:srgbClr val="E2E7F2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wrap="none"/>
                    <a:lstStyle/>
                    <a:p>
                      <a:pPr algn="r"/>
                      <a:r>
                        <a:rPr sz="850" b="1">
                          <a:solidFill>
                            <a:srgbClr val="26292E"/>
                          </a:solidFill>
                          <a:latin typeface="Calibri"/>
                        </a:rPr>
                        <a:t>1,430</a:t>
                      </a:r>
                    </a:p>
                  </a:txBody>
                  <a:tcPr anchor="ctr" marL="27432" marR="27432" marT="4572" marB="4572">
                    <a:lnL w="6350">
                      <a:solidFill>
                        <a:srgbClr val="E2E7F2"/>
                      </a:solidFill>
                    </a:lnL>
                    <a:lnR w="6350">
                      <a:solidFill>
                        <a:srgbClr val="E2E7F2"/>
                      </a:solidFill>
                    </a:lnR>
                    <a:lnT w="6350">
                      <a:solidFill>
                        <a:srgbClr val="E2E7F2"/>
                      </a:solidFill>
                    </a:lnT>
                    <a:lnB w="6350">
                      <a:solidFill>
                        <a:srgbClr val="E2E7F2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wrap="none"/>
                    <a:lstStyle/>
                    <a:p>
                      <a:pPr algn="r"/>
                      <a:r>
                        <a:rPr sz="850" b="1">
                          <a:solidFill>
                            <a:srgbClr val="C62828"/>
                          </a:solidFill>
                          <a:latin typeface="Calibri"/>
                        </a:rPr>
                        <a:t>-8.2%</a:t>
                      </a:r>
                    </a:p>
                  </a:txBody>
                  <a:tcPr anchor="ctr" marL="27432" marR="27432" marT="4572" marB="4572">
                    <a:lnL w="6350">
                      <a:solidFill>
                        <a:srgbClr val="E2E7F2"/>
                      </a:solidFill>
                    </a:lnL>
                    <a:lnR w="6350">
                      <a:solidFill>
                        <a:srgbClr val="E2E7F2"/>
                      </a:solidFill>
                    </a:lnR>
                    <a:lnT w="6350">
                      <a:solidFill>
                        <a:srgbClr val="E2E7F2"/>
                      </a:solidFill>
                    </a:lnT>
                    <a:lnB w="6350">
                      <a:solidFill>
                        <a:srgbClr val="E2E7F2"/>
                      </a:solidFill>
                    </a:lnB>
                    <a:solidFill>
                      <a:srgbClr val="FFFFFF"/>
                    </a:solidFill>
                  </a:tcPr>
                </a:tc>
              </a:tr>
              <a:tr h="214884">
                <a:tc>
                  <a:txBody>
                    <a:bodyPr wrap="none"/>
                    <a:lstStyle/>
                    <a:p>
                      <a:pPr algn="l"/>
                      <a:r>
                        <a:rPr sz="850" b="0">
                          <a:solidFill>
                            <a:srgbClr val="595959"/>
                          </a:solidFill>
                          <a:latin typeface="Calibri"/>
                        </a:rPr>
                        <a:t>   ’25</a:t>
                      </a:r>
                    </a:p>
                  </a:txBody>
                  <a:tcPr anchor="ctr" marL="27432" marR="27432" marT="4572" marB="4572">
                    <a:lnL w="6350">
                      <a:solidFill>
                        <a:srgbClr val="E2E7F2"/>
                      </a:solidFill>
                    </a:lnL>
                    <a:lnR w="6350">
                      <a:solidFill>
                        <a:srgbClr val="E2E7F2"/>
                      </a:solidFill>
                    </a:lnR>
                    <a:lnT w="6350">
                      <a:solidFill>
                        <a:srgbClr val="E2E7F2"/>
                      </a:solidFill>
                    </a:lnT>
                    <a:lnB w="6350">
                      <a:solidFill>
                        <a:srgbClr val="E2E7F2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wrap="none"/>
                    <a:lstStyle/>
                    <a:p>
                      <a:pPr algn="r"/>
                      <a:r>
                        <a:rPr sz="850" b="0">
                          <a:solidFill>
                            <a:srgbClr val="595959"/>
                          </a:solidFill>
                          <a:latin typeface="Calibri"/>
                        </a:rPr>
                        <a:t>1,893</a:t>
                      </a:r>
                    </a:p>
                  </a:txBody>
                  <a:tcPr anchor="ctr" marL="27432" marR="27432" marT="4572" marB="4572">
                    <a:lnL w="6350">
                      <a:solidFill>
                        <a:srgbClr val="E2E7F2"/>
                      </a:solidFill>
                    </a:lnL>
                    <a:lnR w="6350">
                      <a:solidFill>
                        <a:srgbClr val="E2E7F2"/>
                      </a:solidFill>
                    </a:lnR>
                    <a:lnT w="6350">
                      <a:solidFill>
                        <a:srgbClr val="E2E7F2"/>
                      </a:solidFill>
                    </a:lnT>
                    <a:lnB w="6350">
                      <a:solidFill>
                        <a:srgbClr val="E2E7F2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wrap="none"/>
                    <a:lstStyle/>
                    <a:p>
                      <a:pPr algn="r"/>
                      <a:r>
                        <a:rPr sz="850" b="0">
                          <a:solidFill>
                            <a:srgbClr val="595959"/>
                          </a:solidFill>
                          <a:latin typeface="Calibri"/>
                        </a:rPr>
                        <a:t>1,782</a:t>
                      </a:r>
                    </a:p>
                  </a:txBody>
                  <a:tcPr anchor="ctr" marL="27432" marR="27432" marT="4572" marB="4572">
                    <a:lnL w="6350">
                      <a:solidFill>
                        <a:srgbClr val="E2E7F2"/>
                      </a:solidFill>
                    </a:lnL>
                    <a:lnR w="6350">
                      <a:solidFill>
                        <a:srgbClr val="E2E7F2"/>
                      </a:solidFill>
                    </a:lnR>
                    <a:lnT w="6350">
                      <a:solidFill>
                        <a:srgbClr val="E2E7F2"/>
                      </a:solidFill>
                    </a:lnT>
                    <a:lnB w="6350">
                      <a:solidFill>
                        <a:srgbClr val="E2E7F2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wrap="none"/>
                    <a:lstStyle/>
                    <a:p>
                      <a:pPr algn="r"/>
                      <a:r>
                        <a:rPr sz="850" b="0">
                          <a:solidFill>
                            <a:srgbClr val="595959"/>
                          </a:solidFill>
                          <a:latin typeface="Calibri"/>
                        </a:rPr>
                        <a:t>1,512</a:t>
                      </a:r>
                    </a:p>
                  </a:txBody>
                  <a:tcPr anchor="ctr" marL="27432" marR="27432" marT="4572" marB="4572">
                    <a:lnL w="6350">
                      <a:solidFill>
                        <a:srgbClr val="E2E7F2"/>
                      </a:solidFill>
                    </a:lnL>
                    <a:lnR w="6350">
                      <a:solidFill>
                        <a:srgbClr val="E2E7F2"/>
                      </a:solidFill>
                    </a:lnR>
                    <a:lnT w="6350">
                      <a:solidFill>
                        <a:srgbClr val="E2E7F2"/>
                      </a:solidFill>
                    </a:lnT>
                    <a:lnB w="6350">
                      <a:solidFill>
                        <a:srgbClr val="E2E7F2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wrap="none"/>
                    <a:lstStyle/>
                    <a:p>
                      <a:pPr algn="r"/>
                      <a:r>
                        <a:rPr sz="850" b="0">
                          <a:solidFill>
                            <a:srgbClr val="595959"/>
                          </a:solidFill>
                          <a:latin typeface="Calibri"/>
                        </a:rPr>
                        <a:t>1,418</a:t>
                      </a:r>
                    </a:p>
                  </a:txBody>
                  <a:tcPr anchor="ctr" marL="27432" marR="27432" marT="4572" marB="4572">
                    <a:lnL w="6350">
                      <a:solidFill>
                        <a:srgbClr val="E2E7F2"/>
                      </a:solidFill>
                    </a:lnL>
                    <a:lnR w="6350">
                      <a:solidFill>
                        <a:srgbClr val="E2E7F2"/>
                      </a:solidFill>
                    </a:lnR>
                    <a:lnT w="6350">
                      <a:solidFill>
                        <a:srgbClr val="E2E7F2"/>
                      </a:solidFill>
                    </a:lnT>
                    <a:lnB w="6350">
                      <a:solidFill>
                        <a:srgbClr val="E2E7F2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wrap="none"/>
                    <a:lstStyle/>
                    <a:p>
                      <a:pPr algn="r"/>
                      <a:r>
                        <a:rPr sz="850" b="0">
                          <a:solidFill>
                            <a:srgbClr val="595959"/>
                          </a:solidFill>
                          <a:latin typeface="Calibri"/>
                        </a:rPr>
                        <a:t>1,349</a:t>
                      </a:r>
                    </a:p>
                  </a:txBody>
                  <a:tcPr anchor="ctr" marL="27432" marR="27432" marT="4572" marB="4572">
                    <a:lnL w="6350">
                      <a:solidFill>
                        <a:srgbClr val="E2E7F2"/>
                      </a:solidFill>
                    </a:lnL>
                    <a:lnR w="6350">
                      <a:solidFill>
                        <a:srgbClr val="E2E7F2"/>
                      </a:solidFill>
                    </a:lnR>
                    <a:lnT w="6350">
                      <a:solidFill>
                        <a:srgbClr val="E2E7F2"/>
                      </a:solidFill>
                    </a:lnT>
                    <a:lnB w="6350">
                      <a:solidFill>
                        <a:srgbClr val="E2E7F2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wrap="none"/>
                    <a:lstStyle/>
                    <a:p>
                      <a:pPr algn="r"/>
                      <a:r>
                        <a:rPr sz="850" b="0">
                          <a:solidFill>
                            <a:srgbClr val="595959"/>
                          </a:solidFill>
                          <a:latin typeface="Calibri"/>
                        </a:rPr>
                        <a:t>1,281</a:t>
                      </a:r>
                    </a:p>
                  </a:txBody>
                  <a:tcPr anchor="ctr" marL="27432" marR="27432" marT="4572" marB="4572">
                    <a:lnL w="6350">
                      <a:solidFill>
                        <a:srgbClr val="E2E7F2"/>
                      </a:solidFill>
                    </a:lnL>
                    <a:lnR w="6350">
                      <a:solidFill>
                        <a:srgbClr val="E2E7F2"/>
                      </a:solidFill>
                    </a:lnR>
                    <a:lnT w="6350">
                      <a:solidFill>
                        <a:srgbClr val="E2E7F2"/>
                      </a:solidFill>
                    </a:lnT>
                    <a:lnB w="6350">
                      <a:solidFill>
                        <a:srgbClr val="E2E7F2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wrap="none"/>
                    <a:lstStyle/>
                    <a:p>
                      <a:pPr algn="r"/>
                      <a:r>
                        <a:rPr sz="850" b="0">
                          <a:solidFill>
                            <a:srgbClr val="595959"/>
                          </a:solidFill>
                          <a:latin typeface="Calibri"/>
                        </a:rPr>
                        <a:t>1,559</a:t>
                      </a:r>
                    </a:p>
                  </a:txBody>
                  <a:tcPr anchor="ctr" marL="27432" marR="27432" marT="4572" marB="4572">
                    <a:lnL w="6350">
                      <a:solidFill>
                        <a:srgbClr val="E2E7F2"/>
                      </a:solidFill>
                    </a:lnL>
                    <a:lnR w="6350">
                      <a:solidFill>
                        <a:srgbClr val="E2E7F2"/>
                      </a:solidFill>
                    </a:lnR>
                    <a:lnT w="6350">
                      <a:solidFill>
                        <a:srgbClr val="E2E7F2"/>
                      </a:solidFill>
                    </a:lnT>
                    <a:lnB w="6350">
                      <a:solidFill>
                        <a:srgbClr val="E2E7F2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wrap="none"/>
                    <a:lstStyle/>
                    <a:p>
                      <a:pPr algn="l"/>
                      <a:r>
                        <a:rPr sz="850" b="0">
                          <a:solidFill>
                            <a:srgbClr val="26292E"/>
                          </a:solidFill>
                          <a:latin typeface="Calibri"/>
                        </a:rPr>
                        <a:t/>
                      </a:r>
                    </a:p>
                  </a:txBody>
                  <a:tcPr anchor="ctr" marL="27432" marR="27432" marT="4572" marB="4572">
                    <a:lnL w="6350">
                      <a:solidFill>
                        <a:srgbClr val="E2E7F2"/>
                      </a:solidFill>
                    </a:lnL>
                    <a:lnR w="6350">
                      <a:solidFill>
                        <a:srgbClr val="E2E7F2"/>
                      </a:solidFill>
                    </a:lnR>
                    <a:lnT w="6350">
                      <a:solidFill>
                        <a:srgbClr val="E2E7F2"/>
                      </a:solidFill>
                    </a:lnT>
                    <a:lnB w="6350">
                      <a:solidFill>
                        <a:srgbClr val="E2E7F2"/>
                      </a:solidFill>
                    </a:lnB>
                    <a:solidFill>
                      <a:srgbClr val="FFFFFF"/>
                    </a:solidFill>
                  </a:tcPr>
                </a:tc>
              </a:tr>
              <a:tr h="214884">
                <a:tc>
                  <a:txBody>
                    <a:bodyPr wrap="none"/>
                    <a:lstStyle/>
                    <a:p>
                      <a:pPr algn="l"/>
                      <a:r>
                        <a:rPr sz="850" b="1">
                          <a:solidFill>
                            <a:srgbClr val="26292E"/>
                          </a:solidFill>
                          <a:latin typeface="Calibri"/>
                        </a:rPr>
                        <a:t>ASR</a:t>
                      </a:r>
                    </a:p>
                  </a:txBody>
                  <a:tcPr anchor="ctr" marL="27432" marR="27432" marT="4572" marB="4572">
                    <a:lnL w="6350">
                      <a:solidFill>
                        <a:srgbClr val="E2E7F2"/>
                      </a:solidFill>
                    </a:lnL>
                    <a:lnR w="6350">
                      <a:solidFill>
                        <a:srgbClr val="E2E7F2"/>
                      </a:solidFill>
                    </a:lnR>
                    <a:lnT w="6350">
                      <a:solidFill>
                        <a:srgbClr val="E2E7F2"/>
                      </a:solidFill>
                    </a:lnT>
                    <a:lnB w="6350">
                      <a:solidFill>
                        <a:srgbClr val="E2E7F2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wrap="none"/>
                    <a:lstStyle/>
                    <a:p>
                      <a:pPr algn="r"/>
                      <a:r>
                        <a:rPr sz="850" b="0">
                          <a:solidFill>
                            <a:srgbClr val="26292E"/>
                          </a:solidFill>
                          <a:latin typeface="Calibri"/>
                        </a:rPr>
                        <a:t>1,588</a:t>
                      </a:r>
                    </a:p>
                  </a:txBody>
                  <a:tcPr anchor="ctr" marL="27432" marR="27432" marT="4572" marB="4572">
                    <a:lnL w="6350">
                      <a:solidFill>
                        <a:srgbClr val="E2E7F2"/>
                      </a:solidFill>
                    </a:lnL>
                    <a:lnR w="6350">
                      <a:solidFill>
                        <a:srgbClr val="E2E7F2"/>
                      </a:solidFill>
                    </a:lnR>
                    <a:lnT w="6350">
                      <a:solidFill>
                        <a:srgbClr val="E2E7F2"/>
                      </a:solidFill>
                    </a:lnT>
                    <a:lnB w="6350">
                      <a:solidFill>
                        <a:srgbClr val="E2E7F2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wrap="none"/>
                    <a:lstStyle/>
                    <a:p>
                      <a:pPr algn="r"/>
                      <a:r>
                        <a:rPr sz="850" b="0">
                          <a:solidFill>
                            <a:srgbClr val="26292E"/>
                          </a:solidFill>
                          <a:latin typeface="Calibri"/>
                        </a:rPr>
                        <a:t>1,536</a:t>
                      </a:r>
                    </a:p>
                  </a:txBody>
                  <a:tcPr anchor="ctr" marL="27432" marR="27432" marT="4572" marB="4572">
                    <a:lnL w="6350">
                      <a:solidFill>
                        <a:srgbClr val="E2E7F2"/>
                      </a:solidFill>
                    </a:lnL>
                    <a:lnR w="6350">
                      <a:solidFill>
                        <a:srgbClr val="E2E7F2"/>
                      </a:solidFill>
                    </a:lnR>
                    <a:lnT w="6350">
                      <a:solidFill>
                        <a:srgbClr val="E2E7F2"/>
                      </a:solidFill>
                    </a:lnT>
                    <a:lnB w="6350">
                      <a:solidFill>
                        <a:srgbClr val="E2E7F2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wrap="none"/>
                    <a:lstStyle/>
                    <a:p>
                      <a:pPr algn="r"/>
                      <a:r>
                        <a:rPr sz="850" b="0">
                          <a:solidFill>
                            <a:srgbClr val="26292E"/>
                          </a:solidFill>
                          <a:latin typeface="Calibri"/>
                        </a:rPr>
                        <a:t>1,319</a:t>
                      </a:r>
                    </a:p>
                  </a:txBody>
                  <a:tcPr anchor="ctr" marL="27432" marR="27432" marT="4572" marB="4572">
                    <a:lnL w="6350">
                      <a:solidFill>
                        <a:srgbClr val="E2E7F2"/>
                      </a:solidFill>
                    </a:lnL>
                    <a:lnR w="6350">
                      <a:solidFill>
                        <a:srgbClr val="E2E7F2"/>
                      </a:solidFill>
                    </a:lnR>
                    <a:lnT w="6350">
                      <a:solidFill>
                        <a:srgbClr val="E2E7F2"/>
                      </a:solidFill>
                    </a:lnT>
                    <a:lnB w="6350">
                      <a:solidFill>
                        <a:srgbClr val="E2E7F2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wrap="none"/>
                    <a:lstStyle/>
                    <a:p>
                      <a:pPr algn="r"/>
                      <a:r>
                        <a:rPr sz="850" b="0">
                          <a:solidFill>
                            <a:srgbClr val="26292E"/>
                          </a:solidFill>
                          <a:latin typeface="Calibri"/>
                        </a:rPr>
                        <a:t>1,295</a:t>
                      </a:r>
                    </a:p>
                  </a:txBody>
                  <a:tcPr anchor="ctr" marL="27432" marR="27432" marT="4572" marB="4572">
                    <a:lnL w="6350">
                      <a:solidFill>
                        <a:srgbClr val="E2E7F2"/>
                      </a:solidFill>
                    </a:lnL>
                    <a:lnR w="6350">
                      <a:solidFill>
                        <a:srgbClr val="E2E7F2"/>
                      </a:solidFill>
                    </a:lnR>
                    <a:lnT w="6350">
                      <a:solidFill>
                        <a:srgbClr val="E2E7F2"/>
                      </a:solidFill>
                    </a:lnT>
                    <a:lnB w="6350">
                      <a:solidFill>
                        <a:srgbClr val="E2E7F2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wrap="none"/>
                    <a:lstStyle/>
                    <a:p>
                      <a:pPr algn="r"/>
                      <a:r>
                        <a:rPr sz="850" b="0">
                          <a:solidFill>
                            <a:srgbClr val="26292E"/>
                          </a:solidFill>
                          <a:latin typeface="Calibri"/>
                        </a:rPr>
                        <a:t>1,094</a:t>
                      </a:r>
                    </a:p>
                  </a:txBody>
                  <a:tcPr anchor="ctr" marL="27432" marR="27432" marT="4572" marB="4572">
                    <a:lnL w="6350">
                      <a:solidFill>
                        <a:srgbClr val="E2E7F2"/>
                      </a:solidFill>
                    </a:lnL>
                    <a:lnR w="6350">
                      <a:solidFill>
                        <a:srgbClr val="E2E7F2"/>
                      </a:solidFill>
                    </a:lnR>
                    <a:lnT w="6350">
                      <a:solidFill>
                        <a:srgbClr val="E2E7F2"/>
                      </a:solidFill>
                    </a:lnT>
                    <a:lnB w="6350">
                      <a:solidFill>
                        <a:srgbClr val="E2E7F2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wrap="none"/>
                    <a:lstStyle/>
                    <a:p>
                      <a:pPr algn="r"/>
                      <a:r>
                        <a:rPr sz="850" b="0">
                          <a:solidFill>
                            <a:srgbClr val="26292E"/>
                          </a:solidFill>
                          <a:latin typeface="Calibri"/>
                        </a:rPr>
                        <a:t>970</a:t>
                      </a:r>
                    </a:p>
                  </a:txBody>
                  <a:tcPr anchor="ctr" marL="27432" marR="27432" marT="4572" marB="4572">
                    <a:lnL w="6350">
                      <a:solidFill>
                        <a:srgbClr val="E2E7F2"/>
                      </a:solidFill>
                    </a:lnL>
                    <a:lnR w="6350">
                      <a:solidFill>
                        <a:srgbClr val="E2E7F2"/>
                      </a:solidFill>
                    </a:lnR>
                    <a:lnT w="6350">
                      <a:solidFill>
                        <a:srgbClr val="E2E7F2"/>
                      </a:solidFill>
                    </a:lnT>
                    <a:lnB w="6350">
                      <a:solidFill>
                        <a:srgbClr val="E2E7F2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wrap="none"/>
                    <a:lstStyle/>
                    <a:p>
                      <a:pPr algn="r"/>
                      <a:r>
                        <a:rPr sz="850" b="1">
                          <a:solidFill>
                            <a:srgbClr val="26292E"/>
                          </a:solidFill>
                          <a:latin typeface="Calibri"/>
                        </a:rPr>
                        <a:t>1,295</a:t>
                      </a:r>
                    </a:p>
                  </a:txBody>
                  <a:tcPr anchor="ctr" marL="27432" marR="27432" marT="4572" marB="4572">
                    <a:lnL w="6350">
                      <a:solidFill>
                        <a:srgbClr val="E2E7F2"/>
                      </a:solidFill>
                    </a:lnL>
                    <a:lnR w="6350">
                      <a:solidFill>
                        <a:srgbClr val="E2E7F2"/>
                      </a:solidFill>
                    </a:lnR>
                    <a:lnT w="6350">
                      <a:solidFill>
                        <a:srgbClr val="E2E7F2"/>
                      </a:solidFill>
                    </a:lnT>
                    <a:lnB w="6350">
                      <a:solidFill>
                        <a:srgbClr val="E2E7F2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wrap="none"/>
                    <a:lstStyle/>
                    <a:p>
                      <a:pPr algn="r"/>
                      <a:r>
                        <a:rPr sz="850" b="1">
                          <a:solidFill>
                            <a:srgbClr val="C62828"/>
                          </a:solidFill>
                          <a:latin typeface="Calibri"/>
                        </a:rPr>
                        <a:t>-2.3%</a:t>
                      </a:r>
                    </a:p>
                  </a:txBody>
                  <a:tcPr anchor="ctr" marL="27432" marR="27432" marT="4572" marB="4572">
                    <a:lnL w="6350">
                      <a:solidFill>
                        <a:srgbClr val="E2E7F2"/>
                      </a:solidFill>
                    </a:lnL>
                    <a:lnR w="6350">
                      <a:solidFill>
                        <a:srgbClr val="E2E7F2"/>
                      </a:solidFill>
                    </a:lnR>
                    <a:lnT w="6350">
                      <a:solidFill>
                        <a:srgbClr val="E2E7F2"/>
                      </a:solidFill>
                    </a:lnT>
                    <a:lnB w="6350">
                      <a:solidFill>
                        <a:srgbClr val="E2E7F2"/>
                      </a:solidFill>
                    </a:lnB>
                    <a:solidFill>
                      <a:srgbClr val="FFFFFF"/>
                    </a:solidFill>
                  </a:tcPr>
                </a:tc>
              </a:tr>
              <a:tr h="214884">
                <a:tc>
                  <a:txBody>
                    <a:bodyPr wrap="none"/>
                    <a:lstStyle/>
                    <a:p>
                      <a:pPr algn="l"/>
                      <a:r>
                        <a:rPr sz="850" b="0">
                          <a:solidFill>
                            <a:srgbClr val="595959"/>
                          </a:solidFill>
                          <a:latin typeface="Calibri"/>
                        </a:rPr>
                        <a:t>   ’25</a:t>
                      </a:r>
                    </a:p>
                  </a:txBody>
                  <a:tcPr anchor="ctr" marL="27432" marR="27432" marT="4572" marB="4572">
                    <a:lnL w="6350">
                      <a:solidFill>
                        <a:srgbClr val="E2E7F2"/>
                      </a:solidFill>
                    </a:lnL>
                    <a:lnR w="6350">
                      <a:solidFill>
                        <a:srgbClr val="E2E7F2"/>
                      </a:solidFill>
                    </a:lnR>
                    <a:lnT w="6350">
                      <a:solidFill>
                        <a:srgbClr val="E2E7F2"/>
                      </a:solidFill>
                    </a:lnT>
                    <a:lnB w="6350">
                      <a:solidFill>
                        <a:srgbClr val="E2E7F2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wrap="none"/>
                    <a:lstStyle/>
                    <a:p>
                      <a:pPr algn="r"/>
                      <a:r>
                        <a:rPr sz="850" b="0">
                          <a:solidFill>
                            <a:srgbClr val="595959"/>
                          </a:solidFill>
                          <a:latin typeface="Calibri"/>
                        </a:rPr>
                        <a:t>1,658</a:t>
                      </a:r>
                    </a:p>
                  </a:txBody>
                  <a:tcPr anchor="ctr" marL="27432" marR="27432" marT="4572" marB="4572">
                    <a:lnL w="6350">
                      <a:solidFill>
                        <a:srgbClr val="E2E7F2"/>
                      </a:solidFill>
                    </a:lnL>
                    <a:lnR w="6350">
                      <a:solidFill>
                        <a:srgbClr val="E2E7F2"/>
                      </a:solidFill>
                    </a:lnR>
                    <a:lnT w="6350">
                      <a:solidFill>
                        <a:srgbClr val="E2E7F2"/>
                      </a:solidFill>
                    </a:lnT>
                    <a:lnB w="6350">
                      <a:solidFill>
                        <a:srgbClr val="E2E7F2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wrap="none"/>
                    <a:lstStyle/>
                    <a:p>
                      <a:pPr algn="r"/>
                      <a:r>
                        <a:rPr sz="850" b="0">
                          <a:solidFill>
                            <a:srgbClr val="595959"/>
                          </a:solidFill>
                          <a:latin typeface="Calibri"/>
                        </a:rPr>
                        <a:t>1,503</a:t>
                      </a:r>
                    </a:p>
                  </a:txBody>
                  <a:tcPr anchor="ctr" marL="27432" marR="27432" marT="4572" marB="4572">
                    <a:lnL w="6350">
                      <a:solidFill>
                        <a:srgbClr val="E2E7F2"/>
                      </a:solidFill>
                    </a:lnL>
                    <a:lnR w="6350">
                      <a:solidFill>
                        <a:srgbClr val="E2E7F2"/>
                      </a:solidFill>
                    </a:lnR>
                    <a:lnT w="6350">
                      <a:solidFill>
                        <a:srgbClr val="E2E7F2"/>
                      </a:solidFill>
                    </a:lnT>
                    <a:lnB w="6350">
                      <a:solidFill>
                        <a:srgbClr val="E2E7F2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wrap="none"/>
                    <a:lstStyle/>
                    <a:p>
                      <a:pPr algn="r"/>
                      <a:r>
                        <a:rPr sz="850" b="0">
                          <a:solidFill>
                            <a:srgbClr val="595959"/>
                          </a:solidFill>
                          <a:latin typeface="Calibri"/>
                        </a:rPr>
                        <a:t>1,319</a:t>
                      </a:r>
                    </a:p>
                  </a:txBody>
                  <a:tcPr anchor="ctr" marL="27432" marR="27432" marT="4572" marB="4572">
                    <a:lnL w="6350">
                      <a:solidFill>
                        <a:srgbClr val="E2E7F2"/>
                      </a:solidFill>
                    </a:lnL>
                    <a:lnR w="6350">
                      <a:solidFill>
                        <a:srgbClr val="E2E7F2"/>
                      </a:solidFill>
                    </a:lnR>
                    <a:lnT w="6350">
                      <a:solidFill>
                        <a:srgbClr val="E2E7F2"/>
                      </a:solidFill>
                    </a:lnT>
                    <a:lnB w="6350">
                      <a:solidFill>
                        <a:srgbClr val="E2E7F2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wrap="none"/>
                    <a:lstStyle/>
                    <a:p>
                      <a:pPr algn="r"/>
                      <a:r>
                        <a:rPr sz="850" b="0">
                          <a:solidFill>
                            <a:srgbClr val="595959"/>
                          </a:solidFill>
                          <a:latin typeface="Calibri"/>
                        </a:rPr>
                        <a:t>1,208</a:t>
                      </a:r>
                    </a:p>
                  </a:txBody>
                  <a:tcPr anchor="ctr" marL="27432" marR="27432" marT="4572" marB="4572">
                    <a:lnL w="6350">
                      <a:solidFill>
                        <a:srgbClr val="E2E7F2"/>
                      </a:solidFill>
                    </a:lnL>
                    <a:lnR w="6350">
                      <a:solidFill>
                        <a:srgbClr val="E2E7F2"/>
                      </a:solidFill>
                    </a:lnR>
                    <a:lnT w="6350">
                      <a:solidFill>
                        <a:srgbClr val="E2E7F2"/>
                      </a:solidFill>
                    </a:lnT>
                    <a:lnB w="6350">
                      <a:solidFill>
                        <a:srgbClr val="E2E7F2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wrap="none"/>
                    <a:lstStyle/>
                    <a:p>
                      <a:pPr algn="r"/>
                      <a:r>
                        <a:rPr sz="850" b="0">
                          <a:solidFill>
                            <a:srgbClr val="595959"/>
                          </a:solidFill>
                          <a:latin typeface="Calibri"/>
                        </a:rPr>
                        <a:t>1,113</a:t>
                      </a:r>
                    </a:p>
                  </a:txBody>
                  <a:tcPr anchor="ctr" marL="27432" marR="27432" marT="4572" marB="4572">
                    <a:lnL w="6350">
                      <a:solidFill>
                        <a:srgbClr val="E2E7F2"/>
                      </a:solidFill>
                    </a:lnL>
                    <a:lnR w="6350">
                      <a:solidFill>
                        <a:srgbClr val="E2E7F2"/>
                      </a:solidFill>
                    </a:lnR>
                    <a:lnT w="6350">
                      <a:solidFill>
                        <a:srgbClr val="E2E7F2"/>
                      </a:solidFill>
                    </a:lnT>
                    <a:lnB w="6350">
                      <a:solidFill>
                        <a:srgbClr val="E2E7F2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wrap="none"/>
                    <a:lstStyle/>
                    <a:p>
                      <a:pPr algn="r"/>
                      <a:r>
                        <a:rPr sz="850" b="0">
                          <a:solidFill>
                            <a:srgbClr val="595959"/>
                          </a:solidFill>
                          <a:latin typeface="Calibri"/>
                        </a:rPr>
                        <a:t>1,103</a:t>
                      </a:r>
                    </a:p>
                  </a:txBody>
                  <a:tcPr anchor="ctr" marL="27432" marR="27432" marT="4572" marB="4572">
                    <a:lnL w="6350">
                      <a:solidFill>
                        <a:srgbClr val="E2E7F2"/>
                      </a:solidFill>
                    </a:lnL>
                    <a:lnR w="6350">
                      <a:solidFill>
                        <a:srgbClr val="E2E7F2"/>
                      </a:solidFill>
                    </a:lnR>
                    <a:lnT w="6350">
                      <a:solidFill>
                        <a:srgbClr val="E2E7F2"/>
                      </a:solidFill>
                    </a:lnT>
                    <a:lnB w="6350">
                      <a:solidFill>
                        <a:srgbClr val="E2E7F2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wrap="none"/>
                    <a:lstStyle/>
                    <a:p>
                      <a:pPr algn="r"/>
                      <a:r>
                        <a:rPr sz="850" b="0">
                          <a:solidFill>
                            <a:srgbClr val="595959"/>
                          </a:solidFill>
                          <a:latin typeface="Calibri"/>
                        </a:rPr>
                        <a:t>1,325</a:t>
                      </a:r>
                    </a:p>
                  </a:txBody>
                  <a:tcPr anchor="ctr" marL="27432" marR="27432" marT="4572" marB="4572">
                    <a:lnL w="6350">
                      <a:solidFill>
                        <a:srgbClr val="E2E7F2"/>
                      </a:solidFill>
                    </a:lnL>
                    <a:lnR w="6350">
                      <a:solidFill>
                        <a:srgbClr val="E2E7F2"/>
                      </a:solidFill>
                    </a:lnR>
                    <a:lnT w="6350">
                      <a:solidFill>
                        <a:srgbClr val="E2E7F2"/>
                      </a:solidFill>
                    </a:lnT>
                    <a:lnB w="6350">
                      <a:solidFill>
                        <a:srgbClr val="E2E7F2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wrap="none"/>
                    <a:lstStyle/>
                    <a:p>
                      <a:pPr algn="l"/>
                      <a:r>
                        <a:rPr sz="850" b="0">
                          <a:solidFill>
                            <a:srgbClr val="26292E"/>
                          </a:solidFill>
                          <a:latin typeface="Calibri"/>
                        </a:rPr>
                        <a:t/>
                      </a:r>
                    </a:p>
                  </a:txBody>
                  <a:tcPr anchor="ctr" marL="27432" marR="27432" marT="4572" marB="4572">
                    <a:lnL w="6350">
                      <a:solidFill>
                        <a:srgbClr val="E2E7F2"/>
                      </a:solidFill>
                    </a:lnL>
                    <a:lnR w="6350">
                      <a:solidFill>
                        <a:srgbClr val="E2E7F2"/>
                      </a:solidFill>
                    </a:lnR>
                    <a:lnT w="6350">
                      <a:solidFill>
                        <a:srgbClr val="E2E7F2"/>
                      </a:solidFill>
                    </a:lnT>
                    <a:lnB w="6350">
                      <a:solidFill>
                        <a:srgbClr val="E2E7F2"/>
                      </a:solidFill>
                    </a:lnB>
                    <a:solidFill>
                      <a:srgbClr val="FFFFFF"/>
                    </a:solidFill>
                  </a:tcPr>
                </a:tc>
              </a:tr>
              <a:tr h="214884">
                <a:tc>
                  <a:txBody>
                    <a:bodyPr wrap="none"/>
                    <a:lstStyle/>
                    <a:p>
                      <a:pPr algn="l"/>
                      <a:r>
                        <a:rPr sz="850" b="1">
                          <a:solidFill>
                            <a:srgbClr val="26292E"/>
                          </a:solidFill>
                          <a:latin typeface="Calibri"/>
                        </a:rPr>
                        <a:t>Wholesale</a:t>
                      </a:r>
                    </a:p>
                  </a:txBody>
                  <a:tcPr anchor="ctr" marL="27432" marR="27432" marT="4572" marB="4572">
                    <a:lnL w="6350">
                      <a:solidFill>
                        <a:srgbClr val="E2E7F2"/>
                      </a:solidFill>
                    </a:lnL>
                    <a:lnR w="6350">
                      <a:solidFill>
                        <a:srgbClr val="E2E7F2"/>
                      </a:solidFill>
                    </a:lnR>
                    <a:lnT w="6350">
                      <a:solidFill>
                        <a:srgbClr val="E2E7F2"/>
                      </a:solidFill>
                    </a:lnT>
                    <a:lnB w="6350">
                      <a:solidFill>
                        <a:srgbClr val="E2E7F2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wrap="none"/>
                    <a:lstStyle/>
                    <a:p>
                      <a:pPr algn="r"/>
                      <a:r>
                        <a:rPr sz="850" b="0">
                          <a:solidFill>
                            <a:srgbClr val="26292E"/>
                          </a:solidFill>
                          <a:latin typeface="Calibri"/>
                        </a:rPr>
                        <a:t>1,295</a:t>
                      </a:r>
                    </a:p>
                  </a:txBody>
                  <a:tcPr anchor="ctr" marL="27432" marR="27432" marT="4572" marB="4572">
                    <a:lnL w="6350">
                      <a:solidFill>
                        <a:srgbClr val="E2E7F2"/>
                      </a:solidFill>
                    </a:lnL>
                    <a:lnR w="6350">
                      <a:solidFill>
                        <a:srgbClr val="E2E7F2"/>
                      </a:solidFill>
                    </a:lnR>
                    <a:lnT w="6350">
                      <a:solidFill>
                        <a:srgbClr val="E2E7F2"/>
                      </a:solidFill>
                    </a:lnT>
                    <a:lnB w="6350">
                      <a:solidFill>
                        <a:srgbClr val="E2E7F2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wrap="none"/>
                    <a:lstStyle/>
                    <a:p>
                      <a:pPr algn="r"/>
                      <a:r>
                        <a:rPr sz="850" b="0">
                          <a:solidFill>
                            <a:srgbClr val="26292E"/>
                          </a:solidFill>
                          <a:latin typeface="Calibri"/>
                        </a:rPr>
                        <a:t>1,366</a:t>
                      </a:r>
                    </a:p>
                  </a:txBody>
                  <a:tcPr anchor="ctr" marL="27432" marR="27432" marT="4572" marB="4572">
                    <a:lnL w="6350">
                      <a:solidFill>
                        <a:srgbClr val="E2E7F2"/>
                      </a:solidFill>
                    </a:lnL>
                    <a:lnR w="6350">
                      <a:solidFill>
                        <a:srgbClr val="E2E7F2"/>
                      </a:solidFill>
                    </a:lnR>
                    <a:lnT w="6350">
                      <a:solidFill>
                        <a:srgbClr val="E2E7F2"/>
                      </a:solidFill>
                    </a:lnT>
                    <a:lnB w="6350">
                      <a:solidFill>
                        <a:srgbClr val="E2E7F2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wrap="none"/>
                    <a:lstStyle/>
                    <a:p>
                      <a:pPr algn="r"/>
                      <a:r>
                        <a:rPr sz="850" b="0">
                          <a:solidFill>
                            <a:srgbClr val="26292E"/>
                          </a:solidFill>
                          <a:latin typeface="Calibri"/>
                        </a:rPr>
                        <a:t>1,257</a:t>
                      </a:r>
                    </a:p>
                  </a:txBody>
                  <a:tcPr anchor="ctr" marL="27432" marR="27432" marT="4572" marB="4572">
                    <a:lnL w="6350">
                      <a:solidFill>
                        <a:srgbClr val="E2E7F2"/>
                      </a:solidFill>
                    </a:lnL>
                    <a:lnR w="6350">
                      <a:solidFill>
                        <a:srgbClr val="E2E7F2"/>
                      </a:solidFill>
                    </a:lnR>
                    <a:lnT w="6350">
                      <a:solidFill>
                        <a:srgbClr val="E2E7F2"/>
                      </a:solidFill>
                    </a:lnT>
                    <a:lnB w="6350">
                      <a:solidFill>
                        <a:srgbClr val="E2E7F2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wrap="none"/>
                    <a:lstStyle/>
                    <a:p>
                      <a:pPr algn="r"/>
                      <a:r>
                        <a:rPr sz="850" b="0">
                          <a:solidFill>
                            <a:srgbClr val="26292E"/>
                          </a:solidFill>
                          <a:latin typeface="Calibri"/>
                        </a:rPr>
                        <a:t>1,436</a:t>
                      </a:r>
                    </a:p>
                  </a:txBody>
                  <a:tcPr anchor="ctr" marL="27432" marR="27432" marT="4572" marB="4572">
                    <a:lnL w="6350">
                      <a:solidFill>
                        <a:srgbClr val="E2E7F2"/>
                      </a:solidFill>
                    </a:lnL>
                    <a:lnR w="6350">
                      <a:solidFill>
                        <a:srgbClr val="E2E7F2"/>
                      </a:solidFill>
                    </a:lnR>
                    <a:lnT w="6350">
                      <a:solidFill>
                        <a:srgbClr val="E2E7F2"/>
                      </a:solidFill>
                    </a:lnT>
                    <a:lnB w="6350">
                      <a:solidFill>
                        <a:srgbClr val="E2E7F2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wrap="none"/>
                    <a:lstStyle/>
                    <a:p>
                      <a:pPr algn="r"/>
                      <a:r>
                        <a:rPr sz="850" b="0">
                          <a:solidFill>
                            <a:srgbClr val="26292E"/>
                          </a:solidFill>
                          <a:latin typeface="Calibri"/>
                        </a:rPr>
                        <a:t>1,127</a:t>
                      </a:r>
                    </a:p>
                  </a:txBody>
                  <a:tcPr anchor="ctr" marL="27432" marR="27432" marT="4572" marB="4572">
                    <a:lnL w="6350">
                      <a:solidFill>
                        <a:srgbClr val="E2E7F2"/>
                      </a:solidFill>
                    </a:lnL>
                    <a:lnR w="6350">
                      <a:solidFill>
                        <a:srgbClr val="E2E7F2"/>
                      </a:solidFill>
                    </a:lnR>
                    <a:lnT w="6350">
                      <a:solidFill>
                        <a:srgbClr val="E2E7F2"/>
                      </a:solidFill>
                    </a:lnT>
                    <a:lnB w="6350">
                      <a:solidFill>
                        <a:srgbClr val="E2E7F2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wrap="none"/>
                    <a:lstStyle/>
                    <a:p>
                      <a:pPr algn="r"/>
                      <a:r>
                        <a:rPr sz="850" b="0">
                          <a:solidFill>
                            <a:srgbClr val="26292E"/>
                          </a:solidFill>
                          <a:latin typeface="Calibri"/>
                        </a:rPr>
                        <a:t>1,011</a:t>
                      </a:r>
                    </a:p>
                  </a:txBody>
                  <a:tcPr anchor="ctr" marL="27432" marR="27432" marT="4572" marB="4572">
                    <a:lnL w="6350">
                      <a:solidFill>
                        <a:srgbClr val="E2E7F2"/>
                      </a:solidFill>
                    </a:lnL>
                    <a:lnR w="6350">
                      <a:solidFill>
                        <a:srgbClr val="E2E7F2"/>
                      </a:solidFill>
                    </a:lnR>
                    <a:lnT w="6350">
                      <a:solidFill>
                        <a:srgbClr val="E2E7F2"/>
                      </a:solidFill>
                    </a:lnT>
                    <a:lnB w="6350">
                      <a:solidFill>
                        <a:srgbClr val="E2E7F2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wrap="none"/>
                    <a:lstStyle/>
                    <a:p>
                      <a:pPr algn="r"/>
                      <a:r>
                        <a:rPr sz="850" b="1">
                          <a:solidFill>
                            <a:srgbClr val="26292E"/>
                          </a:solidFill>
                          <a:latin typeface="Calibri"/>
                        </a:rPr>
                        <a:t>1,249</a:t>
                      </a:r>
                    </a:p>
                  </a:txBody>
                  <a:tcPr anchor="ctr" marL="27432" marR="27432" marT="4572" marB="4572">
                    <a:lnL w="6350">
                      <a:solidFill>
                        <a:srgbClr val="E2E7F2"/>
                      </a:solidFill>
                    </a:lnL>
                    <a:lnR w="6350">
                      <a:solidFill>
                        <a:srgbClr val="E2E7F2"/>
                      </a:solidFill>
                    </a:lnR>
                    <a:lnT w="6350">
                      <a:solidFill>
                        <a:srgbClr val="E2E7F2"/>
                      </a:solidFill>
                    </a:lnT>
                    <a:lnB w="6350">
                      <a:solidFill>
                        <a:srgbClr val="E2E7F2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wrap="none"/>
                    <a:lstStyle/>
                    <a:p>
                      <a:pPr algn="r"/>
                      <a:r>
                        <a:rPr sz="850" b="1">
                          <a:solidFill>
                            <a:srgbClr val="1E7B34"/>
                          </a:solidFill>
                          <a:latin typeface="Calibri"/>
                        </a:rPr>
                        <a:t>+2.3%</a:t>
                      </a:r>
                    </a:p>
                  </a:txBody>
                  <a:tcPr anchor="ctr" marL="27432" marR="27432" marT="4572" marB="4572">
                    <a:lnL w="6350">
                      <a:solidFill>
                        <a:srgbClr val="E2E7F2"/>
                      </a:solidFill>
                    </a:lnL>
                    <a:lnR w="6350">
                      <a:solidFill>
                        <a:srgbClr val="E2E7F2"/>
                      </a:solidFill>
                    </a:lnR>
                    <a:lnT w="6350">
                      <a:solidFill>
                        <a:srgbClr val="E2E7F2"/>
                      </a:solidFill>
                    </a:lnT>
                    <a:lnB w="6350">
                      <a:solidFill>
                        <a:srgbClr val="E2E7F2"/>
                      </a:solidFill>
                    </a:lnB>
                    <a:solidFill>
                      <a:srgbClr val="FFFFFF"/>
                    </a:solidFill>
                  </a:tcPr>
                </a:tc>
              </a:tr>
              <a:tr h="214884">
                <a:tc>
                  <a:txBody>
                    <a:bodyPr wrap="none"/>
                    <a:lstStyle/>
                    <a:p>
                      <a:pPr algn="l"/>
                      <a:r>
                        <a:rPr sz="850" b="0">
                          <a:solidFill>
                            <a:srgbClr val="595959"/>
                          </a:solidFill>
                          <a:latin typeface="Calibri"/>
                        </a:rPr>
                        <a:t>   ’25</a:t>
                      </a:r>
                    </a:p>
                  </a:txBody>
                  <a:tcPr anchor="ctr" marL="27432" marR="27432" marT="4572" marB="4572">
                    <a:lnL w="6350">
                      <a:solidFill>
                        <a:srgbClr val="E2E7F2"/>
                      </a:solidFill>
                    </a:lnL>
                    <a:lnR w="6350">
                      <a:solidFill>
                        <a:srgbClr val="E2E7F2"/>
                      </a:solidFill>
                    </a:lnR>
                    <a:lnT w="6350">
                      <a:solidFill>
                        <a:srgbClr val="E2E7F2"/>
                      </a:solidFill>
                    </a:lnT>
                    <a:lnB w="6350">
                      <a:solidFill>
                        <a:srgbClr val="E2E7F2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wrap="none"/>
                    <a:lstStyle/>
                    <a:p>
                      <a:pPr algn="r"/>
                      <a:r>
                        <a:rPr sz="850" b="0">
                          <a:solidFill>
                            <a:srgbClr val="595959"/>
                          </a:solidFill>
                          <a:latin typeface="Calibri"/>
                        </a:rPr>
                        <a:t>1,284</a:t>
                      </a:r>
                    </a:p>
                  </a:txBody>
                  <a:tcPr anchor="ctr" marL="27432" marR="27432" marT="4572" marB="4572">
                    <a:lnL w="6350">
                      <a:solidFill>
                        <a:srgbClr val="E2E7F2"/>
                      </a:solidFill>
                    </a:lnL>
                    <a:lnR w="6350">
                      <a:solidFill>
                        <a:srgbClr val="E2E7F2"/>
                      </a:solidFill>
                    </a:lnR>
                    <a:lnT w="6350">
                      <a:solidFill>
                        <a:srgbClr val="E2E7F2"/>
                      </a:solidFill>
                    </a:lnT>
                    <a:lnB w="6350">
                      <a:solidFill>
                        <a:srgbClr val="E2E7F2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wrap="none"/>
                    <a:lstStyle/>
                    <a:p>
                      <a:pPr algn="r"/>
                      <a:r>
                        <a:rPr sz="850" b="0">
                          <a:solidFill>
                            <a:srgbClr val="595959"/>
                          </a:solidFill>
                          <a:latin typeface="Calibri"/>
                        </a:rPr>
                        <a:t>1,270</a:t>
                      </a:r>
                    </a:p>
                  </a:txBody>
                  <a:tcPr anchor="ctr" marL="27432" marR="27432" marT="4572" marB="4572">
                    <a:lnL w="6350">
                      <a:solidFill>
                        <a:srgbClr val="E2E7F2"/>
                      </a:solidFill>
                    </a:lnL>
                    <a:lnR w="6350">
                      <a:solidFill>
                        <a:srgbClr val="E2E7F2"/>
                      </a:solidFill>
                    </a:lnR>
                    <a:lnT w="6350">
                      <a:solidFill>
                        <a:srgbClr val="E2E7F2"/>
                      </a:solidFill>
                    </a:lnT>
                    <a:lnB w="6350">
                      <a:solidFill>
                        <a:srgbClr val="E2E7F2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wrap="none"/>
                    <a:lstStyle/>
                    <a:p>
                      <a:pPr algn="r"/>
                      <a:r>
                        <a:rPr sz="850" b="0">
                          <a:solidFill>
                            <a:srgbClr val="595959"/>
                          </a:solidFill>
                          <a:latin typeface="Calibri"/>
                        </a:rPr>
                        <a:t>1,258</a:t>
                      </a:r>
                    </a:p>
                  </a:txBody>
                  <a:tcPr anchor="ctr" marL="27432" marR="27432" marT="4572" marB="4572">
                    <a:lnL w="6350">
                      <a:solidFill>
                        <a:srgbClr val="E2E7F2"/>
                      </a:solidFill>
                    </a:lnL>
                    <a:lnR w="6350">
                      <a:solidFill>
                        <a:srgbClr val="E2E7F2"/>
                      </a:solidFill>
                    </a:lnR>
                    <a:lnT w="6350">
                      <a:solidFill>
                        <a:srgbClr val="E2E7F2"/>
                      </a:solidFill>
                    </a:lnT>
                    <a:lnB w="6350">
                      <a:solidFill>
                        <a:srgbClr val="E2E7F2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wrap="none"/>
                    <a:lstStyle/>
                    <a:p>
                      <a:pPr algn="r"/>
                      <a:r>
                        <a:rPr sz="850" b="0">
                          <a:solidFill>
                            <a:srgbClr val="595959"/>
                          </a:solidFill>
                          <a:latin typeface="Calibri"/>
                        </a:rPr>
                        <a:t>1,274</a:t>
                      </a:r>
                    </a:p>
                  </a:txBody>
                  <a:tcPr anchor="ctr" marL="27432" marR="27432" marT="4572" marB="4572">
                    <a:lnL w="6350">
                      <a:solidFill>
                        <a:srgbClr val="E2E7F2"/>
                      </a:solidFill>
                    </a:lnL>
                    <a:lnR w="6350">
                      <a:solidFill>
                        <a:srgbClr val="E2E7F2"/>
                      </a:solidFill>
                    </a:lnR>
                    <a:lnT w="6350">
                      <a:solidFill>
                        <a:srgbClr val="E2E7F2"/>
                      </a:solidFill>
                    </a:lnT>
                    <a:lnB w="6350">
                      <a:solidFill>
                        <a:srgbClr val="E2E7F2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wrap="none"/>
                    <a:lstStyle/>
                    <a:p>
                      <a:pPr algn="r"/>
                      <a:r>
                        <a:rPr sz="850" b="0">
                          <a:solidFill>
                            <a:srgbClr val="595959"/>
                          </a:solidFill>
                          <a:latin typeface="Calibri"/>
                        </a:rPr>
                        <a:t>1,096</a:t>
                      </a:r>
                    </a:p>
                  </a:txBody>
                  <a:tcPr anchor="ctr" marL="27432" marR="27432" marT="4572" marB="4572">
                    <a:lnL w="6350">
                      <a:solidFill>
                        <a:srgbClr val="E2E7F2"/>
                      </a:solidFill>
                    </a:lnL>
                    <a:lnR w="6350">
                      <a:solidFill>
                        <a:srgbClr val="E2E7F2"/>
                      </a:solidFill>
                    </a:lnR>
                    <a:lnT w="6350">
                      <a:solidFill>
                        <a:srgbClr val="E2E7F2"/>
                      </a:solidFill>
                    </a:lnT>
                    <a:lnB w="6350">
                      <a:solidFill>
                        <a:srgbClr val="E2E7F2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wrap="none"/>
                    <a:lstStyle/>
                    <a:p>
                      <a:pPr algn="r"/>
                      <a:r>
                        <a:rPr sz="850" b="0">
                          <a:solidFill>
                            <a:srgbClr val="595959"/>
                          </a:solidFill>
                          <a:latin typeface="Calibri"/>
                        </a:rPr>
                        <a:t>1,065</a:t>
                      </a:r>
                    </a:p>
                  </a:txBody>
                  <a:tcPr anchor="ctr" marL="27432" marR="27432" marT="4572" marB="4572">
                    <a:lnL w="6350">
                      <a:solidFill>
                        <a:srgbClr val="E2E7F2"/>
                      </a:solidFill>
                    </a:lnL>
                    <a:lnR w="6350">
                      <a:solidFill>
                        <a:srgbClr val="E2E7F2"/>
                      </a:solidFill>
                    </a:lnR>
                    <a:lnT w="6350">
                      <a:solidFill>
                        <a:srgbClr val="E2E7F2"/>
                      </a:solidFill>
                    </a:lnT>
                    <a:lnB w="6350">
                      <a:solidFill>
                        <a:srgbClr val="E2E7F2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wrap="none"/>
                    <a:lstStyle/>
                    <a:p>
                      <a:pPr algn="r"/>
                      <a:r>
                        <a:rPr sz="850" b="0">
                          <a:solidFill>
                            <a:srgbClr val="595959"/>
                          </a:solidFill>
                          <a:latin typeface="Calibri"/>
                        </a:rPr>
                        <a:t>1,221</a:t>
                      </a:r>
                    </a:p>
                  </a:txBody>
                  <a:tcPr anchor="ctr" marL="27432" marR="27432" marT="4572" marB="4572">
                    <a:lnL w="6350">
                      <a:solidFill>
                        <a:srgbClr val="E2E7F2"/>
                      </a:solidFill>
                    </a:lnL>
                    <a:lnR w="6350">
                      <a:solidFill>
                        <a:srgbClr val="E2E7F2"/>
                      </a:solidFill>
                    </a:lnR>
                    <a:lnT w="6350">
                      <a:solidFill>
                        <a:srgbClr val="E2E7F2"/>
                      </a:solidFill>
                    </a:lnT>
                    <a:lnB w="6350">
                      <a:solidFill>
                        <a:srgbClr val="E2E7F2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wrap="none"/>
                    <a:lstStyle/>
                    <a:p>
                      <a:pPr algn="l"/>
                      <a:r>
                        <a:rPr sz="850" b="0">
                          <a:solidFill>
                            <a:srgbClr val="26292E"/>
                          </a:solidFill>
                          <a:latin typeface="Calibri"/>
                        </a:rPr>
                        <a:t/>
                      </a:r>
                    </a:p>
                  </a:txBody>
                  <a:tcPr anchor="ctr" marL="27432" marR="27432" marT="4572" marB="4572">
                    <a:lnL w="6350">
                      <a:solidFill>
                        <a:srgbClr val="E2E7F2"/>
                      </a:solidFill>
                    </a:lnL>
                    <a:lnR w="6350">
                      <a:solidFill>
                        <a:srgbClr val="E2E7F2"/>
                      </a:solidFill>
                    </a:lnR>
                    <a:lnT w="6350">
                      <a:solidFill>
                        <a:srgbClr val="E2E7F2"/>
                      </a:solidFill>
                    </a:lnT>
                    <a:lnB w="6350">
                      <a:solidFill>
                        <a:srgbClr val="E2E7F2"/>
                      </a:solidFill>
                    </a:lnB>
                    <a:solidFill>
                      <a:srgbClr val="FFFFFF"/>
                    </a:solidFill>
                  </a:tcPr>
                </a:tc>
              </a:tr>
              <a:tr h="214884">
                <a:tc>
                  <a:txBody>
                    <a:bodyPr wrap="none"/>
                    <a:lstStyle/>
                    <a:p>
                      <a:pPr algn="l"/>
                      <a:r>
                        <a:rPr sz="850" b="1">
                          <a:solidFill>
                            <a:srgbClr val="26292E"/>
                          </a:solidFill>
                          <a:latin typeface="Calibri"/>
                        </a:rPr>
                        <a:t>Group Corporate</a:t>
                      </a:r>
                    </a:p>
                  </a:txBody>
                  <a:tcPr anchor="ctr" marL="27432" marR="27432" marT="4572" marB="4572">
                    <a:lnL w="6350">
                      <a:solidFill>
                        <a:srgbClr val="E2E7F2"/>
                      </a:solidFill>
                    </a:lnL>
                    <a:lnR w="6350">
                      <a:solidFill>
                        <a:srgbClr val="E2E7F2"/>
                      </a:solidFill>
                    </a:lnR>
                    <a:lnT w="6350">
                      <a:solidFill>
                        <a:srgbClr val="E2E7F2"/>
                      </a:solidFill>
                    </a:lnT>
                    <a:lnB w="6350">
                      <a:solidFill>
                        <a:srgbClr val="E2E7F2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wrap="none"/>
                    <a:lstStyle/>
                    <a:p>
                      <a:pPr algn="r"/>
                      <a:r>
                        <a:rPr sz="850" b="0">
                          <a:solidFill>
                            <a:srgbClr val="26292E"/>
                          </a:solidFill>
                          <a:latin typeface="Calibri"/>
                        </a:rPr>
                        <a:t>–</a:t>
                      </a:r>
                    </a:p>
                  </a:txBody>
                  <a:tcPr anchor="ctr" marL="27432" marR="27432" marT="4572" marB="4572">
                    <a:lnL w="6350">
                      <a:solidFill>
                        <a:srgbClr val="E2E7F2"/>
                      </a:solidFill>
                    </a:lnL>
                    <a:lnR w="6350">
                      <a:solidFill>
                        <a:srgbClr val="E2E7F2"/>
                      </a:solidFill>
                    </a:lnR>
                    <a:lnT w="6350">
                      <a:solidFill>
                        <a:srgbClr val="E2E7F2"/>
                      </a:solidFill>
                    </a:lnT>
                    <a:lnB w="6350">
                      <a:solidFill>
                        <a:srgbClr val="E2E7F2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wrap="none"/>
                    <a:lstStyle/>
                    <a:p>
                      <a:pPr algn="r"/>
                      <a:r>
                        <a:rPr sz="850" b="0">
                          <a:solidFill>
                            <a:srgbClr val="26292E"/>
                          </a:solidFill>
                          <a:latin typeface="Calibri"/>
                        </a:rPr>
                        <a:t>–</a:t>
                      </a:r>
                    </a:p>
                  </a:txBody>
                  <a:tcPr anchor="ctr" marL="27432" marR="27432" marT="4572" marB="4572">
                    <a:lnL w="6350">
                      <a:solidFill>
                        <a:srgbClr val="E2E7F2"/>
                      </a:solidFill>
                    </a:lnL>
                    <a:lnR w="6350">
                      <a:solidFill>
                        <a:srgbClr val="E2E7F2"/>
                      </a:solidFill>
                    </a:lnR>
                    <a:lnT w="6350">
                      <a:solidFill>
                        <a:srgbClr val="E2E7F2"/>
                      </a:solidFill>
                    </a:lnT>
                    <a:lnB w="6350">
                      <a:solidFill>
                        <a:srgbClr val="E2E7F2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wrap="none"/>
                    <a:lstStyle/>
                    <a:p>
                      <a:pPr algn="r"/>
                      <a:r>
                        <a:rPr sz="850" b="0">
                          <a:solidFill>
                            <a:srgbClr val="26292E"/>
                          </a:solidFill>
                          <a:latin typeface="Calibri"/>
                        </a:rPr>
                        <a:t>–</a:t>
                      </a:r>
                    </a:p>
                  </a:txBody>
                  <a:tcPr anchor="ctr" marL="27432" marR="27432" marT="4572" marB="4572">
                    <a:lnL w="6350">
                      <a:solidFill>
                        <a:srgbClr val="E2E7F2"/>
                      </a:solidFill>
                    </a:lnL>
                    <a:lnR w="6350">
                      <a:solidFill>
                        <a:srgbClr val="E2E7F2"/>
                      </a:solidFill>
                    </a:lnR>
                    <a:lnT w="6350">
                      <a:solidFill>
                        <a:srgbClr val="E2E7F2"/>
                      </a:solidFill>
                    </a:lnT>
                    <a:lnB w="6350">
                      <a:solidFill>
                        <a:srgbClr val="E2E7F2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wrap="none"/>
                    <a:lstStyle/>
                    <a:p>
                      <a:pPr algn="r"/>
                      <a:r>
                        <a:rPr sz="850" b="0">
                          <a:solidFill>
                            <a:srgbClr val="26292E"/>
                          </a:solidFill>
                          <a:latin typeface="Calibri"/>
                        </a:rPr>
                        <a:t>–</a:t>
                      </a:r>
                    </a:p>
                  </a:txBody>
                  <a:tcPr anchor="ctr" marL="27432" marR="27432" marT="4572" marB="4572">
                    <a:lnL w="6350">
                      <a:solidFill>
                        <a:srgbClr val="E2E7F2"/>
                      </a:solidFill>
                    </a:lnL>
                    <a:lnR w="6350">
                      <a:solidFill>
                        <a:srgbClr val="E2E7F2"/>
                      </a:solidFill>
                    </a:lnR>
                    <a:lnT w="6350">
                      <a:solidFill>
                        <a:srgbClr val="E2E7F2"/>
                      </a:solidFill>
                    </a:lnT>
                    <a:lnB w="6350">
                      <a:solidFill>
                        <a:srgbClr val="E2E7F2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wrap="none"/>
                    <a:lstStyle/>
                    <a:p>
                      <a:pPr algn="r"/>
                      <a:r>
                        <a:rPr sz="850" b="0">
                          <a:solidFill>
                            <a:srgbClr val="26292E"/>
                          </a:solidFill>
                          <a:latin typeface="Calibri"/>
                        </a:rPr>
                        <a:t>1,361</a:t>
                      </a:r>
                    </a:p>
                  </a:txBody>
                  <a:tcPr anchor="ctr" marL="27432" marR="27432" marT="4572" marB="4572">
                    <a:lnL w="6350">
                      <a:solidFill>
                        <a:srgbClr val="E2E7F2"/>
                      </a:solidFill>
                    </a:lnL>
                    <a:lnR w="6350">
                      <a:solidFill>
                        <a:srgbClr val="E2E7F2"/>
                      </a:solidFill>
                    </a:lnR>
                    <a:lnT w="6350">
                      <a:solidFill>
                        <a:srgbClr val="E2E7F2"/>
                      </a:solidFill>
                    </a:lnT>
                    <a:lnB w="6350">
                      <a:solidFill>
                        <a:srgbClr val="E2E7F2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wrap="none"/>
                    <a:lstStyle/>
                    <a:p>
                      <a:pPr algn="r"/>
                      <a:r>
                        <a:rPr sz="850" b="0">
                          <a:solidFill>
                            <a:srgbClr val="26292E"/>
                          </a:solidFill>
                          <a:latin typeface="Calibri"/>
                        </a:rPr>
                        <a:t>–</a:t>
                      </a:r>
                    </a:p>
                  </a:txBody>
                  <a:tcPr anchor="ctr" marL="27432" marR="27432" marT="4572" marB="4572">
                    <a:lnL w="6350">
                      <a:solidFill>
                        <a:srgbClr val="E2E7F2"/>
                      </a:solidFill>
                    </a:lnL>
                    <a:lnR w="6350">
                      <a:solidFill>
                        <a:srgbClr val="E2E7F2"/>
                      </a:solidFill>
                    </a:lnR>
                    <a:lnT w="6350">
                      <a:solidFill>
                        <a:srgbClr val="E2E7F2"/>
                      </a:solidFill>
                    </a:lnT>
                    <a:lnB w="6350">
                      <a:solidFill>
                        <a:srgbClr val="E2E7F2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wrap="none"/>
                    <a:lstStyle/>
                    <a:p>
                      <a:pPr algn="r"/>
                      <a:r>
                        <a:rPr sz="850" b="1">
                          <a:solidFill>
                            <a:srgbClr val="26292E"/>
                          </a:solidFill>
                          <a:latin typeface="Calibri"/>
                        </a:rPr>
                        <a:t>1,361</a:t>
                      </a:r>
                    </a:p>
                  </a:txBody>
                  <a:tcPr anchor="ctr" marL="27432" marR="27432" marT="4572" marB="4572">
                    <a:lnL w="6350">
                      <a:solidFill>
                        <a:srgbClr val="E2E7F2"/>
                      </a:solidFill>
                    </a:lnL>
                    <a:lnR w="6350">
                      <a:solidFill>
                        <a:srgbClr val="E2E7F2"/>
                      </a:solidFill>
                    </a:lnR>
                    <a:lnT w="6350">
                      <a:solidFill>
                        <a:srgbClr val="E2E7F2"/>
                      </a:solidFill>
                    </a:lnT>
                    <a:lnB w="6350">
                      <a:solidFill>
                        <a:srgbClr val="E2E7F2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wrap="none"/>
                    <a:lstStyle/>
                    <a:p>
                      <a:pPr algn="r"/>
                      <a:r>
                        <a:rPr sz="850" b="1">
                          <a:solidFill>
                            <a:srgbClr val="1E7B34"/>
                          </a:solidFill>
                          <a:latin typeface="Calibri"/>
                        </a:rPr>
                        <a:t/>
                      </a:r>
                    </a:p>
                  </a:txBody>
                  <a:tcPr anchor="ctr" marL="27432" marR="27432" marT="4572" marB="4572">
                    <a:lnL w="6350">
                      <a:solidFill>
                        <a:srgbClr val="E2E7F2"/>
                      </a:solidFill>
                    </a:lnL>
                    <a:lnR w="6350">
                      <a:solidFill>
                        <a:srgbClr val="E2E7F2"/>
                      </a:solidFill>
                    </a:lnR>
                    <a:lnT w="6350">
                      <a:solidFill>
                        <a:srgbClr val="E2E7F2"/>
                      </a:solidFill>
                    </a:lnT>
                    <a:lnB w="6350">
                      <a:solidFill>
                        <a:srgbClr val="E2E7F2"/>
                      </a:solidFill>
                    </a:lnB>
                    <a:solidFill>
                      <a:srgbClr val="FFFFFF"/>
                    </a:solidFill>
                  </a:tcPr>
                </a:tc>
              </a:tr>
              <a:tr h="214884">
                <a:tc>
                  <a:txBody>
                    <a:bodyPr wrap="none"/>
                    <a:lstStyle/>
                    <a:p>
                      <a:pPr algn="l"/>
                      <a:r>
                        <a:rPr sz="850" b="0">
                          <a:solidFill>
                            <a:srgbClr val="595959"/>
                          </a:solidFill>
                          <a:latin typeface="Calibri"/>
                        </a:rPr>
                        <a:t>   ’25</a:t>
                      </a:r>
                    </a:p>
                  </a:txBody>
                  <a:tcPr anchor="ctr" marL="27432" marR="27432" marT="4572" marB="4572">
                    <a:lnL w="6350">
                      <a:solidFill>
                        <a:srgbClr val="E2E7F2"/>
                      </a:solidFill>
                    </a:lnL>
                    <a:lnR w="6350">
                      <a:solidFill>
                        <a:srgbClr val="E2E7F2"/>
                      </a:solidFill>
                    </a:lnR>
                    <a:lnT w="6350">
                      <a:solidFill>
                        <a:srgbClr val="E2E7F2"/>
                      </a:solidFill>
                    </a:lnT>
                    <a:lnB w="6350">
                      <a:solidFill>
                        <a:srgbClr val="E2E7F2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wrap="none"/>
                    <a:lstStyle/>
                    <a:p>
                      <a:pPr algn="r"/>
                      <a:r>
                        <a:rPr sz="850" b="0">
                          <a:solidFill>
                            <a:srgbClr val="595959"/>
                          </a:solidFill>
                          <a:latin typeface="Calibri"/>
                        </a:rPr>
                        <a:t>–</a:t>
                      </a:r>
                    </a:p>
                  </a:txBody>
                  <a:tcPr anchor="ctr" marL="27432" marR="27432" marT="4572" marB="4572">
                    <a:lnL w="6350">
                      <a:solidFill>
                        <a:srgbClr val="E2E7F2"/>
                      </a:solidFill>
                    </a:lnL>
                    <a:lnR w="6350">
                      <a:solidFill>
                        <a:srgbClr val="E2E7F2"/>
                      </a:solidFill>
                    </a:lnR>
                    <a:lnT w="6350">
                      <a:solidFill>
                        <a:srgbClr val="E2E7F2"/>
                      </a:solidFill>
                    </a:lnT>
                    <a:lnB w="6350">
                      <a:solidFill>
                        <a:srgbClr val="E2E7F2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wrap="none"/>
                    <a:lstStyle/>
                    <a:p>
                      <a:pPr algn="r"/>
                      <a:r>
                        <a:rPr sz="850" b="0">
                          <a:solidFill>
                            <a:srgbClr val="595959"/>
                          </a:solidFill>
                          <a:latin typeface="Calibri"/>
                        </a:rPr>
                        <a:t>–</a:t>
                      </a:r>
                    </a:p>
                  </a:txBody>
                  <a:tcPr anchor="ctr" marL="27432" marR="27432" marT="4572" marB="4572">
                    <a:lnL w="6350">
                      <a:solidFill>
                        <a:srgbClr val="E2E7F2"/>
                      </a:solidFill>
                    </a:lnL>
                    <a:lnR w="6350">
                      <a:solidFill>
                        <a:srgbClr val="E2E7F2"/>
                      </a:solidFill>
                    </a:lnR>
                    <a:lnT w="6350">
                      <a:solidFill>
                        <a:srgbClr val="E2E7F2"/>
                      </a:solidFill>
                    </a:lnT>
                    <a:lnB w="6350">
                      <a:solidFill>
                        <a:srgbClr val="E2E7F2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wrap="none"/>
                    <a:lstStyle/>
                    <a:p>
                      <a:pPr algn="r"/>
                      <a:r>
                        <a:rPr sz="850" b="0">
                          <a:solidFill>
                            <a:srgbClr val="595959"/>
                          </a:solidFill>
                          <a:latin typeface="Calibri"/>
                        </a:rPr>
                        <a:t>–</a:t>
                      </a:r>
                    </a:p>
                  </a:txBody>
                  <a:tcPr anchor="ctr" marL="27432" marR="27432" marT="4572" marB="4572">
                    <a:lnL w="6350">
                      <a:solidFill>
                        <a:srgbClr val="E2E7F2"/>
                      </a:solidFill>
                    </a:lnL>
                    <a:lnR w="6350">
                      <a:solidFill>
                        <a:srgbClr val="E2E7F2"/>
                      </a:solidFill>
                    </a:lnR>
                    <a:lnT w="6350">
                      <a:solidFill>
                        <a:srgbClr val="E2E7F2"/>
                      </a:solidFill>
                    </a:lnT>
                    <a:lnB w="6350">
                      <a:solidFill>
                        <a:srgbClr val="E2E7F2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wrap="none"/>
                    <a:lstStyle/>
                    <a:p>
                      <a:pPr algn="r"/>
                      <a:r>
                        <a:rPr sz="850" b="0">
                          <a:solidFill>
                            <a:srgbClr val="595959"/>
                          </a:solidFill>
                          <a:latin typeface="Calibri"/>
                        </a:rPr>
                        <a:t>–</a:t>
                      </a:r>
                    </a:p>
                  </a:txBody>
                  <a:tcPr anchor="ctr" marL="27432" marR="27432" marT="4572" marB="4572">
                    <a:lnL w="6350">
                      <a:solidFill>
                        <a:srgbClr val="E2E7F2"/>
                      </a:solidFill>
                    </a:lnL>
                    <a:lnR w="6350">
                      <a:solidFill>
                        <a:srgbClr val="E2E7F2"/>
                      </a:solidFill>
                    </a:lnR>
                    <a:lnT w="6350">
                      <a:solidFill>
                        <a:srgbClr val="E2E7F2"/>
                      </a:solidFill>
                    </a:lnT>
                    <a:lnB w="6350">
                      <a:solidFill>
                        <a:srgbClr val="E2E7F2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wrap="none"/>
                    <a:lstStyle/>
                    <a:p>
                      <a:pPr algn="r"/>
                      <a:r>
                        <a:rPr sz="850" b="0">
                          <a:solidFill>
                            <a:srgbClr val="595959"/>
                          </a:solidFill>
                          <a:latin typeface="Calibri"/>
                        </a:rPr>
                        <a:t>–</a:t>
                      </a:r>
                    </a:p>
                  </a:txBody>
                  <a:tcPr anchor="ctr" marL="27432" marR="27432" marT="4572" marB="4572">
                    <a:lnL w="6350">
                      <a:solidFill>
                        <a:srgbClr val="E2E7F2"/>
                      </a:solidFill>
                    </a:lnL>
                    <a:lnR w="6350">
                      <a:solidFill>
                        <a:srgbClr val="E2E7F2"/>
                      </a:solidFill>
                    </a:lnR>
                    <a:lnT w="6350">
                      <a:solidFill>
                        <a:srgbClr val="E2E7F2"/>
                      </a:solidFill>
                    </a:lnT>
                    <a:lnB w="6350">
                      <a:solidFill>
                        <a:srgbClr val="E2E7F2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wrap="none"/>
                    <a:lstStyle/>
                    <a:p>
                      <a:pPr algn="r"/>
                      <a:r>
                        <a:rPr sz="850" b="0">
                          <a:solidFill>
                            <a:srgbClr val="595959"/>
                          </a:solidFill>
                          <a:latin typeface="Calibri"/>
                        </a:rPr>
                        <a:t>–</a:t>
                      </a:r>
                    </a:p>
                  </a:txBody>
                  <a:tcPr anchor="ctr" marL="27432" marR="27432" marT="4572" marB="4572">
                    <a:lnL w="6350">
                      <a:solidFill>
                        <a:srgbClr val="E2E7F2"/>
                      </a:solidFill>
                    </a:lnL>
                    <a:lnR w="6350">
                      <a:solidFill>
                        <a:srgbClr val="E2E7F2"/>
                      </a:solidFill>
                    </a:lnR>
                    <a:lnT w="6350">
                      <a:solidFill>
                        <a:srgbClr val="E2E7F2"/>
                      </a:solidFill>
                    </a:lnT>
                    <a:lnB w="6350">
                      <a:solidFill>
                        <a:srgbClr val="E2E7F2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wrap="none"/>
                    <a:lstStyle/>
                    <a:p>
                      <a:pPr algn="r"/>
                      <a:r>
                        <a:rPr sz="850" b="0">
                          <a:solidFill>
                            <a:srgbClr val="595959"/>
                          </a:solidFill>
                          <a:latin typeface="Calibri"/>
                        </a:rPr>
                        <a:t>–</a:t>
                      </a:r>
                    </a:p>
                  </a:txBody>
                  <a:tcPr anchor="ctr" marL="27432" marR="27432" marT="4572" marB="4572">
                    <a:lnL w="6350">
                      <a:solidFill>
                        <a:srgbClr val="E2E7F2"/>
                      </a:solidFill>
                    </a:lnL>
                    <a:lnR w="6350">
                      <a:solidFill>
                        <a:srgbClr val="E2E7F2"/>
                      </a:solidFill>
                    </a:lnR>
                    <a:lnT w="6350">
                      <a:solidFill>
                        <a:srgbClr val="E2E7F2"/>
                      </a:solidFill>
                    </a:lnT>
                    <a:lnB w="6350">
                      <a:solidFill>
                        <a:srgbClr val="E2E7F2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wrap="none"/>
                    <a:lstStyle/>
                    <a:p>
                      <a:pPr algn="l"/>
                      <a:r>
                        <a:rPr sz="850" b="0">
                          <a:solidFill>
                            <a:srgbClr val="26292E"/>
                          </a:solidFill>
                          <a:latin typeface="Calibri"/>
                        </a:rPr>
                        <a:t/>
                      </a:r>
                    </a:p>
                  </a:txBody>
                  <a:tcPr anchor="ctr" marL="27432" marR="27432" marT="4572" marB="4572">
                    <a:lnL w="6350">
                      <a:solidFill>
                        <a:srgbClr val="E2E7F2"/>
                      </a:solidFill>
                    </a:lnL>
                    <a:lnR w="6350">
                      <a:solidFill>
                        <a:srgbClr val="E2E7F2"/>
                      </a:solidFill>
                    </a:lnR>
                    <a:lnT w="6350">
                      <a:solidFill>
                        <a:srgbClr val="E2E7F2"/>
                      </a:solidFill>
                    </a:lnT>
                    <a:lnB w="6350">
                      <a:solidFill>
                        <a:srgbClr val="E2E7F2"/>
                      </a:solidFill>
                    </a:lnB>
                    <a:solidFill>
                      <a:srgbClr val="FFFFFF"/>
                    </a:solidFill>
                  </a:tcPr>
                </a:tc>
              </a:tr>
              <a:tr h="214884">
                <a:tc>
                  <a:txBody>
                    <a:bodyPr wrap="none"/>
                    <a:lstStyle/>
                    <a:p>
                      <a:pPr algn="l"/>
                      <a:r>
                        <a:rPr sz="850" b="1">
                          <a:solidFill>
                            <a:srgbClr val="26292E"/>
                          </a:solidFill>
                          <a:latin typeface="Calibri"/>
                        </a:rPr>
                        <a:t>Employee</a:t>
                      </a:r>
                    </a:p>
                  </a:txBody>
                  <a:tcPr anchor="ctr" marL="27432" marR="27432" marT="4572" marB="4572">
                    <a:lnL w="6350">
                      <a:solidFill>
                        <a:srgbClr val="E2E7F2"/>
                      </a:solidFill>
                    </a:lnL>
                    <a:lnR w="6350">
                      <a:solidFill>
                        <a:srgbClr val="E2E7F2"/>
                      </a:solidFill>
                    </a:lnR>
                    <a:lnT w="6350">
                      <a:solidFill>
                        <a:srgbClr val="E2E7F2"/>
                      </a:solidFill>
                    </a:lnT>
                    <a:lnB w="6350">
                      <a:solidFill>
                        <a:srgbClr val="E2E7F2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wrap="none"/>
                    <a:lstStyle/>
                    <a:p>
                      <a:pPr algn="r"/>
                      <a:r>
                        <a:rPr sz="850" b="0">
                          <a:solidFill>
                            <a:srgbClr val="26292E"/>
                          </a:solidFill>
                          <a:latin typeface="Calibri"/>
                        </a:rPr>
                        <a:t>1,224</a:t>
                      </a:r>
                    </a:p>
                  </a:txBody>
                  <a:tcPr anchor="ctr" marL="27432" marR="27432" marT="4572" marB="4572">
                    <a:lnL w="6350">
                      <a:solidFill>
                        <a:srgbClr val="E2E7F2"/>
                      </a:solidFill>
                    </a:lnL>
                    <a:lnR w="6350">
                      <a:solidFill>
                        <a:srgbClr val="E2E7F2"/>
                      </a:solidFill>
                    </a:lnR>
                    <a:lnT w="6350">
                      <a:solidFill>
                        <a:srgbClr val="E2E7F2"/>
                      </a:solidFill>
                    </a:lnT>
                    <a:lnB w="6350">
                      <a:solidFill>
                        <a:srgbClr val="E2E7F2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wrap="none"/>
                    <a:lstStyle/>
                    <a:p>
                      <a:pPr algn="r"/>
                      <a:r>
                        <a:rPr sz="850" b="0">
                          <a:solidFill>
                            <a:srgbClr val="26292E"/>
                          </a:solidFill>
                          <a:latin typeface="Calibri"/>
                        </a:rPr>
                        <a:t>1,065</a:t>
                      </a:r>
                    </a:p>
                  </a:txBody>
                  <a:tcPr anchor="ctr" marL="27432" marR="27432" marT="4572" marB="4572">
                    <a:lnL w="6350">
                      <a:solidFill>
                        <a:srgbClr val="E2E7F2"/>
                      </a:solidFill>
                    </a:lnL>
                    <a:lnR w="6350">
                      <a:solidFill>
                        <a:srgbClr val="E2E7F2"/>
                      </a:solidFill>
                    </a:lnR>
                    <a:lnT w="6350">
                      <a:solidFill>
                        <a:srgbClr val="E2E7F2"/>
                      </a:solidFill>
                    </a:lnT>
                    <a:lnB w="6350">
                      <a:solidFill>
                        <a:srgbClr val="E2E7F2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wrap="none"/>
                    <a:lstStyle/>
                    <a:p>
                      <a:pPr algn="r"/>
                      <a:r>
                        <a:rPr sz="850" b="0">
                          <a:solidFill>
                            <a:srgbClr val="26292E"/>
                          </a:solidFill>
                          <a:latin typeface="Calibri"/>
                        </a:rPr>
                        <a:t>1,284</a:t>
                      </a:r>
                    </a:p>
                  </a:txBody>
                  <a:tcPr anchor="ctr" marL="27432" marR="27432" marT="4572" marB="4572">
                    <a:lnL w="6350">
                      <a:solidFill>
                        <a:srgbClr val="E2E7F2"/>
                      </a:solidFill>
                    </a:lnL>
                    <a:lnR w="6350">
                      <a:solidFill>
                        <a:srgbClr val="E2E7F2"/>
                      </a:solidFill>
                    </a:lnR>
                    <a:lnT w="6350">
                      <a:solidFill>
                        <a:srgbClr val="E2E7F2"/>
                      </a:solidFill>
                    </a:lnT>
                    <a:lnB w="6350">
                      <a:solidFill>
                        <a:srgbClr val="E2E7F2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wrap="none"/>
                    <a:lstStyle/>
                    <a:p>
                      <a:pPr algn="r"/>
                      <a:r>
                        <a:rPr sz="850" b="0">
                          <a:solidFill>
                            <a:srgbClr val="26292E"/>
                          </a:solidFill>
                          <a:latin typeface="Calibri"/>
                        </a:rPr>
                        <a:t>1,044</a:t>
                      </a:r>
                    </a:p>
                  </a:txBody>
                  <a:tcPr anchor="ctr" marL="27432" marR="27432" marT="4572" marB="4572">
                    <a:lnL w="6350">
                      <a:solidFill>
                        <a:srgbClr val="E2E7F2"/>
                      </a:solidFill>
                    </a:lnL>
                    <a:lnR w="6350">
                      <a:solidFill>
                        <a:srgbClr val="E2E7F2"/>
                      </a:solidFill>
                    </a:lnR>
                    <a:lnT w="6350">
                      <a:solidFill>
                        <a:srgbClr val="E2E7F2"/>
                      </a:solidFill>
                    </a:lnT>
                    <a:lnB w="6350">
                      <a:solidFill>
                        <a:srgbClr val="E2E7F2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wrap="none"/>
                    <a:lstStyle/>
                    <a:p>
                      <a:pPr algn="r"/>
                      <a:r>
                        <a:rPr sz="850" b="0">
                          <a:solidFill>
                            <a:srgbClr val="26292E"/>
                          </a:solidFill>
                          <a:latin typeface="Calibri"/>
                        </a:rPr>
                        <a:t>1,001</a:t>
                      </a:r>
                    </a:p>
                  </a:txBody>
                  <a:tcPr anchor="ctr" marL="27432" marR="27432" marT="4572" marB="4572">
                    <a:lnL w="6350">
                      <a:solidFill>
                        <a:srgbClr val="E2E7F2"/>
                      </a:solidFill>
                    </a:lnL>
                    <a:lnR w="6350">
                      <a:solidFill>
                        <a:srgbClr val="E2E7F2"/>
                      </a:solidFill>
                    </a:lnR>
                    <a:lnT w="6350">
                      <a:solidFill>
                        <a:srgbClr val="E2E7F2"/>
                      </a:solidFill>
                    </a:lnT>
                    <a:lnB w="6350">
                      <a:solidFill>
                        <a:srgbClr val="E2E7F2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wrap="none"/>
                    <a:lstStyle/>
                    <a:p>
                      <a:pPr algn="r"/>
                      <a:r>
                        <a:rPr sz="850" b="0">
                          <a:solidFill>
                            <a:srgbClr val="26292E"/>
                          </a:solidFill>
                          <a:latin typeface="Calibri"/>
                        </a:rPr>
                        <a:t>805</a:t>
                      </a:r>
                    </a:p>
                  </a:txBody>
                  <a:tcPr anchor="ctr" marL="27432" marR="27432" marT="4572" marB="4572">
                    <a:lnL w="6350">
                      <a:solidFill>
                        <a:srgbClr val="E2E7F2"/>
                      </a:solidFill>
                    </a:lnL>
                    <a:lnR w="6350">
                      <a:solidFill>
                        <a:srgbClr val="E2E7F2"/>
                      </a:solidFill>
                    </a:lnR>
                    <a:lnT w="6350">
                      <a:solidFill>
                        <a:srgbClr val="E2E7F2"/>
                      </a:solidFill>
                    </a:lnT>
                    <a:lnB w="6350">
                      <a:solidFill>
                        <a:srgbClr val="E2E7F2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wrap="none"/>
                    <a:lstStyle/>
                    <a:p>
                      <a:pPr algn="r"/>
                      <a:r>
                        <a:rPr sz="850" b="1">
                          <a:solidFill>
                            <a:srgbClr val="26292E"/>
                          </a:solidFill>
                          <a:latin typeface="Calibri"/>
                        </a:rPr>
                        <a:t>1,030</a:t>
                      </a:r>
                    </a:p>
                  </a:txBody>
                  <a:tcPr anchor="ctr" marL="27432" marR="27432" marT="4572" marB="4572">
                    <a:lnL w="6350">
                      <a:solidFill>
                        <a:srgbClr val="E2E7F2"/>
                      </a:solidFill>
                    </a:lnL>
                    <a:lnR w="6350">
                      <a:solidFill>
                        <a:srgbClr val="E2E7F2"/>
                      </a:solidFill>
                    </a:lnR>
                    <a:lnT w="6350">
                      <a:solidFill>
                        <a:srgbClr val="E2E7F2"/>
                      </a:solidFill>
                    </a:lnT>
                    <a:lnB w="6350">
                      <a:solidFill>
                        <a:srgbClr val="E2E7F2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wrap="none"/>
                    <a:lstStyle/>
                    <a:p>
                      <a:pPr algn="r"/>
                      <a:r>
                        <a:rPr sz="850" b="1">
                          <a:solidFill>
                            <a:srgbClr val="1E7B34"/>
                          </a:solidFill>
                          <a:latin typeface="Calibri"/>
                        </a:rPr>
                        <a:t>+5.8%</a:t>
                      </a:r>
                    </a:p>
                  </a:txBody>
                  <a:tcPr anchor="ctr" marL="27432" marR="27432" marT="4572" marB="4572">
                    <a:lnL w="6350">
                      <a:solidFill>
                        <a:srgbClr val="E2E7F2"/>
                      </a:solidFill>
                    </a:lnL>
                    <a:lnR w="6350">
                      <a:solidFill>
                        <a:srgbClr val="E2E7F2"/>
                      </a:solidFill>
                    </a:lnR>
                    <a:lnT w="6350">
                      <a:solidFill>
                        <a:srgbClr val="E2E7F2"/>
                      </a:solidFill>
                    </a:lnT>
                    <a:lnB w="6350">
                      <a:solidFill>
                        <a:srgbClr val="E2E7F2"/>
                      </a:solidFill>
                    </a:lnB>
                    <a:solidFill>
                      <a:srgbClr val="FFFFFF"/>
                    </a:solidFill>
                  </a:tcPr>
                </a:tc>
              </a:tr>
              <a:tr h="214884">
                <a:tc>
                  <a:txBody>
                    <a:bodyPr wrap="none"/>
                    <a:lstStyle/>
                    <a:p>
                      <a:pPr algn="l"/>
                      <a:r>
                        <a:rPr sz="850" b="0">
                          <a:solidFill>
                            <a:srgbClr val="595959"/>
                          </a:solidFill>
                          <a:latin typeface="Calibri"/>
                        </a:rPr>
                        <a:t>   ’25</a:t>
                      </a:r>
                    </a:p>
                  </a:txBody>
                  <a:tcPr anchor="ctr" marL="27432" marR="27432" marT="4572" marB="4572">
                    <a:lnL w="6350">
                      <a:solidFill>
                        <a:srgbClr val="E2E7F2"/>
                      </a:solidFill>
                    </a:lnL>
                    <a:lnR w="6350">
                      <a:solidFill>
                        <a:srgbClr val="E2E7F2"/>
                      </a:solidFill>
                    </a:lnR>
                    <a:lnT w="6350">
                      <a:solidFill>
                        <a:srgbClr val="E2E7F2"/>
                      </a:solidFill>
                    </a:lnT>
                    <a:lnB w="6350">
                      <a:solidFill>
                        <a:srgbClr val="E2E7F2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wrap="none"/>
                    <a:lstStyle/>
                    <a:p>
                      <a:pPr algn="r"/>
                      <a:r>
                        <a:rPr sz="850" b="0">
                          <a:solidFill>
                            <a:srgbClr val="595959"/>
                          </a:solidFill>
                          <a:latin typeface="Calibri"/>
                        </a:rPr>
                        <a:t>–</a:t>
                      </a:r>
                    </a:p>
                  </a:txBody>
                  <a:tcPr anchor="ctr" marL="27432" marR="27432" marT="4572" marB="4572">
                    <a:lnL w="6350">
                      <a:solidFill>
                        <a:srgbClr val="E2E7F2"/>
                      </a:solidFill>
                    </a:lnL>
                    <a:lnR w="6350">
                      <a:solidFill>
                        <a:srgbClr val="E2E7F2"/>
                      </a:solidFill>
                    </a:lnR>
                    <a:lnT w="6350">
                      <a:solidFill>
                        <a:srgbClr val="E2E7F2"/>
                      </a:solidFill>
                    </a:lnT>
                    <a:lnB w="6350">
                      <a:solidFill>
                        <a:srgbClr val="E2E7F2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wrap="none"/>
                    <a:lstStyle/>
                    <a:p>
                      <a:pPr algn="r"/>
                      <a:r>
                        <a:rPr sz="850" b="0">
                          <a:solidFill>
                            <a:srgbClr val="595959"/>
                          </a:solidFill>
                          <a:latin typeface="Calibri"/>
                        </a:rPr>
                        <a:t>1,131</a:t>
                      </a:r>
                    </a:p>
                  </a:txBody>
                  <a:tcPr anchor="ctr" marL="27432" marR="27432" marT="4572" marB="4572">
                    <a:lnL w="6350">
                      <a:solidFill>
                        <a:srgbClr val="E2E7F2"/>
                      </a:solidFill>
                    </a:lnL>
                    <a:lnR w="6350">
                      <a:solidFill>
                        <a:srgbClr val="E2E7F2"/>
                      </a:solidFill>
                    </a:lnR>
                    <a:lnT w="6350">
                      <a:solidFill>
                        <a:srgbClr val="E2E7F2"/>
                      </a:solidFill>
                    </a:lnT>
                    <a:lnB w="6350">
                      <a:solidFill>
                        <a:srgbClr val="E2E7F2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wrap="none"/>
                    <a:lstStyle/>
                    <a:p>
                      <a:pPr algn="r"/>
                      <a:r>
                        <a:rPr sz="850" b="0">
                          <a:solidFill>
                            <a:srgbClr val="595959"/>
                          </a:solidFill>
                          <a:latin typeface="Calibri"/>
                        </a:rPr>
                        <a:t>1,004</a:t>
                      </a:r>
                    </a:p>
                  </a:txBody>
                  <a:tcPr anchor="ctr" marL="27432" marR="27432" marT="4572" marB="4572">
                    <a:lnL w="6350">
                      <a:solidFill>
                        <a:srgbClr val="E2E7F2"/>
                      </a:solidFill>
                    </a:lnL>
                    <a:lnR w="6350">
                      <a:solidFill>
                        <a:srgbClr val="E2E7F2"/>
                      </a:solidFill>
                    </a:lnR>
                    <a:lnT w="6350">
                      <a:solidFill>
                        <a:srgbClr val="E2E7F2"/>
                      </a:solidFill>
                    </a:lnT>
                    <a:lnB w="6350">
                      <a:solidFill>
                        <a:srgbClr val="E2E7F2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wrap="none"/>
                    <a:lstStyle/>
                    <a:p>
                      <a:pPr algn="r"/>
                      <a:r>
                        <a:rPr sz="850" b="0">
                          <a:solidFill>
                            <a:srgbClr val="595959"/>
                          </a:solidFill>
                          <a:latin typeface="Calibri"/>
                        </a:rPr>
                        <a:t>961</a:t>
                      </a:r>
                    </a:p>
                  </a:txBody>
                  <a:tcPr anchor="ctr" marL="27432" marR="27432" marT="4572" marB="4572">
                    <a:lnL w="6350">
                      <a:solidFill>
                        <a:srgbClr val="E2E7F2"/>
                      </a:solidFill>
                    </a:lnL>
                    <a:lnR w="6350">
                      <a:solidFill>
                        <a:srgbClr val="E2E7F2"/>
                      </a:solidFill>
                    </a:lnR>
                    <a:lnT w="6350">
                      <a:solidFill>
                        <a:srgbClr val="E2E7F2"/>
                      </a:solidFill>
                    </a:lnT>
                    <a:lnB w="6350">
                      <a:solidFill>
                        <a:srgbClr val="E2E7F2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wrap="none"/>
                    <a:lstStyle/>
                    <a:p>
                      <a:pPr algn="r"/>
                      <a:r>
                        <a:rPr sz="850" b="0">
                          <a:solidFill>
                            <a:srgbClr val="595959"/>
                          </a:solidFill>
                          <a:latin typeface="Calibri"/>
                        </a:rPr>
                        <a:t>854</a:t>
                      </a:r>
                    </a:p>
                  </a:txBody>
                  <a:tcPr anchor="ctr" marL="27432" marR="27432" marT="4572" marB="4572">
                    <a:lnL w="6350">
                      <a:solidFill>
                        <a:srgbClr val="E2E7F2"/>
                      </a:solidFill>
                    </a:lnL>
                    <a:lnR w="6350">
                      <a:solidFill>
                        <a:srgbClr val="E2E7F2"/>
                      </a:solidFill>
                    </a:lnR>
                    <a:lnT w="6350">
                      <a:solidFill>
                        <a:srgbClr val="E2E7F2"/>
                      </a:solidFill>
                    </a:lnT>
                    <a:lnB w="6350">
                      <a:solidFill>
                        <a:srgbClr val="E2E7F2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wrap="none"/>
                    <a:lstStyle/>
                    <a:p>
                      <a:pPr algn="r"/>
                      <a:r>
                        <a:rPr sz="850" b="0">
                          <a:solidFill>
                            <a:srgbClr val="595959"/>
                          </a:solidFill>
                          <a:latin typeface="Calibri"/>
                        </a:rPr>
                        <a:t>938</a:t>
                      </a:r>
                    </a:p>
                  </a:txBody>
                  <a:tcPr anchor="ctr" marL="27432" marR="27432" marT="4572" marB="4572">
                    <a:lnL w="6350">
                      <a:solidFill>
                        <a:srgbClr val="E2E7F2"/>
                      </a:solidFill>
                    </a:lnL>
                    <a:lnR w="6350">
                      <a:solidFill>
                        <a:srgbClr val="E2E7F2"/>
                      </a:solidFill>
                    </a:lnR>
                    <a:lnT w="6350">
                      <a:solidFill>
                        <a:srgbClr val="E2E7F2"/>
                      </a:solidFill>
                    </a:lnT>
                    <a:lnB w="6350">
                      <a:solidFill>
                        <a:srgbClr val="E2E7F2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wrap="none"/>
                    <a:lstStyle/>
                    <a:p>
                      <a:pPr algn="r"/>
                      <a:r>
                        <a:rPr sz="850" b="0">
                          <a:solidFill>
                            <a:srgbClr val="595959"/>
                          </a:solidFill>
                          <a:latin typeface="Calibri"/>
                        </a:rPr>
                        <a:t>974</a:t>
                      </a:r>
                    </a:p>
                  </a:txBody>
                  <a:tcPr anchor="ctr" marL="27432" marR="27432" marT="4572" marB="4572">
                    <a:lnL w="6350">
                      <a:solidFill>
                        <a:srgbClr val="E2E7F2"/>
                      </a:solidFill>
                    </a:lnL>
                    <a:lnR w="6350">
                      <a:solidFill>
                        <a:srgbClr val="E2E7F2"/>
                      </a:solidFill>
                    </a:lnR>
                    <a:lnT w="6350">
                      <a:solidFill>
                        <a:srgbClr val="E2E7F2"/>
                      </a:solidFill>
                    </a:lnT>
                    <a:lnB w="6350">
                      <a:solidFill>
                        <a:srgbClr val="E2E7F2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wrap="none"/>
                    <a:lstStyle/>
                    <a:p>
                      <a:pPr algn="l"/>
                      <a:r>
                        <a:rPr sz="850" b="0">
                          <a:solidFill>
                            <a:srgbClr val="26292E"/>
                          </a:solidFill>
                          <a:latin typeface="Calibri"/>
                        </a:rPr>
                        <a:t/>
                      </a:r>
                    </a:p>
                  </a:txBody>
                  <a:tcPr anchor="ctr" marL="27432" marR="27432" marT="4572" marB="4572">
                    <a:lnL w="6350">
                      <a:solidFill>
                        <a:srgbClr val="E2E7F2"/>
                      </a:solidFill>
                    </a:lnL>
                    <a:lnR w="6350">
                      <a:solidFill>
                        <a:srgbClr val="E2E7F2"/>
                      </a:solidFill>
                    </a:lnR>
                    <a:lnT w="6350">
                      <a:solidFill>
                        <a:srgbClr val="E2E7F2"/>
                      </a:solidFill>
                    </a:lnT>
                    <a:lnB w="6350">
                      <a:solidFill>
                        <a:srgbClr val="E2E7F2"/>
                      </a:solidFill>
                    </a:lnB>
                    <a:solidFill>
                      <a:srgbClr val="FFFFFF"/>
                    </a:solidFill>
                  </a:tcPr>
                </a:tc>
              </a:tr>
              <a:tr h="214884">
                <a:tc>
                  <a:txBody>
                    <a:bodyPr wrap="none"/>
                    <a:lstStyle/>
                    <a:p>
                      <a:pPr algn="l"/>
                      <a:r>
                        <a:rPr sz="850" b="1">
                          <a:solidFill>
                            <a:srgbClr val="26292E"/>
                          </a:solidFill>
                          <a:latin typeface="Calibri"/>
                        </a:rPr>
                        <a:t>Total</a:t>
                      </a:r>
                    </a:p>
                  </a:txBody>
                  <a:tcPr anchor="ctr" marL="27432" marR="27432" marT="4572" marB="4572">
                    <a:lnL w="6350">
                      <a:solidFill>
                        <a:srgbClr val="E2E7F2"/>
                      </a:solidFill>
                    </a:lnL>
                    <a:lnR w="6350">
                      <a:solidFill>
                        <a:srgbClr val="E2E7F2"/>
                      </a:solidFill>
                    </a:lnR>
                    <a:lnT w="6350">
                      <a:solidFill>
                        <a:srgbClr val="E2E7F2"/>
                      </a:solidFill>
                    </a:lnT>
                    <a:lnB w="6350">
                      <a:solidFill>
                        <a:srgbClr val="E2E7F2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wrap="none"/>
                    <a:lstStyle/>
                    <a:p>
                      <a:pPr algn="r"/>
                      <a:r>
                        <a:rPr sz="850" b="1">
                          <a:solidFill>
                            <a:srgbClr val="26292E"/>
                          </a:solidFill>
                          <a:latin typeface="Calibri"/>
                        </a:rPr>
                        <a:t>1,581</a:t>
                      </a:r>
                    </a:p>
                  </a:txBody>
                  <a:tcPr anchor="ctr" marL="27432" marR="27432" marT="4572" marB="4572">
                    <a:lnL w="6350">
                      <a:solidFill>
                        <a:srgbClr val="E2E7F2"/>
                      </a:solidFill>
                    </a:lnL>
                    <a:lnR w="6350">
                      <a:solidFill>
                        <a:srgbClr val="E2E7F2"/>
                      </a:solidFill>
                    </a:lnR>
                    <a:lnT w="6350">
                      <a:solidFill>
                        <a:srgbClr val="E2E7F2"/>
                      </a:solidFill>
                    </a:lnT>
                    <a:lnB w="6350">
                      <a:solidFill>
                        <a:srgbClr val="E2E7F2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wrap="none"/>
                    <a:lstStyle/>
                    <a:p>
                      <a:pPr algn="r"/>
                      <a:r>
                        <a:rPr sz="850" b="1">
                          <a:solidFill>
                            <a:srgbClr val="26292E"/>
                          </a:solidFill>
                          <a:latin typeface="Calibri"/>
                        </a:rPr>
                        <a:t>1,586</a:t>
                      </a:r>
                    </a:p>
                  </a:txBody>
                  <a:tcPr anchor="ctr" marL="27432" marR="27432" marT="4572" marB="4572">
                    <a:lnL w="6350">
                      <a:solidFill>
                        <a:srgbClr val="E2E7F2"/>
                      </a:solidFill>
                    </a:lnL>
                    <a:lnR w="6350">
                      <a:solidFill>
                        <a:srgbClr val="E2E7F2"/>
                      </a:solidFill>
                    </a:lnR>
                    <a:lnT w="6350">
                      <a:solidFill>
                        <a:srgbClr val="E2E7F2"/>
                      </a:solidFill>
                    </a:lnT>
                    <a:lnB w="6350">
                      <a:solidFill>
                        <a:srgbClr val="E2E7F2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wrap="none"/>
                    <a:lstStyle/>
                    <a:p>
                      <a:pPr algn="r"/>
                      <a:r>
                        <a:rPr sz="850" b="1">
                          <a:solidFill>
                            <a:srgbClr val="26292E"/>
                          </a:solidFill>
                          <a:latin typeface="Calibri"/>
                        </a:rPr>
                        <a:t>1,289</a:t>
                      </a:r>
                    </a:p>
                  </a:txBody>
                  <a:tcPr anchor="ctr" marL="27432" marR="27432" marT="4572" marB="4572">
                    <a:lnL w="6350">
                      <a:solidFill>
                        <a:srgbClr val="E2E7F2"/>
                      </a:solidFill>
                    </a:lnL>
                    <a:lnR w="6350">
                      <a:solidFill>
                        <a:srgbClr val="E2E7F2"/>
                      </a:solidFill>
                    </a:lnR>
                    <a:lnT w="6350">
                      <a:solidFill>
                        <a:srgbClr val="E2E7F2"/>
                      </a:solidFill>
                    </a:lnT>
                    <a:lnB w="6350">
                      <a:solidFill>
                        <a:srgbClr val="E2E7F2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wrap="none"/>
                    <a:lstStyle/>
                    <a:p>
                      <a:pPr algn="r"/>
                      <a:r>
                        <a:rPr sz="850" b="1">
                          <a:solidFill>
                            <a:srgbClr val="26292E"/>
                          </a:solidFill>
                          <a:latin typeface="Calibri"/>
                        </a:rPr>
                        <a:t>1,450</a:t>
                      </a:r>
                    </a:p>
                  </a:txBody>
                  <a:tcPr anchor="ctr" marL="27432" marR="27432" marT="4572" marB="4572">
                    <a:lnL w="6350">
                      <a:solidFill>
                        <a:srgbClr val="E2E7F2"/>
                      </a:solidFill>
                    </a:lnL>
                    <a:lnR w="6350">
                      <a:solidFill>
                        <a:srgbClr val="E2E7F2"/>
                      </a:solidFill>
                    </a:lnR>
                    <a:lnT w="6350">
                      <a:solidFill>
                        <a:srgbClr val="E2E7F2"/>
                      </a:solidFill>
                    </a:lnT>
                    <a:lnB w="6350">
                      <a:solidFill>
                        <a:srgbClr val="E2E7F2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wrap="none"/>
                    <a:lstStyle/>
                    <a:p>
                      <a:pPr algn="r"/>
                      <a:r>
                        <a:rPr sz="850" b="1">
                          <a:solidFill>
                            <a:srgbClr val="26292E"/>
                          </a:solidFill>
                          <a:latin typeface="Calibri"/>
                        </a:rPr>
                        <a:t>1,188</a:t>
                      </a:r>
                    </a:p>
                  </a:txBody>
                  <a:tcPr anchor="ctr" marL="27432" marR="27432" marT="4572" marB="4572">
                    <a:lnL w="6350">
                      <a:solidFill>
                        <a:srgbClr val="E2E7F2"/>
                      </a:solidFill>
                    </a:lnL>
                    <a:lnR w="6350">
                      <a:solidFill>
                        <a:srgbClr val="E2E7F2"/>
                      </a:solidFill>
                    </a:lnR>
                    <a:lnT w="6350">
                      <a:solidFill>
                        <a:srgbClr val="E2E7F2"/>
                      </a:solidFill>
                    </a:lnT>
                    <a:lnB w="6350">
                      <a:solidFill>
                        <a:srgbClr val="E2E7F2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wrap="none"/>
                    <a:lstStyle/>
                    <a:p>
                      <a:pPr algn="r"/>
                      <a:r>
                        <a:rPr sz="850" b="1">
                          <a:solidFill>
                            <a:srgbClr val="26292E"/>
                          </a:solidFill>
                          <a:latin typeface="Calibri"/>
                        </a:rPr>
                        <a:t>1,087</a:t>
                      </a:r>
                    </a:p>
                  </a:txBody>
                  <a:tcPr anchor="ctr" marL="27432" marR="27432" marT="4572" marB="4572">
                    <a:lnL w="6350">
                      <a:solidFill>
                        <a:srgbClr val="E2E7F2"/>
                      </a:solidFill>
                    </a:lnL>
                    <a:lnR w="6350">
                      <a:solidFill>
                        <a:srgbClr val="E2E7F2"/>
                      </a:solidFill>
                    </a:lnR>
                    <a:lnT w="6350">
                      <a:solidFill>
                        <a:srgbClr val="E2E7F2"/>
                      </a:solidFill>
                    </a:lnT>
                    <a:lnB w="6350">
                      <a:solidFill>
                        <a:srgbClr val="E2E7F2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wrap="none"/>
                    <a:lstStyle/>
                    <a:p>
                      <a:pPr algn="r"/>
                      <a:r>
                        <a:rPr sz="850" b="1">
                          <a:solidFill>
                            <a:srgbClr val="26292E"/>
                          </a:solidFill>
                          <a:latin typeface="Calibri"/>
                        </a:rPr>
                        <a:t>1,375</a:t>
                      </a:r>
                    </a:p>
                  </a:txBody>
                  <a:tcPr anchor="ctr" marL="27432" marR="27432" marT="4572" marB="4572">
                    <a:lnL w="6350">
                      <a:solidFill>
                        <a:srgbClr val="E2E7F2"/>
                      </a:solidFill>
                    </a:lnL>
                    <a:lnR w="6350">
                      <a:solidFill>
                        <a:srgbClr val="E2E7F2"/>
                      </a:solidFill>
                    </a:lnR>
                    <a:lnT w="6350">
                      <a:solidFill>
                        <a:srgbClr val="E2E7F2"/>
                      </a:solidFill>
                    </a:lnT>
                    <a:lnB w="6350">
                      <a:solidFill>
                        <a:srgbClr val="E2E7F2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wrap="none"/>
                    <a:lstStyle/>
                    <a:p>
                      <a:pPr algn="r"/>
                      <a:r>
                        <a:rPr sz="850" b="1">
                          <a:solidFill>
                            <a:srgbClr val="C62828"/>
                          </a:solidFill>
                          <a:latin typeface="Calibri"/>
                        </a:rPr>
                        <a:t>-5.2%</a:t>
                      </a:r>
                    </a:p>
                  </a:txBody>
                  <a:tcPr anchor="ctr" marL="27432" marR="27432" marT="4572" marB="4572">
                    <a:lnL w="6350">
                      <a:solidFill>
                        <a:srgbClr val="E2E7F2"/>
                      </a:solidFill>
                    </a:lnL>
                    <a:lnR w="6350">
                      <a:solidFill>
                        <a:srgbClr val="E2E7F2"/>
                      </a:solidFill>
                    </a:lnR>
                    <a:lnT w="6350">
                      <a:solidFill>
                        <a:srgbClr val="E2E7F2"/>
                      </a:solidFill>
                    </a:lnT>
                    <a:lnB w="6350">
                      <a:solidFill>
                        <a:srgbClr val="E2E7F2"/>
                      </a:solidFill>
                    </a:lnB>
                    <a:solidFill>
                      <a:srgbClr val="FFFFFF"/>
                    </a:solidFill>
                  </a:tcPr>
                </a:tc>
              </a:tr>
              <a:tr h="214884">
                <a:tc>
                  <a:txBody>
                    <a:bodyPr wrap="none"/>
                    <a:lstStyle/>
                    <a:p>
                      <a:pPr algn="l"/>
                      <a:r>
                        <a:rPr sz="850" b="0">
                          <a:solidFill>
                            <a:srgbClr val="595959"/>
                          </a:solidFill>
                          <a:latin typeface="Calibri"/>
                        </a:rPr>
                        <a:t>   ’25</a:t>
                      </a:r>
                    </a:p>
                  </a:txBody>
                  <a:tcPr anchor="ctr" marL="27432" marR="27432" marT="4572" marB="4572">
                    <a:lnL w="6350">
                      <a:solidFill>
                        <a:srgbClr val="E2E7F2"/>
                      </a:solidFill>
                    </a:lnL>
                    <a:lnR w="6350">
                      <a:solidFill>
                        <a:srgbClr val="E2E7F2"/>
                      </a:solidFill>
                    </a:lnR>
                    <a:lnT w="6350">
                      <a:solidFill>
                        <a:srgbClr val="E2E7F2"/>
                      </a:solidFill>
                    </a:lnT>
                    <a:lnB w="6350">
                      <a:solidFill>
                        <a:srgbClr val="E2E7F2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wrap="none"/>
                    <a:lstStyle/>
                    <a:p>
                      <a:pPr algn="r"/>
                      <a:r>
                        <a:rPr sz="850" b="0">
                          <a:solidFill>
                            <a:srgbClr val="595959"/>
                          </a:solidFill>
                          <a:latin typeface="Calibri"/>
                        </a:rPr>
                        <a:t>1,710</a:t>
                      </a:r>
                    </a:p>
                  </a:txBody>
                  <a:tcPr anchor="ctr" marL="27432" marR="27432" marT="4572" marB="4572">
                    <a:lnL w="6350">
                      <a:solidFill>
                        <a:srgbClr val="E2E7F2"/>
                      </a:solidFill>
                    </a:lnL>
                    <a:lnR w="6350">
                      <a:solidFill>
                        <a:srgbClr val="E2E7F2"/>
                      </a:solidFill>
                    </a:lnR>
                    <a:lnT w="6350">
                      <a:solidFill>
                        <a:srgbClr val="E2E7F2"/>
                      </a:solidFill>
                    </a:lnT>
                    <a:lnB w="6350">
                      <a:solidFill>
                        <a:srgbClr val="E2E7F2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wrap="none"/>
                    <a:lstStyle/>
                    <a:p>
                      <a:pPr algn="r"/>
                      <a:r>
                        <a:rPr sz="850" b="0">
                          <a:solidFill>
                            <a:srgbClr val="595959"/>
                          </a:solidFill>
                          <a:latin typeface="Calibri"/>
                        </a:rPr>
                        <a:t>1,630</a:t>
                      </a:r>
                    </a:p>
                  </a:txBody>
                  <a:tcPr anchor="ctr" marL="27432" marR="27432" marT="4572" marB="4572">
                    <a:lnL w="6350">
                      <a:solidFill>
                        <a:srgbClr val="E2E7F2"/>
                      </a:solidFill>
                    </a:lnL>
                    <a:lnR w="6350">
                      <a:solidFill>
                        <a:srgbClr val="E2E7F2"/>
                      </a:solidFill>
                    </a:lnR>
                    <a:lnT w="6350">
                      <a:solidFill>
                        <a:srgbClr val="E2E7F2"/>
                      </a:solidFill>
                    </a:lnT>
                    <a:lnB w="6350">
                      <a:solidFill>
                        <a:srgbClr val="E2E7F2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wrap="none"/>
                    <a:lstStyle/>
                    <a:p>
                      <a:pPr algn="r"/>
                      <a:r>
                        <a:rPr sz="850" b="0">
                          <a:solidFill>
                            <a:srgbClr val="595959"/>
                          </a:solidFill>
                          <a:latin typeface="Calibri"/>
                        </a:rPr>
                        <a:t>1,423</a:t>
                      </a:r>
                    </a:p>
                  </a:txBody>
                  <a:tcPr anchor="ctr" marL="27432" marR="27432" marT="4572" marB="4572">
                    <a:lnL w="6350">
                      <a:solidFill>
                        <a:srgbClr val="E2E7F2"/>
                      </a:solidFill>
                    </a:lnL>
                    <a:lnR w="6350">
                      <a:solidFill>
                        <a:srgbClr val="E2E7F2"/>
                      </a:solidFill>
                    </a:lnR>
                    <a:lnT w="6350">
                      <a:solidFill>
                        <a:srgbClr val="E2E7F2"/>
                      </a:solidFill>
                    </a:lnT>
                    <a:lnB w="6350">
                      <a:solidFill>
                        <a:srgbClr val="E2E7F2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wrap="none"/>
                    <a:lstStyle/>
                    <a:p>
                      <a:pPr algn="r"/>
                      <a:r>
                        <a:rPr sz="850" b="0">
                          <a:solidFill>
                            <a:srgbClr val="595959"/>
                          </a:solidFill>
                          <a:latin typeface="Calibri"/>
                        </a:rPr>
                        <a:t>1,356</a:t>
                      </a:r>
                    </a:p>
                  </a:txBody>
                  <a:tcPr anchor="ctr" marL="27432" marR="27432" marT="4572" marB="4572">
                    <a:lnL w="6350">
                      <a:solidFill>
                        <a:srgbClr val="E2E7F2"/>
                      </a:solidFill>
                    </a:lnL>
                    <a:lnR w="6350">
                      <a:solidFill>
                        <a:srgbClr val="E2E7F2"/>
                      </a:solidFill>
                    </a:lnR>
                    <a:lnT w="6350">
                      <a:solidFill>
                        <a:srgbClr val="E2E7F2"/>
                      </a:solidFill>
                    </a:lnT>
                    <a:lnB w="6350">
                      <a:solidFill>
                        <a:srgbClr val="E2E7F2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wrap="none"/>
                    <a:lstStyle/>
                    <a:p>
                      <a:pPr algn="r"/>
                      <a:r>
                        <a:rPr sz="850" b="0">
                          <a:solidFill>
                            <a:srgbClr val="595959"/>
                          </a:solidFill>
                          <a:latin typeface="Calibri"/>
                        </a:rPr>
                        <a:t>1,260</a:t>
                      </a:r>
                    </a:p>
                  </a:txBody>
                  <a:tcPr anchor="ctr" marL="27432" marR="27432" marT="4572" marB="4572">
                    <a:lnL w="6350">
                      <a:solidFill>
                        <a:srgbClr val="E2E7F2"/>
                      </a:solidFill>
                    </a:lnL>
                    <a:lnR w="6350">
                      <a:solidFill>
                        <a:srgbClr val="E2E7F2"/>
                      </a:solidFill>
                    </a:lnR>
                    <a:lnT w="6350">
                      <a:solidFill>
                        <a:srgbClr val="E2E7F2"/>
                      </a:solidFill>
                    </a:lnT>
                    <a:lnB w="6350">
                      <a:solidFill>
                        <a:srgbClr val="E2E7F2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wrap="none"/>
                    <a:lstStyle/>
                    <a:p>
                      <a:pPr algn="r"/>
                      <a:r>
                        <a:rPr sz="850" b="0">
                          <a:solidFill>
                            <a:srgbClr val="595959"/>
                          </a:solidFill>
                          <a:latin typeface="Calibri"/>
                        </a:rPr>
                        <a:t>1,212</a:t>
                      </a:r>
                    </a:p>
                  </a:txBody>
                  <a:tcPr anchor="ctr" marL="27432" marR="27432" marT="4572" marB="4572">
                    <a:lnL w="6350">
                      <a:solidFill>
                        <a:srgbClr val="E2E7F2"/>
                      </a:solidFill>
                    </a:lnL>
                    <a:lnR w="6350">
                      <a:solidFill>
                        <a:srgbClr val="E2E7F2"/>
                      </a:solidFill>
                    </a:lnR>
                    <a:lnT w="6350">
                      <a:solidFill>
                        <a:srgbClr val="E2E7F2"/>
                      </a:solidFill>
                    </a:lnT>
                    <a:lnB w="6350">
                      <a:solidFill>
                        <a:srgbClr val="E2E7F2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wrap="none"/>
                    <a:lstStyle/>
                    <a:p>
                      <a:pPr algn="r"/>
                      <a:r>
                        <a:rPr sz="850" b="0">
                          <a:solidFill>
                            <a:srgbClr val="595959"/>
                          </a:solidFill>
                          <a:latin typeface="Calibri"/>
                        </a:rPr>
                        <a:t>1,451</a:t>
                      </a:r>
                    </a:p>
                  </a:txBody>
                  <a:tcPr anchor="ctr" marL="27432" marR="27432" marT="4572" marB="4572">
                    <a:lnL w="6350">
                      <a:solidFill>
                        <a:srgbClr val="E2E7F2"/>
                      </a:solidFill>
                    </a:lnL>
                    <a:lnR w="6350">
                      <a:solidFill>
                        <a:srgbClr val="E2E7F2"/>
                      </a:solidFill>
                    </a:lnR>
                    <a:lnT w="6350">
                      <a:solidFill>
                        <a:srgbClr val="E2E7F2"/>
                      </a:solidFill>
                    </a:lnT>
                    <a:lnB w="6350">
                      <a:solidFill>
                        <a:srgbClr val="E2E7F2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wrap="none"/>
                    <a:lstStyle/>
                    <a:p>
                      <a:pPr algn="l"/>
                      <a:r>
                        <a:rPr sz="850" b="0">
                          <a:solidFill>
                            <a:srgbClr val="26292E"/>
                          </a:solidFill>
                          <a:latin typeface="Calibri"/>
                        </a:rPr>
                        <a:t/>
                      </a:r>
                    </a:p>
                  </a:txBody>
                  <a:tcPr anchor="ctr" marL="27432" marR="27432" marT="4572" marB="4572">
                    <a:lnL w="6350">
                      <a:solidFill>
                        <a:srgbClr val="E2E7F2"/>
                      </a:solidFill>
                    </a:lnL>
                    <a:lnR w="6350">
                      <a:solidFill>
                        <a:srgbClr val="E2E7F2"/>
                      </a:solidFill>
                    </a:lnR>
                    <a:lnT w="6350">
                      <a:solidFill>
                        <a:srgbClr val="E2E7F2"/>
                      </a:solidFill>
                    </a:lnT>
                    <a:lnB w="6350">
                      <a:solidFill>
                        <a:srgbClr val="E2E7F2"/>
                      </a:solidFill>
                    </a:lnB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  <p:sp>
        <p:nvSpPr>
          <p:cNvPr id="11" name="TextBox 10"/>
          <p:cNvSpPr txBox="1"/>
          <p:nvPr/>
        </p:nvSpPr>
        <p:spPr>
          <a:xfrm>
            <a:off x="548640" y="5372100"/>
            <a:ext cx="10881360" cy="320040"/>
          </a:xfrm>
          <a:prstGeom prst="rect">
            <a:avLst/>
          </a:prstGeom>
          <a:noFill/>
        </p:spPr>
        <p:txBody>
          <a:bodyPr wrap="none" lIns="0" tIns="0">
            <a:spAutoFit/>
          </a:bodyPr>
          <a:lstStyle/>
          <a:p>
            <a:r>
              <a:rPr sz="900">
                <a:solidFill>
                  <a:srgbClr val="595959"/>
                </a:solidFill>
                <a:latin typeface="Calibri"/>
              </a:rPr>
              <a:t>Deepest H1 rate cut: Corporate LS (-28.5%) · '–' = no rooms sold that month.</a:t>
            </a:r>
          </a:p>
        </p:txBody>
      </p:sp>
    </p:spTree>
  </p:cSld>
  <p:clrMapOvr>
    <a:masterClrMapping/>
  </p:clrMapOvr>
</p:sld>
</file>

<file path=ppt/slides/slide4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7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292608"/>
            <a:ext cx="8229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b="1" kern="0" spc="200" dirty="0">
                <a:solidFill>
                  <a:srgbClr val="D9A44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SECTION 6 · LYF SUKHUMVIT 8 BANGKOK (LYF)</a:t>
            </a:r>
            <a:endParaRPr lang="en-US" sz="1100" dirty="0"/>
          </a:p>
        </p:txBody>
      </p:sp>
      <p:sp>
        <p:nvSpPr>
          <p:cNvPr id="3" name="Text 1"/>
          <p:cNvSpPr/>
          <p:nvPr/>
        </p:nvSpPr>
        <p:spPr>
          <a:xfrm>
            <a:off x="548640" y="502920"/>
            <a:ext cx="11091672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800" b="1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lyf Sukhumvit 8 Bangkok (LYF) — guest nationality — room nights &amp; change (H1)</a:t>
            </a:r>
            <a:endParaRPr lang="en-US" sz="2800" dirty="0"/>
          </a:p>
        </p:txBody>
      </p:sp>
      <p:sp>
        <p:nvSpPr>
          <p:cNvPr id="4" name="Text 2"/>
          <p:cNvSpPr/>
          <p:nvPr/>
        </p:nvSpPr>
        <p:spPr>
          <a:xfrm>
            <a:off x="548640" y="1060704"/>
            <a:ext cx="11091672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5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Top 10 nationalities · H1 room nights 2026 vs 2025 (left) · change vs last year (right)</a:t>
            </a:r>
            <a:endParaRPr lang="en-US" sz="1250" dirty="0"/>
          </a:p>
        </p:txBody>
      </p:sp>
      <p:sp>
        <p:nvSpPr>
          <p:cNvPr id="5" name="Text 3"/>
          <p:cNvSpPr/>
          <p:nvPr/>
        </p:nvSpPr>
        <p:spPr>
          <a:xfrm>
            <a:off x="8165592" y="310896"/>
            <a:ext cx="34747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90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Mitsui Thailand Portfolio · H1 2026</a:t>
            </a:r>
            <a:endParaRPr lang="en-US" sz="900" dirty="0"/>
          </a:p>
        </p:txBody>
      </p:sp>
      <p:graphicFrame>
        <p:nvGraphicFramePr>
          <p:cNvPr id="6" name="Chart 0"/>
          <p:cNvGraphicFramePr/>
          <p:nvPr/>
        </p:nvGraphicFramePr>
        <p:xfrm>
          <a:off x="548640" y="1737360"/>
          <a:ext cx="5394960" cy="4434840"/>
        </p:xfrm>
        <a:graphic>
          <a:graphicData uri="http://schemas.openxmlformats.org/drawingml/2006/chart">
            <c:chart xmlns:c="http://schemas.openxmlformats.org/drawingml/2006/chart" xmlns:r="http://schemas.openxmlformats.org/officeDocument/2006/relationships" r:id="rId3"/>
          </a:graphicData>
        </a:graphic>
      </p:graphicFrame>
      <p:sp>
        <p:nvSpPr>
          <p:cNvPr id="9" name="Text 4"/>
          <p:cNvSpPr/>
          <p:nvPr/>
        </p:nvSpPr>
        <p:spPr>
          <a:xfrm>
            <a:off x="548640" y="6309360"/>
            <a:ext cx="10881360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50" i="1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Biggest H1 gain: Indonesia (+2,017 RN) · biggest decline: USA (-559 RN). A 2025 bar of 0 = outside 2025's top-10 · change table follows the 2026 top-10, 'new' = outside 2025's top-10.</a:t>
            </a:r>
            <a:endParaRPr lang="en-US" sz="1050" dirty="0"/>
          </a:p>
        </p:txBody>
      </p:sp>
      <p:sp>
        <p:nvSpPr>
          <p:cNvPr id="7" name="TextBox 6">
            <a:extLst>
              <a:ext uri="{FF2B5EF4-FFF2-40B4-BE49-F238E27FC236}">
                <a16:creationId xmlns:a16="http://schemas.microsoft.com/office/drawing/2014/main" id="{C0D16DE3-DA0C-C11C-50DC-36EFD5989D57}"/>
              </a:ext>
            </a:extLst>
          </p:cNvPr>
          <p:cNvSpPr txBox="1"/>
          <p:nvPr/>
        </p:nvSpPr>
        <p:spPr>
          <a:xfrm>
            <a:off x="9177921" y="3496909"/>
            <a:ext cx="3741666" cy="38014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dirty="0"/>
              <a:t>Checking SG </a:t>
            </a:r>
            <a:r>
              <a:rPr lang="en-US" dirty="0" err="1"/>
              <a:t>arrival.Indonesia</a:t>
            </a:r>
            <a:r>
              <a:rPr lang="en-US" dirty="0"/>
              <a:t>)?)</a:t>
            </a:r>
          </a:p>
        </p:txBody>
      </p:sp>
      <p:graphicFrame>
        <p:nvGraphicFramePr>
          <p:cNvPr id="900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6903720" y="2240280"/>
          <a:ext cx="3867912" cy="3072384"/>
        </p:xfrm>
        <a:graphic>
          <a:graphicData uri="http://schemas.openxmlformats.org/drawingml/2006/table">
            <a:tbl>
              <a:tblPr/>
              <a:tblGrid>
                <a:gridCol w="1307592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64008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640080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658368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  <a:gridCol w="621792">
                  <a:extLst>
                    <a:ext uri="{9D8B030D-6E8A-4147-A177-3AD203B41FA5}">
                      <a16:colId xmlns:a16="http://schemas.microsoft.com/office/drawing/2014/main" val="20004"/>
                    </a:ext>
                  </a:extLst>
                </a:gridCol>
              </a:tblGrid>
              <a:tr h="256032"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85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Nationality</a:t>
                      </a:r>
                      <a:endParaRPr lang="en-US" sz="8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E2E7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7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7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7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E2761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85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H1 25</a:t>
                      </a:r>
                      <a:endParaRPr lang="en-US" sz="8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E2E7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7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7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7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E2761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85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H1 26</a:t>
                      </a:r>
                      <a:endParaRPr lang="en-US" sz="8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E2E7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7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7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7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E2761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85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Chg</a:t>
                      </a:r>
                      <a:endParaRPr lang="en-US" sz="8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E2E7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7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7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7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E2761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85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%</a:t>
                      </a:r>
                      <a:endParaRPr lang="en-US" sz="8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E2E7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7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7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7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E276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256032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850" b="1" dirty="0">
                          <a:solidFill>
                            <a:srgbClr val="26292E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China</a:t>
                      </a:r>
                      <a:endParaRPr lang="en-US" sz="8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E2E7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7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7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7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r">
                        <a:buNone/>
                      </a:pPr>
                      <a:r>
                        <a:rPr lang="en-US" sz="850" dirty="0">
                          <a:solidFill>
                            <a:srgbClr val="26292E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4,642</a:t>
                      </a:r>
                      <a:endParaRPr lang="en-US" sz="8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E2E7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7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7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7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r">
                        <a:buNone/>
                      </a:pPr>
                      <a:r>
                        <a:rPr lang="en-US" sz="850" dirty="0">
                          <a:solidFill>
                            <a:srgbClr val="26292E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5,954</a:t>
                      </a:r>
                      <a:endParaRPr lang="en-US" sz="8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E2E7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7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7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7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r">
                        <a:buNone/>
                      </a:pPr>
                      <a:r>
                        <a:rPr lang="en-US" sz="850" b="1" dirty="0">
                          <a:solidFill>
                            <a:srgbClr val="2E7D32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+1,312</a:t>
                      </a:r>
                      <a:endParaRPr lang="en-US" sz="8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E2E7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7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7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7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r">
                        <a:buNone/>
                      </a:pPr>
                      <a:r>
                        <a:rPr lang="en-US" sz="850" dirty="0">
                          <a:solidFill>
                            <a:srgbClr val="2E7D32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+28%</a:t>
                      </a:r>
                      <a:endParaRPr lang="en-US" sz="8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E2E7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7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7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7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256032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850" b="1" dirty="0">
                          <a:solidFill>
                            <a:srgbClr val="26292E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Indonesia</a:t>
                      </a:r>
                      <a:endParaRPr lang="en-US" sz="8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E2E7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7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7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7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6FB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r">
                        <a:buNone/>
                      </a:pPr>
                      <a:r>
                        <a:rPr lang="en-US" sz="850" dirty="0">
                          <a:solidFill>
                            <a:srgbClr val="26292E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1,017</a:t>
                      </a:r>
                      <a:endParaRPr lang="en-US" sz="8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E2E7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7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7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7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6FB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r">
                        <a:buNone/>
                      </a:pPr>
                      <a:r>
                        <a:rPr lang="en-US" sz="850" dirty="0">
                          <a:solidFill>
                            <a:srgbClr val="26292E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3,034</a:t>
                      </a:r>
                      <a:endParaRPr lang="en-US" sz="8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E2E7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7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7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7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6FB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r">
                        <a:buNone/>
                      </a:pPr>
                      <a:r>
                        <a:rPr lang="en-US" sz="850" b="1" dirty="0">
                          <a:solidFill>
                            <a:srgbClr val="2E7D32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+2,017</a:t>
                      </a:r>
                      <a:endParaRPr lang="en-US" sz="8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E2E7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7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7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7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6FB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r">
                        <a:buNone/>
                      </a:pPr>
                      <a:r>
                        <a:rPr lang="en-US" sz="850" dirty="0">
                          <a:solidFill>
                            <a:srgbClr val="2E7D32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+198%</a:t>
                      </a:r>
                      <a:endParaRPr lang="en-US" sz="8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E2E7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7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7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7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6FB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256032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850" b="1" dirty="0">
                          <a:solidFill>
                            <a:srgbClr val="26292E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Singapore</a:t>
                      </a:r>
                      <a:endParaRPr lang="en-US" sz="8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E2E7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7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7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7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r">
                        <a:buNone/>
                      </a:pPr>
                      <a:r>
                        <a:rPr lang="en-US" sz="850" dirty="0">
                          <a:solidFill>
                            <a:srgbClr val="26292E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2,762</a:t>
                      </a:r>
                      <a:endParaRPr lang="en-US" sz="8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E2E7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7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7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7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r">
                        <a:buNone/>
                      </a:pPr>
                      <a:r>
                        <a:rPr lang="en-US" sz="850" dirty="0">
                          <a:solidFill>
                            <a:srgbClr val="26292E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2,336</a:t>
                      </a:r>
                      <a:endParaRPr lang="en-US" sz="8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E2E7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7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7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7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r">
                        <a:buNone/>
                      </a:pPr>
                      <a:r>
                        <a:rPr lang="en-US" sz="850" b="1" dirty="0">
                          <a:solidFill>
                            <a:srgbClr val="C0392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-426</a:t>
                      </a:r>
                      <a:endParaRPr lang="en-US" sz="8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E2E7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7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7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7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r">
                        <a:buNone/>
                      </a:pPr>
                      <a:r>
                        <a:rPr lang="en-US" sz="850" dirty="0">
                          <a:solidFill>
                            <a:srgbClr val="C0392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-15%</a:t>
                      </a:r>
                      <a:endParaRPr lang="en-US" sz="8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E2E7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7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7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7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256032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850" b="1" dirty="0">
                          <a:solidFill>
                            <a:srgbClr val="26292E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Malaysia</a:t>
                      </a:r>
                      <a:endParaRPr lang="en-US" sz="8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E2E7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7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7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7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6FB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r">
                        <a:buNone/>
                      </a:pPr>
                      <a:r>
                        <a:rPr lang="en-US" sz="850" dirty="0">
                          <a:solidFill>
                            <a:srgbClr val="26292E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2,138</a:t>
                      </a:r>
                      <a:endParaRPr lang="en-US" sz="8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E2E7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7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7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7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6FB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r">
                        <a:buNone/>
                      </a:pPr>
                      <a:r>
                        <a:rPr lang="en-US" sz="850" dirty="0">
                          <a:solidFill>
                            <a:srgbClr val="26292E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2,120</a:t>
                      </a:r>
                      <a:endParaRPr lang="en-US" sz="8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E2E7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7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7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7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6FB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r">
                        <a:buNone/>
                      </a:pPr>
                      <a:r>
                        <a:rPr lang="en-US" sz="850" b="1" dirty="0">
                          <a:solidFill>
                            <a:srgbClr val="C0392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-18</a:t>
                      </a:r>
                      <a:endParaRPr lang="en-US" sz="8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E2E7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7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7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7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6FB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r">
                        <a:buNone/>
                      </a:pPr>
                      <a:r>
                        <a:rPr lang="en-US" sz="850" dirty="0">
                          <a:solidFill>
                            <a:srgbClr val="C0392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-1%</a:t>
                      </a:r>
                      <a:endParaRPr lang="en-US" sz="8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E2E7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7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7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7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6FB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  <a:tr h="256032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850" b="1" dirty="0">
                          <a:solidFill>
                            <a:srgbClr val="26292E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Taiwan</a:t>
                      </a:r>
                      <a:endParaRPr lang="en-US" sz="8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E2E7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7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7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7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r">
                        <a:buNone/>
                      </a:pPr>
                      <a:r>
                        <a:rPr lang="en-US" sz="850" dirty="0">
                          <a:solidFill>
                            <a:srgbClr val="26292E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1,200</a:t>
                      </a:r>
                      <a:endParaRPr lang="en-US" sz="8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E2E7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7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7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7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r">
                        <a:buNone/>
                      </a:pPr>
                      <a:r>
                        <a:rPr lang="en-US" sz="850" dirty="0">
                          <a:solidFill>
                            <a:srgbClr val="26292E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1,524</a:t>
                      </a:r>
                      <a:endParaRPr lang="en-US" sz="8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E2E7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7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7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7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r">
                        <a:buNone/>
                      </a:pPr>
                      <a:r>
                        <a:rPr lang="en-US" sz="850" b="1" dirty="0">
                          <a:solidFill>
                            <a:srgbClr val="2E7D32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+324</a:t>
                      </a:r>
                      <a:endParaRPr lang="en-US" sz="8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E2E7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7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7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7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r">
                        <a:buNone/>
                      </a:pPr>
                      <a:r>
                        <a:rPr lang="en-US" sz="850" dirty="0">
                          <a:solidFill>
                            <a:srgbClr val="2E7D32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+27%</a:t>
                      </a:r>
                      <a:endParaRPr lang="en-US" sz="8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E2E7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7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7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7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5"/>
                  </a:ext>
                </a:extLst>
              </a:tr>
              <a:tr h="256032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850" b="1" dirty="0">
                          <a:solidFill>
                            <a:srgbClr val="26292E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Thailand</a:t>
                      </a:r>
                      <a:endParaRPr lang="en-US" sz="8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E2E7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7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7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7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6FB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r">
                        <a:buNone/>
                      </a:pPr>
                      <a:r>
                        <a:rPr lang="en-US" sz="850" dirty="0">
                          <a:solidFill>
                            <a:srgbClr val="26292E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1,873</a:t>
                      </a:r>
                      <a:endParaRPr lang="en-US" sz="8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E2E7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7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7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7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6FB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r">
                        <a:buNone/>
                      </a:pPr>
                      <a:r>
                        <a:rPr lang="en-US" sz="850" dirty="0">
                          <a:solidFill>
                            <a:srgbClr val="26292E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1,463</a:t>
                      </a:r>
                      <a:endParaRPr lang="en-US" sz="8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E2E7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7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7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7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6FB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r">
                        <a:buNone/>
                      </a:pPr>
                      <a:r>
                        <a:rPr lang="en-US" sz="850" b="1" dirty="0">
                          <a:solidFill>
                            <a:srgbClr val="C0392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-410</a:t>
                      </a:r>
                      <a:endParaRPr lang="en-US" sz="8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E2E7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7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7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7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6FB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r">
                        <a:buNone/>
                      </a:pPr>
                      <a:r>
                        <a:rPr lang="en-US" sz="850" dirty="0">
                          <a:solidFill>
                            <a:srgbClr val="C0392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-22%</a:t>
                      </a:r>
                      <a:endParaRPr lang="en-US" sz="8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E2E7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7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7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7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6FB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6"/>
                  </a:ext>
                </a:extLst>
              </a:tr>
              <a:tr h="256032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850" b="1" dirty="0">
                          <a:solidFill>
                            <a:srgbClr val="26292E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USA</a:t>
                      </a:r>
                      <a:endParaRPr lang="en-US" sz="8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E2E7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7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7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7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r">
                        <a:buNone/>
                      </a:pPr>
                      <a:r>
                        <a:rPr lang="en-US" sz="850" dirty="0">
                          <a:solidFill>
                            <a:srgbClr val="26292E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1,999</a:t>
                      </a:r>
                      <a:endParaRPr lang="en-US" sz="8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E2E7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7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7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7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r">
                        <a:buNone/>
                      </a:pPr>
                      <a:r>
                        <a:rPr lang="en-US" sz="850" dirty="0">
                          <a:solidFill>
                            <a:srgbClr val="26292E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1,440</a:t>
                      </a:r>
                      <a:endParaRPr lang="en-US" sz="8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E2E7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7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7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7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r">
                        <a:buNone/>
                      </a:pPr>
                      <a:r>
                        <a:rPr lang="en-US" sz="850" b="1" dirty="0">
                          <a:solidFill>
                            <a:srgbClr val="C0392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-559</a:t>
                      </a:r>
                      <a:endParaRPr lang="en-US" sz="8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E2E7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7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7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7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r">
                        <a:buNone/>
                      </a:pPr>
                      <a:r>
                        <a:rPr lang="en-US" sz="850" dirty="0">
                          <a:solidFill>
                            <a:srgbClr val="C0392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-28%</a:t>
                      </a:r>
                      <a:endParaRPr lang="en-US" sz="8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E2E7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7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7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7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7"/>
                  </a:ext>
                </a:extLst>
              </a:tr>
              <a:tr h="256032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850" b="1" dirty="0">
                          <a:solidFill>
                            <a:srgbClr val="26292E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Japan</a:t>
                      </a:r>
                      <a:endParaRPr lang="en-US" sz="8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E2E7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7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7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7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6FB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r">
                        <a:buNone/>
                      </a:pPr>
                      <a:r>
                        <a:rPr lang="en-US" sz="850" dirty="0">
                          <a:solidFill>
                            <a:srgbClr val="26292E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926</a:t>
                      </a:r>
                      <a:endParaRPr lang="en-US" sz="8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E2E7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7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7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7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6FB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r">
                        <a:buNone/>
                      </a:pPr>
                      <a:r>
                        <a:rPr lang="en-US" sz="850" dirty="0">
                          <a:solidFill>
                            <a:srgbClr val="26292E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1,038</a:t>
                      </a:r>
                      <a:endParaRPr lang="en-US" sz="8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E2E7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7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7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7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6FB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r">
                        <a:buNone/>
                      </a:pPr>
                      <a:r>
                        <a:rPr lang="en-US" sz="850" b="1" dirty="0">
                          <a:solidFill>
                            <a:srgbClr val="2E7D32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+112</a:t>
                      </a:r>
                      <a:endParaRPr lang="en-US" sz="8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E2E7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7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7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7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6FB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r">
                        <a:buNone/>
                      </a:pPr>
                      <a:r>
                        <a:rPr lang="en-US" sz="850" dirty="0">
                          <a:solidFill>
                            <a:srgbClr val="2E7D32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+12%</a:t>
                      </a:r>
                      <a:endParaRPr lang="en-US" sz="8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E2E7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7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7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7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6FB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8"/>
                  </a:ext>
                </a:extLst>
              </a:tr>
              <a:tr h="256032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850" b="1" dirty="0">
                          <a:solidFill>
                            <a:srgbClr val="26292E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UK</a:t>
                      </a:r>
                      <a:endParaRPr lang="en-US" sz="8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E2E7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7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7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7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r">
                        <a:buNone/>
                      </a:pPr>
                      <a:r>
                        <a:rPr lang="en-US" sz="850" dirty="0">
                          <a:solidFill>
                            <a:srgbClr val="26292E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1,201</a:t>
                      </a:r>
                      <a:endParaRPr lang="en-US" sz="8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E2E7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7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7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7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r">
                        <a:buNone/>
                      </a:pPr>
                      <a:r>
                        <a:rPr lang="en-US" sz="850" dirty="0">
                          <a:solidFill>
                            <a:srgbClr val="26292E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809</a:t>
                      </a:r>
                      <a:endParaRPr lang="en-US" sz="8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E2E7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7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7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7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r">
                        <a:buNone/>
                      </a:pPr>
                      <a:r>
                        <a:rPr lang="en-US" sz="850" b="1" dirty="0">
                          <a:solidFill>
                            <a:srgbClr val="C0392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-392</a:t>
                      </a:r>
                      <a:endParaRPr lang="en-US" sz="8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E2E7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7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7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7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r">
                        <a:buNone/>
                      </a:pPr>
                      <a:r>
                        <a:rPr lang="en-US" sz="850" dirty="0">
                          <a:solidFill>
                            <a:srgbClr val="C0392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-33%</a:t>
                      </a:r>
                      <a:endParaRPr lang="en-US" sz="8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E2E7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7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7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7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9"/>
                  </a:ext>
                </a:extLst>
              </a:tr>
              <a:tr h="256032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850" b="1" dirty="0">
                          <a:solidFill>
                            <a:srgbClr val="26292E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Germany</a:t>
                      </a:r>
                      <a:endParaRPr lang="en-US" sz="8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E2E7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7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7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7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6FB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r">
                        <a:buNone/>
                      </a:pPr>
                      <a:r>
                        <a:rPr lang="en-US" sz="850" dirty="0">
                          <a:solidFill>
                            <a:srgbClr val="26292E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—</a:t>
                      </a:r>
                      <a:endParaRPr lang="en-US" sz="8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E2E7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7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7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7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6FB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r">
                        <a:buNone/>
                      </a:pPr>
                      <a:r>
                        <a:rPr lang="en-US" sz="850" dirty="0">
                          <a:solidFill>
                            <a:srgbClr val="26292E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741</a:t>
                      </a:r>
                      <a:endParaRPr lang="en-US" sz="8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E2E7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7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7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7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6FB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r">
                        <a:buNone/>
                      </a:pPr>
                      <a:r>
                        <a:rPr lang="en-US" sz="850" b="1" dirty="0">
                          <a:solidFill>
                            <a:srgbClr val="2E7D32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+741</a:t>
                      </a:r>
                      <a:endParaRPr lang="en-US" sz="8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E2E7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7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7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7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6FB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r">
                        <a:buNone/>
                      </a:pPr>
                      <a:r>
                        <a:rPr lang="en-US" sz="850" dirty="0">
                          <a:solidFill>
                            <a:srgbClr val="2E7D32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new</a:t>
                      </a:r>
                      <a:endParaRPr lang="en-US" sz="8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E2E7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7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7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7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6FB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10"/>
                  </a:ext>
                </a:extLst>
              </a:tr>
              <a:tr h="256032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850" b="1" dirty="0">
                          <a:solidFill>
                            <a:srgbClr val="1E2761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Top-10 total</a:t>
                      </a:r>
                      <a:endParaRPr lang="en-US" sz="8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E2E7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7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7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7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2E7F2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r">
                        <a:buNone/>
                      </a:pPr>
                      <a:r>
                        <a:rPr lang="en-US" sz="850" b="1" dirty="0">
                          <a:solidFill>
                            <a:srgbClr val="1E2761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17,758</a:t>
                      </a:r>
                      <a:endParaRPr lang="en-US" sz="8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E2E7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7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7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7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2E7F2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r">
                        <a:buNone/>
                      </a:pPr>
                      <a:r>
                        <a:rPr lang="en-US" sz="850" b="1" dirty="0">
                          <a:solidFill>
                            <a:srgbClr val="1E2761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20,459</a:t>
                      </a:r>
                      <a:endParaRPr lang="en-US" sz="8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E2E7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7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7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7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2E7F2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r">
                        <a:buNone/>
                      </a:pPr>
                      <a:r>
                        <a:rPr lang="en-US" sz="850" b="1" dirty="0">
                          <a:solidFill>
                            <a:srgbClr val="2E7D32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+2,701</a:t>
                      </a:r>
                      <a:endParaRPr lang="en-US" sz="8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E2E7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7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7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7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2E7F2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r">
                        <a:buNone/>
                      </a:pPr>
                      <a:r>
                        <a:rPr lang="en-US" sz="850" b="1" dirty="0">
                          <a:solidFill>
                            <a:srgbClr val="2E7D32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+15%</a:t>
                      </a:r>
                      <a:endParaRPr lang="en-US" sz="8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E2E7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7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7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7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2E7F2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11"/>
                  </a:ext>
                </a:extLst>
              </a:tr>
            </a:tbl>
          </a:graphicData>
        </a:graphic>
      </p:graphicFrame>
    </p:spTree>
  </p:cSld>
  <p:clrMapOvr>
    <a:masterClrMapping/>
  </p:clrMapOvr>
</p:sld>
</file>

<file path=ppt/slides/slide4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3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292608"/>
            <a:ext cx="8229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b="1" kern="0" spc="200" dirty="0">
                <a:solidFill>
                  <a:srgbClr val="D9A44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SECTION 6 · LYF SUKHUMVIT 8 BANGKOK (LYF)</a:t>
            </a:r>
            <a:endParaRPr lang="en-US" sz="1100" dirty="0"/>
          </a:p>
        </p:txBody>
      </p:sp>
      <p:sp>
        <p:nvSpPr>
          <p:cNvPr id="3" name="Text 1"/>
          <p:cNvSpPr/>
          <p:nvPr/>
        </p:nvSpPr>
        <p:spPr>
          <a:xfrm>
            <a:off x="548640" y="502920"/>
            <a:ext cx="11091672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800" b="1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lyf Sukhumvit 8 Bangkok (LYF) — P&amp;L, H1 2026</a:t>
            </a:r>
            <a:endParaRPr lang="en-US" sz="2800" dirty="0"/>
          </a:p>
        </p:txBody>
      </p:sp>
      <p:sp>
        <p:nvSpPr>
          <p:cNvPr id="4" name="Text 2"/>
          <p:cNvSpPr/>
          <p:nvPr/>
        </p:nvSpPr>
        <p:spPr>
          <a:xfrm>
            <a:off x="548640" y="1060704"/>
            <a:ext cx="11091672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5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YTD Jan–Jun vs MF budget · monthly P&amp;L: actual 2026 vs Budget (MF) and actual 2025 · ฿M</a:t>
            </a:r>
            <a:endParaRPr lang="en-US" sz="1250" dirty="0"/>
          </a:p>
        </p:txBody>
      </p:sp>
      <p:sp>
        <p:nvSpPr>
          <p:cNvPr id="5" name="Text 3"/>
          <p:cNvSpPr/>
          <p:nvPr/>
        </p:nvSpPr>
        <p:spPr>
          <a:xfrm>
            <a:off x="8165592" y="310896"/>
            <a:ext cx="34747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90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Mitsui Thailand Portfolio · H1 2026</a:t>
            </a:r>
            <a:endParaRPr lang="en-US" sz="900" dirty="0"/>
          </a:p>
        </p:txBody>
      </p:sp>
      <p:graphicFrame>
        <p:nvGraphicFramePr>
          <p:cNvPr id="6" name="Chart 0"/>
          <p:cNvGraphicFramePr/>
          <p:nvPr/>
        </p:nvGraphicFramePr>
        <p:xfrm>
          <a:off x="548640" y="1783080"/>
          <a:ext cx="5394960" cy="2011680"/>
        </p:xfrm>
        <a:graphic>
          <a:graphicData uri="http://schemas.openxmlformats.org/drawingml/2006/chart">
            <c:chart xmlns:c="http://schemas.openxmlformats.org/drawingml/2006/chart" xmlns:r="http://schemas.openxmlformats.org/officeDocument/2006/relationships" r:id="rId3"/>
          </a:graphicData>
        </a:graphic>
      </p:graphicFrame>
      <p:graphicFrame>
        <p:nvGraphicFramePr>
          <p:cNvPr id="34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548640" y="3886200"/>
          <a:ext cx="5394960" cy="2414016"/>
        </p:xfrm>
        <a:graphic>
          <a:graphicData uri="http://schemas.openxmlformats.org/drawingml/2006/table">
            <a:tbl>
              <a:tblPr/>
              <a:tblGrid>
                <a:gridCol w="932688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603504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603504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603504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  <a:gridCol w="603504">
                  <a:extLst>
                    <a:ext uri="{9D8B030D-6E8A-4147-A177-3AD203B41FA5}">
                      <a16:colId xmlns:a16="http://schemas.microsoft.com/office/drawing/2014/main" val="20004"/>
                    </a:ext>
                  </a:extLst>
                </a:gridCol>
                <a:gridCol w="603504">
                  <a:extLst>
                    <a:ext uri="{9D8B030D-6E8A-4147-A177-3AD203B41FA5}">
                      <a16:colId xmlns:a16="http://schemas.microsoft.com/office/drawing/2014/main" val="20005"/>
                    </a:ext>
                  </a:extLst>
                </a:gridCol>
                <a:gridCol w="603504">
                  <a:extLst>
                    <a:ext uri="{9D8B030D-6E8A-4147-A177-3AD203B41FA5}">
                      <a16:colId xmlns:a16="http://schemas.microsoft.com/office/drawing/2014/main" val="20006"/>
                    </a:ext>
                  </a:extLst>
                </a:gridCol>
                <a:gridCol w="841248">
                  <a:extLst>
                    <a:ext uri="{9D8B030D-6E8A-4147-A177-3AD203B41FA5}">
                      <a16:colId xmlns:a16="http://schemas.microsoft.com/office/drawing/2014/main" val="20007"/>
                    </a:ext>
                  </a:extLst>
                </a:gridCol>
              </a:tblGrid>
              <a:tr h="150876"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75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฿M</a:t>
                      </a:r>
                      <a:endParaRPr lang="en-US" sz="7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27432" marR="27432" marT="9144" marB="9144" anchor="ctr">
                    <a:lnL w="6350" cap="flat" cmpd="sng" algn="ctr">
                      <a:solidFill>
                        <a:srgbClr val="E2E7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7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7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7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E2761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75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Jan</a:t>
                      </a:r>
                      <a:endParaRPr lang="en-US" sz="7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27432" marR="27432" marT="9144" marB="9144" anchor="ctr">
                    <a:lnL w="6350" cap="flat" cmpd="sng" algn="ctr">
                      <a:solidFill>
                        <a:srgbClr val="E2E7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7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7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7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E2761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75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Feb</a:t>
                      </a:r>
                      <a:endParaRPr lang="en-US" sz="7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27432" marR="27432" marT="9144" marB="9144" anchor="ctr">
                    <a:lnL w="6350" cap="flat" cmpd="sng" algn="ctr">
                      <a:solidFill>
                        <a:srgbClr val="E2E7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7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7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7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E2761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75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Mar</a:t>
                      </a:r>
                      <a:endParaRPr lang="en-US" sz="7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27432" marR="27432" marT="9144" marB="9144" anchor="ctr">
                    <a:lnL w="6350" cap="flat" cmpd="sng" algn="ctr">
                      <a:solidFill>
                        <a:srgbClr val="E2E7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7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7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7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E2761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75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Apr</a:t>
                      </a:r>
                      <a:endParaRPr lang="en-US" sz="7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27432" marR="27432" marT="9144" marB="9144" anchor="ctr">
                    <a:lnL w="6350" cap="flat" cmpd="sng" algn="ctr">
                      <a:solidFill>
                        <a:srgbClr val="E2E7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7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7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7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E2761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75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May</a:t>
                      </a:r>
                      <a:endParaRPr lang="en-US" sz="7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27432" marR="27432" marT="9144" marB="9144" anchor="ctr">
                    <a:lnL w="6350" cap="flat" cmpd="sng" algn="ctr">
                      <a:solidFill>
                        <a:srgbClr val="E2E7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7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7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7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E2761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75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Jun</a:t>
                      </a:r>
                      <a:endParaRPr lang="en-US" sz="7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27432" marR="27432" marT="9144" marB="9144" anchor="ctr">
                    <a:lnL w="6350" cap="flat" cmpd="sng" algn="ctr">
                      <a:solidFill>
                        <a:srgbClr val="E2E7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7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7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7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E2761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75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H1</a:t>
                      </a:r>
                      <a:endParaRPr lang="en-US" sz="7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27432" marR="27432" marT="9144" marB="9144" anchor="ctr">
                    <a:lnL w="6350" cap="flat" cmpd="sng" algn="ctr">
                      <a:solidFill>
                        <a:srgbClr val="E2E7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7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7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7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E276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150876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750" b="1" dirty="0">
                          <a:solidFill>
                            <a:srgbClr val="26292E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Revenue ’26</a:t>
                      </a:r>
                      <a:endParaRPr lang="en-US" sz="7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27432" marR="27432" marT="9144" marB="9144" anchor="ctr">
                    <a:lnL w="6350" cap="flat" cmpd="sng" algn="ctr">
                      <a:solidFill>
                        <a:srgbClr val="E2E7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7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7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7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r">
                        <a:buNone/>
                      </a:pPr>
                      <a:r>
                        <a:rPr lang="en-US" sz="750" dirty="0">
                          <a:solidFill>
                            <a:srgbClr val="26292E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9.3</a:t>
                      </a:r>
                      <a:endParaRPr lang="en-US" sz="7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27432" marR="27432" marT="9144" marB="9144" anchor="ctr">
                    <a:lnL w="6350" cap="flat" cmpd="sng" algn="ctr">
                      <a:solidFill>
                        <a:srgbClr val="E2E7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7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7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7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r">
                        <a:buNone/>
                      </a:pPr>
                      <a:r>
                        <a:rPr lang="en-US" sz="750" dirty="0">
                          <a:solidFill>
                            <a:srgbClr val="26292E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8.6</a:t>
                      </a:r>
                      <a:endParaRPr lang="en-US" sz="7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27432" marR="27432" marT="9144" marB="9144" anchor="ctr">
                    <a:lnL w="6350" cap="flat" cmpd="sng" algn="ctr">
                      <a:solidFill>
                        <a:srgbClr val="E2E7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7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7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7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r">
                        <a:buNone/>
                      </a:pPr>
                      <a:r>
                        <a:rPr lang="en-US" sz="750" dirty="0">
                          <a:solidFill>
                            <a:srgbClr val="26292E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7.2</a:t>
                      </a:r>
                      <a:endParaRPr lang="en-US" sz="7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27432" marR="27432" marT="9144" marB="9144" anchor="ctr">
                    <a:lnL w="6350" cap="flat" cmpd="sng" algn="ctr">
                      <a:solidFill>
                        <a:srgbClr val="E2E7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7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7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7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r">
                        <a:buNone/>
                      </a:pPr>
                      <a:r>
                        <a:rPr lang="en-US" sz="750" dirty="0">
                          <a:solidFill>
                            <a:srgbClr val="26292E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4.5</a:t>
                      </a:r>
                      <a:endParaRPr lang="en-US" sz="7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27432" marR="27432" marT="9144" marB="9144" anchor="ctr">
                    <a:lnL w="6350" cap="flat" cmpd="sng" algn="ctr">
                      <a:solidFill>
                        <a:srgbClr val="E2E7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7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7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7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r">
                        <a:buNone/>
                      </a:pPr>
                      <a:r>
                        <a:rPr lang="en-US" sz="750" dirty="0">
                          <a:solidFill>
                            <a:srgbClr val="26292E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5.6</a:t>
                      </a:r>
                      <a:endParaRPr lang="en-US" sz="7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27432" marR="27432" marT="9144" marB="9144" anchor="ctr">
                    <a:lnL w="6350" cap="flat" cmpd="sng" algn="ctr">
                      <a:solidFill>
                        <a:srgbClr val="E2E7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7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7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7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r">
                        <a:buNone/>
                      </a:pPr>
                      <a:r>
                        <a:rPr lang="en-US" sz="750" dirty="0">
                          <a:solidFill>
                            <a:srgbClr val="26292E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4.7</a:t>
                      </a:r>
                      <a:endParaRPr lang="en-US" sz="7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27432" marR="27432" marT="9144" marB="9144" anchor="ctr">
                    <a:lnL w="6350" cap="flat" cmpd="sng" algn="ctr">
                      <a:solidFill>
                        <a:srgbClr val="E2E7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7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7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7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r">
                        <a:buNone/>
                      </a:pPr>
                      <a:r>
                        <a:rPr lang="en-US" sz="750" b="1" dirty="0">
                          <a:solidFill>
                            <a:srgbClr val="1E2761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40.0</a:t>
                      </a:r>
                      <a:endParaRPr lang="en-US" sz="7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27432" marR="27432" marT="9144" marB="9144" anchor="ctr">
                    <a:lnL w="6350" cap="flat" cmpd="sng" algn="ctr">
                      <a:solidFill>
                        <a:srgbClr val="E2E7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7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7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7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150876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750" dirty="0">
                          <a:solidFill>
                            <a:srgbClr val="6B728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Revenue ’25</a:t>
                      </a:r>
                      <a:endParaRPr lang="en-US" sz="7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27432" marR="27432" marT="9144" marB="9144" anchor="ctr">
                    <a:lnL w="6350" cap="flat" cmpd="sng" algn="ctr">
                      <a:solidFill>
                        <a:srgbClr val="E2E7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7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7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7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r">
                        <a:buNone/>
                      </a:pPr>
                      <a:r>
                        <a:rPr lang="en-US" sz="750" dirty="0">
                          <a:solidFill>
                            <a:srgbClr val="6B728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10.1</a:t>
                      </a:r>
                      <a:endParaRPr lang="en-US" sz="7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27432" marR="27432" marT="9144" marB="9144" anchor="ctr">
                    <a:lnL w="6350" cap="flat" cmpd="sng" algn="ctr">
                      <a:solidFill>
                        <a:srgbClr val="E2E7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7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7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7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r">
                        <a:buNone/>
                      </a:pPr>
                      <a:r>
                        <a:rPr lang="en-US" sz="750" dirty="0">
                          <a:solidFill>
                            <a:srgbClr val="6B728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8.4</a:t>
                      </a:r>
                      <a:endParaRPr lang="en-US" sz="7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27432" marR="27432" marT="9144" marB="9144" anchor="ctr">
                    <a:lnL w="6350" cap="flat" cmpd="sng" algn="ctr">
                      <a:solidFill>
                        <a:srgbClr val="E2E7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7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7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7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r">
                        <a:buNone/>
                      </a:pPr>
                      <a:r>
                        <a:rPr lang="en-US" sz="750" dirty="0">
                          <a:solidFill>
                            <a:srgbClr val="6B728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6.7</a:t>
                      </a:r>
                      <a:endParaRPr lang="en-US" sz="7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27432" marR="27432" marT="9144" marB="9144" anchor="ctr">
                    <a:lnL w="6350" cap="flat" cmpd="sng" algn="ctr">
                      <a:solidFill>
                        <a:srgbClr val="E2E7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7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7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7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r">
                        <a:buNone/>
                      </a:pPr>
                      <a:r>
                        <a:rPr lang="en-US" sz="750" dirty="0">
                          <a:solidFill>
                            <a:srgbClr val="6B728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6.3</a:t>
                      </a:r>
                      <a:endParaRPr lang="en-US" sz="7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27432" marR="27432" marT="9144" marB="9144" anchor="ctr">
                    <a:lnL w="6350" cap="flat" cmpd="sng" algn="ctr">
                      <a:solidFill>
                        <a:srgbClr val="E2E7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7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7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7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r">
                        <a:buNone/>
                      </a:pPr>
                      <a:r>
                        <a:rPr lang="en-US" sz="750" dirty="0">
                          <a:solidFill>
                            <a:srgbClr val="6B728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5.7</a:t>
                      </a:r>
                      <a:endParaRPr lang="en-US" sz="7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27432" marR="27432" marT="9144" marB="9144" anchor="ctr">
                    <a:lnL w="6350" cap="flat" cmpd="sng" algn="ctr">
                      <a:solidFill>
                        <a:srgbClr val="E2E7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7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7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7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r">
                        <a:buNone/>
                      </a:pPr>
                      <a:r>
                        <a:rPr lang="en-US" sz="750" dirty="0">
                          <a:solidFill>
                            <a:srgbClr val="6B728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5.3</a:t>
                      </a:r>
                      <a:endParaRPr lang="en-US" sz="7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27432" marR="27432" marT="9144" marB="9144" anchor="ctr">
                    <a:lnL w="6350" cap="flat" cmpd="sng" algn="ctr">
                      <a:solidFill>
                        <a:srgbClr val="E2E7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7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7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7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r">
                        <a:buNone/>
                      </a:pPr>
                      <a:r>
                        <a:rPr lang="en-US" sz="750" b="1" dirty="0">
                          <a:solidFill>
                            <a:srgbClr val="6B728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42.4</a:t>
                      </a:r>
                      <a:endParaRPr lang="en-US" sz="7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27432" marR="27432" marT="9144" marB="9144" anchor="ctr">
                    <a:lnL w="6350" cap="flat" cmpd="sng" algn="ctr">
                      <a:solidFill>
                        <a:srgbClr val="E2E7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7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7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7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150876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750" b="1" dirty="0">
                          <a:solidFill>
                            <a:srgbClr val="26292E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OPEX ’26</a:t>
                      </a:r>
                      <a:endParaRPr lang="en-US" sz="7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27432" marR="27432" marT="9144" marB="9144" anchor="ctr">
                    <a:lnL w="6350" cap="flat" cmpd="sng" algn="ctr">
                      <a:solidFill>
                        <a:srgbClr val="E2E7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7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7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7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6FB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r">
                        <a:buNone/>
                      </a:pPr>
                      <a:r>
                        <a:rPr lang="en-US" sz="750" dirty="0">
                          <a:solidFill>
                            <a:srgbClr val="26292E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-4.4</a:t>
                      </a:r>
                      <a:endParaRPr lang="en-US" sz="7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27432" marR="27432" marT="9144" marB="9144" anchor="ctr">
                    <a:lnL w="6350" cap="flat" cmpd="sng" algn="ctr">
                      <a:solidFill>
                        <a:srgbClr val="E2E7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7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7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7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6FB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r">
                        <a:buNone/>
                      </a:pPr>
                      <a:r>
                        <a:rPr lang="en-US" sz="750" dirty="0">
                          <a:solidFill>
                            <a:srgbClr val="26292E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-4.0</a:t>
                      </a:r>
                      <a:endParaRPr lang="en-US" sz="7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27432" marR="27432" marT="9144" marB="9144" anchor="ctr">
                    <a:lnL w="6350" cap="flat" cmpd="sng" algn="ctr">
                      <a:solidFill>
                        <a:srgbClr val="E2E7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7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7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7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6FB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r">
                        <a:buNone/>
                      </a:pPr>
                      <a:r>
                        <a:rPr lang="en-US" sz="750" dirty="0">
                          <a:solidFill>
                            <a:srgbClr val="26292E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-3.8</a:t>
                      </a:r>
                      <a:endParaRPr lang="en-US" sz="7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27432" marR="27432" marT="9144" marB="9144" anchor="ctr">
                    <a:lnL w="6350" cap="flat" cmpd="sng" algn="ctr">
                      <a:solidFill>
                        <a:srgbClr val="E2E7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7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7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7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6FB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r">
                        <a:buNone/>
                      </a:pPr>
                      <a:r>
                        <a:rPr lang="en-US" sz="750" dirty="0">
                          <a:solidFill>
                            <a:srgbClr val="26292E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-3.0</a:t>
                      </a:r>
                      <a:endParaRPr lang="en-US" sz="7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27432" marR="27432" marT="9144" marB="9144" anchor="ctr">
                    <a:lnL w="6350" cap="flat" cmpd="sng" algn="ctr">
                      <a:solidFill>
                        <a:srgbClr val="E2E7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7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7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7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6FB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r">
                        <a:buNone/>
                      </a:pPr>
                      <a:r>
                        <a:rPr lang="en-US" sz="750" dirty="0">
                          <a:solidFill>
                            <a:srgbClr val="26292E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-3.4</a:t>
                      </a:r>
                      <a:endParaRPr lang="en-US" sz="7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27432" marR="27432" marT="9144" marB="9144" anchor="ctr">
                    <a:lnL w="6350" cap="flat" cmpd="sng" algn="ctr">
                      <a:solidFill>
                        <a:srgbClr val="E2E7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7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7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7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6FB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r">
                        <a:buNone/>
                      </a:pPr>
                      <a:r>
                        <a:rPr lang="en-US" sz="750" dirty="0">
                          <a:solidFill>
                            <a:srgbClr val="26292E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-3.1</a:t>
                      </a:r>
                      <a:endParaRPr lang="en-US" sz="7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27432" marR="27432" marT="9144" marB="9144" anchor="ctr">
                    <a:lnL w="6350" cap="flat" cmpd="sng" algn="ctr">
                      <a:solidFill>
                        <a:srgbClr val="E2E7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7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7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7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6FB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r">
                        <a:buNone/>
                      </a:pPr>
                      <a:r>
                        <a:rPr lang="en-US" sz="750" b="1" dirty="0">
                          <a:solidFill>
                            <a:srgbClr val="1E2761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-21.6</a:t>
                      </a:r>
                      <a:endParaRPr lang="en-US" sz="7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27432" marR="27432" marT="9144" marB="9144" anchor="ctr">
                    <a:lnL w="6350" cap="flat" cmpd="sng" algn="ctr">
                      <a:solidFill>
                        <a:srgbClr val="E2E7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7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7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7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6FB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  <a:tr h="150876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750" dirty="0">
                          <a:solidFill>
                            <a:srgbClr val="6B728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OPEX Budget</a:t>
                      </a:r>
                      <a:endParaRPr lang="en-US" sz="7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27432" marR="27432" marT="9144" marB="9144" anchor="ctr">
                    <a:lnL w="6350" cap="flat" cmpd="sng" algn="ctr">
                      <a:solidFill>
                        <a:srgbClr val="E2E7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7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7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7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6FB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r">
                        <a:buNone/>
                      </a:pPr>
                      <a:r>
                        <a:rPr lang="en-US" sz="750" dirty="0">
                          <a:solidFill>
                            <a:srgbClr val="6B728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-4.0</a:t>
                      </a:r>
                      <a:endParaRPr lang="en-US" sz="7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27432" marR="27432" marT="9144" marB="9144" anchor="ctr">
                    <a:lnL w="6350" cap="flat" cmpd="sng" algn="ctr">
                      <a:solidFill>
                        <a:srgbClr val="E2E7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7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7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7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6FB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r">
                        <a:buNone/>
                      </a:pPr>
                      <a:r>
                        <a:rPr lang="en-US" sz="750" dirty="0">
                          <a:solidFill>
                            <a:srgbClr val="6B728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-3.8</a:t>
                      </a:r>
                      <a:endParaRPr lang="en-US" sz="7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27432" marR="27432" marT="9144" marB="9144" anchor="ctr">
                    <a:lnL w="6350" cap="flat" cmpd="sng" algn="ctr">
                      <a:solidFill>
                        <a:srgbClr val="E2E7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7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7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7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6FB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r">
                        <a:buNone/>
                      </a:pPr>
                      <a:r>
                        <a:rPr lang="en-US" sz="750" dirty="0">
                          <a:solidFill>
                            <a:srgbClr val="6B728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-3.7</a:t>
                      </a:r>
                      <a:endParaRPr lang="en-US" sz="7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27432" marR="27432" marT="9144" marB="9144" anchor="ctr">
                    <a:lnL w="6350" cap="flat" cmpd="sng" algn="ctr">
                      <a:solidFill>
                        <a:srgbClr val="E2E7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7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7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7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6FB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r">
                        <a:buNone/>
                      </a:pPr>
                      <a:r>
                        <a:rPr lang="en-US" sz="750" dirty="0">
                          <a:solidFill>
                            <a:srgbClr val="6B728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-3.8</a:t>
                      </a:r>
                      <a:endParaRPr lang="en-US" sz="7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27432" marR="27432" marT="9144" marB="9144" anchor="ctr">
                    <a:lnL w="6350" cap="flat" cmpd="sng" algn="ctr">
                      <a:solidFill>
                        <a:srgbClr val="E2E7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7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7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7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6FB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r">
                        <a:buNone/>
                      </a:pPr>
                      <a:r>
                        <a:rPr lang="en-US" sz="750" dirty="0">
                          <a:solidFill>
                            <a:srgbClr val="6B728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-3.7</a:t>
                      </a:r>
                      <a:endParaRPr lang="en-US" sz="7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27432" marR="27432" marT="9144" marB="9144" anchor="ctr">
                    <a:lnL w="6350" cap="flat" cmpd="sng" algn="ctr">
                      <a:solidFill>
                        <a:srgbClr val="E2E7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7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7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7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6FB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r">
                        <a:buNone/>
                      </a:pPr>
                      <a:r>
                        <a:rPr lang="en-US" sz="750" dirty="0">
                          <a:solidFill>
                            <a:srgbClr val="6B728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-3.6</a:t>
                      </a:r>
                      <a:endParaRPr lang="en-US" sz="7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27432" marR="27432" marT="9144" marB="9144" anchor="ctr">
                    <a:lnL w="6350" cap="flat" cmpd="sng" algn="ctr">
                      <a:solidFill>
                        <a:srgbClr val="E2E7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7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7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7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6FB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r">
                        <a:buNone/>
                      </a:pPr>
                      <a:r>
                        <a:rPr lang="en-US" sz="750" b="1" dirty="0">
                          <a:solidFill>
                            <a:srgbClr val="6B728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-22.6</a:t>
                      </a:r>
                      <a:endParaRPr lang="en-US" sz="7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27432" marR="27432" marT="9144" marB="9144" anchor="ctr">
                    <a:lnL w="6350" cap="flat" cmpd="sng" algn="ctr">
                      <a:solidFill>
                        <a:srgbClr val="E2E7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7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7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7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6FB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5"/>
                  </a:ext>
                </a:extLst>
              </a:tr>
              <a:tr h="150876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750" dirty="0">
                          <a:solidFill>
                            <a:srgbClr val="6B728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OPEX ’25</a:t>
                      </a:r>
                      <a:endParaRPr lang="en-US" sz="7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27432" marR="27432" marT="9144" marB="9144" anchor="ctr">
                    <a:lnL w="6350" cap="flat" cmpd="sng" algn="ctr">
                      <a:solidFill>
                        <a:srgbClr val="E2E7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7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7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7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6FB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r">
                        <a:buNone/>
                      </a:pPr>
                      <a:r>
                        <a:rPr lang="en-US" sz="750" dirty="0">
                          <a:solidFill>
                            <a:srgbClr val="6B728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-4.3</a:t>
                      </a:r>
                      <a:endParaRPr lang="en-US" sz="7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27432" marR="27432" marT="9144" marB="9144" anchor="ctr">
                    <a:lnL w="6350" cap="flat" cmpd="sng" algn="ctr">
                      <a:solidFill>
                        <a:srgbClr val="E2E7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7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7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7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6FB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r">
                        <a:buNone/>
                      </a:pPr>
                      <a:r>
                        <a:rPr lang="en-US" sz="750" dirty="0">
                          <a:solidFill>
                            <a:srgbClr val="6B728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-4.1</a:t>
                      </a:r>
                      <a:endParaRPr lang="en-US" sz="7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27432" marR="27432" marT="9144" marB="9144" anchor="ctr">
                    <a:lnL w="6350" cap="flat" cmpd="sng" algn="ctr">
                      <a:solidFill>
                        <a:srgbClr val="E2E7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7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7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7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6FB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r">
                        <a:buNone/>
                      </a:pPr>
                      <a:r>
                        <a:rPr lang="en-US" sz="750" dirty="0">
                          <a:solidFill>
                            <a:srgbClr val="6B728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-3.2</a:t>
                      </a:r>
                      <a:endParaRPr lang="en-US" sz="7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27432" marR="27432" marT="9144" marB="9144" anchor="ctr">
                    <a:lnL w="6350" cap="flat" cmpd="sng" algn="ctr">
                      <a:solidFill>
                        <a:srgbClr val="E2E7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7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7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7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6FB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r">
                        <a:buNone/>
                      </a:pPr>
                      <a:r>
                        <a:rPr lang="en-US" sz="750" dirty="0">
                          <a:solidFill>
                            <a:srgbClr val="6B728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-3.5</a:t>
                      </a:r>
                      <a:endParaRPr lang="en-US" sz="7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27432" marR="27432" marT="9144" marB="9144" anchor="ctr">
                    <a:lnL w="6350" cap="flat" cmpd="sng" algn="ctr">
                      <a:solidFill>
                        <a:srgbClr val="E2E7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7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7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7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6FB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r">
                        <a:buNone/>
                      </a:pPr>
                      <a:r>
                        <a:rPr lang="en-US" sz="750" dirty="0">
                          <a:solidFill>
                            <a:srgbClr val="6B728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-3.3</a:t>
                      </a:r>
                      <a:endParaRPr lang="en-US" sz="7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27432" marR="27432" marT="9144" marB="9144" anchor="ctr">
                    <a:lnL w="6350" cap="flat" cmpd="sng" algn="ctr">
                      <a:solidFill>
                        <a:srgbClr val="E2E7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7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7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7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6FB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r">
                        <a:buNone/>
                      </a:pPr>
                      <a:r>
                        <a:rPr lang="en-US" sz="750" dirty="0">
                          <a:solidFill>
                            <a:srgbClr val="6B728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-3.2</a:t>
                      </a:r>
                      <a:endParaRPr lang="en-US" sz="7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27432" marR="27432" marT="9144" marB="9144" anchor="ctr">
                    <a:lnL w="6350" cap="flat" cmpd="sng" algn="ctr">
                      <a:solidFill>
                        <a:srgbClr val="E2E7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7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7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7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6FB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r">
                        <a:buNone/>
                      </a:pPr>
                      <a:r>
                        <a:rPr lang="en-US" sz="750" b="1" dirty="0">
                          <a:solidFill>
                            <a:srgbClr val="6B728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-21.6</a:t>
                      </a:r>
                      <a:endParaRPr lang="en-US" sz="7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27432" marR="27432" marT="9144" marB="9144" anchor="ctr">
                    <a:lnL w="6350" cap="flat" cmpd="sng" algn="ctr">
                      <a:solidFill>
                        <a:srgbClr val="E2E7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7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7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7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6FB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5"/>
                  </a:ext>
                </a:extLst>
              </a:tr>
              <a:tr h="150876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750" b="1" dirty="0">
                          <a:solidFill>
                            <a:srgbClr val="26292E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GOP ’26</a:t>
                      </a:r>
                      <a:endParaRPr lang="en-US" sz="7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27432" marR="27432" marT="9144" marB="9144" anchor="ctr">
                    <a:lnL w="6350" cap="flat" cmpd="sng" algn="ctr">
                      <a:solidFill>
                        <a:srgbClr val="E2E7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7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7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7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r">
                        <a:buNone/>
                      </a:pPr>
                      <a:r>
                        <a:rPr lang="en-US" sz="750" dirty="0">
                          <a:solidFill>
                            <a:srgbClr val="26292E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4.9</a:t>
                      </a:r>
                      <a:endParaRPr lang="en-US" sz="7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27432" marR="27432" marT="9144" marB="9144" anchor="ctr">
                    <a:lnL w="6350" cap="flat" cmpd="sng" algn="ctr">
                      <a:solidFill>
                        <a:srgbClr val="E2E7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7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7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7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r">
                        <a:buNone/>
                      </a:pPr>
                      <a:r>
                        <a:rPr lang="en-US" sz="750" dirty="0">
                          <a:solidFill>
                            <a:srgbClr val="26292E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4.6</a:t>
                      </a:r>
                      <a:endParaRPr lang="en-US" sz="7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27432" marR="27432" marT="9144" marB="9144" anchor="ctr">
                    <a:lnL w="6350" cap="flat" cmpd="sng" algn="ctr">
                      <a:solidFill>
                        <a:srgbClr val="E2E7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7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7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7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r">
                        <a:buNone/>
                      </a:pPr>
                      <a:r>
                        <a:rPr lang="en-US" sz="750" dirty="0">
                          <a:solidFill>
                            <a:srgbClr val="26292E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3.5</a:t>
                      </a:r>
                      <a:endParaRPr lang="en-US" sz="7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27432" marR="27432" marT="9144" marB="9144" anchor="ctr">
                    <a:lnL w="6350" cap="flat" cmpd="sng" algn="ctr">
                      <a:solidFill>
                        <a:srgbClr val="E2E7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7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7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7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r">
                        <a:buNone/>
                      </a:pPr>
                      <a:r>
                        <a:rPr lang="en-US" sz="750" dirty="0">
                          <a:solidFill>
                            <a:srgbClr val="26292E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1.5</a:t>
                      </a:r>
                      <a:endParaRPr lang="en-US" sz="7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27432" marR="27432" marT="9144" marB="9144" anchor="ctr">
                    <a:lnL w="6350" cap="flat" cmpd="sng" algn="ctr">
                      <a:solidFill>
                        <a:srgbClr val="E2E7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7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7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7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r">
                        <a:buNone/>
                      </a:pPr>
                      <a:r>
                        <a:rPr lang="en-US" sz="750" dirty="0">
                          <a:solidFill>
                            <a:srgbClr val="26292E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2.2</a:t>
                      </a:r>
                      <a:endParaRPr lang="en-US" sz="7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27432" marR="27432" marT="9144" marB="9144" anchor="ctr">
                    <a:lnL w="6350" cap="flat" cmpd="sng" algn="ctr">
                      <a:solidFill>
                        <a:srgbClr val="E2E7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7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7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7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r">
                        <a:buNone/>
                      </a:pPr>
                      <a:r>
                        <a:rPr lang="en-US" sz="750" dirty="0">
                          <a:solidFill>
                            <a:srgbClr val="26292E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1.6</a:t>
                      </a:r>
                      <a:endParaRPr lang="en-US" sz="7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27432" marR="27432" marT="9144" marB="9144" anchor="ctr">
                    <a:lnL w="6350" cap="flat" cmpd="sng" algn="ctr">
                      <a:solidFill>
                        <a:srgbClr val="E2E7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7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7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7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r">
                        <a:buNone/>
                      </a:pPr>
                      <a:r>
                        <a:rPr lang="en-US" sz="750" b="1" dirty="0">
                          <a:solidFill>
                            <a:srgbClr val="1E2761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18.3</a:t>
                      </a:r>
                      <a:endParaRPr lang="en-US" sz="7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27432" marR="27432" marT="9144" marB="9144" anchor="ctr">
                    <a:lnL w="6350" cap="flat" cmpd="sng" algn="ctr">
                      <a:solidFill>
                        <a:srgbClr val="E2E7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7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7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7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7"/>
                  </a:ext>
                </a:extLst>
              </a:tr>
              <a:tr h="150876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750" dirty="0">
                          <a:solidFill>
                            <a:srgbClr val="6B728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GOP Budget</a:t>
                      </a:r>
                      <a:endParaRPr lang="en-US" sz="7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27432" marR="27432" marT="9144" marB="9144" anchor="ctr">
                    <a:lnL w="6350" cap="flat" cmpd="sng" algn="ctr">
                      <a:solidFill>
                        <a:srgbClr val="E2E7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7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7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7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r">
                        <a:buNone/>
                      </a:pPr>
                      <a:r>
                        <a:rPr lang="en-US" sz="750" dirty="0">
                          <a:solidFill>
                            <a:srgbClr val="6B728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5.3</a:t>
                      </a:r>
                      <a:endParaRPr lang="en-US" sz="7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27432" marR="27432" marT="9144" marB="9144" anchor="ctr">
                    <a:lnL w="6350" cap="flat" cmpd="sng" algn="ctr">
                      <a:solidFill>
                        <a:srgbClr val="E2E7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7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7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7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r">
                        <a:buNone/>
                      </a:pPr>
                      <a:r>
                        <a:rPr lang="en-US" sz="750" dirty="0">
                          <a:solidFill>
                            <a:srgbClr val="6B728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5.1</a:t>
                      </a:r>
                      <a:endParaRPr lang="en-US" sz="7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27432" marR="27432" marT="9144" marB="9144" anchor="ctr">
                    <a:lnL w="6350" cap="flat" cmpd="sng" algn="ctr">
                      <a:solidFill>
                        <a:srgbClr val="E2E7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7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7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7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r">
                        <a:buNone/>
                      </a:pPr>
                      <a:r>
                        <a:rPr lang="en-US" sz="750" dirty="0">
                          <a:solidFill>
                            <a:srgbClr val="6B728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3.0</a:t>
                      </a:r>
                      <a:endParaRPr lang="en-US" sz="7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27432" marR="27432" marT="9144" marB="9144" anchor="ctr">
                    <a:lnL w="6350" cap="flat" cmpd="sng" algn="ctr">
                      <a:solidFill>
                        <a:srgbClr val="E2E7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7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7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7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r">
                        <a:buNone/>
                      </a:pPr>
                      <a:r>
                        <a:rPr lang="en-US" sz="750" dirty="0">
                          <a:solidFill>
                            <a:srgbClr val="6B728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3.0</a:t>
                      </a:r>
                      <a:endParaRPr lang="en-US" sz="7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27432" marR="27432" marT="9144" marB="9144" anchor="ctr">
                    <a:lnL w="6350" cap="flat" cmpd="sng" algn="ctr">
                      <a:solidFill>
                        <a:srgbClr val="E2E7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7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7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7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r">
                        <a:buNone/>
                      </a:pPr>
                      <a:r>
                        <a:rPr lang="en-US" sz="750" dirty="0">
                          <a:solidFill>
                            <a:srgbClr val="6B728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2.5</a:t>
                      </a:r>
                      <a:endParaRPr lang="en-US" sz="7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27432" marR="27432" marT="9144" marB="9144" anchor="ctr">
                    <a:lnL w="6350" cap="flat" cmpd="sng" algn="ctr">
                      <a:solidFill>
                        <a:srgbClr val="E2E7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7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7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7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r">
                        <a:buNone/>
                      </a:pPr>
                      <a:r>
                        <a:rPr lang="en-US" sz="750" dirty="0">
                          <a:solidFill>
                            <a:srgbClr val="6B728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2.1</a:t>
                      </a:r>
                      <a:endParaRPr lang="en-US" sz="7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27432" marR="27432" marT="9144" marB="9144" anchor="ctr">
                    <a:lnL w="6350" cap="flat" cmpd="sng" algn="ctr">
                      <a:solidFill>
                        <a:srgbClr val="E2E7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7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7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7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r">
                        <a:buNone/>
                      </a:pPr>
                      <a:r>
                        <a:rPr lang="en-US" sz="750" b="1" dirty="0">
                          <a:solidFill>
                            <a:srgbClr val="6B728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21.0</a:t>
                      </a:r>
                      <a:endParaRPr lang="en-US" sz="7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27432" marR="27432" marT="9144" marB="9144" anchor="ctr">
                    <a:lnL w="6350" cap="flat" cmpd="sng" algn="ctr">
                      <a:solidFill>
                        <a:srgbClr val="E2E7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7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7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7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8"/>
                  </a:ext>
                </a:extLst>
              </a:tr>
              <a:tr h="150876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750" dirty="0">
                          <a:solidFill>
                            <a:srgbClr val="6B728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GOP ’25</a:t>
                      </a:r>
                      <a:endParaRPr lang="en-US" sz="7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27432" marR="27432" marT="9144" marB="9144" anchor="ctr">
                    <a:lnL w="6350" cap="flat" cmpd="sng" algn="ctr">
                      <a:solidFill>
                        <a:srgbClr val="E2E7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7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7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7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r">
                        <a:buNone/>
                      </a:pPr>
                      <a:r>
                        <a:rPr lang="en-US" sz="750" dirty="0">
                          <a:solidFill>
                            <a:srgbClr val="6B728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5.8</a:t>
                      </a:r>
                      <a:endParaRPr lang="en-US" sz="7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27432" marR="27432" marT="9144" marB="9144" anchor="ctr">
                    <a:lnL w="6350" cap="flat" cmpd="sng" algn="ctr">
                      <a:solidFill>
                        <a:srgbClr val="E2E7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7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7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7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r">
                        <a:buNone/>
                      </a:pPr>
                      <a:r>
                        <a:rPr lang="en-US" sz="750" dirty="0">
                          <a:solidFill>
                            <a:srgbClr val="6B728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4.3</a:t>
                      </a:r>
                      <a:endParaRPr lang="en-US" sz="7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27432" marR="27432" marT="9144" marB="9144" anchor="ctr">
                    <a:lnL w="6350" cap="flat" cmpd="sng" algn="ctr">
                      <a:solidFill>
                        <a:srgbClr val="E2E7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7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7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7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r">
                        <a:buNone/>
                      </a:pPr>
                      <a:r>
                        <a:rPr lang="en-US" sz="750" dirty="0">
                          <a:solidFill>
                            <a:srgbClr val="6B728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3.6</a:t>
                      </a:r>
                      <a:endParaRPr lang="en-US" sz="7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27432" marR="27432" marT="9144" marB="9144" anchor="ctr">
                    <a:lnL w="6350" cap="flat" cmpd="sng" algn="ctr">
                      <a:solidFill>
                        <a:srgbClr val="E2E7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7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7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7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r">
                        <a:buNone/>
                      </a:pPr>
                      <a:r>
                        <a:rPr lang="en-US" sz="750" dirty="0">
                          <a:solidFill>
                            <a:srgbClr val="6B728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2.8</a:t>
                      </a:r>
                      <a:endParaRPr lang="en-US" sz="7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27432" marR="27432" marT="9144" marB="9144" anchor="ctr">
                    <a:lnL w="6350" cap="flat" cmpd="sng" algn="ctr">
                      <a:solidFill>
                        <a:srgbClr val="E2E7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7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7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7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r">
                        <a:buNone/>
                      </a:pPr>
                      <a:r>
                        <a:rPr lang="en-US" sz="750" dirty="0">
                          <a:solidFill>
                            <a:srgbClr val="6B728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2.3</a:t>
                      </a:r>
                      <a:endParaRPr lang="en-US" sz="7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27432" marR="27432" marT="9144" marB="9144" anchor="ctr">
                    <a:lnL w="6350" cap="flat" cmpd="sng" algn="ctr">
                      <a:solidFill>
                        <a:srgbClr val="E2E7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7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7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7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r">
                        <a:buNone/>
                      </a:pPr>
                      <a:r>
                        <a:rPr lang="en-US" sz="750" dirty="0">
                          <a:solidFill>
                            <a:srgbClr val="6B728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2.1</a:t>
                      </a:r>
                      <a:endParaRPr lang="en-US" sz="7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27432" marR="27432" marT="9144" marB="9144" anchor="ctr">
                    <a:lnL w="6350" cap="flat" cmpd="sng" algn="ctr">
                      <a:solidFill>
                        <a:srgbClr val="E2E7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7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7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7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r">
                        <a:buNone/>
                      </a:pPr>
                      <a:r>
                        <a:rPr lang="en-US" sz="750" b="1" dirty="0">
                          <a:solidFill>
                            <a:srgbClr val="6B728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20.8</a:t>
                      </a:r>
                      <a:endParaRPr lang="en-US" sz="7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27432" marR="27432" marT="9144" marB="9144" anchor="ctr">
                    <a:lnL w="6350" cap="flat" cmpd="sng" algn="ctr">
                      <a:solidFill>
                        <a:srgbClr val="E2E7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7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7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7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8"/>
                  </a:ext>
                </a:extLst>
              </a:tr>
              <a:tr h="150876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750" b="1" dirty="0">
                          <a:solidFill>
                            <a:srgbClr val="26292E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EBIT ’26</a:t>
                      </a:r>
                      <a:endParaRPr lang="en-US" sz="7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27432" marR="27432" marT="9144" marB="9144" anchor="ctr">
                    <a:lnL w="6350" cap="flat" cmpd="sng" algn="ctr">
                      <a:solidFill>
                        <a:srgbClr val="E2E7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7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7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7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6FB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r">
                        <a:buNone/>
                      </a:pPr>
                      <a:r>
                        <a:rPr lang="en-US" sz="750" dirty="0">
                          <a:solidFill>
                            <a:srgbClr val="26292E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2.6</a:t>
                      </a:r>
                      <a:endParaRPr lang="en-US" sz="7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27432" marR="27432" marT="9144" marB="9144" anchor="ctr">
                    <a:lnL w="6350" cap="flat" cmpd="sng" algn="ctr">
                      <a:solidFill>
                        <a:srgbClr val="E2E7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7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7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7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6FB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r">
                        <a:buNone/>
                      </a:pPr>
                      <a:r>
                        <a:rPr lang="en-US" sz="750" dirty="0">
                          <a:solidFill>
                            <a:srgbClr val="26292E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2.3</a:t>
                      </a:r>
                      <a:endParaRPr lang="en-US" sz="7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27432" marR="27432" marT="9144" marB="9144" anchor="ctr">
                    <a:lnL w="6350" cap="flat" cmpd="sng" algn="ctr">
                      <a:solidFill>
                        <a:srgbClr val="E2E7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7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7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7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6FB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r">
                        <a:buNone/>
                      </a:pPr>
                      <a:r>
                        <a:rPr lang="en-US" sz="750" dirty="0">
                          <a:solidFill>
                            <a:srgbClr val="26292E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1.3</a:t>
                      </a:r>
                      <a:endParaRPr lang="en-US" sz="7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27432" marR="27432" marT="9144" marB="9144" anchor="ctr">
                    <a:lnL w="6350" cap="flat" cmpd="sng" algn="ctr">
                      <a:solidFill>
                        <a:srgbClr val="E2E7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7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7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7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6FB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r">
                        <a:buNone/>
                      </a:pPr>
                      <a:r>
                        <a:rPr lang="en-US" sz="750" dirty="0">
                          <a:solidFill>
                            <a:srgbClr val="26292E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-0.5</a:t>
                      </a:r>
                      <a:endParaRPr lang="en-US" sz="7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27432" marR="27432" marT="9144" marB="9144" anchor="ctr">
                    <a:lnL w="6350" cap="flat" cmpd="sng" algn="ctr">
                      <a:solidFill>
                        <a:srgbClr val="E2E7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7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7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7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6FB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r">
                        <a:buNone/>
                      </a:pPr>
                      <a:r>
                        <a:rPr lang="en-US" sz="750" dirty="0">
                          <a:solidFill>
                            <a:srgbClr val="26292E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0.1</a:t>
                      </a:r>
                      <a:endParaRPr lang="en-US" sz="7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27432" marR="27432" marT="9144" marB="9144" anchor="ctr">
                    <a:lnL w="6350" cap="flat" cmpd="sng" algn="ctr">
                      <a:solidFill>
                        <a:srgbClr val="E2E7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7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7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7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6FB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r">
                        <a:buNone/>
                      </a:pPr>
                      <a:r>
                        <a:rPr lang="en-US" sz="750" dirty="0">
                          <a:solidFill>
                            <a:srgbClr val="26292E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-1.2</a:t>
                      </a:r>
                      <a:endParaRPr lang="en-US" sz="7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27432" marR="27432" marT="9144" marB="9144" anchor="ctr">
                    <a:lnL w="6350" cap="flat" cmpd="sng" algn="ctr">
                      <a:solidFill>
                        <a:srgbClr val="E2E7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7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7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7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6FB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r">
                        <a:buNone/>
                      </a:pPr>
                      <a:r>
                        <a:rPr lang="en-US" sz="750" b="1" dirty="0">
                          <a:solidFill>
                            <a:srgbClr val="1E2761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4.5</a:t>
                      </a:r>
                      <a:endParaRPr lang="en-US" sz="7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27432" marR="27432" marT="9144" marB="9144" anchor="ctr">
                    <a:lnL w="6350" cap="flat" cmpd="sng" algn="ctr">
                      <a:solidFill>
                        <a:srgbClr val="E2E7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7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7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7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6FB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10"/>
                  </a:ext>
                </a:extLst>
              </a:tr>
              <a:tr h="150876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750" dirty="0">
                          <a:solidFill>
                            <a:srgbClr val="6B728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EBIT Budget</a:t>
                      </a:r>
                      <a:endParaRPr lang="en-US" sz="7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27432" marR="27432" marT="9144" marB="9144" anchor="ctr">
                    <a:lnL w="6350" cap="flat" cmpd="sng" algn="ctr">
                      <a:solidFill>
                        <a:srgbClr val="E2E7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7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7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7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6FB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r">
                        <a:buNone/>
                      </a:pPr>
                      <a:r>
                        <a:rPr lang="en-US" sz="750" dirty="0">
                          <a:solidFill>
                            <a:srgbClr val="6B728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2.8</a:t>
                      </a:r>
                      <a:endParaRPr lang="en-US" sz="7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27432" marR="27432" marT="9144" marB="9144" anchor="ctr">
                    <a:lnL w="6350" cap="flat" cmpd="sng" algn="ctr">
                      <a:solidFill>
                        <a:srgbClr val="E2E7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7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7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7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6FB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r">
                        <a:buNone/>
                      </a:pPr>
                      <a:r>
                        <a:rPr lang="en-US" sz="750" dirty="0">
                          <a:solidFill>
                            <a:srgbClr val="6B728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2.6</a:t>
                      </a:r>
                      <a:endParaRPr lang="en-US" sz="7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27432" marR="27432" marT="9144" marB="9144" anchor="ctr">
                    <a:lnL w="6350" cap="flat" cmpd="sng" algn="ctr">
                      <a:solidFill>
                        <a:srgbClr val="E2E7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7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7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7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6FB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r">
                        <a:buNone/>
                      </a:pPr>
                      <a:r>
                        <a:rPr lang="en-US" sz="750" dirty="0">
                          <a:solidFill>
                            <a:srgbClr val="6B728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0.7</a:t>
                      </a:r>
                      <a:endParaRPr lang="en-US" sz="7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27432" marR="27432" marT="9144" marB="9144" anchor="ctr">
                    <a:lnL w="6350" cap="flat" cmpd="sng" algn="ctr">
                      <a:solidFill>
                        <a:srgbClr val="E2E7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7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7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7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6FB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r">
                        <a:buNone/>
                      </a:pPr>
                      <a:r>
                        <a:rPr lang="en-US" sz="750" dirty="0">
                          <a:solidFill>
                            <a:srgbClr val="6B728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0.7</a:t>
                      </a:r>
                      <a:endParaRPr lang="en-US" sz="7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27432" marR="27432" marT="9144" marB="9144" anchor="ctr">
                    <a:lnL w="6350" cap="flat" cmpd="sng" algn="ctr">
                      <a:solidFill>
                        <a:srgbClr val="E2E7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7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7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7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6FB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r">
                        <a:buNone/>
                      </a:pPr>
                      <a:r>
                        <a:rPr lang="en-US" sz="750" dirty="0">
                          <a:solidFill>
                            <a:srgbClr val="6B728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0.2</a:t>
                      </a:r>
                      <a:endParaRPr lang="en-US" sz="7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27432" marR="27432" marT="9144" marB="9144" anchor="ctr">
                    <a:lnL w="6350" cap="flat" cmpd="sng" algn="ctr">
                      <a:solidFill>
                        <a:srgbClr val="E2E7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7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7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7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6FB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r">
                        <a:buNone/>
                      </a:pPr>
                      <a:r>
                        <a:rPr lang="en-US" sz="750" dirty="0">
                          <a:solidFill>
                            <a:srgbClr val="6B728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-0.1</a:t>
                      </a:r>
                      <a:endParaRPr lang="en-US" sz="7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27432" marR="27432" marT="9144" marB="9144" anchor="ctr">
                    <a:lnL w="6350" cap="flat" cmpd="sng" algn="ctr">
                      <a:solidFill>
                        <a:srgbClr val="E2E7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7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7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7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6FB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r">
                        <a:buNone/>
                      </a:pPr>
                      <a:r>
                        <a:rPr lang="en-US" sz="750" b="1" dirty="0">
                          <a:solidFill>
                            <a:srgbClr val="6B728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7.0</a:t>
                      </a:r>
                      <a:endParaRPr lang="en-US" sz="7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27432" marR="27432" marT="9144" marB="9144" anchor="ctr">
                    <a:lnL w="6350" cap="flat" cmpd="sng" algn="ctr">
                      <a:solidFill>
                        <a:srgbClr val="E2E7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7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7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7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6FB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11"/>
                  </a:ext>
                </a:extLst>
              </a:tr>
              <a:tr h="150876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750" dirty="0">
                          <a:solidFill>
                            <a:srgbClr val="6B728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EBIT ’25</a:t>
                      </a:r>
                      <a:endParaRPr lang="en-US" sz="7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27432" marR="27432" marT="9144" marB="9144" anchor="ctr">
                    <a:lnL w="6350" cap="flat" cmpd="sng" algn="ctr">
                      <a:solidFill>
                        <a:srgbClr val="E2E7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7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7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7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6FB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r">
                        <a:buNone/>
                      </a:pPr>
                      <a:r>
                        <a:rPr lang="en-US" sz="750" dirty="0">
                          <a:solidFill>
                            <a:srgbClr val="6B728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3.3</a:t>
                      </a:r>
                      <a:endParaRPr lang="en-US" sz="7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27432" marR="27432" marT="9144" marB="9144" anchor="ctr">
                    <a:lnL w="6350" cap="flat" cmpd="sng" algn="ctr">
                      <a:solidFill>
                        <a:srgbClr val="E2E7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7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7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7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6FB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r">
                        <a:buNone/>
                      </a:pPr>
                      <a:r>
                        <a:rPr lang="en-US" sz="750" dirty="0">
                          <a:solidFill>
                            <a:srgbClr val="6B728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2.1</a:t>
                      </a:r>
                      <a:endParaRPr lang="en-US" sz="7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27432" marR="27432" marT="9144" marB="9144" anchor="ctr">
                    <a:lnL w="6350" cap="flat" cmpd="sng" algn="ctr">
                      <a:solidFill>
                        <a:srgbClr val="E2E7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7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7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7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6FB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r">
                        <a:buNone/>
                      </a:pPr>
                      <a:r>
                        <a:rPr lang="en-US" sz="750" dirty="0">
                          <a:solidFill>
                            <a:srgbClr val="6B728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1.4</a:t>
                      </a:r>
                      <a:endParaRPr lang="en-US" sz="7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27432" marR="27432" marT="9144" marB="9144" anchor="ctr">
                    <a:lnL w="6350" cap="flat" cmpd="sng" algn="ctr">
                      <a:solidFill>
                        <a:srgbClr val="E2E7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7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7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7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6FB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r">
                        <a:buNone/>
                      </a:pPr>
                      <a:r>
                        <a:rPr lang="en-US" sz="750" dirty="0">
                          <a:solidFill>
                            <a:srgbClr val="6B728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0.6</a:t>
                      </a:r>
                      <a:endParaRPr lang="en-US" sz="7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27432" marR="27432" marT="9144" marB="9144" anchor="ctr">
                    <a:lnL w="6350" cap="flat" cmpd="sng" algn="ctr">
                      <a:solidFill>
                        <a:srgbClr val="E2E7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7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7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7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6FB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r">
                        <a:buNone/>
                      </a:pPr>
                      <a:r>
                        <a:rPr lang="en-US" sz="750" dirty="0">
                          <a:solidFill>
                            <a:srgbClr val="6B728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0.3</a:t>
                      </a:r>
                      <a:endParaRPr lang="en-US" sz="7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27432" marR="27432" marT="9144" marB="9144" anchor="ctr">
                    <a:lnL w="6350" cap="flat" cmpd="sng" algn="ctr">
                      <a:solidFill>
                        <a:srgbClr val="E2E7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7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7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7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6FB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r">
                        <a:buNone/>
                      </a:pPr>
                      <a:r>
                        <a:rPr lang="en-US" sz="750" dirty="0">
                          <a:solidFill>
                            <a:srgbClr val="6B728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-0.0</a:t>
                      </a:r>
                      <a:endParaRPr lang="en-US" sz="7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27432" marR="27432" marT="9144" marB="9144" anchor="ctr">
                    <a:lnL w="6350" cap="flat" cmpd="sng" algn="ctr">
                      <a:solidFill>
                        <a:srgbClr val="E2E7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7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7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7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6FB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r">
                        <a:buNone/>
                      </a:pPr>
                      <a:r>
                        <a:rPr lang="en-US" sz="750" b="1" dirty="0">
                          <a:solidFill>
                            <a:srgbClr val="6B728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7.7</a:t>
                      </a:r>
                      <a:endParaRPr lang="en-US" sz="7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27432" marR="27432" marT="9144" marB="9144" anchor="ctr">
                    <a:lnL w="6350" cap="flat" cmpd="sng" algn="ctr">
                      <a:solidFill>
                        <a:srgbClr val="E2E7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7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7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7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6FB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11"/>
                  </a:ext>
                </a:extLst>
              </a:tr>
              <a:tr h="150876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750" b="1" dirty="0">
                          <a:solidFill>
                            <a:srgbClr val="26292E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NPAT ’26</a:t>
                      </a:r>
                      <a:endParaRPr lang="en-US" sz="7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27432" marR="27432" marT="9144" marB="9144" anchor="ctr">
                    <a:lnL w="6350" cap="flat" cmpd="sng" algn="ctr">
                      <a:solidFill>
                        <a:srgbClr val="E2E7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7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7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7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r">
                        <a:buNone/>
                      </a:pPr>
                      <a:r>
                        <a:rPr lang="en-US" sz="750" dirty="0">
                          <a:solidFill>
                            <a:srgbClr val="26292E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-0.1</a:t>
                      </a:r>
                      <a:endParaRPr lang="en-US" sz="7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27432" marR="27432" marT="9144" marB="9144" anchor="ctr">
                    <a:lnL w="6350" cap="flat" cmpd="sng" algn="ctr">
                      <a:solidFill>
                        <a:srgbClr val="E2E7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7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7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7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r">
                        <a:buNone/>
                      </a:pPr>
                      <a:r>
                        <a:rPr lang="en-US" sz="750" dirty="0">
                          <a:solidFill>
                            <a:srgbClr val="26292E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-0.2</a:t>
                      </a:r>
                      <a:endParaRPr lang="en-US" sz="7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27432" marR="27432" marT="9144" marB="9144" anchor="ctr">
                    <a:lnL w="6350" cap="flat" cmpd="sng" algn="ctr">
                      <a:solidFill>
                        <a:srgbClr val="E2E7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7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7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7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r">
                        <a:buNone/>
                      </a:pPr>
                      <a:r>
                        <a:rPr lang="en-US" sz="750" dirty="0">
                          <a:solidFill>
                            <a:srgbClr val="26292E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-1.4</a:t>
                      </a:r>
                      <a:endParaRPr lang="en-US" sz="7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27432" marR="27432" marT="9144" marB="9144" anchor="ctr">
                    <a:lnL w="6350" cap="flat" cmpd="sng" algn="ctr">
                      <a:solidFill>
                        <a:srgbClr val="E2E7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7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7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7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r">
                        <a:buNone/>
                      </a:pPr>
                      <a:r>
                        <a:rPr lang="en-US" sz="750" dirty="0">
                          <a:solidFill>
                            <a:srgbClr val="26292E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-2.7</a:t>
                      </a:r>
                      <a:endParaRPr lang="en-US" sz="7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27432" marR="27432" marT="9144" marB="9144" anchor="ctr">
                    <a:lnL w="6350" cap="flat" cmpd="sng" algn="ctr">
                      <a:solidFill>
                        <a:srgbClr val="E2E7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7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7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7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r">
                        <a:buNone/>
                      </a:pPr>
                      <a:r>
                        <a:rPr lang="en-US" sz="750" dirty="0">
                          <a:solidFill>
                            <a:srgbClr val="26292E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-1.0</a:t>
                      </a:r>
                      <a:endParaRPr lang="en-US" sz="7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27432" marR="27432" marT="9144" marB="9144" anchor="ctr">
                    <a:lnL w="6350" cap="flat" cmpd="sng" algn="ctr">
                      <a:solidFill>
                        <a:srgbClr val="E2E7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7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7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7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r">
                        <a:buNone/>
                      </a:pPr>
                      <a:r>
                        <a:rPr lang="en-US" sz="750" dirty="0">
                          <a:solidFill>
                            <a:srgbClr val="26292E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-3.7</a:t>
                      </a:r>
                      <a:endParaRPr lang="en-US" sz="7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27432" marR="27432" marT="9144" marB="9144" anchor="ctr">
                    <a:lnL w="6350" cap="flat" cmpd="sng" algn="ctr">
                      <a:solidFill>
                        <a:srgbClr val="E2E7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7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7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7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r">
                        <a:buNone/>
                      </a:pPr>
                      <a:r>
                        <a:rPr lang="en-US" sz="750" b="1" dirty="0">
                          <a:solidFill>
                            <a:srgbClr val="1E2761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-9.1</a:t>
                      </a:r>
                      <a:endParaRPr lang="en-US" sz="7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27432" marR="27432" marT="9144" marB="9144" anchor="ctr">
                    <a:lnL w="6350" cap="flat" cmpd="sng" algn="ctr">
                      <a:solidFill>
                        <a:srgbClr val="E2E7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7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7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7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13"/>
                  </a:ext>
                </a:extLst>
              </a:tr>
              <a:tr h="150876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750" dirty="0">
                          <a:solidFill>
                            <a:srgbClr val="6B728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NPAT ’25</a:t>
                      </a:r>
                      <a:endParaRPr lang="en-US" sz="7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27432" marR="27432" marT="9144" marB="9144" anchor="ctr">
                    <a:lnL w="6350" cap="flat" cmpd="sng" algn="ctr">
                      <a:solidFill>
                        <a:srgbClr val="E2E7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7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7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7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r">
                        <a:buNone/>
                      </a:pPr>
                      <a:r>
                        <a:rPr lang="en-US" sz="750" dirty="0">
                          <a:solidFill>
                            <a:srgbClr val="6B728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0.7</a:t>
                      </a:r>
                      <a:endParaRPr lang="en-US" sz="7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27432" marR="27432" marT="9144" marB="9144" anchor="ctr">
                    <a:lnL w="6350" cap="flat" cmpd="sng" algn="ctr">
                      <a:solidFill>
                        <a:srgbClr val="E2E7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7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7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7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r">
                        <a:buNone/>
                      </a:pPr>
                      <a:r>
                        <a:rPr lang="en-US" sz="750" dirty="0">
                          <a:solidFill>
                            <a:srgbClr val="6B728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-0.3</a:t>
                      </a:r>
                      <a:endParaRPr lang="en-US" sz="7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27432" marR="27432" marT="9144" marB="9144" anchor="ctr">
                    <a:lnL w="6350" cap="flat" cmpd="sng" algn="ctr">
                      <a:solidFill>
                        <a:srgbClr val="E2E7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7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7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7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r">
                        <a:buNone/>
                      </a:pPr>
                      <a:r>
                        <a:rPr lang="en-US" sz="750" dirty="0">
                          <a:solidFill>
                            <a:srgbClr val="6B728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-1.3</a:t>
                      </a:r>
                      <a:endParaRPr lang="en-US" sz="7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27432" marR="27432" marT="9144" marB="9144" anchor="ctr">
                    <a:lnL w="6350" cap="flat" cmpd="sng" algn="ctr">
                      <a:solidFill>
                        <a:srgbClr val="E2E7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7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7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7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r">
                        <a:buNone/>
                      </a:pPr>
                      <a:r>
                        <a:rPr lang="en-US" sz="750" dirty="0">
                          <a:solidFill>
                            <a:srgbClr val="6B728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-2.0</a:t>
                      </a:r>
                      <a:endParaRPr lang="en-US" sz="7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27432" marR="27432" marT="9144" marB="9144" anchor="ctr">
                    <a:lnL w="6350" cap="flat" cmpd="sng" algn="ctr">
                      <a:solidFill>
                        <a:srgbClr val="E2E7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7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7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7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r">
                        <a:buNone/>
                      </a:pPr>
                      <a:r>
                        <a:rPr lang="en-US" sz="750" dirty="0">
                          <a:solidFill>
                            <a:srgbClr val="6B728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-2.4</a:t>
                      </a:r>
                      <a:endParaRPr lang="en-US" sz="7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27432" marR="27432" marT="9144" marB="9144" anchor="ctr">
                    <a:lnL w="6350" cap="flat" cmpd="sng" algn="ctr">
                      <a:solidFill>
                        <a:srgbClr val="E2E7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7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7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7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r">
                        <a:buNone/>
                      </a:pPr>
                      <a:r>
                        <a:rPr lang="en-US" sz="750" dirty="0">
                          <a:solidFill>
                            <a:srgbClr val="6B728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-2.6</a:t>
                      </a:r>
                      <a:endParaRPr lang="en-US" sz="7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27432" marR="27432" marT="9144" marB="9144" anchor="ctr">
                    <a:lnL w="6350" cap="flat" cmpd="sng" algn="ctr">
                      <a:solidFill>
                        <a:srgbClr val="E2E7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7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7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7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r">
                        <a:buNone/>
                      </a:pPr>
                      <a:r>
                        <a:rPr lang="en-US" sz="750" b="1" dirty="0">
                          <a:solidFill>
                            <a:srgbClr val="6B728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-8.0</a:t>
                      </a:r>
                      <a:endParaRPr lang="en-US" sz="7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27432" marR="27432" marT="9144" marB="9144" anchor="ctr">
                    <a:lnL w="6350" cap="flat" cmpd="sng" algn="ctr">
                      <a:solidFill>
                        <a:srgbClr val="E2E7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7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7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7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14"/>
                  </a:ext>
                </a:extLst>
              </a:tr>
            </a:tbl>
          </a:graphicData>
        </a:graphic>
      </p:graphicFrame>
      <p:graphicFrame>
        <p:nvGraphicFramePr>
          <p:cNvPr id="67" name="Table 1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5897880" y="1783080"/>
          <a:ext cx="5742432" cy="2334768"/>
        </p:xfrm>
        <a:graphic>
          <a:graphicData uri="http://schemas.openxmlformats.org/drawingml/2006/table">
            <a:tbl>
              <a:tblPr/>
              <a:tblGrid>
                <a:gridCol w="1024128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694944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694944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731520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  <a:gridCol w="658368">
                  <a:extLst>
                    <a:ext uri="{9D8B030D-6E8A-4147-A177-3AD203B41FA5}">
                      <a16:colId xmlns:a16="http://schemas.microsoft.com/office/drawing/2014/main" val="20004"/>
                    </a:ext>
                  </a:extLst>
                </a:gridCol>
                <a:gridCol w="676656">
                  <a:extLst>
                    <a:ext uri="{9D8B030D-6E8A-4147-A177-3AD203B41FA5}">
                      <a16:colId xmlns:a16="http://schemas.microsoft.com/office/drawing/2014/main" val="20005"/>
                    </a:ext>
                  </a:extLst>
                </a:gridCol>
                <a:gridCol w="621792">
                  <a:extLst>
                    <a:ext uri="{9D8B030D-6E8A-4147-A177-3AD203B41FA5}">
                      <a16:colId xmlns:a16="http://schemas.microsoft.com/office/drawing/2014/main" val="20006"/>
                    </a:ext>
                  </a:extLst>
                </a:gridCol>
                <a:gridCol w="640080">
                  <a:extLst>
                    <a:ext uri="{9D8B030D-6E8A-4147-A177-3AD203B41FA5}">
                      <a16:colId xmlns:a16="http://schemas.microsoft.com/office/drawing/2014/main" val="20007"/>
                    </a:ext>
                  </a:extLst>
                </a:gridCol>
              </a:tblGrid>
              <a:tr h="283464"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85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H1 2026 (YTD)</a:t>
                      </a:r>
                      <a:endParaRPr lang="en-US" sz="8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E2E7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7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7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7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E2761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85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Actual</a:t>
                      </a:r>
                      <a:endParaRPr lang="en-US" sz="8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E2E7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7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7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7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E2761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85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MF budget</a:t>
                      </a:r>
                      <a:endParaRPr lang="en-US" sz="8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E2E7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7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7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7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E2761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85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vs MF budget</a:t>
                      </a:r>
                      <a:endParaRPr lang="en-US" sz="8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E2E7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7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7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7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E2761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85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H1 2025</a:t>
                      </a:r>
                      <a:endParaRPr lang="en-US" sz="8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E2E7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7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7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7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E2761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85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vs H1 25</a:t>
                      </a:r>
                      <a:endParaRPr lang="en-US" sz="8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E2E7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7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7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7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E2761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85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H1 2024</a:t>
                      </a:r>
                      <a:endParaRPr lang="en-US" sz="8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E2E7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7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7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7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E2761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85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vs H1 24</a:t>
                      </a:r>
                      <a:endParaRPr lang="en-US" sz="8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E2E7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7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7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7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E276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283464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850" b="1" dirty="0">
                          <a:solidFill>
                            <a:srgbClr val="26292E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Revenue</a:t>
                      </a:r>
                      <a:endParaRPr lang="en-US" sz="8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E2E7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7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7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7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r">
                        <a:buNone/>
                      </a:pPr>
                      <a:r>
                        <a:rPr lang="en-US" sz="850" b="1" dirty="0">
                          <a:solidFill>
                            <a:srgbClr val="1E2761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฿40.0M</a:t>
                      </a:r>
                      <a:endParaRPr lang="en-US" sz="8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E2E7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7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7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7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r">
                        <a:buNone/>
                      </a:pPr>
                      <a:r>
                        <a:rPr lang="en-US" sz="850" dirty="0">
                          <a:solidFill>
                            <a:srgbClr val="26292E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—</a:t>
                      </a:r>
                      <a:endParaRPr lang="en-US" sz="8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E2E7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7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7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7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r">
                        <a:buNone/>
                      </a:pPr>
                      <a:r>
                        <a:rPr lang="en-US" sz="850" b="1" dirty="0">
                          <a:solidFill>
                            <a:srgbClr val="6B728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—</a:t>
                      </a:r>
                      <a:endParaRPr lang="en-US" sz="8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E2E7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7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7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7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r">
                        <a:buNone/>
                      </a:pPr>
                      <a:r>
                        <a:rPr lang="en-US" sz="850" dirty="0">
                          <a:solidFill>
                            <a:srgbClr val="26292E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฿42.4M</a:t>
                      </a:r>
                      <a:endParaRPr lang="en-US" sz="8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E2E7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7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7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7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r">
                        <a:buNone/>
                      </a:pPr>
                      <a:r>
                        <a:rPr lang="en-US" sz="850" b="1" dirty="0">
                          <a:solidFill>
                            <a:srgbClr val="C0392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-5.8%</a:t>
                      </a:r>
                      <a:endParaRPr lang="en-US" sz="8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E2E7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7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7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7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r">
                        <a:buNone/>
                      </a:pPr>
                      <a:r>
                        <a:rPr lang="en-US" sz="850" dirty="0">
                          <a:solidFill>
                            <a:srgbClr val="6B728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฿36.2M</a:t>
                      </a:r>
                      <a:endParaRPr lang="en-US" sz="8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E2E7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7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7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7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r">
                        <a:buNone/>
                      </a:pPr>
                      <a:r>
                        <a:rPr lang="en-US" sz="850" b="1" dirty="0">
                          <a:solidFill>
                            <a:srgbClr val="2E7D32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+10.3%</a:t>
                      </a:r>
                      <a:endParaRPr lang="en-US" sz="8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E2E7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7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7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7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283464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850" b="1" dirty="0">
                          <a:solidFill>
                            <a:srgbClr val="26292E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OPEX</a:t>
                      </a:r>
                      <a:endParaRPr lang="en-US" sz="8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E2E7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7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7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7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6FB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r">
                        <a:buNone/>
                      </a:pPr>
                      <a:r>
                        <a:rPr lang="en-US" sz="850" b="1" dirty="0">
                          <a:solidFill>
                            <a:srgbClr val="1E2761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−฿21.6M</a:t>
                      </a:r>
                      <a:endParaRPr lang="en-US" sz="8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E2E7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7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7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7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6FB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r">
                        <a:buNone/>
                      </a:pPr>
                      <a:r>
                        <a:rPr lang="en-US" sz="850" dirty="0">
                          <a:solidFill>
                            <a:srgbClr val="26292E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−฿22.6M</a:t>
                      </a:r>
                      <a:endParaRPr lang="en-US" sz="8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E2E7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7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7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7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6FB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r">
                        <a:buNone/>
                      </a:pPr>
                      <a:r>
                        <a:rPr lang="en-US" sz="850" b="1" dirty="0">
                          <a:solidFill>
                            <a:srgbClr val="2E7D32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-4.5%</a:t>
                      </a:r>
                      <a:endParaRPr lang="en-US" sz="8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E2E7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7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7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7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6FB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r">
                        <a:buNone/>
                      </a:pPr>
                      <a:r>
                        <a:rPr lang="en-US" sz="850" dirty="0">
                          <a:solidFill>
                            <a:srgbClr val="26292E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−฿21.6M</a:t>
                      </a:r>
                      <a:endParaRPr lang="en-US" sz="8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E2E7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7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7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7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6FB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r">
                        <a:buNone/>
                      </a:pPr>
                      <a:r>
                        <a:rPr lang="en-US" sz="850" b="1" dirty="0">
                          <a:solidFill>
                            <a:srgbClr val="C0392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+0.2%</a:t>
                      </a:r>
                      <a:endParaRPr lang="en-US" sz="8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E2E7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7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7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7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6FB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r">
                        <a:buNone/>
                      </a:pPr>
                      <a:r>
                        <a:rPr lang="en-US" sz="850" dirty="0">
                          <a:solidFill>
                            <a:srgbClr val="6B728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−฿19.1M</a:t>
                      </a:r>
                      <a:endParaRPr lang="en-US" sz="8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E2E7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7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7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7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6FB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r">
                        <a:buNone/>
                      </a:pPr>
                      <a:r>
                        <a:rPr lang="en-US" sz="850" b="1" dirty="0">
                          <a:solidFill>
                            <a:srgbClr val="C0392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+13.3%</a:t>
                      </a:r>
                      <a:endParaRPr lang="en-US" sz="8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E2E7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7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7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7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6FB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283464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850" b="1" dirty="0">
                          <a:solidFill>
                            <a:srgbClr val="26292E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GOP (EBITDA)</a:t>
                      </a:r>
                      <a:endParaRPr lang="en-US" sz="8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E2E7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7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7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7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r">
                        <a:buNone/>
                      </a:pPr>
                      <a:r>
                        <a:rPr lang="en-US" sz="850" b="1" dirty="0">
                          <a:solidFill>
                            <a:srgbClr val="1E2761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฿18.3M</a:t>
                      </a:r>
                      <a:endParaRPr lang="en-US" sz="8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E2E7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7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7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7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r">
                        <a:buNone/>
                      </a:pPr>
                      <a:r>
                        <a:rPr lang="en-US" sz="850" dirty="0">
                          <a:solidFill>
                            <a:srgbClr val="26292E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฿21.0M</a:t>
                      </a:r>
                      <a:endParaRPr lang="en-US" sz="8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E2E7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7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7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7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r">
                        <a:buNone/>
                      </a:pPr>
                      <a:r>
                        <a:rPr lang="en-US" sz="850" b="1" dirty="0">
                          <a:solidFill>
                            <a:srgbClr val="C0392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-12.6%</a:t>
                      </a:r>
                      <a:endParaRPr lang="en-US" sz="8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E2E7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7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7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7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r">
                        <a:buNone/>
                      </a:pPr>
                      <a:r>
                        <a:rPr lang="en-US" sz="850" dirty="0">
                          <a:solidFill>
                            <a:srgbClr val="26292E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฿20.8M</a:t>
                      </a:r>
                      <a:endParaRPr lang="en-US" sz="8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E2E7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7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7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7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r">
                        <a:buNone/>
                      </a:pPr>
                      <a:r>
                        <a:rPr lang="en-US" sz="850" b="1" dirty="0">
                          <a:solidFill>
                            <a:srgbClr val="C0392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-12.0%</a:t>
                      </a:r>
                      <a:endParaRPr lang="en-US" sz="8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E2E7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7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7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7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r">
                        <a:buNone/>
                      </a:pPr>
                      <a:r>
                        <a:rPr lang="en-US" sz="850" dirty="0">
                          <a:solidFill>
                            <a:srgbClr val="6B728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฿17.1M</a:t>
                      </a:r>
                      <a:endParaRPr lang="en-US" sz="8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E2E7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7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7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7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r">
                        <a:buNone/>
                      </a:pPr>
                      <a:r>
                        <a:rPr lang="en-US" sz="850" b="1" dirty="0">
                          <a:solidFill>
                            <a:srgbClr val="2E7D32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+7.0%</a:t>
                      </a:r>
                      <a:endParaRPr lang="en-US" sz="8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E2E7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7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7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7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283464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850" b="1" dirty="0">
                          <a:solidFill>
                            <a:srgbClr val="26292E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GOP margin</a:t>
                      </a:r>
                      <a:endParaRPr lang="en-US" sz="8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E2E7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7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7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7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6FB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r">
                        <a:buNone/>
                      </a:pPr>
                      <a:r>
                        <a:rPr lang="en-US" sz="850" b="1" dirty="0">
                          <a:solidFill>
                            <a:srgbClr val="1E2761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45.9%</a:t>
                      </a:r>
                      <a:endParaRPr lang="en-US" sz="8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E2E7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7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7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7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6FB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r">
                        <a:buNone/>
                      </a:pPr>
                      <a:r>
                        <a:rPr lang="en-US" sz="850" dirty="0">
                          <a:solidFill>
                            <a:srgbClr val="26292E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—</a:t>
                      </a:r>
                      <a:endParaRPr lang="en-US" sz="8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E2E7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7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7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7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6FB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r">
                        <a:buNone/>
                      </a:pPr>
                      <a:r>
                        <a:rPr lang="en-US" sz="850" b="1" dirty="0">
                          <a:solidFill>
                            <a:srgbClr val="6B728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—</a:t>
                      </a:r>
                      <a:endParaRPr lang="en-US" sz="8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E2E7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7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7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7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6FB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r">
                        <a:buNone/>
                      </a:pPr>
                      <a:r>
                        <a:rPr lang="en-US" sz="850" dirty="0">
                          <a:solidFill>
                            <a:srgbClr val="26292E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49.1%</a:t>
                      </a:r>
                      <a:endParaRPr lang="en-US" sz="8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E2E7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7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7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7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6FB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r">
                        <a:buNone/>
                      </a:pPr>
                      <a:r>
                        <a:rPr lang="en-US" sz="850" b="1" dirty="0">
                          <a:solidFill>
                            <a:srgbClr val="C0392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-3.2 pts</a:t>
                      </a:r>
                      <a:endParaRPr lang="en-US" sz="8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E2E7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7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7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7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6FB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r">
                        <a:buNone/>
                      </a:pPr>
                      <a:r>
                        <a:rPr lang="en-US" sz="850" dirty="0">
                          <a:solidFill>
                            <a:srgbClr val="6B728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47.3%</a:t>
                      </a:r>
                      <a:endParaRPr lang="en-US" sz="8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E2E7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7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7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7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6FB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r">
                        <a:buNone/>
                      </a:pPr>
                      <a:r>
                        <a:rPr lang="en-US" sz="850" b="1" dirty="0">
                          <a:solidFill>
                            <a:srgbClr val="C0392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-1.4 pts</a:t>
                      </a:r>
                      <a:endParaRPr lang="en-US" sz="8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E2E7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7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7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7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6FB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  <a:tr h="283464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850" b="1" dirty="0">
                          <a:solidFill>
                            <a:srgbClr val="26292E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JV expense</a:t>
                      </a:r>
                      <a:endParaRPr lang="en-US" sz="8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E2E7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7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7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7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r">
                        <a:buNone/>
                      </a:pPr>
                      <a:r>
                        <a:rPr lang="en-US" sz="850" b="1" dirty="0">
                          <a:solidFill>
                            <a:srgbClr val="1E2761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−฿13.8M</a:t>
                      </a:r>
                      <a:endParaRPr lang="en-US" sz="8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E2E7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7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7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7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r">
                        <a:buNone/>
                      </a:pPr>
                      <a:r>
                        <a:rPr lang="en-US" sz="850" dirty="0">
                          <a:solidFill>
                            <a:srgbClr val="26292E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−฿14.0M</a:t>
                      </a:r>
                      <a:endParaRPr lang="en-US" sz="8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E2E7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7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7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7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r">
                        <a:buNone/>
                      </a:pPr>
                      <a:r>
                        <a:rPr lang="en-US" sz="850" b="1" dirty="0">
                          <a:solidFill>
                            <a:srgbClr val="2E7D32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-1.3%</a:t>
                      </a:r>
                      <a:endParaRPr lang="en-US" sz="8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E2E7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7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7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7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r">
                        <a:buNone/>
                      </a:pPr>
                      <a:r>
                        <a:rPr lang="en-US" sz="850" dirty="0">
                          <a:solidFill>
                            <a:srgbClr val="26292E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−฿13.1M</a:t>
                      </a:r>
                      <a:endParaRPr lang="en-US" sz="8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E2E7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7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7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7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r">
                        <a:buNone/>
                      </a:pPr>
                      <a:r>
                        <a:rPr lang="en-US" sz="850" b="1" dirty="0">
                          <a:solidFill>
                            <a:srgbClr val="C0392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+4.9%</a:t>
                      </a:r>
                      <a:endParaRPr lang="en-US" sz="8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E2E7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7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7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7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r">
                        <a:buNone/>
                      </a:pPr>
                      <a:r>
                        <a:rPr lang="en-US" sz="850" dirty="0">
                          <a:solidFill>
                            <a:srgbClr val="6B728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−฿12.7M</a:t>
                      </a:r>
                      <a:endParaRPr lang="en-US" sz="8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E2E7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7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7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7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r">
                        <a:buNone/>
                      </a:pPr>
                      <a:r>
                        <a:rPr lang="en-US" sz="850" b="1" dirty="0">
                          <a:solidFill>
                            <a:srgbClr val="C0392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+9.0%</a:t>
                      </a:r>
                      <a:endParaRPr lang="en-US" sz="8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E2E7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7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7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7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5"/>
                  </a:ext>
                </a:extLst>
              </a:tr>
              <a:tr h="283464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850" b="1" dirty="0">
                          <a:solidFill>
                            <a:srgbClr val="26292E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EBIT</a:t>
                      </a:r>
                      <a:endParaRPr lang="en-US" sz="8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E2E7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7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7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7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6FB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r">
                        <a:buNone/>
                      </a:pPr>
                      <a:r>
                        <a:rPr lang="en-US" sz="850" b="1" dirty="0">
                          <a:solidFill>
                            <a:srgbClr val="1E2761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฿4.5M</a:t>
                      </a:r>
                      <a:endParaRPr lang="en-US" sz="8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E2E7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7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7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7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6FB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r">
                        <a:buNone/>
                      </a:pPr>
                      <a:r>
                        <a:rPr lang="en-US" sz="850" dirty="0">
                          <a:solidFill>
                            <a:srgbClr val="26292E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฿7.0M</a:t>
                      </a:r>
                      <a:endParaRPr lang="en-US" sz="8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E2E7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7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7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7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6FB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r">
                        <a:buNone/>
                      </a:pPr>
                      <a:r>
                        <a:rPr lang="en-US" sz="850" b="1" dirty="0">
                          <a:solidFill>
                            <a:srgbClr val="C0392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-35.0%</a:t>
                      </a:r>
                      <a:endParaRPr lang="en-US" sz="8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E2E7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7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7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7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6FB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r">
                        <a:buNone/>
                      </a:pPr>
                      <a:r>
                        <a:rPr lang="en-US" sz="850" dirty="0">
                          <a:solidFill>
                            <a:srgbClr val="26292E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฿7.7M</a:t>
                      </a:r>
                      <a:endParaRPr lang="en-US" sz="8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E2E7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7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7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7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6FB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r">
                        <a:buNone/>
                      </a:pPr>
                      <a:r>
                        <a:rPr lang="en-US" sz="850" b="1" dirty="0">
                          <a:solidFill>
                            <a:srgbClr val="C0392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-41.0%</a:t>
                      </a:r>
                      <a:endParaRPr lang="en-US" sz="8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E2E7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7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7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7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6FB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r">
                        <a:buNone/>
                      </a:pPr>
                      <a:r>
                        <a:rPr lang="en-US" sz="850" dirty="0">
                          <a:solidFill>
                            <a:srgbClr val="6B728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฿4.5M</a:t>
                      </a:r>
                      <a:endParaRPr lang="en-US" sz="8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E2E7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7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7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7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6FB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r">
                        <a:buNone/>
                      </a:pPr>
                      <a:r>
                        <a:rPr lang="en-US" sz="850" b="1" dirty="0">
                          <a:solidFill>
                            <a:srgbClr val="2E7D32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+1.4%</a:t>
                      </a:r>
                      <a:endParaRPr lang="en-US" sz="8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E2E7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7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7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7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6FB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6"/>
                  </a:ext>
                </a:extLst>
              </a:tr>
              <a:tr h="283464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850" b="1" dirty="0">
                          <a:solidFill>
                            <a:srgbClr val="26292E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NPAT</a:t>
                      </a:r>
                      <a:endParaRPr lang="en-US" sz="8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E2E7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7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7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7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r">
                        <a:buNone/>
                      </a:pPr>
                      <a:r>
                        <a:rPr lang="en-US" sz="850" b="1" dirty="0">
                          <a:solidFill>
                            <a:srgbClr val="1E2761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−฿9.1M</a:t>
                      </a:r>
                      <a:endParaRPr lang="en-US" sz="8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E2E7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7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7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7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r">
                        <a:buNone/>
                      </a:pPr>
                      <a:r>
                        <a:rPr lang="en-US" sz="850" dirty="0">
                          <a:solidFill>
                            <a:srgbClr val="26292E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—</a:t>
                      </a:r>
                      <a:endParaRPr lang="en-US" sz="8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E2E7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7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7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7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r">
                        <a:buNone/>
                      </a:pPr>
                      <a:r>
                        <a:rPr lang="en-US" sz="850" b="1" dirty="0">
                          <a:solidFill>
                            <a:srgbClr val="6B728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—</a:t>
                      </a:r>
                      <a:endParaRPr lang="en-US" sz="8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E2E7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7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7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7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r">
                        <a:buNone/>
                      </a:pPr>
                      <a:r>
                        <a:rPr lang="en-US" sz="850" dirty="0">
                          <a:solidFill>
                            <a:srgbClr val="26292E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−฿8.0M</a:t>
                      </a:r>
                      <a:endParaRPr lang="en-US" sz="8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E2E7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7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7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7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r">
                        <a:buNone/>
                      </a:pPr>
                      <a:r>
                        <a:rPr lang="en-US" sz="850" b="1" dirty="0">
                          <a:solidFill>
                            <a:srgbClr val="C0392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−฿1.1M</a:t>
                      </a:r>
                      <a:endParaRPr lang="en-US" sz="8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E2E7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7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7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7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r">
                        <a:buNone/>
                      </a:pPr>
                      <a:r>
                        <a:rPr lang="en-US" sz="850" dirty="0">
                          <a:solidFill>
                            <a:srgbClr val="6B728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−฿9.0M</a:t>
                      </a:r>
                      <a:endParaRPr lang="en-US" sz="8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E2E7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7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7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7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r">
                        <a:buNone/>
                      </a:pPr>
                      <a:r>
                        <a:rPr lang="en-US" sz="850" b="1" dirty="0">
                          <a:solidFill>
                            <a:srgbClr val="C0392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−฿0.1M</a:t>
                      </a:r>
                      <a:endParaRPr lang="en-US" sz="8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E2E7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7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7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7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7"/>
                  </a:ext>
                </a:extLst>
              </a:tr>
            </a:tbl>
          </a:graphicData>
        </a:graphic>
      </p:graphicFrame>
      <p:sp>
        <p:nvSpPr>
          <p:cNvPr id="9" name="Shape 4"/>
          <p:cNvSpPr/>
          <p:nvPr/>
        </p:nvSpPr>
        <p:spPr>
          <a:xfrm>
            <a:off x="6126480" y="4206240"/>
            <a:ext cx="2651760" cy="1207008"/>
          </a:xfrm>
          <a:prstGeom prst="roundRect">
            <a:avLst>
              <a:gd name="adj" fmla="val 4545"/>
            </a:avLst>
          </a:prstGeom>
          <a:solidFill>
            <a:srgbClr val="F4F6FB"/>
          </a:solidFill>
          <a:ln w="9525">
            <a:solidFill>
              <a:srgbClr val="E2E7F2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0" name="Text 5"/>
          <p:cNvSpPr/>
          <p:nvPr/>
        </p:nvSpPr>
        <p:spPr>
          <a:xfrm>
            <a:off x="6272784" y="4297680"/>
            <a:ext cx="2359152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50" b="1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REVENUE H1 2026</a:t>
            </a:r>
            <a:endParaRPr lang="en-US" sz="1050" dirty="0"/>
          </a:p>
        </p:txBody>
      </p:sp>
      <p:sp>
        <p:nvSpPr>
          <p:cNvPr id="11" name="Text 6"/>
          <p:cNvSpPr/>
          <p:nvPr/>
        </p:nvSpPr>
        <p:spPr>
          <a:xfrm>
            <a:off x="6272784" y="4517136"/>
            <a:ext cx="2359152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400" b="1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฿40.0M</a:t>
            </a:r>
            <a:endParaRPr lang="en-US" sz="2400" dirty="0"/>
          </a:p>
        </p:txBody>
      </p:sp>
      <p:sp>
        <p:nvSpPr>
          <p:cNvPr id="12" name="Text 7"/>
          <p:cNvSpPr/>
          <p:nvPr/>
        </p:nvSpPr>
        <p:spPr>
          <a:xfrm>
            <a:off x="6272784" y="4974336"/>
            <a:ext cx="2359152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50" dirty="0">
                <a:solidFill>
                  <a:srgbClr val="C0392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-5.8% vs H1 2025</a:t>
            </a:r>
            <a:endParaRPr lang="en-US" sz="1050" dirty="0"/>
          </a:p>
        </p:txBody>
      </p:sp>
      <p:sp>
        <p:nvSpPr>
          <p:cNvPr id="13" name="Shape 8"/>
          <p:cNvSpPr/>
          <p:nvPr/>
        </p:nvSpPr>
        <p:spPr>
          <a:xfrm>
            <a:off x="8988552" y="4206240"/>
            <a:ext cx="2651760" cy="1207008"/>
          </a:xfrm>
          <a:prstGeom prst="roundRect">
            <a:avLst>
              <a:gd name="adj" fmla="val 4545"/>
            </a:avLst>
          </a:prstGeom>
          <a:solidFill>
            <a:srgbClr val="F4F6FB"/>
          </a:solidFill>
          <a:ln w="9525">
            <a:solidFill>
              <a:srgbClr val="E2E7F2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4" name="Text 9"/>
          <p:cNvSpPr/>
          <p:nvPr/>
        </p:nvSpPr>
        <p:spPr>
          <a:xfrm>
            <a:off x="9134856" y="4297680"/>
            <a:ext cx="2359152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50" b="1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EBIT H1 2026</a:t>
            </a:r>
            <a:endParaRPr lang="en-US" sz="1050" dirty="0"/>
          </a:p>
        </p:txBody>
      </p:sp>
      <p:sp>
        <p:nvSpPr>
          <p:cNvPr id="15" name="Text 10"/>
          <p:cNvSpPr/>
          <p:nvPr/>
        </p:nvSpPr>
        <p:spPr>
          <a:xfrm>
            <a:off x="9134856" y="4517136"/>
            <a:ext cx="2359152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400" b="1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฿4.5M</a:t>
            </a:r>
            <a:endParaRPr lang="en-US" sz="2400" dirty="0"/>
          </a:p>
        </p:txBody>
      </p:sp>
      <p:sp>
        <p:nvSpPr>
          <p:cNvPr id="16" name="Text 11"/>
          <p:cNvSpPr/>
          <p:nvPr/>
        </p:nvSpPr>
        <p:spPr>
          <a:xfrm>
            <a:off x="9134856" y="4974336"/>
            <a:ext cx="2359152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50" dirty="0">
                <a:solidFill>
                  <a:srgbClr val="C0392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−฿3.2M vs H1 2025 (฿7.7M)</a:t>
            </a:r>
            <a:endParaRPr lang="en-US" sz="1050" dirty="0"/>
          </a:p>
        </p:txBody>
      </p:sp>
      <p:sp>
        <p:nvSpPr>
          <p:cNvPr id="17" name="Text 12"/>
          <p:cNvSpPr/>
          <p:nvPr/>
        </p:nvSpPr>
        <p:spPr>
          <a:xfrm>
            <a:off x="548640" y="6355080"/>
            <a:ext cx="10881360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50" i="1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GOP = gross operating profit (≈ EBITDA). MF budget = Mitsui Fudosan budget. All figures are Jan–Jun sums of the monthly P&amp;L blocks in the result sheets; budget rows exist for OPEX, GOP and EBIT only (revenue, GOP margin and NPAT show —). JV expense derived as EBIT − GOP. Source: result FY24/FY25/FY26 sheets (official record).</a:t>
            </a:r>
            <a:endParaRPr lang="en-US" sz="1050" dirty="0"/>
          </a:p>
        </p:txBody>
      </p:sp>
      <p:sp>
        <p:nvSpPr>
          <p:cNvPr id="7" name="TextBox 6">
            <a:extLst>
              <a:ext uri="{FF2B5EF4-FFF2-40B4-BE49-F238E27FC236}">
                <a16:creationId xmlns:a16="http://schemas.microsoft.com/office/drawing/2014/main" id="{23C469CD-4CE3-10EB-A71A-F44B269CC01E}"/>
              </a:ext>
            </a:extLst>
          </p:cNvPr>
          <p:cNvSpPr txBox="1"/>
          <p:nvPr/>
        </p:nvSpPr>
        <p:spPr>
          <a:xfrm>
            <a:off x="8165592" y="5431750"/>
            <a:ext cx="3746091" cy="92333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dirty="0"/>
              <a:t>Rev align GOP</a:t>
            </a:r>
          </a:p>
          <a:p>
            <a:r>
              <a:rPr lang="en-US" dirty="0" err="1"/>
              <a:t>Jv</a:t>
            </a:r>
            <a:r>
              <a:rPr lang="en-US" dirty="0"/>
              <a:t> expense &gt; Prop tax</a:t>
            </a:r>
          </a:p>
          <a:p>
            <a:r>
              <a:rPr lang="en-US" dirty="0"/>
              <a:t>Loss carry forward </a:t>
            </a:r>
          </a:p>
        </p:txBody>
      </p:sp>
    </p:spTree>
  </p:cSld>
  <p:clrMapOvr>
    <a:masterClrMapping/>
  </p:clrMapOvr>
</p:sld>
</file>

<file path=ppt/slides/slide4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9">
    <p:bg>
      <p:bgPr>
        <a:solidFill>
          <a:srgbClr val="1E276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1965960"/>
            <a:ext cx="2011680" cy="1554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600" b="1" dirty="0">
                <a:solidFill>
                  <a:srgbClr val="D9A44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7</a:t>
            </a:r>
            <a:endParaRPr lang="en-US" sz="9600" dirty="0"/>
          </a:p>
        </p:txBody>
      </p:sp>
      <p:sp>
        <p:nvSpPr>
          <p:cNvPr id="3" name="Text 1"/>
          <p:cNvSpPr/>
          <p:nvPr/>
        </p:nvSpPr>
        <p:spPr>
          <a:xfrm>
            <a:off x="2514600" y="2286000"/>
            <a:ext cx="877824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4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Somerset Pattaya (SP)</a:t>
            </a:r>
            <a:endParaRPr lang="en-US" sz="4000" dirty="0"/>
          </a:p>
        </p:txBody>
      </p:sp>
      <p:sp>
        <p:nvSpPr>
          <p:cNvPr id="4" name="Text 2"/>
          <p:cNvSpPr/>
          <p:nvPr/>
        </p:nvSpPr>
        <p:spPr>
          <a:xfrm>
            <a:off x="2542032" y="3246120"/>
            <a:ext cx="841248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dirty="0">
                <a:solidFill>
                  <a:srgbClr val="AFC0E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P&amp;L (EBIT) · Performance vs budget · Segmentation · Guest nationality</a:t>
            </a:r>
            <a:endParaRPr lang="en-US" sz="1400" dirty="0"/>
          </a:p>
        </p:txBody>
      </p:sp>
      <p:sp>
        <p:nvSpPr>
          <p:cNvPr id="5" name="Text 3"/>
          <p:cNvSpPr/>
          <p:nvPr/>
        </p:nvSpPr>
        <p:spPr>
          <a:xfrm>
            <a:off x="548640" y="6172200"/>
            <a:ext cx="5486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7C8BC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Mitsui Thailand Portfolio · H1 2026</a:t>
            </a:r>
            <a:endParaRPr lang="en-US" sz="1000" dirty="0"/>
          </a:p>
        </p:txBody>
      </p:sp>
    </p:spTree>
  </p:cSld>
  <p:clrMapOvr>
    <a:masterClrMapping/>
  </p:clrMapOvr>
</p:sld>
</file>

<file path=ppt/slides/slide4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1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292608"/>
            <a:ext cx="8229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b="1" kern="0" spc="200" dirty="0">
                <a:solidFill>
                  <a:srgbClr val="D9A44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SECTION 7 · SOMERSET PATTAYA (SP)</a:t>
            </a:r>
            <a:endParaRPr lang="en-US" sz="1100" dirty="0"/>
          </a:p>
        </p:txBody>
      </p:sp>
      <p:sp>
        <p:nvSpPr>
          <p:cNvPr id="3" name="Text 1"/>
          <p:cNvSpPr/>
          <p:nvPr/>
        </p:nvSpPr>
        <p:spPr>
          <a:xfrm>
            <a:off x="548640" y="502920"/>
            <a:ext cx="11091672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800" b="1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Somerset Pattaya (SP)</a:t>
            </a:r>
            <a:endParaRPr lang="en-US" sz="2800" dirty="0"/>
          </a:p>
        </p:txBody>
      </p:sp>
      <p:sp>
        <p:nvSpPr>
          <p:cNvPr id="4" name="Text 2"/>
          <p:cNvSpPr/>
          <p:nvPr/>
        </p:nvSpPr>
        <p:spPr>
          <a:xfrm>
            <a:off x="548640" y="1060704"/>
            <a:ext cx="11091672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5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333 keys · monthly + YTD Jan–Jun · actual vs MF Projection and actual 2025</a:t>
            </a:r>
            <a:endParaRPr lang="en-US" sz="1250" dirty="0"/>
          </a:p>
        </p:txBody>
      </p:sp>
      <p:sp>
        <p:nvSpPr>
          <p:cNvPr id="5" name="Text 3"/>
          <p:cNvSpPr/>
          <p:nvPr/>
        </p:nvSpPr>
        <p:spPr>
          <a:xfrm>
            <a:off x="8165592" y="310896"/>
            <a:ext cx="34747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90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Mitsui Thailand Portfolio · H1 2026</a:t>
            </a:r>
            <a:endParaRPr lang="en-US" sz="900" dirty="0"/>
          </a:p>
        </p:txBody>
      </p:sp>
      <p:graphicFrame>
        <p:nvGraphicFramePr>
          <p:cNvPr id="6" name="Chart 0"/>
          <p:cNvGraphicFramePr/>
          <p:nvPr/>
        </p:nvGraphicFramePr>
        <p:xfrm>
          <a:off x="548640" y="1691640"/>
          <a:ext cx="7223760" cy="2240280"/>
        </p:xfrm>
        <a:graphic>
          <a:graphicData uri="http://schemas.openxmlformats.org/drawingml/2006/chart">
            <c:chart xmlns:c="http://schemas.openxmlformats.org/drawingml/2006/chart" xmlns:r="http://schemas.openxmlformats.org/officeDocument/2006/relationships" r:id="rId3"/>
          </a:graphicData>
        </a:graphic>
      </p:graphicFrame>
      <p:graphicFrame>
        <p:nvGraphicFramePr>
          <p:cNvPr id="42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548640" y="4069080"/>
          <a:ext cx="7223760" cy="2011680"/>
        </p:xfrm>
        <a:graphic>
          <a:graphicData uri="http://schemas.openxmlformats.org/drawingml/2006/table">
            <a:tbl>
              <a:tblPr/>
              <a:tblGrid>
                <a:gridCol w="132588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795528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795528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795528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  <a:gridCol w="795528">
                  <a:extLst>
                    <a:ext uri="{9D8B030D-6E8A-4147-A177-3AD203B41FA5}">
                      <a16:colId xmlns:a16="http://schemas.microsoft.com/office/drawing/2014/main" val="20004"/>
                    </a:ext>
                  </a:extLst>
                </a:gridCol>
                <a:gridCol w="795528">
                  <a:extLst>
                    <a:ext uri="{9D8B030D-6E8A-4147-A177-3AD203B41FA5}">
                      <a16:colId xmlns:a16="http://schemas.microsoft.com/office/drawing/2014/main" val="20005"/>
                    </a:ext>
                  </a:extLst>
                </a:gridCol>
                <a:gridCol w="795528">
                  <a:extLst>
                    <a:ext uri="{9D8B030D-6E8A-4147-A177-3AD203B41FA5}">
                      <a16:colId xmlns:a16="http://schemas.microsoft.com/office/drawing/2014/main" val="20006"/>
                    </a:ext>
                  </a:extLst>
                </a:gridCol>
                <a:gridCol w="1124712">
                  <a:extLst>
                    <a:ext uri="{9D8B030D-6E8A-4147-A177-3AD203B41FA5}">
                      <a16:colId xmlns:a16="http://schemas.microsoft.com/office/drawing/2014/main" val="20007"/>
                    </a:ext>
                  </a:extLst>
                </a:gridCol>
              </a:tblGrid>
              <a:tr h="201168"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9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H1 2026</a:t>
                      </a:r>
                      <a:endParaRPr lang="en-US" sz="9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E2E7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7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7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7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E2761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9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Jan</a:t>
                      </a:r>
                      <a:endParaRPr lang="en-US" sz="9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E2E7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7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7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7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E2761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9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Feb</a:t>
                      </a:r>
                      <a:endParaRPr lang="en-US" sz="9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E2E7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7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7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7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E2761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9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Mar</a:t>
                      </a:r>
                      <a:endParaRPr lang="en-US" sz="9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E2E7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7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7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7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E2761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9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Apr</a:t>
                      </a:r>
                      <a:endParaRPr lang="en-US" sz="9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E2E7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7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7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7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E2761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9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May</a:t>
                      </a:r>
                      <a:endParaRPr lang="en-US" sz="9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E2E7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7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7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7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E2761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9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Jun</a:t>
                      </a:r>
                      <a:endParaRPr lang="en-US" sz="9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E2E7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7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7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7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E2761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9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YTD</a:t>
                      </a:r>
                      <a:endParaRPr lang="en-US" sz="9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E2E7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7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7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7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E276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201168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900" b="1" dirty="0">
                          <a:solidFill>
                            <a:srgbClr val="26292E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Occupancy</a:t>
                      </a:r>
                      <a:endParaRPr lang="en-US" sz="9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E2E7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7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7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7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r">
                        <a:buNone/>
                      </a:pPr>
                      <a:r>
                        <a:rPr lang="en-US" sz="900" dirty="0">
                          <a:solidFill>
                            <a:srgbClr val="26292E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88.1%</a:t>
                      </a:r>
                      <a:endParaRPr lang="en-US" sz="9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E2E7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7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7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7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r">
                        <a:buNone/>
                      </a:pPr>
                      <a:r>
                        <a:rPr lang="en-US" sz="900" dirty="0">
                          <a:solidFill>
                            <a:srgbClr val="26292E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84.5%</a:t>
                      </a:r>
                      <a:endParaRPr lang="en-US" sz="9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E2E7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7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7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7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r">
                        <a:buNone/>
                      </a:pPr>
                      <a:r>
                        <a:rPr lang="en-US" sz="900" dirty="0">
                          <a:solidFill>
                            <a:srgbClr val="26292E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73.9%</a:t>
                      </a:r>
                      <a:endParaRPr lang="en-US" sz="9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E2E7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7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7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7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r">
                        <a:buNone/>
                      </a:pPr>
                      <a:r>
                        <a:rPr lang="en-US" sz="900" dirty="0">
                          <a:solidFill>
                            <a:srgbClr val="26292E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70.7%</a:t>
                      </a:r>
                      <a:endParaRPr lang="en-US" sz="9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E2E7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7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7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7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r">
                        <a:buNone/>
                      </a:pPr>
                      <a:r>
                        <a:rPr lang="en-US" sz="900" dirty="0">
                          <a:solidFill>
                            <a:srgbClr val="26292E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63.8%</a:t>
                      </a:r>
                      <a:endParaRPr lang="en-US" sz="9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E2E7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7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7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7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r">
                        <a:buNone/>
                      </a:pPr>
                      <a:r>
                        <a:rPr lang="en-US" sz="900" dirty="0">
                          <a:solidFill>
                            <a:srgbClr val="26292E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62.4%</a:t>
                      </a:r>
                      <a:endParaRPr lang="en-US" sz="9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E2E7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7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7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7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r">
                        <a:buNone/>
                      </a:pPr>
                      <a:r>
                        <a:rPr lang="en-US" sz="900" b="1" dirty="0">
                          <a:solidFill>
                            <a:srgbClr val="1E2761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73.8%</a:t>
                      </a:r>
                      <a:endParaRPr lang="en-US" sz="9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E2E7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7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7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7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201168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900" b="0" dirty="0">
                          <a:solidFill>
                            <a:srgbClr val="595959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 MF Projection</a:t>
                      </a:r>
                      <a:endParaRPr lang="en-US" sz="9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E2E7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7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7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7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r">
                        <a:buNone/>
                      </a:pPr>
                      <a:r>
                        <a:rPr lang="en-US" sz="900" dirty="0">
                          <a:solidFill>
                            <a:srgbClr val="595959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83.7%</a:t>
                      </a:r>
                      <a:endParaRPr lang="en-US" sz="9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E2E7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7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7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7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r">
                        <a:buNone/>
                      </a:pPr>
                      <a:r>
                        <a:rPr lang="en-US" sz="900" dirty="0">
                          <a:solidFill>
                            <a:srgbClr val="595959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86.6%</a:t>
                      </a:r>
                      <a:endParaRPr lang="en-US" sz="9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E2E7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7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7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7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r">
                        <a:buNone/>
                      </a:pPr>
                      <a:r>
                        <a:rPr lang="en-US" sz="900" dirty="0">
                          <a:solidFill>
                            <a:srgbClr val="595959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68.5%</a:t>
                      </a:r>
                      <a:endParaRPr lang="en-US" sz="9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E2E7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7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7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7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r">
                        <a:buNone/>
                      </a:pPr>
                      <a:r>
                        <a:rPr lang="en-US" sz="900" dirty="0">
                          <a:solidFill>
                            <a:srgbClr val="595959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75.9%</a:t>
                      </a:r>
                      <a:endParaRPr lang="en-US" sz="9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E2E7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7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7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7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r">
                        <a:buNone/>
                      </a:pPr>
                      <a:r>
                        <a:rPr lang="en-US" sz="900" dirty="0">
                          <a:solidFill>
                            <a:srgbClr val="595959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65.5%</a:t>
                      </a:r>
                      <a:endParaRPr lang="en-US" sz="9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E2E7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7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7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7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r">
                        <a:buNone/>
                      </a:pPr>
                      <a:r>
                        <a:rPr lang="en-US" sz="900" dirty="0">
                          <a:solidFill>
                            <a:srgbClr val="595959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62.8%</a:t>
                      </a:r>
                      <a:endParaRPr lang="en-US" sz="9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E2E7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7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7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7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r">
                        <a:buNone/>
                      </a:pPr>
                      <a:r>
                        <a:rPr lang="en-US" sz="900" b="1" dirty="0">
                          <a:solidFill>
                            <a:srgbClr val="595959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73.6%</a:t>
                      </a:r>
                      <a:endParaRPr lang="en-US" sz="9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E2E7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7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7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7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201168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900" b="0" dirty="0">
                          <a:solidFill>
                            <a:srgbClr val="595959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 Actual 2025</a:t>
                      </a:r>
                      <a:endParaRPr lang="en-US" sz="9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E2E7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7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7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7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r">
                        <a:buNone/>
                      </a:pPr>
                      <a:r>
                        <a:rPr lang="en-US" sz="900" dirty="0">
                          <a:solidFill>
                            <a:srgbClr val="595959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86.2%</a:t>
                      </a:r>
                      <a:endParaRPr lang="en-US" sz="9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E2E7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7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7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7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r">
                        <a:buNone/>
                      </a:pPr>
                      <a:r>
                        <a:rPr lang="en-US" sz="900" dirty="0">
                          <a:solidFill>
                            <a:srgbClr val="595959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83.1%</a:t>
                      </a:r>
                      <a:endParaRPr lang="en-US" sz="9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E2E7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7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7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7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r">
                        <a:buNone/>
                      </a:pPr>
                      <a:r>
                        <a:rPr lang="en-US" sz="900" dirty="0">
                          <a:solidFill>
                            <a:srgbClr val="595959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63.0%</a:t>
                      </a:r>
                      <a:endParaRPr lang="en-US" sz="9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E2E7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7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7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7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r">
                        <a:buNone/>
                      </a:pPr>
                      <a:r>
                        <a:rPr lang="en-US" sz="900" dirty="0">
                          <a:solidFill>
                            <a:srgbClr val="595959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70.0%</a:t>
                      </a:r>
                      <a:endParaRPr lang="en-US" sz="9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E2E7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7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7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7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r">
                        <a:buNone/>
                      </a:pPr>
                      <a:r>
                        <a:rPr lang="en-US" sz="900" dirty="0">
                          <a:solidFill>
                            <a:srgbClr val="595959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61.5%</a:t>
                      </a:r>
                      <a:endParaRPr lang="en-US" sz="9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E2E7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7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7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7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r">
                        <a:buNone/>
                      </a:pPr>
                      <a:r>
                        <a:rPr lang="en-US" sz="900" dirty="0">
                          <a:solidFill>
                            <a:srgbClr val="595959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57.4%</a:t>
                      </a:r>
                      <a:endParaRPr lang="en-US" sz="9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E2E7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7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7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7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r">
                        <a:buNone/>
                      </a:pPr>
                      <a:r>
                        <a:rPr lang="en-US" sz="900" b="1" dirty="0">
                          <a:solidFill>
                            <a:srgbClr val="595959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70.1%</a:t>
                      </a:r>
                      <a:endParaRPr lang="en-US" sz="9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E2E7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7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7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7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201168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900" b="1" dirty="0">
                          <a:solidFill>
                            <a:srgbClr val="26292E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ADR (฿)</a:t>
                      </a:r>
                      <a:endParaRPr lang="en-US" sz="9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E2E7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7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7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7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6FB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r">
                        <a:buNone/>
                      </a:pPr>
                      <a:r>
                        <a:rPr lang="en-US" sz="900" dirty="0">
                          <a:solidFill>
                            <a:srgbClr val="26292E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4,064</a:t>
                      </a:r>
                      <a:endParaRPr lang="en-US" sz="9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E2E7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7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7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7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6FB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r">
                        <a:buNone/>
                      </a:pPr>
                      <a:r>
                        <a:rPr lang="en-US" sz="900" dirty="0">
                          <a:solidFill>
                            <a:srgbClr val="26292E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4,150</a:t>
                      </a:r>
                      <a:endParaRPr lang="en-US" sz="9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E2E7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7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7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7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6FB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r">
                        <a:buNone/>
                      </a:pPr>
                      <a:r>
                        <a:rPr lang="en-US" sz="900" dirty="0">
                          <a:solidFill>
                            <a:srgbClr val="26292E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3,684</a:t>
                      </a:r>
                      <a:endParaRPr lang="en-US" sz="9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E2E7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7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7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7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6FB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r">
                        <a:buNone/>
                      </a:pPr>
                      <a:r>
                        <a:rPr lang="en-US" sz="900" dirty="0">
                          <a:solidFill>
                            <a:srgbClr val="26292E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3,641</a:t>
                      </a:r>
                      <a:endParaRPr lang="en-US" sz="9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E2E7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7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7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7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6FB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r">
                        <a:buNone/>
                      </a:pPr>
                      <a:r>
                        <a:rPr lang="en-US" sz="900" dirty="0">
                          <a:solidFill>
                            <a:srgbClr val="26292E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3,374</a:t>
                      </a:r>
                      <a:endParaRPr lang="en-US" sz="9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E2E7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7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7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7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6FB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r">
                        <a:buNone/>
                      </a:pPr>
                      <a:r>
                        <a:rPr lang="en-US" sz="900" dirty="0">
                          <a:solidFill>
                            <a:srgbClr val="26292E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3,381</a:t>
                      </a:r>
                      <a:endParaRPr lang="en-US" sz="9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E2E7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7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7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7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6FB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r">
                        <a:buNone/>
                      </a:pPr>
                      <a:r>
                        <a:rPr lang="en-US" sz="900" b="1" dirty="0">
                          <a:solidFill>
                            <a:srgbClr val="1E2761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3,749</a:t>
                      </a:r>
                      <a:endParaRPr lang="en-US" sz="9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E2E7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7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7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7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6FB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201168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900" b="0" dirty="0">
                          <a:solidFill>
                            <a:srgbClr val="595959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 MF Projection</a:t>
                      </a:r>
                      <a:endParaRPr lang="en-US" sz="9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E2E7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7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7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7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6FB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r">
                        <a:buNone/>
                      </a:pPr>
                      <a:r>
                        <a:rPr lang="en-US" sz="900" dirty="0">
                          <a:solidFill>
                            <a:srgbClr val="595959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4,104</a:t>
                      </a:r>
                      <a:endParaRPr lang="en-US" sz="9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E2E7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7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7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7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6FB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r">
                        <a:buNone/>
                      </a:pPr>
                      <a:r>
                        <a:rPr lang="en-US" sz="900" dirty="0">
                          <a:solidFill>
                            <a:srgbClr val="595959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4,369</a:t>
                      </a:r>
                      <a:endParaRPr lang="en-US" sz="9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E2E7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7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7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7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6FB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r">
                        <a:buNone/>
                      </a:pPr>
                      <a:r>
                        <a:rPr lang="en-US" sz="900" dirty="0">
                          <a:solidFill>
                            <a:srgbClr val="595959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3,850</a:t>
                      </a:r>
                      <a:endParaRPr lang="en-US" sz="9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E2E7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7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7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7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6FB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r">
                        <a:buNone/>
                      </a:pPr>
                      <a:r>
                        <a:rPr lang="en-US" sz="900" dirty="0">
                          <a:solidFill>
                            <a:srgbClr val="595959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3,850</a:t>
                      </a:r>
                      <a:endParaRPr lang="en-US" sz="9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E2E7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7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7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7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6FB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r">
                        <a:buNone/>
                      </a:pPr>
                      <a:r>
                        <a:rPr lang="en-US" sz="900" dirty="0">
                          <a:solidFill>
                            <a:srgbClr val="595959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3,589</a:t>
                      </a:r>
                      <a:endParaRPr lang="en-US" sz="9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E2E7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7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7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7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6FB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r">
                        <a:buNone/>
                      </a:pPr>
                      <a:r>
                        <a:rPr lang="en-US" sz="900" dirty="0">
                          <a:solidFill>
                            <a:srgbClr val="595959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3,409</a:t>
                      </a:r>
                      <a:endParaRPr lang="en-US" sz="9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E2E7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7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7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7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6FB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r">
                        <a:buNone/>
                      </a:pPr>
                      <a:r>
                        <a:rPr lang="en-US" sz="900" b="1" dirty="0">
                          <a:solidFill>
                            <a:srgbClr val="595959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3,892</a:t>
                      </a:r>
                      <a:endParaRPr lang="en-US" sz="9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E2E7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7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7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7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6FB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201168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900" b="0" dirty="0">
                          <a:solidFill>
                            <a:srgbClr val="595959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 Actual 2025</a:t>
                      </a:r>
                      <a:endParaRPr lang="en-US" sz="9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E2E7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7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7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7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6FB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r">
                        <a:buNone/>
                      </a:pPr>
                      <a:r>
                        <a:rPr lang="en-US" sz="900" dirty="0">
                          <a:solidFill>
                            <a:srgbClr val="595959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4,481</a:t>
                      </a:r>
                      <a:endParaRPr lang="en-US" sz="9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E2E7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7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7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7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6FB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r">
                        <a:buNone/>
                      </a:pPr>
                      <a:r>
                        <a:rPr lang="en-US" sz="900" dirty="0">
                          <a:solidFill>
                            <a:srgbClr val="595959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4,226</a:t>
                      </a:r>
                      <a:endParaRPr lang="en-US" sz="9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E2E7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7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7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7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6FB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r">
                        <a:buNone/>
                      </a:pPr>
                      <a:r>
                        <a:rPr lang="en-US" sz="900" dirty="0">
                          <a:solidFill>
                            <a:srgbClr val="595959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3,901</a:t>
                      </a:r>
                      <a:endParaRPr lang="en-US" sz="9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E2E7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7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7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7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6FB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r">
                        <a:buNone/>
                      </a:pPr>
                      <a:r>
                        <a:rPr lang="en-US" sz="900" dirty="0">
                          <a:solidFill>
                            <a:srgbClr val="595959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3,871</a:t>
                      </a:r>
                      <a:endParaRPr lang="en-US" sz="9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E2E7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7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7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7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6FB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r">
                        <a:buNone/>
                      </a:pPr>
                      <a:r>
                        <a:rPr lang="en-US" sz="900" dirty="0">
                          <a:solidFill>
                            <a:srgbClr val="595959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3,507</a:t>
                      </a:r>
                      <a:endParaRPr lang="en-US" sz="9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E2E7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7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7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7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6FB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r">
                        <a:buNone/>
                      </a:pPr>
                      <a:r>
                        <a:rPr lang="en-US" sz="900" dirty="0">
                          <a:solidFill>
                            <a:srgbClr val="595959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3,326</a:t>
                      </a:r>
                      <a:endParaRPr lang="en-US" sz="9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E2E7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7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7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7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6FB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r">
                        <a:buNone/>
                      </a:pPr>
                      <a:r>
                        <a:rPr lang="en-US" sz="900" b="1" dirty="0">
                          <a:solidFill>
                            <a:srgbClr val="595959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3,941</a:t>
                      </a:r>
                      <a:endParaRPr lang="en-US" sz="9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E2E7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7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7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7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6FB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201168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900" b="1" dirty="0">
                          <a:solidFill>
                            <a:srgbClr val="26292E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RevPAR (฿)</a:t>
                      </a:r>
                      <a:endParaRPr lang="en-US" sz="9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E2E7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7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7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7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r">
                        <a:buNone/>
                      </a:pPr>
                      <a:r>
                        <a:rPr lang="en-US" sz="900" dirty="0">
                          <a:solidFill>
                            <a:srgbClr val="26292E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3,579</a:t>
                      </a:r>
                      <a:endParaRPr lang="en-US" sz="9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E2E7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7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7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7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r">
                        <a:buNone/>
                      </a:pPr>
                      <a:r>
                        <a:rPr lang="en-US" sz="900" dirty="0">
                          <a:solidFill>
                            <a:srgbClr val="26292E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3,506</a:t>
                      </a:r>
                      <a:endParaRPr lang="en-US" sz="9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E2E7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7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7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7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r">
                        <a:buNone/>
                      </a:pPr>
                      <a:r>
                        <a:rPr lang="en-US" sz="900" dirty="0">
                          <a:solidFill>
                            <a:srgbClr val="26292E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2,721</a:t>
                      </a:r>
                      <a:endParaRPr lang="en-US" sz="9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E2E7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7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7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7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r">
                        <a:buNone/>
                      </a:pPr>
                      <a:r>
                        <a:rPr lang="en-US" sz="900" dirty="0">
                          <a:solidFill>
                            <a:srgbClr val="26292E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2,574</a:t>
                      </a:r>
                      <a:endParaRPr lang="en-US" sz="9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E2E7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7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7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7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r">
                        <a:buNone/>
                      </a:pPr>
                      <a:r>
                        <a:rPr lang="en-US" sz="900" dirty="0">
                          <a:solidFill>
                            <a:srgbClr val="26292E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2,152</a:t>
                      </a:r>
                      <a:endParaRPr lang="en-US" sz="9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E2E7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7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7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7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r">
                        <a:buNone/>
                      </a:pPr>
                      <a:r>
                        <a:rPr lang="en-US" sz="900" dirty="0">
                          <a:solidFill>
                            <a:srgbClr val="26292E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2,110</a:t>
                      </a:r>
                      <a:endParaRPr lang="en-US" sz="9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E2E7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7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7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7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r">
                        <a:buNone/>
                      </a:pPr>
                      <a:r>
                        <a:rPr lang="en-US" sz="900" b="1" dirty="0">
                          <a:solidFill>
                            <a:srgbClr val="1E2761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2,766</a:t>
                      </a:r>
                      <a:endParaRPr lang="en-US" sz="9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E2E7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7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7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7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201168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900" b="0" dirty="0">
                          <a:solidFill>
                            <a:srgbClr val="595959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 MF Projection</a:t>
                      </a:r>
                      <a:endParaRPr lang="en-US" sz="9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E2E7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7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7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7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r">
                        <a:buNone/>
                      </a:pPr>
                      <a:r>
                        <a:rPr lang="en-US" sz="900" dirty="0">
                          <a:solidFill>
                            <a:srgbClr val="595959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3,433</a:t>
                      </a:r>
                      <a:endParaRPr lang="en-US" sz="9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E2E7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7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7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7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r">
                        <a:buNone/>
                      </a:pPr>
                      <a:r>
                        <a:rPr lang="en-US" sz="900" dirty="0">
                          <a:solidFill>
                            <a:srgbClr val="595959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3,782</a:t>
                      </a:r>
                      <a:endParaRPr lang="en-US" sz="9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E2E7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7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7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7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r">
                        <a:buNone/>
                      </a:pPr>
                      <a:r>
                        <a:rPr lang="en-US" sz="900" dirty="0">
                          <a:solidFill>
                            <a:srgbClr val="595959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2,637</a:t>
                      </a:r>
                      <a:endParaRPr lang="en-US" sz="9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E2E7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7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7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7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r">
                        <a:buNone/>
                      </a:pPr>
                      <a:r>
                        <a:rPr lang="en-US" sz="900" dirty="0">
                          <a:solidFill>
                            <a:srgbClr val="595959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2,921</a:t>
                      </a:r>
                      <a:endParaRPr lang="en-US" sz="9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E2E7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7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7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7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r">
                        <a:buNone/>
                      </a:pPr>
                      <a:r>
                        <a:rPr lang="en-US" sz="900" dirty="0">
                          <a:solidFill>
                            <a:srgbClr val="595959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2,349</a:t>
                      </a:r>
                      <a:endParaRPr lang="en-US" sz="9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E2E7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7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7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7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r">
                        <a:buNone/>
                      </a:pPr>
                      <a:r>
                        <a:rPr lang="en-US" sz="900" dirty="0">
                          <a:solidFill>
                            <a:srgbClr val="595959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2,140</a:t>
                      </a:r>
                      <a:endParaRPr lang="en-US" sz="9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E2E7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7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7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7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r">
                        <a:buNone/>
                      </a:pPr>
                      <a:r>
                        <a:rPr lang="en-US" sz="900" b="1" dirty="0">
                          <a:solidFill>
                            <a:srgbClr val="595959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2,866</a:t>
                      </a:r>
                      <a:endParaRPr lang="en-US" sz="9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E2E7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7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7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7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201168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900" b="0" dirty="0">
                          <a:solidFill>
                            <a:srgbClr val="595959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 Actual 2025</a:t>
                      </a:r>
                      <a:endParaRPr lang="en-US" sz="9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E2E7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7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7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7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r">
                        <a:buNone/>
                      </a:pPr>
                      <a:r>
                        <a:rPr lang="en-US" sz="900" dirty="0">
                          <a:solidFill>
                            <a:srgbClr val="595959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3,863</a:t>
                      </a:r>
                      <a:endParaRPr lang="en-US" sz="9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E2E7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7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7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7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r">
                        <a:buNone/>
                      </a:pPr>
                      <a:r>
                        <a:rPr lang="en-US" sz="900" dirty="0">
                          <a:solidFill>
                            <a:srgbClr val="595959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3,512</a:t>
                      </a:r>
                      <a:endParaRPr lang="en-US" sz="9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E2E7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7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7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7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r">
                        <a:buNone/>
                      </a:pPr>
                      <a:r>
                        <a:rPr lang="en-US" sz="900" dirty="0">
                          <a:solidFill>
                            <a:srgbClr val="595959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2,456</a:t>
                      </a:r>
                      <a:endParaRPr lang="en-US" sz="9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E2E7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7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7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7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r">
                        <a:buNone/>
                      </a:pPr>
                      <a:r>
                        <a:rPr lang="en-US" sz="900" dirty="0">
                          <a:solidFill>
                            <a:srgbClr val="595959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2,710</a:t>
                      </a:r>
                      <a:endParaRPr lang="en-US" sz="9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E2E7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7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7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7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r">
                        <a:buNone/>
                      </a:pPr>
                      <a:r>
                        <a:rPr lang="en-US" sz="900" dirty="0">
                          <a:solidFill>
                            <a:srgbClr val="595959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2,157</a:t>
                      </a:r>
                      <a:endParaRPr lang="en-US" sz="9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E2E7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7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7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7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r">
                        <a:buNone/>
                      </a:pPr>
                      <a:r>
                        <a:rPr lang="en-US" sz="900" dirty="0">
                          <a:solidFill>
                            <a:srgbClr val="595959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1,909</a:t>
                      </a:r>
                      <a:endParaRPr lang="en-US" sz="9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E2E7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7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7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7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r">
                        <a:buNone/>
                      </a:pPr>
                      <a:r>
                        <a:rPr lang="en-US" sz="900" b="1" dirty="0">
                          <a:solidFill>
                            <a:srgbClr val="595959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2,760</a:t>
                      </a:r>
                      <a:endParaRPr lang="en-US" sz="9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E2E7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7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7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7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</a:tbl>
          </a:graphicData>
        </a:graphic>
      </p:graphicFrame>
      <p:sp>
        <p:nvSpPr>
          <p:cNvPr id="8" name="Shape 4"/>
          <p:cNvSpPr/>
          <p:nvPr/>
        </p:nvSpPr>
        <p:spPr>
          <a:xfrm>
            <a:off x="8092440" y="1828800"/>
            <a:ext cx="3520440" cy="1261872"/>
          </a:xfrm>
          <a:prstGeom prst="roundRect">
            <a:avLst>
              <a:gd name="adj" fmla="val 4348"/>
            </a:avLst>
          </a:prstGeom>
          <a:solidFill>
            <a:srgbClr val="F4F6FB"/>
          </a:solidFill>
          <a:ln w="9525">
            <a:solidFill>
              <a:srgbClr val="E2E7F2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9" name="Text 5"/>
          <p:cNvSpPr/>
          <p:nvPr/>
        </p:nvSpPr>
        <p:spPr>
          <a:xfrm>
            <a:off x="8238744" y="1920240"/>
            <a:ext cx="3227832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50" b="1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OCCUPANCY · YTD</a:t>
            </a:r>
            <a:endParaRPr lang="en-US" sz="1050" dirty="0"/>
          </a:p>
        </p:txBody>
      </p:sp>
      <p:sp>
        <p:nvSpPr>
          <p:cNvPr id="10" name="Text 6"/>
          <p:cNvSpPr/>
          <p:nvPr/>
        </p:nvSpPr>
        <p:spPr>
          <a:xfrm>
            <a:off x="8238744" y="2139696"/>
            <a:ext cx="3227832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400" b="1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73.8%</a:t>
            </a:r>
            <a:endParaRPr lang="en-US" sz="2400" dirty="0"/>
          </a:p>
        </p:txBody>
      </p:sp>
      <p:sp>
        <p:nvSpPr>
          <p:cNvPr id="11" name="Text 7"/>
          <p:cNvSpPr/>
          <p:nvPr/>
        </p:nvSpPr>
        <p:spPr>
          <a:xfrm>
            <a:off x="8238744" y="2596896"/>
            <a:ext cx="3227832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50" dirty="0">
                <a:solidFill>
                  <a:srgbClr val="2E7D3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+0.2 pts vs budget</a:t>
            </a:r>
            <a:r>
              <a:rPr lang="en-US" sz="105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· </a:t>
            </a:r>
            <a:r>
              <a:rPr lang="en-US" sz="1050" dirty="0">
                <a:solidFill>
                  <a:srgbClr val="2E7D3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+3.7 pts vs LY</a:t>
            </a:r>
            <a:endParaRPr lang="en-US" sz="1050" dirty="0"/>
          </a:p>
        </p:txBody>
      </p:sp>
      <p:sp>
        <p:nvSpPr>
          <p:cNvPr id="12" name="Shape 8"/>
          <p:cNvSpPr/>
          <p:nvPr/>
        </p:nvSpPr>
        <p:spPr>
          <a:xfrm>
            <a:off x="8092440" y="3236976"/>
            <a:ext cx="3520440" cy="1261872"/>
          </a:xfrm>
          <a:prstGeom prst="roundRect">
            <a:avLst>
              <a:gd name="adj" fmla="val 4348"/>
            </a:avLst>
          </a:prstGeom>
          <a:solidFill>
            <a:srgbClr val="F4F6FB"/>
          </a:solidFill>
          <a:ln w="9525">
            <a:solidFill>
              <a:srgbClr val="E2E7F2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3" name="Text 9"/>
          <p:cNvSpPr/>
          <p:nvPr/>
        </p:nvSpPr>
        <p:spPr>
          <a:xfrm>
            <a:off x="8238744" y="3328416"/>
            <a:ext cx="3227832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50" b="1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ADR · YTD</a:t>
            </a:r>
            <a:endParaRPr lang="en-US" sz="1050" dirty="0"/>
          </a:p>
        </p:txBody>
      </p:sp>
      <p:sp>
        <p:nvSpPr>
          <p:cNvPr id="14" name="Text 10"/>
          <p:cNvSpPr/>
          <p:nvPr/>
        </p:nvSpPr>
        <p:spPr>
          <a:xfrm>
            <a:off x="8238744" y="3547872"/>
            <a:ext cx="3227832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400" b="1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฿3,749</a:t>
            </a:r>
            <a:endParaRPr lang="en-US" sz="2400" dirty="0"/>
          </a:p>
        </p:txBody>
      </p:sp>
      <p:sp>
        <p:nvSpPr>
          <p:cNvPr id="15" name="Text 11"/>
          <p:cNvSpPr/>
          <p:nvPr/>
        </p:nvSpPr>
        <p:spPr>
          <a:xfrm>
            <a:off x="8238744" y="4005072"/>
            <a:ext cx="3227832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50" dirty="0">
                <a:solidFill>
                  <a:srgbClr val="C0392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-3.7% vs budget</a:t>
            </a:r>
            <a:r>
              <a:rPr lang="en-US" sz="105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· </a:t>
            </a:r>
            <a:r>
              <a:rPr lang="en-US" sz="1050" dirty="0">
                <a:solidFill>
                  <a:srgbClr val="C0392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-4.9% vs LY</a:t>
            </a:r>
            <a:endParaRPr lang="en-US" sz="1050" dirty="0"/>
          </a:p>
        </p:txBody>
      </p:sp>
      <p:sp>
        <p:nvSpPr>
          <p:cNvPr id="16" name="Shape 12"/>
          <p:cNvSpPr/>
          <p:nvPr/>
        </p:nvSpPr>
        <p:spPr>
          <a:xfrm>
            <a:off x="8092440" y="4645152"/>
            <a:ext cx="3520440" cy="1261872"/>
          </a:xfrm>
          <a:prstGeom prst="roundRect">
            <a:avLst>
              <a:gd name="adj" fmla="val 4348"/>
            </a:avLst>
          </a:prstGeom>
          <a:solidFill>
            <a:srgbClr val="F4F6FB"/>
          </a:solidFill>
          <a:ln w="9525">
            <a:solidFill>
              <a:srgbClr val="E2E7F2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7" name="Text 13"/>
          <p:cNvSpPr/>
          <p:nvPr/>
        </p:nvSpPr>
        <p:spPr>
          <a:xfrm>
            <a:off x="8238744" y="4736592"/>
            <a:ext cx="3227832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50" b="1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REVPAR · YTD</a:t>
            </a:r>
            <a:endParaRPr lang="en-US" sz="1050" dirty="0"/>
          </a:p>
        </p:txBody>
      </p:sp>
      <p:sp>
        <p:nvSpPr>
          <p:cNvPr id="18" name="Text 14"/>
          <p:cNvSpPr/>
          <p:nvPr/>
        </p:nvSpPr>
        <p:spPr>
          <a:xfrm>
            <a:off x="8238744" y="4956048"/>
            <a:ext cx="3227832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400" b="1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฿2,766</a:t>
            </a:r>
            <a:endParaRPr lang="en-US" sz="2400" dirty="0"/>
          </a:p>
        </p:txBody>
      </p:sp>
      <p:sp>
        <p:nvSpPr>
          <p:cNvPr id="19" name="Text 15"/>
          <p:cNvSpPr/>
          <p:nvPr/>
        </p:nvSpPr>
        <p:spPr>
          <a:xfrm>
            <a:off x="8238744" y="5413248"/>
            <a:ext cx="3227832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50" dirty="0">
                <a:solidFill>
                  <a:srgbClr val="C0392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-3.5% vs budget</a:t>
            </a:r>
            <a:r>
              <a:rPr lang="en-US" sz="105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· </a:t>
            </a:r>
            <a:r>
              <a:rPr lang="en-US" sz="1050" dirty="0">
                <a:solidFill>
                  <a:srgbClr val="2E7D3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+0.2% vs LY</a:t>
            </a:r>
            <a:endParaRPr lang="en-US" sz="1050" dirty="0"/>
          </a:p>
        </p:txBody>
      </p:sp>
      <p:sp>
        <p:nvSpPr>
          <p:cNvPr id="20" name="Text 16"/>
          <p:cNvSpPr/>
          <p:nvPr/>
        </p:nvSpPr>
        <p:spPr>
          <a:xfrm>
            <a:off x="548640" y="6172200"/>
            <a:ext cx="10881360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50" i="1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SP: ahead of budget in Jan–Feb high season; Mar–Jun broadly on plan — the re-based Pattaya STR shows a level market.</a:t>
            </a:r>
            <a:endParaRPr lang="en-US" sz="1050" dirty="0"/>
          </a:p>
        </p:txBody>
      </p:sp>
    </p:spTree>
  </p:cSld>
  <p:clrMapOvr>
    <a:masterClrMapping/>
  </p:clrMapOvr>
</p:sld>
</file>

<file path=ppt/slides/slide4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2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292608"/>
            <a:ext cx="8229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b="1" kern="0" spc="200" dirty="0">
                <a:solidFill>
                  <a:srgbClr val="D9A44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SECTION 7 · SOMERSET PATTAYA (SP)</a:t>
            </a:r>
            <a:endParaRPr lang="en-US" sz="1100" dirty="0"/>
          </a:p>
        </p:txBody>
      </p:sp>
      <p:sp>
        <p:nvSpPr>
          <p:cNvPr id="3" name="Text 1"/>
          <p:cNvSpPr/>
          <p:nvPr/>
        </p:nvSpPr>
        <p:spPr>
          <a:xfrm>
            <a:off x="548640" y="502920"/>
            <a:ext cx="11091672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800" b="1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Somerset Pattaya (SP) — room nights by segment</a:t>
            </a:r>
            <a:endParaRPr lang="en-US" sz="2800" dirty="0"/>
          </a:p>
        </p:txBody>
      </p:sp>
      <p:sp>
        <p:nvSpPr>
          <p:cNvPr id="4" name="Text 2"/>
          <p:cNvSpPr/>
          <p:nvPr/>
        </p:nvSpPr>
        <p:spPr>
          <a:xfrm>
            <a:off x="548640" y="1060704"/>
            <a:ext cx="11091672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5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Monthly mix 2026 (left) · YTD share (right) · table: room nights by month — 2026 vs 2025, mix and H1 change</a:t>
            </a:r>
            <a:endParaRPr lang="en-US" sz="1250" dirty="0"/>
          </a:p>
        </p:txBody>
      </p:sp>
      <p:sp>
        <p:nvSpPr>
          <p:cNvPr id="5" name="Text 3"/>
          <p:cNvSpPr/>
          <p:nvPr/>
        </p:nvSpPr>
        <p:spPr>
          <a:xfrm>
            <a:off x="8165592" y="310896"/>
            <a:ext cx="34747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90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Mitsui Thailand Portfolio · H1 2026</a:t>
            </a:r>
            <a:endParaRPr lang="en-US" sz="900" dirty="0"/>
          </a:p>
        </p:txBody>
      </p:sp>
      <p:graphicFrame>
        <p:nvGraphicFramePr>
          <p:cNvPr id="6" name="Chart 0"/>
          <p:cNvGraphicFramePr/>
          <p:nvPr/>
        </p:nvGraphicFramePr>
        <p:xfrm>
          <a:off x="548640" y="1627632"/>
          <a:ext cx="6675120" cy="1783080"/>
        </p:xfrm>
        <a:graphic>
          <a:graphicData uri="http://schemas.openxmlformats.org/drawingml/2006/chart">
            <c:chart xmlns:c="http://schemas.openxmlformats.org/drawingml/2006/chart" xmlns:r="http://schemas.openxmlformats.org/officeDocument/2006/relationships" r:id="rId3"/>
          </a:graphicData>
        </a:graphic>
      </p:graphicFrame>
      <p:graphicFrame>
        <p:nvGraphicFramePr>
          <p:cNvPr id="7" name="Chart 1"/>
          <p:cNvGraphicFramePr/>
          <p:nvPr/>
        </p:nvGraphicFramePr>
        <p:xfrm>
          <a:off x="7635240" y="1627632"/>
          <a:ext cx="4023360" cy="1783080"/>
        </p:xfrm>
        <a:graphic>
          <a:graphicData uri="http://schemas.openxmlformats.org/drawingml/2006/chart">
            <c:chart xmlns:c="http://schemas.openxmlformats.org/drawingml/2006/chart" xmlns:r="http://schemas.openxmlformats.org/officeDocument/2006/relationships" r:id="rId4"/>
          </a:graphicData>
        </a:graphic>
      </p:graphicFrame>
      <p:sp>
        <p:nvSpPr>
          <p:cNvPr id="8" name="Text 4"/>
          <p:cNvSpPr/>
          <p:nvPr/>
        </p:nvSpPr>
        <p:spPr>
          <a:xfrm>
            <a:off x="548640" y="6629399"/>
            <a:ext cx="10881360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50" i="1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Largest segment YTD: Wholesale (42% of room nights). Gray rows = same month 2025 · Chg % = H1 2026 vs H1 2025 room nights.</a:t>
            </a:r>
            <a:endParaRPr lang="en-US" sz="1050" dirty="0"/>
          </a:p>
        </p:txBody>
      </p:sp>
      <p:graphicFrame>
        <p:nvGraphicFramePr>
          <p:cNvPr id="9" name="Table 8"/>
          <p:cNvGraphicFramePr>
            <a:graphicFrameLocks noGrp="1"/>
          </p:cNvGraphicFramePr>
          <p:nvPr/>
        </p:nvGraphicFramePr>
        <p:xfrm>
          <a:off x="548640" y="3493008"/>
          <a:ext cx="11091672" cy="3090672"/>
        </p:xfrm>
        <a:graphic>
          <a:graphicData uri="http://schemas.openxmlformats.org/drawingml/2006/table">
            <a:tbl>
              <a:tblPr>
                <a:tableStyleId>{5C22544A-7EE6-4342-B048-85BDC9FD1C3A}</a:tableStyleId>
              </a:tblPr>
              <a:tblGrid>
                <a:gridCol w="1737360"/>
                <a:gridCol w="1170432"/>
                <a:gridCol w="1170432"/>
                <a:gridCol w="1170432"/>
                <a:gridCol w="1170432"/>
                <a:gridCol w="1170432"/>
                <a:gridCol w="1170432"/>
                <a:gridCol w="960120"/>
                <a:gridCol w="640080"/>
                <a:gridCol w="731520"/>
              </a:tblGrid>
              <a:tr h="147174">
                <a:tc>
                  <a:txBody>
                    <a:bodyPr wrap="none"/>
                    <a:lstStyle/>
                    <a:p>
                      <a:pPr algn="l"/>
                      <a:r>
                        <a:rPr sz="750" b="1">
                          <a:solidFill>
                            <a:srgbClr val="FFFFFF"/>
                          </a:solidFill>
                          <a:latin typeface="Calibri"/>
                        </a:rPr>
                        <a:t>Segment</a:t>
                      </a:r>
                    </a:p>
                  </a:txBody>
                  <a:tcPr anchor="ctr" marL="27432" marR="27432" marT="4572" marB="4572">
                    <a:lnL w="6350">
                      <a:solidFill>
                        <a:srgbClr val="E2E7F2"/>
                      </a:solidFill>
                    </a:lnL>
                    <a:lnR w="6350">
                      <a:solidFill>
                        <a:srgbClr val="E2E7F2"/>
                      </a:solidFill>
                    </a:lnR>
                    <a:lnT w="6350">
                      <a:solidFill>
                        <a:srgbClr val="E2E7F2"/>
                      </a:solidFill>
                    </a:lnT>
                    <a:lnB w="6350">
                      <a:solidFill>
                        <a:srgbClr val="E2E7F2"/>
                      </a:solidFill>
                    </a:lnB>
                    <a:solidFill>
                      <a:srgbClr val="1E2761"/>
                    </a:solidFill>
                  </a:tcPr>
                </a:tc>
                <a:tc>
                  <a:txBody>
                    <a:bodyPr wrap="none"/>
                    <a:lstStyle/>
                    <a:p>
                      <a:pPr algn="r"/>
                      <a:r>
                        <a:rPr sz="750" b="1">
                          <a:solidFill>
                            <a:srgbClr val="FFFFFF"/>
                          </a:solidFill>
                          <a:latin typeface="Calibri"/>
                        </a:rPr>
                        <a:t>Jan</a:t>
                      </a:r>
                    </a:p>
                  </a:txBody>
                  <a:tcPr anchor="ctr" marL="27432" marR="27432" marT="4572" marB="4572">
                    <a:lnL w="6350">
                      <a:solidFill>
                        <a:srgbClr val="E2E7F2"/>
                      </a:solidFill>
                    </a:lnL>
                    <a:lnR w="6350">
                      <a:solidFill>
                        <a:srgbClr val="E2E7F2"/>
                      </a:solidFill>
                    </a:lnR>
                    <a:lnT w="6350">
                      <a:solidFill>
                        <a:srgbClr val="E2E7F2"/>
                      </a:solidFill>
                    </a:lnT>
                    <a:lnB w="6350">
                      <a:solidFill>
                        <a:srgbClr val="E2E7F2"/>
                      </a:solidFill>
                    </a:lnB>
                    <a:solidFill>
                      <a:srgbClr val="1E2761"/>
                    </a:solidFill>
                  </a:tcPr>
                </a:tc>
                <a:tc>
                  <a:txBody>
                    <a:bodyPr wrap="none"/>
                    <a:lstStyle/>
                    <a:p>
                      <a:pPr algn="r"/>
                      <a:r>
                        <a:rPr sz="750" b="1">
                          <a:solidFill>
                            <a:srgbClr val="FFFFFF"/>
                          </a:solidFill>
                          <a:latin typeface="Calibri"/>
                        </a:rPr>
                        <a:t>Feb</a:t>
                      </a:r>
                    </a:p>
                  </a:txBody>
                  <a:tcPr anchor="ctr" marL="27432" marR="27432" marT="4572" marB="4572">
                    <a:lnL w="6350">
                      <a:solidFill>
                        <a:srgbClr val="E2E7F2"/>
                      </a:solidFill>
                    </a:lnL>
                    <a:lnR w="6350">
                      <a:solidFill>
                        <a:srgbClr val="E2E7F2"/>
                      </a:solidFill>
                    </a:lnR>
                    <a:lnT w="6350">
                      <a:solidFill>
                        <a:srgbClr val="E2E7F2"/>
                      </a:solidFill>
                    </a:lnT>
                    <a:lnB w="6350">
                      <a:solidFill>
                        <a:srgbClr val="E2E7F2"/>
                      </a:solidFill>
                    </a:lnB>
                    <a:solidFill>
                      <a:srgbClr val="1E2761"/>
                    </a:solidFill>
                  </a:tcPr>
                </a:tc>
                <a:tc>
                  <a:txBody>
                    <a:bodyPr wrap="none"/>
                    <a:lstStyle/>
                    <a:p>
                      <a:pPr algn="r"/>
                      <a:r>
                        <a:rPr sz="750" b="1">
                          <a:solidFill>
                            <a:srgbClr val="FFFFFF"/>
                          </a:solidFill>
                          <a:latin typeface="Calibri"/>
                        </a:rPr>
                        <a:t>Mar</a:t>
                      </a:r>
                    </a:p>
                  </a:txBody>
                  <a:tcPr anchor="ctr" marL="27432" marR="27432" marT="4572" marB="4572">
                    <a:lnL w="6350">
                      <a:solidFill>
                        <a:srgbClr val="E2E7F2"/>
                      </a:solidFill>
                    </a:lnL>
                    <a:lnR w="6350">
                      <a:solidFill>
                        <a:srgbClr val="E2E7F2"/>
                      </a:solidFill>
                    </a:lnR>
                    <a:lnT w="6350">
                      <a:solidFill>
                        <a:srgbClr val="E2E7F2"/>
                      </a:solidFill>
                    </a:lnT>
                    <a:lnB w="6350">
                      <a:solidFill>
                        <a:srgbClr val="E2E7F2"/>
                      </a:solidFill>
                    </a:lnB>
                    <a:solidFill>
                      <a:srgbClr val="1E2761"/>
                    </a:solidFill>
                  </a:tcPr>
                </a:tc>
                <a:tc>
                  <a:txBody>
                    <a:bodyPr wrap="none"/>
                    <a:lstStyle/>
                    <a:p>
                      <a:pPr algn="r"/>
                      <a:r>
                        <a:rPr sz="750" b="1">
                          <a:solidFill>
                            <a:srgbClr val="FFFFFF"/>
                          </a:solidFill>
                          <a:latin typeface="Calibri"/>
                        </a:rPr>
                        <a:t>Apr</a:t>
                      </a:r>
                    </a:p>
                  </a:txBody>
                  <a:tcPr anchor="ctr" marL="27432" marR="27432" marT="4572" marB="4572">
                    <a:lnL w="6350">
                      <a:solidFill>
                        <a:srgbClr val="E2E7F2"/>
                      </a:solidFill>
                    </a:lnL>
                    <a:lnR w="6350">
                      <a:solidFill>
                        <a:srgbClr val="E2E7F2"/>
                      </a:solidFill>
                    </a:lnR>
                    <a:lnT w="6350">
                      <a:solidFill>
                        <a:srgbClr val="E2E7F2"/>
                      </a:solidFill>
                    </a:lnT>
                    <a:lnB w="6350">
                      <a:solidFill>
                        <a:srgbClr val="E2E7F2"/>
                      </a:solidFill>
                    </a:lnB>
                    <a:solidFill>
                      <a:srgbClr val="1E2761"/>
                    </a:solidFill>
                  </a:tcPr>
                </a:tc>
                <a:tc>
                  <a:txBody>
                    <a:bodyPr wrap="none"/>
                    <a:lstStyle/>
                    <a:p>
                      <a:pPr algn="r"/>
                      <a:r>
                        <a:rPr sz="750" b="1">
                          <a:solidFill>
                            <a:srgbClr val="FFFFFF"/>
                          </a:solidFill>
                          <a:latin typeface="Calibri"/>
                        </a:rPr>
                        <a:t>May</a:t>
                      </a:r>
                    </a:p>
                  </a:txBody>
                  <a:tcPr anchor="ctr" marL="27432" marR="27432" marT="4572" marB="4572">
                    <a:lnL w="6350">
                      <a:solidFill>
                        <a:srgbClr val="E2E7F2"/>
                      </a:solidFill>
                    </a:lnL>
                    <a:lnR w="6350">
                      <a:solidFill>
                        <a:srgbClr val="E2E7F2"/>
                      </a:solidFill>
                    </a:lnR>
                    <a:lnT w="6350">
                      <a:solidFill>
                        <a:srgbClr val="E2E7F2"/>
                      </a:solidFill>
                    </a:lnT>
                    <a:lnB w="6350">
                      <a:solidFill>
                        <a:srgbClr val="E2E7F2"/>
                      </a:solidFill>
                    </a:lnB>
                    <a:solidFill>
                      <a:srgbClr val="1E2761"/>
                    </a:solidFill>
                  </a:tcPr>
                </a:tc>
                <a:tc>
                  <a:txBody>
                    <a:bodyPr wrap="none"/>
                    <a:lstStyle/>
                    <a:p>
                      <a:pPr algn="r"/>
                      <a:r>
                        <a:rPr sz="750" b="1">
                          <a:solidFill>
                            <a:srgbClr val="FFFFFF"/>
                          </a:solidFill>
                          <a:latin typeface="Calibri"/>
                        </a:rPr>
                        <a:t>Jun</a:t>
                      </a:r>
                    </a:p>
                  </a:txBody>
                  <a:tcPr anchor="ctr" marL="27432" marR="27432" marT="4572" marB="4572">
                    <a:lnL w="6350">
                      <a:solidFill>
                        <a:srgbClr val="E2E7F2"/>
                      </a:solidFill>
                    </a:lnL>
                    <a:lnR w="6350">
                      <a:solidFill>
                        <a:srgbClr val="E2E7F2"/>
                      </a:solidFill>
                    </a:lnR>
                    <a:lnT w="6350">
                      <a:solidFill>
                        <a:srgbClr val="E2E7F2"/>
                      </a:solidFill>
                    </a:lnT>
                    <a:lnB w="6350">
                      <a:solidFill>
                        <a:srgbClr val="E2E7F2"/>
                      </a:solidFill>
                    </a:lnB>
                    <a:solidFill>
                      <a:srgbClr val="1E2761"/>
                    </a:solidFill>
                  </a:tcPr>
                </a:tc>
                <a:tc>
                  <a:txBody>
                    <a:bodyPr wrap="none"/>
                    <a:lstStyle/>
                    <a:p>
                      <a:pPr algn="r"/>
                      <a:r>
                        <a:rPr sz="750" b="1">
                          <a:solidFill>
                            <a:srgbClr val="FFFFFF"/>
                          </a:solidFill>
                          <a:latin typeface="Calibri"/>
                        </a:rPr>
                        <a:t>H1</a:t>
                      </a:r>
                    </a:p>
                  </a:txBody>
                  <a:tcPr anchor="ctr" marL="27432" marR="27432" marT="4572" marB="4572">
                    <a:lnL w="6350">
                      <a:solidFill>
                        <a:srgbClr val="E2E7F2"/>
                      </a:solidFill>
                    </a:lnL>
                    <a:lnR w="6350">
                      <a:solidFill>
                        <a:srgbClr val="E2E7F2"/>
                      </a:solidFill>
                    </a:lnR>
                    <a:lnT w="6350">
                      <a:solidFill>
                        <a:srgbClr val="E2E7F2"/>
                      </a:solidFill>
                    </a:lnT>
                    <a:lnB w="6350">
                      <a:solidFill>
                        <a:srgbClr val="E2E7F2"/>
                      </a:solidFill>
                    </a:lnB>
                    <a:solidFill>
                      <a:srgbClr val="1E2761"/>
                    </a:solidFill>
                  </a:tcPr>
                </a:tc>
                <a:tc>
                  <a:txBody>
                    <a:bodyPr wrap="none"/>
                    <a:lstStyle/>
                    <a:p>
                      <a:pPr algn="r"/>
                      <a:r>
                        <a:rPr sz="750" b="1">
                          <a:solidFill>
                            <a:srgbClr val="FFFFFF"/>
                          </a:solidFill>
                          <a:latin typeface="Calibri"/>
                        </a:rPr>
                        <a:t>Mix</a:t>
                      </a:r>
                    </a:p>
                  </a:txBody>
                  <a:tcPr anchor="ctr" marL="27432" marR="27432" marT="4572" marB="4572">
                    <a:lnL w="6350">
                      <a:solidFill>
                        <a:srgbClr val="E2E7F2"/>
                      </a:solidFill>
                    </a:lnL>
                    <a:lnR w="6350">
                      <a:solidFill>
                        <a:srgbClr val="E2E7F2"/>
                      </a:solidFill>
                    </a:lnR>
                    <a:lnT w="6350">
                      <a:solidFill>
                        <a:srgbClr val="E2E7F2"/>
                      </a:solidFill>
                    </a:lnT>
                    <a:lnB w="6350">
                      <a:solidFill>
                        <a:srgbClr val="E2E7F2"/>
                      </a:solidFill>
                    </a:lnB>
                    <a:solidFill>
                      <a:srgbClr val="1E2761"/>
                    </a:solidFill>
                  </a:tcPr>
                </a:tc>
                <a:tc>
                  <a:txBody>
                    <a:bodyPr wrap="none"/>
                    <a:lstStyle/>
                    <a:p>
                      <a:pPr algn="r"/>
                      <a:r>
                        <a:rPr sz="750" b="1">
                          <a:solidFill>
                            <a:srgbClr val="FFFFFF"/>
                          </a:solidFill>
                          <a:latin typeface="Calibri"/>
                        </a:rPr>
                        <a:t>Chg %</a:t>
                      </a:r>
                    </a:p>
                  </a:txBody>
                  <a:tcPr anchor="ctr" marL="27432" marR="27432" marT="4572" marB="4572">
                    <a:lnL w="6350">
                      <a:solidFill>
                        <a:srgbClr val="E2E7F2"/>
                      </a:solidFill>
                    </a:lnL>
                    <a:lnR w="6350">
                      <a:solidFill>
                        <a:srgbClr val="E2E7F2"/>
                      </a:solidFill>
                    </a:lnR>
                    <a:lnT w="6350">
                      <a:solidFill>
                        <a:srgbClr val="E2E7F2"/>
                      </a:solidFill>
                    </a:lnT>
                    <a:lnB w="6350">
                      <a:solidFill>
                        <a:srgbClr val="E2E7F2"/>
                      </a:solidFill>
                    </a:lnB>
                    <a:solidFill>
                      <a:srgbClr val="1E2761"/>
                    </a:solidFill>
                  </a:tcPr>
                </a:tc>
              </a:tr>
              <a:tr h="147174">
                <a:tc>
                  <a:txBody>
                    <a:bodyPr wrap="none"/>
                    <a:lstStyle/>
                    <a:p>
                      <a:pPr algn="l"/>
                      <a:r>
                        <a:rPr sz="750" b="1">
                          <a:solidFill>
                            <a:srgbClr val="26292E"/>
                          </a:solidFill>
                          <a:latin typeface="Calibri"/>
                        </a:rPr>
                        <a:t>Corporate SS</a:t>
                      </a:r>
                    </a:p>
                  </a:txBody>
                  <a:tcPr anchor="ctr" marL="27432" marR="27432" marT="4572" marB="4572">
                    <a:lnL w="6350">
                      <a:solidFill>
                        <a:srgbClr val="E2E7F2"/>
                      </a:solidFill>
                    </a:lnL>
                    <a:lnR w="6350">
                      <a:solidFill>
                        <a:srgbClr val="E2E7F2"/>
                      </a:solidFill>
                    </a:lnR>
                    <a:lnT w="6350">
                      <a:solidFill>
                        <a:srgbClr val="E2E7F2"/>
                      </a:solidFill>
                    </a:lnT>
                    <a:lnB w="6350">
                      <a:solidFill>
                        <a:srgbClr val="E2E7F2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wrap="none"/>
                    <a:lstStyle/>
                    <a:p>
                      <a:pPr algn="r"/>
                      <a:r>
                        <a:rPr sz="750" b="0">
                          <a:solidFill>
                            <a:srgbClr val="26292E"/>
                          </a:solidFill>
                          <a:latin typeface="Calibri"/>
                        </a:rPr>
                        <a:t>312</a:t>
                      </a:r>
                    </a:p>
                  </a:txBody>
                  <a:tcPr anchor="ctr" marL="27432" marR="27432" marT="4572" marB="4572">
                    <a:lnL w="6350">
                      <a:solidFill>
                        <a:srgbClr val="E2E7F2"/>
                      </a:solidFill>
                    </a:lnL>
                    <a:lnR w="6350">
                      <a:solidFill>
                        <a:srgbClr val="E2E7F2"/>
                      </a:solidFill>
                    </a:lnR>
                    <a:lnT w="6350">
                      <a:solidFill>
                        <a:srgbClr val="E2E7F2"/>
                      </a:solidFill>
                    </a:lnT>
                    <a:lnB w="6350">
                      <a:solidFill>
                        <a:srgbClr val="E2E7F2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wrap="none"/>
                    <a:lstStyle/>
                    <a:p>
                      <a:pPr algn="r"/>
                      <a:r>
                        <a:rPr sz="750" b="0">
                          <a:solidFill>
                            <a:srgbClr val="26292E"/>
                          </a:solidFill>
                          <a:latin typeface="Calibri"/>
                        </a:rPr>
                        <a:t>340</a:t>
                      </a:r>
                    </a:p>
                  </a:txBody>
                  <a:tcPr anchor="ctr" marL="27432" marR="27432" marT="4572" marB="4572">
                    <a:lnL w="6350">
                      <a:solidFill>
                        <a:srgbClr val="E2E7F2"/>
                      </a:solidFill>
                    </a:lnL>
                    <a:lnR w="6350">
                      <a:solidFill>
                        <a:srgbClr val="E2E7F2"/>
                      </a:solidFill>
                    </a:lnR>
                    <a:lnT w="6350">
                      <a:solidFill>
                        <a:srgbClr val="E2E7F2"/>
                      </a:solidFill>
                    </a:lnT>
                    <a:lnB w="6350">
                      <a:solidFill>
                        <a:srgbClr val="E2E7F2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wrap="none"/>
                    <a:lstStyle/>
                    <a:p>
                      <a:pPr algn="r"/>
                      <a:r>
                        <a:rPr sz="750" b="0">
                          <a:solidFill>
                            <a:srgbClr val="26292E"/>
                          </a:solidFill>
                          <a:latin typeface="Calibri"/>
                        </a:rPr>
                        <a:t>378</a:t>
                      </a:r>
                    </a:p>
                  </a:txBody>
                  <a:tcPr anchor="ctr" marL="27432" marR="27432" marT="4572" marB="4572">
                    <a:lnL w="6350">
                      <a:solidFill>
                        <a:srgbClr val="E2E7F2"/>
                      </a:solidFill>
                    </a:lnL>
                    <a:lnR w="6350">
                      <a:solidFill>
                        <a:srgbClr val="E2E7F2"/>
                      </a:solidFill>
                    </a:lnR>
                    <a:lnT w="6350">
                      <a:solidFill>
                        <a:srgbClr val="E2E7F2"/>
                      </a:solidFill>
                    </a:lnT>
                    <a:lnB w="6350">
                      <a:solidFill>
                        <a:srgbClr val="E2E7F2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wrap="none"/>
                    <a:lstStyle/>
                    <a:p>
                      <a:pPr algn="r"/>
                      <a:r>
                        <a:rPr sz="750" b="0">
                          <a:solidFill>
                            <a:srgbClr val="26292E"/>
                          </a:solidFill>
                          <a:latin typeface="Calibri"/>
                        </a:rPr>
                        <a:t>238</a:t>
                      </a:r>
                    </a:p>
                  </a:txBody>
                  <a:tcPr anchor="ctr" marL="27432" marR="27432" marT="4572" marB="4572">
                    <a:lnL w="6350">
                      <a:solidFill>
                        <a:srgbClr val="E2E7F2"/>
                      </a:solidFill>
                    </a:lnL>
                    <a:lnR w="6350">
                      <a:solidFill>
                        <a:srgbClr val="E2E7F2"/>
                      </a:solidFill>
                    </a:lnR>
                    <a:lnT w="6350">
                      <a:solidFill>
                        <a:srgbClr val="E2E7F2"/>
                      </a:solidFill>
                    </a:lnT>
                    <a:lnB w="6350">
                      <a:solidFill>
                        <a:srgbClr val="E2E7F2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wrap="none"/>
                    <a:lstStyle/>
                    <a:p>
                      <a:pPr algn="r"/>
                      <a:r>
                        <a:rPr sz="750" b="0">
                          <a:solidFill>
                            <a:srgbClr val="26292E"/>
                          </a:solidFill>
                          <a:latin typeface="Calibri"/>
                        </a:rPr>
                        <a:t>347</a:t>
                      </a:r>
                    </a:p>
                  </a:txBody>
                  <a:tcPr anchor="ctr" marL="27432" marR="27432" marT="4572" marB="4572">
                    <a:lnL w="6350">
                      <a:solidFill>
                        <a:srgbClr val="E2E7F2"/>
                      </a:solidFill>
                    </a:lnL>
                    <a:lnR w="6350">
                      <a:solidFill>
                        <a:srgbClr val="E2E7F2"/>
                      </a:solidFill>
                    </a:lnR>
                    <a:lnT w="6350">
                      <a:solidFill>
                        <a:srgbClr val="E2E7F2"/>
                      </a:solidFill>
                    </a:lnT>
                    <a:lnB w="6350">
                      <a:solidFill>
                        <a:srgbClr val="E2E7F2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wrap="none"/>
                    <a:lstStyle/>
                    <a:p>
                      <a:pPr algn="r"/>
                      <a:r>
                        <a:rPr sz="750" b="0">
                          <a:solidFill>
                            <a:srgbClr val="26292E"/>
                          </a:solidFill>
                          <a:latin typeface="Calibri"/>
                        </a:rPr>
                        <a:t>264</a:t>
                      </a:r>
                    </a:p>
                  </a:txBody>
                  <a:tcPr anchor="ctr" marL="27432" marR="27432" marT="4572" marB="4572">
                    <a:lnL w="6350">
                      <a:solidFill>
                        <a:srgbClr val="E2E7F2"/>
                      </a:solidFill>
                    </a:lnL>
                    <a:lnR w="6350">
                      <a:solidFill>
                        <a:srgbClr val="E2E7F2"/>
                      </a:solidFill>
                    </a:lnR>
                    <a:lnT w="6350">
                      <a:solidFill>
                        <a:srgbClr val="E2E7F2"/>
                      </a:solidFill>
                    </a:lnT>
                    <a:lnB w="6350">
                      <a:solidFill>
                        <a:srgbClr val="E2E7F2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wrap="none"/>
                    <a:lstStyle/>
                    <a:p>
                      <a:pPr algn="r"/>
                      <a:r>
                        <a:rPr sz="750" b="1">
                          <a:solidFill>
                            <a:srgbClr val="26292E"/>
                          </a:solidFill>
                          <a:latin typeface="Calibri"/>
                        </a:rPr>
                        <a:t>1,879</a:t>
                      </a:r>
                    </a:p>
                  </a:txBody>
                  <a:tcPr anchor="ctr" marL="27432" marR="27432" marT="4572" marB="4572">
                    <a:lnL w="6350">
                      <a:solidFill>
                        <a:srgbClr val="E2E7F2"/>
                      </a:solidFill>
                    </a:lnL>
                    <a:lnR w="6350">
                      <a:solidFill>
                        <a:srgbClr val="E2E7F2"/>
                      </a:solidFill>
                    </a:lnR>
                    <a:lnT w="6350">
                      <a:solidFill>
                        <a:srgbClr val="E2E7F2"/>
                      </a:solidFill>
                    </a:lnT>
                    <a:lnB w="6350">
                      <a:solidFill>
                        <a:srgbClr val="E2E7F2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wrap="none"/>
                    <a:lstStyle/>
                    <a:p>
                      <a:pPr algn="r"/>
                      <a:r>
                        <a:rPr sz="750" b="0">
                          <a:solidFill>
                            <a:srgbClr val="26292E"/>
                          </a:solidFill>
                          <a:latin typeface="Calibri"/>
                        </a:rPr>
                        <a:t>4%</a:t>
                      </a:r>
                    </a:p>
                  </a:txBody>
                  <a:tcPr anchor="ctr" marL="27432" marR="27432" marT="4572" marB="4572">
                    <a:lnL w="6350">
                      <a:solidFill>
                        <a:srgbClr val="E2E7F2"/>
                      </a:solidFill>
                    </a:lnL>
                    <a:lnR w="6350">
                      <a:solidFill>
                        <a:srgbClr val="E2E7F2"/>
                      </a:solidFill>
                    </a:lnR>
                    <a:lnT w="6350">
                      <a:solidFill>
                        <a:srgbClr val="E2E7F2"/>
                      </a:solidFill>
                    </a:lnT>
                    <a:lnB w="6350">
                      <a:solidFill>
                        <a:srgbClr val="E2E7F2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wrap="none"/>
                    <a:lstStyle/>
                    <a:p>
                      <a:pPr algn="r"/>
                      <a:r>
                        <a:rPr sz="750" b="1">
                          <a:solidFill>
                            <a:srgbClr val="1E7B34"/>
                          </a:solidFill>
                          <a:latin typeface="Calibri"/>
                        </a:rPr>
                        <a:t>+36%</a:t>
                      </a:r>
                    </a:p>
                  </a:txBody>
                  <a:tcPr anchor="ctr" marL="27432" marR="27432" marT="4572" marB="4572">
                    <a:lnL w="6350">
                      <a:solidFill>
                        <a:srgbClr val="E2E7F2"/>
                      </a:solidFill>
                    </a:lnL>
                    <a:lnR w="6350">
                      <a:solidFill>
                        <a:srgbClr val="E2E7F2"/>
                      </a:solidFill>
                    </a:lnR>
                    <a:lnT w="6350">
                      <a:solidFill>
                        <a:srgbClr val="E2E7F2"/>
                      </a:solidFill>
                    </a:lnT>
                    <a:lnB w="6350">
                      <a:solidFill>
                        <a:srgbClr val="E2E7F2"/>
                      </a:solidFill>
                    </a:lnB>
                    <a:solidFill>
                      <a:srgbClr val="FFFFFF"/>
                    </a:solidFill>
                  </a:tcPr>
                </a:tc>
              </a:tr>
              <a:tr h="147174">
                <a:tc>
                  <a:txBody>
                    <a:bodyPr wrap="none"/>
                    <a:lstStyle/>
                    <a:p>
                      <a:pPr algn="l"/>
                      <a:r>
                        <a:rPr sz="750" b="0">
                          <a:solidFill>
                            <a:srgbClr val="595959"/>
                          </a:solidFill>
                          <a:latin typeface="Calibri"/>
                        </a:rPr>
                        <a:t>   ’25</a:t>
                      </a:r>
                    </a:p>
                  </a:txBody>
                  <a:tcPr anchor="ctr" marL="27432" marR="27432" marT="4572" marB="4572">
                    <a:lnL w="6350">
                      <a:solidFill>
                        <a:srgbClr val="E2E7F2"/>
                      </a:solidFill>
                    </a:lnL>
                    <a:lnR w="6350">
                      <a:solidFill>
                        <a:srgbClr val="E2E7F2"/>
                      </a:solidFill>
                    </a:lnR>
                    <a:lnT w="6350">
                      <a:solidFill>
                        <a:srgbClr val="E2E7F2"/>
                      </a:solidFill>
                    </a:lnT>
                    <a:lnB w="6350">
                      <a:solidFill>
                        <a:srgbClr val="E2E7F2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wrap="none"/>
                    <a:lstStyle/>
                    <a:p>
                      <a:pPr algn="r"/>
                      <a:r>
                        <a:rPr sz="750" b="0">
                          <a:solidFill>
                            <a:srgbClr val="595959"/>
                          </a:solidFill>
                          <a:latin typeface="Calibri"/>
                        </a:rPr>
                        <a:t>278</a:t>
                      </a:r>
                    </a:p>
                  </a:txBody>
                  <a:tcPr anchor="ctr" marL="27432" marR="27432" marT="4572" marB="4572">
                    <a:lnL w="6350">
                      <a:solidFill>
                        <a:srgbClr val="E2E7F2"/>
                      </a:solidFill>
                    </a:lnL>
                    <a:lnR w="6350">
                      <a:solidFill>
                        <a:srgbClr val="E2E7F2"/>
                      </a:solidFill>
                    </a:lnR>
                    <a:lnT w="6350">
                      <a:solidFill>
                        <a:srgbClr val="E2E7F2"/>
                      </a:solidFill>
                    </a:lnT>
                    <a:lnB w="6350">
                      <a:solidFill>
                        <a:srgbClr val="E2E7F2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wrap="none"/>
                    <a:lstStyle/>
                    <a:p>
                      <a:pPr algn="r"/>
                      <a:r>
                        <a:rPr sz="750" b="0">
                          <a:solidFill>
                            <a:srgbClr val="595959"/>
                          </a:solidFill>
                          <a:latin typeface="Calibri"/>
                        </a:rPr>
                        <a:t>200</a:t>
                      </a:r>
                    </a:p>
                  </a:txBody>
                  <a:tcPr anchor="ctr" marL="27432" marR="27432" marT="4572" marB="4572">
                    <a:lnL w="6350">
                      <a:solidFill>
                        <a:srgbClr val="E2E7F2"/>
                      </a:solidFill>
                    </a:lnL>
                    <a:lnR w="6350">
                      <a:solidFill>
                        <a:srgbClr val="E2E7F2"/>
                      </a:solidFill>
                    </a:lnR>
                    <a:lnT w="6350">
                      <a:solidFill>
                        <a:srgbClr val="E2E7F2"/>
                      </a:solidFill>
                    </a:lnT>
                    <a:lnB w="6350">
                      <a:solidFill>
                        <a:srgbClr val="E2E7F2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wrap="none"/>
                    <a:lstStyle/>
                    <a:p>
                      <a:pPr algn="r"/>
                      <a:r>
                        <a:rPr sz="750" b="0">
                          <a:solidFill>
                            <a:srgbClr val="595959"/>
                          </a:solidFill>
                          <a:latin typeface="Calibri"/>
                        </a:rPr>
                        <a:t>280</a:t>
                      </a:r>
                    </a:p>
                  </a:txBody>
                  <a:tcPr anchor="ctr" marL="27432" marR="27432" marT="4572" marB="4572">
                    <a:lnL w="6350">
                      <a:solidFill>
                        <a:srgbClr val="E2E7F2"/>
                      </a:solidFill>
                    </a:lnL>
                    <a:lnR w="6350">
                      <a:solidFill>
                        <a:srgbClr val="E2E7F2"/>
                      </a:solidFill>
                    </a:lnR>
                    <a:lnT w="6350">
                      <a:solidFill>
                        <a:srgbClr val="E2E7F2"/>
                      </a:solidFill>
                    </a:lnT>
                    <a:lnB w="6350">
                      <a:solidFill>
                        <a:srgbClr val="E2E7F2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wrap="none"/>
                    <a:lstStyle/>
                    <a:p>
                      <a:pPr algn="r"/>
                      <a:r>
                        <a:rPr sz="750" b="0">
                          <a:solidFill>
                            <a:srgbClr val="595959"/>
                          </a:solidFill>
                          <a:latin typeface="Calibri"/>
                        </a:rPr>
                        <a:t>184</a:t>
                      </a:r>
                    </a:p>
                  </a:txBody>
                  <a:tcPr anchor="ctr" marL="27432" marR="27432" marT="4572" marB="4572">
                    <a:lnL w="6350">
                      <a:solidFill>
                        <a:srgbClr val="E2E7F2"/>
                      </a:solidFill>
                    </a:lnL>
                    <a:lnR w="6350">
                      <a:solidFill>
                        <a:srgbClr val="E2E7F2"/>
                      </a:solidFill>
                    </a:lnR>
                    <a:lnT w="6350">
                      <a:solidFill>
                        <a:srgbClr val="E2E7F2"/>
                      </a:solidFill>
                    </a:lnT>
                    <a:lnB w="6350">
                      <a:solidFill>
                        <a:srgbClr val="E2E7F2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wrap="none"/>
                    <a:lstStyle/>
                    <a:p>
                      <a:pPr algn="r"/>
                      <a:r>
                        <a:rPr sz="750" b="0">
                          <a:solidFill>
                            <a:srgbClr val="595959"/>
                          </a:solidFill>
                          <a:latin typeface="Calibri"/>
                        </a:rPr>
                        <a:t>215</a:t>
                      </a:r>
                    </a:p>
                  </a:txBody>
                  <a:tcPr anchor="ctr" marL="27432" marR="27432" marT="4572" marB="4572">
                    <a:lnL w="6350">
                      <a:solidFill>
                        <a:srgbClr val="E2E7F2"/>
                      </a:solidFill>
                    </a:lnL>
                    <a:lnR w="6350">
                      <a:solidFill>
                        <a:srgbClr val="E2E7F2"/>
                      </a:solidFill>
                    </a:lnR>
                    <a:lnT w="6350">
                      <a:solidFill>
                        <a:srgbClr val="E2E7F2"/>
                      </a:solidFill>
                    </a:lnT>
                    <a:lnB w="6350">
                      <a:solidFill>
                        <a:srgbClr val="E2E7F2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wrap="none"/>
                    <a:lstStyle/>
                    <a:p>
                      <a:pPr algn="r"/>
                      <a:r>
                        <a:rPr sz="750" b="0">
                          <a:solidFill>
                            <a:srgbClr val="595959"/>
                          </a:solidFill>
                          <a:latin typeface="Calibri"/>
                        </a:rPr>
                        <a:t>229</a:t>
                      </a:r>
                    </a:p>
                  </a:txBody>
                  <a:tcPr anchor="ctr" marL="27432" marR="27432" marT="4572" marB="4572">
                    <a:lnL w="6350">
                      <a:solidFill>
                        <a:srgbClr val="E2E7F2"/>
                      </a:solidFill>
                    </a:lnL>
                    <a:lnR w="6350">
                      <a:solidFill>
                        <a:srgbClr val="E2E7F2"/>
                      </a:solidFill>
                    </a:lnR>
                    <a:lnT w="6350">
                      <a:solidFill>
                        <a:srgbClr val="E2E7F2"/>
                      </a:solidFill>
                    </a:lnT>
                    <a:lnB w="6350">
                      <a:solidFill>
                        <a:srgbClr val="E2E7F2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wrap="none"/>
                    <a:lstStyle/>
                    <a:p>
                      <a:pPr algn="r"/>
                      <a:r>
                        <a:rPr sz="750" b="0">
                          <a:solidFill>
                            <a:srgbClr val="595959"/>
                          </a:solidFill>
                          <a:latin typeface="Calibri"/>
                        </a:rPr>
                        <a:t>1,386</a:t>
                      </a:r>
                    </a:p>
                  </a:txBody>
                  <a:tcPr anchor="ctr" marL="27432" marR="27432" marT="4572" marB="4572">
                    <a:lnL w="6350">
                      <a:solidFill>
                        <a:srgbClr val="E2E7F2"/>
                      </a:solidFill>
                    </a:lnL>
                    <a:lnR w="6350">
                      <a:solidFill>
                        <a:srgbClr val="E2E7F2"/>
                      </a:solidFill>
                    </a:lnR>
                    <a:lnT w="6350">
                      <a:solidFill>
                        <a:srgbClr val="E2E7F2"/>
                      </a:solidFill>
                    </a:lnT>
                    <a:lnB w="6350">
                      <a:solidFill>
                        <a:srgbClr val="E2E7F2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wrap="none"/>
                    <a:lstStyle/>
                    <a:p>
                      <a:pPr algn="r"/>
                      <a:r>
                        <a:rPr sz="750" b="0">
                          <a:solidFill>
                            <a:srgbClr val="595959"/>
                          </a:solidFill>
                          <a:latin typeface="Calibri"/>
                        </a:rPr>
                        <a:t>3%</a:t>
                      </a:r>
                    </a:p>
                  </a:txBody>
                  <a:tcPr anchor="ctr" marL="27432" marR="27432" marT="4572" marB="4572">
                    <a:lnL w="6350">
                      <a:solidFill>
                        <a:srgbClr val="E2E7F2"/>
                      </a:solidFill>
                    </a:lnL>
                    <a:lnR w="6350">
                      <a:solidFill>
                        <a:srgbClr val="E2E7F2"/>
                      </a:solidFill>
                    </a:lnR>
                    <a:lnT w="6350">
                      <a:solidFill>
                        <a:srgbClr val="E2E7F2"/>
                      </a:solidFill>
                    </a:lnT>
                    <a:lnB w="6350">
                      <a:solidFill>
                        <a:srgbClr val="E2E7F2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wrap="none"/>
                    <a:lstStyle/>
                    <a:p>
                      <a:pPr algn="l"/>
                      <a:r>
                        <a:rPr sz="750" b="0">
                          <a:solidFill>
                            <a:srgbClr val="26292E"/>
                          </a:solidFill>
                          <a:latin typeface="Calibri"/>
                        </a:rPr>
                        <a:t/>
                      </a:r>
                    </a:p>
                  </a:txBody>
                  <a:tcPr anchor="ctr" marL="27432" marR="27432" marT="4572" marB="4572">
                    <a:lnL w="6350">
                      <a:solidFill>
                        <a:srgbClr val="E2E7F2"/>
                      </a:solidFill>
                    </a:lnL>
                    <a:lnR w="6350">
                      <a:solidFill>
                        <a:srgbClr val="E2E7F2"/>
                      </a:solidFill>
                    </a:lnR>
                    <a:lnT w="6350">
                      <a:solidFill>
                        <a:srgbClr val="E2E7F2"/>
                      </a:solidFill>
                    </a:lnT>
                    <a:lnB w="6350">
                      <a:solidFill>
                        <a:srgbClr val="E2E7F2"/>
                      </a:solidFill>
                    </a:lnB>
                    <a:solidFill>
                      <a:srgbClr val="FFFFFF"/>
                    </a:solidFill>
                  </a:tcPr>
                </a:tc>
              </a:tr>
              <a:tr h="147174">
                <a:tc>
                  <a:txBody>
                    <a:bodyPr wrap="none"/>
                    <a:lstStyle/>
                    <a:p>
                      <a:pPr algn="l"/>
                      <a:r>
                        <a:rPr sz="750" b="1">
                          <a:solidFill>
                            <a:srgbClr val="26292E"/>
                          </a:solidFill>
                          <a:latin typeface="Calibri"/>
                        </a:rPr>
                        <a:t>Corporate LS</a:t>
                      </a:r>
                    </a:p>
                  </a:txBody>
                  <a:tcPr anchor="ctr" marL="27432" marR="27432" marT="4572" marB="4572">
                    <a:lnL w="6350">
                      <a:solidFill>
                        <a:srgbClr val="E2E7F2"/>
                      </a:solidFill>
                    </a:lnL>
                    <a:lnR w="6350">
                      <a:solidFill>
                        <a:srgbClr val="E2E7F2"/>
                      </a:solidFill>
                    </a:lnR>
                    <a:lnT w="6350">
                      <a:solidFill>
                        <a:srgbClr val="E2E7F2"/>
                      </a:solidFill>
                    </a:lnT>
                    <a:lnB w="6350">
                      <a:solidFill>
                        <a:srgbClr val="E2E7F2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wrap="none"/>
                    <a:lstStyle/>
                    <a:p>
                      <a:pPr algn="r"/>
                      <a:r>
                        <a:rPr sz="750" b="0">
                          <a:solidFill>
                            <a:srgbClr val="26292E"/>
                          </a:solidFill>
                          <a:latin typeface="Calibri"/>
                        </a:rPr>
                        <a:t>389</a:t>
                      </a:r>
                    </a:p>
                  </a:txBody>
                  <a:tcPr anchor="ctr" marL="27432" marR="27432" marT="4572" marB="4572">
                    <a:lnL w="6350">
                      <a:solidFill>
                        <a:srgbClr val="E2E7F2"/>
                      </a:solidFill>
                    </a:lnL>
                    <a:lnR w="6350">
                      <a:solidFill>
                        <a:srgbClr val="E2E7F2"/>
                      </a:solidFill>
                    </a:lnR>
                    <a:lnT w="6350">
                      <a:solidFill>
                        <a:srgbClr val="E2E7F2"/>
                      </a:solidFill>
                    </a:lnT>
                    <a:lnB w="6350">
                      <a:solidFill>
                        <a:srgbClr val="E2E7F2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wrap="none"/>
                    <a:lstStyle/>
                    <a:p>
                      <a:pPr algn="r"/>
                      <a:r>
                        <a:rPr sz="750" b="0">
                          <a:solidFill>
                            <a:srgbClr val="26292E"/>
                          </a:solidFill>
                          <a:latin typeface="Calibri"/>
                        </a:rPr>
                        <a:t>297</a:t>
                      </a:r>
                    </a:p>
                  </a:txBody>
                  <a:tcPr anchor="ctr" marL="27432" marR="27432" marT="4572" marB="4572">
                    <a:lnL w="6350">
                      <a:solidFill>
                        <a:srgbClr val="E2E7F2"/>
                      </a:solidFill>
                    </a:lnL>
                    <a:lnR w="6350">
                      <a:solidFill>
                        <a:srgbClr val="E2E7F2"/>
                      </a:solidFill>
                    </a:lnR>
                    <a:lnT w="6350">
                      <a:solidFill>
                        <a:srgbClr val="E2E7F2"/>
                      </a:solidFill>
                    </a:lnT>
                    <a:lnB w="6350">
                      <a:solidFill>
                        <a:srgbClr val="E2E7F2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wrap="none"/>
                    <a:lstStyle/>
                    <a:p>
                      <a:pPr algn="r"/>
                      <a:r>
                        <a:rPr sz="750" b="0">
                          <a:solidFill>
                            <a:srgbClr val="26292E"/>
                          </a:solidFill>
                          <a:latin typeface="Calibri"/>
                        </a:rPr>
                        <a:t>422</a:t>
                      </a:r>
                    </a:p>
                  </a:txBody>
                  <a:tcPr anchor="ctr" marL="27432" marR="27432" marT="4572" marB="4572">
                    <a:lnL w="6350">
                      <a:solidFill>
                        <a:srgbClr val="E2E7F2"/>
                      </a:solidFill>
                    </a:lnL>
                    <a:lnR w="6350">
                      <a:solidFill>
                        <a:srgbClr val="E2E7F2"/>
                      </a:solidFill>
                    </a:lnR>
                    <a:lnT w="6350">
                      <a:solidFill>
                        <a:srgbClr val="E2E7F2"/>
                      </a:solidFill>
                    </a:lnT>
                    <a:lnB w="6350">
                      <a:solidFill>
                        <a:srgbClr val="E2E7F2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wrap="none"/>
                    <a:lstStyle/>
                    <a:p>
                      <a:pPr algn="r"/>
                      <a:r>
                        <a:rPr sz="750" b="0">
                          <a:solidFill>
                            <a:srgbClr val="26292E"/>
                          </a:solidFill>
                          <a:latin typeface="Calibri"/>
                        </a:rPr>
                        <a:t>357</a:t>
                      </a:r>
                    </a:p>
                  </a:txBody>
                  <a:tcPr anchor="ctr" marL="27432" marR="27432" marT="4572" marB="4572">
                    <a:lnL w="6350">
                      <a:solidFill>
                        <a:srgbClr val="E2E7F2"/>
                      </a:solidFill>
                    </a:lnL>
                    <a:lnR w="6350">
                      <a:solidFill>
                        <a:srgbClr val="E2E7F2"/>
                      </a:solidFill>
                    </a:lnR>
                    <a:lnT w="6350">
                      <a:solidFill>
                        <a:srgbClr val="E2E7F2"/>
                      </a:solidFill>
                    </a:lnT>
                    <a:lnB w="6350">
                      <a:solidFill>
                        <a:srgbClr val="E2E7F2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wrap="none"/>
                    <a:lstStyle/>
                    <a:p>
                      <a:pPr algn="r"/>
                      <a:r>
                        <a:rPr sz="750" b="0">
                          <a:solidFill>
                            <a:srgbClr val="26292E"/>
                          </a:solidFill>
                          <a:latin typeface="Calibri"/>
                        </a:rPr>
                        <a:t>213</a:t>
                      </a:r>
                    </a:p>
                  </a:txBody>
                  <a:tcPr anchor="ctr" marL="27432" marR="27432" marT="4572" marB="4572">
                    <a:lnL w="6350">
                      <a:solidFill>
                        <a:srgbClr val="E2E7F2"/>
                      </a:solidFill>
                    </a:lnL>
                    <a:lnR w="6350">
                      <a:solidFill>
                        <a:srgbClr val="E2E7F2"/>
                      </a:solidFill>
                    </a:lnR>
                    <a:lnT w="6350">
                      <a:solidFill>
                        <a:srgbClr val="E2E7F2"/>
                      </a:solidFill>
                    </a:lnT>
                    <a:lnB w="6350">
                      <a:solidFill>
                        <a:srgbClr val="E2E7F2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wrap="none"/>
                    <a:lstStyle/>
                    <a:p>
                      <a:pPr algn="r"/>
                      <a:r>
                        <a:rPr sz="750" b="0">
                          <a:solidFill>
                            <a:srgbClr val="26292E"/>
                          </a:solidFill>
                          <a:latin typeface="Calibri"/>
                        </a:rPr>
                        <a:t>308</a:t>
                      </a:r>
                    </a:p>
                  </a:txBody>
                  <a:tcPr anchor="ctr" marL="27432" marR="27432" marT="4572" marB="4572">
                    <a:lnL w="6350">
                      <a:solidFill>
                        <a:srgbClr val="E2E7F2"/>
                      </a:solidFill>
                    </a:lnL>
                    <a:lnR w="6350">
                      <a:solidFill>
                        <a:srgbClr val="E2E7F2"/>
                      </a:solidFill>
                    </a:lnR>
                    <a:lnT w="6350">
                      <a:solidFill>
                        <a:srgbClr val="E2E7F2"/>
                      </a:solidFill>
                    </a:lnT>
                    <a:lnB w="6350">
                      <a:solidFill>
                        <a:srgbClr val="E2E7F2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wrap="none"/>
                    <a:lstStyle/>
                    <a:p>
                      <a:pPr algn="r"/>
                      <a:r>
                        <a:rPr sz="750" b="1">
                          <a:solidFill>
                            <a:srgbClr val="26292E"/>
                          </a:solidFill>
                          <a:latin typeface="Calibri"/>
                        </a:rPr>
                        <a:t>1,986</a:t>
                      </a:r>
                    </a:p>
                  </a:txBody>
                  <a:tcPr anchor="ctr" marL="27432" marR="27432" marT="4572" marB="4572">
                    <a:lnL w="6350">
                      <a:solidFill>
                        <a:srgbClr val="E2E7F2"/>
                      </a:solidFill>
                    </a:lnL>
                    <a:lnR w="6350">
                      <a:solidFill>
                        <a:srgbClr val="E2E7F2"/>
                      </a:solidFill>
                    </a:lnR>
                    <a:lnT w="6350">
                      <a:solidFill>
                        <a:srgbClr val="E2E7F2"/>
                      </a:solidFill>
                    </a:lnT>
                    <a:lnB w="6350">
                      <a:solidFill>
                        <a:srgbClr val="E2E7F2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wrap="none"/>
                    <a:lstStyle/>
                    <a:p>
                      <a:pPr algn="r"/>
                      <a:r>
                        <a:rPr sz="750" b="0">
                          <a:solidFill>
                            <a:srgbClr val="26292E"/>
                          </a:solidFill>
                          <a:latin typeface="Calibri"/>
                        </a:rPr>
                        <a:t>5%</a:t>
                      </a:r>
                    </a:p>
                  </a:txBody>
                  <a:tcPr anchor="ctr" marL="27432" marR="27432" marT="4572" marB="4572">
                    <a:lnL w="6350">
                      <a:solidFill>
                        <a:srgbClr val="E2E7F2"/>
                      </a:solidFill>
                    </a:lnL>
                    <a:lnR w="6350">
                      <a:solidFill>
                        <a:srgbClr val="E2E7F2"/>
                      </a:solidFill>
                    </a:lnR>
                    <a:lnT w="6350">
                      <a:solidFill>
                        <a:srgbClr val="E2E7F2"/>
                      </a:solidFill>
                    </a:lnT>
                    <a:lnB w="6350">
                      <a:solidFill>
                        <a:srgbClr val="E2E7F2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wrap="none"/>
                    <a:lstStyle/>
                    <a:p>
                      <a:pPr algn="r"/>
                      <a:r>
                        <a:rPr sz="750" b="1">
                          <a:solidFill>
                            <a:srgbClr val="C62828"/>
                          </a:solidFill>
                          <a:latin typeface="Calibri"/>
                        </a:rPr>
                        <a:t>-13%</a:t>
                      </a:r>
                    </a:p>
                  </a:txBody>
                  <a:tcPr anchor="ctr" marL="27432" marR="27432" marT="4572" marB="4572">
                    <a:lnL w="6350">
                      <a:solidFill>
                        <a:srgbClr val="E2E7F2"/>
                      </a:solidFill>
                    </a:lnL>
                    <a:lnR w="6350">
                      <a:solidFill>
                        <a:srgbClr val="E2E7F2"/>
                      </a:solidFill>
                    </a:lnR>
                    <a:lnT w="6350">
                      <a:solidFill>
                        <a:srgbClr val="E2E7F2"/>
                      </a:solidFill>
                    </a:lnT>
                    <a:lnB w="6350">
                      <a:solidFill>
                        <a:srgbClr val="E2E7F2"/>
                      </a:solidFill>
                    </a:lnB>
                    <a:solidFill>
                      <a:srgbClr val="FFFFFF"/>
                    </a:solidFill>
                  </a:tcPr>
                </a:tc>
              </a:tr>
              <a:tr h="147174">
                <a:tc>
                  <a:txBody>
                    <a:bodyPr wrap="none"/>
                    <a:lstStyle/>
                    <a:p>
                      <a:pPr algn="l"/>
                      <a:r>
                        <a:rPr sz="750" b="0">
                          <a:solidFill>
                            <a:srgbClr val="595959"/>
                          </a:solidFill>
                          <a:latin typeface="Calibri"/>
                        </a:rPr>
                        <a:t>   ’25</a:t>
                      </a:r>
                    </a:p>
                  </a:txBody>
                  <a:tcPr anchor="ctr" marL="27432" marR="27432" marT="4572" marB="4572">
                    <a:lnL w="6350">
                      <a:solidFill>
                        <a:srgbClr val="E2E7F2"/>
                      </a:solidFill>
                    </a:lnL>
                    <a:lnR w="6350">
                      <a:solidFill>
                        <a:srgbClr val="E2E7F2"/>
                      </a:solidFill>
                    </a:lnR>
                    <a:lnT w="6350">
                      <a:solidFill>
                        <a:srgbClr val="E2E7F2"/>
                      </a:solidFill>
                    </a:lnT>
                    <a:lnB w="6350">
                      <a:solidFill>
                        <a:srgbClr val="E2E7F2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wrap="none"/>
                    <a:lstStyle/>
                    <a:p>
                      <a:pPr algn="r"/>
                      <a:r>
                        <a:rPr sz="750" b="0">
                          <a:solidFill>
                            <a:srgbClr val="595959"/>
                          </a:solidFill>
                          <a:latin typeface="Calibri"/>
                        </a:rPr>
                        <a:t>680</a:t>
                      </a:r>
                    </a:p>
                  </a:txBody>
                  <a:tcPr anchor="ctr" marL="27432" marR="27432" marT="4572" marB="4572">
                    <a:lnL w="6350">
                      <a:solidFill>
                        <a:srgbClr val="E2E7F2"/>
                      </a:solidFill>
                    </a:lnL>
                    <a:lnR w="6350">
                      <a:solidFill>
                        <a:srgbClr val="E2E7F2"/>
                      </a:solidFill>
                    </a:lnR>
                    <a:lnT w="6350">
                      <a:solidFill>
                        <a:srgbClr val="E2E7F2"/>
                      </a:solidFill>
                    </a:lnT>
                    <a:lnB w="6350">
                      <a:solidFill>
                        <a:srgbClr val="E2E7F2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wrap="none"/>
                    <a:lstStyle/>
                    <a:p>
                      <a:pPr algn="r"/>
                      <a:r>
                        <a:rPr sz="750" b="0">
                          <a:solidFill>
                            <a:srgbClr val="595959"/>
                          </a:solidFill>
                          <a:latin typeface="Calibri"/>
                        </a:rPr>
                        <a:t>457</a:t>
                      </a:r>
                    </a:p>
                  </a:txBody>
                  <a:tcPr anchor="ctr" marL="27432" marR="27432" marT="4572" marB="4572">
                    <a:lnL w="6350">
                      <a:solidFill>
                        <a:srgbClr val="E2E7F2"/>
                      </a:solidFill>
                    </a:lnL>
                    <a:lnR w="6350">
                      <a:solidFill>
                        <a:srgbClr val="E2E7F2"/>
                      </a:solidFill>
                    </a:lnR>
                    <a:lnT w="6350">
                      <a:solidFill>
                        <a:srgbClr val="E2E7F2"/>
                      </a:solidFill>
                    </a:lnT>
                    <a:lnB w="6350">
                      <a:solidFill>
                        <a:srgbClr val="E2E7F2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wrap="none"/>
                    <a:lstStyle/>
                    <a:p>
                      <a:pPr algn="r"/>
                      <a:r>
                        <a:rPr sz="750" b="0">
                          <a:solidFill>
                            <a:srgbClr val="595959"/>
                          </a:solidFill>
                          <a:latin typeface="Calibri"/>
                        </a:rPr>
                        <a:t>383</a:t>
                      </a:r>
                    </a:p>
                  </a:txBody>
                  <a:tcPr anchor="ctr" marL="27432" marR="27432" marT="4572" marB="4572">
                    <a:lnL w="6350">
                      <a:solidFill>
                        <a:srgbClr val="E2E7F2"/>
                      </a:solidFill>
                    </a:lnL>
                    <a:lnR w="6350">
                      <a:solidFill>
                        <a:srgbClr val="E2E7F2"/>
                      </a:solidFill>
                    </a:lnR>
                    <a:lnT w="6350">
                      <a:solidFill>
                        <a:srgbClr val="E2E7F2"/>
                      </a:solidFill>
                    </a:lnT>
                    <a:lnB w="6350">
                      <a:solidFill>
                        <a:srgbClr val="E2E7F2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wrap="none"/>
                    <a:lstStyle/>
                    <a:p>
                      <a:pPr algn="r"/>
                      <a:r>
                        <a:rPr sz="750" b="0">
                          <a:solidFill>
                            <a:srgbClr val="595959"/>
                          </a:solidFill>
                          <a:latin typeface="Calibri"/>
                        </a:rPr>
                        <a:t>277</a:t>
                      </a:r>
                    </a:p>
                  </a:txBody>
                  <a:tcPr anchor="ctr" marL="27432" marR="27432" marT="4572" marB="4572">
                    <a:lnL w="6350">
                      <a:solidFill>
                        <a:srgbClr val="E2E7F2"/>
                      </a:solidFill>
                    </a:lnL>
                    <a:lnR w="6350">
                      <a:solidFill>
                        <a:srgbClr val="E2E7F2"/>
                      </a:solidFill>
                    </a:lnR>
                    <a:lnT w="6350">
                      <a:solidFill>
                        <a:srgbClr val="E2E7F2"/>
                      </a:solidFill>
                    </a:lnT>
                    <a:lnB w="6350">
                      <a:solidFill>
                        <a:srgbClr val="E2E7F2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wrap="none"/>
                    <a:lstStyle/>
                    <a:p>
                      <a:pPr algn="r"/>
                      <a:r>
                        <a:rPr sz="750" b="0">
                          <a:solidFill>
                            <a:srgbClr val="595959"/>
                          </a:solidFill>
                          <a:latin typeface="Calibri"/>
                        </a:rPr>
                        <a:t>260</a:t>
                      </a:r>
                    </a:p>
                  </a:txBody>
                  <a:tcPr anchor="ctr" marL="27432" marR="27432" marT="4572" marB="4572">
                    <a:lnL w="6350">
                      <a:solidFill>
                        <a:srgbClr val="E2E7F2"/>
                      </a:solidFill>
                    </a:lnL>
                    <a:lnR w="6350">
                      <a:solidFill>
                        <a:srgbClr val="E2E7F2"/>
                      </a:solidFill>
                    </a:lnR>
                    <a:lnT w="6350">
                      <a:solidFill>
                        <a:srgbClr val="E2E7F2"/>
                      </a:solidFill>
                    </a:lnT>
                    <a:lnB w="6350">
                      <a:solidFill>
                        <a:srgbClr val="E2E7F2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wrap="none"/>
                    <a:lstStyle/>
                    <a:p>
                      <a:pPr algn="r"/>
                      <a:r>
                        <a:rPr sz="750" b="0">
                          <a:solidFill>
                            <a:srgbClr val="595959"/>
                          </a:solidFill>
                          <a:latin typeface="Calibri"/>
                        </a:rPr>
                        <a:t>213</a:t>
                      </a:r>
                    </a:p>
                  </a:txBody>
                  <a:tcPr anchor="ctr" marL="27432" marR="27432" marT="4572" marB="4572">
                    <a:lnL w="6350">
                      <a:solidFill>
                        <a:srgbClr val="E2E7F2"/>
                      </a:solidFill>
                    </a:lnL>
                    <a:lnR w="6350">
                      <a:solidFill>
                        <a:srgbClr val="E2E7F2"/>
                      </a:solidFill>
                    </a:lnR>
                    <a:lnT w="6350">
                      <a:solidFill>
                        <a:srgbClr val="E2E7F2"/>
                      </a:solidFill>
                    </a:lnT>
                    <a:lnB w="6350">
                      <a:solidFill>
                        <a:srgbClr val="E2E7F2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wrap="none"/>
                    <a:lstStyle/>
                    <a:p>
                      <a:pPr algn="r"/>
                      <a:r>
                        <a:rPr sz="750" b="0">
                          <a:solidFill>
                            <a:srgbClr val="595959"/>
                          </a:solidFill>
                          <a:latin typeface="Calibri"/>
                        </a:rPr>
                        <a:t>2,270</a:t>
                      </a:r>
                    </a:p>
                  </a:txBody>
                  <a:tcPr anchor="ctr" marL="27432" marR="27432" marT="4572" marB="4572">
                    <a:lnL w="6350">
                      <a:solidFill>
                        <a:srgbClr val="E2E7F2"/>
                      </a:solidFill>
                    </a:lnL>
                    <a:lnR w="6350">
                      <a:solidFill>
                        <a:srgbClr val="E2E7F2"/>
                      </a:solidFill>
                    </a:lnR>
                    <a:lnT w="6350">
                      <a:solidFill>
                        <a:srgbClr val="E2E7F2"/>
                      </a:solidFill>
                    </a:lnT>
                    <a:lnB w="6350">
                      <a:solidFill>
                        <a:srgbClr val="E2E7F2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wrap="none"/>
                    <a:lstStyle/>
                    <a:p>
                      <a:pPr algn="r"/>
                      <a:r>
                        <a:rPr sz="750" b="0">
                          <a:solidFill>
                            <a:srgbClr val="595959"/>
                          </a:solidFill>
                          <a:latin typeface="Calibri"/>
                        </a:rPr>
                        <a:t>6%</a:t>
                      </a:r>
                    </a:p>
                  </a:txBody>
                  <a:tcPr anchor="ctr" marL="27432" marR="27432" marT="4572" marB="4572">
                    <a:lnL w="6350">
                      <a:solidFill>
                        <a:srgbClr val="E2E7F2"/>
                      </a:solidFill>
                    </a:lnL>
                    <a:lnR w="6350">
                      <a:solidFill>
                        <a:srgbClr val="E2E7F2"/>
                      </a:solidFill>
                    </a:lnR>
                    <a:lnT w="6350">
                      <a:solidFill>
                        <a:srgbClr val="E2E7F2"/>
                      </a:solidFill>
                    </a:lnT>
                    <a:lnB w="6350">
                      <a:solidFill>
                        <a:srgbClr val="E2E7F2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wrap="none"/>
                    <a:lstStyle/>
                    <a:p>
                      <a:pPr algn="l"/>
                      <a:r>
                        <a:rPr sz="750" b="0">
                          <a:solidFill>
                            <a:srgbClr val="26292E"/>
                          </a:solidFill>
                          <a:latin typeface="Calibri"/>
                        </a:rPr>
                        <a:t/>
                      </a:r>
                    </a:p>
                  </a:txBody>
                  <a:tcPr anchor="ctr" marL="27432" marR="27432" marT="4572" marB="4572">
                    <a:lnL w="6350">
                      <a:solidFill>
                        <a:srgbClr val="E2E7F2"/>
                      </a:solidFill>
                    </a:lnL>
                    <a:lnR w="6350">
                      <a:solidFill>
                        <a:srgbClr val="E2E7F2"/>
                      </a:solidFill>
                    </a:lnR>
                    <a:lnT w="6350">
                      <a:solidFill>
                        <a:srgbClr val="E2E7F2"/>
                      </a:solidFill>
                    </a:lnT>
                    <a:lnB w="6350">
                      <a:solidFill>
                        <a:srgbClr val="E2E7F2"/>
                      </a:solidFill>
                    </a:lnB>
                    <a:solidFill>
                      <a:srgbClr val="FFFFFF"/>
                    </a:solidFill>
                  </a:tcPr>
                </a:tc>
              </a:tr>
              <a:tr h="147174">
                <a:tc>
                  <a:txBody>
                    <a:bodyPr wrap="none"/>
                    <a:lstStyle/>
                    <a:p>
                      <a:pPr algn="l"/>
                      <a:r>
                        <a:rPr sz="750" b="1">
                          <a:solidFill>
                            <a:srgbClr val="26292E"/>
                          </a:solidFill>
                          <a:latin typeface="Calibri"/>
                        </a:rPr>
                        <a:t>Online</a:t>
                      </a:r>
                    </a:p>
                  </a:txBody>
                  <a:tcPr anchor="ctr" marL="27432" marR="27432" marT="4572" marB="4572">
                    <a:lnL w="6350">
                      <a:solidFill>
                        <a:srgbClr val="E2E7F2"/>
                      </a:solidFill>
                    </a:lnL>
                    <a:lnR w="6350">
                      <a:solidFill>
                        <a:srgbClr val="E2E7F2"/>
                      </a:solidFill>
                    </a:lnR>
                    <a:lnT w="6350">
                      <a:solidFill>
                        <a:srgbClr val="E2E7F2"/>
                      </a:solidFill>
                    </a:lnT>
                    <a:lnB w="6350">
                      <a:solidFill>
                        <a:srgbClr val="E2E7F2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wrap="none"/>
                    <a:lstStyle/>
                    <a:p>
                      <a:pPr algn="r"/>
                      <a:r>
                        <a:rPr sz="750" b="0">
                          <a:solidFill>
                            <a:srgbClr val="26292E"/>
                          </a:solidFill>
                          <a:latin typeface="Calibri"/>
                        </a:rPr>
                        <a:t>2,725</a:t>
                      </a:r>
                    </a:p>
                  </a:txBody>
                  <a:tcPr anchor="ctr" marL="27432" marR="27432" marT="4572" marB="4572">
                    <a:lnL w="6350">
                      <a:solidFill>
                        <a:srgbClr val="E2E7F2"/>
                      </a:solidFill>
                    </a:lnL>
                    <a:lnR w="6350">
                      <a:solidFill>
                        <a:srgbClr val="E2E7F2"/>
                      </a:solidFill>
                    </a:lnR>
                    <a:lnT w="6350">
                      <a:solidFill>
                        <a:srgbClr val="E2E7F2"/>
                      </a:solidFill>
                    </a:lnT>
                    <a:lnB w="6350">
                      <a:solidFill>
                        <a:srgbClr val="E2E7F2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wrap="none"/>
                    <a:lstStyle/>
                    <a:p>
                      <a:pPr algn="r"/>
                      <a:r>
                        <a:rPr sz="750" b="0">
                          <a:solidFill>
                            <a:srgbClr val="26292E"/>
                          </a:solidFill>
                          <a:latin typeface="Calibri"/>
                        </a:rPr>
                        <a:t>2,119</a:t>
                      </a:r>
                    </a:p>
                  </a:txBody>
                  <a:tcPr anchor="ctr" marL="27432" marR="27432" marT="4572" marB="4572">
                    <a:lnL w="6350">
                      <a:solidFill>
                        <a:srgbClr val="E2E7F2"/>
                      </a:solidFill>
                    </a:lnL>
                    <a:lnR w="6350">
                      <a:solidFill>
                        <a:srgbClr val="E2E7F2"/>
                      </a:solidFill>
                    </a:lnR>
                    <a:lnT w="6350">
                      <a:solidFill>
                        <a:srgbClr val="E2E7F2"/>
                      </a:solidFill>
                    </a:lnT>
                    <a:lnB w="6350">
                      <a:solidFill>
                        <a:srgbClr val="E2E7F2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wrap="none"/>
                    <a:lstStyle/>
                    <a:p>
                      <a:pPr algn="r"/>
                      <a:r>
                        <a:rPr sz="750" b="0">
                          <a:solidFill>
                            <a:srgbClr val="26292E"/>
                          </a:solidFill>
                          <a:latin typeface="Calibri"/>
                        </a:rPr>
                        <a:t>2,427</a:t>
                      </a:r>
                    </a:p>
                  </a:txBody>
                  <a:tcPr anchor="ctr" marL="27432" marR="27432" marT="4572" marB="4572">
                    <a:lnL w="6350">
                      <a:solidFill>
                        <a:srgbClr val="E2E7F2"/>
                      </a:solidFill>
                    </a:lnL>
                    <a:lnR w="6350">
                      <a:solidFill>
                        <a:srgbClr val="E2E7F2"/>
                      </a:solidFill>
                    </a:lnR>
                    <a:lnT w="6350">
                      <a:solidFill>
                        <a:srgbClr val="E2E7F2"/>
                      </a:solidFill>
                    </a:lnT>
                    <a:lnB w="6350">
                      <a:solidFill>
                        <a:srgbClr val="E2E7F2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wrap="none"/>
                    <a:lstStyle/>
                    <a:p>
                      <a:pPr algn="r"/>
                      <a:r>
                        <a:rPr sz="750" b="0">
                          <a:solidFill>
                            <a:srgbClr val="26292E"/>
                          </a:solidFill>
                          <a:latin typeface="Calibri"/>
                        </a:rPr>
                        <a:t>1,984</a:t>
                      </a:r>
                    </a:p>
                  </a:txBody>
                  <a:tcPr anchor="ctr" marL="27432" marR="27432" marT="4572" marB="4572">
                    <a:lnL w="6350">
                      <a:solidFill>
                        <a:srgbClr val="E2E7F2"/>
                      </a:solidFill>
                    </a:lnL>
                    <a:lnR w="6350">
                      <a:solidFill>
                        <a:srgbClr val="E2E7F2"/>
                      </a:solidFill>
                    </a:lnR>
                    <a:lnT w="6350">
                      <a:solidFill>
                        <a:srgbClr val="E2E7F2"/>
                      </a:solidFill>
                    </a:lnT>
                    <a:lnB w="6350">
                      <a:solidFill>
                        <a:srgbClr val="E2E7F2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wrap="none"/>
                    <a:lstStyle/>
                    <a:p>
                      <a:pPr algn="r"/>
                      <a:r>
                        <a:rPr sz="750" b="0">
                          <a:solidFill>
                            <a:srgbClr val="26292E"/>
                          </a:solidFill>
                          <a:latin typeface="Calibri"/>
                        </a:rPr>
                        <a:t>1,791</a:t>
                      </a:r>
                    </a:p>
                  </a:txBody>
                  <a:tcPr anchor="ctr" marL="27432" marR="27432" marT="4572" marB="4572">
                    <a:lnL w="6350">
                      <a:solidFill>
                        <a:srgbClr val="E2E7F2"/>
                      </a:solidFill>
                    </a:lnL>
                    <a:lnR w="6350">
                      <a:solidFill>
                        <a:srgbClr val="E2E7F2"/>
                      </a:solidFill>
                    </a:lnR>
                    <a:lnT w="6350">
                      <a:solidFill>
                        <a:srgbClr val="E2E7F2"/>
                      </a:solidFill>
                    </a:lnT>
                    <a:lnB w="6350">
                      <a:solidFill>
                        <a:srgbClr val="E2E7F2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wrap="none"/>
                    <a:lstStyle/>
                    <a:p>
                      <a:pPr algn="r"/>
                      <a:r>
                        <a:rPr sz="750" b="0">
                          <a:solidFill>
                            <a:srgbClr val="26292E"/>
                          </a:solidFill>
                          <a:latin typeface="Calibri"/>
                        </a:rPr>
                        <a:t>1,698</a:t>
                      </a:r>
                    </a:p>
                  </a:txBody>
                  <a:tcPr anchor="ctr" marL="27432" marR="27432" marT="4572" marB="4572">
                    <a:lnL w="6350">
                      <a:solidFill>
                        <a:srgbClr val="E2E7F2"/>
                      </a:solidFill>
                    </a:lnL>
                    <a:lnR w="6350">
                      <a:solidFill>
                        <a:srgbClr val="E2E7F2"/>
                      </a:solidFill>
                    </a:lnR>
                    <a:lnT w="6350">
                      <a:solidFill>
                        <a:srgbClr val="E2E7F2"/>
                      </a:solidFill>
                    </a:lnT>
                    <a:lnB w="6350">
                      <a:solidFill>
                        <a:srgbClr val="E2E7F2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wrap="none"/>
                    <a:lstStyle/>
                    <a:p>
                      <a:pPr algn="r"/>
                      <a:r>
                        <a:rPr sz="750" b="1">
                          <a:solidFill>
                            <a:srgbClr val="26292E"/>
                          </a:solidFill>
                          <a:latin typeface="Calibri"/>
                        </a:rPr>
                        <a:t>12,744</a:t>
                      </a:r>
                    </a:p>
                  </a:txBody>
                  <a:tcPr anchor="ctr" marL="27432" marR="27432" marT="4572" marB="4572">
                    <a:lnL w="6350">
                      <a:solidFill>
                        <a:srgbClr val="E2E7F2"/>
                      </a:solidFill>
                    </a:lnL>
                    <a:lnR w="6350">
                      <a:solidFill>
                        <a:srgbClr val="E2E7F2"/>
                      </a:solidFill>
                    </a:lnR>
                    <a:lnT w="6350">
                      <a:solidFill>
                        <a:srgbClr val="E2E7F2"/>
                      </a:solidFill>
                    </a:lnT>
                    <a:lnB w="6350">
                      <a:solidFill>
                        <a:srgbClr val="E2E7F2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wrap="none"/>
                    <a:lstStyle/>
                    <a:p>
                      <a:pPr algn="r"/>
                      <a:r>
                        <a:rPr sz="750" b="0">
                          <a:solidFill>
                            <a:srgbClr val="26292E"/>
                          </a:solidFill>
                          <a:latin typeface="Calibri"/>
                        </a:rPr>
                        <a:t>29%</a:t>
                      </a:r>
                    </a:p>
                  </a:txBody>
                  <a:tcPr anchor="ctr" marL="27432" marR="27432" marT="4572" marB="4572">
                    <a:lnL w="6350">
                      <a:solidFill>
                        <a:srgbClr val="E2E7F2"/>
                      </a:solidFill>
                    </a:lnL>
                    <a:lnR w="6350">
                      <a:solidFill>
                        <a:srgbClr val="E2E7F2"/>
                      </a:solidFill>
                    </a:lnR>
                    <a:lnT w="6350">
                      <a:solidFill>
                        <a:srgbClr val="E2E7F2"/>
                      </a:solidFill>
                    </a:lnT>
                    <a:lnB w="6350">
                      <a:solidFill>
                        <a:srgbClr val="E2E7F2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wrap="none"/>
                    <a:lstStyle/>
                    <a:p>
                      <a:pPr algn="r"/>
                      <a:r>
                        <a:rPr sz="750" b="1">
                          <a:solidFill>
                            <a:srgbClr val="1E7B34"/>
                          </a:solidFill>
                          <a:latin typeface="Calibri"/>
                        </a:rPr>
                        <a:t>+3%</a:t>
                      </a:r>
                    </a:p>
                  </a:txBody>
                  <a:tcPr anchor="ctr" marL="27432" marR="27432" marT="4572" marB="4572">
                    <a:lnL w="6350">
                      <a:solidFill>
                        <a:srgbClr val="E2E7F2"/>
                      </a:solidFill>
                    </a:lnL>
                    <a:lnR w="6350">
                      <a:solidFill>
                        <a:srgbClr val="E2E7F2"/>
                      </a:solidFill>
                    </a:lnR>
                    <a:lnT w="6350">
                      <a:solidFill>
                        <a:srgbClr val="E2E7F2"/>
                      </a:solidFill>
                    </a:lnT>
                    <a:lnB w="6350">
                      <a:solidFill>
                        <a:srgbClr val="E2E7F2"/>
                      </a:solidFill>
                    </a:lnB>
                    <a:solidFill>
                      <a:srgbClr val="FFFFFF"/>
                    </a:solidFill>
                  </a:tcPr>
                </a:tc>
              </a:tr>
              <a:tr h="147174">
                <a:tc>
                  <a:txBody>
                    <a:bodyPr wrap="none"/>
                    <a:lstStyle/>
                    <a:p>
                      <a:pPr algn="l"/>
                      <a:r>
                        <a:rPr sz="750" b="0">
                          <a:solidFill>
                            <a:srgbClr val="595959"/>
                          </a:solidFill>
                          <a:latin typeface="Calibri"/>
                        </a:rPr>
                        <a:t>   ’25</a:t>
                      </a:r>
                    </a:p>
                  </a:txBody>
                  <a:tcPr anchor="ctr" marL="27432" marR="27432" marT="4572" marB="4572">
                    <a:lnL w="6350">
                      <a:solidFill>
                        <a:srgbClr val="E2E7F2"/>
                      </a:solidFill>
                    </a:lnL>
                    <a:lnR w="6350">
                      <a:solidFill>
                        <a:srgbClr val="E2E7F2"/>
                      </a:solidFill>
                    </a:lnR>
                    <a:lnT w="6350">
                      <a:solidFill>
                        <a:srgbClr val="E2E7F2"/>
                      </a:solidFill>
                    </a:lnT>
                    <a:lnB w="6350">
                      <a:solidFill>
                        <a:srgbClr val="E2E7F2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wrap="none"/>
                    <a:lstStyle/>
                    <a:p>
                      <a:pPr algn="r"/>
                      <a:r>
                        <a:rPr sz="750" b="0">
                          <a:solidFill>
                            <a:srgbClr val="595959"/>
                          </a:solidFill>
                          <a:latin typeface="Calibri"/>
                        </a:rPr>
                        <a:t>2,414</a:t>
                      </a:r>
                    </a:p>
                  </a:txBody>
                  <a:tcPr anchor="ctr" marL="27432" marR="27432" marT="4572" marB="4572">
                    <a:lnL w="6350">
                      <a:solidFill>
                        <a:srgbClr val="E2E7F2"/>
                      </a:solidFill>
                    </a:lnL>
                    <a:lnR w="6350">
                      <a:solidFill>
                        <a:srgbClr val="E2E7F2"/>
                      </a:solidFill>
                    </a:lnR>
                    <a:lnT w="6350">
                      <a:solidFill>
                        <a:srgbClr val="E2E7F2"/>
                      </a:solidFill>
                    </a:lnT>
                    <a:lnB w="6350">
                      <a:solidFill>
                        <a:srgbClr val="E2E7F2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wrap="none"/>
                    <a:lstStyle/>
                    <a:p>
                      <a:pPr algn="r"/>
                      <a:r>
                        <a:rPr sz="750" b="0">
                          <a:solidFill>
                            <a:srgbClr val="595959"/>
                          </a:solidFill>
                          <a:latin typeface="Calibri"/>
                        </a:rPr>
                        <a:t>2,387</a:t>
                      </a:r>
                    </a:p>
                  </a:txBody>
                  <a:tcPr anchor="ctr" marL="27432" marR="27432" marT="4572" marB="4572">
                    <a:lnL w="6350">
                      <a:solidFill>
                        <a:srgbClr val="E2E7F2"/>
                      </a:solidFill>
                    </a:lnL>
                    <a:lnR w="6350">
                      <a:solidFill>
                        <a:srgbClr val="E2E7F2"/>
                      </a:solidFill>
                    </a:lnR>
                    <a:lnT w="6350">
                      <a:solidFill>
                        <a:srgbClr val="E2E7F2"/>
                      </a:solidFill>
                    </a:lnT>
                    <a:lnB w="6350">
                      <a:solidFill>
                        <a:srgbClr val="E2E7F2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wrap="none"/>
                    <a:lstStyle/>
                    <a:p>
                      <a:pPr algn="r"/>
                      <a:r>
                        <a:rPr sz="750" b="0">
                          <a:solidFill>
                            <a:srgbClr val="595959"/>
                          </a:solidFill>
                          <a:latin typeface="Calibri"/>
                        </a:rPr>
                        <a:t>1,925</a:t>
                      </a:r>
                    </a:p>
                  </a:txBody>
                  <a:tcPr anchor="ctr" marL="27432" marR="27432" marT="4572" marB="4572">
                    <a:lnL w="6350">
                      <a:solidFill>
                        <a:srgbClr val="E2E7F2"/>
                      </a:solidFill>
                    </a:lnL>
                    <a:lnR w="6350">
                      <a:solidFill>
                        <a:srgbClr val="E2E7F2"/>
                      </a:solidFill>
                    </a:lnR>
                    <a:lnT w="6350">
                      <a:solidFill>
                        <a:srgbClr val="E2E7F2"/>
                      </a:solidFill>
                    </a:lnT>
                    <a:lnB w="6350">
                      <a:solidFill>
                        <a:srgbClr val="E2E7F2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wrap="none"/>
                    <a:lstStyle/>
                    <a:p>
                      <a:pPr algn="r"/>
                      <a:r>
                        <a:rPr sz="750" b="0">
                          <a:solidFill>
                            <a:srgbClr val="595959"/>
                          </a:solidFill>
                          <a:latin typeface="Calibri"/>
                        </a:rPr>
                        <a:t>2,233</a:t>
                      </a:r>
                    </a:p>
                  </a:txBody>
                  <a:tcPr anchor="ctr" marL="27432" marR="27432" marT="4572" marB="4572">
                    <a:lnL w="6350">
                      <a:solidFill>
                        <a:srgbClr val="E2E7F2"/>
                      </a:solidFill>
                    </a:lnL>
                    <a:lnR w="6350">
                      <a:solidFill>
                        <a:srgbClr val="E2E7F2"/>
                      </a:solidFill>
                    </a:lnR>
                    <a:lnT w="6350">
                      <a:solidFill>
                        <a:srgbClr val="E2E7F2"/>
                      </a:solidFill>
                    </a:lnT>
                    <a:lnB w="6350">
                      <a:solidFill>
                        <a:srgbClr val="E2E7F2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wrap="none"/>
                    <a:lstStyle/>
                    <a:p>
                      <a:pPr algn="r"/>
                      <a:r>
                        <a:rPr sz="750" b="0">
                          <a:solidFill>
                            <a:srgbClr val="595959"/>
                          </a:solidFill>
                          <a:latin typeface="Calibri"/>
                        </a:rPr>
                        <a:t>1,866</a:t>
                      </a:r>
                    </a:p>
                  </a:txBody>
                  <a:tcPr anchor="ctr" marL="27432" marR="27432" marT="4572" marB="4572">
                    <a:lnL w="6350">
                      <a:solidFill>
                        <a:srgbClr val="E2E7F2"/>
                      </a:solidFill>
                    </a:lnL>
                    <a:lnR w="6350">
                      <a:solidFill>
                        <a:srgbClr val="E2E7F2"/>
                      </a:solidFill>
                    </a:lnR>
                    <a:lnT w="6350">
                      <a:solidFill>
                        <a:srgbClr val="E2E7F2"/>
                      </a:solidFill>
                    </a:lnT>
                    <a:lnB w="6350">
                      <a:solidFill>
                        <a:srgbClr val="E2E7F2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wrap="none"/>
                    <a:lstStyle/>
                    <a:p>
                      <a:pPr algn="r"/>
                      <a:r>
                        <a:rPr sz="750" b="0">
                          <a:solidFill>
                            <a:srgbClr val="595959"/>
                          </a:solidFill>
                          <a:latin typeface="Calibri"/>
                        </a:rPr>
                        <a:t>1,575</a:t>
                      </a:r>
                    </a:p>
                  </a:txBody>
                  <a:tcPr anchor="ctr" marL="27432" marR="27432" marT="4572" marB="4572">
                    <a:lnL w="6350">
                      <a:solidFill>
                        <a:srgbClr val="E2E7F2"/>
                      </a:solidFill>
                    </a:lnL>
                    <a:lnR w="6350">
                      <a:solidFill>
                        <a:srgbClr val="E2E7F2"/>
                      </a:solidFill>
                    </a:lnR>
                    <a:lnT w="6350">
                      <a:solidFill>
                        <a:srgbClr val="E2E7F2"/>
                      </a:solidFill>
                    </a:lnT>
                    <a:lnB w="6350">
                      <a:solidFill>
                        <a:srgbClr val="E2E7F2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wrap="none"/>
                    <a:lstStyle/>
                    <a:p>
                      <a:pPr algn="r"/>
                      <a:r>
                        <a:rPr sz="750" b="0">
                          <a:solidFill>
                            <a:srgbClr val="595959"/>
                          </a:solidFill>
                          <a:latin typeface="Calibri"/>
                        </a:rPr>
                        <a:t>12,400</a:t>
                      </a:r>
                    </a:p>
                  </a:txBody>
                  <a:tcPr anchor="ctr" marL="27432" marR="27432" marT="4572" marB="4572">
                    <a:lnL w="6350">
                      <a:solidFill>
                        <a:srgbClr val="E2E7F2"/>
                      </a:solidFill>
                    </a:lnL>
                    <a:lnR w="6350">
                      <a:solidFill>
                        <a:srgbClr val="E2E7F2"/>
                      </a:solidFill>
                    </a:lnR>
                    <a:lnT w="6350">
                      <a:solidFill>
                        <a:srgbClr val="E2E7F2"/>
                      </a:solidFill>
                    </a:lnT>
                    <a:lnB w="6350">
                      <a:solidFill>
                        <a:srgbClr val="E2E7F2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wrap="none"/>
                    <a:lstStyle/>
                    <a:p>
                      <a:pPr algn="r"/>
                      <a:r>
                        <a:rPr sz="750" b="0">
                          <a:solidFill>
                            <a:srgbClr val="595959"/>
                          </a:solidFill>
                          <a:latin typeface="Calibri"/>
                        </a:rPr>
                        <a:t>30%</a:t>
                      </a:r>
                    </a:p>
                  </a:txBody>
                  <a:tcPr anchor="ctr" marL="27432" marR="27432" marT="4572" marB="4572">
                    <a:lnL w="6350">
                      <a:solidFill>
                        <a:srgbClr val="E2E7F2"/>
                      </a:solidFill>
                    </a:lnL>
                    <a:lnR w="6350">
                      <a:solidFill>
                        <a:srgbClr val="E2E7F2"/>
                      </a:solidFill>
                    </a:lnR>
                    <a:lnT w="6350">
                      <a:solidFill>
                        <a:srgbClr val="E2E7F2"/>
                      </a:solidFill>
                    </a:lnT>
                    <a:lnB w="6350">
                      <a:solidFill>
                        <a:srgbClr val="E2E7F2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wrap="none"/>
                    <a:lstStyle/>
                    <a:p>
                      <a:pPr algn="l"/>
                      <a:r>
                        <a:rPr sz="750" b="0">
                          <a:solidFill>
                            <a:srgbClr val="26292E"/>
                          </a:solidFill>
                          <a:latin typeface="Calibri"/>
                        </a:rPr>
                        <a:t/>
                      </a:r>
                    </a:p>
                  </a:txBody>
                  <a:tcPr anchor="ctr" marL="27432" marR="27432" marT="4572" marB="4572">
                    <a:lnL w="6350">
                      <a:solidFill>
                        <a:srgbClr val="E2E7F2"/>
                      </a:solidFill>
                    </a:lnL>
                    <a:lnR w="6350">
                      <a:solidFill>
                        <a:srgbClr val="E2E7F2"/>
                      </a:solidFill>
                    </a:lnR>
                    <a:lnT w="6350">
                      <a:solidFill>
                        <a:srgbClr val="E2E7F2"/>
                      </a:solidFill>
                    </a:lnT>
                    <a:lnB w="6350">
                      <a:solidFill>
                        <a:srgbClr val="E2E7F2"/>
                      </a:solidFill>
                    </a:lnB>
                    <a:solidFill>
                      <a:srgbClr val="FFFFFF"/>
                    </a:solidFill>
                  </a:tcPr>
                </a:tc>
              </a:tr>
              <a:tr h="147174">
                <a:tc>
                  <a:txBody>
                    <a:bodyPr wrap="none"/>
                    <a:lstStyle/>
                    <a:p>
                      <a:pPr algn="l"/>
                      <a:r>
                        <a:rPr sz="750" b="1">
                          <a:solidFill>
                            <a:srgbClr val="26292E"/>
                          </a:solidFill>
                          <a:latin typeface="Calibri"/>
                        </a:rPr>
                        <a:t>ASR</a:t>
                      </a:r>
                    </a:p>
                  </a:txBody>
                  <a:tcPr anchor="ctr" marL="27432" marR="27432" marT="4572" marB="4572">
                    <a:lnL w="6350">
                      <a:solidFill>
                        <a:srgbClr val="E2E7F2"/>
                      </a:solidFill>
                    </a:lnL>
                    <a:lnR w="6350">
                      <a:solidFill>
                        <a:srgbClr val="E2E7F2"/>
                      </a:solidFill>
                    </a:lnR>
                    <a:lnT w="6350">
                      <a:solidFill>
                        <a:srgbClr val="E2E7F2"/>
                      </a:solidFill>
                    </a:lnT>
                    <a:lnB w="6350">
                      <a:solidFill>
                        <a:srgbClr val="E2E7F2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wrap="none"/>
                    <a:lstStyle/>
                    <a:p>
                      <a:pPr algn="r"/>
                      <a:r>
                        <a:rPr sz="750" b="0">
                          <a:solidFill>
                            <a:srgbClr val="26292E"/>
                          </a:solidFill>
                          <a:latin typeface="Calibri"/>
                        </a:rPr>
                        <a:t>1,201</a:t>
                      </a:r>
                    </a:p>
                  </a:txBody>
                  <a:tcPr anchor="ctr" marL="27432" marR="27432" marT="4572" marB="4572">
                    <a:lnL w="6350">
                      <a:solidFill>
                        <a:srgbClr val="E2E7F2"/>
                      </a:solidFill>
                    </a:lnL>
                    <a:lnR w="6350">
                      <a:solidFill>
                        <a:srgbClr val="E2E7F2"/>
                      </a:solidFill>
                    </a:lnR>
                    <a:lnT w="6350">
                      <a:solidFill>
                        <a:srgbClr val="E2E7F2"/>
                      </a:solidFill>
                    </a:lnT>
                    <a:lnB w="6350">
                      <a:solidFill>
                        <a:srgbClr val="E2E7F2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wrap="none"/>
                    <a:lstStyle/>
                    <a:p>
                      <a:pPr algn="r"/>
                      <a:r>
                        <a:rPr sz="750" b="0">
                          <a:solidFill>
                            <a:srgbClr val="26292E"/>
                          </a:solidFill>
                          <a:latin typeface="Calibri"/>
                        </a:rPr>
                        <a:t>1,116</a:t>
                      </a:r>
                    </a:p>
                  </a:txBody>
                  <a:tcPr anchor="ctr" marL="27432" marR="27432" marT="4572" marB="4572">
                    <a:lnL w="6350">
                      <a:solidFill>
                        <a:srgbClr val="E2E7F2"/>
                      </a:solidFill>
                    </a:lnL>
                    <a:lnR w="6350">
                      <a:solidFill>
                        <a:srgbClr val="E2E7F2"/>
                      </a:solidFill>
                    </a:lnR>
                    <a:lnT w="6350">
                      <a:solidFill>
                        <a:srgbClr val="E2E7F2"/>
                      </a:solidFill>
                    </a:lnT>
                    <a:lnB w="6350">
                      <a:solidFill>
                        <a:srgbClr val="E2E7F2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wrap="none"/>
                    <a:lstStyle/>
                    <a:p>
                      <a:pPr algn="r"/>
                      <a:r>
                        <a:rPr sz="750" b="0">
                          <a:solidFill>
                            <a:srgbClr val="26292E"/>
                          </a:solidFill>
                          <a:latin typeface="Calibri"/>
                        </a:rPr>
                        <a:t>1,214</a:t>
                      </a:r>
                    </a:p>
                  </a:txBody>
                  <a:tcPr anchor="ctr" marL="27432" marR="27432" marT="4572" marB="4572">
                    <a:lnL w="6350">
                      <a:solidFill>
                        <a:srgbClr val="E2E7F2"/>
                      </a:solidFill>
                    </a:lnL>
                    <a:lnR w="6350">
                      <a:solidFill>
                        <a:srgbClr val="E2E7F2"/>
                      </a:solidFill>
                    </a:lnR>
                    <a:lnT w="6350">
                      <a:solidFill>
                        <a:srgbClr val="E2E7F2"/>
                      </a:solidFill>
                    </a:lnT>
                    <a:lnB w="6350">
                      <a:solidFill>
                        <a:srgbClr val="E2E7F2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wrap="none"/>
                    <a:lstStyle/>
                    <a:p>
                      <a:pPr algn="r"/>
                      <a:r>
                        <a:rPr sz="750" b="0">
                          <a:solidFill>
                            <a:srgbClr val="26292E"/>
                          </a:solidFill>
                          <a:latin typeface="Calibri"/>
                        </a:rPr>
                        <a:t>1,002</a:t>
                      </a:r>
                    </a:p>
                  </a:txBody>
                  <a:tcPr anchor="ctr" marL="27432" marR="27432" marT="4572" marB="4572">
                    <a:lnL w="6350">
                      <a:solidFill>
                        <a:srgbClr val="E2E7F2"/>
                      </a:solidFill>
                    </a:lnL>
                    <a:lnR w="6350">
                      <a:solidFill>
                        <a:srgbClr val="E2E7F2"/>
                      </a:solidFill>
                    </a:lnR>
                    <a:lnT w="6350">
                      <a:solidFill>
                        <a:srgbClr val="E2E7F2"/>
                      </a:solidFill>
                    </a:lnT>
                    <a:lnB w="6350">
                      <a:solidFill>
                        <a:srgbClr val="E2E7F2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wrap="none"/>
                    <a:lstStyle/>
                    <a:p>
                      <a:pPr algn="r"/>
                      <a:r>
                        <a:rPr sz="750" b="0">
                          <a:solidFill>
                            <a:srgbClr val="26292E"/>
                          </a:solidFill>
                          <a:latin typeface="Calibri"/>
                        </a:rPr>
                        <a:t>938</a:t>
                      </a:r>
                    </a:p>
                  </a:txBody>
                  <a:tcPr anchor="ctr" marL="27432" marR="27432" marT="4572" marB="4572">
                    <a:lnL w="6350">
                      <a:solidFill>
                        <a:srgbClr val="E2E7F2"/>
                      </a:solidFill>
                    </a:lnL>
                    <a:lnR w="6350">
                      <a:solidFill>
                        <a:srgbClr val="E2E7F2"/>
                      </a:solidFill>
                    </a:lnR>
                    <a:lnT w="6350">
                      <a:solidFill>
                        <a:srgbClr val="E2E7F2"/>
                      </a:solidFill>
                    </a:lnT>
                    <a:lnB w="6350">
                      <a:solidFill>
                        <a:srgbClr val="E2E7F2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wrap="none"/>
                    <a:lstStyle/>
                    <a:p>
                      <a:pPr algn="r"/>
                      <a:r>
                        <a:rPr sz="750" b="0">
                          <a:solidFill>
                            <a:srgbClr val="26292E"/>
                          </a:solidFill>
                          <a:latin typeface="Calibri"/>
                        </a:rPr>
                        <a:t>955</a:t>
                      </a:r>
                    </a:p>
                  </a:txBody>
                  <a:tcPr anchor="ctr" marL="27432" marR="27432" marT="4572" marB="4572">
                    <a:lnL w="6350">
                      <a:solidFill>
                        <a:srgbClr val="E2E7F2"/>
                      </a:solidFill>
                    </a:lnL>
                    <a:lnR w="6350">
                      <a:solidFill>
                        <a:srgbClr val="E2E7F2"/>
                      </a:solidFill>
                    </a:lnR>
                    <a:lnT w="6350">
                      <a:solidFill>
                        <a:srgbClr val="E2E7F2"/>
                      </a:solidFill>
                    </a:lnT>
                    <a:lnB w="6350">
                      <a:solidFill>
                        <a:srgbClr val="E2E7F2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wrap="none"/>
                    <a:lstStyle/>
                    <a:p>
                      <a:pPr algn="r"/>
                      <a:r>
                        <a:rPr sz="750" b="1">
                          <a:solidFill>
                            <a:srgbClr val="26292E"/>
                          </a:solidFill>
                          <a:latin typeface="Calibri"/>
                        </a:rPr>
                        <a:t>6,426</a:t>
                      </a:r>
                    </a:p>
                  </a:txBody>
                  <a:tcPr anchor="ctr" marL="27432" marR="27432" marT="4572" marB="4572">
                    <a:lnL w="6350">
                      <a:solidFill>
                        <a:srgbClr val="E2E7F2"/>
                      </a:solidFill>
                    </a:lnL>
                    <a:lnR w="6350">
                      <a:solidFill>
                        <a:srgbClr val="E2E7F2"/>
                      </a:solidFill>
                    </a:lnR>
                    <a:lnT w="6350">
                      <a:solidFill>
                        <a:srgbClr val="E2E7F2"/>
                      </a:solidFill>
                    </a:lnT>
                    <a:lnB w="6350">
                      <a:solidFill>
                        <a:srgbClr val="E2E7F2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wrap="none"/>
                    <a:lstStyle/>
                    <a:p>
                      <a:pPr algn="r"/>
                      <a:r>
                        <a:rPr sz="750" b="0">
                          <a:solidFill>
                            <a:srgbClr val="26292E"/>
                          </a:solidFill>
                          <a:latin typeface="Calibri"/>
                        </a:rPr>
                        <a:t>15%</a:t>
                      </a:r>
                    </a:p>
                  </a:txBody>
                  <a:tcPr anchor="ctr" marL="27432" marR="27432" marT="4572" marB="4572">
                    <a:lnL w="6350">
                      <a:solidFill>
                        <a:srgbClr val="E2E7F2"/>
                      </a:solidFill>
                    </a:lnL>
                    <a:lnR w="6350">
                      <a:solidFill>
                        <a:srgbClr val="E2E7F2"/>
                      </a:solidFill>
                    </a:lnR>
                    <a:lnT w="6350">
                      <a:solidFill>
                        <a:srgbClr val="E2E7F2"/>
                      </a:solidFill>
                    </a:lnT>
                    <a:lnB w="6350">
                      <a:solidFill>
                        <a:srgbClr val="E2E7F2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wrap="none"/>
                    <a:lstStyle/>
                    <a:p>
                      <a:pPr algn="r"/>
                      <a:r>
                        <a:rPr sz="750" b="1">
                          <a:solidFill>
                            <a:srgbClr val="1E7B34"/>
                          </a:solidFill>
                          <a:latin typeface="Calibri"/>
                        </a:rPr>
                        <a:t>+41%</a:t>
                      </a:r>
                    </a:p>
                  </a:txBody>
                  <a:tcPr anchor="ctr" marL="27432" marR="27432" marT="4572" marB="4572">
                    <a:lnL w="6350">
                      <a:solidFill>
                        <a:srgbClr val="E2E7F2"/>
                      </a:solidFill>
                    </a:lnL>
                    <a:lnR w="6350">
                      <a:solidFill>
                        <a:srgbClr val="E2E7F2"/>
                      </a:solidFill>
                    </a:lnR>
                    <a:lnT w="6350">
                      <a:solidFill>
                        <a:srgbClr val="E2E7F2"/>
                      </a:solidFill>
                    </a:lnT>
                    <a:lnB w="6350">
                      <a:solidFill>
                        <a:srgbClr val="E2E7F2"/>
                      </a:solidFill>
                    </a:lnB>
                    <a:solidFill>
                      <a:srgbClr val="FFFFFF"/>
                    </a:solidFill>
                  </a:tcPr>
                </a:tc>
              </a:tr>
              <a:tr h="147174">
                <a:tc>
                  <a:txBody>
                    <a:bodyPr wrap="none"/>
                    <a:lstStyle/>
                    <a:p>
                      <a:pPr algn="l"/>
                      <a:r>
                        <a:rPr sz="750" b="0">
                          <a:solidFill>
                            <a:srgbClr val="595959"/>
                          </a:solidFill>
                          <a:latin typeface="Calibri"/>
                        </a:rPr>
                        <a:t>   ’25</a:t>
                      </a:r>
                    </a:p>
                  </a:txBody>
                  <a:tcPr anchor="ctr" marL="27432" marR="27432" marT="4572" marB="4572">
                    <a:lnL w="6350">
                      <a:solidFill>
                        <a:srgbClr val="E2E7F2"/>
                      </a:solidFill>
                    </a:lnL>
                    <a:lnR w="6350">
                      <a:solidFill>
                        <a:srgbClr val="E2E7F2"/>
                      </a:solidFill>
                    </a:lnR>
                    <a:lnT w="6350">
                      <a:solidFill>
                        <a:srgbClr val="E2E7F2"/>
                      </a:solidFill>
                    </a:lnT>
                    <a:lnB w="6350">
                      <a:solidFill>
                        <a:srgbClr val="E2E7F2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wrap="none"/>
                    <a:lstStyle/>
                    <a:p>
                      <a:pPr algn="r"/>
                      <a:r>
                        <a:rPr sz="750" b="0">
                          <a:solidFill>
                            <a:srgbClr val="595959"/>
                          </a:solidFill>
                          <a:latin typeface="Calibri"/>
                        </a:rPr>
                        <a:t>591</a:t>
                      </a:r>
                    </a:p>
                  </a:txBody>
                  <a:tcPr anchor="ctr" marL="27432" marR="27432" marT="4572" marB="4572">
                    <a:lnL w="6350">
                      <a:solidFill>
                        <a:srgbClr val="E2E7F2"/>
                      </a:solidFill>
                    </a:lnL>
                    <a:lnR w="6350">
                      <a:solidFill>
                        <a:srgbClr val="E2E7F2"/>
                      </a:solidFill>
                    </a:lnR>
                    <a:lnT w="6350">
                      <a:solidFill>
                        <a:srgbClr val="E2E7F2"/>
                      </a:solidFill>
                    </a:lnT>
                    <a:lnB w="6350">
                      <a:solidFill>
                        <a:srgbClr val="E2E7F2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wrap="none"/>
                    <a:lstStyle/>
                    <a:p>
                      <a:pPr algn="r"/>
                      <a:r>
                        <a:rPr sz="750" b="0">
                          <a:solidFill>
                            <a:srgbClr val="595959"/>
                          </a:solidFill>
                          <a:latin typeface="Calibri"/>
                        </a:rPr>
                        <a:t>655</a:t>
                      </a:r>
                    </a:p>
                  </a:txBody>
                  <a:tcPr anchor="ctr" marL="27432" marR="27432" marT="4572" marB="4572">
                    <a:lnL w="6350">
                      <a:solidFill>
                        <a:srgbClr val="E2E7F2"/>
                      </a:solidFill>
                    </a:lnL>
                    <a:lnR w="6350">
                      <a:solidFill>
                        <a:srgbClr val="E2E7F2"/>
                      </a:solidFill>
                    </a:lnR>
                    <a:lnT w="6350">
                      <a:solidFill>
                        <a:srgbClr val="E2E7F2"/>
                      </a:solidFill>
                    </a:lnT>
                    <a:lnB w="6350">
                      <a:solidFill>
                        <a:srgbClr val="E2E7F2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wrap="none"/>
                    <a:lstStyle/>
                    <a:p>
                      <a:pPr algn="r"/>
                      <a:r>
                        <a:rPr sz="750" b="0">
                          <a:solidFill>
                            <a:srgbClr val="595959"/>
                          </a:solidFill>
                          <a:latin typeface="Calibri"/>
                        </a:rPr>
                        <a:t>763</a:t>
                      </a:r>
                    </a:p>
                  </a:txBody>
                  <a:tcPr anchor="ctr" marL="27432" marR="27432" marT="4572" marB="4572">
                    <a:lnL w="6350">
                      <a:solidFill>
                        <a:srgbClr val="E2E7F2"/>
                      </a:solidFill>
                    </a:lnL>
                    <a:lnR w="6350">
                      <a:solidFill>
                        <a:srgbClr val="E2E7F2"/>
                      </a:solidFill>
                    </a:lnR>
                    <a:lnT w="6350">
                      <a:solidFill>
                        <a:srgbClr val="E2E7F2"/>
                      </a:solidFill>
                    </a:lnT>
                    <a:lnB w="6350">
                      <a:solidFill>
                        <a:srgbClr val="E2E7F2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wrap="none"/>
                    <a:lstStyle/>
                    <a:p>
                      <a:pPr algn="r"/>
                      <a:r>
                        <a:rPr sz="750" b="0">
                          <a:solidFill>
                            <a:srgbClr val="595959"/>
                          </a:solidFill>
                          <a:latin typeface="Calibri"/>
                        </a:rPr>
                        <a:t>796</a:t>
                      </a:r>
                    </a:p>
                  </a:txBody>
                  <a:tcPr anchor="ctr" marL="27432" marR="27432" marT="4572" marB="4572">
                    <a:lnL w="6350">
                      <a:solidFill>
                        <a:srgbClr val="E2E7F2"/>
                      </a:solidFill>
                    </a:lnL>
                    <a:lnR w="6350">
                      <a:solidFill>
                        <a:srgbClr val="E2E7F2"/>
                      </a:solidFill>
                    </a:lnR>
                    <a:lnT w="6350">
                      <a:solidFill>
                        <a:srgbClr val="E2E7F2"/>
                      </a:solidFill>
                    </a:lnT>
                    <a:lnB w="6350">
                      <a:solidFill>
                        <a:srgbClr val="E2E7F2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wrap="none"/>
                    <a:lstStyle/>
                    <a:p>
                      <a:pPr algn="r"/>
                      <a:r>
                        <a:rPr sz="750" b="0">
                          <a:solidFill>
                            <a:srgbClr val="595959"/>
                          </a:solidFill>
                          <a:latin typeface="Calibri"/>
                        </a:rPr>
                        <a:t>824</a:t>
                      </a:r>
                    </a:p>
                  </a:txBody>
                  <a:tcPr anchor="ctr" marL="27432" marR="27432" marT="4572" marB="4572">
                    <a:lnL w="6350">
                      <a:solidFill>
                        <a:srgbClr val="E2E7F2"/>
                      </a:solidFill>
                    </a:lnL>
                    <a:lnR w="6350">
                      <a:solidFill>
                        <a:srgbClr val="E2E7F2"/>
                      </a:solidFill>
                    </a:lnR>
                    <a:lnT w="6350">
                      <a:solidFill>
                        <a:srgbClr val="E2E7F2"/>
                      </a:solidFill>
                    </a:lnT>
                    <a:lnB w="6350">
                      <a:solidFill>
                        <a:srgbClr val="E2E7F2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wrap="none"/>
                    <a:lstStyle/>
                    <a:p>
                      <a:pPr algn="r"/>
                      <a:r>
                        <a:rPr sz="750" b="0">
                          <a:solidFill>
                            <a:srgbClr val="595959"/>
                          </a:solidFill>
                          <a:latin typeface="Calibri"/>
                        </a:rPr>
                        <a:t>938</a:t>
                      </a:r>
                    </a:p>
                  </a:txBody>
                  <a:tcPr anchor="ctr" marL="27432" marR="27432" marT="4572" marB="4572">
                    <a:lnL w="6350">
                      <a:solidFill>
                        <a:srgbClr val="E2E7F2"/>
                      </a:solidFill>
                    </a:lnL>
                    <a:lnR w="6350">
                      <a:solidFill>
                        <a:srgbClr val="E2E7F2"/>
                      </a:solidFill>
                    </a:lnR>
                    <a:lnT w="6350">
                      <a:solidFill>
                        <a:srgbClr val="E2E7F2"/>
                      </a:solidFill>
                    </a:lnT>
                    <a:lnB w="6350">
                      <a:solidFill>
                        <a:srgbClr val="E2E7F2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wrap="none"/>
                    <a:lstStyle/>
                    <a:p>
                      <a:pPr algn="r"/>
                      <a:r>
                        <a:rPr sz="750" b="0">
                          <a:solidFill>
                            <a:srgbClr val="595959"/>
                          </a:solidFill>
                          <a:latin typeface="Calibri"/>
                        </a:rPr>
                        <a:t>4,567</a:t>
                      </a:r>
                    </a:p>
                  </a:txBody>
                  <a:tcPr anchor="ctr" marL="27432" marR="27432" marT="4572" marB="4572">
                    <a:lnL w="6350">
                      <a:solidFill>
                        <a:srgbClr val="E2E7F2"/>
                      </a:solidFill>
                    </a:lnL>
                    <a:lnR w="6350">
                      <a:solidFill>
                        <a:srgbClr val="E2E7F2"/>
                      </a:solidFill>
                    </a:lnR>
                    <a:lnT w="6350">
                      <a:solidFill>
                        <a:srgbClr val="E2E7F2"/>
                      </a:solidFill>
                    </a:lnT>
                    <a:lnB w="6350">
                      <a:solidFill>
                        <a:srgbClr val="E2E7F2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wrap="none"/>
                    <a:lstStyle/>
                    <a:p>
                      <a:pPr algn="r"/>
                      <a:r>
                        <a:rPr sz="750" b="0">
                          <a:solidFill>
                            <a:srgbClr val="595959"/>
                          </a:solidFill>
                          <a:latin typeface="Calibri"/>
                        </a:rPr>
                        <a:t>11%</a:t>
                      </a:r>
                    </a:p>
                  </a:txBody>
                  <a:tcPr anchor="ctr" marL="27432" marR="27432" marT="4572" marB="4572">
                    <a:lnL w="6350">
                      <a:solidFill>
                        <a:srgbClr val="E2E7F2"/>
                      </a:solidFill>
                    </a:lnL>
                    <a:lnR w="6350">
                      <a:solidFill>
                        <a:srgbClr val="E2E7F2"/>
                      </a:solidFill>
                    </a:lnR>
                    <a:lnT w="6350">
                      <a:solidFill>
                        <a:srgbClr val="E2E7F2"/>
                      </a:solidFill>
                    </a:lnT>
                    <a:lnB w="6350">
                      <a:solidFill>
                        <a:srgbClr val="E2E7F2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wrap="none"/>
                    <a:lstStyle/>
                    <a:p>
                      <a:pPr algn="l"/>
                      <a:r>
                        <a:rPr sz="750" b="0">
                          <a:solidFill>
                            <a:srgbClr val="26292E"/>
                          </a:solidFill>
                          <a:latin typeface="Calibri"/>
                        </a:rPr>
                        <a:t/>
                      </a:r>
                    </a:p>
                  </a:txBody>
                  <a:tcPr anchor="ctr" marL="27432" marR="27432" marT="4572" marB="4572">
                    <a:lnL w="6350">
                      <a:solidFill>
                        <a:srgbClr val="E2E7F2"/>
                      </a:solidFill>
                    </a:lnL>
                    <a:lnR w="6350">
                      <a:solidFill>
                        <a:srgbClr val="E2E7F2"/>
                      </a:solidFill>
                    </a:lnR>
                    <a:lnT w="6350">
                      <a:solidFill>
                        <a:srgbClr val="E2E7F2"/>
                      </a:solidFill>
                    </a:lnT>
                    <a:lnB w="6350">
                      <a:solidFill>
                        <a:srgbClr val="E2E7F2"/>
                      </a:solidFill>
                    </a:lnB>
                    <a:solidFill>
                      <a:srgbClr val="FFFFFF"/>
                    </a:solidFill>
                  </a:tcPr>
                </a:tc>
              </a:tr>
              <a:tr h="147174">
                <a:tc>
                  <a:txBody>
                    <a:bodyPr wrap="none"/>
                    <a:lstStyle/>
                    <a:p>
                      <a:pPr algn="l"/>
                      <a:r>
                        <a:rPr sz="750" b="1">
                          <a:solidFill>
                            <a:srgbClr val="26292E"/>
                          </a:solidFill>
                          <a:latin typeface="Calibri"/>
                        </a:rPr>
                        <a:t>Wholesale</a:t>
                      </a:r>
                    </a:p>
                  </a:txBody>
                  <a:tcPr anchor="ctr" marL="27432" marR="27432" marT="4572" marB="4572">
                    <a:lnL w="6350">
                      <a:solidFill>
                        <a:srgbClr val="E2E7F2"/>
                      </a:solidFill>
                    </a:lnL>
                    <a:lnR w="6350">
                      <a:solidFill>
                        <a:srgbClr val="E2E7F2"/>
                      </a:solidFill>
                    </a:lnR>
                    <a:lnT w="6350">
                      <a:solidFill>
                        <a:srgbClr val="E2E7F2"/>
                      </a:solidFill>
                    </a:lnT>
                    <a:lnB w="6350">
                      <a:solidFill>
                        <a:srgbClr val="E2E7F2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wrap="none"/>
                    <a:lstStyle/>
                    <a:p>
                      <a:pPr algn="r"/>
                      <a:r>
                        <a:rPr sz="750" b="0">
                          <a:solidFill>
                            <a:srgbClr val="26292E"/>
                          </a:solidFill>
                          <a:latin typeface="Calibri"/>
                        </a:rPr>
                        <a:t>4,009</a:t>
                      </a:r>
                    </a:p>
                  </a:txBody>
                  <a:tcPr anchor="ctr" marL="27432" marR="27432" marT="4572" marB="4572">
                    <a:lnL w="6350">
                      <a:solidFill>
                        <a:srgbClr val="E2E7F2"/>
                      </a:solidFill>
                    </a:lnL>
                    <a:lnR w="6350">
                      <a:solidFill>
                        <a:srgbClr val="E2E7F2"/>
                      </a:solidFill>
                    </a:lnR>
                    <a:lnT w="6350">
                      <a:solidFill>
                        <a:srgbClr val="E2E7F2"/>
                      </a:solidFill>
                    </a:lnT>
                    <a:lnB w="6350">
                      <a:solidFill>
                        <a:srgbClr val="E2E7F2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wrap="none"/>
                    <a:lstStyle/>
                    <a:p>
                      <a:pPr algn="r"/>
                      <a:r>
                        <a:rPr sz="750" b="0">
                          <a:solidFill>
                            <a:srgbClr val="26292E"/>
                          </a:solidFill>
                          <a:latin typeface="Calibri"/>
                        </a:rPr>
                        <a:t>3,483</a:t>
                      </a:r>
                    </a:p>
                  </a:txBody>
                  <a:tcPr anchor="ctr" marL="27432" marR="27432" marT="4572" marB="4572">
                    <a:lnL w="6350">
                      <a:solidFill>
                        <a:srgbClr val="E2E7F2"/>
                      </a:solidFill>
                    </a:lnL>
                    <a:lnR w="6350">
                      <a:solidFill>
                        <a:srgbClr val="E2E7F2"/>
                      </a:solidFill>
                    </a:lnR>
                    <a:lnT w="6350">
                      <a:solidFill>
                        <a:srgbClr val="E2E7F2"/>
                      </a:solidFill>
                    </a:lnT>
                    <a:lnB w="6350">
                      <a:solidFill>
                        <a:srgbClr val="E2E7F2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wrap="none"/>
                    <a:lstStyle/>
                    <a:p>
                      <a:pPr algn="r"/>
                      <a:r>
                        <a:rPr sz="750" b="0">
                          <a:solidFill>
                            <a:srgbClr val="26292E"/>
                          </a:solidFill>
                          <a:latin typeface="Calibri"/>
                        </a:rPr>
                        <a:t>2,429</a:t>
                      </a:r>
                    </a:p>
                  </a:txBody>
                  <a:tcPr anchor="ctr" marL="27432" marR="27432" marT="4572" marB="4572">
                    <a:lnL w="6350">
                      <a:solidFill>
                        <a:srgbClr val="E2E7F2"/>
                      </a:solidFill>
                    </a:lnL>
                    <a:lnR w="6350">
                      <a:solidFill>
                        <a:srgbClr val="E2E7F2"/>
                      </a:solidFill>
                    </a:lnR>
                    <a:lnT w="6350">
                      <a:solidFill>
                        <a:srgbClr val="E2E7F2"/>
                      </a:solidFill>
                    </a:lnT>
                    <a:lnB w="6350">
                      <a:solidFill>
                        <a:srgbClr val="E2E7F2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wrap="none"/>
                    <a:lstStyle/>
                    <a:p>
                      <a:pPr algn="r"/>
                      <a:r>
                        <a:rPr sz="750" b="0">
                          <a:solidFill>
                            <a:srgbClr val="26292E"/>
                          </a:solidFill>
                          <a:latin typeface="Calibri"/>
                        </a:rPr>
                        <a:t>2,948</a:t>
                      </a:r>
                    </a:p>
                  </a:txBody>
                  <a:tcPr anchor="ctr" marL="27432" marR="27432" marT="4572" marB="4572">
                    <a:lnL w="6350">
                      <a:solidFill>
                        <a:srgbClr val="E2E7F2"/>
                      </a:solidFill>
                    </a:lnL>
                    <a:lnR w="6350">
                      <a:solidFill>
                        <a:srgbClr val="E2E7F2"/>
                      </a:solidFill>
                    </a:lnR>
                    <a:lnT w="6350">
                      <a:solidFill>
                        <a:srgbClr val="E2E7F2"/>
                      </a:solidFill>
                    </a:lnT>
                    <a:lnB w="6350">
                      <a:solidFill>
                        <a:srgbClr val="E2E7F2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wrap="none"/>
                    <a:lstStyle/>
                    <a:p>
                      <a:pPr algn="r"/>
                      <a:r>
                        <a:rPr sz="750" b="0">
                          <a:solidFill>
                            <a:srgbClr val="26292E"/>
                          </a:solidFill>
                          <a:latin typeface="Calibri"/>
                        </a:rPr>
                        <a:t>2,855</a:t>
                      </a:r>
                    </a:p>
                  </a:txBody>
                  <a:tcPr anchor="ctr" marL="27432" marR="27432" marT="4572" marB="4572">
                    <a:lnL w="6350">
                      <a:solidFill>
                        <a:srgbClr val="E2E7F2"/>
                      </a:solidFill>
                    </a:lnL>
                    <a:lnR w="6350">
                      <a:solidFill>
                        <a:srgbClr val="E2E7F2"/>
                      </a:solidFill>
                    </a:lnR>
                    <a:lnT w="6350">
                      <a:solidFill>
                        <a:srgbClr val="E2E7F2"/>
                      </a:solidFill>
                    </a:lnT>
                    <a:lnB w="6350">
                      <a:solidFill>
                        <a:srgbClr val="E2E7F2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wrap="none"/>
                    <a:lstStyle/>
                    <a:p>
                      <a:pPr algn="r"/>
                      <a:r>
                        <a:rPr sz="750" b="0">
                          <a:solidFill>
                            <a:srgbClr val="26292E"/>
                          </a:solidFill>
                          <a:latin typeface="Calibri"/>
                        </a:rPr>
                        <a:t>2,281</a:t>
                      </a:r>
                    </a:p>
                  </a:txBody>
                  <a:tcPr anchor="ctr" marL="27432" marR="27432" marT="4572" marB="4572">
                    <a:lnL w="6350">
                      <a:solidFill>
                        <a:srgbClr val="E2E7F2"/>
                      </a:solidFill>
                    </a:lnL>
                    <a:lnR w="6350">
                      <a:solidFill>
                        <a:srgbClr val="E2E7F2"/>
                      </a:solidFill>
                    </a:lnR>
                    <a:lnT w="6350">
                      <a:solidFill>
                        <a:srgbClr val="E2E7F2"/>
                      </a:solidFill>
                    </a:lnT>
                    <a:lnB w="6350">
                      <a:solidFill>
                        <a:srgbClr val="E2E7F2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wrap="none"/>
                    <a:lstStyle/>
                    <a:p>
                      <a:pPr algn="r"/>
                      <a:r>
                        <a:rPr sz="750" b="1">
                          <a:solidFill>
                            <a:srgbClr val="26292E"/>
                          </a:solidFill>
                          <a:latin typeface="Calibri"/>
                        </a:rPr>
                        <a:t>18,005</a:t>
                      </a:r>
                    </a:p>
                  </a:txBody>
                  <a:tcPr anchor="ctr" marL="27432" marR="27432" marT="4572" marB="4572">
                    <a:lnL w="6350">
                      <a:solidFill>
                        <a:srgbClr val="E2E7F2"/>
                      </a:solidFill>
                    </a:lnL>
                    <a:lnR w="6350">
                      <a:solidFill>
                        <a:srgbClr val="E2E7F2"/>
                      </a:solidFill>
                    </a:lnR>
                    <a:lnT w="6350">
                      <a:solidFill>
                        <a:srgbClr val="E2E7F2"/>
                      </a:solidFill>
                    </a:lnT>
                    <a:lnB w="6350">
                      <a:solidFill>
                        <a:srgbClr val="E2E7F2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wrap="none"/>
                    <a:lstStyle/>
                    <a:p>
                      <a:pPr algn="r"/>
                      <a:r>
                        <a:rPr sz="750" b="0">
                          <a:solidFill>
                            <a:srgbClr val="26292E"/>
                          </a:solidFill>
                          <a:latin typeface="Calibri"/>
                        </a:rPr>
                        <a:t>42%</a:t>
                      </a:r>
                    </a:p>
                  </a:txBody>
                  <a:tcPr anchor="ctr" marL="27432" marR="27432" marT="4572" marB="4572">
                    <a:lnL w="6350">
                      <a:solidFill>
                        <a:srgbClr val="E2E7F2"/>
                      </a:solidFill>
                    </a:lnL>
                    <a:lnR w="6350">
                      <a:solidFill>
                        <a:srgbClr val="E2E7F2"/>
                      </a:solidFill>
                    </a:lnR>
                    <a:lnT w="6350">
                      <a:solidFill>
                        <a:srgbClr val="E2E7F2"/>
                      </a:solidFill>
                    </a:lnT>
                    <a:lnB w="6350">
                      <a:solidFill>
                        <a:srgbClr val="E2E7F2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wrap="none"/>
                    <a:lstStyle/>
                    <a:p>
                      <a:pPr algn="r"/>
                      <a:r>
                        <a:rPr sz="750" b="1">
                          <a:solidFill>
                            <a:srgbClr val="1E7B34"/>
                          </a:solidFill>
                          <a:latin typeface="Calibri"/>
                        </a:rPr>
                        <a:t>+20%</a:t>
                      </a:r>
                    </a:p>
                  </a:txBody>
                  <a:tcPr anchor="ctr" marL="27432" marR="27432" marT="4572" marB="4572">
                    <a:lnL w="6350">
                      <a:solidFill>
                        <a:srgbClr val="E2E7F2"/>
                      </a:solidFill>
                    </a:lnL>
                    <a:lnR w="6350">
                      <a:solidFill>
                        <a:srgbClr val="E2E7F2"/>
                      </a:solidFill>
                    </a:lnR>
                    <a:lnT w="6350">
                      <a:solidFill>
                        <a:srgbClr val="E2E7F2"/>
                      </a:solidFill>
                    </a:lnT>
                    <a:lnB w="6350">
                      <a:solidFill>
                        <a:srgbClr val="E2E7F2"/>
                      </a:solidFill>
                    </a:lnB>
                    <a:solidFill>
                      <a:srgbClr val="FFFFFF"/>
                    </a:solidFill>
                  </a:tcPr>
                </a:tc>
              </a:tr>
              <a:tr h="147174">
                <a:tc>
                  <a:txBody>
                    <a:bodyPr wrap="none"/>
                    <a:lstStyle/>
                    <a:p>
                      <a:pPr algn="l"/>
                      <a:r>
                        <a:rPr sz="750" b="0">
                          <a:solidFill>
                            <a:srgbClr val="595959"/>
                          </a:solidFill>
                          <a:latin typeface="Calibri"/>
                        </a:rPr>
                        <a:t>   ’25</a:t>
                      </a:r>
                    </a:p>
                  </a:txBody>
                  <a:tcPr anchor="ctr" marL="27432" marR="27432" marT="4572" marB="4572">
                    <a:lnL w="6350">
                      <a:solidFill>
                        <a:srgbClr val="E2E7F2"/>
                      </a:solidFill>
                    </a:lnL>
                    <a:lnR w="6350">
                      <a:solidFill>
                        <a:srgbClr val="E2E7F2"/>
                      </a:solidFill>
                    </a:lnR>
                    <a:lnT w="6350">
                      <a:solidFill>
                        <a:srgbClr val="E2E7F2"/>
                      </a:solidFill>
                    </a:lnT>
                    <a:lnB w="6350">
                      <a:solidFill>
                        <a:srgbClr val="E2E7F2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wrap="none"/>
                    <a:lstStyle/>
                    <a:p>
                      <a:pPr algn="r"/>
                      <a:r>
                        <a:rPr sz="750" b="0">
                          <a:solidFill>
                            <a:srgbClr val="595959"/>
                          </a:solidFill>
                          <a:latin typeface="Calibri"/>
                        </a:rPr>
                        <a:t>3,100</a:t>
                      </a:r>
                    </a:p>
                  </a:txBody>
                  <a:tcPr anchor="ctr" marL="27432" marR="27432" marT="4572" marB="4572">
                    <a:lnL w="6350">
                      <a:solidFill>
                        <a:srgbClr val="E2E7F2"/>
                      </a:solidFill>
                    </a:lnL>
                    <a:lnR w="6350">
                      <a:solidFill>
                        <a:srgbClr val="E2E7F2"/>
                      </a:solidFill>
                    </a:lnR>
                    <a:lnT w="6350">
                      <a:solidFill>
                        <a:srgbClr val="E2E7F2"/>
                      </a:solidFill>
                    </a:lnT>
                    <a:lnB w="6350">
                      <a:solidFill>
                        <a:srgbClr val="E2E7F2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wrap="none"/>
                    <a:lstStyle/>
                    <a:p>
                      <a:pPr algn="r"/>
                      <a:r>
                        <a:rPr sz="750" b="0">
                          <a:solidFill>
                            <a:srgbClr val="595959"/>
                          </a:solidFill>
                          <a:latin typeface="Calibri"/>
                        </a:rPr>
                        <a:t>3,072</a:t>
                      </a:r>
                    </a:p>
                  </a:txBody>
                  <a:tcPr anchor="ctr" marL="27432" marR="27432" marT="4572" marB="4572">
                    <a:lnL w="6350">
                      <a:solidFill>
                        <a:srgbClr val="E2E7F2"/>
                      </a:solidFill>
                    </a:lnL>
                    <a:lnR w="6350">
                      <a:solidFill>
                        <a:srgbClr val="E2E7F2"/>
                      </a:solidFill>
                    </a:lnR>
                    <a:lnT w="6350">
                      <a:solidFill>
                        <a:srgbClr val="E2E7F2"/>
                      </a:solidFill>
                    </a:lnT>
                    <a:lnB w="6350">
                      <a:solidFill>
                        <a:srgbClr val="E2E7F2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wrap="none"/>
                    <a:lstStyle/>
                    <a:p>
                      <a:pPr algn="r"/>
                      <a:r>
                        <a:rPr sz="750" b="0">
                          <a:solidFill>
                            <a:srgbClr val="595959"/>
                          </a:solidFill>
                          <a:latin typeface="Calibri"/>
                        </a:rPr>
                        <a:t>2,426</a:t>
                      </a:r>
                    </a:p>
                  </a:txBody>
                  <a:tcPr anchor="ctr" marL="27432" marR="27432" marT="4572" marB="4572">
                    <a:lnL w="6350">
                      <a:solidFill>
                        <a:srgbClr val="E2E7F2"/>
                      </a:solidFill>
                    </a:lnL>
                    <a:lnR w="6350">
                      <a:solidFill>
                        <a:srgbClr val="E2E7F2"/>
                      </a:solidFill>
                    </a:lnR>
                    <a:lnT w="6350">
                      <a:solidFill>
                        <a:srgbClr val="E2E7F2"/>
                      </a:solidFill>
                    </a:lnT>
                    <a:lnB w="6350">
                      <a:solidFill>
                        <a:srgbClr val="E2E7F2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wrap="none"/>
                    <a:lstStyle/>
                    <a:p>
                      <a:pPr algn="r"/>
                      <a:r>
                        <a:rPr sz="750" b="0">
                          <a:solidFill>
                            <a:srgbClr val="595959"/>
                          </a:solidFill>
                          <a:latin typeface="Calibri"/>
                        </a:rPr>
                        <a:t>2,598</a:t>
                      </a:r>
                    </a:p>
                  </a:txBody>
                  <a:tcPr anchor="ctr" marL="27432" marR="27432" marT="4572" marB="4572">
                    <a:lnL w="6350">
                      <a:solidFill>
                        <a:srgbClr val="E2E7F2"/>
                      </a:solidFill>
                    </a:lnL>
                    <a:lnR w="6350">
                      <a:solidFill>
                        <a:srgbClr val="E2E7F2"/>
                      </a:solidFill>
                    </a:lnR>
                    <a:lnT w="6350">
                      <a:solidFill>
                        <a:srgbClr val="E2E7F2"/>
                      </a:solidFill>
                    </a:lnT>
                    <a:lnB w="6350">
                      <a:solidFill>
                        <a:srgbClr val="E2E7F2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wrap="none"/>
                    <a:lstStyle/>
                    <a:p>
                      <a:pPr algn="r"/>
                      <a:r>
                        <a:rPr sz="750" b="0">
                          <a:solidFill>
                            <a:srgbClr val="595959"/>
                          </a:solidFill>
                          <a:latin typeface="Calibri"/>
                        </a:rPr>
                        <a:t>2,128</a:t>
                      </a:r>
                    </a:p>
                  </a:txBody>
                  <a:tcPr anchor="ctr" marL="27432" marR="27432" marT="4572" marB="4572">
                    <a:lnL w="6350">
                      <a:solidFill>
                        <a:srgbClr val="E2E7F2"/>
                      </a:solidFill>
                    </a:lnL>
                    <a:lnR w="6350">
                      <a:solidFill>
                        <a:srgbClr val="E2E7F2"/>
                      </a:solidFill>
                    </a:lnR>
                    <a:lnT w="6350">
                      <a:solidFill>
                        <a:srgbClr val="E2E7F2"/>
                      </a:solidFill>
                    </a:lnT>
                    <a:lnB w="6350">
                      <a:solidFill>
                        <a:srgbClr val="E2E7F2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wrap="none"/>
                    <a:lstStyle/>
                    <a:p>
                      <a:pPr algn="r"/>
                      <a:r>
                        <a:rPr sz="750" b="0">
                          <a:solidFill>
                            <a:srgbClr val="595959"/>
                          </a:solidFill>
                          <a:latin typeface="Calibri"/>
                        </a:rPr>
                        <a:t>1,729</a:t>
                      </a:r>
                    </a:p>
                  </a:txBody>
                  <a:tcPr anchor="ctr" marL="27432" marR="27432" marT="4572" marB="4572">
                    <a:lnL w="6350">
                      <a:solidFill>
                        <a:srgbClr val="E2E7F2"/>
                      </a:solidFill>
                    </a:lnL>
                    <a:lnR w="6350">
                      <a:solidFill>
                        <a:srgbClr val="E2E7F2"/>
                      </a:solidFill>
                    </a:lnR>
                    <a:lnT w="6350">
                      <a:solidFill>
                        <a:srgbClr val="E2E7F2"/>
                      </a:solidFill>
                    </a:lnT>
                    <a:lnB w="6350">
                      <a:solidFill>
                        <a:srgbClr val="E2E7F2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wrap="none"/>
                    <a:lstStyle/>
                    <a:p>
                      <a:pPr algn="r"/>
                      <a:r>
                        <a:rPr sz="750" b="0">
                          <a:solidFill>
                            <a:srgbClr val="595959"/>
                          </a:solidFill>
                          <a:latin typeface="Calibri"/>
                        </a:rPr>
                        <a:t>15,053</a:t>
                      </a:r>
                    </a:p>
                  </a:txBody>
                  <a:tcPr anchor="ctr" marL="27432" marR="27432" marT="4572" marB="4572">
                    <a:lnL w="6350">
                      <a:solidFill>
                        <a:srgbClr val="E2E7F2"/>
                      </a:solidFill>
                    </a:lnL>
                    <a:lnR w="6350">
                      <a:solidFill>
                        <a:srgbClr val="E2E7F2"/>
                      </a:solidFill>
                    </a:lnR>
                    <a:lnT w="6350">
                      <a:solidFill>
                        <a:srgbClr val="E2E7F2"/>
                      </a:solidFill>
                    </a:lnT>
                    <a:lnB w="6350">
                      <a:solidFill>
                        <a:srgbClr val="E2E7F2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wrap="none"/>
                    <a:lstStyle/>
                    <a:p>
                      <a:pPr algn="r"/>
                      <a:r>
                        <a:rPr sz="750" b="0">
                          <a:solidFill>
                            <a:srgbClr val="595959"/>
                          </a:solidFill>
                          <a:latin typeface="Calibri"/>
                        </a:rPr>
                        <a:t>37%</a:t>
                      </a:r>
                    </a:p>
                  </a:txBody>
                  <a:tcPr anchor="ctr" marL="27432" marR="27432" marT="4572" marB="4572">
                    <a:lnL w="6350">
                      <a:solidFill>
                        <a:srgbClr val="E2E7F2"/>
                      </a:solidFill>
                    </a:lnL>
                    <a:lnR w="6350">
                      <a:solidFill>
                        <a:srgbClr val="E2E7F2"/>
                      </a:solidFill>
                    </a:lnR>
                    <a:lnT w="6350">
                      <a:solidFill>
                        <a:srgbClr val="E2E7F2"/>
                      </a:solidFill>
                    </a:lnT>
                    <a:lnB w="6350">
                      <a:solidFill>
                        <a:srgbClr val="E2E7F2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wrap="none"/>
                    <a:lstStyle/>
                    <a:p>
                      <a:pPr algn="l"/>
                      <a:r>
                        <a:rPr sz="750" b="0">
                          <a:solidFill>
                            <a:srgbClr val="26292E"/>
                          </a:solidFill>
                          <a:latin typeface="Calibri"/>
                        </a:rPr>
                        <a:t/>
                      </a:r>
                    </a:p>
                  </a:txBody>
                  <a:tcPr anchor="ctr" marL="27432" marR="27432" marT="4572" marB="4572">
                    <a:lnL w="6350">
                      <a:solidFill>
                        <a:srgbClr val="E2E7F2"/>
                      </a:solidFill>
                    </a:lnL>
                    <a:lnR w="6350">
                      <a:solidFill>
                        <a:srgbClr val="E2E7F2"/>
                      </a:solidFill>
                    </a:lnR>
                    <a:lnT w="6350">
                      <a:solidFill>
                        <a:srgbClr val="E2E7F2"/>
                      </a:solidFill>
                    </a:lnT>
                    <a:lnB w="6350">
                      <a:solidFill>
                        <a:srgbClr val="E2E7F2"/>
                      </a:solidFill>
                    </a:lnB>
                    <a:solidFill>
                      <a:srgbClr val="FFFFFF"/>
                    </a:solidFill>
                  </a:tcPr>
                </a:tc>
              </a:tr>
              <a:tr h="147174">
                <a:tc>
                  <a:txBody>
                    <a:bodyPr wrap="none"/>
                    <a:lstStyle/>
                    <a:p>
                      <a:pPr algn="l"/>
                      <a:r>
                        <a:rPr sz="750" b="1">
                          <a:solidFill>
                            <a:srgbClr val="26292E"/>
                          </a:solidFill>
                          <a:latin typeface="Calibri"/>
                        </a:rPr>
                        <a:t>Wholesale Group</a:t>
                      </a:r>
                    </a:p>
                  </a:txBody>
                  <a:tcPr anchor="ctr" marL="27432" marR="27432" marT="4572" marB="4572">
                    <a:lnL w="6350">
                      <a:solidFill>
                        <a:srgbClr val="E2E7F2"/>
                      </a:solidFill>
                    </a:lnL>
                    <a:lnR w="6350">
                      <a:solidFill>
                        <a:srgbClr val="E2E7F2"/>
                      </a:solidFill>
                    </a:lnR>
                    <a:lnT w="6350">
                      <a:solidFill>
                        <a:srgbClr val="E2E7F2"/>
                      </a:solidFill>
                    </a:lnT>
                    <a:lnB w="6350">
                      <a:solidFill>
                        <a:srgbClr val="E2E7F2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wrap="none"/>
                    <a:lstStyle/>
                    <a:p>
                      <a:pPr algn="r"/>
                      <a:r>
                        <a:rPr sz="750" b="0">
                          <a:solidFill>
                            <a:srgbClr val="26292E"/>
                          </a:solidFill>
                          <a:latin typeface="Calibri"/>
                        </a:rPr>
                        <a:t>134</a:t>
                      </a:r>
                    </a:p>
                  </a:txBody>
                  <a:tcPr anchor="ctr" marL="27432" marR="27432" marT="4572" marB="4572">
                    <a:lnL w="6350">
                      <a:solidFill>
                        <a:srgbClr val="E2E7F2"/>
                      </a:solidFill>
                    </a:lnL>
                    <a:lnR w="6350">
                      <a:solidFill>
                        <a:srgbClr val="E2E7F2"/>
                      </a:solidFill>
                    </a:lnR>
                    <a:lnT w="6350">
                      <a:solidFill>
                        <a:srgbClr val="E2E7F2"/>
                      </a:solidFill>
                    </a:lnT>
                    <a:lnB w="6350">
                      <a:solidFill>
                        <a:srgbClr val="E2E7F2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wrap="none"/>
                    <a:lstStyle/>
                    <a:p>
                      <a:pPr algn="r"/>
                      <a:r>
                        <a:rPr sz="750" b="0">
                          <a:solidFill>
                            <a:srgbClr val="26292E"/>
                          </a:solidFill>
                          <a:latin typeface="Calibri"/>
                        </a:rPr>
                        <a:t>261</a:t>
                      </a:r>
                    </a:p>
                  </a:txBody>
                  <a:tcPr anchor="ctr" marL="27432" marR="27432" marT="4572" marB="4572">
                    <a:lnL w="6350">
                      <a:solidFill>
                        <a:srgbClr val="E2E7F2"/>
                      </a:solidFill>
                    </a:lnL>
                    <a:lnR w="6350">
                      <a:solidFill>
                        <a:srgbClr val="E2E7F2"/>
                      </a:solidFill>
                    </a:lnR>
                    <a:lnT w="6350">
                      <a:solidFill>
                        <a:srgbClr val="E2E7F2"/>
                      </a:solidFill>
                    </a:lnT>
                    <a:lnB w="6350">
                      <a:solidFill>
                        <a:srgbClr val="E2E7F2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wrap="none"/>
                    <a:lstStyle/>
                    <a:p>
                      <a:pPr algn="r"/>
                      <a:r>
                        <a:rPr sz="750" b="0">
                          <a:solidFill>
                            <a:srgbClr val="26292E"/>
                          </a:solidFill>
                          <a:latin typeface="Calibri"/>
                        </a:rPr>
                        <a:t>453</a:t>
                      </a:r>
                    </a:p>
                  </a:txBody>
                  <a:tcPr anchor="ctr" marL="27432" marR="27432" marT="4572" marB="4572">
                    <a:lnL w="6350">
                      <a:solidFill>
                        <a:srgbClr val="E2E7F2"/>
                      </a:solidFill>
                    </a:lnL>
                    <a:lnR w="6350">
                      <a:solidFill>
                        <a:srgbClr val="E2E7F2"/>
                      </a:solidFill>
                    </a:lnR>
                    <a:lnT w="6350">
                      <a:solidFill>
                        <a:srgbClr val="E2E7F2"/>
                      </a:solidFill>
                    </a:lnT>
                    <a:lnB w="6350">
                      <a:solidFill>
                        <a:srgbClr val="E2E7F2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wrap="none"/>
                    <a:lstStyle/>
                    <a:p>
                      <a:pPr algn="r"/>
                      <a:r>
                        <a:rPr sz="750" b="0">
                          <a:solidFill>
                            <a:srgbClr val="26292E"/>
                          </a:solidFill>
                          <a:latin typeface="Calibri"/>
                        </a:rPr>
                        <a:t>254</a:t>
                      </a:r>
                    </a:p>
                  </a:txBody>
                  <a:tcPr anchor="ctr" marL="27432" marR="27432" marT="4572" marB="4572">
                    <a:lnL w="6350">
                      <a:solidFill>
                        <a:srgbClr val="E2E7F2"/>
                      </a:solidFill>
                    </a:lnL>
                    <a:lnR w="6350">
                      <a:solidFill>
                        <a:srgbClr val="E2E7F2"/>
                      </a:solidFill>
                    </a:lnR>
                    <a:lnT w="6350">
                      <a:solidFill>
                        <a:srgbClr val="E2E7F2"/>
                      </a:solidFill>
                    </a:lnT>
                    <a:lnB w="6350">
                      <a:solidFill>
                        <a:srgbClr val="E2E7F2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wrap="none"/>
                    <a:lstStyle/>
                    <a:p>
                      <a:pPr algn="r"/>
                      <a:r>
                        <a:rPr sz="750" b="0">
                          <a:solidFill>
                            <a:srgbClr val="26292E"/>
                          </a:solidFill>
                          <a:latin typeface="Calibri"/>
                        </a:rPr>
                        <a:t>194</a:t>
                      </a:r>
                    </a:p>
                  </a:txBody>
                  <a:tcPr anchor="ctr" marL="27432" marR="27432" marT="4572" marB="4572">
                    <a:lnL w="6350">
                      <a:solidFill>
                        <a:srgbClr val="E2E7F2"/>
                      </a:solidFill>
                    </a:lnL>
                    <a:lnR w="6350">
                      <a:solidFill>
                        <a:srgbClr val="E2E7F2"/>
                      </a:solidFill>
                    </a:lnR>
                    <a:lnT w="6350">
                      <a:solidFill>
                        <a:srgbClr val="E2E7F2"/>
                      </a:solidFill>
                    </a:lnT>
                    <a:lnB w="6350">
                      <a:solidFill>
                        <a:srgbClr val="E2E7F2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wrap="none"/>
                    <a:lstStyle/>
                    <a:p>
                      <a:pPr algn="r"/>
                      <a:r>
                        <a:rPr sz="750" b="0">
                          <a:solidFill>
                            <a:srgbClr val="26292E"/>
                          </a:solidFill>
                          <a:latin typeface="Calibri"/>
                        </a:rPr>
                        <a:t>225</a:t>
                      </a:r>
                    </a:p>
                  </a:txBody>
                  <a:tcPr anchor="ctr" marL="27432" marR="27432" marT="4572" marB="4572">
                    <a:lnL w="6350">
                      <a:solidFill>
                        <a:srgbClr val="E2E7F2"/>
                      </a:solidFill>
                    </a:lnL>
                    <a:lnR w="6350">
                      <a:solidFill>
                        <a:srgbClr val="E2E7F2"/>
                      </a:solidFill>
                    </a:lnR>
                    <a:lnT w="6350">
                      <a:solidFill>
                        <a:srgbClr val="E2E7F2"/>
                      </a:solidFill>
                    </a:lnT>
                    <a:lnB w="6350">
                      <a:solidFill>
                        <a:srgbClr val="E2E7F2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wrap="none"/>
                    <a:lstStyle/>
                    <a:p>
                      <a:pPr algn="r"/>
                      <a:r>
                        <a:rPr sz="750" b="1">
                          <a:solidFill>
                            <a:srgbClr val="26292E"/>
                          </a:solidFill>
                          <a:latin typeface="Calibri"/>
                        </a:rPr>
                        <a:t>1,521</a:t>
                      </a:r>
                    </a:p>
                  </a:txBody>
                  <a:tcPr anchor="ctr" marL="27432" marR="27432" marT="4572" marB="4572">
                    <a:lnL w="6350">
                      <a:solidFill>
                        <a:srgbClr val="E2E7F2"/>
                      </a:solidFill>
                    </a:lnL>
                    <a:lnR w="6350">
                      <a:solidFill>
                        <a:srgbClr val="E2E7F2"/>
                      </a:solidFill>
                    </a:lnR>
                    <a:lnT w="6350">
                      <a:solidFill>
                        <a:srgbClr val="E2E7F2"/>
                      </a:solidFill>
                    </a:lnT>
                    <a:lnB w="6350">
                      <a:solidFill>
                        <a:srgbClr val="E2E7F2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wrap="none"/>
                    <a:lstStyle/>
                    <a:p>
                      <a:pPr algn="r"/>
                      <a:r>
                        <a:rPr sz="750" b="0">
                          <a:solidFill>
                            <a:srgbClr val="26292E"/>
                          </a:solidFill>
                          <a:latin typeface="Calibri"/>
                        </a:rPr>
                        <a:t>4%</a:t>
                      </a:r>
                    </a:p>
                  </a:txBody>
                  <a:tcPr anchor="ctr" marL="27432" marR="27432" marT="4572" marB="4572">
                    <a:lnL w="6350">
                      <a:solidFill>
                        <a:srgbClr val="E2E7F2"/>
                      </a:solidFill>
                    </a:lnL>
                    <a:lnR w="6350">
                      <a:solidFill>
                        <a:srgbClr val="E2E7F2"/>
                      </a:solidFill>
                    </a:lnR>
                    <a:lnT w="6350">
                      <a:solidFill>
                        <a:srgbClr val="E2E7F2"/>
                      </a:solidFill>
                    </a:lnT>
                    <a:lnB w="6350">
                      <a:solidFill>
                        <a:srgbClr val="E2E7F2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wrap="none"/>
                    <a:lstStyle/>
                    <a:p>
                      <a:pPr algn="r"/>
                      <a:r>
                        <a:rPr sz="750" b="1">
                          <a:solidFill>
                            <a:srgbClr val="C62828"/>
                          </a:solidFill>
                          <a:latin typeface="Calibri"/>
                        </a:rPr>
                        <a:t>-62%</a:t>
                      </a:r>
                    </a:p>
                  </a:txBody>
                  <a:tcPr anchor="ctr" marL="27432" marR="27432" marT="4572" marB="4572">
                    <a:lnL w="6350">
                      <a:solidFill>
                        <a:srgbClr val="E2E7F2"/>
                      </a:solidFill>
                    </a:lnL>
                    <a:lnR w="6350">
                      <a:solidFill>
                        <a:srgbClr val="E2E7F2"/>
                      </a:solidFill>
                    </a:lnR>
                    <a:lnT w="6350">
                      <a:solidFill>
                        <a:srgbClr val="E2E7F2"/>
                      </a:solidFill>
                    </a:lnT>
                    <a:lnB w="6350">
                      <a:solidFill>
                        <a:srgbClr val="E2E7F2"/>
                      </a:solidFill>
                    </a:lnB>
                    <a:solidFill>
                      <a:srgbClr val="FFFFFF"/>
                    </a:solidFill>
                  </a:tcPr>
                </a:tc>
              </a:tr>
              <a:tr h="147174">
                <a:tc>
                  <a:txBody>
                    <a:bodyPr wrap="none"/>
                    <a:lstStyle/>
                    <a:p>
                      <a:pPr algn="l"/>
                      <a:r>
                        <a:rPr sz="750" b="0">
                          <a:solidFill>
                            <a:srgbClr val="595959"/>
                          </a:solidFill>
                          <a:latin typeface="Calibri"/>
                        </a:rPr>
                        <a:t>   ’25</a:t>
                      </a:r>
                    </a:p>
                  </a:txBody>
                  <a:tcPr anchor="ctr" marL="27432" marR="27432" marT="4572" marB="4572">
                    <a:lnL w="6350">
                      <a:solidFill>
                        <a:srgbClr val="E2E7F2"/>
                      </a:solidFill>
                    </a:lnL>
                    <a:lnR w="6350">
                      <a:solidFill>
                        <a:srgbClr val="E2E7F2"/>
                      </a:solidFill>
                    </a:lnR>
                    <a:lnT w="6350">
                      <a:solidFill>
                        <a:srgbClr val="E2E7F2"/>
                      </a:solidFill>
                    </a:lnT>
                    <a:lnB w="6350">
                      <a:solidFill>
                        <a:srgbClr val="E2E7F2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wrap="none"/>
                    <a:lstStyle/>
                    <a:p>
                      <a:pPr algn="r"/>
                      <a:r>
                        <a:rPr sz="750" b="0">
                          <a:solidFill>
                            <a:srgbClr val="595959"/>
                          </a:solidFill>
                          <a:latin typeface="Calibri"/>
                        </a:rPr>
                        <a:t>767</a:t>
                      </a:r>
                    </a:p>
                  </a:txBody>
                  <a:tcPr anchor="ctr" marL="27432" marR="27432" marT="4572" marB="4572">
                    <a:lnL w="6350">
                      <a:solidFill>
                        <a:srgbClr val="E2E7F2"/>
                      </a:solidFill>
                    </a:lnL>
                    <a:lnR w="6350">
                      <a:solidFill>
                        <a:srgbClr val="E2E7F2"/>
                      </a:solidFill>
                    </a:lnR>
                    <a:lnT w="6350">
                      <a:solidFill>
                        <a:srgbClr val="E2E7F2"/>
                      </a:solidFill>
                    </a:lnT>
                    <a:lnB w="6350">
                      <a:solidFill>
                        <a:srgbClr val="E2E7F2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wrap="none"/>
                    <a:lstStyle/>
                    <a:p>
                      <a:pPr algn="r"/>
                      <a:r>
                        <a:rPr sz="750" b="0">
                          <a:solidFill>
                            <a:srgbClr val="595959"/>
                          </a:solidFill>
                          <a:latin typeface="Calibri"/>
                        </a:rPr>
                        <a:t>741</a:t>
                      </a:r>
                    </a:p>
                  </a:txBody>
                  <a:tcPr anchor="ctr" marL="27432" marR="27432" marT="4572" marB="4572">
                    <a:lnL w="6350">
                      <a:solidFill>
                        <a:srgbClr val="E2E7F2"/>
                      </a:solidFill>
                    </a:lnL>
                    <a:lnR w="6350">
                      <a:solidFill>
                        <a:srgbClr val="E2E7F2"/>
                      </a:solidFill>
                    </a:lnR>
                    <a:lnT w="6350">
                      <a:solidFill>
                        <a:srgbClr val="E2E7F2"/>
                      </a:solidFill>
                    </a:lnT>
                    <a:lnB w="6350">
                      <a:solidFill>
                        <a:srgbClr val="E2E7F2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wrap="none"/>
                    <a:lstStyle/>
                    <a:p>
                      <a:pPr algn="r"/>
                      <a:r>
                        <a:rPr sz="750" b="0">
                          <a:solidFill>
                            <a:srgbClr val="595959"/>
                          </a:solidFill>
                          <a:latin typeface="Calibri"/>
                        </a:rPr>
                        <a:t>470</a:t>
                      </a:r>
                    </a:p>
                  </a:txBody>
                  <a:tcPr anchor="ctr" marL="27432" marR="27432" marT="4572" marB="4572">
                    <a:lnL w="6350">
                      <a:solidFill>
                        <a:srgbClr val="E2E7F2"/>
                      </a:solidFill>
                    </a:lnL>
                    <a:lnR w="6350">
                      <a:solidFill>
                        <a:srgbClr val="E2E7F2"/>
                      </a:solidFill>
                    </a:lnR>
                    <a:lnT w="6350">
                      <a:solidFill>
                        <a:srgbClr val="E2E7F2"/>
                      </a:solidFill>
                    </a:lnT>
                    <a:lnB w="6350">
                      <a:solidFill>
                        <a:srgbClr val="E2E7F2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wrap="none"/>
                    <a:lstStyle/>
                    <a:p>
                      <a:pPr algn="r"/>
                      <a:r>
                        <a:rPr sz="750" b="0">
                          <a:solidFill>
                            <a:srgbClr val="595959"/>
                          </a:solidFill>
                          <a:latin typeface="Calibri"/>
                        </a:rPr>
                        <a:t>394</a:t>
                      </a:r>
                    </a:p>
                  </a:txBody>
                  <a:tcPr anchor="ctr" marL="27432" marR="27432" marT="4572" marB="4572">
                    <a:lnL w="6350">
                      <a:solidFill>
                        <a:srgbClr val="E2E7F2"/>
                      </a:solidFill>
                    </a:lnL>
                    <a:lnR w="6350">
                      <a:solidFill>
                        <a:srgbClr val="E2E7F2"/>
                      </a:solidFill>
                    </a:lnR>
                    <a:lnT w="6350">
                      <a:solidFill>
                        <a:srgbClr val="E2E7F2"/>
                      </a:solidFill>
                    </a:lnT>
                    <a:lnB w="6350">
                      <a:solidFill>
                        <a:srgbClr val="E2E7F2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wrap="none"/>
                    <a:lstStyle/>
                    <a:p>
                      <a:pPr algn="r"/>
                      <a:r>
                        <a:rPr sz="750" b="0">
                          <a:solidFill>
                            <a:srgbClr val="595959"/>
                          </a:solidFill>
                          <a:latin typeface="Calibri"/>
                        </a:rPr>
                        <a:t>826</a:t>
                      </a:r>
                    </a:p>
                  </a:txBody>
                  <a:tcPr anchor="ctr" marL="27432" marR="27432" marT="4572" marB="4572">
                    <a:lnL w="6350">
                      <a:solidFill>
                        <a:srgbClr val="E2E7F2"/>
                      </a:solidFill>
                    </a:lnL>
                    <a:lnR w="6350">
                      <a:solidFill>
                        <a:srgbClr val="E2E7F2"/>
                      </a:solidFill>
                    </a:lnR>
                    <a:lnT w="6350">
                      <a:solidFill>
                        <a:srgbClr val="E2E7F2"/>
                      </a:solidFill>
                    </a:lnT>
                    <a:lnB w="6350">
                      <a:solidFill>
                        <a:srgbClr val="E2E7F2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wrap="none"/>
                    <a:lstStyle/>
                    <a:p>
                      <a:pPr algn="r"/>
                      <a:r>
                        <a:rPr sz="750" b="0">
                          <a:solidFill>
                            <a:srgbClr val="595959"/>
                          </a:solidFill>
                          <a:latin typeface="Calibri"/>
                        </a:rPr>
                        <a:t>827</a:t>
                      </a:r>
                    </a:p>
                  </a:txBody>
                  <a:tcPr anchor="ctr" marL="27432" marR="27432" marT="4572" marB="4572">
                    <a:lnL w="6350">
                      <a:solidFill>
                        <a:srgbClr val="E2E7F2"/>
                      </a:solidFill>
                    </a:lnL>
                    <a:lnR w="6350">
                      <a:solidFill>
                        <a:srgbClr val="E2E7F2"/>
                      </a:solidFill>
                    </a:lnR>
                    <a:lnT w="6350">
                      <a:solidFill>
                        <a:srgbClr val="E2E7F2"/>
                      </a:solidFill>
                    </a:lnT>
                    <a:lnB w="6350">
                      <a:solidFill>
                        <a:srgbClr val="E2E7F2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wrap="none"/>
                    <a:lstStyle/>
                    <a:p>
                      <a:pPr algn="r"/>
                      <a:r>
                        <a:rPr sz="750" b="0">
                          <a:solidFill>
                            <a:srgbClr val="595959"/>
                          </a:solidFill>
                          <a:latin typeface="Calibri"/>
                        </a:rPr>
                        <a:t>4,025</a:t>
                      </a:r>
                    </a:p>
                  </a:txBody>
                  <a:tcPr anchor="ctr" marL="27432" marR="27432" marT="4572" marB="4572">
                    <a:lnL w="6350">
                      <a:solidFill>
                        <a:srgbClr val="E2E7F2"/>
                      </a:solidFill>
                    </a:lnL>
                    <a:lnR w="6350">
                      <a:solidFill>
                        <a:srgbClr val="E2E7F2"/>
                      </a:solidFill>
                    </a:lnR>
                    <a:lnT w="6350">
                      <a:solidFill>
                        <a:srgbClr val="E2E7F2"/>
                      </a:solidFill>
                    </a:lnT>
                    <a:lnB w="6350">
                      <a:solidFill>
                        <a:srgbClr val="E2E7F2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wrap="none"/>
                    <a:lstStyle/>
                    <a:p>
                      <a:pPr algn="r"/>
                      <a:r>
                        <a:rPr sz="750" b="0">
                          <a:solidFill>
                            <a:srgbClr val="595959"/>
                          </a:solidFill>
                          <a:latin typeface="Calibri"/>
                        </a:rPr>
                        <a:t>10%</a:t>
                      </a:r>
                    </a:p>
                  </a:txBody>
                  <a:tcPr anchor="ctr" marL="27432" marR="27432" marT="4572" marB="4572">
                    <a:lnL w="6350">
                      <a:solidFill>
                        <a:srgbClr val="E2E7F2"/>
                      </a:solidFill>
                    </a:lnL>
                    <a:lnR w="6350">
                      <a:solidFill>
                        <a:srgbClr val="E2E7F2"/>
                      </a:solidFill>
                    </a:lnR>
                    <a:lnT w="6350">
                      <a:solidFill>
                        <a:srgbClr val="E2E7F2"/>
                      </a:solidFill>
                    </a:lnT>
                    <a:lnB w="6350">
                      <a:solidFill>
                        <a:srgbClr val="E2E7F2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wrap="none"/>
                    <a:lstStyle/>
                    <a:p>
                      <a:pPr algn="l"/>
                      <a:r>
                        <a:rPr sz="750" b="0">
                          <a:solidFill>
                            <a:srgbClr val="26292E"/>
                          </a:solidFill>
                          <a:latin typeface="Calibri"/>
                        </a:rPr>
                        <a:t/>
                      </a:r>
                    </a:p>
                  </a:txBody>
                  <a:tcPr anchor="ctr" marL="27432" marR="27432" marT="4572" marB="4572">
                    <a:lnL w="6350">
                      <a:solidFill>
                        <a:srgbClr val="E2E7F2"/>
                      </a:solidFill>
                    </a:lnL>
                    <a:lnR w="6350">
                      <a:solidFill>
                        <a:srgbClr val="E2E7F2"/>
                      </a:solidFill>
                    </a:lnR>
                    <a:lnT w="6350">
                      <a:solidFill>
                        <a:srgbClr val="E2E7F2"/>
                      </a:solidFill>
                    </a:lnT>
                    <a:lnB w="6350">
                      <a:solidFill>
                        <a:srgbClr val="E2E7F2"/>
                      </a:solidFill>
                    </a:lnB>
                    <a:solidFill>
                      <a:srgbClr val="FFFFFF"/>
                    </a:solidFill>
                  </a:tcPr>
                </a:tc>
              </a:tr>
              <a:tr h="147174">
                <a:tc>
                  <a:txBody>
                    <a:bodyPr wrap="none"/>
                    <a:lstStyle/>
                    <a:p>
                      <a:pPr algn="l"/>
                      <a:r>
                        <a:rPr sz="750" b="1">
                          <a:solidFill>
                            <a:srgbClr val="26292E"/>
                          </a:solidFill>
                          <a:latin typeface="Calibri"/>
                        </a:rPr>
                        <a:t>Group Corporate</a:t>
                      </a:r>
                    </a:p>
                  </a:txBody>
                  <a:tcPr anchor="ctr" marL="27432" marR="27432" marT="4572" marB="4572">
                    <a:lnL w="6350">
                      <a:solidFill>
                        <a:srgbClr val="E2E7F2"/>
                      </a:solidFill>
                    </a:lnL>
                    <a:lnR w="6350">
                      <a:solidFill>
                        <a:srgbClr val="E2E7F2"/>
                      </a:solidFill>
                    </a:lnR>
                    <a:lnT w="6350">
                      <a:solidFill>
                        <a:srgbClr val="E2E7F2"/>
                      </a:solidFill>
                    </a:lnT>
                    <a:lnB w="6350">
                      <a:solidFill>
                        <a:srgbClr val="E2E7F2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wrap="none"/>
                    <a:lstStyle/>
                    <a:p>
                      <a:pPr algn="r"/>
                      <a:r>
                        <a:rPr sz="750" b="0">
                          <a:solidFill>
                            <a:srgbClr val="26292E"/>
                          </a:solidFill>
                          <a:latin typeface="Calibri"/>
                        </a:rPr>
                        <a:t>93</a:t>
                      </a:r>
                    </a:p>
                  </a:txBody>
                  <a:tcPr anchor="ctr" marL="27432" marR="27432" marT="4572" marB="4572">
                    <a:lnL w="6350">
                      <a:solidFill>
                        <a:srgbClr val="E2E7F2"/>
                      </a:solidFill>
                    </a:lnL>
                    <a:lnR w="6350">
                      <a:solidFill>
                        <a:srgbClr val="E2E7F2"/>
                      </a:solidFill>
                    </a:lnR>
                    <a:lnT w="6350">
                      <a:solidFill>
                        <a:srgbClr val="E2E7F2"/>
                      </a:solidFill>
                    </a:lnT>
                    <a:lnB w="6350">
                      <a:solidFill>
                        <a:srgbClr val="E2E7F2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wrap="none"/>
                    <a:lstStyle/>
                    <a:p>
                      <a:pPr algn="r"/>
                      <a:r>
                        <a:rPr sz="750" b="0">
                          <a:solidFill>
                            <a:srgbClr val="26292E"/>
                          </a:solidFill>
                          <a:latin typeface="Calibri"/>
                        </a:rPr>
                        <a:t>39</a:t>
                      </a:r>
                    </a:p>
                  </a:txBody>
                  <a:tcPr anchor="ctr" marL="27432" marR="27432" marT="4572" marB="4572">
                    <a:lnL w="6350">
                      <a:solidFill>
                        <a:srgbClr val="E2E7F2"/>
                      </a:solidFill>
                    </a:lnL>
                    <a:lnR w="6350">
                      <a:solidFill>
                        <a:srgbClr val="E2E7F2"/>
                      </a:solidFill>
                    </a:lnR>
                    <a:lnT w="6350">
                      <a:solidFill>
                        <a:srgbClr val="E2E7F2"/>
                      </a:solidFill>
                    </a:lnT>
                    <a:lnB w="6350">
                      <a:solidFill>
                        <a:srgbClr val="E2E7F2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wrap="none"/>
                    <a:lstStyle/>
                    <a:p>
                      <a:pPr algn="r"/>
                      <a:r>
                        <a:rPr sz="750" b="0">
                          <a:solidFill>
                            <a:srgbClr val="26292E"/>
                          </a:solidFill>
                          <a:latin typeface="Calibri"/>
                        </a:rPr>
                        <a:t>85</a:t>
                      </a:r>
                    </a:p>
                  </a:txBody>
                  <a:tcPr anchor="ctr" marL="27432" marR="27432" marT="4572" marB="4572">
                    <a:lnL w="6350">
                      <a:solidFill>
                        <a:srgbClr val="E2E7F2"/>
                      </a:solidFill>
                    </a:lnL>
                    <a:lnR w="6350">
                      <a:solidFill>
                        <a:srgbClr val="E2E7F2"/>
                      </a:solidFill>
                    </a:lnR>
                    <a:lnT w="6350">
                      <a:solidFill>
                        <a:srgbClr val="E2E7F2"/>
                      </a:solidFill>
                    </a:lnT>
                    <a:lnB w="6350">
                      <a:solidFill>
                        <a:srgbClr val="E2E7F2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wrap="none"/>
                    <a:lstStyle/>
                    <a:p>
                      <a:pPr algn="r"/>
                      <a:r>
                        <a:rPr sz="750" b="0">
                          <a:solidFill>
                            <a:srgbClr val="26292E"/>
                          </a:solidFill>
                          <a:latin typeface="Calibri"/>
                        </a:rPr>
                        <a:t>80</a:t>
                      </a:r>
                    </a:p>
                  </a:txBody>
                  <a:tcPr anchor="ctr" marL="27432" marR="27432" marT="4572" marB="4572">
                    <a:lnL w="6350">
                      <a:solidFill>
                        <a:srgbClr val="E2E7F2"/>
                      </a:solidFill>
                    </a:lnL>
                    <a:lnR w="6350">
                      <a:solidFill>
                        <a:srgbClr val="E2E7F2"/>
                      </a:solidFill>
                    </a:lnR>
                    <a:lnT w="6350">
                      <a:solidFill>
                        <a:srgbClr val="E2E7F2"/>
                      </a:solidFill>
                    </a:lnT>
                    <a:lnB w="6350">
                      <a:solidFill>
                        <a:srgbClr val="E2E7F2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wrap="none"/>
                    <a:lstStyle/>
                    <a:p>
                      <a:pPr algn="r"/>
                      <a:r>
                        <a:rPr sz="750" b="0">
                          <a:solidFill>
                            <a:srgbClr val="26292E"/>
                          </a:solidFill>
                          <a:latin typeface="Calibri"/>
                        </a:rPr>
                        <a:t>59</a:t>
                      </a:r>
                    </a:p>
                  </a:txBody>
                  <a:tcPr anchor="ctr" marL="27432" marR="27432" marT="4572" marB="4572">
                    <a:lnL w="6350">
                      <a:solidFill>
                        <a:srgbClr val="E2E7F2"/>
                      </a:solidFill>
                    </a:lnL>
                    <a:lnR w="6350">
                      <a:solidFill>
                        <a:srgbClr val="E2E7F2"/>
                      </a:solidFill>
                    </a:lnR>
                    <a:lnT w="6350">
                      <a:solidFill>
                        <a:srgbClr val="E2E7F2"/>
                      </a:solidFill>
                    </a:lnT>
                    <a:lnB w="6350">
                      <a:solidFill>
                        <a:srgbClr val="E2E7F2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wrap="none"/>
                    <a:lstStyle/>
                    <a:p>
                      <a:pPr algn="r"/>
                      <a:r>
                        <a:rPr sz="750" b="0">
                          <a:solidFill>
                            <a:srgbClr val="26292E"/>
                          </a:solidFill>
                          <a:latin typeface="Calibri"/>
                        </a:rPr>
                        <a:t>328</a:t>
                      </a:r>
                    </a:p>
                  </a:txBody>
                  <a:tcPr anchor="ctr" marL="27432" marR="27432" marT="4572" marB="4572">
                    <a:lnL w="6350">
                      <a:solidFill>
                        <a:srgbClr val="E2E7F2"/>
                      </a:solidFill>
                    </a:lnL>
                    <a:lnR w="6350">
                      <a:solidFill>
                        <a:srgbClr val="E2E7F2"/>
                      </a:solidFill>
                    </a:lnR>
                    <a:lnT w="6350">
                      <a:solidFill>
                        <a:srgbClr val="E2E7F2"/>
                      </a:solidFill>
                    </a:lnT>
                    <a:lnB w="6350">
                      <a:solidFill>
                        <a:srgbClr val="E2E7F2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wrap="none"/>
                    <a:lstStyle/>
                    <a:p>
                      <a:pPr algn="r"/>
                      <a:r>
                        <a:rPr sz="750" b="1">
                          <a:solidFill>
                            <a:srgbClr val="26292E"/>
                          </a:solidFill>
                          <a:latin typeface="Calibri"/>
                        </a:rPr>
                        <a:t>684</a:t>
                      </a:r>
                    </a:p>
                  </a:txBody>
                  <a:tcPr anchor="ctr" marL="27432" marR="27432" marT="4572" marB="4572">
                    <a:lnL w="6350">
                      <a:solidFill>
                        <a:srgbClr val="E2E7F2"/>
                      </a:solidFill>
                    </a:lnL>
                    <a:lnR w="6350">
                      <a:solidFill>
                        <a:srgbClr val="E2E7F2"/>
                      </a:solidFill>
                    </a:lnR>
                    <a:lnT w="6350">
                      <a:solidFill>
                        <a:srgbClr val="E2E7F2"/>
                      </a:solidFill>
                    </a:lnT>
                    <a:lnB w="6350">
                      <a:solidFill>
                        <a:srgbClr val="E2E7F2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wrap="none"/>
                    <a:lstStyle/>
                    <a:p>
                      <a:pPr algn="r"/>
                      <a:r>
                        <a:rPr sz="750" b="0">
                          <a:solidFill>
                            <a:srgbClr val="26292E"/>
                          </a:solidFill>
                          <a:latin typeface="Calibri"/>
                        </a:rPr>
                        <a:t>2%</a:t>
                      </a:r>
                    </a:p>
                  </a:txBody>
                  <a:tcPr anchor="ctr" marL="27432" marR="27432" marT="4572" marB="4572">
                    <a:lnL w="6350">
                      <a:solidFill>
                        <a:srgbClr val="E2E7F2"/>
                      </a:solidFill>
                    </a:lnL>
                    <a:lnR w="6350">
                      <a:solidFill>
                        <a:srgbClr val="E2E7F2"/>
                      </a:solidFill>
                    </a:lnR>
                    <a:lnT w="6350">
                      <a:solidFill>
                        <a:srgbClr val="E2E7F2"/>
                      </a:solidFill>
                    </a:lnT>
                    <a:lnB w="6350">
                      <a:solidFill>
                        <a:srgbClr val="E2E7F2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wrap="none"/>
                    <a:lstStyle/>
                    <a:p>
                      <a:pPr algn="r"/>
                      <a:r>
                        <a:rPr sz="750" b="1">
                          <a:solidFill>
                            <a:srgbClr val="1E7B34"/>
                          </a:solidFill>
                          <a:latin typeface="Calibri"/>
                        </a:rPr>
                        <a:t>+25%</a:t>
                      </a:r>
                    </a:p>
                  </a:txBody>
                  <a:tcPr anchor="ctr" marL="27432" marR="27432" marT="4572" marB="4572">
                    <a:lnL w="6350">
                      <a:solidFill>
                        <a:srgbClr val="E2E7F2"/>
                      </a:solidFill>
                    </a:lnL>
                    <a:lnR w="6350">
                      <a:solidFill>
                        <a:srgbClr val="E2E7F2"/>
                      </a:solidFill>
                    </a:lnR>
                    <a:lnT w="6350">
                      <a:solidFill>
                        <a:srgbClr val="E2E7F2"/>
                      </a:solidFill>
                    </a:lnT>
                    <a:lnB w="6350">
                      <a:solidFill>
                        <a:srgbClr val="E2E7F2"/>
                      </a:solidFill>
                    </a:lnB>
                    <a:solidFill>
                      <a:srgbClr val="FFFFFF"/>
                    </a:solidFill>
                  </a:tcPr>
                </a:tc>
              </a:tr>
              <a:tr h="147174">
                <a:tc>
                  <a:txBody>
                    <a:bodyPr wrap="none"/>
                    <a:lstStyle/>
                    <a:p>
                      <a:pPr algn="l"/>
                      <a:r>
                        <a:rPr sz="750" b="0">
                          <a:solidFill>
                            <a:srgbClr val="595959"/>
                          </a:solidFill>
                          <a:latin typeface="Calibri"/>
                        </a:rPr>
                        <a:t>   ’25</a:t>
                      </a:r>
                    </a:p>
                  </a:txBody>
                  <a:tcPr anchor="ctr" marL="27432" marR="27432" marT="4572" marB="4572">
                    <a:lnL w="6350">
                      <a:solidFill>
                        <a:srgbClr val="E2E7F2"/>
                      </a:solidFill>
                    </a:lnL>
                    <a:lnR w="6350">
                      <a:solidFill>
                        <a:srgbClr val="E2E7F2"/>
                      </a:solidFill>
                    </a:lnR>
                    <a:lnT w="6350">
                      <a:solidFill>
                        <a:srgbClr val="E2E7F2"/>
                      </a:solidFill>
                    </a:lnT>
                    <a:lnB w="6350">
                      <a:solidFill>
                        <a:srgbClr val="E2E7F2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wrap="none"/>
                    <a:lstStyle/>
                    <a:p>
                      <a:pPr algn="r"/>
                      <a:r>
                        <a:rPr sz="750" b="0">
                          <a:solidFill>
                            <a:srgbClr val="595959"/>
                          </a:solidFill>
                          <a:latin typeface="Calibri"/>
                        </a:rPr>
                        <a:t>150</a:t>
                      </a:r>
                    </a:p>
                  </a:txBody>
                  <a:tcPr anchor="ctr" marL="27432" marR="27432" marT="4572" marB="4572">
                    <a:lnL w="6350">
                      <a:solidFill>
                        <a:srgbClr val="E2E7F2"/>
                      </a:solidFill>
                    </a:lnL>
                    <a:lnR w="6350">
                      <a:solidFill>
                        <a:srgbClr val="E2E7F2"/>
                      </a:solidFill>
                    </a:lnR>
                    <a:lnT w="6350">
                      <a:solidFill>
                        <a:srgbClr val="E2E7F2"/>
                      </a:solidFill>
                    </a:lnT>
                    <a:lnB w="6350">
                      <a:solidFill>
                        <a:srgbClr val="E2E7F2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wrap="none"/>
                    <a:lstStyle/>
                    <a:p>
                      <a:pPr algn="r"/>
                      <a:r>
                        <a:rPr sz="750" b="0">
                          <a:solidFill>
                            <a:srgbClr val="595959"/>
                          </a:solidFill>
                          <a:latin typeface="Calibri"/>
                        </a:rPr>
                        <a:t>22</a:t>
                      </a:r>
                    </a:p>
                  </a:txBody>
                  <a:tcPr anchor="ctr" marL="27432" marR="27432" marT="4572" marB="4572">
                    <a:lnL w="6350">
                      <a:solidFill>
                        <a:srgbClr val="E2E7F2"/>
                      </a:solidFill>
                    </a:lnL>
                    <a:lnR w="6350">
                      <a:solidFill>
                        <a:srgbClr val="E2E7F2"/>
                      </a:solidFill>
                    </a:lnR>
                    <a:lnT w="6350">
                      <a:solidFill>
                        <a:srgbClr val="E2E7F2"/>
                      </a:solidFill>
                    </a:lnT>
                    <a:lnB w="6350">
                      <a:solidFill>
                        <a:srgbClr val="E2E7F2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wrap="none"/>
                    <a:lstStyle/>
                    <a:p>
                      <a:pPr algn="r"/>
                      <a:r>
                        <a:rPr sz="750" b="0">
                          <a:solidFill>
                            <a:srgbClr val="595959"/>
                          </a:solidFill>
                          <a:latin typeface="Calibri"/>
                        </a:rPr>
                        <a:t>54</a:t>
                      </a:r>
                    </a:p>
                  </a:txBody>
                  <a:tcPr anchor="ctr" marL="27432" marR="27432" marT="4572" marB="4572">
                    <a:lnL w="6350">
                      <a:solidFill>
                        <a:srgbClr val="E2E7F2"/>
                      </a:solidFill>
                    </a:lnL>
                    <a:lnR w="6350">
                      <a:solidFill>
                        <a:srgbClr val="E2E7F2"/>
                      </a:solidFill>
                    </a:lnR>
                    <a:lnT w="6350">
                      <a:solidFill>
                        <a:srgbClr val="E2E7F2"/>
                      </a:solidFill>
                    </a:lnT>
                    <a:lnB w="6350">
                      <a:solidFill>
                        <a:srgbClr val="E2E7F2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wrap="none"/>
                    <a:lstStyle/>
                    <a:p>
                      <a:pPr algn="r"/>
                      <a:r>
                        <a:rPr sz="750" b="0">
                          <a:solidFill>
                            <a:srgbClr val="595959"/>
                          </a:solidFill>
                          <a:latin typeface="Calibri"/>
                        </a:rPr>
                        <a:t>264</a:t>
                      </a:r>
                    </a:p>
                  </a:txBody>
                  <a:tcPr anchor="ctr" marL="27432" marR="27432" marT="4572" marB="4572">
                    <a:lnL w="6350">
                      <a:solidFill>
                        <a:srgbClr val="E2E7F2"/>
                      </a:solidFill>
                    </a:lnL>
                    <a:lnR w="6350">
                      <a:solidFill>
                        <a:srgbClr val="E2E7F2"/>
                      </a:solidFill>
                    </a:lnR>
                    <a:lnT w="6350">
                      <a:solidFill>
                        <a:srgbClr val="E2E7F2"/>
                      </a:solidFill>
                    </a:lnT>
                    <a:lnB w="6350">
                      <a:solidFill>
                        <a:srgbClr val="E2E7F2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wrap="none"/>
                    <a:lstStyle/>
                    <a:p>
                      <a:pPr algn="r"/>
                      <a:r>
                        <a:rPr sz="750" b="0">
                          <a:solidFill>
                            <a:srgbClr val="595959"/>
                          </a:solidFill>
                          <a:latin typeface="Calibri"/>
                        </a:rPr>
                        <a:t>41</a:t>
                      </a:r>
                    </a:p>
                  </a:txBody>
                  <a:tcPr anchor="ctr" marL="27432" marR="27432" marT="4572" marB="4572">
                    <a:lnL w="6350">
                      <a:solidFill>
                        <a:srgbClr val="E2E7F2"/>
                      </a:solidFill>
                    </a:lnL>
                    <a:lnR w="6350">
                      <a:solidFill>
                        <a:srgbClr val="E2E7F2"/>
                      </a:solidFill>
                    </a:lnR>
                    <a:lnT w="6350">
                      <a:solidFill>
                        <a:srgbClr val="E2E7F2"/>
                      </a:solidFill>
                    </a:lnT>
                    <a:lnB w="6350">
                      <a:solidFill>
                        <a:srgbClr val="E2E7F2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wrap="none"/>
                    <a:lstStyle/>
                    <a:p>
                      <a:pPr algn="r"/>
                      <a:r>
                        <a:rPr sz="750" b="0">
                          <a:solidFill>
                            <a:srgbClr val="595959"/>
                          </a:solidFill>
                          <a:latin typeface="Calibri"/>
                        </a:rPr>
                        <a:t>18</a:t>
                      </a:r>
                    </a:p>
                  </a:txBody>
                  <a:tcPr anchor="ctr" marL="27432" marR="27432" marT="4572" marB="4572">
                    <a:lnL w="6350">
                      <a:solidFill>
                        <a:srgbClr val="E2E7F2"/>
                      </a:solidFill>
                    </a:lnL>
                    <a:lnR w="6350">
                      <a:solidFill>
                        <a:srgbClr val="E2E7F2"/>
                      </a:solidFill>
                    </a:lnR>
                    <a:lnT w="6350">
                      <a:solidFill>
                        <a:srgbClr val="E2E7F2"/>
                      </a:solidFill>
                    </a:lnT>
                    <a:lnB w="6350">
                      <a:solidFill>
                        <a:srgbClr val="E2E7F2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wrap="none"/>
                    <a:lstStyle/>
                    <a:p>
                      <a:pPr algn="r"/>
                      <a:r>
                        <a:rPr sz="750" b="0">
                          <a:solidFill>
                            <a:srgbClr val="595959"/>
                          </a:solidFill>
                          <a:latin typeface="Calibri"/>
                        </a:rPr>
                        <a:t>549</a:t>
                      </a:r>
                    </a:p>
                  </a:txBody>
                  <a:tcPr anchor="ctr" marL="27432" marR="27432" marT="4572" marB="4572">
                    <a:lnL w="6350">
                      <a:solidFill>
                        <a:srgbClr val="E2E7F2"/>
                      </a:solidFill>
                    </a:lnL>
                    <a:lnR w="6350">
                      <a:solidFill>
                        <a:srgbClr val="E2E7F2"/>
                      </a:solidFill>
                    </a:lnR>
                    <a:lnT w="6350">
                      <a:solidFill>
                        <a:srgbClr val="E2E7F2"/>
                      </a:solidFill>
                    </a:lnT>
                    <a:lnB w="6350">
                      <a:solidFill>
                        <a:srgbClr val="E2E7F2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wrap="none"/>
                    <a:lstStyle/>
                    <a:p>
                      <a:pPr algn="r"/>
                      <a:r>
                        <a:rPr sz="750" b="0">
                          <a:solidFill>
                            <a:srgbClr val="595959"/>
                          </a:solidFill>
                          <a:latin typeface="Calibri"/>
                        </a:rPr>
                        <a:t>1%</a:t>
                      </a:r>
                    </a:p>
                  </a:txBody>
                  <a:tcPr anchor="ctr" marL="27432" marR="27432" marT="4572" marB="4572">
                    <a:lnL w="6350">
                      <a:solidFill>
                        <a:srgbClr val="E2E7F2"/>
                      </a:solidFill>
                    </a:lnL>
                    <a:lnR w="6350">
                      <a:solidFill>
                        <a:srgbClr val="E2E7F2"/>
                      </a:solidFill>
                    </a:lnR>
                    <a:lnT w="6350">
                      <a:solidFill>
                        <a:srgbClr val="E2E7F2"/>
                      </a:solidFill>
                    </a:lnT>
                    <a:lnB w="6350">
                      <a:solidFill>
                        <a:srgbClr val="E2E7F2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wrap="none"/>
                    <a:lstStyle/>
                    <a:p>
                      <a:pPr algn="l"/>
                      <a:r>
                        <a:rPr sz="750" b="0">
                          <a:solidFill>
                            <a:srgbClr val="26292E"/>
                          </a:solidFill>
                          <a:latin typeface="Calibri"/>
                        </a:rPr>
                        <a:t/>
                      </a:r>
                    </a:p>
                  </a:txBody>
                  <a:tcPr anchor="ctr" marL="27432" marR="27432" marT="4572" marB="4572">
                    <a:lnL w="6350">
                      <a:solidFill>
                        <a:srgbClr val="E2E7F2"/>
                      </a:solidFill>
                    </a:lnL>
                    <a:lnR w="6350">
                      <a:solidFill>
                        <a:srgbClr val="E2E7F2"/>
                      </a:solidFill>
                    </a:lnR>
                    <a:lnT w="6350">
                      <a:solidFill>
                        <a:srgbClr val="E2E7F2"/>
                      </a:solidFill>
                    </a:lnT>
                    <a:lnB w="6350">
                      <a:solidFill>
                        <a:srgbClr val="E2E7F2"/>
                      </a:solidFill>
                    </a:lnB>
                    <a:solidFill>
                      <a:srgbClr val="FFFFFF"/>
                    </a:solidFill>
                  </a:tcPr>
                </a:tc>
              </a:tr>
              <a:tr h="147174">
                <a:tc>
                  <a:txBody>
                    <a:bodyPr wrap="none"/>
                    <a:lstStyle/>
                    <a:p>
                      <a:pPr algn="l"/>
                      <a:r>
                        <a:rPr sz="750" b="1">
                          <a:solidFill>
                            <a:srgbClr val="26292E"/>
                          </a:solidFill>
                          <a:latin typeface="Calibri"/>
                        </a:rPr>
                        <a:t>Employee</a:t>
                      </a:r>
                    </a:p>
                  </a:txBody>
                  <a:tcPr anchor="ctr" marL="27432" marR="27432" marT="4572" marB="4572">
                    <a:lnL w="6350">
                      <a:solidFill>
                        <a:srgbClr val="E2E7F2"/>
                      </a:solidFill>
                    </a:lnL>
                    <a:lnR w="6350">
                      <a:solidFill>
                        <a:srgbClr val="E2E7F2"/>
                      </a:solidFill>
                    </a:lnR>
                    <a:lnT w="6350">
                      <a:solidFill>
                        <a:srgbClr val="E2E7F2"/>
                      </a:solidFill>
                    </a:lnT>
                    <a:lnB w="6350">
                      <a:solidFill>
                        <a:srgbClr val="E2E7F2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wrap="none"/>
                    <a:lstStyle/>
                    <a:p>
                      <a:pPr algn="r"/>
                      <a:r>
                        <a:rPr sz="750" b="0">
                          <a:solidFill>
                            <a:srgbClr val="26292E"/>
                          </a:solidFill>
                          <a:latin typeface="Calibri"/>
                        </a:rPr>
                        <a:t>4</a:t>
                      </a:r>
                    </a:p>
                  </a:txBody>
                  <a:tcPr anchor="ctr" marL="27432" marR="27432" marT="4572" marB="4572">
                    <a:lnL w="6350">
                      <a:solidFill>
                        <a:srgbClr val="E2E7F2"/>
                      </a:solidFill>
                    </a:lnL>
                    <a:lnR w="6350">
                      <a:solidFill>
                        <a:srgbClr val="E2E7F2"/>
                      </a:solidFill>
                    </a:lnR>
                    <a:lnT w="6350">
                      <a:solidFill>
                        <a:srgbClr val="E2E7F2"/>
                      </a:solidFill>
                    </a:lnT>
                    <a:lnB w="6350">
                      <a:solidFill>
                        <a:srgbClr val="E2E7F2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wrap="none"/>
                    <a:lstStyle/>
                    <a:p>
                      <a:pPr algn="r"/>
                      <a:r>
                        <a:rPr sz="750" b="0">
                          <a:solidFill>
                            <a:srgbClr val="26292E"/>
                          </a:solidFill>
                          <a:latin typeface="Calibri"/>
                        </a:rPr>
                        <a:t>10</a:t>
                      </a:r>
                    </a:p>
                  </a:txBody>
                  <a:tcPr anchor="ctr" marL="27432" marR="27432" marT="4572" marB="4572">
                    <a:lnL w="6350">
                      <a:solidFill>
                        <a:srgbClr val="E2E7F2"/>
                      </a:solidFill>
                    </a:lnL>
                    <a:lnR w="6350">
                      <a:solidFill>
                        <a:srgbClr val="E2E7F2"/>
                      </a:solidFill>
                    </a:lnR>
                    <a:lnT w="6350">
                      <a:solidFill>
                        <a:srgbClr val="E2E7F2"/>
                      </a:solidFill>
                    </a:lnT>
                    <a:lnB w="6350">
                      <a:solidFill>
                        <a:srgbClr val="E2E7F2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wrap="none"/>
                    <a:lstStyle/>
                    <a:p>
                      <a:pPr algn="r"/>
                      <a:r>
                        <a:rPr sz="750" b="0">
                          <a:solidFill>
                            <a:srgbClr val="26292E"/>
                          </a:solidFill>
                          <a:latin typeface="Calibri"/>
                        </a:rPr>
                        <a:t>12</a:t>
                      </a:r>
                    </a:p>
                  </a:txBody>
                  <a:tcPr anchor="ctr" marL="27432" marR="27432" marT="4572" marB="4572">
                    <a:lnL w="6350">
                      <a:solidFill>
                        <a:srgbClr val="E2E7F2"/>
                      </a:solidFill>
                    </a:lnL>
                    <a:lnR w="6350">
                      <a:solidFill>
                        <a:srgbClr val="E2E7F2"/>
                      </a:solidFill>
                    </a:lnR>
                    <a:lnT w="6350">
                      <a:solidFill>
                        <a:srgbClr val="E2E7F2"/>
                      </a:solidFill>
                    </a:lnT>
                    <a:lnB w="6350">
                      <a:solidFill>
                        <a:srgbClr val="E2E7F2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wrap="none"/>
                    <a:lstStyle/>
                    <a:p>
                      <a:pPr algn="r"/>
                      <a:r>
                        <a:rPr sz="750" b="0">
                          <a:solidFill>
                            <a:srgbClr val="26292E"/>
                          </a:solidFill>
                          <a:latin typeface="Calibri"/>
                        </a:rPr>
                        <a:t>9</a:t>
                      </a:r>
                    </a:p>
                  </a:txBody>
                  <a:tcPr anchor="ctr" marL="27432" marR="27432" marT="4572" marB="4572">
                    <a:lnL w="6350">
                      <a:solidFill>
                        <a:srgbClr val="E2E7F2"/>
                      </a:solidFill>
                    </a:lnL>
                    <a:lnR w="6350">
                      <a:solidFill>
                        <a:srgbClr val="E2E7F2"/>
                      </a:solidFill>
                    </a:lnR>
                    <a:lnT w="6350">
                      <a:solidFill>
                        <a:srgbClr val="E2E7F2"/>
                      </a:solidFill>
                    </a:lnT>
                    <a:lnB w="6350">
                      <a:solidFill>
                        <a:srgbClr val="E2E7F2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wrap="none"/>
                    <a:lstStyle/>
                    <a:p>
                      <a:pPr algn="r"/>
                      <a:r>
                        <a:rPr sz="750" b="0">
                          <a:solidFill>
                            <a:srgbClr val="26292E"/>
                          </a:solidFill>
                          <a:latin typeface="Calibri"/>
                        </a:rPr>
                        <a:t>8</a:t>
                      </a:r>
                    </a:p>
                  </a:txBody>
                  <a:tcPr anchor="ctr" marL="27432" marR="27432" marT="4572" marB="4572">
                    <a:lnL w="6350">
                      <a:solidFill>
                        <a:srgbClr val="E2E7F2"/>
                      </a:solidFill>
                    </a:lnL>
                    <a:lnR w="6350">
                      <a:solidFill>
                        <a:srgbClr val="E2E7F2"/>
                      </a:solidFill>
                    </a:lnR>
                    <a:lnT w="6350">
                      <a:solidFill>
                        <a:srgbClr val="E2E7F2"/>
                      </a:solidFill>
                    </a:lnT>
                    <a:lnB w="6350">
                      <a:solidFill>
                        <a:srgbClr val="E2E7F2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wrap="none"/>
                    <a:lstStyle/>
                    <a:p>
                      <a:pPr algn="r"/>
                      <a:r>
                        <a:rPr sz="750" b="0">
                          <a:solidFill>
                            <a:srgbClr val="26292E"/>
                          </a:solidFill>
                          <a:latin typeface="Calibri"/>
                        </a:rPr>
                        <a:t>6</a:t>
                      </a:r>
                    </a:p>
                  </a:txBody>
                  <a:tcPr anchor="ctr" marL="27432" marR="27432" marT="4572" marB="4572">
                    <a:lnL w="6350">
                      <a:solidFill>
                        <a:srgbClr val="E2E7F2"/>
                      </a:solidFill>
                    </a:lnL>
                    <a:lnR w="6350">
                      <a:solidFill>
                        <a:srgbClr val="E2E7F2"/>
                      </a:solidFill>
                    </a:lnR>
                    <a:lnT w="6350">
                      <a:solidFill>
                        <a:srgbClr val="E2E7F2"/>
                      </a:solidFill>
                    </a:lnT>
                    <a:lnB w="6350">
                      <a:solidFill>
                        <a:srgbClr val="E2E7F2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wrap="none"/>
                    <a:lstStyle/>
                    <a:p>
                      <a:pPr algn="r"/>
                      <a:r>
                        <a:rPr sz="750" b="1">
                          <a:solidFill>
                            <a:srgbClr val="26292E"/>
                          </a:solidFill>
                          <a:latin typeface="Calibri"/>
                        </a:rPr>
                        <a:t>49</a:t>
                      </a:r>
                    </a:p>
                  </a:txBody>
                  <a:tcPr anchor="ctr" marL="27432" marR="27432" marT="4572" marB="4572">
                    <a:lnL w="6350">
                      <a:solidFill>
                        <a:srgbClr val="E2E7F2"/>
                      </a:solidFill>
                    </a:lnL>
                    <a:lnR w="6350">
                      <a:solidFill>
                        <a:srgbClr val="E2E7F2"/>
                      </a:solidFill>
                    </a:lnR>
                    <a:lnT w="6350">
                      <a:solidFill>
                        <a:srgbClr val="E2E7F2"/>
                      </a:solidFill>
                    </a:lnT>
                    <a:lnB w="6350">
                      <a:solidFill>
                        <a:srgbClr val="E2E7F2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wrap="none"/>
                    <a:lstStyle/>
                    <a:p>
                      <a:pPr algn="r"/>
                      <a:r>
                        <a:rPr sz="750" b="0">
                          <a:solidFill>
                            <a:srgbClr val="26292E"/>
                          </a:solidFill>
                          <a:latin typeface="Calibri"/>
                        </a:rPr>
                        <a:t>0%</a:t>
                      </a:r>
                    </a:p>
                  </a:txBody>
                  <a:tcPr anchor="ctr" marL="27432" marR="27432" marT="4572" marB="4572">
                    <a:lnL w="6350">
                      <a:solidFill>
                        <a:srgbClr val="E2E7F2"/>
                      </a:solidFill>
                    </a:lnL>
                    <a:lnR w="6350">
                      <a:solidFill>
                        <a:srgbClr val="E2E7F2"/>
                      </a:solidFill>
                    </a:lnR>
                    <a:lnT w="6350">
                      <a:solidFill>
                        <a:srgbClr val="E2E7F2"/>
                      </a:solidFill>
                    </a:lnT>
                    <a:lnB w="6350">
                      <a:solidFill>
                        <a:srgbClr val="E2E7F2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wrap="none"/>
                    <a:lstStyle/>
                    <a:p>
                      <a:pPr algn="r"/>
                      <a:r>
                        <a:rPr sz="750" b="1">
                          <a:solidFill>
                            <a:srgbClr val="C62828"/>
                          </a:solidFill>
                          <a:latin typeface="Calibri"/>
                        </a:rPr>
                        <a:t>-31%</a:t>
                      </a:r>
                    </a:p>
                  </a:txBody>
                  <a:tcPr anchor="ctr" marL="27432" marR="27432" marT="4572" marB="4572">
                    <a:lnL w="6350">
                      <a:solidFill>
                        <a:srgbClr val="E2E7F2"/>
                      </a:solidFill>
                    </a:lnL>
                    <a:lnR w="6350">
                      <a:solidFill>
                        <a:srgbClr val="E2E7F2"/>
                      </a:solidFill>
                    </a:lnR>
                    <a:lnT w="6350">
                      <a:solidFill>
                        <a:srgbClr val="E2E7F2"/>
                      </a:solidFill>
                    </a:lnT>
                    <a:lnB w="6350">
                      <a:solidFill>
                        <a:srgbClr val="E2E7F2"/>
                      </a:solidFill>
                    </a:lnB>
                    <a:solidFill>
                      <a:srgbClr val="FFFFFF"/>
                    </a:solidFill>
                  </a:tcPr>
                </a:tc>
              </a:tr>
              <a:tr h="147174">
                <a:tc>
                  <a:txBody>
                    <a:bodyPr wrap="none"/>
                    <a:lstStyle/>
                    <a:p>
                      <a:pPr algn="l"/>
                      <a:r>
                        <a:rPr sz="750" b="0">
                          <a:solidFill>
                            <a:srgbClr val="595959"/>
                          </a:solidFill>
                          <a:latin typeface="Calibri"/>
                        </a:rPr>
                        <a:t>   ’25</a:t>
                      </a:r>
                    </a:p>
                  </a:txBody>
                  <a:tcPr anchor="ctr" marL="27432" marR="27432" marT="4572" marB="4572">
                    <a:lnL w="6350">
                      <a:solidFill>
                        <a:srgbClr val="E2E7F2"/>
                      </a:solidFill>
                    </a:lnL>
                    <a:lnR w="6350">
                      <a:solidFill>
                        <a:srgbClr val="E2E7F2"/>
                      </a:solidFill>
                    </a:lnR>
                    <a:lnT w="6350">
                      <a:solidFill>
                        <a:srgbClr val="E2E7F2"/>
                      </a:solidFill>
                    </a:lnT>
                    <a:lnB w="6350">
                      <a:solidFill>
                        <a:srgbClr val="E2E7F2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wrap="none"/>
                    <a:lstStyle/>
                    <a:p>
                      <a:pPr algn="r"/>
                      <a:r>
                        <a:rPr sz="750" b="0">
                          <a:solidFill>
                            <a:srgbClr val="595959"/>
                          </a:solidFill>
                          <a:latin typeface="Calibri"/>
                        </a:rPr>
                        <a:t>9</a:t>
                      </a:r>
                    </a:p>
                  </a:txBody>
                  <a:tcPr anchor="ctr" marL="27432" marR="27432" marT="4572" marB="4572">
                    <a:lnL w="6350">
                      <a:solidFill>
                        <a:srgbClr val="E2E7F2"/>
                      </a:solidFill>
                    </a:lnL>
                    <a:lnR w="6350">
                      <a:solidFill>
                        <a:srgbClr val="E2E7F2"/>
                      </a:solidFill>
                    </a:lnR>
                    <a:lnT w="6350">
                      <a:solidFill>
                        <a:srgbClr val="E2E7F2"/>
                      </a:solidFill>
                    </a:lnT>
                    <a:lnB w="6350">
                      <a:solidFill>
                        <a:srgbClr val="E2E7F2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wrap="none"/>
                    <a:lstStyle/>
                    <a:p>
                      <a:pPr algn="r"/>
                      <a:r>
                        <a:rPr sz="750" b="0">
                          <a:solidFill>
                            <a:srgbClr val="595959"/>
                          </a:solidFill>
                          <a:latin typeface="Calibri"/>
                        </a:rPr>
                        <a:t>5</a:t>
                      </a:r>
                    </a:p>
                  </a:txBody>
                  <a:tcPr anchor="ctr" marL="27432" marR="27432" marT="4572" marB="4572">
                    <a:lnL w="6350">
                      <a:solidFill>
                        <a:srgbClr val="E2E7F2"/>
                      </a:solidFill>
                    </a:lnL>
                    <a:lnR w="6350">
                      <a:solidFill>
                        <a:srgbClr val="E2E7F2"/>
                      </a:solidFill>
                    </a:lnR>
                    <a:lnT w="6350">
                      <a:solidFill>
                        <a:srgbClr val="E2E7F2"/>
                      </a:solidFill>
                    </a:lnT>
                    <a:lnB w="6350">
                      <a:solidFill>
                        <a:srgbClr val="E2E7F2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wrap="none"/>
                    <a:lstStyle/>
                    <a:p>
                      <a:pPr algn="r"/>
                      <a:r>
                        <a:rPr sz="750" b="0">
                          <a:solidFill>
                            <a:srgbClr val="595959"/>
                          </a:solidFill>
                          <a:latin typeface="Calibri"/>
                        </a:rPr>
                        <a:t>23</a:t>
                      </a:r>
                    </a:p>
                  </a:txBody>
                  <a:tcPr anchor="ctr" marL="27432" marR="27432" marT="4572" marB="4572">
                    <a:lnL w="6350">
                      <a:solidFill>
                        <a:srgbClr val="E2E7F2"/>
                      </a:solidFill>
                    </a:lnL>
                    <a:lnR w="6350">
                      <a:solidFill>
                        <a:srgbClr val="E2E7F2"/>
                      </a:solidFill>
                    </a:lnR>
                    <a:lnT w="6350">
                      <a:solidFill>
                        <a:srgbClr val="E2E7F2"/>
                      </a:solidFill>
                    </a:lnT>
                    <a:lnB w="6350">
                      <a:solidFill>
                        <a:srgbClr val="E2E7F2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wrap="none"/>
                    <a:lstStyle/>
                    <a:p>
                      <a:pPr algn="r"/>
                      <a:r>
                        <a:rPr sz="750" b="0">
                          <a:solidFill>
                            <a:srgbClr val="595959"/>
                          </a:solidFill>
                          <a:latin typeface="Calibri"/>
                        </a:rPr>
                        <a:t>12</a:t>
                      </a:r>
                    </a:p>
                  </a:txBody>
                  <a:tcPr anchor="ctr" marL="27432" marR="27432" marT="4572" marB="4572">
                    <a:lnL w="6350">
                      <a:solidFill>
                        <a:srgbClr val="E2E7F2"/>
                      </a:solidFill>
                    </a:lnL>
                    <a:lnR w="6350">
                      <a:solidFill>
                        <a:srgbClr val="E2E7F2"/>
                      </a:solidFill>
                    </a:lnR>
                    <a:lnT w="6350">
                      <a:solidFill>
                        <a:srgbClr val="E2E7F2"/>
                      </a:solidFill>
                    </a:lnT>
                    <a:lnB w="6350">
                      <a:solidFill>
                        <a:srgbClr val="E2E7F2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wrap="none"/>
                    <a:lstStyle/>
                    <a:p>
                      <a:pPr algn="r"/>
                      <a:r>
                        <a:rPr sz="750" b="0">
                          <a:solidFill>
                            <a:srgbClr val="595959"/>
                          </a:solidFill>
                          <a:latin typeface="Calibri"/>
                        </a:rPr>
                        <a:t>18</a:t>
                      </a:r>
                    </a:p>
                  </a:txBody>
                  <a:tcPr anchor="ctr" marL="27432" marR="27432" marT="4572" marB="4572">
                    <a:lnL w="6350">
                      <a:solidFill>
                        <a:srgbClr val="E2E7F2"/>
                      </a:solidFill>
                    </a:lnL>
                    <a:lnR w="6350">
                      <a:solidFill>
                        <a:srgbClr val="E2E7F2"/>
                      </a:solidFill>
                    </a:lnR>
                    <a:lnT w="6350">
                      <a:solidFill>
                        <a:srgbClr val="E2E7F2"/>
                      </a:solidFill>
                    </a:lnT>
                    <a:lnB w="6350">
                      <a:solidFill>
                        <a:srgbClr val="E2E7F2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wrap="none"/>
                    <a:lstStyle/>
                    <a:p>
                      <a:pPr algn="r"/>
                      <a:r>
                        <a:rPr sz="750" b="0">
                          <a:solidFill>
                            <a:srgbClr val="595959"/>
                          </a:solidFill>
                          <a:latin typeface="Calibri"/>
                        </a:rPr>
                        <a:t>4</a:t>
                      </a:r>
                    </a:p>
                  </a:txBody>
                  <a:tcPr anchor="ctr" marL="27432" marR="27432" marT="4572" marB="4572">
                    <a:lnL w="6350">
                      <a:solidFill>
                        <a:srgbClr val="E2E7F2"/>
                      </a:solidFill>
                    </a:lnL>
                    <a:lnR w="6350">
                      <a:solidFill>
                        <a:srgbClr val="E2E7F2"/>
                      </a:solidFill>
                    </a:lnR>
                    <a:lnT w="6350">
                      <a:solidFill>
                        <a:srgbClr val="E2E7F2"/>
                      </a:solidFill>
                    </a:lnT>
                    <a:lnB w="6350">
                      <a:solidFill>
                        <a:srgbClr val="E2E7F2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wrap="none"/>
                    <a:lstStyle/>
                    <a:p>
                      <a:pPr algn="r"/>
                      <a:r>
                        <a:rPr sz="750" b="0">
                          <a:solidFill>
                            <a:srgbClr val="595959"/>
                          </a:solidFill>
                          <a:latin typeface="Calibri"/>
                        </a:rPr>
                        <a:t>71</a:t>
                      </a:r>
                    </a:p>
                  </a:txBody>
                  <a:tcPr anchor="ctr" marL="27432" marR="27432" marT="4572" marB="4572">
                    <a:lnL w="6350">
                      <a:solidFill>
                        <a:srgbClr val="E2E7F2"/>
                      </a:solidFill>
                    </a:lnL>
                    <a:lnR w="6350">
                      <a:solidFill>
                        <a:srgbClr val="E2E7F2"/>
                      </a:solidFill>
                    </a:lnR>
                    <a:lnT w="6350">
                      <a:solidFill>
                        <a:srgbClr val="E2E7F2"/>
                      </a:solidFill>
                    </a:lnT>
                    <a:lnB w="6350">
                      <a:solidFill>
                        <a:srgbClr val="E2E7F2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wrap="none"/>
                    <a:lstStyle/>
                    <a:p>
                      <a:pPr algn="r"/>
                      <a:r>
                        <a:rPr sz="750" b="0">
                          <a:solidFill>
                            <a:srgbClr val="595959"/>
                          </a:solidFill>
                          <a:latin typeface="Calibri"/>
                        </a:rPr>
                        <a:t>0%</a:t>
                      </a:r>
                    </a:p>
                  </a:txBody>
                  <a:tcPr anchor="ctr" marL="27432" marR="27432" marT="4572" marB="4572">
                    <a:lnL w="6350">
                      <a:solidFill>
                        <a:srgbClr val="E2E7F2"/>
                      </a:solidFill>
                    </a:lnL>
                    <a:lnR w="6350">
                      <a:solidFill>
                        <a:srgbClr val="E2E7F2"/>
                      </a:solidFill>
                    </a:lnR>
                    <a:lnT w="6350">
                      <a:solidFill>
                        <a:srgbClr val="E2E7F2"/>
                      </a:solidFill>
                    </a:lnT>
                    <a:lnB w="6350">
                      <a:solidFill>
                        <a:srgbClr val="E2E7F2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wrap="none"/>
                    <a:lstStyle/>
                    <a:p>
                      <a:pPr algn="l"/>
                      <a:r>
                        <a:rPr sz="750" b="0">
                          <a:solidFill>
                            <a:srgbClr val="26292E"/>
                          </a:solidFill>
                          <a:latin typeface="Calibri"/>
                        </a:rPr>
                        <a:t/>
                      </a:r>
                    </a:p>
                  </a:txBody>
                  <a:tcPr anchor="ctr" marL="27432" marR="27432" marT="4572" marB="4572">
                    <a:lnL w="6350">
                      <a:solidFill>
                        <a:srgbClr val="E2E7F2"/>
                      </a:solidFill>
                    </a:lnL>
                    <a:lnR w="6350">
                      <a:solidFill>
                        <a:srgbClr val="E2E7F2"/>
                      </a:solidFill>
                    </a:lnR>
                    <a:lnT w="6350">
                      <a:solidFill>
                        <a:srgbClr val="E2E7F2"/>
                      </a:solidFill>
                    </a:lnT>
                    <a:lnB w="6350">
                      <a:solidFill>
                        <a:srgbClr val="E2E7F2"/>
                      </a:solidFill>
                    </a:lnB>
                    <a:solidFill>
                      <a:srgbClr val="FFFFFF"/>
                    </a:solidFill>
                  </a:tcPr>
                </a:tc>
              </a:tr>
              <a:tr h="147174">
                <a:tc>
                  <a:txBody>
                    <a:bodyPr wrap="none"/>
                    <a:lstStyle/>
                    <a:p>
                      <a:pPr algn="l"/>
                      <a:r>
                        <a:rPr sz="750" b="1">
                          <a:solidFill>
                            <a:srgbClr val="26292E"/>
                          </a:solidFill>
                          <a:latin typeface="Calibri"/>
                        </a:rPr>
                        <a:t>Group w/ Banque</a:t>
                      </a:r>
                    </a:p>
                  </a:txBody>
                  <a:tcPr anchor="ctr" marL="27432" marR="27432" marT="4572" marB="4572">
                    <a:lnL w="6350">
                      <a:solidFill>
                        <a:srgbClr val="E2E7F2"/>
                      </a:solidFill>
                    </a:lnL>
                    <a:lnR w="6350">
                      <a:solidFill>
                        <a:srgbClr val="E2E7F2"/>
                      </a:solidFill>
                    </a:lnR>
                    <a:lnT w="6350">
                      <a:solidFill>
                        <a:srgbClr val="E2E7F2"/>
                      </a:solidFill>
                    </a:lnT>
                    <a:lnB w="6350">
                      <a:solidFill>
                        <a:srgbClr val="E2E7F2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wrap="none"/>
                    <a:lstStyle/>
                    <a:p>
                      <a:pPr algn="r"/>
                      <a:r>
                        <a:rPr sz="750" b="0">
                          <a:solidFill>
                            <a:srgbClr val="26292E"/>
                          </a:solidFill>
                          <a:latin typeface="Calibri"/>
                        </a:rPr>
                        <a:t>–</a:t>
                      </a:r>
                    </a:p>
                  </a:txBody>
                  <a:tcPr anchor="ctr" marL="27432" marR="27432" marT="4572" marB="4572">
                    <a:lnL w="6350">
                      <a:solidFill>
                        <a:srgbClr val="E2E7F2"/>
                      </a:solidFill>
                    </a:lnL>
                    <a:lnR w="6350">
                      <a:solidFill>
                        <a:srgbClr val="E2E7F2"/>
                      </a:solidFill>
                    </a:lnR>
                    <a:lnT w="6350">
                      <a:solidFill>
                        <a:srgbClr val="E2E7F2"/>
                      </a:solidFill>
                    </a:lnT>
                    <a:lnB w="6350">
                      <a:solidFill>
                        <a:srgbClr val="E2E7F2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wrap="none"/>
                    <a:lstStyle/>
                    <a:p>
                      <a:pPr algn="r"/>
                      <a:r>
                        <a:rPr sz="750" b="0">
                          <a:solidFill>
                            <a:srgbClr val="26292E"/>
                          </a:solidFill>
                          <a:latin typeface="Calibri"/>
                        </a:rPr>
                        <a:t>–</a:t>
                      </a:r>
                    </a:p>
                  </a:txBody>
                  <a:tcPr anchor="ctr" marL="27432" marR="27432" marT="4572" marB="4572">
                    <a:lnL w="6350">
                      <a:solidFill>
                        <a:srgbClr val="E2E7F2"/>
                      </a:solidFill>
                    </a:lnL>
                    <a:lnR w="6350">
                      <a:solidFill>
                        <a:srgbClr val="E2E7F2"/>
                      </a:solidFill>
                    </a:lnR>
                    <a:lnT w="6350">
                      <a:solidFill>
                        <a:srgbClr val="E2E7F2"/>
                      </a:solidFill>
                    </a:lnT>
                    <a:lnB w="6350">
                      <a:solidFill>
                        <a:srgbClr val="E2E7F2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wrap="none"/>
                    <a:lstStyle/>
                    <a:p>
                      <a:pPr algn="r"/>
                      <a:r>
                        <a:rPr sz="750" b="0">
                          <a:solidFill>
                            <a:srgbClr val="26292E"/>
                          </a:solidFill>
                          <a:latin typeface="Calibri"/>
                        </a:rPr>
                        <a:t>–</a:t>
                      </a:r>
                    </a:p>
                  </a:txBody>
                  <a:tcPr anchor="ctr" marL="27432" marR="27432" marT="4572" marB="4572">
                    <a:lnL w="6350">
                      <a:solidFill>
                        <a:srgbClr val="E2E7F2"/>
                      </a:solidFill>
                    </a:lnL>
                    <a:lnR w="6350">
                      <a:solidFill>
                        <a:srgbClr val="E2E7F2"/>
                      </a:solidFill>
                    </a:lnR>
                    <a:lnT w="6350">
                      <a:solidFill>
                        <a:srgbClr val="E2E7F2"/>
                      </a:solidFill>
                    </a:lnT>
                    <a:lnB w="6350">
                      <a:solidFill>
                        <a:srgbClr val="E2E7F2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wrap="none"/>
                    <a:lstStyle/>
                    <a:p>
                      <a:pPr algn="r"/>
                      <a:r>
                        <a:rPr sz="750" b="0">
                          <a:solidFill>
                            <a:srgbClr val="26292E"/>
                          </a:solidFill>
                          <a:latin typeface="Calibri"/>
                        </a:rPr>
                        <a:t>–</a:t>
                      </a:r>
                    </a:p>
                  </a:txBody>
                  <a:tcPr anchor="ctr" marL="27432" marR="27432" marT="4572" marB="4572">
                    <a:lnL w="6350">
                      <a:solidFill>
                        <a:srgbClr val="E2E7F2"/>
                      </a:solidFill>
                    </a:lnL>
                    <a:lnR w="6350">
                      <a:solidFill>
                        <a:srgbClr val="E2E7F2"/>
                      </a:solidFill>
                    </a:lnR>
                    <a:lnT w="6350">
                      <a:solidFill>
                        <a:srgbClr val="E2E7F2"/>
                      </a:solidFill>
                    </a:lnT>
                    <a:lnB w="6350">
                      <a:solidFill>
                        <a:srgbClr val="E2E7F2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wrap="none"/>
                    <a:lstStyle/>
                    <a:p>
                      <a:pPr algn="r"/>
                      <a:r>
                        <a:rPr sz="750" b="0">
                          <a:solidFill>
                            <a:srgbClr val="26292E"/>
                          </a:solidFill>
                          <a:latin typeface="Calibri"/>
                        </a:rPr>
                        <a:t>–</a:t>
                      </a:r>
                    </a:p>
                  </a:txBody>
                  <a:tcPr anchor="ctr" marL="27432" marR="27432" marT="4572" marB="4572">
                    <a:lnL w="6350">
                      <a:solidFill>
                        <a:srgbClr val="E2E7F2"/>
                      </a:solidFill>
                    </a:lnL>
                    <a:lnR w="6350">
                      <a:solidFill>
                        <a:srgbClr val="E2E7F2"/>
                      </a:solidFill>
                    </a:lnR>
                    <a:lnT w="6350">
                      <a:solidFill>
                        <a:srgbClr val="E2E7F2"/>
                      </a:solidFill>
                    </a:lnT>
                    <a:lnB w="6350">
                      <a:solidFill>
                        <a:srgbClr val="E2E7F2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wrap="none"/>
                    <a:lstStyle/>
                    <a:p>
                      <a:pPr algn="r"/>
                      <a:r>
                        <a:rPr sz="750" b="0">
                          <a:solidFill>
                            <a:srgbClr val="26292E"/>
                          </a:solidFill>
                          <a:latin typeface="Calibri"/>
                        </a:rPr>
                        <a:t>–</a:t>
                      </a:r>
                    </a:p>
                  </a:txBody>
                  <a:tcPr anchor="ctr" marL="27432" marR="27432" marT="4572" marB="4572">
                    <a:lnL w="6350">
                      <a:solidFill>
                        <a:srgbClr val="E2E7F2"/>
                      </a:solidFill>
                    </a:lnL>
                    <a:lnR w="6350">
                      <a:solidFill>
                        <a:srgbClr val="E2E7F2"/>
                      </a:solidFill>
                    </a:lnR>
                    <a:lnT w="6350">
                      <a:solidFill>
                        <a:srgbClr val="E2E7F2"/>
                      </a:solidFill>
                    </a:lnT>
                    <a:lnB w="6350">
                      <a:solidFill>
                        <a:srgbClr val="E2E7F2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wrap="none"/>
                    <a:lstStyle/>
                    <a:p>
                      <a:pPr algn="r"/>
                      <a:r>
                        <a:rPr sz="750" b="1">
                          <a:solidFill>
                            <a:srgbClr val="26292E"/>
                          </a:solidFill>
                          <a:latin typeface="Calibri"/>
                        </a:rPr>
                        <a:t>–</a:t>
                      </a:r>
                    </a:p>
                  </a:txBody>
                  <a:tcPr anchor="ctr" marL="27432" marR="27432" marT="4572" marB="4572">
                    <a:lnL w="6350">
                      <a:solidFill>
                        <a:srgbClr val="E2E7F2"/>
                      </a:solidFill>
                    </a:lnL>
                    <a:lnR w="6350">
                      <a:solidFill>
                        <a:srgbClr val="E2E7F2"/>
                      </a:solidFill>
                    </a:lnR>
                    <a:lnT w="6350">
                      <a:solidFill>
                        <a:srgbClr val="E2E7F2"/>
                      </a:solidFill>
                    </a:lnT>
                    <a:lnB w="6350">
                      <a:solidFill>
                        <a:srgbClr val="E2E7F2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wrap="none"/>
                    <a:lstStyle/>
                    <a:p>
                      <a:pPr algn="r"/>
                      <a:r>
                        <a:rPr sz="750" b="0">
                          <a:solidFill>
                            <a:srgbClr val="26292E"/>
                          </a:solidFill>
                          <a:latin typeface="Calibri"/>
                        </a:rPr>
                        <a:t>0%</a:t>
                      </a:r>
                    </a:p>
                  </a:txBody>
                  <a:tcPr anchor="ctr" marL="27432" marR="27432" marT="4572" marB="4572">
                    <a:lnL w="6350">
                      <a:solidFill>
                        <a:srgbClr val="E2E7F2"/>
                      </a:solidFill>
                    </a:lnL>
                    <a:lnR w="6350">
                      <a:solidFill>
                        <a:srgbClr val="E2E7F2"/>
                      </a:solidFill>
                    </a:lnR>
                    <a:lnT w="6350">
                      <a:solidFill>
                        <a:srgbClr val="E2E7F2"/>
                      </a:solidFill>
                    </a:lnT>
                    <a:lnB w="6350">
                      <a:solidFill>
                        <a:srgbClr val="E2E7F2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wrap="none"/>
                    <a:lstStyle/>
                    <a:p>
                      <a:pPr algn="r"/>
                      <a:r>
                        <a:rPr sz="750" b="1">
                          <a:solidFill>
                            <a:srgbClr val="C62828"/>
                          </a:solidFill>
                          <a:latin typeface="Calibri"/>
                        </a:rPr>
                        <a:t>-100%</a:t>
                      </a:r>
                    </a:p>
                  </a:txBody>
                  <a:tcPr anchor="ctr" marL="27432" marR="27432" marT="4572" marB="4572">
                    <a:lnL w="6350">
                      <a:solidFill>
                        <a:srgbClr val="E2E7F2"/>
                      </a:solidFill>
                    </a:lnL>
                    <a:lnR w="6350">
                      <a:solidFill>
                        <a:srgbClr val="E2E7F2"/>
                      </a:solidFill>
                    </a:lnR>
                    <a:lnT w="6350">
                      <a:solidFill>
                        <a:srgbClr val="E2E7F2"/>
                      </a:solidFill>
                    </a:lnT>
                    <a:lnB w="6350">
                      <a:solidFill>
                        <a:srgbClr val="E2E7F2"/>
                      </a:solidFill>
                    </a:lnB>
                    <a:solidFill>
                      <a:srgbClr val="FFFFFF"/>
                    </a:solidFill>
                  </a:tcPr>
                </a:tc>
              </a:tr>
              <a:tr h="147174">
                <a:tc>
                  <a:txBody>
                    <a:bodyPr wrap="none"/>
                    <a:lstStyle/>
                    <a:p>
                      <a:pPr algn="l"/>
                      <a:r>
                        <a:rPr sz="750" b="0">
                          <a:solidFill>
                            <a:srgbClr val="595959"/>
                          </a:solidFill>
                          <a:latin typeface="Calibri"/>
                        </a:rPr>
                        <a:t>   ’25</a:t>
                      </a:r>
                    </a:p>
                  </a:txBody>
                  <a:tcPr anchor="ctr" marL="27432" marR="27432" marT="4572" marB="4572">
                    <a:lnL w="6350">
                      <a:solidFill>
                        <a:srgbClr val="E2E7F2"/>
                      </a:solidFill>
                    </a:lnL>
                    <a:lnR w="6350">
                      <a:solidFill>
                        <a:srgbClr val="E2E7F2"/>
                      </a:solidFill>
                    </a:lnR>
                    <a:lnT w="6350">
                      <a:solidFill>
                        <a:srgbClr val="E2E7F2"/>
                      </a:solidFill>
                    </a:lnT>
                    <a:lnB w="6350">
                      <a:solidFill>
                        <a:srgbClr val="E2E7F2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wrap="none"/>
                    <a:lstStyle/>
                    <a:p>
                      <a:pPr algn="r"/>
                      <a:r>
                        <a:rPr sz="750" b="0">
                          <a:solidFill>
                            <a:srgbClr val="595959"/>
                          </a:solidFill>
                          <a:latin typeface="Calibri"/>
                        </a:rPr>
                        <a:t>672</a:t>
                      </a:r>
                    </a:p>
                  </a:txBody>
                  <a:tcPr anchor="ctr" marL="27432" marR="27432" marT="4572" marB="4572">
                    <a:lnL w="6350">
                      <a:solidFill>
                        <a:srgbClr val="E2E7F2"/>
                      </a:solidFill>
                    </a:lnL>
                    <a:lnR w="6350">
                      <a:solidFill>
                        <a:srgbClr val="E2E7F2"/>
                      </a:solidFill>
                    </a:lnR>
                    <a:lnT w="6350">
                      <a:solidFill>
                        <a:srgbClr val="E2E7F2"/>
                      </a:solidFill>
                    </a:lnT>
                    <a:lnB w="6350">
                      <a:solidFill>
                        <a:srgbClr val="E2E7F2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wrap="none"/>
                    <a:lstStyle/>
                    <a:p>
                      <a:pPr algn="r"/>
                      <a:r>
                        <a:rPr sz="750" b="0">
                          <a:solidFill>
                            <a:srgbClr val="595959"/>
                          </a:solidFill>
                          <a:latin typeface="Calibri"/>
                        </a:rPr>
                        <a:t>–</a:t>
                      </a:r>
                    </a:p>
                  </a:txBody>
                  <a:tcPr anchor="ctr" marL="27432" marR="27432" marT="4572" marB="4572">
                    <a:lnL w="6350">
                      <a:solidFill>
                        <a:srgbClr val="E2E7F2"/>
                      </a:solidFill>
                    </a:lnL>
                    <a:lnR w="6350">
                      <a:solidFill>
                        <a:srgbClr val="E2E7F2"/>
                      </a:solidFill>
                    </a:lnR>
                    <a:lnT w="6350">
                      <a:solidFill>
                        <a:srgbClr val="E2E7F2"/>
                      </a:solidFill>
                    </a:lnT>
                    <a:lnB w="6350">
                      <a:solidFill>
                        <a:srgbClr val="E2E7F2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wrap="none"/>
                    <a:lstStyle/>
                    <a:p>
                      <a:pPr algn="r"/>
                      <a:r>
                        <a:rPr sz="750" b="0">
                          <a:solidFill>
                            <a:srgbClr val="595959"/>
                          </a:solidFill>
                          <a:latin typeface="Calibri"/>
                        </a:rPr>
                        <a:t>–</a:t>
                      </a:r>
                    </a:p>
                  </a:txBody>
                  <a:tcPr anchor="ctr" marL="27432" marR="27432" marT="4572" marB="4572">
                    <a:lnL w="6350">
                      <a:solidFill>
                        <a:srgbClr val="E2E7F2"/>
                      </a:solidFill>
                    </a:lnL>
                    <a:lnR w="6350">
                      <a:solidFill>
                        <a:srgbClr val="E2E7F2"/>
                      </a:solidFill>
                    </a:lnR>
                    <a:lnT w="6350">
                      <a:solidFill>
                        <a:srgbClr val="E2E7F2"/>
                      </a:solidFill>
                    </a:lnT>
                    <a:lnB w="6350">
                      <a:solidFill>
                        <a:srgbClr val="E2E7F2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wrap="none"/>
                    <a:lstStyle/>
                    <a:p>
                      <a:pPr algn="r"/>
                      <a:r>
                        <a:rPr sz="750" b="0">
                          <a:solidFill>
                            <a:srgbClr val="595959"/>
                          </a:solidFill>
                          <a:latin typeface="Calibri"/>
                        </a:rPr>
                        <a:t>–</a:t>
                      </a:r>
                    </a:p>
                  </a:txBody>
                  <a:tcPr anchor="ctr" marL="27432" marR="27432" marT="4572" marB="4572">
                    <a:lnL w="6350">
                      <a:solidFill>
                        <a:srgbClr val="E2E7F2"/>
                      </a:solidFill>
                    </a:lnL>
                    <a:lnR w="6350">
                      <a:solidFill>
                        <a:srgbClr val="E2E7F2"/>
                      </a:solidFill>
                    </a:lnR>
                    <a:lnT w="6350">
                      <a:solidFill>
                        <a:srgbClr val="E2E7F2"/>
                      </a:solidFill>
                    </a:lnT>
                    <a:lnB w="6350">
                      <a:solidFill>
                        <a:srgbClr val="E2E7F2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wrap="none"/>
                    <a:lstStyle/>
                    <a:p>
                      <a:pPr algn="r"/>
                      <a:r>
                        <a:rPr sz="750" b="0">
                          <a:solidFill>
                            <a:srgbClr val="595959"/>
                          </a:solidFill>
                          <a:latin typeface="Calibri"/>
                        </a:rPr>
                        <a:t>–</a:t>
                      </a:r>
                    </a:p>
                  </a:txBody>
                  <a:tcPr anchor="ctr" marL="27432" marR="27432" marT="4572" marB="4572">
                    <a:lnL w="6350">
                      <a:solidFill>
                        <a:srgbClr val="E2E7F2"/>
                      </a:solidFill>
                    </a:lnL>
                    <a:lnR w="6350">
                      <a:solidFill>
                        <a:srgbClr val="E2E7F2"/>
                      </a:solidFill>
                    </a:lnR>
                    <a:lnT w="6350">
                      <a:solidFill>
                        <a:srgbClr val="E2E7F2"/>
                      </a:solidFill>
                    </a:lnT>
                    <a:lnB w="6350">
                      <a:solidFill>
                        <a:srgbClr val="E2E7F2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wrap="none"/>
                    <a:lstStyle/>
                    <a:p>
                      <a:pPr algn="r"/>
                      <a:r>
                        <a:rPr sz="750" b="0">
                          <a:solidFill>
                            <a:srgbClr val="595959"/>
                          </a:solidFill>
                          <a:latin typeface="Calibri"/>
                        </a:rPr>
                        <a:t>–</a:t>
                      </a:r>
                    </a:p>
                  </a:txBody>
                  <a:tcPr anchor="ctr" marL="27432" marR="27432" marT="4572" marB="4572">
                    <a:lnL w="6350">
                      <a:solidFill>
                        <a:srgbClr val="E2E7F2"/>
                      </a:solidFill>
                    </a:lnL>
                    <a:lnR w="6350">
                      <a:solidFill>
                        <a:srgbClr val="E2E7F2"/>
                      </a:solidFill>
                    </a:lnR>
                    <a:lnT w="6350">
                      <a:solidFill>
                        <a:srgbClr val="E2E7F2"/>
                      </a:solidFill>
                    </a:lnT>
                    <a:lnB w="6350">
                      <a:solidFill>
                        <a:srgbClr val="E2E7F2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wrap="none"/>
                    <a:lstStyle/>
                    <a:p>
                      <a:pPr algn="r"/>
                      <a:r>
                        <a:rPr sz="750" b="0">
                          <a:solidFill>
                            <a:srgbClr val="595959"/>
                          </a:solidFill>
                          <a:latin typeface="Calibri"/>
                        </a:rPr>
                        <a:t>672</a:t>
                      </a:r>
                    </a:p>
                  </a:txBody>
                  <a:tcPr anchor="ctr" marL="27432" marR="27432" marT="4572" marB="4572">
                    <a:lnL w="6350">
                      <a:solidFill>
                        <a:srgbClr val="E2E7F2"/>
                      </a:solidFill>
                    </a:lnL>
                    <a:lnR w="6350">
                      <a:solidFill>
                        <a:srgbClr val="E2E7F2"/>
                      </a:solidFill>
                    </a:lnR>
                    <a:lnT w="6350">
                      <a:solidFill>
                        <a:srgbClr val="E2E7F2"/>
                      </a:solidFill>
                    </a:lnT>
                    <a:lnB w="6350">
                      <a:solidFill>
                        <a:srgbClr val="E2E7F2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wrap="none"/>
                    <a:lstStyle/>
                    <a:p>
                      <a:pPr algn="r"/>
                      <a:r>
                        <a:rPr sz="750" b="0">
                          <a:solidFill>
                            <a:srgbClr val="595959"/>
                          </a:solidFill>
                          <a:latin typeface="Calibri"/>
                        </a:rPr>
                        <a:t>2%</a:t>
                      </a:r>
                    </a:p>
                  </a:txBody>
                  <a:tcPr anchor="ctr" marL="27432" marR="27432" marT="4572" marB="4572">
                    <a:lnL w="6350">
                      <a:solidFill>
                        <a:srgbClr val="E2E7F2"/>
                      </a:solidFill>
                    </a:lnL>
                    <a:lnR w="6350">
                      <a:solidFill>
                        <a:srgbClr val="E2E7F2"/>
                      </a:solidFill>
                    </a:lnR>
                    <a:lnT w="6350">
                      <a:solidFill>
                        <a:srgbClr val="E2E7F2"/>
                      </a:solidFill>
                    </a:lnT>
                    <a:lnB w="6350">
                      <a:solidFill>
                        <a:srgbClr val="E2E7F2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wrap="none"/>
                    <a:lstStyle/>
                    <a:p>
                      <a:pPr algn="l"/>
                      <a:r>
                        <a:rPr sz="750" b="0">
                          <a:solidFill>
                            <a:srgbClr val="26292E"/>
                          </a:solidFill>
                          <a:latin typeface="Calibri"/>
                        </a:rPr>
                        <a:t/>
                      </a:r>
                    </a:p>
                  </a:txBody>
                  <a:tcPr anchor="ctr" marL="27432" marR="27432" marT="4572" marB="4572">
                    <a:lnL w="6350">
                      <a:solidFill>
                        <a:srgbClr val="E2E7F2"/>
                      </a:solidFill>
                    </a:lnL>
                    <a:lnR w="6350">
                      <a:solidFill>
                        <a:srgbClr val="E2E7F2"/>
                      </a:solidFill>
                    </a:lnR>
                    <a:lnT w="6350">
                      <a:solidFill>
                        <a:srgbClr val="E2E7F2"/>
                      </a:solidFill>
                    </a:lnT>
                    <a:lnB w="6350">
                      <a:solidFill>
                        <a:srgbClr val="E2E7F2"/>
                      </a:solidFill>
                    </a:lnB>
                    <a:solidFill>
                      <a:srgbClr val="FFFFFF"/>
                    </a:solidFill>
                  </a:tcPr>
                </a:tc>
              </a:tr>
              <a:tr h="147174">
                <a:tc>
                  <a:txBody>
                    <a:bodyPr wrap="none"/>
                    <a:lstStyle/>
                    <a:p>
                      <a:pPr algn="l"/>
                      <a:r>
                        <a:rPr sz="750" b="1">
                          <a:solidFill>
                            <a:srgbClr val="26292E"/>
                          </a:solidFill>
                          <a:latin typeface="Calibri"/>
                        </a:rPr>
                        <a:t>Total</a:t>
                      </a:r>
                    </a:p>
                  </a:txBody>
                  <a:tcPr anchor="ctr" marL="27432" marR="27432" marT="4572" marB="4572">
                    <a:lnL w="6350">
                      <a:solidFill>
                        <a:srgbClr val="E2E7F2"/>
                      </a:solidFill>
                    </a:lnL>
                    <a:lnR w="6350">
                      <a:solidFill>
                        <a:srgbClr val="E2E7F2"/>
                      </a:solidFill>
                    </a:lnR>
                    <a:lnT w="6350">
                      <a:solidFill>
                        <a:srgbClr val="E2E7F2"/>
                      </a:solidFill>
                    </a:lnT>
                    <a:lnB w="6350">
                      <a:solidFill>
                        <a:srgbClr val="E2E7F2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wrap="none"/>
                    <a:lstStyle/>
                    <a:p>
                      <a:pPr algn="r"/>
                      <a:r>
                        <a:rPr sz="750" b="1">
                          <a:solidFill>
                            <a:srgbClr val="26292E"/>
                          </a:solidFill>
                          <a:latin typeface="Calibri"/>
                        </a:rPr>
                        <a:t>8,867</a:t>
                      </a:r>
                    </a:p>
                  </a:txBody>
                  <a:tcPr anchor="ctr" marL="27432" marR="27432" marT="4572" marB="4572">
                    <a:lnL w="6350">
                      <a:solidFill>
                        <a:srgbClr val="E2E7F2"/>
                      </a:solidFill>
                    </a:lnL>
                    <a:lnR w="6350">
                      <a:solidFill>
                        <a:srgbClr val="E2E7F2"/>
                      </a:solidFill>
                    </a:lnR>
                    <a:lnT w="6350">
                      <a:solidFill>
                        <a:srgbClr val="E2E7F2"/>
                      </a:solidFill>
                    </a:lnT>
                    <a:lnB w="6350">
                      <a:solidFill>
                        <a:srgbClr val="E2E7F2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wrap="none"/>
                    <a:lstStyle/>
                    <a:p>
                      <a:pPr algn="r"/>
                      <a:r>
                        <a:rPr sz="750" b="1">
                          <a:solidFill>
                            <a:srgbClr val="26292E"/>
                          </a:solidFill>
                          <a:latin typeface="Calibri"/>
                        </a:rPr>
                        <a:t>7,665</a:t>
                      </a:r>
                    </a:p>
                  </a:txBody>
                  <a:tcPr anchor="ctr" marL="27432" marR="27432" marT="4572" marB="4572">
                    <a:lnL w="6350">
                      <a:solidFill>
                        <a:srgbClr val="E2E7F2"/>
                      </a:solidFill>
                    </a:lnL>
                    <a:lnR w="6350">
                      <a:solidFill>
                        <a:srgbClr val="E2E7F2"/>
                      </a:solidFill>
                    </a:lnR>
                    <a:lnT w="6350">
                      <a:solidFill>
                        <a:srgbClr val="E2E7F2"/>
                      </a:solidFill>
                    </a:lnT>
                    <a:lnB w="6350">
                      <a:solidFill>
                        <a:srgbClr val="E2E7F2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wrap="none"/>
                    <a:lstStyle/>
                    <a:p>
                      <a:pPr algn="r"/>
                      <a:r>
                        <a:rPr sz="750" b="1">
                          <a:solidFill>
                            <a:srgbClr val="26292E"/>
                          </a:solidFill>
                          <a:latin typeface="Calibri"/>
                        </a:rPr>
                        <a:t>7,420</a:t>
                      </a:r>
                    </a:p>
                  </a:txBody>
                  <a:tcPr anchor="ctr" marL="27432" marR="27432" marT="4572" marB="4572">
                    <a:lnL w="6350">
                      <a:solidFill>
                        <a:srgbClr val="E2E7F2"/>
                      </a:solidFill>
                    </a:lnL>
                    <a:lnR w="6350">
                      <a:solidFill>
                        <a:srgbClr val="E2E7F2"/>
                      </a:solidFill>
                    </a:lnR>
                    <a:lnT w="6350">
                      <a:solidFill>
                        <a:srgbClr val="E2E7F2"/>
                      </a:solidFill>
                    </a:lnT>
                    <a:lnB w="6350">
                      <a:solidFill>
                        <a:srgbClr val="E2E7F2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wrap="none"/>
                    <a:lstStyle/>
                    <a:p>
                      <a:pPr algn="r"/>
                      <a:r>
                        <a:rPr sz="750" b="1">
                          <a:solidFill>
                            <a:srgbClr val="26292E"/>
                          </a:solidFill>
                          <a:latin typeface="Calibri"/>
                        </a:rPr>
                        <a:t>6,872</a:t>
                      </a:r>
                    </a:p>
                  </a:txBody>
                  <a:tcPr anchor="ctr" marL="27432" marR="27432" marT="4572" marB="4572">
                    <a:lnL w="6350">
                      <a:solidFill>
                        <a:srgbClr val="E2E7F2"/>
                      </a:solidFill>
                    </a:lnL>
                    <a:lnR w="6350">
                      <a:solidFill>
                        <a:srgbClr val="E2E7F2"/>
                      </a:solidFill>
                    </a:lnR>
                    <a:lnT w="6350">
                      <a:solidFill>
                        <a:srgbClr val="E2E7F2"/>
                      </a:solidFill>
                    </a:lnT>
                    <a:lnB w="6350">
                      <a:solidFill>
                        <a:srgbClr val="E2E7F2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wrap="none"/>
                    <a:lstStyle/>
                    <a:p>
                      <a:pPr algn="r"/>
                      <a:r>
                        <a:rPr sz="750" b="1">
                          <a:solidFill>
                            <a:srgbClr val="26292E"/>
                          </a:solidFill>
                          <a:latin typeface="Calibri"/>
                        </a:rPr>
                        <a:t>6,405</a:t>
                      </a:r>
                    </a:p>
                  </a:txBody>
                  <a:tcPr anchor="ctr" marL="27432" marR="27432" marT="4572" marB="4572">
                    <a:lnL w="6350">
                      <a:solidFill>
                        <a:srgbClr val="E2E7F2"/>
                      </a:solidFill>
                    </a:lnL>
                    <a:lnR w="6350">
                      <a:solidFill>
                        <a:srgbClr val="E2E7F2"/>
                      </a:solidFill>
                    </a:lnR>
                    <a:lnT w="6350">
                      <a:solidFill>
                        <a:srgbClr val="E2E7F2"/>
                      </a:solidFill>
                    </a:lnT>
                    <a:lnB w="6350">
                      <a:solidFill>
                        <a:srgbClr val="E2E7F2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wrap="none"/>
                    <a:lstStyle/>
                    <a:p>
                      <a:pPr algn="r"/>
                      <a:r>
                        <a:rPr sz="750" b="1">
                          <a:solidFill>
                            <a:srgbClr val="26292E"/>
                          </a:solidFill>
                          <a:latin typeface="Calibri"/>
                        </a:rPr>
                        <a:t>6,065</a:t>
                      </a:r>
                    </a:p>
                  </a:txBody>
                  <a:tcPr anchor="ctr" marL="27432" marR="27432" marT="4572" marB="4572">
                    <a:lnL w="6350">
                      <a:solidFill>
                        <a:srgbClr val="E2E7F2"/>
                      </a:solidFill>
                    </a:lnL>
                    <a:lnR w="6350">
                      <a:solidFill>
                        <a:srgbClr val="E2E7F2"/>
                      </a:solidFill>
                    </a:lnR>
                    <a:lnT w="6350">
                      <a:solidFill>
                        <a:srgbClr val="E2E7F2"/>
                      </a:solidFill>
                    </a:lnT>
                    <a:lnB w="6350">
                      <a:solidFill>
                        <a:srgbClr val="E2E7F2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wrap="none"/>
                    <a:lstStyle/>
                    <a:p>
                      <a:pPr algn="r"/>
                      <a:r>
                        <a:rPr sz="750" b="1">
                          <a:solidFill>
                            <a:srgbClr val="26292E"/>
                          </a:solidFill>
                          <a:latin typeface="Calibri"/>
                        </a:rPr>
                        <a:t>43,294</a:t>
                      </a:r>
                    </a:p>
                  </a:txBody>
                  <a:tcPr anchor="ctr" marL="27432" marR="27432" marT="4572" marB="4572">
                    <a:lnL w="6350">
                      <a:solidFill>
                        <a:srgbClr val="E2E7F2"/>
                      </a:solidFill>
                    </a:lnL>
                    <a:lnR w="6350">
                      <a:solidFill>
                        <a:srgbClr val="E2E7F2"/>
                      </a:solidFill>
                    </a:lnR>
                    <a:lnT w="6350">
                      <a:solidFill>
                        <a:srgbClr val="E2E7F2"/>
                      </a:solidFill>
                    </a:lnT>
                    <a:lnB w="6350">
                      <a:solidFill>
                        <a:srgbClr val="E2E7F2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wrap="none"/>
                    <a:lstStyle/>
                    <a:p>
                      <a:pPr algn="r"/>
                      <a:r>
                        <a:rPr sz="750" b="0">
                          <a:solidFill>
                            <a:srgbClr val="26292E"/>
                          </a:solidFill>
                          <a:latin typeface="Calibri"/>
                        </a:rPr>
                        <a:t>100%</a:t>
                      </a:r>
                    </a:p>
                  </a:txBody>
                  <a:tcPr anchor="ctr" marL="27432" marR="27432" marT="4572" marB="4572">
                    <a:lnL w="6350">
                      <a:solidFill>
                        <a:srgbClr val="E2E7F2"/>
                      </a:solidFill>
                    </a:lnL>
                    <a:lnR w="6350">
                      <a:solidFill>
                        <a:srgbClr val="E2E7F2"/>
                      </a:solidFill>
                    </a:lnR>
                    <a:lnT w="6350">
                      <a:solidFill>
                        <a:srgbClr val="E2E7F2"/>
                      </a:solidFill>
                    </a:lnT>
                    <a:lnB w="6350">
                      <a:solidFill>
                        <a:srgbClr val="E2E7F2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wrap="none"/>
                    <a:lstStyle/>
                    <a:p>
                      <a:pPr algn="r"/>
                      <a:r>
                        <a:rPr sz="750" b="1">
                          <a:solidFill>
                            <a:srgbClr val="1E7B34"/>
                          </a:solidFill>
                          <a:latin typeface="Calibri"/>
                        </a:rPr>
                        <a:t>+6%</a:t>
                      </a:r>
                    </a:p>
                  </a:txBody>
                  <a:tcPr anchor="ctr" marL="27432" marR="27432" marT="4572" marB="4572">
                    <a:lnL w="6350">
                      <a:solidFill>
                        <a:srgbClr val="E2E7F2"/>
                      </a:solidFill>
                    </a:lnL>
                    <a:lnR w="6350">
                      <a:solidFill>
                        <a:srgbClr val="E2E7F2"/>
                      </a:solidFill>
                    </a:lnR>
                    <a:lnT w="6350">
                      <a:solidFill>
                        <a:srgbClr val="E2E7F2"/>
                      </a:solidFill>
                    </a:lnT>
                    <a:lnB w="6350">
                      <a:solidFill>
                        <a:srgbClr val="E2E7F2"/>
                      </a:solidFill>
                    </a:lnB>
                    <a:solidFill>
                      <a:srgbClr val="FFFFFF"/>
                    </a:solidFill>
                  </a:tcPr>
                </a:tc>
              </a:tr>
              <a:tr h="147174">
                <a:tc>
                  <a:txBody>
                    <a:bodyPr wrap="none"/>
                    <a:lstStyle/>
                    <a:p>
                      <a:pPr algn="l"/>
                      <a:r>
                        <a:rPr sz="750" b="0">
                          <a:solidFill>
                            <a:srgbClr val="595959"/>
                          </a:solidFill>
                          <a:latin typeface="Calibri"/>
                        </a:rPr>
                        <a:t>   ’25</a:t>
                      </a:r>
                    </a:p>
                  </a:txBody>
                  <a:tcPr anchor="ctr" marL="27432" marR="27432" marT="4572" marB="4572">
                    <a:lnL w="6350">
                      <a:solidFill>
                        <a:srgbClr val="E2E7F2"/>
                      </a:solidFill>
                    </a:lnL>
                    <a:lnR w="6350">
                      <a:solidFill>
                        <a:srgbClr val="E2E7F2"/>
                      </a:solidFill>
                    </a:lnR>
                    <a:lnT w="6350">
                      <a:solidFill>
                        <a:srgbClr val="E2E7F2"/>
                      </a:solidFill>
                    </a:lnT>
                    <a:lnB w="6350">
                      <a:solidFill>
                        <a:srgbClr val="E2E7F2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wrap="none"/>
                    <a:lstStyle/>
                    <a:p>
                      <a:pPr algn="r"/>
                      <a:r>
                        <a:rPr sz="750" b="0">
                          <a:solidFill>
                            <a:srgbClr val="595959"/>
                          </a:solidFill>
                          <a:latin typeface="Calibri"/>
                        </a:rPr>
                        <a:t>8,661</a:t>
                      </a:r>
                    </a:p>
                  </a:txBody>
                  <a:tcPr anchor="ctr" marL="27432" marR="27432" marT="4572" marB="4572">
                    <a:lnL w="6350">
                      <a:solidFill>
                        <a:srgbClr val="E2E7F2"/>
                      </a:solidFill>
                    </a:lnL>
                    <a:lnR w="6350">
                      <a:solidFill>
                        <a:srgbClr val="E2E7F2"/>
                      </a:solidFill>
                    </a:lnR>
                    <a:lnT w="6350">
                      <a:solidFill>
                        <a:srgbClr val="E2E7F2"/>
                      </a:solidFill>
                    </a:lnT>
                    <a:lnB w="6350">
                      <a:solidFill>
                        <a:srgbClr val="E2E7F2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wrap="none"/>
                    <a:lstStyle/>
                    <a:p>
                      <a:pPr algn="r"/>
                      <a:r>
                        <a:rPr sz="750" b="0">
                          <a:solidFill>
                            <a:srgbClr val="595959"/>
                          </a:solidFill>
                          <a:latin typeface="Calibri"/>
                        </a:rPr>
                        <a:t>7,539</a:t>
                      </a:r>
                    </a:p>
                  </a:txBody>
                  <a:tcPr anchor="ctr" marL="27432" marR="27432" marT="4572" marB="4572">
                    <a:lnL w="6350">
                      <a:solidFill>
                        <a:srgbClr val="E2E7F2"/>
                      </a:solidFill>
                    </a:lnL>
                    <a:lnR w="6350">
                      <a:solidFill>
                        <a:srgbClr val="E2E7F2"/>
                      </a:solidFill>
                    </a:lnR>
                    <a:lnT w="6350">
                      <a:solidFill>
                        <a:srgbClr val="E2E7F2"/>
                      </a:solidFill>
                    </a:lnT>
                    <a:lnB w="6350">
                      <a:solidFill>
                        <a:srgbClr val="E2E7F2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wrap="none"/>
                    <a:lstStyle/>
                    <a:p>
                      <a:pPr algn="r"/>
                      <a:r>
                        <a:rPr sz="750" b="0">
                          <a:solidFill>
                            <a:srgbClr val="595959"/>
                          </a:solidFill>
                          <a:latin typeface="Calibri"/>
                        </a:rPr>
                        <a:t>6,324</a:t>
                      </a:r>
                    </a:p>
                  </a:txBody>
                  <a:tcPr anchor="ctr" marL="27432" marR="27432" marT="4572" marB="4572">
                    <a:lnL w="6350">
                      <a:solidFill>
                        <a:srgbClr val="E2E7F2"/>
                      </a:solidFill>
                    </a:lnL>
                    <a:lnR w="6350">
                      <a:solidFill>
                        <a:srgbClr val="E2E7F2"/>
                      </a:solidFill>
                    </a:lnR>
                    <a:lnT w="6350">
                      <a:solidFill>
                        <a:srgbClr val="E2E7F2"/>
                      </a:solidFill>
                    </a:lnT>
                    <a:lnB w="6350">
                      <a:solidFill>
                        <a:srgbClr val="E2E7F2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wrap="none"/>
                    <a:lstStyle/>
                    <a:p>
                      <a:pPr algn="r"/>
                      <a:r>
                        <a:rPr sz="750" b="0">
                          <a:solidFill>
                            <a:srgbClr val="595959"/>
                          </a:solidFill>
                          <a:latin typeface="Calibri"/>
                        </a:rPr>
                        <a:t>6,758</a:t>
                      </a:r>
                    </a:p>
                  </a:txBody>
                  <a:tcPr anchor="ctr" marL="27432" marR="27432" marT="4572" marB="4572">
                    <a:lnL w="6350">
                      <a:solidFill>
                        <a:srgbClr val="E2E7F2"/>
                      </a:solidFill>
                    </a:lnL>
                    <a:lnR w="6350">
                      <a:solidFill>
                        <a:srgbClr val="E2E7F2"/>
                      </a:solidFill>
                    </a:lnR>
                    <a:lnT w="6350">
                      <a:solidFill>
                        <a:srgbClr val="E2E7F2"/>
                      </a:solidFill>
                    </a:lnT>
                    <a:lnB w="6350">
                      <a:solidFill>
                        <a:srgbClr val="E2E7F2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wrap="none"/>
                    <a:lstStyle/>
                    <a:p>
                      <a:pPr algn="r"/>
                      <a:r>
                        <a:rPr sz="750" b="0">
                          <a:solidFill>
                            <a:srgbClr val="595959"/>
                          </a:solidFill>
                          <a:latin typeface="Calibri"/>
                        </a:rPr>
                        <a:t>6,178</a:t>
                      </a:r>
                    </a:p>
                  </a:txBody>
                  <a:tcPr anchor="ctr" marL="27432" marR="27432" marT="4572" marB="4572">
                    <a:lnL w="6350">
                      <a:solidFill>
                        <a:srgbClr val="E2E7F2"/>
                      </a:solidFill>
                    </a:lnL>
                    <a:lnR w="6350">
                      <a:solidFill>
                        <a:srgbClr val="E2E7F2"/>
                      </a:solidFill>
                    </a:lnR>
                    <a:lnT w="6350">
                      <a:solidFill>
                        <a:srgbClr val="E2E7F2"/>
                      </a:solidFill>
                    </a:lnT>
                    <a:lnB w="6350">
                      <a:solidFill>
                        <a:srgbClr val="E2E7F2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wrap="none"/>
                    <a:lstStyle/>
                    <a:p>
                      <a:pPr algn="r"/>
                      <a:r>
                        <a:rPr sz="750" b="0">
                          <a:solidFill>
                            <a:srgbClr val="595959"/>
                          </a:solidFill>
                          <a:latin typeface="Calibri"/>
                        </a:rPr>
                        <a:t>5,533</a:t>
                      </a:r>
                    </a:p>
                  </a:txBody>
                  <a:tcPr anchor="ctr" marL="27432" marR="27432" marT="4572" marB="4572">
                    <a:lnL w="6350">
                      <a:solidFill>
                        <a:srgbClr val="E2E7F2"/>
                      </a:solidFill>
                    </a:lnL>
                    <a:lnR w="6350">
                      <a:solidFill>
                        <a:srgbClr val="E2E7F2"/>
                      </a:solidFill>
                    </a:lnR>
                    <a:lnT w="6350">
                      <a:solidFill>
                        <a:srgbClr val="E2E7F2"/>
                      </a:solidFill>
                    </a:lnT>
                    <a:lnB w="6350">
                      <a:solidFill>
                        <a:srgbClr val="E2E7F2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wrap="none"/>
                    <a:lstStyle/>
                    <a:p>
                      <a:pPr algn="r"/>
                      <a:r>
                        <a:rPr sz="750" b="0">
                          <a:solidFill>
                            <a:srgbClr val="595959"/>
                          </a:solidFill>
                          <a:latin typeface="Calibri"/>
                        </a:rPr>
                        <a:t>40,993</a:t>
                      </a:r>
                    </a:p>
                  </a:txBody>
                  <a:tcPr anchor="ctr" marL="27432" marR="27432" marT="4572" marB="4572">
                    <a:lnL w="6350">
                      <a:solidFill>
                        <a:srgbClr val="E2E7F2"/>
                      </a:solidFill>
                    </a:lnL>
                    <a:lnR w="6350">
                      <a:solidFill>
                        <a:srgbClr val="E2E7F2"/>
                      </a:solidFill>
                    </a:lnR>
                    <a:lnT w="6350">
                      <a:solidFill>
                        <a:srgbClr val="E2E7F2"/>
                      </a:solidFill>
                    </a:lnT>
                    <a:lnB w="6350">
                      <a:solidFill>
                        <a:srgbClr val="E2E7F2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wrap="none"/>
                    <a:lstStyle/>
                    <a:p>
                      <a:pPr algn="r"/>
                      <a:r>
                        <a:rPr sz="750" b="0">
                          <a:solidFill>
                            <a:srgbClr val="595959"/>
                          </a:solidFill>
                          <a:latin typeface="Calibri"/>
                        </a:rPr>
                        <a:t>100%</a:t>
                      </a:r>
                    </a:p>
                  </a:txBody>
                  <a:tcPr anchor="ctr" marL="27432" marR="27432" marT="4572" marB="4572">
                    <a:lnL w="6350">
                      <a:solidFill>
                        <a:srgbClr val="E2E7F2"/>
                      </a:solidFill>
                    </a:lnL>
                    <a:lnR w="6350">
                      <a:solidFill>
                        <a:srgbClr val="E2E7F2"/>
                      </a:solidFill>
                    </a:lnR>
                    <a:lnT w="6350">
                      <a:solidFill>
                        <a:srgbClr val="E2E7F2"/>
                      </a:solidFill>
                    </a:lnT>
                    <a:lnB w="6350">
                      <a:solidFill>
                        <a:srgbClr val="E2E7F2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wrap="none"/>
                    <a:lstStyle/>
                    <a:p>
                      <a:pPr algn="l"/>
                      <a:r>
                        <a:rPr sz="750" b="0">
                          <a:solidFill>
                            <a:srgbClr val="26292E"/>
                          </a:solidFill>
                          <a:latin typeface="Calibri"/>
                        </a:rPr>
                        <a:t/>
                      </a:r>
                    </a:p>
                  </a:txBody>
                  <a:tcPr anchor="ctr" marL="27432" marR="27432" marT="4572" marB="4572">
                    <a:lnL w="6350">
                      <a:solidFill>
                        <a:srgbClr val="E2E7F2"/>
                      </a:solidFill>
                    </a:lnL>
                    <a:lnR w="6350">
                      <a:solidFill>
                        <a:srgbClr val="E2E7F2"/>
                      </a:solidFill>
                    </a:lnR>
                    <a:lnT w="6350">
                      <a:solidFill>
                        <a:srgbClr val="E2E7F2"/>
                      </a:solidFill>
                    </a:lnT>
                    <a:lnB w="6350">
                      <a:solidFill>
                        <a:srgbClr val="E2E7F2"/>
                      </a:solidFill>
                    </a:lnB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</p:spTree>
  </p:cSld>
  <p:clrMapOvr>
    <a:masterClrMapping/>
  </p:clrMapOvr>
</p:sld>
</file>

<file path=ppt/slides/slide4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2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292608"/>
            <a:ext cx="8229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b="1" kern="0" spc="200" dirty="0">
                <a:solidFill>
                  <a:srgbClr val="D9A44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SECTION 7 · SOMERSET PATTAYA (SP)</a:t>
            </a:r>
            <a:endParaRPr lang="en-US" sz="1100" dirty="0"/>
          </a:p>
        </p:txBody>
      </p:sp>
      <p:sp>
        <p:nvSpPr>
          <p:cNvPr id="3" name="Text 1"/>
          <p:cNvSpPr/>
          <p:nvPr/>
        </p:nvSpPr>
        <p:spPr>
          <a:xfrm>
            <a:off x="548640" y="502920"/>
            <a:ext cx="11091672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800" b="1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Somerset Pattaya (SP) — ADR by segment (฿ / room night)</a:t>
            </a:r>
            <a:endParaRPr lang="en-US" sz="2800" dirty="0"/>
          </a:p>
        </p:txBody>
      </p:sp>
      <p:sp>
        <p:nvSpPr>
          <p:cNvPr id="4" name="Text 2"/>
          <p:cNvSpPr/>
          <p:nvPr/>
        </p:nvSpPr>
        <p:spPr>
          <a:xfrm>
            <a:off x="548640" y="1060704"/>
            <a:ext cx="11091672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5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ADR = segment revenue ÷ segment room nights · monthly 2026 vs 2025 (gray) · H1 = Jan–Jun · Chg % = H1 2026 vs H1 2025</a:t>
            </a:r>
            <a:endParaRPr lang="en-US" sz="1250" dirty="0"/>
          </a:p>
        </p:txBody>
      </p:sp>
      <p:sp>
        <p:nvSpPr>
          <p:cNvPr id="5" name="Text 3"/>
          <p:cNvSpPr/>
          <p:nvPr/>
        </p:nvSpPr>
        <p:spPr>
          <a:xfrm>
            <a:off x="8165592" y="310896"/>
            <a:ext cx="34747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90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Mitsui Thailand Portfolio · H1 2026</a:t>
            </a:r>
            <a:endParaRPr lang="en-US" sz="900" dirty="0"/>
          </a:p>
        </p:txBody>
      </p:sp>
      <p:sp>
        <p:nvSpPr>
          <p:cNvPr id="8" name="Text 4"/>
          <p:cNvSpPr/>
          <p:nvPr/>
        </p:nvSpPr>
        <p:spPr>
          <a:xfrm>
            <a:off x="548640" y="6400800"/>
            <a:ext cx="10881360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50" i="1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</a:t>
            </a:r>
            <a:endParaRPr lang="en-US" sz="1050" dirty="0"/>
          </a:p>
        </p:txBody>
      </p:sp>
      <p:graphicFrame>
        <p:nvGraphicFramePr>
          <p:cNvPr id="9" name="Table 8"/>
          <p:cNvGraphicFramePr>
            <a:graphicFrameLocks noGrp="1"/>
          </p:cNvGraphicFramePr>
          <p:nvPr/>
        </p:nvGraphicFramePr>
        <p:xfrm>
          <a:off x="548640" y="1645920"/>
          <a:ext cx="11091672" cy="4512564"/>
        </p:xfrm>
        <a:graphic>
          <a:graphicData uri="http://schemas.openxmlformats.org/drawingml/2006/table">
            <a:tbl>
              <a:tblPr>
                <a:tableStyleId>{5C22544A-7EE6-4342-B048-85BDC9FD1C3A}</a:tableStyleId>
              </a:tblPr>
              <a:tblGrid>
                <a:gridCol w="1737360"/>
                <a:gridCol w="1234440"/>
                <a:gridCol w="1234440"/>
                <a:gridCol w="1234440"/>
                <a:gridCol w="1234440"/>
                <a:gridCol w="1234440"/>
                <a:gridCol w="1234440"/>
                <a:gridCol w="960120"/>
                <a:gridCol w="987552"/>
              </a:tblGrid>
              <a:tr h="214884">
                <a:tc>
                  <a:txBody>
                    <a:bodyPr wrap="none"/>
                    <a:lstStyle/>
                    <a:p>
                      <a:pPr algn="l"/>
                      <a:r>
                        <a:rPr sz="850" b="1">
                          <a:solidFill>
                            <a:srgbClr val="FFFFFF"/>
                          </a:solidFill>
                          <a:latin typeface="Calibri"/>
                        </a:rPr>
                        <a:t>Segment</a:t>
                      </a:r>
                    </a:p>
                  </a:txBody>
                  <a:tcPr anchor="ctr" marL="27432" marR="27432" marT="4572" marB="4572">
                    <a:lnL w="6350">
                      <a:solidFill>
                        <a:srgbClr val="E2E7F2"/>
                      </a:solidFill>
                    </a:lnL>
                    <a:lnR w="6350">
                      <a:solidFill>
                        <a:srgbClr val="E2E7F2"/>
                      </a:solidFill>
                    </a:lnR>
                    <a:lnT w="6350">
                      <a:solidFill>
                        <a:srgbClr val="E2E7F2"/>
                      </a:solidFill>
                    </a:lnT>
                    <a:lnB w="6350">
                      <a:solidFill>
                        <a:srgbClr val="E2E7F2"/>
                      </a:solidFill>
                    </a:lnB>
                    <a:solidFill>
                      <a:srgbClr val="1E2761"/>
                    </a:solidFill>
                  </a:tcPr>
                </a:tc>
                <a:tc>
                  <a:txBody>
                    <a:bodyPr wrap="none"/>
                    <a:lstStyle/>
                    <a:p>
                      <a:pPr algn="r"/>
                      <a:r>
                        <a:rPr sz="850" b="1">
                          <a:solidFill>
                            <a:srgbClr val="FFFFFF"/>
                          </a:solidFill>
                          <a:latin typeface="Calibri"/>
                        </a:rPr>
                        <a:t>Jan</a:t>
                      </a:r>
                    </a:p>
                  </a:txBody>
                  <a:tcPr anchor="ctr" marL="27432" marR="27432" marT="4572" marB="4572">
                    <a:lnL w="6350">
                      <a:solidFill>
                        <a:srgbClr val="E2E7F2"/>
                      </a:solidFill>
                    </a:lnL>
                    <a:lnR w="6350">
                      <a:solidFill>
                        <a:srgbClr val="E2E7F2"/>
                      </a:solidFill>
                    </a:lnR>
                    <a:lnT w="6350">
                      <a:solidFill>
                        <a:srgbClr val="E2E7F2"/>
                      </a:solidFill>
                    </a:lnT>
                    <a:lnB w="6350">
                      <a:solidFill>
                        <a:srgbClr val="E2E7F2"/>
                      </a:solidFill>
                    </a:lnB>
                    <a:solidFill>
                      <a:srgbClr val="1E2761"/>
                    </a:solidFill>
                  </a:tcPr>
                </a:tc>
                <a:tc>
                  <a:txBody>
                    <a:bodyPr wrap="none"/>
                    <a:lstStyle/>
                    <a:p>
                      <a:pPr algn="r"/>
                      <a:r>
                        <a:rPr sz="850" b="1">
                          <a:solidFill>
                            <a:srgbClr val="FFFFFF"/>
                          </a:solidFill>
                          <a:latin typeface="Calibri"/>
                        </a:rPr>
                        <a:t>Feb</a:t>
                      </a:r>
                    </a:p>
                  </a:txBody>
                  <a:tcPr anchor="ctr" marL="27432" marR="27432" marT="4572" marB="4572">
                    <a:lnL w="6350">
                      <a:solidFill>
                        <a:srgbClr val="E2E7F2"/>
                      </a:solidFill>
                    </a:lnL>
                    <a:lnR w="6350">
                      <a:solidFill>
                        <a:srgbClr val="E2E7F2"/>
                      </a:solidFill>
                    </a:lnR>
                    <a:lnT w="6350">
                      <a:solidFill>
                        <a:srgbClr val="E2E7F2"/>
                      </a:solidFill>
                    </a:lnT>
                    <a:lnB w="6350">
                      <a:solidFill>
                        <a:srgbClr val="E2E7F2"/>
                      </a:solidFill>
                    </a:lnB>
                    <a:solidFill>
                      <a:srgbClr val="1E2761"/>
                    </a:solidFill>
                  </a:tcPr>
                </a:tc>
                <a:tc>
                  <a:txBody>
                    <a:bodyPr wrap="none"/>
                    <a:lstStyle/>
                    <a:p>
                      <a:pPr algn="r"/>
                      <a:r>
                        <a:rPr sz="850" b="1">
                          <a:solidFill>
                            <a:srgbClr val="FFFFFF"/>
                          </a:solidFill>
                          <a:latin typeface="Calibri"/>
                        </a:rPr>
                        <a:t>Mar</a:t>
                      </a:r>
                    </a:p>
                  </a:txBody>
                  <a:tcPr anchor="ctr" marL="27432" marR="27432" marT="4572" marB="4572">
                    <a:lnL w="6350">
                      <a:solidFill>
                        <a:srgbClr val="E2E7F2"/>
                      </a:solidFill>
                    </a:lnL>
                    <a:lnR w="6350">
                      <a:solidFill>
                        <a:srgbClr val="E2E7F2"/>
                      </a:solidFill>
                    </a:lnR>
                    <a:lnT w="6350">
                      <a:solidFill>
                        <a:srgbClr val="E2E7F2"/>
                      </a:solidFill>
                    </a:lnT>
                    <a:lnB w="6350">
                      <a:solidFill>
                        <a:srgbClr val="E2E7F2"/>
                      </a:solidFill>
                    </a:lnB>
                    <a:solidFill>
                      <a:srgbClr val="1E2761"/>
                    </a:solidFill>
                  </a:tcPr>
                </a:tc>
                <a:tc>
                  <a:txBody>
                    <a:bodyPr wrap="none"/>
                    <a:lstStyle/>
                    <a:p>
                      <a:pPr algn="r"/>
                      <a:r>
                        <a:rPr sz="850" b="1">
                          <a:solidFill>
                            <a:srgbClr val="FFFFFF"/>
                          </a:solidFill>
                          <a:latin typeface="Calibri"/>
                        </a:rPr>
                        <a:t>Apr</a:t>
                      </a:r>
                    </a:p>
                  </a:txBody>
                  <a:tcPr anchor="ctr" marL="27432" marR="27432" marT="4572" marB="4572">
                    <a:lnL w="6350">
                      <a:solidFill>
                        <a:srgbClr val="E2E7F2"/>
                      </a:solidFill>
                    </a:lnL>
                    <a:lnR w="6350">
                      <a:solidFill>
                        <a:srgbClr val="E2E7F2"/>
                      </a:solidFill>
                    </a:lnR>
                    <a:lnT w="6350">
                      <a:solidFill>
                        <a:srgbClr val="E2E7F2"/>
                      </a:solidFill>
                    </a:lnT>
                    <a:lnB w="6350">
                      <a:solidFill>
                        <a:srgbClr val="E2E7F2"/>
                      </a:solidFill>
                    </a:lnB>
                    <a:solidFill>
                      <a:srgbClr val="1E2761"/>
                    </a:solidFill>
                  </a:tcPr>
                </a:tc>
                <a:tc>
                  <a:txBody>
                    <a:bodyPr wrap="none"/>
                    <a:lstStyle/>
                    <a:p>
                      <a:pPr algn="r"/>
                      <a:r>
                        <a:rPr sz="850" b="1">
                          <a:solidFill>
                            <a:srgbClr val="FFFFFF"/>
                          </a:solidFill>
                          <a:latin typeface="Calibri"/>
                        </a:rPr>
                        <a:t>May</a:t>
                      </a:r>
                    </a:p>
                  </a:txBody>
                  <a:tcPr anchor="ctr" marL="27432" marR="27432" marT="4572" marB="4572">
                    <a:lnL w="6350">
                      <a:solidFill>
                        <a:srgbClr val="E2E7F2"/>
                      </a:solidFill>
                    </a:lnL>
                    <a:lnR w="6350">
                      <a:solidFill>
                        <a:srgbClr val="E2E7F2"/>
                      </a:solidFill>
                    </a:lnR>
                    <a:lnT w="6350">
                      <a:solidFill>
                        <a:srgbClr val="E2E7F2"/>
                      </a:solidFill>
                    </a:lnT>
                    <a:lnB w="6350">
                      <a:solidFill>
                        <a:srgbClr val="E2E7F2"/>
                      </a:solidFill>
                    </a:lnB>
                    <a:solidFill>
                      <a:srgbClr val="1E2761"/>
                    </a:solidFill>
                  </a:tcPr>
                </a:tc>
                <a:tc>
                  <a:txBody>
                    <a:bodyPr wrap="none"/>
                    <a:lstStyle/>
                    <a:p>
                      <a:pPr algn="r"/>
                      <a:r>
                        <a:rPr sz="850" b="1">
                          <a:solidFill>
                            <a:srgbClr val="FFFFFF"/>
                          </a:solidFill>
                          <a:latin typeface="Calibri"/>
                        </a:rPr>
                        <a:t>Jun</a:t>
                      </a:r>
                    </a:p>
                  </a:txBody>
                  <a:tcPr anchor="ctr" marL="27432" marR="27432" marT="4572" marB="4572">
                    <a:lnL w="6350">
                      <a:solidFill>
                        <a:srgbClr val="E2E7F2"/>
                      </a:solidFill>
                    </a:lnL>
                    <a:lnR w="6350">
                      <a:solidFill>
                        <a:srgbClr val="E2E7F2"/>
                      </a:solidFill>
                    </a:lnR>
                    <a:lnT w="6350">
                      <a:solidFill>
                        <a:srgbClr val="E2E7F2"/>
                      </a:solidFill>
                    </a:lnT>
                    <a:lnB w="6350">
                      <a:solidFill>
                        <a:srgbClr val="E2E7F2"/>
                      </a:solidFill>
                    </a:lnB>
                    <a:solidFill>
                      <a:srgbClr val="1E2761"/>
                    </a:solidFill>
                  </a:tcPr>
                </a:tc>
                <a:tc>
                  <a:txBody>
                    <a:bodyPr wrap="none"/>
                    <a:lstStyle/>
                    <a:p>
                      <a:pPr algn="r"/>
                      <a:r>
                        <a:rPr sz="850" b="1">
                          <a:solidFill>
                            <a:srgbClr val="FFFFFF"/>
                          </a:solidFill>
                          <a:latin typeface="Calibri"/>
                        </a:rPr>
                        <a:t>H1</a:t>
                      </a:r>
                    </a:p>
                  </a:txBody>
                  <a:tcPr anchor="ctr" marL="27432" marR="27432" marT="4572" marB="4572">
                    <a:lnL w="6350">
                      <a:solidFill>
                        <a:srgbClr val="E2E7F2"/>
                      </a:solidFill>
                    </a:lnL>
                    <a:lnR w="6350">
                      <a:solidFill>
                        <a:srgbClr val="E2E7F2"/>
                      </a:solidFill>
                    </a:lnR>
                    <a:lnT w="6350">
                      <a:solidFill>
                        <a:srgbClr val="E2E7F2"/>
                      </a:solidFill>
                    </a:lnT>
                    <a:lnB w="6350">
                      <a:solidFill>
                        <a:srgbClr val="E2E7F2"/>
                      </a:solidFill>
                    </a:lnB>
                    <a:solidFill>
                      <a:srgbClr val="1E2761"/>
                    </a:solidFill>
                  </a:tcPr>
                </a:tc>
                <a:tc>
                  <a:txBody>
                    <a:bodyPr wrap="none"/>
                    <a:lstStyle/>
                    <a:p>
                      <a:pPr algn="r"/>
                      <a:r>
                        <a:rPr sz="850" b="1">
                          <a:solidFill>
                            <a:srgbClr val="FFFFFF"/>
                          </a:solidFill>
                          <a:latin typeface="Calibri"/>
                        </a:rPr>
                        <a:t>Chg %</a:t>
                      </a:r>
                    </a:p>
                  </a:txBody>
                  <a:tcPr anchor="ctr" marL="27432" marR="27432" marT="4572" marB="4572">
                    <a:lnL w="6350">
                      <a:solidFill>
                        <a:srgbClr val="E2E7F2"/>
                      </a:solidFill>
                    </a:lnL>
                    <a:lnR w="6350">
                      <a:solidFill>
                        <a:srgbClr val="E2E7F2"/>
                      </a:solidFill>
                    </a:lnR>
                    <a:lnT w="6350">
                      <a:solidFill>
                        <a:srgbClr val="E2E7F2"/>
                      </a:solidFill>
                    </a:lnT>
                    <a:lnB w="6350">
                      <a:solidFill>
                        <a:srgbClr val="E2E7F2"/>
                      </a:solidFill>
                    </a:lnB>
                    <a:solidFill>
                      <a:srgbClr val="1E2761"/>
                    </a:solidFill>
                  </a:tcPr>
                </a:tc>
              </a:tr>
              <a:tr h="214884">
                <a:tc>
                  <a:txBody>
                    <a:bodyPr wrap="none"/>
                    <a:lstStyle/>
                    <a:p>
                      <a:pPr algn="l"/>
                      <a:r>
                        <a:rPr sz="850" b="1">
                          <a:solidFill>
                            <a:srgbClr val="26292E"/>
                          </a:solidFill>
                          <a:latin typeface="Calibri"/>
                        </a:rPr>
                        <a:t>Corporate SS</a:t>
                      </a:r>
                    </a:p>
                  </a:txBody>
                  <a:tcPr anchor="ctr" marL="27432" marR="27432" marT="4572" marB="4572">
                    <a:lnL w="6350">
                      <a:solidFill>
                        <a:srgbClr val="E2E7F2"/>
                      </a:solidFill>
                    </a:lnL>
                    <a:lnR w="6350">
                      <a:solidFill>
                        <a:srgbClr val="E2E7F2"/>
                      </a:solidFill>
                    </a:lnR>
                    <a:lnT w="6350">
                      <a:solidFill>
                        <a:srgbClr val="E2E7F2"/>
                      </a:solidFill>
                    </a:lnT>
                    <a:lnB w="6350">
                      <a:solidFill>
                        <a:srgbClr val="E2E7F2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wrap="none"/>
                    <a:lstStyle/>
                    <a:p>
                      <a:pPr algn="r"/>
                      <a:r>
                        <a:rPr sz="850" b="0">
                          <a:solidFill>
                            <a:srgbClr val="26292E"/>
                          </a:solidFill>
                          <a:latin typeface="Calibri"/>
                        </a:rPr>
                        <a:t>4,184</a:t>
                      </a:r>
                    </a:p>
                  </a:txBody>
                  <a:tcPr anchor="ctr" marL="27432" marR="27432" marT="4572" marB="4572">
                    <a:lnL w="6350">
                      <a:solidFill>
                        <a:srgbClr val="E2E7F2"/>
                      </a:solidFill>
                    </a:lnL>
                    <a:lnR w="6350">
                      <a:solidFill>
                        <a:srgbClr val="E2E7F2"/>
                      </a:solidFill>
                    </a:lnR>
                    <a:lnT w="6350">
                      <a:solidFill>
                        <a:srgbClr val="E2E7F2"/>
                      </a:solidFill>
                    </a:lnT>
                    <a:lnB w="6350">
                      <a:solidFill>
                        <a:srgbClr val="E2E7F2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wrap="none"/>
                    <a:lstStyle/>
                    <a:p>
                      <a:pPr algn="r"/>
                      <a:r>
                        <a:rPr sz="850" b="0">
                          <a:solidFill>
                            <a:srgbClr val="26292E"/>
                          </a:solidFill>
                          <a:latin typeface="Calibri"/>
                        </a:rPr>
                        <a:t>3,285</a:t>
                      </a:r>
                    </a:p>
                  </a:txBody>
                  <a:tcPr anchor="ctr" marL="27432" marR="27432" marT="4572" marB="4572">
                    <a:lnL w="6350">
                      <a:solidFill>
                        <a:srgbClr val="E2E7F2"/>
                      </a:solidFill>
                    </a:lnL>
                    <a:lnR w="6350">
                      <a:solidFill>
                        <a:srgbClr val="E2E7F2"/>
                      </a:solidFill>
                    </a:lnR>
                    <a:lnT w="6350">
                      <a:solidFill>
                        <a:srgbClr val="E2E7F2"/>
                      </a:solidFill>
                    </a:lnT>
                    <a:lnB w="6350">
                      <a:solidFill>
                        <a:srgbClr val="E2E7F2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wrap="none"/>
                    <a:lstStyle/>
                    <a:p>
                      <a:pPr algn="r"/>
                      <a:r>
                        <a:rPr sz="850" b="0">
                          <a:solidFill>
                            <a:srgbClr val="26292E"/>
                          </a:solidFill>
                          <a:latin typeface="Calibri"/>
                        </a:rPr>
                        <a:t>3,330</a:t>
                      </a:r>
                    </a:p>
                  </a:txBody>
                  <a:tcPr anchor="ctr" marL="27432" marR="27432" marT="4572" marB="4572">
                    <a:lnL w="6350">
                      <a:solidFill>
                        <a:srgbClr val="E2E7F2"/>
                      </a:solidFill>
                    </a:lnL>
                    <a:lnR w="6350">
                      <a:solidFill>
                        <a:srgbClr val="E2E7F2"/>
                      </a:solidFill>
                    </a:lnR>
                    <a:lnT w="6350">
                      <a:solidFill>
                        <a:srgbClr val="E2E7F2"/>
                      </a:solidFill>
                    </a:lnT>
                    <a:lnB w="6350">
                      <a:solidFill>
                        <a:srgbClr val="E2E7F2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wrap="none"/>
                    <a:lstStyle/>
                    <a:p>
                      <a:pPr algn="r"/>
                      <a:r>
                        <a:rPr sz="850" b="0">
                          <a:solidFill>
                            <a:srgbClr val="26292E"/>
                          </a:solidFill>
                          <a:latin typeface="Calibri"/>
                        </a:rPr>
                        <a:t>3,878</a:t>
                      </a:r>
                    </a:p>
                  </a:txBody>
                  <a:tcPr anchor="ctr" marL="27432" marR="27432" marT="4572" marB="4572">
                    <a:lnL w="6350">
                      <a:solidFill>
                        <a:srgbClr val="E2E7F2"/>
                      </a:solidFill>
                    </a:lnL>
                    <a:lnR w="6350">
                      <a:solidFill>
                        <a:srgbClr val="E2E7F2"/>
                      </a:solidFill>
                    </a:lnR>
                    <a:lnT w="6350">
                      <a:solidFill>
                        <a:srgbClr val="E2E7F2"/>
                      </a:solidFill>
                    </a:lnT>
                    <a:lnB w="6350">
                      <a:solidFill>
                        <a:srgbClr val="E2E7F2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wrap="none"/>
                    <a:lstStyle/>
                    <a:p>
                      <a:pPr algn="r"/>
                      <a:r>
                        <a:rPr sz="850" b="0">
                          <a:solidFill>
                            <a:srgbClr val="26292E"/>
                          </a:solidFill>
                          <a:latin typeface="Calibri"/>
                        </a:rPr>
                        <a:t>3,568</a:t>
                      </a:r>
                    </a:p>
                  </a:txBody>
                  <a:tcPr anchor="ctr" marL="27432" marR="27432" marT="4572" marB="4572">
                    <a:lnL w="6350">
                      <a:solidFill>
                        <a:srgbClr val="E2E7F2"/>
                      </a:solidFill>
                    </a:lnL>
                    <a:lnR w="6350">
                      <a:solidFill>
                        <a:srgbClr val="E2E7F2"/>
                      </a:solidFill>
                    </a:lnR>
                    <a:lnT w="6350">
                      <a:solidFill>
                        <a:srgbClr val="E2E7F2"/>
                      </a:solidFill>
                    </a:lnT>
                    <a:lnB w="6350">
                      <a:solidFill>
                        <a:srgbClr val="E2E7F2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wrap="none"/>
                    <a:lstStyle/>
                    <a:p>
                      <a:pPr algn="r"/>
                      <a:r>
                        <a:rPr sz="850" b="0">
                          <a:solidFill>
                            <a:srgbClr val="26292E"/>
                          </a:solidFill>
                          <a:latin typeface="Calibri"/>
                        </a:rPr>
                        <a:t>3,277</a:t>
                      </a:r>
                    </a:p>
                  </a:txBody>
                  <a:tcPr anchor="ctr" marL="27432" marR="27432" marT="4572" marB="4572">
                    <a:lnL w="6350">
                      <a:solidFill>
                        <a:srgbClr val="E2E7F2"/>
                      </a:solidFill>
                    </a:lnL>
                    <a:lnR w="6350">
                      <a:solidFill>
                        <a:srgbClr val="E2E7F2"/>
                      </a:solidFill>
                    </a:lnR>
                    <a:lnT w="6350">
                      <a:solidFill>
                        <a:srgbClr val="E2E7F2"/>
                      </a:solidFill>
                    </a:lnT>
                    <a:lnB w="6350">
                      <a:solidFill>
                        <a:srgbClr val="E2E7F2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wrap="none"/>
                    <a:lstStyle/>
                    <a:p>
                      <a:pPr algn="r"/>
                      <a:r>
                        <a:rPr sz="850" b="1">
                          <a:solidFill>
                            <a:srgbClr val="26292E"/>
                          </a:solidFill>
                          <a:latin typeface="Calibri"/>
                        </a:rPr>
                        <a:t>3,570</a:t>
                      </a:r>
                    </a:p>
                  </a:txBody>
                  <a:tcPr anchor="ctr" marL="27432" marR="27432" marT="4572" marB="4572">
                    <a:lnL w="6350">
                      <a:solidFill>
                        <a:srgbClr val="E2E7F2"/>
                      </a:solidFill>
                    </a:lnL>
                    <a:lnR w="6350">
                      <a:solidFill>
                        <a:srgbClr val="E2E7F2"/>
                      </a:solidFill>
                    </a:lnR>
                    <a:lnT w="6350">
                      <a:solidFill>
                        <a:srgbClr val="E2E7F2"/>
                      </a:solidFill>
                    </a:lnT>
                    <a:lnB w="6350">
                      <a:solidFill>
                        <a:srgbClr val="E2E7F2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wrap="none"/>
                    <a:lstStyle/>
                    <a:p>
                      <a:pPr algn="r"/>
                      <a:r>
                        <a:rPr sz="850" b="1">
                          <a:solidFill>
                            <a:srgbClr val="1E7B34"/>
                          </a:solidFill>
                          <a:latin typeface="Calibri"/>
                        </a:rPr>
                        <a:t>+2.2%</a:t>
                      </a:r>
                    </a:p>
                  </a:txBody>
                  <a:tcPr anchor="ctr" marL="27432" marR="27432" marT="4572" marB="4572">
                    <a:lnL w="6350">
                      <a:solidFill>
                        <a:srgbClr val="E2E7F2"/>
                      </a:solidFill>
                    </a:lnL>
                    <a:lnR w="6350">
                      <a:solidFill>
                        <a:srgbClr val="E2E7F2"/>
                      </a:solidFill>
                    </a:lnR>
                    <a:lnT w="6350">
                      <a:solidFill>
                        <a:srgbClr val="E2E7F2"/>
                      </a:solidFill>
                    </a:lnT>
                    <a:lnB w="6350">
                      <a:solidFill>
                        <a:srgbClr val="E2E7F2"/>
                      </a:solidFill>
                    </a:lnB>
                    <a:solidFill>
                      <a:srgbClr val="FFFFFF"/>
                    </a:solidFill>
                  </a:tcPr>
                </a:tc>
              </a:tr>
              <a:tr h="214884">
                <a:tc>
                  <a:txBody>
                    <a:bodyPr wrap="none"/>
                    <a:lstStyle/>
                    <a:p>
                      <a:pPr algn="l"/>
                      <a:r>
                        <a:rPr sz="850" b="0">
                          <a:solidFill>
                            <a:srgbClr val="595959"/>
                          </a:solidFill>
                          <a:latin typeface="Calibri"/>
                        </a:rPr>
                        <a:t>   ’25</a:t>
                      </a:r>
                    </a:p>
                  </a:txBody>
                  <a:tcPr anchor="ctr" marL="27432" marR="27432" marT="4572" marB="4572">
                    <a:lnL w="6350">
                      <a:solidFill>
                        <a:srgbClr val="E2E7F2"/>
                      </a:solidFill>
                    </a:lnL>
                    <a:lnR w="6350">
                      <a:solidFill>
                        <a:srgbClr val="E2E7F2"/>
                      </a:solidFill>
                    </a:lnR>
                    <a:lnT w="6350">
                      <a:solidFill>
                        <a:srgbClr val="E2E7F2"/>
                      </a:solidFill>
                    </a:lnT>
                    <a:lnB w="6350">
                      <a:solidFill>
                        <a:srgbClr val="E2E7F2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wrap="none"/>
                    <a:lstStyle/>
                    <a:p>
                      <a:pPr algn="r"/>
                      <a:r>
                        <a:rPr sz="850" b="0">
                          <a:solidFill>
                            <a:srgbClr val="595959"/>
                          </a:solidFill>
                          <a:latin typeface="Calibri"/>
                        </a:rPr>
                        <a:t>3,718</a:t>
                      </a:r>
                    </a:p>
                  </a:txBody>
                  <a:tcPr anchor="ctr" marL="27432" marR="27432" marT="4572" marB="4572">
                    <a:lnL w="6350">
                      <a:solidFill>
                        <a:srgbClr val="E2E7F2"/>
                      </a:solidFill>
                    </a:lnL>
                    <a:lnR w="6350">
                      <a:solidFill>
                        <a:srgbClr val="E2E7F2"/>
                      </a:solidFill>
                    </a:lnR>
                    <a:lnT w="6350">
                      <a:solidFill>
                        <a:srgbClr val="E2E7F2"/>
                      </a:solidFill>
                    </a:lnT>
                    <a:lnB w="6350">
                      <a:solidFill>
                        <a:srgbClr val="E2E7F2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wrap="none"/>
                    <a:lstStyle/>
                    <a:p>
                      <a:pPr algn="r"/>
                      <a:r>
                        <a:rPr sz="850" b="0">
                          <a:solidFill>
                            <a:srgbClr val="595959"/>
                          </a:solidFill>
                          <a:latin typeface="Calibri"/>
                        </a:rPr>
                        <a:t>3,806</a:t>
                      </a:r>
                    </a:p>
                  </a:txBody>
                  <a:tcPr anchor="ctr" marL="27432" marR="27432" marT="4572" marB="4572">
                    <a:lnL w="6350">
                      <a:solidFill>
                        <a:srgbClr val="E2E7F2"/>
                      </a:solidFill>
                    </a:lnL>
                    <a:lnR w="6350">
                      <a:solidFill>
                        <a:srgbClr val="E2E7F2"/>
                      </a:solidFill>
                    </a:lnR>
                    <a:lnT w="6350">
                      <a:solidFill>
                        <a:srgbClr val="E2E7F2"/>
                      </a:solidFill>
                    </a:lnT>
                    <a:lnB w="6350">
                      <a:solidFill>
                        <a:srgbClr val="E2E7F2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wrap="none"/>
                    <a:lstStyle/>
                    <a:p>
                      <a:pPr algn="r"/>
                      <a:r>
                        <a:rPr sz="850" b="0">
                          <a:solidFill>
                            <a:srgbClr val="595959"/>
                          </a:solidFill>
                          <a:latin typeface="Calibri"/>
                        </a:rPr>
                        <a:t>3,557</a:t>
                      </a:r>
                    </a:p>
                  </a:txBody>
                  <a:tcPr anchor="ctr" marL="27432" marR="27432" marT="4572" marB="4572">
                    <a:lnL w="6350">
                      <a:solidFill>
                        <a:srgbClr val="E2E7F2"/>
                      </a:solidFill>
                    </a:lnL>
                    <a:lnR w="6350">
                      <a:solidFill>
                        <a:srgbClr val="E2E7F2"/>
                      </a:solidFill>
                    </a:lnR>
                    <a:lnT w="6350">
                      <a:solidFill>
                        <a:srgbClr val="E2E7F2"/>
                      </a:solidFill>
                    </a:lnT>
                    <a:lnB w="6350">
                      <a:solidFill>
                        <a:srgbClr val="E2E7F2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wrap="none"/>
                    <a:lstStyle/>
                    <a:p>
                      <a:pPr algn="r"/>
                      <a:r>
                        <a:rPr sz="850" b="0">
                          <a:solidFill>
                            <a:srgbClr val="595959"/>
                          </a:solidFill>
                          <a:latin typeface="Calibri"/>
                        </a:rPr>
                        <a:t>3,388</a:t>
                      </a:r>
                    </a:p>
                  </a:txBody>
                  <a:tcPr anchor="ctr" marL="27432" marR="27432" marT="4572" marB="4572">
                    <a:lnL w="6350">
                      <a:solidFill>
                        <a:srgbClr val="E2E7F2"/>
                      </a:solidFill>
                    </a:lnL>
                    <a:lnR w="6350">
                      <a:solidFill>
                        <a:srgbClr val="E2E7F2"/>
                      </a:solidFill>
                    </a:lnR>
                    <a:lnT w="6350">
                      <a:solidFill>
                        <a:srgbClr val="E2E7F2"/>
                      </a:solidFill>
                    </a:lnT>
                    <a:lnB w="6350">
                      <a:solidFill>
                        <a:srgbClr val="E2E7F2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wrap="none"/>
                    <a:lstStyle/>
                    <a:p>
                      <a:pPr algn="r"/>
                      <a:r>
                        <a:rPr sz="850" b="0">
                          <a:solidFill>
                            <a:srgbClr val="595959"/>
                          </a:solidFill>
                          <a:latin typeface="Calibri"/>
                        </a:rPr>
                        <a:t>3,111</a:t>
                      </a:r>
                    </a:p>
                  </a:txBody>
                  <a:tcPr anchor="ctr" marL="27432" marR="27432" marT="4572" marB="4572">
                    <a:lnL w="6350">
                      <a:solidFill>
                        <a:srgbClr val="E2E7F2"/>
                      </a:solidFill>
                    </a:lnL>
                    <a:lnR w="6350">
                      <a:solidFill>
                        <a:srgbClr val="E2E7F2"/>
                      </a:solidFill>
                    </a:lnR>
                    <a:lnT w="6350">
                      <a:solidFill>
                        <a:srgbClr val="E2E7F2"/>
                      </a:solidFill>
                    </a:lnT>
                    <a:lnB w="6350">
                      <a:solidFill>
                        <a:srgbClr val="E2E7F2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wrap="none"/>
                    <a:lstStyle/>
                    <a:p>
                      <a:pPr algn="r"/>
                      <a:r>
                        <a:rPr sz="850" b="0">
                          <a:solidFill>
                            <a:srgbClr val="595959"/>
                          </a:solidFill>
                          <a:latin typeface="Calibri"/>
                        </a:rPr>
                        <a:t>3,309</a:t>
                      </a:r>
                    </a:p>
                  </a:txBody>
                  <a:tcPr anchor="ctr" marL="27432" marR="27432" marT="4572" marB="4572">
                    <a:lnL w="6350">
                      <a:solidFill>
                        <a:srgbClr val="E2E7F2"/>
                      </a:solidFill>
                    </a:lnL>
                    <a:lnR w="6350">
                      <a:solidFill>
                        <a:srgbClr val="E2E7F2"/>
                      </a:solidFill>
                    </a:lnR>
                    <a:lnT w="6350">
                      <a:solidFill>
                        <a:srgbClr val="E2E7F2"/>
                      </a:solidFill>
                    </a:lnT>
                    <a:lnB w="6350">
                      <a:solidFill>
                        <a:srgbClr val="E2E7F2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wrap="none"/>
                    <a:lstStyle/>
                    <a:p>
                      <a:pPr algn="r"/>
                      <a:r>
                        <a:rPr sz="850" b="0">
                          <a:solidFill>
                            <a:srgbClr val="595959"/>
                          </a:solidFill>
                          <a:latin typeface="Calibri"/>
                        </a:rPr>
                        <a:t>3,493</a:t>
                      </a:r>
                    </a:p>
                  </a:txBody>
                  <a:tcPr anchor="ctr" marL="27432" marR="27432" marT="4572" marB="4572">
                    <a:lnL w="6350">
                      <a:solidFill>
                        <a:srgbClr val="E2E7F2"/>
                      </a:solidFill>
                    </a:lnL>
                    <a:lnR w="6350">
                      <a:solidFill>
                        <a:srgbClr val="E2E7F2"/>
                      </a:solidFill>
                    </a:lnR>
                    <a:lnT w="6350">
                      <a:solidFill>
                        <a:srgbClr val="E2E7F2"/>
                      </a:solidFill>
                    </a:lnT>
                    <a:lnB w="6350">
                      <a:solidFill>
                        <a:srgbClr val="E2E7F2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wrap="none"/>
                    <a:lstStyle/>
                    <a:p>
                      <a:pPr algn="l"/>
                      <a:r>
                        <a:rPr sz="850" b="0">
                          <a:solidFill>
                            <a:srgbClr val="26292E"/>
                          </a:solidFill>
                          <a:latin typeface="Calibri"/>
                        </a:rPr>
                        <a:t/>
                      </a:r>
                    </a:p>
                  </a:txBody>
                  <a:tcPr anchor="ctr" marL="27432" marR="27432" marT="4572" marB="4572">
                    <a:lnL w="6350">
                      <a:solidFill>
                        <a:srgbClr val="E2E7F2"/>
                      </a:solidFill>
                    </a:lnL>
                    <a:lnR w="6350">
                      <a:solidFill>
                        <a:srgbClr val="E2E7F2"/>
                      </a:solidFill>
                    </a:lnR>
                    <a:lnT w="6350">
                      <a:solidFill>
                        <a:srgbClr val="E2E7F2"/>
                      </a:solidFill>
                    </a:lnT>
                    <a:lnB w="6350">
                      <a:solidFill>
                        <a:srgbClr val="E2E7F2"/>
                      </a:solidFill>
                    </a:lnB>
                    <a:solidFill>
                      <a:srgbClr val="FFFFFF"/>
                    </a:solidFill>
                  </a:tcPr>
                </a:tc>
              </a:tr>
              <a:tr h="214884">
                <a:tc>
                  <a:txBody>
                    <a:bodyPr wrap="none"/>
                    <a:lstStyle/>
                    <a:p>
                      <a:pPr algn="l"/>
                      <a:r>
                        <a:rPr sz="850" b="1">
                          <a:solidFill>
                            <a:srgbClr val="26292E"/>
                          </a:solidFill>
                          <a:latin typeface="Calibri"/>
                        </a:rPr>
                        <a:t>Corporate LS</a:t>
                      </a:r>
                    </a:p>
                  </a:txBody>
                  <a:tcPr anchor="ctr" marL="27432" marR="27432" marT="4572" marB="4572">
                    <a:lnL w="6350">
                      <a:solidFill>
                        <a:srgbClr val="E2E7F2"/>
                      </a:solidFill>
                    </a:lnL>
                    <a:lnR w="6350">
                      <a:solidFill>
                        <a:srgbClr val="E2E7F2"/>
                      </a:solidFill>
                    </a:lnR>
                    <a:lnT w="6350">
                      <a:solidFill>
                        <a:srgbClr val="E2E7F2"/>
                      </a:solidFill>
                    </a:lnT>
                    <a:lnB w="6350">
                      <a:solidFill>
                        <a:srgbClr val="E2E7F2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wrap="none"/>
                    <a:lstStyle/>
                    <a:p>
                      <a:pPr algn="r"/>
                      <a:r>
                        <a:rPr sz="850" b="0">
                          <a:solidFill>
                            <a:srgbClr val="26292E"/>
                          </a:solidFill>
                          <a:latin typeface="Calibri"/>
                        </a:rPr>
                        <a:t>3,319</a:t>
                      </a:r>
                    </a:p>
                  </a:txBody>
                  <a:tcPr anchor="ctr" marL="27432" marR="27432" marT="4572" marB="4572">
                    <a:lnL w="6350">
                      <a:solidFill>
                        <a:srgbClr val="E2E7F2"/>
                      </a:solidFill>
                    </a:lnL>
                    <a:lnR w="6350">
                      <a:solidFill>
                        <a:srgbClr val="E2E7F2"/>
                      </a:solidFill>
                    </a:lnR>
                    <a:lnT w="6350">
                      <a:solidFill>
                        <a:srgbClr val="E2E7F2"/>
                      </a:solidFill>
                    </a:lnT>
                    <a:lnB w="6350">
                      <a:solidFill>
                        <a:srgbClr val="E2E7F2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wrap="none"/>
                    <a:lstStyle/>
                    <a:p>
                      <a:pPr algn="r"/>
                      <a:r>
                        <a:rPr sz="850" b="0">
                          <a:solidFill>
                            <a:srgbClr val="26292E"/>
                          </a:solidFill>
                          <a:latin typeface="Calibri"/>
                        </a:rPr>
                        <a:t>3,014</a:t>
                      </a:r>
                    </a:p>
                  </a:txBody>
                  <a:tcPr anchor="ctr" marL="27432" marR="27432" marT="4572" marB="4572">
                    <a:lnL w="6350">
                      <a:solidFill>
                        <a:srgbClr val="E2E7F2"/>
                      </a:solidFill>
                    </a:lnL>
                    <a:lnR w="6350">
                      <a:solidFill>
                        <a:srgbClr val="E2E7F2"/>
                      </a:solidFill>
                    </a:lnR>
                    <a:lnT w="6350">
                      <a:solidFill>
                        <a:srgbClr val="E2E7F2"/>
                      </a:solidFill>
                    </a:lnT>
                    <a:lnB w="6350">
                      <a:solidFill>
                        <a:srgbClr val="E2E7F2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wrap="none"/>
                    <a:lstStyle/>
                    <a:p>
                      <a:pPr algn="r"/>
                      <a:r>
                        <a:rPr sz="850" b="0">
                          <a:solidFill>
                            <a:srgbClr val="26292E"/>
                          </a:solidFill>
                          <a:latin typeface="Calibri"/>
                        </a:rPr>
                        <a:t>3,104</a:t>
                      </a:r>
                    </a:p>
                  </a:txBody>
                  <a:tcPr anchor="ctr" marL="27432" marR="27432" marT="4572" marB="4572">
                    <a:lnL w="6350">
                      <a:solidFill>
                        <a:srgbClr val="E2E7F2"/>
                      </a:solidFill>
                    </a:lnL>
                    <a:lnR w="6350">
                      <a:solidFill>
                        <a:srgbClr val="E2E7F2"/>
                      </a:solidFill>
                    </a:lnR>
                    <a:lnT w="6350">
                      <a:solidFill>
                        <a:srgbClr val="E2E7F2"/>
                      </a:solidFill>
                    </a:lnT>
                    <a:lnB w="6350">
                      <a:solidFill>
                        <a:srgbClr val="E2E7F2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wrap="none"/>
                    <a:lstStyle/>
                    <a:p>
                      <a:pPr algn="r"/>
                      <a:r>
                        <a:rPr sz="850" b="0">
                          <a:solidFill>
                            <a:srgbClr val="26292E"/>
                          </a:solidFill>
                          <a:latin typeface="Calibri"/>
                        </a:rPr>
                        <a:t>3,053</a:t>
                      </a:r>
                    </a:p>
                  </a:txBody>
                  <a:tcPr anchor="ctr" marL="27432" marR="27432" marT="4572" marB="4572">
                    <a:lnL w="6350">
                      <a:solidFill>
                        <a:srgbClr val="E2E7F2"/>
                      </a:solidFill>
                    </a:lnL>
                    <a:lnR w="6350">
                      <a:solidFill>
                        <a:srgbClr val="E2E7F2"/>
                      </a:solidFill>
                    </a:lnR>
                    <a:lnT w="6350">
                      <a:solidFill>
                        <a:srgbClr val="E2E7F2"/>
                      </a:solidFill>
                    </a:lnT>
                    <a:lnB w="6350">
                      <a:solidFill>
                        <a:srgbClr val="E2E7F2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wrap="none"/>
                    <a:lstStyle/>
                    <a:p>
                      <a:pPr algn="r"/>
                      <a:r>
                        <a:rPr sz="850" b="0">
                          <a:solidFill>
                            <a:srgbClr val="26292E"/>
                          </a:solidFill>
                          <a:latin typeface="Calibri"/>
                        </a:rPr>
                        <a:t>3,339</a:t>
                      </a:r>
                    </a:p>
                  </a:txBody>
                  <a:tcPr anchor="ctr" marL="27432" marR="27432" marT="4572" marB="4572">
                    <a:lnL w="6350">
                      <a:solidFill>
                        <a:srgbClr val="E2E7F2"/>
                      </a:solidFill>
                    </a:lnL>
                    <a:lnR w="6350">
                      <a:solidFill>
                        <a:srgbClr val="E2E7F2"/>
                      </a:solidFill>
                    </a:lnR>
                    <a:lnT w="6350">
                      <a:solidFill>
                        <a:srgbClr val="E2E7F2"/>
                      </a:solidFill>
                    </a:lnT>
                    <a:lnB w="6350">
                      <a:solidFill>
                        <a:srgbClr val="E2E7F2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wrap="none"/>
                    <a:lstStyle/>
                    <a:p>
                      <a:pPr algn="r"/>
                      <a:r>
                        <a:rPr sz="850" b="0">
                          <a:solidFill>
                            <a:srgbClr val="26292E"/>
                          </a:solidFill>
                          <a:latin typeface="Calibri"/>
                        </a:rPr>
                        <a:t>3,143</a:t>
                      </a:r>
                    </a:p>
                  </a:txBody>
                  <a:tcPr anchor="ctr" marL="27432" marR="27432" marT="4572" marB="4572">
                    <a:lnL w="6350">
                      <a:solidFill>
                        <a:srgbClr val="E2E7F2"/>
                      </a:solidFill>
                    </a:lnL>
                    <a:lnR w="6350">
                      <a:solidFill>
                        <a:srgbClr val="E2E7F2"/>
                      </a:solidFill>
                    </a:lnR>
                    <a:lnT w="6350">
                      <a:solidFill>
                        <a:srgbClr val="E2E7F2"/>
                      </a:solidFill>
                    </a:lnT>
                    <a:lnB w="6350">
                      <a:solidFill>
                        <a:srgbClr val="E2E7F2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wrap="none"/>
                    <a:lstStyle/>
                    <a:p>
                      <a:pPr algn="r"/>
                      <a:r>
                        <a:rPr sz="850" b="1">
                          <a:solidFill>
                            <a:srgbClr val="26292E"/>
                          </a:solidFill>
                          <a:latin typeface="Calibri"/>
                        </a:rPr>
                        <a:t>3,155</a:t>
                      </a:r>
                    </a:p>
                  </a:txBody>
                  <a:tcPr anchor="ctr" marL="27432" marR="27432" marT="4572" marB="4572">
                    <a:lnL w="6350">
                      <a:solidFill>
                        <a:srgbClr val="E2E7F2"/>
                      </a:solidFill>
                    </a:lnL>
                    <a:lnR w="6350">
                      <a:solidFill>
                        <a:srgbClr val="E2E7F2"/>
                      </a:solidFill>
                    </a:lnR>
                    <a:lnT w="6350">
                      <a:solidFill>
                        <a:srgbClr val="E2E7F2"/>
                      </a:solidFill>
                    </a:lnT>
                    <a:lnB w="6350">
                      <a:solidFill>
                        <a:srgbClr val="E2E7F2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wrap="none"/>
                    <a:lstStyle/>
                    <a:p>
                      <a:pPr algn="r"/>
                      <a:r>
                        <a:rPr sz="850" b="1">
                          <a:solidFill>
                            <a:srgbClr val="1E7B34"/>
                          </a:solidFill>
                          <a:latin typeface="Calibri"/>
                        </a:rPr>
                        <a:t>+19.4%</a:t>
                      </a:r>
                    </a:p>
                  </a:txBody>
                  <a:tcPr anchor="ctr" marL="27432" marR="27432" marT="4572" marB="4572">
                    <a:lnL w="6350">
                      <a:solidFill>
                        <a:srgbClr val="E2E7F2"/>
                      </a:solidFill>
                    </a:lnL>
                    <a:lnR w="6350">
                      <a:solidFill>
                        <a:srgbClr val="E2E7F2"/>
                      </a:solidFill>
                    </a:lnR>
                    <a:lnT w="6350">
                      <a:solidFill>
                        <a:srgbClr val="E2E7F2"/>
                      </a:solidFill>
                    </a:lnT>
                    <a:lnB w="6350">
                      <a:solidFill>
                        <a:srgbClr val="E2E7F2"/>
                      </a:solidFill>
                    </a:lnB>
                    <a:solidFill>
                      <a:srgbClr val="FFFFFF"/>
                    </a:solidFill>
                  </a:tcPr>
                </a:tc>
              </a:tr>
              <a:tr h="214884">
                <a:tc>
                  <a:txBody>
                    <a:bodyPr wrap="none"/>
                    <a:lstStyle/>
                    <a:p>
                      <a:pPr algn="l"/>
                      <a:r>
                        <a:rPr sz="850" b="0">
                          <a:solidFill>
                            <a:srgbClr val="595959"/>
                          </a:solidFill>
                          <a:latin typeface="Calibri"/>
                        </a:rPr>
                        <a:t>   ’25</a:t>
                      </a:r>
                    </a:p>
                  </a:txBody>
                  <a:tcPr anchor="ctr" marL="27432" marR="27432" marT="4572" marB="4572">
                    <a:lnL w="6350">
                      <a:solidFill>
                        <a:srgbClr val="E2E7F2"/>
                      </a:solidFill>
                    </a:lnL>
                    <a:lnR w="6350">
                      <a:solidFill>
                        <a:srgbClr val="E2E7F2"/>
                      </a:solidFill>
                    </a:lnR>
                    <a:lnT w="6350">
                      <a:solidFill>
                        <a:srgbClr val="E2E7F2"/>
                      </a:solidFill>
                    </a:lnT>
                    <a:lnB w="6350">
                      <a:solidFill>
                        <a:srgbClr val="E2E7F2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wrap="none"/>
                    <a:lstStyle/>
                    <a:p>
                      <a:pPr algn="r"/>
                      <a:r>
                        <a:rPr sz="850" b="0">
                          <a:solidFill>
                            <a:srgbClr val="595959"/>
                          </a:solidFill>
                          <a:latin typeface="Calibri"/>
                        </a:rPr>
                        <a:t>2,745</a:t>
                      </a:r>
                    </a:p>
                  </a:txBody>
                  <a:tcPr anchor="ctr" marL="27432" marR="27432" marT="4572" marB="4572">
                    <a:lnL w="6350">
                      <a:solidFill>
                        <a:srgbClr val="E2E7F2"/>
                      </a:solidFill>
                    </a:lnL>
                    <a:lnR w="6350">
                      <a:solidFill>
                        <a:srgbClr val="E2E7F2"/>
                      </a:solidFill>
                    </a:lnR>
                    <a:lnT w="6350">
                      <a:solidFill>
                        <a:srgbClr val="E2E7F2"/>
                      </a:solidFill>
                    </a:lnT>
                    <a:lnB w="6350">
                      <a:solidFill>
                        <a:srgbClr val="E2E7F2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wrap="none"/>
                    <a:lstStyle/>
                    <a:p>
                      <a:pPr algn="r"/>
                      <a:r>
                        <a:rPr sz="850" b="0">
                          <a:solidFill>
                            <a:srgbClr val="595959"/>
                          </a:solidFill>
                          <a:latin typeface="Calibri"/>
                        </a:rPr>
                        <a:t>2,828</a:t>
                      </a:r>
                    </a:p>
                  </a:txBody>
                  <a:tcPr anchor="ctr" marL="27432" marR="27432" marT="4572" marB="4572">
                    <a:lnL w="6350">
                      <a:solidFill>
                        <a:srgbClr val="E2E7F2"/>
                      </a:solidFill>
                    </a:lnL>
                    <a:lnR w="6350">
                      <a:solidFill>
                        <a:srgbClr val="E2E7F2"/>
                      </a:solidFill>
                    </a:lnR>
                    <a:lnT w="6350">
                      <a:solidFill>
                        <a:srgbClr val="E2E7F2"/>
                      </a:solidFill>
                    </a:lnT>
                    <a:lnB w="6350">
                      <a:solidFill>
                        <a:srgbClr val="E2E7F2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wrap="none"/>
                    <a:lstStyle/>
                    <a:p>
                      <a:pPr algn="r"/>
                      <a:r>
                        <a:rPr sz="850" b="0">
                          <a:solidFill>
                            <a:srgbClr val="595959"/>
                          </a:solidFill>
                          <a:latin typeface="Calibri"/>
                        </a:rPr>
                        <a:t>2,609</a:t>
                      </a:r>
                    </a:p>
                  </a:txBody>
                  <a:tcPr anchor="ctr" marL="27432" marR="27432" marT="4572" marB="4572">
                    <a:lnL w="6350">
                      <a:solidFill>
                        <a:srgbClr val="E2E7F2"/>
                      </a:solidFill>
                    </a:lnL>
                    <a:lnR w="6350">
                      <a:solidFill>
                        <a:srgbClr val="E2E7F2"/>
                      </a:solidFill>
                    </a:lnR>
                    <a:lnT w="6350">
                      <a:solidFill>
                        <a:srgbClr val="E2E7F2"/>
                      </a:solidFill>
                    </a:lnT>
                    <a:lnB w="6350">
                      <a:solidFill>
                        <a:srgbClr val="E2E7F2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wrap="none"/>
                    <a:lstStyle/>
                    <a:p>
                      <a:pPr algn="r"/>
                      <a:r>
                        <a:rPr sz="850" b="0">
                          <a:solidFill>
                            <a:srgbClr val="595959"/>
                          </a:solidFill>
                          <a:latin typeface="Calibri"/>
                        </a:rPr>
                        <a:t>2,208</a:t>
                      </a:r>
                    </a:p>
                  </a:txBody>
                  <a:tcPr anchor="ctr" marL="27432" marR="27432" marT="4572" marB="4572">
                    <a:lnL w="6350">
                      <a:solidFill>
                        <a:srgbClr val="E2E7F2"/>
                      </a:solidFill>
                    </a:lnL>
                    <a:lnR w="6350">
                      <a:solidFill>
                        <a:srgbClr val="E2E7F2"/>
                      </a:solidFill>
                    </a:lnR>
                    <a:lnT w="6350">
                      <a:solidFill>
                        <a:srgbClr val="E2E7F2"/>
                      </a:solidFill>
                    </a:lnT>
                    <a:lnB w="6350">
                      <a:solidFill>
                        <a:srgbClr val="E2E7F2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wrap="none"/>
                    <a:lstStyle/>
                    <a:p>
                      <a:pPr algn="r"/>
                      <a:r>
                        <a:rPr sz="850" b="0">
                          <a:solidFill>
                            <a:srgbClr val="595959"/>
                          </a:solidFill>
                          <a:latin typeface="Calibri"/>
                        </a:rPr>
                        <a:t>2,316</a:t>
                      </a:r>
                    </a:p>
                  </a:txBody>
                  <a:tcPr anchor="ctr" marL="27432" marR="27432" marT="4572" marB="4572">
                    <a:lnL w="6350">
                      <a:solidFill>
                        <a:srgbClr val="E2E7F2"/>
                      </a:solidFill>
                    </a:lnL>
                    <a:lnR w="6350">
                      <a:solidFill>
                        <a:srgbClr val="E2E7F2"/>
                      </a:solidFill>
                    </a:lnR>
                    <a:lnT w="6350">
                      <a:solidFill>
                        <a:srgbClr val="E2E7F2"/>
                      </a:solidFill>
                    </a:lnT>
                    <a:lnB w="6350">
                      <a:solidFill>
                        <a:srgbClr val="E2E7F2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wrap="none"/>
                    <a:lstStyle/>
                    <a:p>
                      <a:pPr algn="r"/>
                      <a:r>
                        <a:rPr sz="850" b="0">
                          <a:solidFill>
                            <a:srgbClr val="595959"/>
                          </a:solidFill>
                          <a:latin typeface="Calibri"/>
                        </a:rPr>
                        <a:t>2,940</a:t>
                      </a:r>
                    </a:p>
                  </a:txBody>
                  <a:tcPr anchor="ctr" marL="27432" marR="27432" marT="4572" marB="4572">
                    <a:lnL w="6350">
                      <a:solidFill>
                        <a:srgbClr val="E2E7F2"/>
                      </a:solidFill>
                    </a:lnL>
                    <a:lnR w="6350">
                      <a:solidFill>
                        <a:srgbClr val="E2E7F2"/>
                      </a:solidFill>
                    </a:lnR>
                    <a:lnT w="6350">
                      <a:solidFill>
                        <a:srgbClr val="E2E7F2"/>
                      </a:solidFill>
                    </a:lnT>
                    <a:lnB w="6350">
                      <a:solidFill>
                        <a:srgbClr val="E2E7F2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wrap="none"/>
                    <a:lstStyle/>
                    <a:p>
                      <a:pPr algn="r"/>
                      <a:r>
                        <a:rPr sz="850" b="0">
                          <a:solidFill>
                            <a:srgbClr val="595959"/>
                          </a:solidFill>
                          <a:latin typeface="Calibri"/>
                        </a:rPr>
                        <a:t>2,643</a:t>
                      </a:r>
                    </a:p>
                  </a:txBody>
                  <a:tcPr anchor="ctr" marL="27432" marR="27432" marT="4572" marB="4572">
                    <a:lnL w="6350">
                      <a:solidFill>
                        <a:srgbClr val="E2E7F2"/>
                      </a:solidFill>
                    </a:lnL>
                    <a:lnR w="6350">
                      <a:solidFill>
                        <a:srgbClr val="E2E7F2"/>
                      </a:solidFill>
                    </a:lnR>
                    <a:lnT w="6350">
                      <a:solidFill>
                        <a:srgbClr val="E2E7F2"/>
                      </a:solidFill>
                    </a:lnT>
                    <a:lnB w="6350">
                      <a:solidFill>
                        <a:srgbClr val="E2E7F2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wrap="none"/>
                    <a:lstStyle/>
                    <a:p>
                      <a:pPr algn="l"/>
                      <a:r>
                        <a:rPr sz="850" b="0">
                          <a:solidFill>
                            <a:srgbClr val="26292E"/>
                          </a:solidFill>
                          <a:latin typeface="Calibri"/>
                        </a:rPr>
                        <a:t/>
                      </a:r>
                    </a:p>
                  </a:txBody>
                  <a:tcPr anchor="ctr" marL="27432" marR="27432" marT="4572" marB="4572">
                    <a:lnL w="6350">
                      <a:solidFill>
                        <a:srgbClr val="E2E7F2"/>
                      </a:solidFill>
                    </a:lnL>
                    <a:lnR w="6350">
                      <a:solidFill>
                        <a:srgbClr val="E2E7F2"/>
                      </a:solidFill>
                    </a:lnR>
                    <a:lnT w="6350">
                      <a:solidFill>
                        <a:srgbClr val="E2E7F2"/>
                      </a:solidFill>
                    </a:lnT>
                    <a:lnB w="6350">
                      <a:solidFill>
                        <a:srgbClr val="E2E7F2"/>
                      </a:solidFill>
                    </a:lnB>
                    <a:solidFill>
                      <a:srgbClr val="FFFFFF"/>
                    </a:solidFill>
                  </a:tcPr>
                </a:tc>
              </a:tr>
              <a:tr h="214884">
                <a:tc>
                  <a:txBody>
                    <a:bodyPr wrap="none"/>
                    <a:lstStyle/>
                    <a:p>
                      <a:pPr algn="l"/>
                      <a:r>
                        <a:rPr sz="850" b="1">
                          <a:solidFill>
                            <a:srgbClr val="26292E"/>
                          </a:solidFill>
                          <a:latin typeface="Calibri"/>
                        </a:rPr>
                        <a:t>Online</a:t>
                      </a:r>
                    </a:p>
                  </a:txBody>
                  <a:tcPr anchor="ctr" marL="27432" marR="27432" marT="4572" marB="4572">
                    <a:lnL w="6350">
                      <a:solidFill>
                        <a:srgbClr val="E2E7F2"/>
                      </a:solidFill>
                    </a:lnL>
                    <a:lnR w="6350">
                      <a:solidFill>
                        <a:srgbClr val="E2E7F2"/>
                      </a:solidFill>
                    </a:lnR>
                    <a:lnT w="6350">
                      <a:solidFill>
                        <a:srgbClr val="E2E7F2"/>
                      </a:solidFill>
                    </a:lnT>
                    <a:lnB w="6350">
                      <a:solidFill>
                        <a:srgbClr val="E2E7F2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wrap="none"/>
                    <a:lstStyle/>
                    <a:p>
                      <a:pPr algn="r"/>
                      <a:r>
                        <a:rPr sz="850" b="0">
                          <a:solidFill>
                            <a:srgbClr val="26292E"/>
                          </a:solidFill>
                          <a:latin typeface="Calibri"/>
                        </a:rPr>
                        <a:t>4,617</a:t>
                      </a:r>
                    </a:p>
                  </a:txBody>
                  <a:tcPr anchor="ctr" marL="27432" marR="27432" marT="4572" marB="4572">
                    <a:lnL w="6350">
                      <a:solidFill>
                        <a:srgbClr val="E2E7F2"/>
                      </a:solidFill>
                    </a:lnL>
                    <a:lnR w="6350">
                      <a:solidFill>
                        <a:srgbClr val="E2E7F2"/>
                      </a:solidFill>
                    </a:lnR>
                    <a:lnT w="6350">
                      <a:solidFill>
                        <a:srgbClr val="E2E7F2"/>
                      </a:solidFill>
                    </a:lnT>
                    <a:lnB w="6350">
                      <a:solidFill>
                        <a:srgbClr val="E2E7F2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wrap="none"/>
                    <a:lstStyle/>
                    <a:p>
                      <a:pPr algn="r"/>
                      <a:r>
                        <a:rPr sz="850" b="0">
                          <a:solidFill>
                            <a:srgbClr val="26292E"/>
                          </a:solidFill>
                          <a:latin typeface="Calibri"/>
                        </a:rPr>
                        <a:t>4,788</a:t>
                      </a:r>
                    </a:p>
                  </a:txBody>
                  <a:tcPr anchor="ctr" marL="27432" marR="27432" marT="4572" marB="4572">
                    <a:lnL w="6350">
                      <a:solidFill>
                        <a:srgbClr val="E2E7F2"/>
                      </a:solidFill>
                    </a:lnL>
                    <a:lnR w="6350">
                      <a:solidFill>
                        <a:srgbClr val="E2E7F2"/>
                      </a:solidFill>
                    </a:lnR>
                    <a:lnT w="6350">
                      <a:solidFill>
                        <a:srgbClr val="E2E7F2"/>
                      </a:solidFill>
                    </a:lnT>
                    <a:lnB w="6350">
                      <a:solidFill>
                        <a:srgbClr val="E2E7F2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wrap="none"/>
                    <a:lstStyle/>
                    <a:p>
                      <a:pPr algn="r"/>
                      <a:r>
                        <a:rPr sz="850" b="0">
                          <a:solidFill>
                            <a:srgbClr val="26292E"/>
                          </a:solidFill>
                          <a:latin typeface="Calibri"/>
                        </a:rPr>
                        <a:t>3,799</a:t>
                      </a:r>
                    </a:p>
                  </a:txBody>
                  <a:tcPr anchor="ctr" marL="27432" marR="27432" marT="4572" marB="4572">
                    <a:lnL w="6350">
                      <a:solidFill>
                        <a:srgbClr val="E2E7F2"/>
                      </a:solidFill>
                    </a:lnL>
                    <a:lnR w="6350">
                      <a:solidFill>
                        <a:srgbClr val="E2E7F2"/>
                      </a:solidFill>
                    </a:lnR>
                    <a:lnT w="6350">
                      <a:solidFill>
                        <a:srgbClr val="E2E7F2"/>
                      </a:solidFill>
                    </a:lnT>
                    <a:lnB w="6350">
                      <a:solidFill>
                        <a:srgbClr val="E2E7F2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wrap="none"/>
                    <a:lstStyle/>
                    <a:p>
                      <a:pPr algn="r"/>
                      <a:r>
                        <a:rPr sz="850" b="0">
                          <a:solidFill>
                            <a:srgbClr val="26292E"/>
                          </a:solidFill>
                          <a:latin typeface="Calibri"/>
                        </a:rPr>
                        <a:t>3,955</a:t>
                      </a:r>
                    </a:p>
                  </a:txBody>
                  <a:tcPr anchor="ctr" marL="27432" marR="27432" marT="4572" marB="4572">
                    <a:lnL w="6350">
                      <a:solidFill>
                        <a:srgbClr val="E2E7F2"/>
                      </a:solidFill>
                    </a:lnL>
                    <a:lnR w="6350">
                      <a:solidFill>
                        <a:srgbClr val="E2E7F2"/>
                      </a:solidFill>
                    </a:lnR>
                    <a:lnT w="6350">
                      <a:solidFill>
                        <a:srgbClr val="E2E7F2"/>
                      </a:solidFill>
                    </a:lnT>
                    <a:lnB w="6350">
                      <a:solidFill>
                        <a:srgbClr val="E2E7F2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wrap="none"/>
                    <a:lstStyle/>
                    <a:p>
                      <a:pPr algn="r"/>
                      <a:r>
                        <a:rPr sz="850" b="0">
                          <a:solidFill>
                            <a:srgbClr val="26292E"/>
                          </a:solidFill>
                          <a:latin typeface="Calibri"/>
                        </a:rPr>
                        <a:t>3,702</a:t>
                      </a:r>
                    </a:p>
                  </a:txBody>
                  <a:tcPr anchor="ctr" marL="27432" marR="27432" marT="4572" marB="4572">
                    <a:lnL w="6350">
                      <a:solidFill>
                        <a:srgbClr val="E2E7F2"/>
                      </a:solidFill>
                    </a:lnL>
                    <a:lnR w="6350">
                      <a:solidFill>
                        <a:srgbClr val="E2E7F2"/>
                      </a:solidFill>
                    </a:lnR>
                    <a:lnT w="6350">
                      <a:solidFill>
                        <a:srgbClr val="E2E7F2"/>
                      </a:solidFill>
                    </a:lnT>
                    <a:lnB w="6350">
                      <a:solidFill>
                        <a:srgbClr val="E2E7F2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wrap="none"/>
                    <a:lstStyle/>
                    <a:p>
                      <a:pPr algn="r"/>
                      <a:r>
                        <a:rPr sz="850" b="0">
                          <a:solidFill>
                            <a:srgbClr val="26292E"/>
                          </a:solidFill>
                          <a:latin typeface="Calibri"/>
                        </a:rPr>
                        <a:t>3,766</a:t>
                      </a:r>
                    </a:p>
                  </a:txBody>
                  <a:tcPr anchor="ctr" marL="27432" marR="27432" marT="4572" marB="4572">
                    <a:lnL w="6350">
                      <a:solidFill>
                        <a:srgbClr val="E2E7F2"/>
                      </a:solidFill>
                    </a:lnL>
                    <a:lnR w="6350">
                      <a:solidFill>
                        <a:srgbClr val="E2E7F2"/>
                      </a:solidFill>
                    </a:lnR>
                    <a:lnT w="6350">
                      <a:solidFill>
                        <a:srgbClr val="E2E7F2"/>
                      </a:solidFill>
                    </a:lnT>
                    <a:lnB w="6350">
                      <a:solidFill>
                        <a:srgbClr val="E2E7F2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wrap="none"/>
                    <a:lstStyle/>
                    <a:p>
                      <a:pPr algn="r"/>
                      <a:r>
                        <a:rPr sz="850" b="1">
                          <a:solidFill>
                            <a:srgbClr val="26292E"/>
                          </a:solidFill>
                          <a:latin typeface="Calibri"/>
                        </a:rPr>
                        <a:t>4,145</a:t>
                      </a:r>
                    </a:p>
                  </a:txBody>
                  <a:tcPr anchor="ctr" marL="27432" marR="27432" marT="4572" marB="4572">
                    <a:lnL w="6350">
                      <a:solidFill>
                        <a:srgbClr val="E2E7F2"/>
                      </a:solidFill>
                    </a:lnL>
                    <a:lnR w="6350">
                      <a:solidFill>
                        <a:srgbClr val="E2E7F2"/>
                      </a:solidFill>
                    </a:lnR>
                    <a:lnT w="6350">
                      <a:solidFill>
                        <a:srgbClr val="E2E7F2"/>
                      </a:solidFill>
                    </a:lnT>
                    <a:lnB w="6350">
                      <a:solidFill>
                        <a:srgbClr val="E2E7F2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wrap="none"/>
                    <a:lstStyle/>
                    <a:p>
                      <a:pPr algn="r"/>
                      <a:r>
                        <a:rPr sz="850" b="1">
                          <a:solidFill>
                            <a:srgbClr val="C62828"/>
                          </a:solidFill>
                          <a:latin typeface="Calibri"/>
                        </a:rPr>
                        <a:t>-16.1%</a:t>
                      </a:r>
                    </a:p>
                  </a:txBody>
                  <a:tcPr anchor="ctr" marL="27432" marR="27432" marT="4572" marB="4572">
                    <a:lnL w="6350">
                      <a:solidFill>
                        <a:srgbClr val="E2E7F2"/>
                      </a:solidFill>
                    </a:lnL>
                    <a:lnR w="6350">
                      <a:solidFill>
                        <a:srgbClr val="E2E7F2"/>
                      </a:solidFill>
                    </a:lnR>
                    <a:lnT w="6350">
                      <a:solidFill>
                        <a:srgbClr val="E2E7F2"/>
                      </a:solidFill>
                    </a:lnT>
                    <a:lnB w="6350">
                      <a:solidFill>
                        <a:srgbClr val="E2E7F2"/>
                      </a:solidFill>
                    </a:lnB>
                    <a:solidFill>
                      <a:srgbClr val="FFFFFF"/>
                    </a:solidFill>
                  </a:tcPr>
                </a:tc>
              </a:tr>
              <a:tr h="214884">
                <a:tc>
                  <a:txBody>
                    <a:bodyPr wrap="none"/>
                    <a:lstStyle/>
                    <a:p>
                      <a:pPr algn="l"/>
                      <a:r>
                        <a:rPr sz="850" b="0">
                          <a:solidFill>
                            <a:srgbClr val="595959"/>
                          </a:solidFill>
                          <a:latin typeface="Calibri"/>
                        </a:rPr>
                        <a:t>   ’25</a:t>
                      </a:r>
                    </a:p>
                  </a:txBody>
                  <a:tcPr anchor="ctr" marL="27432" marR="27432" marT="4572" marB="4572">
                    <a:lnL w="6350">
                      <a:solidFill>
                        <a:srgbClr val="E2E7F2"/>
                      </a:solidFill>
                    </a:lnL>
                    <a:lnR w="6350">
                      <a:solidFill>
                        <a:srgbClr val="E2E7F2"/>
                      </a:solidFill>
                    </a:lnR>
                    <a:lnT w="6350">
                      <a:solidFill>
                        <a:srgbClr val="E2E7F2"/>
                      </a:solidFill>
                    </a:lnT>
                    <a:lnB w="6350">
                      <a:solidFill>
                        <a:srgbClr val="E2E7F2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wrap="none"/>
                    <a:lstStyle/>
                    <a:p>
                      <a:pPr algn="r"/>
                      <a:r>
                        <a:rPr sz="850" b="0">
                          <a:solidFill>
                            <a:srgbClr val="595959"/>
                          </a:solidFill>
                          <a:latin typeface="Calibri"/>
                        </a:rPr>
                        <a:t>6,251</a:t>
                      </a:r>
                    </a:p>
                  </a:txBody>
                  <a:tcPr anchor="ctr" marL="27432" marR="27432" marT="4572" marB="4572">
                    <a:lnL w="6350">
                      <a:solidFill>
                        <a:srgbClr val="E2E7F2"/>
                      </a:solidFill>
                    </a:lnL>
                    <a:lnR w="6350">
                      <a:solidFill>
                        <a:srgbClr val="E2E7F2"/>
                      </a:solidFill>
                    </a:lnR>
                    <a:lnT w="6350">
                      <a:solidFill>
                        <a:srgbClr val="E2E7F2"/>
                      </a:solidFill>
                    </a:lnT>
                    <a:lnB w="6350">
                      <a:solidFill>
                        <a:srgbClr val="E2E7F2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wrap="none"/>
                    <a:lstStyle/>
                    <a:p>
                      <a:pPr algn="r"/>
                      <a:r>
                        <a:rPr sz="850" b="0">
                          <a:solidFill>
                            <a:srgbClr val="595959"/>
                          </a:solidFill>
                          <a:latin typeface="Calibri"/>
                        </a:rPr>
                        <a:t>5,217</a:t>
                      </a:r>
                    </a:p>
                  </a:txBody>
                  <a:tcPr anchor="ctr" marL="27432" marR="27432" marT="4572" marB="4572">
                    <a:lnL w="6350">
                      <a:solidFill>
                        <a:srgbClr val="E2E7F2"/>
                      </a:solidFill>
                    </a:lnL>
                    <a:lnR w="6350">
                      <a:solidFill>
                        <a:srgbClr val="E2E7F2"/>
                      </a:solidFill>
                    </a:lnR>
                    <a:lnT w="6350">
                      <a:solidFill>
                        <a:srgbClr val="E2E7F2"/>
                      </a:solidFill>
                    </a:lnT>
                    <a:lnB w="6350">
                      <a:solidFill>
                        <a:srgbClr val="E2E7F2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wrap="none"/>
                    <a:lstStyle/>
                    <a:p>
                      <a:pPr algn="r"/>
                      <a:r>
                        <a:rPr sz="850" b="0">
                          <a:solidFill>
                            <a:srgbClr val="595959"/>
                          </a:solidFill>
                          <a:latin typeface="Calibri"/>
                        </a:rPr>
                        <a:t>4,921</a:t>
                      </a:r>
                    </a:p>
                  </a:txBody>
                  <a:tcPr anchor="ctr" marL="27432" marR="27432" marT="4572" marB="4572">
                    <a:lnL w="6350">
                      <a:solidFill>
                        <a:srgbClr val="E2E7F2"/>
                      </a:solidFill>
                    </a:lnL>
                    <a:lnR w="6350">
                      <a:solidFill>
                        <a:srgbClr val="E2E7F2"/>
                      </a:solidFill>
                    </a:lnR>
                    <a:lnT w="6350">
                      <a:solidFill>
                        <a:srgbClr val="E2E7F2"/>
                      </a:solidFill>
                    </a:lnT>
                    <a:lnB w="6350">
                      <a:solidFill>
                        <a:srgbClr val="E2E7F2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wrap="none"/>
                    <a:lstStyle/>
                    <a:p>
                      <a:pPr algn="r"/>
                      <a:r>
                        <a:rPr sz="850" b="0">
                          <a:solidFill>
                            <a:srgbClr val="595959"/>
                          </a:solidFill>
                          <a:latin typeface="Calibri"/>
                        </a:rPr>
                        <a:t>4,643</a:t>
                      </a:r>
                    </a:p>
                  </a:txBody>
                  <a:tcPr anchor="ctr" marL="27432" marR="27432" marT="4572" marB="4572">
                    <a:lnL w="6350">
                      <a:solidFill>
                        <a:srgbClr val="E2E7F2"/>
                      </a:solidFill>
                    </a:lnL>
                    <a:lnR w="6350">
                      <a:solidFill>
                        <a:srgbClr val="E2E7F2"/>
                      </a:solidFill>
                    </a:lnR>
                    <a:lnT w="6350">
                      <a:solidFill>
                        <a:srgbClr val="E2E7F2"/>
                      </a:solidFill>
                    </a:lnT>
                    <a:lnB w="6350">
                      <a:solidFill>
                        <a:srgbClr val="E2E7F2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wrap="none"/>
                    <a:lstStyle/>
                    <a:p>
                      <a:pPr algn="r"/>
                      <a:r>
                        <a:rPr sz="850" b="0">
                          <a:solidFill>
                            <a:srgbClr val="595959"/>
                          </a:solidFill>
                          <a:latin typeface="Calibri"/>
                        </a:rPr>
                        <a:t>4,262</a:t>
                      </a:r>
                    </a:p>
                  </a:txBody>
                  <a:tcPr anchor="ctr" marL="27432" marR="27432" marT="4572" marB="4572">
                    <a:lnL w="6350">
                      <a:solidFill>
                        <a:srgbClr val="E2E7F2"/>
                      </a:solidFill>
                    </a:lnL>
                    <a:lnR w="6350">
                      <a:solidFill>
                        <a:srgbClr val="E2E7F2"/>
                      </a:solidFill>
                    </a:lnR>
                    <a:lnT w="6350">
                      <a:solidFill>
                        <a:srgbClr val="E2E7F2"/>
                      </a:solidFill>
                    </a:lnT>
                    <a:lnB w="6350">
                      <a:solidFill>
                        <a:srgbClr val="E2E7F2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wrap="none"/>
                    <a:lstStyle/>
                    <a:p>
                      <a:pPr algn="r"/>
                      <a:r>
                        <a:rPr sz="850" b="0">
                          <a:solidFill>
                            <a:srgbClr val="595959"/>
                          </a:solidFill>
                          <a:latin typeface="Calibri"/>
                        </a:rPr>
                        <a:t>3,757</a:t>
                      </a:r>
                    </a:p>
                  </a:txBody>
                  <a:tcPr anchor="ctr" marL="27432" marR="27432" marT="4572" marB="4572">
                    <a:lnL w="6350">
                      <a:solidFill>
                        <a:srgbClr val="E2E7F2"/>
                      </a:solidFill>
                    </a:lnL>
                    <a:lnR w="6350">
                      <a:solidFill>
                        <a:srgbClr val="E2E7F2"/>
                      </a:solidFill>
                    </a:lnR>
                    <a:lnT w="6350">
                      <a:solidFill>
                        <a:srgbClr val="E2E7F2"/>
                      </a:solidFill>
                    </a:lnT>
                    <a:lnB w="6350">
                      <a:solidFill>
                        <a:srgbClr val="E2E7F2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wrap="none"/>
                    <a:lstStyle/>
                    <a:p>
                      <a:pPr algn="r"/>
                      <a:r>
                        <a:rPr sz="850" b="0">
                          <a:solidFill>
                            <a:srgbClr val="595959"/>
                          </a:solidFill>
                          <a:latin typeface="Calibri"/>
                        </a:rPr>
                        <a:t>4,940</a:t>
                      </a:r>
                    </a:p>
                  </a:txBody>
                  <a:tcPr anchor="ctr" marL="27432" marR="27432" marT="4572" marB="4572">
                    <a:lnL w="6350">
                      <a:solidFill>
                        <a:srgbClr val="E2E7F2"/>
                      </a:solidFill>
                    </a:lnL>
                    <a:lnR w="6350">
                      <a:solidFill>
                        <a:srgbClr val="E2E7F2"/>
                      </a:solidFill>
                    </a:lnR>
                    <a:lnT w="6350">
                      <a:solidFill>
                        <a:srgbClr val="E2E7F2"/>
                      </a:solidFill>
                    </a:lnT>
                    <a:lnB w="6350">
                      <a:solidFill>
                        <a:srgbClr val="E2E7F2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wrap="none"/>
                    <a:lstStyle/>
                    <a:p>
                      <a:pPr algn="l"/>
                      <a:r>
                        <a:rPr sz="850" b="0">
                          <a:solidFill>
                            <a:srgbClr val="26292E"/>
                          </a:solidFill>
                          <a:latin typeface="Calibri"/>
                        </a:rPr>
                        <a:t/>
                      </a:r>
                    </a:p>
                  </a:txBody>
                  <a:tcPr anchor="ctr" marL="27432" marR="27432" marT="4572" marB="4572">
                    <a:lnL w="6350">
                      <a:solidFill>
                        <a:srgbClr val="E2E7F2"/>
                      </a:solidFill>
                    </a:lnL>
                    <a:lnR w="6350">
                      <a:solidFill>
                        <a:srgbClr val="E2E7F2"/>
                      </a:solidFill>
                    </a:lnR>
                    <a:lnT w="6350">
                      <a:solidFill>
                        <a:srgbClr val="E2E7F2"/>
                      </a:solidFill>
                    </a:lnT>
                    <a:lnB w="6350">
                      <a:solidFill>
                        <a:srgbClr val="E2E7F2"/>
                      </a:solidFill>
                    </a:lnB>
                    <a:solidFill>
                      <a:srgbClr val="FFFFFF"/>
                    </a:solidFill>
                  </a:tcPr>
                </a:tc>
              </a:tr>
              <a:tr h="214884">
                <a:tc>
                  <a:txBody>
                    <a:bodyPr wrap="none"/>
                    <a:lstStyle/>
                    <a:p>
                      <a:pPr algn="l"/>
                      <a:r>
                        <a:rPr sz="850" b="1">
                          <a:solidFill>
                            <a:srgbClr val="26292E"/>
                          </a:solidFill>
                          <a:latin typeface="Calibri"/>
                        </a:rPr>
                        <a:t>ASR</a:t>
                      </a:r>
                    </a:p>
                  </a:txBody>
                  <a:tcPr anchor="ctr" marL="27432" marR="27432" marT="4572" marB="4572">
                    <a:lnL w="6350">
                      <a:solidFill>
                        <a:srgbClr val="E2E7F2"/>
                      </a:solidFill>
                    </a:lnL>
                    <a:lnR w="6350">
                      <a:solidFill>
                        <a:srgbClr val="E2E7F2"/>
                      </a:solidFill>
                    </a:lnR>
                    <a:lnT w="6350">
                      <a:solidFill>
                        <a:srgbClr val="E2E7F2"/>
                      </a:solidFill>
                    </a:lnT>
                    <a:lnB w="6350">
                      <a:solidFill>
                        <a:srgbClr val="E2E7F2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wrap="none"/>
                    <a:lstStyle/>
                    <a:p>
                      <a:pPr algn="r"/>
                      <a:r>
                        <a:rPr sz="850" b="0">
                          <a:solidFill>
                            <a:srgbClr val="26292E"/>
                          </a:solidFill>
                          <a:latin typeface="Calibri"/>
                        </a:rPr>
                        <a:t>4,875</a:t>
                      </a:r>
                    </a:p>
                  </a:txBody>
                  <a:tcPr anchor="ctr" marL="27432" marR="27432" marT="4572" marB="4572">
                    <a:lnL w="6350">
                      <a:solidFill>
                        <a:srgbClr val="E2E7F2"/>
                      </a:solidFill>
                    </a:lnL>
                    <a:lnR w="6350">
                      <a:solidFill>
                        <a:srgbClr val="E2E7F2"/>
                      </a:solidFill>
                    </a:lnR>
                    <a:lnT w="6350">
                      <a:solidFill>
                        <a:srgbClr val="E2E7F2"/>
                      </a:solidFill>
                    </a:lnT>
                    <a:lnB w="6350">
                      <a:solidFill>
                        <a:srgbClr val="E2E7F2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wrap="none"/>
                    <a:lstStyle/>
                    <a:p>
                      <a:pPr algn="r"/>
                      <a:r>
                        <a:rPr sz="850" b="0">
                          <a:solidFill>
                            <a:srgbClr val="26292E"/>
                          </a:solidFill>
                          <a:latin typeface="Calibri"/>
                        </a:rPr>
                        <a:t>4,949</a:t>
                      </a:r>
                    </a:p>
                  </a:txBody>
                  <a:tcPr anchor="ctr" marL="27432" marR="27432" marT="4572" marB="4572">
                    <a:lnL w="6350">
                      <a:solidFill>
                        <a:srgbClr val="E2E7F2"/>
                      </a:solidFill>
                    </a:lnL>
                    <a:lnR w="6350">
                      <a:solidFill>
                        <a:srgbClr val="E2E7F2"/>
                      </a:solidFill>
                    </a:lnR>
                    <a:lnT w="6350">
                      <a:solidFill>
                        <a:srgbClr val="E2E7F2"/>
                      </a:solidFill>
                    </a:lnT>
                    <a:lnB w="6350">
                      <a:solidFill>
                        <a:srgbClr val="E2E7F2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wrap="none"/>
                    <a:lstStyle/>
                    <a:p>
                      <a:pPr algn="r"/>
                      <a:r>
                        <a:rPr sz="850" b="0">
                          <a:solidFill>
                            <a:srgbClr val="26292E"/>
                          </a:solidFill>
                          <a:latin typeface="Calibri"/>
                        </a:rPr>
                        <a:t>4,160</a:t>
                      </a:r>
                    </a:p>
                  </a:txBody>
                  <a:tcPr anchor="ctr" marL="27432" marR="27432" marT="4572" marB="4572">
                    <a:lnL w="6350">
                      <a:solidFill>
                        <a:srgbClr val="E2E7F2"/>
                      </a:solidFill>
                    </a:lnL>
                    <a:lnR w="6350">
                      <a:solidFill>
                        <a:srgbClr val="E2E7F2"/>
                      </a:solidFill>
                    </a:lnR>
                    <a:lnT w="6350">
                      <a:solidFill>
                        <a:srgbClr val="E2E7F2"/>
                      </a:solidFill>
                    </a:lnT>
                    <a:lnB w="6350">
                      <a:solidFill>
                        <a:srgbClr val="E2E7F2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wrap="none"/>
                    <a:lstStyle/>
                    <a:p>
                      <a:pPr algn="r"/>
                      <a:r>
                        <a:rPr sz="850" b="0">
                          <a:solidFill>
                            <a:srgbClr val="26292E"/>
                          </a:solidFill>
                          <a:latin typeface="Calibri"/>
                        </a:rPr>
                        <a:t>4,306</a:t>
                      </a:r>
                    </a:p>
                  </a:txBody>
                  <a:tcPr anchor="ctr" marL="27432" marR="27432" marT="4572" marB="4572">
                    <a:lnL w="6350">
                      <a:solidFill>
                        <a:srgbClr val="E2E7F2"/>
                      </a:solidFill>
                    </a:lnL>
                    <a:lnR w="6350">
                      <a:solidFill>
                        <a:srgbClr val="E2E7F2"/>
                      </a:solidFill>
                    </a:lnR>
                    <a:lnT w="6350">
                      <a:solidFill>
                        <a:srgbClr val="E2E7F2"/>
                      </a:solidFill>
                    </a:lnT>
                    <a:lnB w="6350">
                      <a:solidFill>
                        <a:srgbClr val="E2E7F2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wrap="none"/>
                    <a:lstStyle/>
                    <a:p>
                      <a:pPr algn="r"/>
                      <a:r>
                        <a:rPr sz="850" b="0">
                          <a:solidFill>
                            <a:srgbClr val="26292E"/>
                          </a:solidFill>
                          <a:latin typeface="Calibri"/>
                        </a:rPr>
                        <a:t>3,935</a:t>
                      </a:r>
                    </a:p>
                  </a:txBody>
                  <a:tcPr anchor="ctr" marL="27432" marR="27432" marT="4572" marB="4572">
                    <a:lnL w="6350">
                      <a:solidFill>
                        <a:srgbClr val="E2E7F2"/>
                      </a:solidFill>
                    </a:lnL>
                    <a:lnR w="6350">
                      <a:solidFill>
                        <a:srgbClr val="E2E7F2"/>
                      </a:solidFill>
                    </a:lnR>
                    <a:lnT w="6350">
                      <a:solidFill>
                        <a:srgbClr val="E2E7F2"/>
                      </a:solidFill>
                    </a:lnT>
                    <a:lnB w="6350">
                      <a:solidFill>
                        <a:srgbClr val="E2E7F2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wrap="none"/>
                    <a:lstStyle/>
                    <a:p>
                      <a:pPr algn="r"/>
                      <a:r>
                        <a:rPr sz="850" b="0">
                          <a:solidFill>
                            <a:srgbClr val="26292E"/>
                          </a:solidFill>
                          <a:latin typeface="Calibri"/>
                        </a:rPr>
                        <a:t>3,903</a:t>
                      </a:r>
                    </a:p>
                  </a:txBody>
                  <a:tcPr anchor="ctr" marL="27432" marR="27432" marT="4572" marB="4572">
                    <a:lnL w="6350">
                      <a:solidFill>
                        <a:srgbClr val="E2E7F2"/>
                      </a:solidFill>
                    </a:lnL>
                    <a:lnR w="6350">
                      <a:solidFill>
                        <a:srgbClr val="E2E7F2"/>
                      </a:solidFill>
                    </a:lnR>
                    <a:lnT w="6350">
                      <a:solidFill>
                        <a:srgbClr val="E2E7F2"/>
                      </a:solidFill>
                    </a:lnT>
                    <a:lnB w="6350">
                      <a:solidFill>
                        <a:srgbClr val="E2E7F2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wrap="none"/>
                    <a:lstStyle/>
                    <a:p>
                      <a:pPr algn="r"/>
                      <a:r>
                        <a:rPr sz="850" b="1">
                          <a:solidFill>
                            <a:srgbClr val="26292E"/>
                          </a:solidFill>
                          <a:latin typeface="Calibri"/>
                        </a:rPr>
                        <a:t>4,382</a:t>
                      </a:r>
                    </a:p>
                  </a:txBody>
                  <a:tcPr anchor="ctr" marL="27432" marR="27432" marT="4572" marB="4572">
                    <a:lnL w="6350">
                      <a:solidFill>
                        <a:srgbClr val="E2E7F2"/>
                      </a:solidFill>
                    </a:lnL>
                    <a:lnR w="6350">
                      <a:solidFill>
                        <a:srgbClr val="E2E7F2"/>
                      </a:solidFill>
                    </a:lnR>
                    <a:lnT w="6350">
                      <a:solidFill>
                        <a:srgbClr val="E2E7F2"/>
                      </a:solidFill>
                    </a:lnT>
                    <a:lnB w="6350">
                      <a:solidFill>
                        <a:srgbClr val="E2E7F2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wrap="none"/>
                    <a:lstStyle/>
                    <a:p>
                      <a:pPr algn="r"/>
                      <a:r>
                        <a:rPr sz="850" b="1">
                          <a:solidFill>
                            <a:srgbClr val="C62828"/>
                          </a:solidFill>
                          <a:latin typeface="Calibri"/>
                        </a:rPr>
                        <a:t>-5.5%</a:t>
                      </a:r>
                    </a:p>
                  </a:txBody>
                  <a:tcPr anchor="ctr" marL="27432" marR="27432" marT="4572" marB="4572">
                    <a:lnL w="6350">
                      <a:solidFill>
                        <a:srgbClr val="E2E7F2"/>
                      </a:solidFill>
                    </a:lnL>
                    <a:lnR w="6350">
                      <a:solidFill>
                        <a:srgbClr val="E2E7F2"/>
                      </a:solidFill>
                    </a:lnR>
                    <a:lnT w="6350">
                      <a:solidFill>
                        <a:srgbClr val="E2E7F2"/>
                      </a:solidFill>
                    </a:lnT>
                    <a:lnB w="6350">
                      <a:solidFill>
                        <a:srgbClr val="E2E7F2"/>
                      </a:solidFill>
                    </a:lnB>
                    <a:solidFill>
                      <a:srgbClr val="FFFFFF"/>
                    </a:solidFill>
                  </a:tcPr>
                </a:tc>
              </a:tr>
              <a:tr h="214884">
                <a:tc>
                  <a:txBody>
                    <a:bodyPr wrap="none"/>
                    <a:lstStyle/>
                    <a:p>
                      <a:pPr algn="l"/>
                      <a:r>
                        <a:rPr sz="850" b="0">
                          <a:solidFill>
                            <a:srgbClr val="595959"/>
                          </a:solidFill>
                          <a:latin typeface="Calibri"/>
                        </a:rPr>
                        <a:t>   ’25</a:t>
                      </a:r>
                    </a:p>
                  </a:txBody>
                  <a:tcPr anchor="ctr" marL="27432" marR="27432" marT="4572" marB="4572">
                    <a:lnL w="6350">
                      <a:solidFill>
                        <a:srgbClr val="E2E7F2"/>
                      </a:solidFill>
                    </a:lnL>
                    <a:lnR w="6350">
                      <a:solidFill>
                        <a:srgbClr val="E2E7F2"/>
                      </a:solidFill>
                    </a:lnR>
                    <a:lnT w="6350">
                      <a:solidFill>
                        <a:srgbClr val="E2E7F2"/>
                      </a:solidFill>
                    </a:lnT>
                    <a:lnB w="6350">
                      <a:solidFill>
                        <a:srgbClr val="E2E7F2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wrap="none"/>
                    <a:lstStyle/>
                    <a:p>
                      <a:pPr algn="r"/>
                      <a:r>
                        <a:rPr sz="850" b="0">
                          <a:solidFill>
                            <a:srgbClr val="595959"/>
                          </a:solidFill>
                          <a:latin typeface="Calibri"/>
                        </a:rPr>
                        <a:t>5,787</a:t>
                      </a:r>
                    </a:p>
                  </a:txBody>
                  <a:tcPr anchor="ctr" marL="27432" marR="27432" marT="4572" marB="4572">
                    <a:lnL w="6350">
                      <a:solidFill>
                        <a:srgbClr val="E2E7F2"/>
                      </a:solidFill>
                    </a:lnL>
                    <a:lnR w="6350">
                      <a:solidFill>
                        <a:srgbClr val="E2E7F2"/>
                      </a:solidFill>
                    </a:lnR>
                    <a:lnT w="6350">
                      <a:solidFill>
                        <a:srgbClr val="E2E7F2"/>
                      </a:solidFill>
                    </a:lnT>
                    <a:lnB w="6350">
                      <a:solidFill>
                        <a:srgbClr val="E2E7F2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wrap="none"/>
                    <a:lstStyle/>
                    <a:p>
                      <a:pPr algn="r"/>
                      <a:r>
                        <a:rPr sz="850" b="0">
                          <a:solidFill>
                            <a:srgbClr val="595959"/>
                          </a:solidFill>
                          <a:latin typeface="Calibri"/>
                        </a:rPr>
                        <a:t>5,167</a:t>
                      </a:r>
                    </a:p>
                  </a:txBody>
                  <a:tcPr anchor="ctr" marL="27432" marR="27432" marT="4572" marB="4572">
                    <a:lnL w="6350">
                      <a:solidFill>
                        <a:srgbClr val="E2E7F2"/>
                      </a:solidFill>
                    </a:lnL>
                    <a:lnR w="6350">
                      <a:solidFill>
                        <a:srgbClr val="E2E7F2"/>
                      </a:solidFill>
                    </a:lnR>
                    <a:lnT w="6350">
                      <a:solidFill>
                        <a:srgbClr val="E2E7F2"/>
                      </a:solidFill>
                    </a:lnT>
                    <a:lnB w="6350">
                      <a:solidFill>
                        <a:srgbClr val="E2E7F2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wrap="none"/>
                    <a:lstStyle/>
                    <a:p>
                      <a:pPr algn="r"/>
                      <a:r>
                        <a:rPr sz="850" b="0">
                          <a:solidFill>
                            <a:srgbClr val="595959"/>
                          </a:solidFill>
                          <a:latin typeface="Calibri"/>
                        </a:rPr>
                        <a:t>4,829</a:t>
                      </a:r>
                    </a:p>
                  </a:txBody>
                  <a:tcPr anchor="ctr" marL="27432" marR="27432" marT="4572" marB="4572">
                    <a:lnL w="6350">
                      <a:solidFill>
                        <a:srgbClr val="E2E7F2"/>
                      </a:solidFill>
                    </a:lnL>
                    <a:lnR w="6350">
                      <a:solidFill>
                        <a:srgbClr val="E2E7F2"/>
                      </a:solidFill>
                    </a:lnR>
                    <a:lnT w="6350">
                      <a:solidFill>
                        <a:srgbClr val="E2E7F2"/>
                      </a:solidFill>
                    </a:lnT>
                    <a:lnB w="6350">
                      <a:solidFill>
                        <a:srgbClr val="E2E7F2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wrap="none"/>
                    <a:lstStyle/>
                    <a:p>
                      <a:pPr algn="r"/>
                      <a:r>
                        <a:rPr sz="850" b="0">
                          <a:solidFill>
                            <a:srgbClr val="595959"/>
                          </a:solidFill>
                          <a:latin typeface="Calibri"/>
                        </a:rPr>
                        <a:t>4,477</a:t>
                      </a:r>
                    </a:p>
                  </a:txBody>
                  <a:tcPr anchor="ctr" marL="27432" marR="27432" marT="4572" marB="4572">
                    <a:lnL w="6350">
                      <a:solidFill>
                        <a:srgbClr val="E2E7F2"/>
                      </a:solidFill>
                    </a:lnL>
                    <a:lnR w="6350">
                      <a:solidFill>
                        <a:srgbClr val="E2E7F2"/>
                      </a:solidFill>
                    </a:lnR>
                    <a:lnT w="6350">
                      <a:solidFill>
                        <a:srgbClr val="E2E7F2"/>
                      </a:solidFill>
                    </a:lnT>
                    <a:lnB w="6350">
                      <a:solidFill>
                        <a:srgbClr val="E2E7F2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wrap="none"/>
                    <a:lstStyle/>
                    <a:p>
                      <a:pPr algn="r"/>
                      <a:r>
                        <a:rPr sz="850" b="0">
                          <a:solidFill>
                            <a:srgbClr val="595959"/>
                          </a:solidFill>
                          <a:latin typeface="Calibri"/>
                        </a:rPr>
                        <a:t>4,226</a:t>
                      </a:r>
                    </a:p>
                  </a:txBody>
                  <a:tcPr anchor="ctr" marL="27432" marR="27432" marT="4572" marB="4572">
                    <a:lnL w="6350">
                      <a:solidFill>
                        <a:srgbClr val="E2E7F2"/>
                      </a:solidFill>
                    </a:lnL>
                    <a:lnR w="6350">
                      <a:solidFill>
                        <a:srgbClr val="E2E7F2"/>
                      </a:solidFill>
                    </a:lnR>
                    <a:lnT w="6350">
                      <a:solidFill>
                        <a:srgbClr val="E2E7F2"/>
                      </a:solidFill>
                    </a:lnT>
                    <a:lnB w="6350">
                      <a:solidFill>
                        <a:srgbClr val="E2E7F2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wrap="none"/>
                    <a:lstStyle/>
                    <a:p>
                      <a:pPr algn="r"/>
                      <a:r>
                        <a:rPr sz="850" b="0">
                          <a:solidFill>
                            <a:srgbClr val="595959"/>
                          </a:solidFill>
                          <a:latin typeface="Calibri"/>
                        </a:rPr>
                        <a:t>3,895</a:t>
                      </a:r>
                    </a:p>
                  </a:txBody>
                  <a:tcPr anchor="ctr" marL="27432" marR="27432" marT="4572" marB="4572">
                    <a:lnL w="6350">
                      <a:solidFill>
                        <a:srgbClr val="E2E7F2"/>
                      </a:solidFill>
                    </a:lnL>
                    <a:lnR w="6350">
                      <a:solidFill>
                        <a:srgbClr val="E2E7F2"/>
                      </a:solidFill>
                    </a:lnR>
                    <a:lnT w="6350">
                      <a:solidFill>
                        <a:srgbClr val="E2E7F2"/>
                      </a:solidFill>
                    </a:lnT>
                    <a:lnB w="6350">
                      <a:solidFill>
                        <a:srgbClr val="E2E7F2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wrap="none"/>
                    <a:lstStyle/>
                    <a:p>
                      <a:pPr algn="r"/>
                      <a:r>
                        <a:rPr sz="850" b="0">
                          <a:solidFill>
                            <a:srgbClr val="595959"/>
                          </a:solidFill>
                          <a:latin typeface="Calibri"/>
                        </a:rPr>
                        <a:t>4,640</a:t>
                      </a:r>
                    </a:p>
                  </a:txBody>
                  <a:tcPr anchor="ctr" marL="27432" marR="27432" marT="4572" marB="4572">
                    <a:lnL w="6350">
                      <a:solidFill>
                        <a:srgbClr val="E2E7F2"/>
                      </a:solidFill>
                    </a:lnL>
                    <a:lnR w="6350">
                      <a:solidFill>
                        <a:srgbClr val="E2E7F2"/>
                      </a:solidFill>
                    </a:lnR>
                    <a:lnT w="6350">
                      <a:solidFill>
                        <a:srgbClr val="E2E7F2"/>
                      </a:solidFill>
                    </a:lnT>
                    <a:lnB w="6350">
                      <a:solidFill>
                        <a:srgbClr val="E2E7F2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wrap="none"/>
                    <a:lstStyle/>
                    <a:p>
                      <a:pPr algn="l"/>
                      <a:r>
                        <a:rPr sz="850" b="0">
                          <a:solidFill>
                            <a:srgbClr val="26292E"/>
                          </a:solidFill>
                          <a:latin typeface="Calibri"/>
                        </a:rPr>
                        <a:t/>
                      </a:r>
                    </a:p>
                  </a:txBody>
                  <a:tcPr anchor="ctr" marL="27432" marR="27432" marT="4572" marB="4572">
                    <a:lnL w="6350">
                      <a:solidFill>
                        <a:srgbClr val="E2E7F2"/>
                      </a:solidFill>
                    </a:lnL>
                    <a:lnR w="6350">
                      <a:solidFill>
                        <a:srgbClr val="E2E7F2"/>
                      </a:solidFill>
                    </a:lnR>
                    <a:lnT w="6350">
                      <a:solidFill>
                        <a:srgbClr val="E2E7F2"/>
                      </a:solidFill>
                    </a:lnT>
                    <a:lnB w="6350">
                      <a:solidFill>
                        <a:srgbClr val="E2E7F2"/>
                      </a:solidFill>
                    </a:lnB>
                    <a:solidFill>
                      <a:srgbClr val="FFFFFF"/>
                    </a:solidFill>
                  </a:tcPr>
                </a:tc>
              </a:tr>
              <a:tr h="214884">
                <a:tc>
                  <a:txBody>
                    <a:bodyPr wrap="none"/>
                    <a:lstStyle/>
                    <a:p>
                      <a:pPr algn="l"/>
                      <a:r>
                        <a:rPr sz="850" b="1">
                          <a:solidFill>
                            <a:srgbClr val="26292E"/>
                          </a:solidFill>
                          <a:latin typeface="Calibri"/>
                        </a:rPr>
                        <a:t>Wholesale</a:t>
                      </a:r>
                    </a:p>
                  </a:txBody>
                  <a:tcPr anchor="ctr" marL="27432" marR="27432" marT="4572" marB="4572">
                    <a:lnL w="6350">
                      <a:solidFill>
                        <a:srgbClr val="E2E7F2"/>
                      </a:solidFill>
                    </a:lnL>
                    <a:lnR w="6350">
                      <a:solidFill>
                        <a:srgbClr val="E2E7F2"/>
                      </a:solidFill>
                    </a:lnR>
                    <a:lnT w="6350">
                      <a:solidFill>
                        <a:srgbClr val="E2E7F2"/>
                      </a:solidFill>
                    </a:lnT>
                    <a:lnB w="6350">
                      <a:solidFill>
                        <a:srgbClr val="E2E7F2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wrap="none"/>
                    <a:lstStyle/>
                    <a:p>
                      <a:pPr algn="r"/>
                      <a:r>
                        <a:rPr sz="850" b="0">
                          <a:solidFill>
                            <a:srgbClr val="26292E"/>
                          </a:solidFill>
                          <a:latin typeface="Calibri"/>
                        </a:rPr>
                        <a:t>3,060</a:t>
                      </a:r>
                    </a:p>
                  </a:txBody>
                  <a:tcPr anchor="ctr" marL="27432" marR="27432" marT="4572" marB="4572">
                    <a:lnL w="6350">
                      <a:solidFill>
                        <a:srgbClr val="E2E7F2"/>
                      </a:solidFill>
                    </a:lnL>
                    <a:lnR w="6350">
                      <a:solidFill>
                        <a:srgbClr val="E2E7F2"/>
                      </a:solidFill>
                    </a:lnR>
                    <a:lnT w="6350">
                      <a:solidFill>
                        <a:srgbClr val="E2E7F2"/>
                      </a:solidFill>
                    </a:lnT>
                    <a:lnB w="6350">
                      <a:solidFill>
                        <a:srgbClr val="E2E7F2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wrap="none"/>
                    <a:lstStyle/>
                    <a:p>
                      <a:pPr algn="r"/>
                      <a:r>
                        <a:rPr sz="850" b="0">
                          <a:solidFill>
                            <a:srgbClr val="26292E"/>
                          </a:solidFill>
                          <a:latin typeface="Calibri"/>
                        </a:rPr>
                        <a:t>3,262</a:t>
                      </a:r>
                    </a:p>
                  </a:txBody>
                  <a:tcPr anchor="ctr" marL="27432" marR="27432" marT="4572" marB="4572">
                    <a:lnL w="6350">
                      <a:solidFill>
                        <a:srgbClr val="E2E7F2"/>
                      </a:solidFill>
                    </a:lnL>
                    <a:lnR w="6350">
                      <a:solidFill>
                        <a:srgbClr val="E2E7F2"/>
                      </a:solidFill>
                    </a:lnR>
                    <a:lnT w="6350">
                      <a:solidFill>
                        <a:srgbClr val="E2E7F2"/>
                      </a:solidFill>
                    </a:lnT>
                    <a:lnB w="6350">
                      <a:solidFill>
                        <a:srgbClr val="E2E7F2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wrap="none"/>
                    <a:lstStyle/>
                    <a:p>
                      <a:pPr algn="r"/>
                      <a:r>
                        <a:rPr sz="850" b="0">
                          <a:solidFill>
                            <a:srgbClr val="26292E"/>
                          </a:solidFill>
                          <a:latin typeface="Calibri"/>
                        </a:rPr>
                        <a:t>3,141</a:t>
                      </a:r>
                    </a:p>
                  </a:txBody>
                  <a:tcPr anchor="ctr" marL="27432" marR="27432" marT="4572" marB="4572">
                    <a:lnL w="6350">
                      <a:solidFill>
                        <a:srgbClr val="E2E7F2"/>
                      </a:solidFill>
                    </a:lnL>
                    <a:lnR w="6350">
                      <a:solidFill>
                        <a:srgbClr val="E2E7F2"/>
                      </a:solidFill>
                    </a:lnR>
                    <a:lnT w="6350">
                      <a:solidFill>
                        <a:srgbClr val="E2E7F2"/>
                      </a:solidFill>
                    </a:lnT>
                    <a:lnB w="6350">
                      <a:solidFill>
                        <a:srgbClr val="E2E7F2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wrap="none"/>
                    <a:lstStyle/>
                    <a:p>
                      <a:pPr algn="r"/>
                      <a:r>
                        <a:rPr sz="850" b="0">
                          <a:solidFill>
                            <a:srgbClr val="26292E"/>
                          </a:solidFill>
                          <a:latin typeface="Calibri"/>
                        </a:rPr>
                        <a:t>2,943</a:t>
                      </a:r>
                    </a:p>
                  </a:txBody>
                  <a:tcPr anchor="ctr" marL="27432" marR="27432" marT="4572" marB="4572">
                    <a:lnL w="6350">
                      <a:solidFill>
                        <a:srgbClr val="E2E7F2"/>
                      </a:solidFill>
                    </a:lnL>
                    <a:lnR w="6350">
                      <a:solidFill>
                        <a:srgbClr val="E2E7F2"/>
                      </a:solidFill>
                    </a:lnR>
                    <a:lnT w="6350">
                      <a:solidFill>
                        <a:srgbClr val="E2E7F2"/>
                      </a:solidFill>
                    </a:lnT>
                    <a:lnB w="6350">
                      <a:solidFill>
                        <a:srgbClr val="E2E7F2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wrap="none"/>
                    <a:lstStyle/>
                    <a:p>
                      <a:pPr algn="r"/>
                      <a:r>
                        <a:rPr sz="850" b="0">
                          <a:solidFill>
                            <a:srgbClr val="26292E"/>
                          </a:solidFill>
                          <a:latin typeface="Calibri"/>
                        </a:rPr>
                        <a:t>2,733</a:t>
                      </a:r>
                    </a:p>
                  </a:txBody>
                  <a:tcPr anchor="ctr" marL="27432" marR="27432" marT="4572" marB="4572">
                    <a:lnL w="6350">
                      <a:solidFill>
                        <a:srgbClr val="E2E7F2"/>
                      </a:solidFill>
                    </a:lnL>
                    <a:lnR w="6350">
                      <a:solidFill>
                        <a:srgbClr val="E2E7F2"/>
                      </a:solidFill>
                    </a:lnR>
                    <a:lnT w="6350">
                      <a:solidFill>
                        <a:srgbClr val="E2E7F2"/>
                      </a:solidFill>
                    </a:lnT>
                    <a:lnB w="6350">
                      <a:solidFill>
                        <a:srgbClr val="E2E7F2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wrap="none"/>
                    <a:lstStyle/>
                    <a:p>
                      <a:pPr algn="r"/>
                      <a:r>
                        <a:rPr sz="850" b="0">
                          <a:solidFill>
                            <a:srgbClr val="26292E"/>
                          </a:solidFill>
                          <a:latin typeface="Calibri"/>
                        </a:rPr>
                        <a:t>2,746</a:t>
                      </a:r>
                    </a:p>
                  </a:txBody>
                  <a:tcPr anchor="ctr" marL="27432" marR="27432" marT="4572" marB="4572">
                    <a:lnL w="6350">
                      <a:solidFill>
                        <a:srgbClr val="E2E7F2"/>
                      </a:solidFill>
                    </a:lnL>
                    <a:lnR w="6350">
                      <a:solidFill>
                        <a:srgbClr val="E2E7F2"/>
                      </a:solidFill>
                    </a:lnR>
                    <a:lnT w="6350">
                      <a:solidFill>
                        <a:srgbClr val="E2E7F2"/>
                      </a:solidFill>
                    </a:lnT>
                    <a:lnB w="6350">
                      <a:solidFill>
                        <a:srgbClr val="E2E7F2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wrap="none"/>
                    <a:lstStyle/>
                    <a:p>
                      <a:pPr algn="r"/>
                      <a:r>
                        <a:rPr sz="850" b="1">
                          <a:solidFill>
                            <a:srgbClr val="26292E"/>
                          </a:solidFill>
                          <a:latin typeface="Calibri"/>
                        </a:rPr>
                        <a:t>2,999</a:t>
                      </a:r>
                    </a:p>
                  </a:txBody>
                  <a:tcPr anchor="ctr" marL="27432" marR="27432" marT="4572" marB="4572">
                    <a:lnL w="6350">
                      <a:solidFill>
                        <a:srgbClr val="E2E7F2"/>
                      </a:solidFill>
                    </a:lnL>
                    <a:lnR w="6350">
                      <a:solidFill>
                        <a:srgbClr val="E2E7F2"/>
                      </a:solidFill>
                    </a:lnR>
                    <a:lnT w="6350">
                      <a:solidFill>
                        <a:srgbClr val="E2E7F2"/>
                      </a:solidFill>
                    </a:lnT>
                    <a:lnB w="6350">
                      <a:solidFill>
                        <a:srgbClr val="E2E7F2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wrap="none"/>
                    <a:lstStyle/>
                    <a:p>
                      <a:pPr algn="r"/>
                      <a:r>
                        <a:rPr sz="850" b="1">
                          <a:solidFill>
                            <a:srgbClr val="C62828"/>
                          </a:solidFill>
                          <a:latin typeface="Calibri"/>
                        </a:rPr>
                        <a:t>-14.1%</a:t>
                      </a:r>
                    </a:p>
                  </a:txBody>
                  <a:tcPr anchor="ctr" marL="27432" marR="27432" marT="4572" marB="4572">
                    <a:lnL w="6350">
                      <a:solidFill>
                        <a:srgbClr val="E2E7F2"/>
                      </a:solidFill>
                    </a:lnL>
                    <a:lnR w="6350">
                      <a:solidFill>
                        <a:srgbClr val="E2E7F2"/>
                      </a:solidFill>
                    </a:lnR>
                    <a:lnT w="6350">
                      <a:solidFill>
                        <a:srgbClr val="E2E7F2"/>
                      </a:solidFill>
                    </a:lnT>
                    <a:lnB w="6350">
                      <a:solidFill>
                        <a:srgbClr val="E2E7F2"/>
                      </a:solidFill>
                    </a:lnB>
                    <a:solidFill>
                      <a:srgbClr val="FFFFFF"/>
                    </a:solidFill>
                  </a:tcPr>
                </a:tc>
              </a:tr>
              <a:tr h="214884">
                <a:tc>
                  <a:txBody>
                    <a:bodyPr wrap="none"/>
                    <a:lstStyle/>
                    <a:p>
                      <a:pPr algn="l"/>
                      <a:r>
                        <a:rPr sz="850" b="0">
                          <a:solidFill>
                            <a:srgbClr val="595959"/>
                          </a:solidFill>
                          <a:latin typeface="Calibri"/>
                        </a:rPr>
                        <a:t>   ’25</a:t>
                      </a:r>
                    </a:p>
                  </a:txBody>
                  <a:tcPr anchor="ctr" marL="27432" marR="27432" marT="4572" marB="4572">
                    <a:lnL w="6350">
                      <a:solidFill>
                        <a:srgbClr val="E2E7F2"/>
                      </a:solidFill>
                    </a:lnL>
                    <a:lnR w="6350">
                      <a:solidFill>
                        <a:srgbClr val="E2E7F2"/>
                      </a:solidFill>
                    </a:lnR>
                    <a:lnT w="6350">
                      <a:solidFill>
                        <a:srgbClr val="E2E7F2"/>
                      </a:solidFill>
                    </a:lnT>
                    <a:lnB w="6350">
                      <a:solidFill>
                        <a:srgbClr val="E2E7F2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wrap="none"/>
                    <a:lstStyle/>
                    <a:p>
                      <a:pPr algn="r"/>
                      <a:r>
                        <a:rPr sz="850" b="0">
                          <a:solidFill>
                            <a:srgbClr val="595959"/>
                          </a:solidFill>
                          <a:latin typeface="Calibri"/>
                        </a:rPr>
                        <a:t>3,858</a:t>
                      </a:r>
                    </a:p>
                  </a:txBody>
                  <a:tcPr anchor="ctr" marL="27432" marR="27432" marT="4572" marB="4572">
                    <a:lnL w="6350">
                      <a:solidFill>
                        <a:srgbClr val="E2E7F2"/>
                      </a:solidFill>
                    </a:lnL>
                    <a:lnR w="6350">
                      <a:solidFill>
                        <a:srgbClr val="E2E7F2"/>
                      </a:solidFill>
                    </a:lnR>
                    <a:lnT w="6350">
                      <a:solidFill>
                        <a:srgbClr val="E2E7F2"/>
                      </a:solidFill>
                    </a:lnT>
                    <a:lnB w="6350">
                      <a:solidFill>
                        <a:srgbClr val="E2E7F2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wrap="none"/>
                    <a:lstStyle/>
                    <a:p>
                      <a:pPr algn="r"/>
                      <a:r>
                        <a:rPr sz="850" b="0">
                          <a:solidFill>
                            <a:srgbClr val="595959"/>
                          </a:solidFill>
                          <a:latin typeface="Calibri"/>
                        </a:rPr>
                        <a:t>3,753</a:t>
                      </a:r>
                    </a:p>
                  </a:txBody>
                  <a:tcPr anchor="ctr" marL="27432" marR="27432" marT="4572" marB="4572">
                    <a:lnL w="6350">
                      <a:solidFill>
                        <a:srgbClr val="E2E7F2"/>
                      </a:solidFill>
                    </a:lnL>
                    <a:lnR w="6350">
                      <a:solidFill>
                        <a:srgbClr val="E2E7F2"/>
                      </a:solidFill>
                    </a:lnR>
                    <a:lnT w="6350">
                      <a:solidFill>
                        <a:srgbClr val="E2E7F2"/>
                      </a:solidFill>
                    </a:lnT>
                    <a:lnB w="6350">
                      <a:solidFill>
                        <a:srgbClr val="E2E7F2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wrap="none"/>
                    <a:lstStyle/>
                    <a:p>
                      <a:pPr algn="r"/>
                      <a:r>
                        <a:rPr sz="850" b="0">
                          <a:solidFill>
                            <a:srgbClr val="595959"/>
                          </a:solidFill>
                          <a:latin typeface="Calibri"/>
                        </a:rPr>
                        <a:t>3,333</a:t>
                      </a:r>
                    </a:p>
                  </a:txBody>
                  <a:tcPr anchor="ctr" marL="27432" marR="27432" marT="4572" marB="4572">
                    <a:lnL w="6350">
                      <a:solidFill>
                        <a:srgbClr val="E2E7F2"/>
                      </a:solidFill>
                    </a:lnL>
                    <a:lnR w="6350">
                      <a:solidFill>
                        <a:srgbClr val="E2E7F2"/>
                      </a:solidFill>
                    </a:lnR>
                    <a:lnT w="6350">
                      <a:solidFill>
                        <a:srgbClr val="E2E7F2"/>
                      </a:solidFill>
                    </a:lnT>
                    <a:lnB w="6350">
                      <a:solidFill>
                        <a:srgbClr val="E2E7F2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wrap="none"/>
                    <a:lstStyle/>
                    <a:p>
                      <a:pPr algn="r"/>
                      <a:r>
                        <a:rPr sz="850" b="0">
                          <a:solidFill>
                            <a:srgbClr val="595959"/>
                          </a:solidFill>
                          <a:latin typeface="Calibri"/>
                        </a:rPr>
                        <a:t>3,429</a:t>
                      </a:r>
                    </a:p>
                  </a:txBody>
                  <a:tcPr anchor="ctr" marL="27432" marR="27432" marT="4572" marB="4572">
                    <a:lnL w="6350">
                      <a:solidFill>
                        <a:srgbClr val="E2E7F2"/>
                      </a:solidFill>
                    </a:lnL>
                    <a:lnR w="6350">
                      <a:solidFill>
                        <a:srgbClr val="E2E7F2"/>
                      </a:solidFill>
                    </a:lnR>
                    <a:lnT w="6350">
                      <a:solidFill>
                        <a:srgbClr val="E2E7F2"/>
                      </a:solidFill>
                    </a:lnT>
                    <a:lnB w="6350">
                      <a:solidFill>
                        <a:srgbClr val="E2E7F2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wrap="none"/>
                    <a:lstStyle/>
                    <a:p>
                      <a:pPr algn="r"/>
                      <a:r>
                        <a:rPr sz="850" b="0">
                          <a:solidFill>
                            <a:srgbClr val="595959"/>
                          </a:solidFill>
                          <a:latin typeface="Calibri"/>
                        </a:rPr>
                        <a:t>3,171</a:t>
                      </a:r>
                    </a:p>
                  </a:txBody>
                  <a:tcPr anchor="ctr" marL="27432" marR="27432" marT="4572" marB="4572">
                    <a:lnL w="6350">
                      <a:solidFill>
                        <a:srgbClr val="E2E7F2"/>
                      </a:solidFill>
                    </a:lnL>
                    <a:lnR w="6350">
                      <a:solidFill>
                        <a:srgbClr val="E2E7F2"/>
                      </a:solidFill>
                    </a:lnR>
                    <a:lnT w="6350">
                      <a:solidFill>
                        <a:srgbClr val="E2E7F2"/>
                      </a:solidFill>
                    </a:lnT>
                    <a:lnB w="6350">
                      <a:solidFill>
                        <a:srgbClr val="E2E7F2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wrap="none"/>
                    <a:lstStyle/>
                    <a:p>
                      <a:pPr algn="r"/>
                      <a:r>
                        <a:rPr sz="850" b="0">
                          <a:solidFill>
                            <a:srgbClr val="595959"/>
                          </a:solidFill>
                          <a:latin typeface="Calibri"/>
                        </a:rPr>
                        <a:t>3,080</a:t>
                      </a:r>
                    </a:p>
                  </a:txBody>
                  <a:tcPr anchor="ctr" marL="27432" marR="27432" marT="4572" marB="4572">
                    <a:lnL w="6350">
                      <a:solidFill>
                        <a:srgbClr val="E2E7F2"/>
                      </a:solidFill>
                    </a:lnL>
                    <a:lnR w="6350">
                      <a:solidFill>
                        <a:srgbClr val="E2E7F2"/>
                      </a:solidFill>
                    </a:lnR>
                    <a:lnT w="6350">
                      <a:solidFill>
                        <a:srgbClr val="E2E7F2"/>
                      </a:solidFill>
                    </a:lnT>
                    <a:lnB w="6350">
                      <a:solidFill>
                        <a:srgbClr val="E2E7F2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wrap="none"/>
                    <a:lstStyle/>
                    <a:p>
                      <a:pPr algn="r"/>
                      <a:r>
                        <a:rPr sz="850" b="0">
                          <a:solidFill>
                            <a:srgbClr val="595959"/>
                          </a:solidFill>
                          <a:latin typeface="Calibri"/>
                        </a:rPr>
                        <a:t>3,491</a:t>
                      </a:r>
                    </a:p>
                  </a:txBody>
                  <a:tcPr anchor="ctr" marL="27432" marR="27432" marT="4572" marB="4572">
                    <a:lnL w="6350">
                      <a:solidFill>
                        <a:srgbClr val="E2E7F2"/>
                      </a:solidFill>
                    </a:lnL>
                    <a:lnR w="6350">
                      <a:solidFill>
                        <a:srgbClr val="E2E7F2"/>
                      </a:solidFill>
                    </a:lnR>
                    <a:lnT w="6350">
                      <a:solidFill>
                        <a:srgbClr val="E2E7F2"/>
                      </a:solidFill>
                    </a:lnT>
                    <a:lnB w="6350">
                      <a:solidFill>
                        <a:srgbClr val="E2E7F2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wrap="none"/>
                    <a:lstStyle/>
                    <a:p>
                      <a:pPr algn="l"/>
                      <a:r>
                        <a:rPr sz="850" b="0">
                          <a:solidFill>
                            <a:srgbClr val="26292E"/>
                          </a:solidFill>
                          <a:latin typeface="Calibri"/>
                        </a:rPr>
                        <a:t/>
                      </a:r>
                    </a:p>
                  </a:txBody>
                  <a:tcPr anchor="ctr" marL="27432" marR="27432" marT="4572" marB="4572">
                    <a:lnL w="6350">
                      <a:solidFill>
                        <a:srgbClr val="E2E7F2"/>
                      </a:solidFill>
                    </a:lnL>
                    <a:lnR w="6350">
                      <a:solidFill>
                        <a:srgbClr val="E2E7F2"/>
                      </a:solidFill>
                    </a:lnR>
                    <a:lnT w="6350">
                      <a:solidFill>
                        <a:srgbClr val="E2E7F2"/>
                      </a:solidFill>
                    </a:lnT>
                    <a:lnB w="6350">
                      <a:solidFill>
                        <a:srgbClr val="E2E7F2"/>
                      </a:solidFill>
                    </a:lnB>
                    <a:solidFill>
                      <a:srgbClr val="FFFFFF"/>
                    </a:solidFill>
                  </a:tcPr>
                </a:tc>
              </a:tr>
              <a:tr h="214884">
                <a:tc>
                  <a:txBody>
                    <a:bodyPr wrap="none"/>
                    <a:lstStyle/>
                    <a:p>
                      <a:pPr algn="l"/>
                      <a:r>
                        <a:rPr sz="850" b="1">
                          <a:solidFill>
                            <a:srgbClr val="26292E"/>
                          </a:solidFill>
                          <a:latin typeface="Calibri"/>
                        </a:rPr>
                        <a:t>Wholesale Group</a:t>
                      </a:r>
                    </a:p>
                  </a:txBody>
                  <a:tcPr anchor="ctr" marL="27432" marR="27432" marT="4572" marB="4572">
                    <a:lnL w="6350">
                      <a:solidFill>
                        <a:srgbClr val="E2E7F2"/>
                      </a:solidFill>
                    </a:lnL>
                    <a:lnR w="6350">
                      <a:solidFill>
                        <a:srgbClr val="E2E7F2"/>
                      </a:solidFill>
                    </a:lnR>
                    <a:lnT w="6350">
                      <a:solidFill>
                        <a:srgbClr val="E2E7F2"/>
                      </a:solidFill>
                    </a:lnT>
                    <a:lnB w="6350">
                      <a:solidFill>
                        <a:srgbClr val="E2E7F2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wrap="none"/>
                    <a:lstStyle/>
                    <a:p>
                      <a:pPr algn="r"/>
                      <a:r>
                        <a:rPr sz="850" b="0">
                          <a:solidFill>
                            <a:srgbClr val="26292E"/>
                          </a:solidFill>
                          <a:latin typeface="Calibri"/>
                        </a:rPr>
                        <a:t>2,434</a:t>
                      </a:r>
                    </a:p>
                  </a:txBody>
                  <a:tcPr anchor="ctr" marL="27432" marR="27432" marT="4572" marB="4572">
                    <a:lnL w="6350">
                      <a:solidFill>
                        <a:srgbClr val="E2E7F2"/>
                      </a:solidFill>
                    </a:lnL>
                    <a:lnR w="6350">
                      <a:solidFill>
                        <a:srgbClr val="E2E7F2"/>
                      </a:solidFill>
                    </a:lnR>
                    <a:lnT w="6350">
                      <a:solidFill>
                        <a:srgbClr val="E2E7F2"/>
                      </a:solidFill>
                    </a:lnT>
                    <a:lnB w="6350">
                      <a:solidFill>
                        <a:srgbClr val="E2E7F2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wrap="none"/>
                    <a:lstStyle/>
                    <a:p>
                      <a:pPr algn="r"/>
                      <a:r>
                        <a:rPr sz="850" b="0">
                          <a:solidFill>
                            <a:srgbClr val="26292E"/>
                          </a:solidFill>
                          <a:latin typeface="Calibri"/>
                        </a:rPr>
                        <a:t>2,825</a:t>
                      </a:r>
                    </a:p>
                  </a:txBody>
                  <a:tcPr anchor="ctr" marL="27432" marR="27432" marT="4572" marB="4572">
                    <a:lnL w="6350">
                      <a:solidFill>
                        <a:srgbClr val="E2E7F2"/>
                      </a:solidFill>
                    </a:lnL>
                    <a:lnR w="6350">
                      <a:solidFill>
                        <a:srgbClr val="E2E7F2"/>
                      </a:solidFill>
                    </a:lnR>
                    <a:lnT w="6350">
                      <a:solidFill>
                        <a:srgbClr val="E2E7F2"/>
                      </a:solidFill>
                    </a:lnT>
                    <a:lnB w="6350">
                      <a:solidFill>
                        <a:srgbClr val="E2E7F2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wrap="none"/>
                    <a:lstStyle/>
                    <a:p>
                      <a:pPr algn="r"/>
                      <a:r>
                        <a:rPr sz="850" b="0">
                          <a:solidFill>
                            <a:srgbClr val="26292E"/>
                          </a:solidFill>
                          <a:latin typeface="Calibri"/>
                        </a:rPr>
                        <a:t>2,293</a:t>
                      </a:r>
                    </a:p>
                  </a:txBody>
                  <a:tcPr anchor="ctr" marL="27432" marR="27432" marT="4572" marB="4572">
                    <a:lnL w="6350">
                      <a:solidFill>
                        <a:srgbClr val="E2E7F2"/>
                      </a:solidFill>
                    </a:lnL>
                    <a:lnR w="6350">
                      <a:solidFill>
                        <a:srgbClr val="E2E7F2"/>
                      </a:solidFill>
                    </a:lnR>
                    <a:lnT w="6350">
                      <a:solidFill>
                        <a:srgbClr val="E2E7F2"/>
                      </a:solidFill>
                    </a:lnT>
                    <a:lnB w="6350">
                      <a:solidFill>
                        <a:srgbClr val="E2E7F2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wrap="none"/>
                    <a:lstStyle/>
                    <a:p>
                      <a:pPr algn="r"/>
                      <a:r>
                        <a:rPr sz="850" b="0">
                          <a:solidFill>
                            <a:srgbClr val="26292E"/>
                          </a:solidFill>
                          <a:latin typeface="Calibri"/>
                        </a:rPr>
                        <a:t>2,579</a:t>
                      </a:r>
                    </a:p>
                  </a:txBody>
                  <a:tcPr anchor="ctr" marL="27432" marR="27432" marT="4572" marB="4572">
                    <a:lnL w="6350">
                      <a:solidFill>
                        <a:srgbClr val="E2E7F2"/>
                      </a:solidFill>
                    </a:lnL>
                    <a:lnR w="6350">
                      <a:solidFill>
                        <a:srgbClr val="E2E7F2"/>
                      </a:solidFill>
                    </a:lnR>
                    <a:lnT w="6350">
                      <a:solidFill>
                        <a:srgbClr val="E2E7F2"/>
                      </a:solidFill>
                    </a:lnT>
                    <a:lnB w="6350">
                      <a:solidFill>
                        <a:srgbClr val="E2E7F2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wrap="none"/>
                    <a:lstStyle/>
                    <a:p>
                      <a:pPr algn="r"/>
                      <a:r>
                        <a:rPr sz="850" b="0">
                          <a:solidFill>
                            <a:srgbClr val="26292E"/>
                          </a:solidFill>
                          <a:latin typeface="Calibri"/>
                        </a:rPr>
                        <a:t>2,170</a:t>
                      </a:r>
                    </a:p>
                  </a:txBody>
                  <a:tcPr anchor="ctr" marL="27432" marR="27432" marT="4572" marB="4572">
                    <a:lnL w="6350">
                      <a:solidFill>
                        <a:srgbClr val="E2E7F2"/>
                      </a:solidFill>
                    </a:lnL>
                    <a:lnR w="6350">
                      <a:solidFill>
                        <a:srgbClr val="E2E7F2"/>
                      </a:solidFill>
                    </a:lnR>
                    <a:lnT w="6350">
                      <a:solidFill>
                        <a:srgbClr val="E2E7F2"/>
                      </a:solidFill>
                    </a:lnT>
                    <a:lnB w="6350">
                      <a:solidFill>
                        <a:srgbClr val="E2E7F2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wrap="none"/>
                    <a:lstStyle/>
                    <a:p>
                      <a:pPr algn="r"/>
                      <a:r>
                        <a:rPr sz="850" b="0">
                          <a:solidFill>
                            <a:srgbClr val="26292E"/>
                          </a:solidFill>
                          <a:latin typeface="Calibri"/>
                        </a:rPr>
                        <a:t>2,262</a:t>
                      </a:r>
                    </a:p>
                  </a:txBody>
                  <a:tcPr anchor="ctr" marL="27432" marR="27432" marT="4572" marB="4572">
                    <a:lnL w="6350">
                      <a:solidFill>
                        <a:srgbClr val="E2E7F2"/>
                      </a:solidFill>
                    </a:lnL>
                    <a:lnR w="6350">
                      <a:solidFill>
                        <a:srgbClr val="E2E7F2"/>
                      </a:solidFill>
                    </a:lnR>
                    <a:lnT w="6350">
                      <a:solidFill>
                        <a:srgbClr val="E2E7F2"/>
                      </a:solidFill>
                    </a:lnT>
                    <a:lnB w="6350">
                      <a:solidFill>
                        <a:srgbClr val="E2E7F2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wrap="none"/>
                    <a:lstStyle/>
                    <a:p>
                      <a:pPr algn="r"/>
                      <a:r>
                        <a:rPr sz="850" b="1">
                          <a:solidFill>
                            <a:srgbClr val="26292E"/>
                          </a:solidFill>
                          <a:latin typeface="Calibri"/>
                        </a:rPr>
                        <a:t>2,424</a:t>
                      </a:r>
                    </a:p>
                  </a:txBody>
                  <a:tcPr anchor="ctr" marL="27432" marR="27432" marT="4572" marB="4572">
                    <a:lnL w="6350">
                      <a:solidFill>
                        <a:srgbClr val="E2E7F2"/>
                      </a:solidFill>
                    </a:lnL>
                    <a:lnR w="6350">
                      <a:solidFill>
                        <a:srgbClr val="E2E7F2"/>
                      </a:solidFill>
                    </a:lnR>
                    <a:lnT w="6350">
                      <a:solidFill>
                        <a:srgbClr val="E2E7F2"/>
                      </a:solidFill>
                    </a:lnT>
                    <a:lnB w="6350">
                      <a:solidFill>
                        <a:srgbClr val="E2E7F2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wrap="none"/>
                    <a:lstStyle/>
                    <a:p>
                      <a:pPr algn="r"/>
                      <a:r>
                        <a:rPr sz="850" b="1">
                          <a:solidFill>
                            <a:srgbClr val="C62828"/>
                          </a:solidFill>
                          <a:latin typeface="Calibri"/>
                        </a:rPr>
                        <a:t>-9.9%</a:t>
                      </a:r>
                    </a:p>
                  </a:txBody>
                  <a:tcPr anchor="ctr" marL="27432" marR="27432" marT="4572" marB="4572">
                    <a:lnL w="6350">
                      <a:solidFill>
                        <a:srgbClr val="E2E7F2"/>
                      </a:solidFill>
                    </a:lnL>
                    <a:lnR w="6350">
                      <a:solidFill>
                        <a:srgbClr val="E2E7F2"/>
                      </a:solidFill>
                    </a:lnR>
                    <a:lnT w="6350">
                      <a:solidFill>
                        <a:srgbClr val="E2E7F2"/>
                      </a:solidFill>
                    </a:lnT>
                    <a:lnB w="6350">
                      <a:solidFill>
                        <a:srgbClr val="E2E7F2"/>
                      </a:solidFill>
                    </a:lnB>
                    <a:solidFill>
                      <a:srgbClr val="FFFFFF"/>
                    </a:solidFill>
                  </a:tcPr>
                </a:tc>
              </a:tr>
              <a:tr h="214884">
                <a:tc>
                  <a:txBody>
                    <a:bodyPr wrap="none"/>
                    <a:lstStyle/>
                    <a:p>
                      <a:pPr algn="l"/>
                      <a:r>
                        <a:rPr sz="850" b="0">
                          <a:solidFill>
                            <a:srgbClr val="595959"/>
                          </a:solidFill>
                          <a:latin typeface="Calibri"/>
                        </a:rPr>
                        <a:t>   ’25</a:t>
                      </a:r>
                    </a:p>
                  </a:txBody>
                  <a:tcPr anchor="ctr" marL="27432" marR="27432" marT="4572" marB="4572">
                    <a:lnL w="6350">
                      <a:solidFill>
                        <a:srgbClr val="E2E7F2"/>
                      </a:solidFill>
                    </a:lnL>
                    <a:lnR w="6350">
                      <a:solidFill>
                        <a:srgbClr val="E2E7F2"/>
                      </a:solidFill>
                    </a:lnR>
                    <a:lnT w="6350">
                      <a:solidFill>
                        <a:srgbClr val="E2E7F2"/>
                      </a:solidFill>
                    </a:lnT>
                    <a:lnB w="6350">
                      <a:solidFill>
                        <a:srgbClr val="E2E7F2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wrap="none"/>
                    <a:lstStyle/>
                    <a:p>
                      <a:pPr algn="r"/>
                      <a:r>
                        <a:rPr sz="850" b="0">
                          <a:solidFill>
                            <a:srgbClr val="595959"/>
                          </a:solidFill>
                          <a:latin typeface="Calibri"/>
                        </a:rPr>
                        <a:t>2,991</a:t>
                      </a:r>
                    </a:p>
                  </a:txBody>
                  <a:tcPr anchor="ctr" marL="27432" marR="27432" marT="4572" marB="4572">
                    <a:lnL w="6350">
                      <a:solidFill>
                        <a:srgbClr val="E2E7F2"/>
                      </a:solidFill>
                    </a:lnL>
                    <a:lnR w="6350">
                      <a:solidFill>
                        <a:srgbClr val="E2E7F2"/>
                      </a:solidFill>
                    </a:lnR>
                    <a:lnT w="6350">
                      <a:solidFill>
                        <a:srgbClr val="E2E7F2"/>
                      </a:solidFill>
                    </a:lnT>
                    <a:lnB w="6350">
                      <a:solidFill>
                        <a:srgbClr val="E2E7F2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wrap="none"/>
                    <a:lstStyle/>
                    <a:p>
                      <a:pPr algn="r"/>
                      <a:r>
                        <a:rPr sz="850" b="0">
                          <a:solidFill>
                            <a:srgbClr val="595959"/>
                          </a:solidFill>
                          <a:latin typeface="Calibri"/>
                        </a:rPr>
                        <a:t>2,780</a:t>
                      </a:r>
                    </a:p>
                  </a:txBody>
                  <a:tcPr anchor="ctr" marL="27432" marR="27432" marT="4572" marB="4572">
                    <a:lnL w="6350">
                      <a:solidFill>
                        <a:srgbClr val="E2E7F2"/>
                      </a:solidFill>
                    </a:lnL>
                    <a:lnR w="6350">
                      <a:solidFill>
                        <a:srgbClr val="E2E7F2"/>
                      </a:solidFill>
                    </a:lnR>
                    <a:lnT w="6350">
                      <a:solidFill>
                        <a:srgbClr val="E2E7F2"/>
                      </a:solidFill>
                    </a:lnT>
                    <a:lnB w="6350">
                      <a:solidFill>
                        <a:srgbClr val="E2E7F2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wrap="none"/>
                    <a:lstStyle/>
                    <a:p>
                      <a:pPr algn="r"/>
                      <a:r>
                        <a:rPr sz="850" b="0">
                          <a:solidFill>
                            <a:srgbClr val="595959"/>
                          </a:solidFill>
                          <a:latin typeface="Calibri"/>
                        </a:rPr>
                        <a:t>2,560</a:t>
                      </a:r>
                    </a:p>
                  </a:txBody>
                  <a:tcPr anchor="ctr" marL="27432" marR="27432" marT="4572" marB="4572">
                    <a:lnL w="6350">
                      <a:solidFill>
                        <a:srgbClr val="E2E7F2"/>
                      </a:solidFill>
                    </a:lnL>
                    <a:lnR w="6350">
                      <a:solidFill>
                        <a:srgbClr val="E2E7F2"/>
                      </a:solidFill>
                    </a:lnR>
                    <a:lnT w="6350">
                      <a:solidFill>
                        <a:srgbClr val="E2E7F2"/>
                      </a:solidFill>
                    </a:lnT>
                    <a:lnB w="6350">
                      <a:solidFill>
                        <a:srgbClr val="E2E7F2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wrap="none"/>
                    <a:lstStyle/>
                    <a:p>
                      <a:pPr algn="r"/>
                      <a:r>
                        <a:rPr sz="850" b="0">
                          <a:solidFill>
                            <a:srgbClr val="595959"/>
                          </a:solidFill>
                          <a:latin typeface="Calibri"/>
                        </a:rPr>
                        <a:t>2,832</a:t>
                      </a:r>
                    </a:p>
                  </a:txBody>
                  <a:tcPr anchor="ctr" marL="27432" marR="27432" marT="4572" marB="4572">
                    <a:lnL w="6350">
                      <a:solidFill>
                        <a:srgbClr val="E2E7F2"/>
                      </a:solidFill>
                    </a:lnL>
                    <a:lnR w="6350">
                      <a:solidFill>
                        <a:srgbClr val="E2E7F2"/>
                      </a:solidFill>
                    </a:lnR>
                    <a:lnT w="6350">
                      <a:solidFill>
                        <a:srgbClr val="E2E7F2"/>
                      </a:solidFill>
                    </a:lnT>
                    <a:lnB w="6350">
                      <a:solidFill>
                        <a:srgbClr val="E2E7F2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wrap="none"/>
                    <a:lstStyle/>
                    <a:p>
                      <a:pPr algn="r"/>
                      <a:r>
                        <a:rPr sz="850" b="0">
                          <a:solidFill>
                            <a:srgbClr val="595959"/>
                          </a:solidFill>
                          <a:latin typeface="Calibri"/>
                        </a:rPr>
                        <a:t>2,505</a:t>
                      </a:r>
                    </a:p>
                  </a:txBody>
                  <a:tcPr anchor="ctr" marL="27432" marR="27432" marT="4572" marB="4572">
                    <a:lnL w="6350">
                      <a:solidFill>
                        <a:srgbClr val="E2E7F2"/>
                      </a:solidFill>
                    </a:lnL>
                    <a:lnR w="6350">
                      <a:solidFill>
                        <a:srgbClr val="E2E7F2"/>
                      </a:solidFill>
                    </a:lnR>
                    <a:lnT w="6350">
                      <a:solidFill>
                        <a:srgbClr val="E2E7F2"/>
                      </a:solidFill>
                    </a:lnT>
                    <a:lnB w="6350">
                      <a:solidFill>
                        <a:srgbClr val="E2E7F2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wrap="none"/>
                    <a:lstStyle/>
                    <a:p>
                      <a:pPr algn="r"/>
                      <a:r>
                        <a:rPr sz="850" b="0">
                          <a:solidFill>
                            <a:srgbClr val="595959"/>
                          </a:solidFill>
                          <a:latin typeface="Calibri"/>
                        </a:rPr>
                        <a:t>2,525</a:t>
                      </a:r>
                    </a:p>
                  </a:txBody>
                  <a:tcPr anchor="ctr" marL="27432" marR="27432" marT="4572" marB="4572">
                    <a:lnL w="6350">
                      <a:solidFill>
                        <a:srgbClr val="E2E7F2"/>
                      </a:solidFill>
                    </a:lnL>
                    <a:lnR w="6350">
                      <a:solidFill>
                        <a:srgbClr val="E2E7F2"/>
                      </a:solidFill>
                    </a:lnR>
                    <a:lnT w="6350">
                      <a:solidFill>
                        <a:srgbClr val="E2E7F2"/>
                      </a:solidFill>
                    </a:lnT>
                    <a:lnB w="6350">
                      <a:solidFill>
                        <a:srgbClr val="E2E7F2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wrap="none"/>
                    <a:lstStyle/>
                    <a:p>
                      <a:pPr algn="r"/>
                      <a:r>
                        <a:rPr sz="850" b="0">
                          <a:solidFill>
                            <a:srgbClr val="595959"/>
                          </a:solidFill>
                          <a:latin typeface="Calibri"/>
                        </a:rPr>
                        <a:t>2,691</a:t>
                      </a:r>
                    </a:p>
                  </a:txBody>
                  <a:tcPr anchor="ctr" marL="27432" marR="27432" marT="4572" marB="4572">
                    <a:lnL w="6350">
                      <a:solidFill>
                        <a:srgbClr val="E2E7F2"/>
                      </a:solidFill>
                    </a:lnL>
                    <a:lnR w="6350">
                      <a:solidFill>
                        <a:srgbClr val="E2E7F2"/>
                      </a:solidFill>
                    </a:lnR>
                    <a:lnT w="6350">
                      <a:solidFill>
                        <a:srgbClr val="E2E7F2"/>
                      </a:solidFill>
                    </a:lnT>
                    <a:lnB w="6350">
                      <a:solidFill>
                        <a:srgbClr val="E2E7F2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wrap="none"/>
                    <a:lstStyle/>
                    <a:p>
                      <a:pPr algn="l"/>
                      <a:r>
                        <a:rPr sz="850" b="0">
                          <a:solidFill>
                            <a:srgbClr val="26292E"/>
                          </a:solidFill>
                          <a:latin typeface="Calibri"/>
                        </a:rPr>
                        <a:t/>
                      </a:r>
                    </a:p>
                  </a:txBody>
                  <a:tcPr anchor="ctr" marL="27432" marR="27432" marT="4572" marB="4572">
                    <a:lnL w="6350">
                      <a:solidFill>
                        <a:srgbClr val="E2E7F2"/>
                      </a:solidFill>
                    </a:lnL>
                    <a:lnR w="6350">
                      <a:solidFill>
                        <a:srgbClr val="E2E7F2"/>
                      </a:solidFill>
                    </a:lnR>
                    <a:lnT w="6350">
                      <a:solidFill>
                        <a:srgbClr val="E2E7F2"/>
                      </a:solidFill>
                    </a:lnT>
                    <a:lnB w="6350">
                      <a:solidFill>
                        <a:srgbClr val="E2E7F2"/>
                      </a:solidFill>
                    </a:lnB>
                    <a:solidFill>
                      <a:srgbClr val="FFFFFF"/>
                    </a:solidFill>
                  </a:tcPr>
                </a:tc>
              </a:tr>
              <a:tr h="214884">
                <a:tc>
                  <a:txBody>
                    <a:bodyPr wrap="none"/>
                    <a:lstStyle/>
                    <a:p>
                      <a:pPr algn="l"/>
                      <a:r>
                        <a:rPr sz="850" b="1">
                          <a:solidFill>
                            <a:srgbClr val="26292E"/>
                          </a:solidFill>
                          <a:latin typeface="Calibri"/>
                        </a:rPr>
                        <a:t>Group Corporate</a:t>
                      </a:r>
                    </a:p>
                  </a:txBody>
                  <a:tcPr anchor="ctr" marL="27432" marR="27432" marT="4572" marB="4572">
                    <a:lnL w="6350">
                      <a:solidFill>
                        <a:srgbClr val="E2E7F2"/>
                      </a:solidFill>
                    </a:lnL>
                    <a:lnR w="6350">
                      <a:solidFill>
                        <a:srgbClr val="E2E7F2"/>
                      </a:solidFill>
                    </a:lnR>
                    <a:lnT w="6350">
                      <a:solidFill>
                        <a:srgbClr val="E2E7F2"/>
                      </a:solidFill>
                    </a:lnT>
                    <a:lnB w="6350">
                      <a:solidFill>
                        <a:srgbClr val="E2E7F2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wrap="none"/>
                    <a:lstStyle/>
                    <a:p>
                      <a:pPr algn="r"/>
                      <a:r>
                        <a:rPr sz="850" b="0">
                          <a:solidFill>
                            <a:srgbClr val="26292E"/>
                          </a:solidFill>
                          <a:latin typeface="Calibri"/>
                        </a:rPr>
                        <a:t>3,163</a:t>
                      </a:r>
                    </a:p>
                  </a:txBody>
                  <a:tcPr anchor="ctr" marL="27432" marR="27432" marT="4572" marB="4572">
                    <a:lnL w="6350">
                      <a:solidFill>
                        <a:srgbClr val="E2E7F2"/>
                      </a:solidFill>
                    </a:lnL>
                    <a:lnR w="6350">
                      <a:solidFill>
                        <a:srgbClr val="E2E7F2"/>
                      </a:solidFill>
                    </a:lnR>
                    <a:lnT w="6350">
                      <a:solidFill>
                        <a:srgbClr val="E2E7F2"/>
                      </a:solidFill>
                    </a:lnT>
                    <a:lnB w="6350">
                      <a:solidFill>
                        <a:srgbClr val="E2E7F2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wrap="none"/>
                    <a:lstStyle/>
                    <a:p>
                      <a:pPr algn="r"/>
                      <a:r>
                        <a:rPr sz="850" b="0">
                          <a:solidFill>
                            <a:srgbClr val="26292E"/>
                          </a:solidFill>
                          <a:latin typeface="Calibri"/>
                        </a:rPr>
                        <a:t>4,245</a:t>
                      </a:r>
                    </a:p>
                  </a:txBody>
                  <a:tcPr anchor="ctr" marL="27432" marR="27432" marT="4572" marB="4572">
                    <a:lnL w="6350">
                      <a:solidFill>
                        <a:srgbClr val="E2E7F2"/>
                      </a:solidFill>
                    </a:lnL>
                    <a:lnR w="6350">
                      <a:solidFill>
                        <a:srgbClr val="E2E7F2"/>
                      </a:solidFill>
                    </a:lnR>
                    <a:lnT w="6350">
                      <a:solidFill>
                        <a:srgbClr val="E2E7F2"/>
                      </a:solidFill>
                    </a:lnT>
                    <a:lnB w="6350">
                      <a:solidFill>
                        <a:srgbClr val="E2E7F2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wrap="none"/>
                    <a:lstStyle/>
                    <a:p>
                      <a:pPr algn="r"/>
                      <a:r>
                        <a:rPr sz="850" b="0">
                          <a:solidFill>
                            <a:srgbClr val="26292E"/>
                          </a:solidFill>
                          <a:latin typeface="Calibri"/>
                        </a:rPr>
                        <a:t>3,157</a:t>
                      </a:r>
                    </a:p>
                  </a:txBody>
                  <a:tcPr anchor="ctr" marL="27432" marR="27432" marT="4572" marB="4572">
                    <a:lnL w="6350">
                      <a:solidFill>
                        <a:srgbClr val="E2E7F2"/>
                      </a:solidFill>
                    </a:lnL>
                    <a:lnR w="6350">
                      <a:solidFill>
                        <a:srgbClr val="E2E7F2"/>
                      </a:solidFill>
                    </a:lnR>
                    <a:lnT w="6350">
                      <a:solidFill>
                        <a:srgbClr val="E2E7F2"/>
                      </a:solidFill>
                    </a:lnT>
                    <a:lnB w="6350">
                      <a:solidFill>
                        <a:srgbClr val="E2E7F2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wrap="none"/>
                    <a:lstStyle/>
                    <a:p>
                      <a:pPr algn="r"/>
                      <a:r>
                        <a:rPr sz="850" b="0">
                          <a:solidFill>
                            <a:srgbClr val="26292E"/>
                          </a:solidFill>
                          <a:latin typeface="Calibri"/>
                        </a:rPr>
                        <a:t>2,487</a:t>
                      </a:r>
                    </a:p>
                  </a:txBody>
                  <a:tcPr anchor="ctr" marL="27432" marR="27432" marT="4572" marB="4572">
                    <a:lnL w="6350">
                      <a:solidFill>
                        <a:srgbClr val="E2E7F2"/>
                      </a:solidFill>
                    </a:lnL>
                    <a:lnR w="6350">
                      <a:solidFill>
                        <a:srgbClr val="E2E7F2"/>
                      </a:solidFill>
                    </a:lnR>
                    <a:lnT w="6350">
                      <a:solidFill>
                        <a:srgbClr val="E2E7F2"/>
                      </a:solidFill>
                    </a:lnT>
                    <a:lnB w="6350">
                      <a:solidFill>
                        <a:srgbClr val="E2E7F2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wrap="none"/>
                    <a:lstStyle/>
                    <a:p>
                      <a:pPr algn="r"/>
                      <a:r>
                        <a:rPr sz="850" b="0">
                          <a:solidFill>
                            <a:srgbClr val="26292E"/>
                          </a:solidFill>
                          <a:latin typeface="Calibri"/>
                        </a:rPr>
                        <a:t>2,121</a:t>
                      </a:r>
                    </a:p>
                  </a:txBody>
                  <a:tcPr anchor="ctr" marL="27432" marR="27432" marT="4572" marB="4572">
                    <a:lnL w="6350">
                      <a:solidFill>
                        <a:srgbClr val="E2E7F2"/>
                      </a:solidFill>
                    </a:lnL>
                    <a:lnR w="6350">
                      <a:solidFill>
                        <a:srgbClr val="E2E7F2"/>
                      </a:solidFill>
                    </a:lnR>
                    <a:lnT w="6350">
                      <a:solidFill>
                        <a:srgbClr val="E2E7F2"/>
                      </a:solidFill>
                    </a:lnT>
                    <a:lnB w="6350">
                      <a:solidFill>
                        <a:srgbClr val="E2E7F2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wrap="none"/>
                    <a:lstStyle/>
                    <a:p>
                      <a:pPr algn="r"/>
                      <a:r>
                        <a:rPr sz="850" b="0">
                          <a:solidFill>
                            <a:srgbClr val="26292E"/>
                          </a:solidFill>
                          <a:latin typeface="Calibri"/>
                        </a:rPr>
                        <a:t>2,075</a:t>
                      </a:r>
                    </a:p>
                  </a:txBody>
                  <a:tcPr anchor="ctr" marL="27432" marR="27432" marT="4572" marB="4572">
                    <a:lnL w="6350">
                      <a:solidFill>
                        <a:srgbClr val="E2E7F2"/>
                      </a:solidFill>
                    </a:lnL>
                    <a:lnR w="6350">
                      <a:solidFill>
                        <a:srgbClr val="E2E7F2"/>
                      </a:solidFill>
                    </a:lnR>
                    <a:lnT w="6350">
                      <a:solidFill>
                        <a:srgbClr val="E2E7F2"/>
                      </a:solidFill>
                    </a:lnT>
                    <a:lnB w="6350">
                      <a:solidFill>
                        <a:srgbClr val="E2E7F2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wrap="none"/>
                    <a:lstStyle/>
                    <a:p>
                      <a:pPr algn="r"/>
                      <a:r>
                        <a:rPr sz="850" b="1">
                          <a:solidFill>
                            <a:srgbClr val="26292E"/>
                          </a:solidFill>
                          <a:latin typeface="Calibri"/>
                        </a:rPr>
                        <a:t>2,533</a:t>
                      </a:r>
                    </a:p>
                  </a:txBody>
                  <a:tcPr anchor="ctr" marL="27432" marR="27432" marT="4572" marB="4572">
                    <a:lnL w="6350">
                      <a:solidFill>
                        <a:srgbClr val="E2E7F2"/>
                      </a:solidFill>
                    </a:lnL>
                    <a:lnR w="6350">
                      <a:solidFill>
                        <a:srgbClr val="E2E7F2"/>
                      </a:solidFill>
                    </a:lnR>
                    <a:lnT w="6350">
                      <a:solidFill>
                        <a:srgbClr val="E2E7F2"/>
                      </a:solidFill>
                    </a:lnT>
                    <a:lnB w="6350">
                      <a:solidFill>
                        <a:srgbClr val="E2E7F2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wrap="none"/>
                    <a:lstStyle/>
                    <a:p>
                      <a:pPr algn="r"/>
                      <a:r>
                        <a:rPr sz="850" b="1">
                          <a:solidFill>
                            <a:srgbClr val="C62828"/>
                          </a:solidFill>
                          <a:latin typeface="Calibri"/>
                        </a:rPr>
                        <a:t>-28.8%</a:t>
                      </a:r>
                    </a:p>
                  </a:txBody>
                  <a:tcPr anchor="ctr" marL="27432" marR="27432" marT="4572" marB="4572">
                    <a:lnL w="6350">
                      <a:solidFill>
                        <a:srgbClr val="E2E7F2"/>
                      </a:solidFill>
                    </a:lnL>
                    <a:lnR w="6350">
                      <a:solidFill>
                        <a:srgbClr val="E2E7F2"/>
                      </a:solidFill>
                    </a:lnR>
                    <a:lnT w="6350">
                      <a:solidFill>
                        <a:srgbClr val="E2E7F2"/>
                      </a:solidFill>
                    </a:lnT>
                    <a:lnB w="6350">
                      <a:solidFill>
                        <a:srgbClr val="E2E7F2"/>
                      </a:solidFill>
                    </a:lnB>
                    <a:solidFill>
                      <a:srgbClr val="FFFFFF"/>
                    </a:solidFill>
                  </a:tcPr>
                </a:tc>
              </a:tr>
              <a:tr h="214884">
                <a:tc>
                  <a:txBody>
                    <a:bodyPr wrap="none"/>
                    <a:lstStyle/>
                    <a:p>
                      <a:pPr algn="l"/>
                      <a:r>
                        <a:rPr sz="850" b="0">
                          <a:solidFill>
                            <a:srgbClr val="595959"/>
                          </a:solidFill>
                          <a:latin typeface="Calibri"/>
                        </a:rPr>
                        <a:t>   ’25</a:t>
                      </a:r>
                    </a:p>
                  </a:txBody>
                  <a:tcPr anchor="ctr" marL="27432" marR="27432" marT="4572" marB="4572">
                    <a:lnL w="6350">
                      <a:solidFill>
                        <a:srgbClr val="E2E7F2"/>
                      </a:solidFill>
                    </a:lnL>
                    <a:lnR w="6350">
                      <a:solidFill>
                        <a:srgbClr val="E2E7F2"/>
                      </a:solidFill>
                    </a:lnR>
                    <a:lnT w="6350">
                      <a:solidFill>
                        <a:srgbClr val="E2E7F2"/>
                      </a:solidFill>
                    </a:lnT>
                    <a:lnB w="6350">
                      <a:solidFill>
                        <a:srgbClr val="E2E7F2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wrap="none"/>
                    <a:lstStyle/>
                    <a:p>
                      <a:pPr algn="r"/>
                      <a:r>
                        <a:rPr sz="850" b="0">
                          <a:solidFill>
                            <a:srgbClr val="595959"/>
                          </a:solidFill>
                          <a:latin typeface="Calibri"/>
                        </a:rPr>
                        <a:t>3,864</a:t>
                      </a:r>
                    </a:p>
                  </a:txBody>
                  <a:tcPr anchor="ctr" marL="27432" marR="27432" marT="4572" marB="4572">
                    <a:lnL w="6350">
                      <a:solidFill>
                        <a:srgbClr val="E2E7F2"/>
                      </a:solidFill>
                    </a:lnL>
                    <a:lnR w="6350">
                      <a:solidFill>
                        <a:srgbClr val="E2E7F2"/>
                      </a:solidFill>
                    </a:lnR>
                    <a:lnT w="6350">
                      <a:solidFill>
                        <a:srgbClr val="E2E7F2"/>
                      </a:solidFill>
                    </a:lnT>
                    <a:lnB w="6350">
                      <a:solidFill>
                        <a:srgbClr val="E2E7F2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wrap="none"/>
                    <a:lstStyle/>
                    <a:p>
                      <a:pPr algn="r"/>
                      <a:r>
                        <a:rPr sz="850" b="0">
                          <a:solidFill>
                            <a:srgbClr val="595959"/>
                          </a:solidFill>
                          <a:latin typeface="Calibri"/>
                        </a:rPr>
                        <a:t>3,398</a:t>
                      </a:r>
                    </a:p>
                  </a:txBody>
                  <a:tcPr anchor="ctr" marL="27432" marR="27432" marT="4572" marB="4572">
                    <a:lnL w="6350">
                      <a:solidFill>
                        <a:srgbClr val="E2E7F2"/>
                      </a:solidFill>
                    </a:lnL>
                    <a:lnR w="6350">
                      <a:solidFill>
                        <a:srgbClr val="E2E7F2"/>
                      </a:solidFill>
                    </a:lnR>
                    <a:lnT w="6350">
                      <a:solidFill>
                        <a:srgbClr val="E2E7F2"/>
                      </a:solidFill>
                    </a:lnT>
                    <a:lnB w="6350">
                      <a:solidFill>
                        <a:srgbClr val="E2E7F2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wrap="none"/>
                    <a:lstStyle/>
                    <a:p>
                      <a:pPr algn="r"/>
                      <a:r>
                        <a:rPr sz="850" b="0">
                          <a:solidFill>
                            <a:srgbClr val="595959"/>
                          </a:solidFill>
                          <a:latin typeface="Calibri"/>
                        </a:rPr>
                        <a:t>2,838</a:t>
                      </a:r>
                    </a:p>
                  </a:txBody>
                  <a:tcPr anchor="ctr" marL="27432" marR="27432" marT="4572" marB="4572">
                    <a:lnL w="6350">
                      <a:solidFill>
                        <a:srgbClr val="E2E7F2"/>
                      </a:solidFill>
                    </a:lnL>
                    <a:lnR w="6350">
                      <a:solidFill>
                        <a:srgbClr val="E2E7F2"/>
                      </a:solidFill>
                    </a:lnR>
                    <a:lnT w="6350">
                      <a:solidFill>
                        <a:srgbClr val="E2E7F2"/>
                      </a:solidFill>
                    </a:lnT>
                    <a:lnB w="6350">
                      <a:solidFill>
                        <a:srgbClr val="E2E7F2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wrap="none"/>
                    <a:lstStyle/>
                    <a:p>
                      <a:pPr algn="r"/>
                      <a:r>
                        <a:rPr sz="850" b="0">
                          <a:solidFill>
                            <a:srgbClr val="595959"/>
                          </a:solidFill>
                          <a:latin typeface="Calibri"/>
                        </a:rPr>
                        <a:t>3,738</a:t>
                      </a:r>
                    </a:p>
                  </a:txBody>
                  <a:tcPr anchor="ctr" marL="27432" marR="27432" marT="4572" marB="4572">
                    <a:lnL w="6350">
                      <a:solidFill>
                        <a:srgbClr val="E2E7F2"/>
                      </a:solidFill>
                    </a:lnL>
                    <a:lnR w="6350">
                      <a:solidFill>
                        <a:srgbClr val="E2E7F2"/>
                      </a:solidFill>
                    </a:lnR>
                    <a:lnT w="6350">
                      <a:solidFill>
                        <a:srgbClr val="E2E7F2"/>
                      </a:solidFill>
                    </a:lnT>
                    <a:lnB w="6350">
                      <a:solidFill>
                        <a:srgbClr val="E2E7F2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wrap="none"/>
                    <a:lstStyle/>
                    <a:p>
                      <a:pPr algn="r"/>
                      <a:r>
                        <a:rPr sz="850" b="0">
                          <a:solidFill>
                            <a:srgbClr val="595959"/>
                          </a:solidFill>
                          <a:latin typeface="Calibri"/>
                        </a:rPr>
                        <a:t>2,611</a:t>
                      </a:r>
                    </a:p>
                  </a:txBody>
                  <a:tcPr anchor="ctr" marL="27432" marR="27432" marT="4572" marB="4572">
                    <a:lnL w="6350">
                      <a:solidFill>
                        <a:srgbClr val="E2E7F2"/>
                      </a:solidFill>
                    </a:lnL>
                    <a:lnR w="6350">
                      <a:solidFill>
                        <a:srgbClr val="E2E7F2"/>
                      </a:solidFill>
                    </a:lnR>
                    <a:lnT w="6350">
                      <a:solidFill>
                        <a:srgbClr val="E2E7F2"/>
                      </a:solidFill>
                    </a:lnT>
                    <a:lnB w="6350">
                      <a:solidFill>
                        <a:srgbClr val="E2E7F2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wrap="none"/>
                    <a:lstStyle/>
                    <a:p>
                      <a:pPr algn="r"/>
                      <a:r>
                        <a:rPr sz="850" b="0">
                          <a:solidFill>
                            <a:srgbClr val="595959"/>
                          </a:solidFill>
                          <a:latin typeface="Calibri"/>
                        </a:rPr>
                        <a:t>2,804</a:t>
                      </a:r>
                    </a:p>
                  </a:txBody>
                  <a:tcPr anchor="ctr" marL="27432" marR="27432" marT="4572" marB="4572">
                    <a:lnL w="6350">
                      <a:solidFill>
                        <a:srgbClr val="E2E7F2"/>
                      </a:solidFill>
                    </a:lnL>
                    <a:lnR w="6350">
                      <a:solidFill>
                        <a:srgbClr val="E2E7F2"/>
                      </a:solidFill>
                    </a:lnR>
                    <a:lnT w="6350">
                      <a:solidFill>
                        <a:srgbClr val="E2E7F2"/>
                      </a:solidFill>
                    </a:lnT>
                    <a:lnB w="6350">
                      <a:solidFill>
                        <a:srgbClr val="E2E7F2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wrap="none"/>
                    <a:lstStyle/>
                    <a:p>
                      <a:pPr algn="r"/>
                      <a:r>
                        <a:rPr sz="850" b="0">
                          <a:solidFill>
                            <a:srgbClr val="595959"/>
                          </a:solidFill>
                          <a:latin typeface="Calibri"/>
                        </a:rPr>
                        <a:t>3,555</a:t>
                      </a:r>
                    </a:p>
                  </a:txBody>
                  <a:tcPr anchor="ctr" marL="27432" marR="27432" marT="4572" marB="4572">
                    <a:lnL w="6350">
                      <a:solidFill>
                        <a:srgbClr val="E2E7F2"/>
                      </a:solidFill>
                    </a:lnL>
                    <a:lnR w="6350">
                      <a:solidFill>
                        <a:srgbClr val="E2E7F2"/>
                      </a:solidFill>
                    </a:lnR>
                    <a:lnT w="6350">
                      <a:solidFill>
                        <a:srgbClr val="E2E7F2"/>
                      </a:solidFill>
                    </a:lnT>
                    <a:lnB w="6350">
                      <a:solidFill>
                        <a:srgbClr val="E2E7F2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wrap="none"/>
                    <a:lstStyle/>
                    <a:p>
                      <a:pPr algn="l"/>
                      <a:r>
                        <a:rPr sz="850" b="0">
                          <a:solidFill>
                            <a:srgbClr val="26292E"/>
                          </a:solidFill>
                          <a:latin typeface="Calibri"/>
                        </a:rPr>
                        <a:t/>
                      </a:r>
                    </a:p>
                  </a:txBody>
                  <a:tcPr anchor="ctr" marL="27432" marR="27432" marT="4572" marB="4572">
                    <a:lnL w="6350">
                      <a:solidFill>
                        <a:srgbClr val="E2E7F2"/>
                      </a:solidFill>
                    </a:lnL>
                    <a:lnR w="6350">
                      <a:solidFill>
                        <a:srgbClr val="E2E7F2"/>
                      </a:solidFill>
                    </a:lnR>
                    <a:lnT w="6350">
                      <a:solidFill>
                        <a:srgbClr val="E2E7F2"/>
                      </a:solidFill>
                    </a:lnT>
                    <a:lnB w="6350">
                      <a:solidFill>
                        <a:srgbClr val="E2E7F2"/>
                      </a:solidFill>
                    </a:lnB>
                    <a:solidFill>
                      <a:srgbClr val="FFFFFF"/>
                    </a:solidFill>
                  </a:tcPr>
                </a:tc>
              </a:tr>
              <a:tr h="214884">
                <a:tc>
                  <a:txBody>
                    <a:bodyPr wrap="none"/>
                    <a:lstStyle/>
                    <a:p>
                      <a:pPr algn="l"/>
                      <a:r>
                        <a:rPr sz="850" b="1">
                          <a:solidFill>
                            <a:srgbClr val="26292E"/>
                          </a:solidFill>
                          <a:latin typeface="Calibri"/>
                        </a:rPr>
                        <a:t>Employee</a:t>
                      </a:r>
                    </a:p>
                  </a:txBody>
                  <a:tcPr anchor="ctr" marL="27432" marR="27432" marT="4572" marB="4572">
                    <a:lnL w="6350">
                      <a:solidFill>
                        <a:srgbClr val="E2E7F2"/>
                      </a:solidFill>
                    </a:lnL>
                    <a:lnR w="6350">
                      <a:solidFill>
                        <a:srgbClr val="E2E7F2"/>
                      </a:solidFill>
                    </a:lnR>
                    <a:lnT w="6350">
                      <a:solidFill>
                        <a:srgbClr val="E2E7F2"/>
                      </a:solidFill>
                    </a:lnT>
                    <a:lnB w="6350">
                      <a:solidFill>
                        <a:srgbClr val="E2E7F2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wrap="none"/>
                    <a:lstStyle/>
                    <a:p>
                      <a:pPr algn="r"/>
                      <a:r>
                        <a:rPr sz="850" b="0">
                          <a:solidFill>
                            <a:srgbClr val="26292E"/>
                          </a:solidFill>
                          <a:latin typeface="Calibri"/>
                        </a:rPr>
                        <a:t>2,609</a:t>
                      </a:r>
                    </a:p>
                  </a:txBody>
                  <a:tcPr anchor="ctr" marL="27432" marR="27432" marT="4572" marB="4572">
                    <a:lnL w="6350">
                      <a:solidFill>
                        <a:srgbClr val="E2E7F2"/>
                      </a:solidFill>
                    </a:lnL>
                    <a:lnR w="6350">
                      <a:solidFill>
                        <a:srgbClr val="E2E7F2"/>
                      </a:solidFill>
                    </a:lnR>
                    <a:lnT w="6350">
                      <a:solidFill>
                        <a:srgbClr val="E2E7F2"/>
                      </a:solidFill>
                    </a:lnT>
                    <a:lnB w="6350">
                      <a:solidFill>
                        <a:srgbClr val="E2E7F2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wrap="none"/>
                    <a:lstStyle/>
                    <a:p>
                      <a:pPr algn="r"/>
                      <a:r>
                        <a:rPr sz="850" b="0">
                          <a:solidFill>
                            <a:srgbClr val="26292E"/>
                          </a:solidFill>
                          <a:latin typeface="Calibri"/>
                        </a:rPr>
                        <a:t>2,852</a:t>
                      </a:r>
                    </a:p>
                  </a:txBody>
                  <a:tcPr anchor="ctr" marL="27432" marR="27432" marT="4572" marB="4572">
                    <a:lnL w="6350">
                      <a:solidFill>
                        <a:srgbClr val="E2E7F2"/>
                      </a:solidFill>
                    </a:lnL>
                    <a:lnR w="6350">
                      <a:solidFill>
                        <a:srgbClr val="E2E7F2"/>
                      </a:solidFill>
                    </a:lnR>
                    <a:lnT w="6350">
                      <a:solidFill>
                        <a:srgbClr val="E2E7F2"/>
                      </a:solidFill>
                    </a:lnT>
                    <a:lnB w="6350">
                      <a:solidFill>
                        <a:srgbClr val="E2E7F2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wrap="none"/>
                    <a:lstStyle/>
                    <a:p>
                      <a:pPr algn="r"/>
                      <a:r>
                        <a:rPr sz="850" b="0">
                          <a:solidFill>
                            <a:srgbClr val="26292E"/>
                          </a:solidFill>
                          <a:latin typeface="Calibri"/>
                        </a:rPr>
                        <a:t>2,675</a:t>
                      </a:r>
                    </a:p>
                  </a:txBody>
                  <a:tcPr anchor="ctr" marL="27432" marR="27432" marT="4572" marB="4572">
                    <a:lnL w="6350">
                      <a:solidFill>
                        <a:srgbClr val="E2E7F2"/>
                      </a:solidFill>
                    </a:lnL>
                    <a:lnR w="6350">
                      <a:solidFill>
                        <a:srgbClr val="E2E7F2"/>
                      </a:solidFill>
                    </a:lnR>
                    <a:lnT w="6350">
                      <a:solidFill>
                        <a:srgbClr val="E2E7F2"/>
                      </a:solidFill>
                    </a:lnT>
                    <a:lnB w="6350">
                      <a:solidFill>
                        <a:srgbClr val="E2E7F2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wrap="none"/>
                    <a:lstStyle/>
                    <a:p>
                      <a:pPr algn="r"/>
                      <a:r>
                        <a:rPr sz="850" b="0">
                          <a:solidFill>
                            <a:srgbClr val="26292E"/>
                          </a:solidFill>
                          <a:latin typeface="Calibri"/>
                        </a:rPr>
                        <a:t>2,530</a:t>
                      </a:r>
                    </a:p>
                  </a:txBody>
                  <a:tcPr anchor="ctr" marL="27432" marR="27432" marT="4572" marB="4572">
                    <a:lnL w="6350">
                      <a:solidFill>
                        <a:srgbClr val="E2E7F2"/>
                      </a:solidFill>
                    </a:lnL>
                    <a:lnR w="6350">
                      <a:solidFill>
                        <a:srgbClr val="E2E7F2"/>
                      </a:solidFill>
                    </a:lnR>
                    <a:lnT w="6350">
                      <a:solidFill>
                        <a:srgbClr val="E2E7F2"/>
                      </a:solidFill>
                    </a:lnT>
                    <a:lnB w="6350">
                      <a:solidFill>
                        <a:srgbClr val="E2E7F2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wrap="none"/>
                    <a:lstStyle/>
                    <a:p>
                      <a:pPr algn="r"/>
                      <a:r>
                        <a:rPr sz="850" b="0">
                          <a:solidFill>
                            <a:srgbClr val="26292E"/>
                          </a:solidFill>
                          <a:latin typeface="Calibri"/>
                        </a:rPr>
                        <a:t>2,121</a:t>
                      </a:r>
                    </a:p>
                  </a:txBody>
                  <a:tcPr anchor="ctr" marL="27432" marR="27432" marT="4572" marB="4572">
                    <a:lnL w="6350">
                      <a:solidFill>
                        <a:srgbClr val="E2E7F2"/>
                      </a:solidFill>
                    </a:lnL>
                    <a:lnR w="6350">
                      <a:solidFill>
                        <a:srgbClr val="E2E7F2"/>
                      </a:solidFill>
                    </a:lnR>
                    <a:lnT w="6350">
                      <a:solidFill>
                        <a:srgbClr val="E2E7F2"/>
                      </a:solidFill>
                    </a:lnT>
                    <a:lnB w="6350">
                      <a:solidFill>
                        <a:srgbClr val="E2E7F2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wrap="none"/>
                    <a:lstStyle/>
                    <a:p>
                      <a:pPr algn="r"/>
                      <a:r>
                        <a:rPr sz="850" b="0">
                          <a:solidFill>
                            <a:srgbClr val="26292E"/>
                          </a:solidFill>
                          <a:latin typeface="Calibri"/>
                        </a:rPr>
                        <a:t>1,983</a:t>
                      </a:r>
                    </a:p>
                  </a:txBody>
                  <a:tcPr anchor="ctr" marL="27432" marR="27432" marT="4572" marB="4572">
                    <a:lnL w="6350">
                      <a:solidFill>
                        <a:srgbClr val="E2E7F2"/>
                      </a:solidFill>
                    </a:lnL>
                    <a:lnR w="6350">
                      <a:solidFill>
                        <a:srgbClr val="E2E7F2"/>
                      </a:solidFill>
                    </a:lnR>
                    <a:lnT w="6350">
                      <a:solidFill>
                        <a:srgbClr val="E2E7F2"/>
                      </a:solidFill>
                    </a:lnT>
                    <a:lnB w="6350">
                      <a:solidFill>
                        <a:srgbClr val="E2E7F2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wrap="none"/>
                    <a:lstStyle/>
                    <a:p>
                      <a:pPr algn="r"/>
                      <a:r>
                        <a:rPr sz="850" b="1">
                          <a:solidFill>
                            <a:srgbClr val="26292E"/>
                          </a:solidFill>
                          <a:latin typeface="Calibri"/>
                        </a:rPr>
                        <a:t>2,504</a:t>
                      </a:r>
                    </a:p>
                  </a:txBody>
                  <a:tcPr anchor="ctr" marL="27432" marR="27432" marT="4572" marB="4572">
                    <a:lnL w="6350">
                      <a:solidFill>
                        <a:srgbClr val="E2E7F2"/>
                      </a:solidFill>
                    </a:lnL>
                    <a:lnR w="6350">
                      <a:solidFill>
                        <a:srgbClr val="E2E7F2"/>
                      </a:solidFill>
                    </a:lnR>
                    <a:lnT w="6350">
                      <a:solidFill>
                        <a:srgbClr val="E2E7F2"/>
                      </a:solidFill>
                    </a:lnT>
                    <a:lnB w="6350">
                      <a:solidFill>
                        <a:srgbClr val="E2E7F2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wrap="none"/>
                    <a:lstStyle/>
                    <a:p>
                      <a:pPr algn="r"/>
                      <a:r>
                        <a:rPr sz="850" b="1">
                          <a:solidFill>
                            <a:srgbClr val="C62828"/>
                          </a:solidFill>
                          <a:latin typeface="Calibri"/>
                        </a:rPr>
                        <a:t>-4.8%</a:t>
                      </a:r>
                    </a:p>
                  </a:txBody>
                  <a:tcPr anchor="ctr" marL="27432" marR="27432" marT="4572" marB="4572">
                    <a:lnL w="6350">
                      <a:solidFill>
                        <a:srgbClr val="E2E7F2"/>
                      </a:solidFill>
                    </a:lnL>
                    <a:lnR w="6350">
                      <a:solidFill>
                        <a:srgbClr val="E2E7F2"/>
                      </a:solidFill>
                    </a:lnR>
                    <a:lnT w="6350">
                      <a:solidFill>
                        <a:srgbClr val="E2E7F2"/>
                      </a:solidFill>
                    </a:lnT>
                    <a:lnB w="6350">
                      <a:solidFill>
                        <a:srgbClr val="E2E7F2"/>
                      </a:solidFill>
                    </a:lnB>
                    <a:solidFill>
                      <a:srgbClr val="FFFFFF"/>
                    </a:solidFill>
                  </a:tcPr>
                </a:tc>
              </a:tr>
              <a:tr h="214884">
                <a:tc>
                  <a:txBody>
                    <a:bodyPr wrap="none"/>
                    <a:lstStyle/>
                    <a:p>
                      <a:pPr algn="l"/>
                      <a:r>
                        <a:rPr sz="850" b="0">
                          <a:solidFill>
                            <a:srgbClr val="595959"/>
                          </a:solidFill>
                          <a:latin typeface="Calibri"/>
                        </a:rPr>
                        <a:t>   ’25</a:t>
                      </a:r>
                    </a:p>
                  </a:txBody>
                  <a:tcPr anchor="ctr" marL="27432" marR="27432" marT="4572" marB="4572">
                    <a:lnL w="6350">
                      <a:solidFill>
                        <a:srgbClr val="E2E7F2"/>
                      </a:solidFill>
                    </a:lnL>
                    <a:lnR w="6350">
                      <a:solidFill>
                        <a:srgbClr val="E2E7F2"/>
                      </a:solidFill>
                    </a:lnR>
                    <a:lnT w="6350">
                      <a:solidFill>
                        <a:srgbClr val="E2E7F2"/>
                      </a:solidFill>
                    </a:lnT>
                    <a:lnB w="6350">
                      <a:solidFill>
                        <a:srgbClr val="E2E7F2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wrap="none"/>
                    <a:lstStyle/>
                    <a:p>
                      <a:pPr algn="r"/>
                      <a:r>
                        <a:rPr sz="850" b="0">
                          <a:solidFill>
                            <a:srgbClr val="595959"/>
                          </a:solidFill>
                          <a:latin typeface="Calibri"/>
                        </a:rPr>
                        <a:t>4,365</a:t>
                      </a:r>
                    </a:p>
                  </a:txBody>
                  <a:tcPr anchor="ctr" marL="27432" marR="27432" marT="4572" marB="4572">
                    <a:lnL w="6350">
                      <a:solidFill>
                        <a:srgbClr val="E2E7F2"/>
                      </a:solidFill>
                    </a:lnL>
                    <a:lnR w="6350">
                      <a:solidFill>
                        <a:srgbClr val="E2E7F2"/>
                      </a:solidFill>
                    </a:lnR>
                    <a:lnT w="6350">
                      <a:solidFill>
                        <a:srgbClr val="E2E7F2"/>
                      </a:solidFill>
                    </a:lnT>
                    <a:lnB w="6350">
                      <a:solidFill>
                        <a:srgbClr val="E2E7F2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wrap="none"/>
                    <a:lstStyle/>
                    <a:p>
                      <a:pPr algn="r"/>
                      <a:r>
                        <a:rPr sz="850" b="0">
                          <a:solidFill>
                            <a:srgbClr val="595959"/>
                          </a:solidFill>
                          <a:latin typeface="Calibri"/>
                        </a:rPr>
                        <a:t>2,879</a:t>
                      </a:r>
                    </a:p>
                  </a:txBody>
                  <a:tcPr anchor="ctr" marL="27432" marR="27432" marT="4572" marB="4572">
                    <a:lnL w="6350">
                      <a:solidFill>
                        <a:srgbClr val="E2E7F2"/>
                      </a:solidFill>
                    </a:lnL>
                    <a:lnR w="6350">
                      <a:solidFill>
                        <a:srgbClr val="E2E7F2"/>
                      </a:solidFill>
                    </a:lnR>
                    <a:lnT w="6350">
                      <a:solidFill>
                        <a:srgbClr val="E2E7F2"/>
                      </a:solidFill>
                    </a:lnT>
                    <a:lnB w="6350">
                      <a:solidFill>
                        <a:srgbClr val="E2E7F2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wrap="none"/>
                    <a:lstStyle/>
                    <a:p>
                      <a:pPr algn="r"/>
                      <a:r>
                        <a:rPr sz="850" b="0">
                          <a:solidFill>
                            <a:srgbClr val="595959"/>
                          </a:solidFill>
                          <a:latin typeface="Calibri"/>
                        </a:rPr>
                        <a:t>2,259</a:t>
                      </a:r>
                    </a:p>
                  </a:txBody>
                  <a:tcPr anchor="ctr" marL="27432" marR="27432" marT="4572" marB="4572">
                    <a:lnL w="6350">
                      <a:solidFill>
                        <a:srgbClr val="E2E7F2"/>
                      </a:solidFill>
                    </a:lnL>
                    <a:lnR w="6350">
                      <a:solidFill>
                        <a:srgbClr val="E2E7F2"/>
                      </a:solidFill>
                    </a:lnR>
                    <a:lnT w="6350">
                      <a:solidFill>
                        <a:srgbClr val="E2E7F2"/>
                      </a:solidFill>
                    </a:lnT>
                    <a:lnB w="6350">
                      <a:solidFill>
                        <a:srgbClr val="E2E7F2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wrap="none"/>
                    <a:lstStyle/>
                    <a:p>
                      <a:pPr algn="r"/>
                      <a:r>
                        <a:rPr sz="850" b="0">
                          <a:solidFill>
                            <a:srgbClr val="595959"/>
                          </a:solidFill>
                          <a:latin typeface="Calibri"/>
                        </a:rPr>
                        <a:t>2,095</a:t>
                      </a:r>
                    </a:p>
                  </a:txBody>
                  <a:tcPr anchor="ctr" marL="27432" marR="27432" marT="4572" marB="4572">
                    <a:lnL w="6350">
                      <a:solidFill>
                        <a:srgbClr val="E2E7F2"/>
                      </a:solidFill>
                    </a:lnL>
                    <a:lnR w="6350">
                      <a:solidFill>
                        <a:srgbClr val="E2E7F2"/>
                      </a:solidFill>
                    </a:lnR>
                    <a:lnT w="6350">
                      <a:solidFill>
                        <a:srgbClr val="E2E7F2"/>
                      </a:solidFill>
                    </a:lnT>
                    <a:lnB w="6350">
                      <a:solidFill>
                        <a:srgbClr val="E2E7F2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wrap="none"/>
                    <a:lstStyle/>
                    <a:p>
                      <a:pPr algn="r"/>
                      <a:r>
                        <a:rPr sz="850" b="0">
                          <a:solidFill>
                            <a:srgbClr val="595959"/>
                          </a:solidFill>
                          <a:latin typeface="Calibri"/>
                        </a:rPr>
                        <a:t>2,500</a:t>
                      </a:r>
                    </a:p>
                  </a:txBody>
                  <a:tcPr anchor="ctr" marL="27432" marR="27432" marT="4572" marB="4572">
                    <a:lnL w="6350">
                      <a:solidFill>
                        <a:srgbClr val="E2E7F2"/>
                      </a:solidFill>
                    </a:lnL>
                    <a:lnR w="6350">
                      <a:solidFill>
                        <a:srgbClr val="E2E7F2"/>
                      </a:solidFill>
                    </a:lnR>
                    <a:lnT w="6350">
                      <a:solidFill>
                        <a:srgbClr val="E2E7F2"/>
                      </a:solidFill>
                    </a:lnT>
                    <a:lnB w="6350">
                      <a:solidFill>
                        <a:srgbClr val="E2E7F2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wrap="none"/>
                    <a:lstStyle/>
                    <a:p>
                      <a:pPr algn="r"/>
                      <a:r>
                        <a:rPr sz="850" b="0">
                          <a:solidFill>
                            <a:srgbClr val="595959"/>
                          </a:solidFill>
                          <a:latin typeface="Calibri"/>
                        </a:rPr>
                        <a:t>2,720</a:t>
                      </a:r>
                    </a:p>
                  </a:txBody>
                  <a:tcPr anchor="ctr" marL="27432" marR="27432" marT="4572" marB="4572">
                    <a:lnL w="6350">
                      <a:solidFill>
                        <a:srgbClr val="E2E7F2"/>
                      </a:solidFill>
                    </a:lnL>
                    <a:lnR w="6350">
                      <a:solidFill>
                        <a:srgbClr val="E2E7F2"/>
                      </a:solidFill>
                    </a:lnR>
                    <a:lnT w="6350">
                      <a:solidFill>
                        <a:srgbClr val="E2E7F2"/>
                      </a:solidFill>
                    </a:lnT>
                    <a:lnB w="6350">
                      <a:solidFill>
                        <a:srgbClr val="E2E7F2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wrap="none"/>
                    <a:lstStyle/>
                    <a:p>
                      <a:pPr algn="r"/>
                      <a:r>
                        <a:rPr sz="850" b="0">
                          <a:solidFill>
                            <a:srgbClr val="595959"/>
                          </a:solidFill>
                          <a:latin typeface="Calibri"/>
                        </a:rPr>
                        <a:t>2,629</a:t>
                      </a:r>
                    </a:p>
                  </a:txBody>
                  <a:tcPr anchor="ctr" marL="27432" marR="27432" marT="4572" marB="4572">
                    <a:lnL w="6350">
                      <a:solidFill>
                        <a:srgbClr val="E2E7F2"/>
                      </a:solidFill>
                    </a:lnL>
                    <a:lnR w="6350">
                      <a:solidFill>
                        <a:srgbClr val="E2E7F2"/>
                      </a:solidFill>
                    </a:lnR>
                    <a:lnT w="6350">
                      <a:solidFill>
                        <a:srgbClr val="E2E7F2"/>
                      </a:solidFill>
                    </a:lnT>
                    <a:lnB w="6350">
                      <a:solidFill>
                        <a:srgbClr val="E2E7F2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wrap="none"/>
                    <a:lstStyle/>
                    <a:p>
                      <a:pPr algn="l"/>
                      <a:r>
                        <a:rPr sz="850" b="0">
                          <a:solidFill>
                            <a:srgbClr val="26292E"/>
                          </a:solidFill>
                          <a:latin typeface="Calibri"/>
                        </a:rPr>
                        <a:t/>
                      </a:r>
                    </a:p>
                  </a:txBody>
                  <a:tcPr anchor="ctr" marL="27432" marR="27432" marT="4572" marB="4572">
                    <a:lnL w="6350">
                      <a:solidFill>
                        <a:srgbClr val="E2E7F2"/>
                      </a:solidFill>
                    </a:lnL>
                    <a:lnR w="6350">
                      <a:solidFill>
                        <a:srgbClr val="E2E7F2"/>
                      </a:solidFill>
                    </a:lnR>
                    <a:lnT w="6350">
                      <a:solidFill>
                        <a:srgbClr val="E2E7F2"/>
                      </a:solidFill>
                    </a:lnT>
                    <a:lnB w="6350">
                      <a:solidFill>
                        <a:srgbClr val="E2E7F2"/>
                      </a:solidFill>
                    </a:lnB>
                    <a:solidFill>
                      <a:srgbClr val="FFFFFF"/>
                    </a:solidFill>
                  </a:tcPr>
                </a:tc>
              </a:tr>
              <a:tr h="214884">
                <a:tc>
                  <a:txBody>
                    <a:bodyPr wrap="none"/>
                    <a:lstStyle/>
                    <a:p>
                      <a:pPr algn="l"/>
                      <a:r>
                        <a:rPr sz="850" b="1">
                          <a:solidFill>
                            <a:srgbClr val="26292E"/>
                          </a:solidFill>
                          <a:latin typeface="Calibri"/>
                        </a:rPr>
                        <a:t>Group w/ Banque</a:t>
                      </a:r>
                    </a:p>
                  </a:txBody>
                  <a:tcPr anchor="ctr" marL="27432" marR="27432" marT="4572" marB="4572">
                    <a:lnL w="6350">
                      <a:solidFill>
                        <a:srgbClr val="E2E7F2"/>
                      </a:solidFill>
                    </a:lnL>
                    <a:lnR w="6350">
                      <a:solidFill>
                        <a:srgbClr val="E2E7F2"/>
                      </a:solidFill>
                    </a:lnR>
                    <a:lnT w="6350">
                      <a:solidFill>
                        <a:srgbClr val="E2E7F2"/>
                      </a:solidFill>
                    </a:lnT>
                    <a:lnB w="6350">
                      <a:solidFill>
                        <a:srgbClr val="E2E7F2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wrap="none"/>
                    <a:lstStyle/>
                    <a:p>
                      <a:pPr algn="r"/>
                      <a:r>
                        <a:rPr sz="850" b="0">
                          <a:solidFill>
                            <a:srgbClr val="26292E"/>
                          </a:solidFill>
                          <a:latin typeface="Calibri"/>
                        </a:rPr>
                        <a:t>–</a:t>
                      </a:r>
                    </a:p>
                  </a:txBody>
                  <a:tcPr anchor="ctr" marL="27432" marR="27432" marT="4572" marB="4572">
                    <a:lnL w="6350">
                      <a:solidFill>
                        <a:srgbClr val="E2E7F2"/>
                      </a:solidFill>
                    </a:lnL>
                    <a:lnR w="6350">
                      <a:solidFill>
                        <a:srgbClr val="E2E7F2"/>
                      </a:solidFill>
                    </a:lnR>
                    <a:lnT w="6350">
                      <a:solidFill>
                        <a:srgbClr val="E2E7F2"/>
                      </a:solidFill>
                    </a:lnT>
                    <a:lnB w="6350">
                      <a:solidFill>
                        <a:srgbClr val="E2E7F2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wrap="none"/>
                    <a:lstStyle/>
                    <a:p>
                      <a:pPr algn="r"/>
                      <a:r>
                        <a:rPr sz="850" b="0">
                          <a:solidFill>
                            <a:srgbClr val="26292E"/>
                          </a:solidFill>
                          <a:latin typeface="Calibri"/>
                        </a:rPr>
                        <a:t>–</a:t>
                      </a:r>
                    </a:p>
                  </a:txBody>
                  <a:tcPr anchor="ctr" marL="27432" marR="27432" marT="4572" marB="4572">
                    <a:lnL w="6350">
                      <a:solidFill>
                        <a:srgbClr val="E2E7F2"/>
                      </a:solidFill>
                    </a:lnL>
                    <a:lnR w="6350">
                      <a:solidFill>
                        <a:srgbClr val="E2E7F2"/>
                      </a:solidFill>
                    </a:lnR>
                    <a:lnT w="6350">
                      <a:solidFill>
                        <a:srgbClr val="E2E7F2"/>
                      </a:solidFill>
                    </a:lnT>
                    <a:lnB w="6350">
                      <a:solidFill>
                        <a:srgbClr val="E2E7F2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wrap="none"/>
                    <a:lstStyle/>
                    <a:p>
                      <a:pPr algn="r"/>
                      <a:r>
                        <a:rPr sz="850" b="0">
                          <a:solidFill>
                            <a:srgbClr val="26292E"/>
                          </a:solidFill>
                          <a:latin typeface="Calibri"/>
                        </a:rPr>
                        <a:t>–</a:t>
                      </a:r>
                    </a:p>
                  </a:txBody>
                  <a:tcPr anchor="ctr" marL="27432" marR="27432" marT="4572" marB="4572">
                    <a:lnL w="6350">
                      <a:solidFill>
                        <a:srgbClr val="E2E7F2"/>
                      </a:solidFill>
                    </a:lnL>
                    <a:lnR w="6350">
                      <a:solidFill>
                        <a:srgbClr val="E2E7F2"/>
                      </a:solidFill>
                    </a:lnR>
                    <a:lnT w="6350">
                      <a:solidFill>
                        <a:srgbClr val="E2E7F2"/>
                      </a:solidFill>
                    </a:lnT>
                    <a:lnB w="6350">
                      <a:solidFill>
                        <a:srgbClr val="E2E7F2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wrap="none"/>
                    <a:lstStyle/>
                    <a:p>
                      <a:pPr algn="r"/>
                      <a:r>
                        <a:rPr sz="850" b="0">
                          <a:solidFill>
                            <a:srgbClr val="26292E"/>
                          </a:solidFill>
                          <a:latin typeface="Calibri"/>
                        </a:rPr>
                        <a:t>–</a:t>
                      </a:r>
                    </a:p>
                  </a:txBody>
                  <a:tcPr anchor="ctr" marL="27432" marR="27432" marT="4572" marB="4572">
                    <a:lnL w="6350">
                      <a:solidFill>
                        <a:srgbClr val="E2E7F2"/>
                      </a:solidFill>
                    </a:lnL>
                    <a:lnR w="6350">
                      <a:solidFill>
                        <a:srgbClr val="E2E7F2"/>
                      </a:solidFill>
                    </a:lnR>
                    <a:lnT w="6350">
                      <a:solidFill>
                        <a:srgbClr val="E2E7F2"/>
                      </a:solidFill>
                    </a:lnT>
                    <a:lnB w="6350">
                      <a:solidFill>
                        <a:srgbClr val="E2E7F2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wrap="none"/>
                    <a:lstStyle/>
                    <a:p>
                      <a:pPr algn="r"/>
                      <a:r>
                        <a:rPr sz="850" b="0">
                          <a:solidFill>
                            <a:srgbClr val="26292E"/>
                          </a:solidFill>
                          <a:latin typeface="Calibri"/>
                        </a:rPr>
                        <a:t>–</a:t>
                      </a:r>
                    </a:p>
                  </a:txBody>
                  <a:tcPr anchor="ctr" marL="27432" marR="27432" marT="4572" marB="4572">
                    <a:lnL w="6350">
                      <a:solidFill>
                        <a:srgbClr val="E2E7F2"/>
                      </a:solidFill>
                    </a:lnL>
                    <a:lnR w="6350">
                      <a:solidFill>
                        <a:srgbClr val="E2E7F2"/>
                      </a:solidFill>
                    </a:lnR>
                    <a:lnT w="6350">
                      <a:solidFill>
                        <a:srgbClr val="E2E7F2"/>
                      </a:solidFill>
                    </a:lnT>
                    <a:lnB w="6350">
                      <a:solidFill>
                        <a:srgbClr val="E2E7F2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wrap="none"/>
                    <a:lstStyle/>
                    <a:p>
                      <a:pPr algn="r"/>
                      <a:r>
                        <a:rPr sz="850" b="0">
                          <a:solidFill>
                            <a:srgbClr val="26292E"/>
                          </a:solidFill>
                          <a:latin typeface="Calibri"/>
                        </a:rPr>
                        <a:t>–</a:t>
                      </a:r>
                    </a:p>
                  </a:txBody>
                  <a:tcPr anchor="ctr" marL="27432" marR="27432" marT="4572" marB="4572">
                    <a:lnL w="6350">
                      <a:solidFill>
                        <a:srgbClr val="E2E7F2"/>
                      </a:solidFill>
                    </a:lnL>
                    <a:lnR w="6350">
                      <a:solidFill>
                        <a:srgbClr val="E2E7F2"/>
                      </a:solidFill>
                    </a:lnR>
                    <a:lnT w="6350">
                      <a:solidFill>
                        <a:srgbClr val="E2E7F2"/>
                      </a:solidFill>
                    </a:lnT>
                    <a:lnB w="6350">
                      <a:solidFill>
                        <a:srgbClr val="E2E7F2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wrap="none"/>
                    <a:lstStyle/>
                    <a:p>
                      <a:pPr algn="r"/>
                      <a:r>
                        <a:rPr sz="850" b="1">
                          <a:solidFill>
                            <a:srgbClr val="26292E"/>
                          </a:solidFill>
                          <a:latin typeface="Calibri"/>
                        </a:rPr>
                        <a:t>–</a:t>
                      </a:r>
                    </a:p>
                  </a:txBody>
                  <a:tcPr anchor="ctr" marL="27432" marR="27432" marT="4572" marB="4572">
                    <a:lnL w="6350">
                      <a:solidFill>
                        <a:srgbClr val="E2E7F2"/>
                      </a:solidFill>
                    </a:lnL>
                    <a:lnR w="6350">
                      <a:solidFill>
                        <a:srgbClr val="E2E7F2"/>
                      </a:solidFill>
                    </a:lnR>
                    <a:lnT w="6350">
                      <a:solidFill>
                        <a:srgbClr val="E2E7F2"/>
                      </a:solidFill>
                    </a:lnT>
                    <a:lnB w="6350">
                      <a:solidFill>
                        <a:srgbClr val="E2E7F2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wrap="none"/>
                    <a:lstStyle/>
                    <a:p>
                      <a:pPr algn="r"/>
                      <a:r>
                        <a:rPr sz="850" b="1">
                          <a:solidFill>
                            <a:srgbClr val="1E7B34"/>
                          </a:solidFill>
                          <a:latin typeface="Calibri"/>
                        </a:rPr>
                        <a:t/>
                      </a:r>
                    </a:p>
                  </a:txBody>
                  <a:tcPr anchor="ctr" marL="27432" marR="27432" marT="4572" marB="4572">
                    <a:lnL w="6350">
                      <a:solidFill>
                        <a:srgbClr val="E2E7F2"/>
                      </a:solidFill>
                    </a:lnL>
                    <a:lnR w="6350">
                      <a:solidFill>
                        <a:srgbClr val="E2E7F2"/>
                      </a:solidFill>
                    </a:lnR>
                    <a:lnT w="6350">
                      <a:solidFill>
                        <a:srgbClr val="E2E7F2"/>
                      </a:solidFill>
                    </a:lnT>
                    <a:lnB w="6350">
                      <a:solidFill>
                        <a:srgbClr val="E2E7F2"/>
                      </a:solidFill>
                    </a:lnB>
                    <a:solidFill>
                      <a:srgbClr val="FFFFFF"/>
                    </a:solidFill>
                  </a:tcPr>
                </a:tc>
              </a:tr>
              <a:tr h="214884">
                <a:tc>
                  <a:txBody>
                    <a:bodyPr wrap="none"/>
                    <a:lstStyle/>
                    <a:p>
                      <a:pPr algn="l"/>
                      <a:r>
                        <a:rPr sz="850" b="0">
                          <a:solidFill>
                            <a:srgbClr val="595959"/>
                          </a:solidFill>
                          <a:latin typeface="Calibri"/>
                        </a:rPr>
                        <a:t>   ’25</a:t>
                      </a:r>
                    </a:p>
                  </a:txBody>
                  <a:tcPr anchor="ctr" marL="27432" marR="27432" marT="4572" marB="4572">
                    <a:lnL w="6350">
                      <a:solidFill>
                        <a:srgbClr val="E2E7F2"/>
                      </a:solidFill>
                    </a:lnL>
                    <a:lnR w="6350">
                      <a:solidFill>
                        <a:srgbClr val="E2E7F2"/>
                      </a:solidFill>
                    </a:lnR>
                    <a:lnT w="6350">
                      <a:solidFill>
                        <a:srgbClr val="E2E7F2"/>
                      </a:solidFill>
                    </a:lnT>
                    <a:lnB w="6350">
                      <a:solidFill>
                        <a:srgbClr val="E2E7F2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wrap="none"/>
                    <a:lstStyle/>
                    <a:p>
                      <a:pPr algn="r"/>
                      <a:r>
                        <a:rPr sz="850" b="0">
                          <a:solidFill>
                            <a:srgbClr val="595959"/>
                          </a:solidFill>
                          <a:latin typeface="Calibri"/>
                        </a:rPr>
                        <a:t>3,765</a:t>
                      </a:r>
                    </a:p>
                  </a:txBody>
                  <a:tcPr anchor="ctr" marL="27432" marR="27432" marT="4572" marB="4572">
                    <a:lnL w="6350">
                      <a:solidFill>
                        <a:srgbClr val="E2E7F2"/>
                      </a:solidFill>
                    </a:lnL>
                    <a:lnR w="6350">
                      <a:solidFill>
                        <a:srgbClr val="E2E7F2"/>
                      </a:solidFill>
                    </a:lnR>
                    <a:lnT w="6350">
                      <a:solidFill>
                        <a:srgbClr val="E2E7F2"/>
                      </a:solidFill>
                    </a:lnT>
                    <a:lnB w="6350">
                      <a:solidFill>
                        <a:srgbClr val="E2E7F2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wrap="none"/>
                    <a:lstStyle/>
                    <a:p>
                      <a:pPr algn="r"/>
                      <a:r>
                        <a:rPr sz="850" b="0">
                          <a:solidFill>
                            <a:srgbClr val="595959"/>
                          </a:solidFill>
                          <a:latin typeface="Calibri"/>
                        </a:rPr>
                        <a:t>–</a:t>
                      </a:r>
                    </a:p>
                  </a:txBody>
                  <a:tcPr anchor="ctr" marL="27432" marR="27432" marT="4572" marB="4572">
                    <a:lnL w="6350">
                      <a:solidFill>
                        <a:srgbClr val="E2E7F2"/>
                      </a:solidFill>
                    </a:lnL>
                    <a:lnR w="6350">
                      <a:solidFill>
                        <a:srgbClr val="E2E7F2"/>
                      </a:solidFill>
                    </a:lnR>
                    <a:lnT w="6350">
                      <a:solidFill>
                        <a:srgbClr val="E2E7F2"/>
                      </a:solidFill>
                    </a:lnT>
                    <a:lnB w="6350">
                      <a:solidFill>
                        <a:srgbClr val="E2E7F2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wrap="none"/>
                    <a:lstStyle/>
                    <a:p>
                      <a:pPr algn="r"/>
                      <a:r>
                        <a:rPr sz="850" b="0">
                          <a:solidFill>
                            <a:srgbClr val="595959"/>
                          </a:solidFill>
                          <a:latin typeface="Calibri"/>
                        </a:rPr>
                        <a:t>–</a:t>
                      </a:r>
                    </a:p>
                  </a:txBody>
                  <a:tcPr anchor="ctr" marL="27432" marR="27432" marT="4572" marB="4572">
                    <a:lnL w="6350">
                      <a:solidFill>
                        <a:srgbClr val="E2E7F2"/>
                      </a:solidFill>
                    </a:lnL>
                    <a:lnR w="6350">
                      <a:solidFill>
                        <a:srgbClr val="E2E7F2"/>
                      </a:solidFill>
                    </a:lnR>
                    <a:lnT w="6350">
                      <a:solidFill>
                        <a:srgbClr val="E2E7F2"/>
                      </a:solidFill>
                    </a:lnT>
                    <a:lnB w="6350">
                      <a:solidFill>
                        <a:srgbClr val="E2E7F2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wrap="none"/>
                    <a:lstStyle/>
                    <a:p>
                      <a:pPr algn="r"/>
                      <a:r>
                        <a:rPr sz="850" b="0">
                          <a:solidFill>
                            <a:srgbClr val="595959"/>
                          </a:solidFill>
                          <a:latin typeface="Calibri"/>
                        </a:rPr>
                        <a:t>–</a:t>
                      </a:r>
                    </a:p>
                  </a:txBody>
                  <a:tcPr anchor="ctr" marL="27432" marR="27432" marT="4572" marB="4572">
                    <a:lnL w="6350">
                      <a:solidFill>
                        <a:srgbClr val="E2E7F2"/>
                      </a:solidFill>
                    </a:lnL>
                    <a:lnR w="6350">
                      <a:solidFill>
                        <a:srgbClr val="E2E7F2"/>
                      </a:solidFill>
                    </a:lnR>
                    <a:lnT w="6350">
                      <a:solidFill>
                        <a:srgbClr val="E2E7F2"/>
                      </a:solidFill>
                    </a:lnT>
                    <a:lnB w="6350">
                      <a:solidFill>
                        <a:srgbClr val="E2E7F2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wrap="none"/>
                    <a:lstStyle/>
                    <a:p>
                      <a:pPr algn="r"/>
                      <a:r>
                        <a:rPr sz="850" b="0">
                          <a:solidFill>
                            <a:srgbClr val="595959"/>
                          </a:solidFill>
                          <a:latin typeface="Calibri"/>
                        </a:rPr>
                        <a:t>–</a:t>
                      </a:r>
                    </a:p>
                  </a:txBody>
                  <a:tcPr anchor="ctr" marL="27432" marR="27432" marT="4572" marB="4572">
                    <a:lnL w="6350">
                      <a:solidFill>
                        <a:srgbClr val="E2E7F2"/>
                      </a:solidFill>
                    </a:lnL>
                    <a:lnR w="6350">
                      <a:solidFill>
                        <a:srgbClr val="E2E7F2"/>
                      </a:solidFill>
                    </a:lnR>
                    <a:lnT w="6350">
                      <a:solidFill>
                        <a:srgbClr val="E2E7F2"/>
                      </a:solidFill>
                    </a:lnT>
                    <a:lnB w="6350">
                      <a:solidFill>
                        <a:srgbClr val="E2E7F2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wrap="none"/>
                    <a:lstStyle/>
                    <a:p>
                      <a:pPr algn="r"/>
                      <a:r>
                        <a:rPr sz="850" b="0">
                          <a:solidFill>
                            <a:srgbClr val="595959"/>
                          </a:solidFill>
                          <a:latin typeface="Calibri"/>
                        </a:rPr>
                        <a:t>–</a:t>
                      </a:r>
                    </a:p>
                  </a:txBody>
                  <a:tcPr anchor="ctr" marL="27432" marR="27432" marT="4572" marB="4572">
                    <a:lnL w="6350">
                      <a:solidFill>
                        <a:srgbClr val="E2E7F2"/>
                      </a:solidFill>
                    </a:lnL>
                    <a:lnR w="6350">
                      <a:solidFill>
                        <a:srgbClr val="E2E7F2"/>
                      </a:solidFill>
                    </a:lnR>
                    <a:lnT w="6350">
                      <a:solidFill>
                        <a:srgbClr val="E2E7F2"/>
                      </a:solidFill>
                    </a:lnT>
                    <a:lnB w="6350">
                      <a:solidFill>
                        <a:srgbClr val="E2E7F2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wrap="none"/>
                    <a:lstStyle/>
                    <a:p>
                      <a:pPr algn="r"/>
                      <a:r>
                        <a:rPr sz="850" b="0">
                          <a:solidFill>
                            <a:srgbClr val="595959"/>
                          </a:solidFill>
                          <a:latin typeface="Calibri"/>
                        </a:rPr>
                        <a:t>3,765</a:t>
                      </a:r>
                    </a:p>
                  </a:txBody>
                  <a:tcPr anchor="ctr" marL="27432" marR="27432" marT="4572" marB="4572">
                    <a:lnL w="6350">
                      <a:solidFill>
                        <a:srgbClr val="E2E7F2"/>
                      </a:solidFill>
                    </a:lnL>
                    <a:lnR w="6350">
                      <a:solidFill>
                        <a:srgbClr val="E2E7F2"/>
                      </a:solidFill>
                    </a:lnR>
                    <a:lnT w="6350">
                      <a:solidFill>
                        <a:srgbClr val="E2E7F2"/>
                      </a:solidFill>
                    </a:lnT>
                    <a:lnB w="6350">
                      <a:solidFill>
                        <a:srgbClr val="E2E7F2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wrap="none"/>
                    <a:lstStyle/>
                    <a:p>
                      <a:pPr algn="l"/>
                      <a:r>
                        <a:rPr sz="850" b="0">
                          <a:solidFill>
                            <a:srgbClr val="26292E"/>
                          </a:solidFill>
                          <a:latin typeface="Calibri"/>
                        </a:rPr>
                        <a:t/>
                      </a:r>
                    </a:p>
                  </a:txBody>
                  <a:tcPr anchor="ctr" marL="27432" marR="27432" marT="4572" marB="4572">
                    <a:lnL w="6350">
                      <a:solidFill>
                        <a:srgbClr val="E2E7F2"/>
                      </a:solidFill>
                    </a:lnL>
                    <a:lnR w="6350">
                      <a:solidFill>
                        <a:srgbClr val="E2E7F2"/>
                      </a:solidFill>
                    </a:lnR>
                    <a:lnT w="6350">
                      <a:solidFill>
                        <a:srgbClr val="E2E7F2"/>
                      </a:solidFill>
                    </a:lnT>
                    <a:lnB w="6350">
                      <a:solidFill>
                        <a:srgbClr val="E2E7F2"/>
                      </a:solidFill>
                    </a:lnB>
                    <a:solidFill>
                      <a:srgbClr val="FFFFFF"/>
                    </a:solidFill>
                  </a:tcPr>
                </a:tc>
              </a:tr>
              <a:tr h="214884">
                <a:tc>
                  <a:txBody>
                    <a:bodyPr wrap="none"/>
                    <a:lstStyle/>
                    <a:p>
                      <a:pPr algn="l"/>
                      <a:r>
                        <a:rPr sz="850" b="1">
                          <a:solidFill>
                            <a:srgbClr val="26292E"/>
                          </a:solidFill>
                          <a:latin typeface="Calibri"/>
                        </a:rPr>
                        <a:t>Total</a:t>
                      </a:r>
                    </a:p>
                  </a:txBody>
                  <a:tcPr anchor="ctr" marL="27432" marR="27432" marT="4572" marB="4572">
                    <a:lnL w="6350">
                      <a:solidFill>
                        <a:srgbClr val="E2E7F2"/>
                      </a:solidFill>
                    </a:lnL>
                    <a:lnR w="6350">
                      <a:solidFill>
                        <a:srgbClr val="E2E7F2"/>
                      </a:solidFill>
                    </a:lnR>
                    <a:lnT w="6350">
                      <a:solidFill>
                        <a:srgbClr val="E2E7F2"/>
                      </a:solidFill>
                    </a:lnT>
                    <a:lnB w="6350">
                      <a:solidFill>
                        <a:srgbClr val="E2E7F2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wrap="none"/>
                    <a:lstStyle/>
                    <a:p>
                      <a:pPr algn="r"/>
                      <a:r>
                        <a:rPr sz="850" b="1">
                          <a:solidFill>
                            <a:srgbClr val="26292E"/>
                          </a:solidFill>
                          <a:latin typeface="Calibri"/>
                        </a:rPr>
                        <a:t>3,827</a:t>
                      </a:r>
                    </a:p>
                  </a:txBody>
                  <a:tcPr anchor="ctr" marL="27432" marR="27432" marT="4572" marB="4572">
                    <a:lnL w="6350">
                      <a:solidFill>
                        <a:srgbClr val="E2E7F2"/>
                      </a:solidFill>
                    </a:lnL>
                    <a:lnR w="6350">
                      <a:solidFill>
                        <a:srgbClr val="E2E7F2"/>
                      </a:solidFill>
                    </a:lnR>
                    <a:lnT w="6350">
                      <a:solidFill>
                        <a:srgbClr val="E2E7F2"/>
                      </a:solidFill>
                    </a:lnT>
                    <a:lnB w="6350">
                      <a:solidFill>
                        <a:srgbClr val="E2E7F2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wrap="none"/>
                    <a:lstStyle/>
                    <a:p>
                      <a:pPr algn="r"/>
                      <a:r>
                        <a:rPr sz="850" b="1">
                          <a:solidFill>
                            <a:srgbClr val="26292E"/>
                          </a:solidFill>
                          <a:latin typeface="Calibri"/>
                        </a:rPr>
                        <a:t>3,910</a:t>
                      </a:r>
                    </a:p>
                  </a:txBody>
                  <a:tcPr anchor="ctr" marL="27432" marR="27432" marT="4572" marB="4572">
                    <a:lnL w="6350">
                      <a:solidFill>
                        <a:srgbClr val="E2E7F2"/>
                      </a:solidFill>
                    </a:lnL>
                    <a:lnR w="6350">
                      <a:solidFill>
                        <a:srgbClr val="E2E7F2"/>
                      </a:solidFill>
                    </a:lnR>
                    <a:lnT w="6350">
                      <a:solidFill>
                        <a:srgbClr val="E2E7F2"/>
                      </a:solidFill>
                    </a:lnT>
                    <a:lnB w="6350">
                      <a:solidFill>
                        <a:srgbClr val="E2E7F2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wrap="none"/>
                    <a:lstStyle/>
                    <a:p>
                      <a:pPr algn="r"/>
                      <a:r>
                        <a:rPr sz="850" b="1">
                          <a:solidFill>
                            <a:srgbClr val="26292E"/>
                          </a:solidFill>
                          <a:latin typeface="Calibri"/>
                        </a:rPr>
                        <a:t>3,478</a:t>
                      </a:r>
                    </a:p>
                  </a:txBody>
                  <a:tcPr anchor="ctr" marL="27432" marR="27432" marT="4572" marB="4572">
                    <a:lnL w="6350">
                      <a:solidFill>
                        <a:srgbClr val="E2E7F2"/>
                      </a:solidFill>
                    </a:lnL>
                    <a:lnR w="6350">
                      <a:solidFill>
                        <a:srgbClr val="E2E7F2"/>
                      </a:solidFill>
                    </a:lnR>
                    <a:lnT w="6350">
                      <a:solidFill>
                        <a:srgbClr val="E2E7F2"/>
                      </a:solidFill>
                    </a:lnT>
                    <a:lnB w="6350">
                      <a:solidFill>
                        <a:srgbClr val="E2E7F2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wrap="none"/>
                    <a:lstStyle/>
                    <a:p>
                      <a:pPr algn="r"/>
                      <a:r>
                        <a:rPr sz="850" b="1">
                          <a:solidFill>
                            <a:srgbClr val="26292E"/>
                          </a:solidFill>
                          <a:latin typeface="Calibri"/>
                        </a:rPr>
                        <a:t>3,453</a:t>
                      </a:r>
                    </a:p>
                  </a:txBody>
                  <a:tcPr anchor="ctr" marL="27432" marR="27432" marT="4572" marB="4572">
                    <a:lnL w="6350">
                      <a:solidFill>
                        <a:srgbClr val="E2E7F2"/>
                      </a:solidFill>
                    </a:lnL>
                    <a:lnR w="6350">
                      <a:solidFill>
                        <a:srgbClr val="E2E7F2"/>
                      </a:solidFill>
                    </a:lnR>
                    <a:lnT w="6350">
                      <a:solidFill>
                        <a:srgbClr val="E2E7F2"/>
                      </a:solidFill>
                    </a:lnT>
                    <a:lnB w="6350">
                      <a:solidFill>
                        <a:srgbClr val="E2E7F2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wrap="none"/>
                    <a:lstStyle/>
                    <a:p>
                      <a:pPr algn="r"/>
                      <a:r>
                        <a:rPr sz="850" b="1">
                          <a:solidFill>
                            <a:srgbClr val="26292E"/>
                          </a:solidFill>
                          <a:latin typeface="Calibri"/>
                        </a:rPr>
                        <a:t>3,222</a:t>
                      </a:r>
                    </a:p>
                  </a:txBody>
                  <a:tcPr anchor="ctr" marL="27432" marR="27432" marT="4572" marB="4572">
                    <a:lnL w="6350">
                      <a:solidFill>
                        <a:srgbClr val="E2E7F2"/>
                      </a:solidFill>
                    </a:lnL>
                    <a:lnR w="6350">
                      <a:solidFill>
                        <a:srgbClr val="E2E7F2"/>
                      </a:solidFill>
                    </a:lnR>
                    <a:lnT w="6350">
                      <a:solidFill>
                        <a:srgbClr val="E2E7F2"/>
                      </a:solidFill>
                    </a:lnT>
                    <a:lnB w="6350">
                      <a:solidFill>
                        <a:srgbClr val="E2E7F2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wrap="none"/>
                    <a:lstStyle/>
                    <a:p>
                      <a:pPr algn="r"/>
                      <a:r>
                        <a:rPr sz="850" b="1">
                          <a:solidFill>
                            <a:srgbClr val="26292E"/>
                          </a:solidFill>
                          <a:latin typeface="Calibri"/>
                        </a:rPr>
                        <a:t>3,202</a:t>
                      </a:r>
                    </a:p>
                  </a:txBody>
                  <a:tcPr anchor="ctr" marL="27432" marR="27432" marT="4572" marB="4572">
                    <a:lnL w="6350">
                      <a:solidFill>
                        <a:srgbClr val="E2E7F2"/>
                      </a:solidFill>
                    </a:lnL>
                    <a:lnR w="6350">
                      <a:solidFill>
                        <a:srgbClr val="E2E7F2"/>
                      </a:solidFill>
                    </a:lnR>
                    <a:lnT w="6350">
                      <a:solidFill>
                        <a:srgbClr val="E2E7F2"/>
                      </a:solidFill>
                    </a:lnT>
                    <a:lnB w="6350">
                      <a:solidFill>
                        <a:srgbClr val="E2E7F2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wrap="none"/>
                    <a:lstStyle/>
                    <a:p>
                      <a:pPr algn="r"/>
                      <a:r>
                        <a:rPr sz="850" b="1">
                          <a:solidFill>
                            <a:srgbClr val="26292E"/>
                          </a:solidFill>
                          <a:latin typeface="Calibri"/>
                        </a:rPr>
                        <a:t>3,545</a:t>
                      </a:r>
                    </a:p>
                  </a:txBody>
                  <a:tcPr anchor="ctr" marL="27432" marR="27432" marT="4572" marB="4572">
                    <a:lnL w="6350">
                      <a:solidFill>
                        <a:srgbClr val="E2E7F2"/>
                      </a:solidFill>
                    </a:lnL>
                    <a:lnR w="6350">
                      <a:solidFill>
                        <a:srgbClr val="E2E7F2"/>
                      </a:solidFill>
                    </a:lnR>
                    <a:lnT w="6350">
                      <a:solidFill>
                        <a:srgbClr val="E2E7F2"/>
                      </a:solidFill>
                    </a:lnT>
                    <a:lnB w="6350">
                      <a:solidFill>
                        <a:srgbClr val="E2E7F2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wrap="none"/>
                    <a:lstStyle/>
                    <a:p>
                      <a:pPr algn="r"/>
                      <a:r>
                        <a:rPr sz="850" b="1">
                          <a:solidFill>
                            <a:srgbClr val="C62828"/>
                          </a:solidFill>
                          <a:latin typeface="Calibri"/>
                        </a:rPr>
                        <a:t>-9.9%</a:t>
                      </a:r>
                    </a:p>
                  </a:txBody>
                  <a:tcPr anchor="ctr" marL="27432" marR="27432" marT="4572" marB="4572">
                    <a:lnL w="6350">
                      <a:solidFill>
                        <a:srgbClr val="E2E7F2"/>
                      </a:solidFill>
                    </a:lnL>
                    <a:lnR w="6350">
                      <a:solidFill>
                        <a:srgbClr val="E2E7F2"/>
                      </a:solidFill>
                    </a:lnR>
                    <a:lnT w="6350">
                      <a:solidFill>
                        <a:srgbClr val="E2E7F2"/>
                      </a:solidFill>
                    </a:lnT>
                    <a:lnB w="6350">
                      <a:solidFill>
                        <a:srgbClr val="E2E7F2"/>
                      </a:solidFill>
                    </a:lnB>
                    <a:solidFill>
                      <a:srgbClr val="FFFFFF"/>
                    </a:solidFill>
                  </a:tcPr>
                </a:tc>
              </a:tr>
              <a:tr h="214884">
                <a:tc>
                  <a:txBody>
                    <a:bodyPr wrap="none"/>
                    <a:lstStyle/>
                    <a:p>
                      <a:pPr algn="l"/>
                      <a:r>
                        <a:rPr sz="850" b="0">
                          <a:solidFill>
                            <a:srgbClr val="595959"/>
                          </a:solidFill>
                          <a:latin typeface="Calibri"/>
                        </a:rPr>
                        <a:t>   ’25</a:t>
                      </a:r>
                    </a:p>
                  </a:txBody>
                  <a:tcPr anchor="ctr" marL="27432" marR="27432" marT="4572" marB="4572">
                    <a:lnL w="6350">
                      <a:solidFill>
                        <a:srgbClr val="E2E7F2"/>
                      </a:solidFill>
                    </a:lnL>
                    <a:lnR w="6350">
                      <a:solidFill>
                        <a:srgbClr val="E2E7F2"/>
                      </a:solidFill>
                    </a:lnR>
                    <a:lnT w="6350">
                      <a:solidFill>
                        <a:srgbClr val="E2E7F2"/>
                      </a:solidFill>
                    </a:lnT>
                    <a:lnB w="6350">
                      <a:solidFill>
                        <a:srgbClr val="E2E7F2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wrap="none"/>
                    <a:lstStyle/>
                    <a:p>
                      <a:pPr algn="r"/>
                      <a:r>
                        <a:rPr sz="850" b="0">
                          <a:solidFill>
                            <a:srgbClr val="595959"/>
                          </a:solidFill>
                          <a:latin typeface="Calibri"/>
                        </a:rPr>
                        <a:t>4,481</a:t>
                      </a:r>
                    </a:p>
                  </a:txBody>
                  <a:tcPr anchor="ctr" marL="27432" marR="27432" marT="4572" marB="4572">
                    <a:lnL w="6350">
                      <a:solidFill>
                        <a:srgbClr val="E2E7F2"/>
                      </a:solidFill>
                    </a:lnL>
                    <a:lnR w="6350">
                      <a:solidFill>
                        <a:srgbClr val="E2E7F2"/>
                      </a:solidFill>
                    </a:lnR>
                    <a:lnT w="6350">
                      <a:solidFill>
                        <a:srgbClr val="E2E7F2"/>
                      </a:solidFill>
                    </a:lnT>
                    <a:lnB w="6350">
                      <a:solidFill>
                        <a:srgbClr val="E2E7F2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wrap="none"/>
                    <a:lstStyle/>
                    <a:p>
                      <a:pPr algn="r"/>
                      <a:r>
                        <a:rPr sz="850" b="0">
                          <a:solidFill>
                            <a:srgbClr val="595959"/>
                          </a:solidFill>
                          <a:latin typeface="Calibri"/>
                        </a:rPr>
                        <a:t>4,188</a:t>
                      </a:r>
                    </a:p>
                  </a:txBody>
                  <a:tcPr anchor="ctr" marL="27432" marR="27432" marT="4572" marB="4572">
                    <a:lnL w="6350">
                      <a:solidFill>
                        <a:srgbClr val="E2E7F2"/>
                      </a:solidFill>
                    </a:lnL>
                    <a:lnR w="6350">
                      <a:solidFill>
                        <a:srgbClr val="E2E7F2"/>
                      </a:solidFill>
                    </a:lnR>
                    <a:lnT w="6350">
                      <a:solidFill>
                        <a:srgbClr val="E2E7F2"/>
                      </a:solidFill>
                    </a:lnT>
                    <a:lnB w="6350">
                      <a:solidFill>
                        <a:srgbClr val="E2E7F2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wrap="none"/>
                    <a:lstStyle/>
                    <a:p>
                      <a:pPr algn="r"/>
                      <a:r>
                        <a:rPr sz="850" b="0">
                          <a:solidFill>
                            <a:srgbClr val="595959"/>
                          </a:solidFill>
                          <a:latin typeface="Calibri"/>
                        </a:rPr>
                        <a:t>3,898</a:t>
                      </a:r>
                    </a:p>
                  </a:txBody>
                  <a:tcPr anchor="ctr" marL="27432" marR="27432" marT="4572" marB="4572">
                    <a:lnL w="6350">
                      <a:solidFill>
                        <a:srgbClr val="E2E7F2"/>
                      </a:solidFill>
                    </a:lnL>
                    <a:lnR w="6350">
                      <a:solidFill>
                        <a:srgbClr val="E2E7F2"/>
                      </a:solidFill>
                    </a:lnR>
                    <a:lnT w="6350">
                      <a:solidFill>
                        <a:srgbClr val="E2E7F2"/>
                      </a:solidFill>
                    </a:lnT>
                    <a:lnB w="6350">
                      <a:solidFill>
                        <a:srgbClr val="E2E7F2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wrap="none"/>
                    <a:lstStyle/>
                    <a:p>
                      <a:pPr algn="r"/>
                      <a:r>
                        <a:rPr sz="850" b="0">
                          <a:solidFill>
                            <a:srgbClr val="595959"/>
                          </a:solidFill>
                          <a:latin typeface="Calibri"/>
                        </a:rPr>
                        <a:t>3,877</a:t>
                      </a:r>
                    </a:p>
                  </a:txBody>
                  <a:tcPr anchor="ctr" marL="27432" marR="27432" marT="4572" marB="4572">
                    <a:lnL w="6350">
                      <a:solidFill>
                        <a:srgbClr val="E2E7F2"/>
                      </a:solidFill>
                    </a:lnL>
                    <a:lnR w="6350">
                      <a:solidFill>
                        <a:srgbClr val="E2E7F2"/>
                      </a:solidFill>
                    </a:lnR>
                    <a:lnT w="6350">
                      <a:solidFill>
                        <a:srgbClr val="E2E7F2"/>
                      </a:solidFill>
                    </a:lnT>
                    <a:lnB w="6350">
                      <a:solidFill>
                        <a:srgbClr val="E2E7F2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wrap="none"/>
                    <a:lstStyle/>
                    <a:p>
                      <a:pPr algn="r"/>
                      <a:r>
                        <a:rPr sz="850" b="0">
                          <a:solidFill>
                            <a:srgbClr val="595959"/>
                          </a:solidFill>
                          <a:latin typeface="Calibri"/>
                        </a:rPr>
                        <a:t>3,508</a:t>
                      </a:r>
                    </a:p>
                  </a:txBody>
                  <a:tcPr anchor="ctr" marL="27432" marR="27432" marT="4572" marB="4572">
                    <a:lnL w="6350">
                      <a:solidFill>
                        <a:srgbClr val="E2E7F2"/>
                      </a:solidFill>
                    </a:lnL>
                    <a:lnR w="6350">
                      <a:solidFill>
                        <a:srgbClr val="E2E7F2"/>
                      </a:solidFill>
                    </a:lnR>
                    <a:lnT w="6350">
                      <a:solidFill>
                        <a:srgbClr val="E2E7F2"/>
                      </a:solidFill>
                    </a:lnT>
                    <a:lnB w="6350">
                      <a:solidFill>
                        <a:srgbClr val="E2E7F2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wrap="none"/>
                    <a:lstStyle/>
                    <a:p>
                      <a:pPr algn="r"/>
                      <a:r>
                        <a:rPr sz="850" b="0">
                          <a:solidFill>
                            <a:srgbClr val="595959"/>
                          </a:solidFill>
                          <a:latin typeface="Calibri"/>
                        </a:rPr>
                        <a:t>3,331</a:t>
                      </a:r>
                    </a:p>
                  </a:txBody>
                  <a:tcPr anchor="ctr" marL="27432" marR="27432" marT="4572" marB="4572">
                    <a:lnL w="6350">
                      <a:solidFill>
                        <a:srgbClr val="E2E7F2"/>
                      </a:solidFill>
                    </a:lnL>
                    <a:lnR w="6350">
                      <a:solidFill>
                        <a:srgbClr val="E2E7F2"/>
                      </a:solidFill>
                    </a:lnR>
                    <a:lnT w="6350">
                      <a:solidFill>
                        <a:srgbClr val="E2E7F2"/>
                      </a:solidFill>
                    </a:lnT>
                    <a:lnB w="6350">
                      <a:solidFill>
                        <a:srgbClr val="E2E7F2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wrap="none"/>
                    <a:lstStyle/>
                    <a:p>
                      <a:pPr algn="r"/>
                      <a:r>
                        <a:rPr sz="850" b="0">
                          <a:solidFill>
                            <a:srgbClr val="595959"/>
                          </a:solidFill>
                          <a:latin typeface="Calibri"/>
                        </a:rPr>
                        <a:t>3,936</a:t>
                      </a:r>
                    </a:p>
                  </a:txBody>
                  <a:tcPr anchor="ctr" marL="27432" marR="27432" marT="4572" marB="4572">
                    <a:lnL w="6350">
                      <a:solidFill>
                        <a:srgbClr val="E2E7F2"/>
                      </a:solidFill>
                    </a:lnL>
                    <a:lnR w="6350">
                      <a:solidFill>
                        <a:srgbClr val="E2E7F2"/>
                      </a:solidFill>
                    </a:lnR>
                    <a:lnT w="6350">
                      <a:solidFill>
                        <a:srgbClr val="E2E7F2"/>
                      </a:solidFill>
                    </a:lnT>
                    <a:lnB w="6350">
                      <a:solidFill>
                        <a:srgbClr val="E2E7F2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wrap="none"/>
                    <a:lstStyle/>
                    <a:p>
                      <a:pPr algn="l"/>
                      <a:r>
                        <a:rPr sz="850" b="0">
                          <a:solidFill>
                            <a:srgbClr val="26292E"/>
                          </a:solidFill>
                          <a:latin typeface="Calibri"/>
                        </a:rPr>
                        <a:t/>
                      </a:r>
                    </a:p>
                  </a:txBody>
                  <a:tcPr anchor="ctr" marL="27432" marR="27432" marT="4572" marB="4572">
                    <a:lnL w="6350">
                      <a:solidFill>
                        <a:srgbClr val="E2E7F2"/>
                      </a:solidFill>
                    </a:lnL>
                    <a:lnR w="6350">
                      <a:solidFill>
                        <a:srgbClr val="E2E7F2"/>
                      </a:solidFill>
                    </a:lnR>
                    <a:lnT w="6350">
                      <a:solidFill>
                        <a:srgbClr val="E2E7F2"/>
                      </a:solidFill>
                    </a:lnT>
                    <a:lnB w="6350">
                      <a:solidFill>
                        <a:srgbClr val="E2E7F2"/>
                      </a:solidFill>
                    </a:lnB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  <p:sp>
        <p:nvSpPr>
          <p:cNvPr id="10" name="TextBox 9"/>
          <p:cNvSpPr txBox="1"/>
          <p:nvPr/>
        </p:nvSpPr>
        <p:spPr>
          <a:xfrm>
            <a:off x="548640" y="6231636"/>
            <a:ext cx="10881360" cy="320040"/>
          </a:xfrm>
          <a:prstGeom prst="rect">
            <a:avLst/>
          </a:prstGeom>
          <a:noFill/>
        </p:spPr>
        <p:txBody>
          <a:bodyPr wrap="none" lIns="0" tIns="0">
            <a:spAutoFit/>
          </a:bodyPr>
          <a:lstStyle/>
          <a:p>
            <a:r>
              <a:rPr sz="900">
                <a:solidFill>
                  <a:srgbClr val="595959"/>
                </a:solidFill>
                <a:latin typeface="Calibri"/>
              </a:rPr>
              <a:t>Deepest H1 rate cut: Group Corporate (-28.8%) · '–' = no rooms sold that month.</a:t>
            </a:r>
          </a:p>
        </p:txBody>
      </p:sp>
    </p:spTree>
  </p:cSld>
  <p:clrMapOvr>
    <a:masterClrMapping/>
  </p:clrMapOvr>
</p:sld>
</file>

<file path=ppt/slides/slide4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4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292608"/>
            <a:ext cx="8229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b="1" kern="0" spc="200" dirty="0">
                <a:solidFill>
                  <a:srgbClr val="D9A44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SECTION 7 · SOMERSET PATTAYA (SP)</a:t>
            </a:r>
            <a:endParaRPr lang="en-US" sz="1100" dirty="0"/>
          </a:p>
        </p:txBody>
      </p:sp>
      <p:sp>
        <p:nvSpPr>
          <p:cNvPr id="3" name="Text 1"/>
          <p:cNvSpPr/>
          <p:nvPr/>
        </p:nvSpPr>
        <p:spPr>
          <a:xfrm>
            <a:off x="548640" y="502920"/>
            <a:ext cx="11091672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800" b="1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Somerset Pattaya (SP) — guest nationality — room nights &amp; change (H1)</a:t>
            </a:r>
            <a:endParaRPr lang="en-US" sz="2800" dirty="0"/>
          </a:p>
        </p:txBody>
      </p:sp>
      <p:sp>
        <p:nvSpPr>
          <p:cNvPr id="4" name="Text 2"/>
          <p:cNvSpPr/>
          <p:nvPr/>
        </p:nvSpPr>
        <p:spPr>
          <a:xfrm>
            <a:off x="548640" y="1060704"/>
            <a:ext cx="11091672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5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Top 10 nationalities · H1 room nights 2026 vs 2025 (left) · change vs last year (right)</a:t>
            </a:r>
            <a:endParaRPr lang="en-US" sz="1250" dirty="0"/>
          </a:p>
        </p:txBody>
      </p:sp>
      <p:sp>
        <p:nvSpPr>
          <p:cNvPr id="5" name="Text 3"/>
          <p:cNvSpPr/>
          <p:nvPr/>
        </p:nvSpPr>
        <p:spPr>
          <a:xfrm>
            <a:off x="8165592" y="310896"/>
            <a:ext cx="34747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90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Mitsui Thailand Portfolio · H1 2026</a:t>
            </a:r>
            <a:endParaRPr lang="en-US" sz="900" dirty="0"/>
          </a:p>
        </p:txBody>
      </p:sp>
      <p:graphicFrame>
        <p:nvGraphicFramePr>
          <p:cNvPr id="6" name="Chart 0"/>
          <p:cNvGraphicFramePr/>
          <p:nvPr/>
        </p:nvGraphicFramePr>
        <p:xfrm>
          <a:off x="548640" y="1737360"/>
          <a:ext cx="5394960" cy="4434840"/>
        </p:xfrm>
        <a:graphic>
          <a:graphicData uri="http://schemas.openxmlformats.org/drawingml/2006/chart">
            <c:chart xmlns:c="http://schemas.openxmlformats.org/drawingml/2006/chart" xmlns:r="http://schemas.openxmlformats.org/officeDocument/2006/relationships" r:id="rId3"/>
          </a:graphicData>
        </a:graphic>
      </p:graphicFrame>
      <p:sp>
        <p:nvSpPr>
          <p:cNvPr id="9" name="Text 4"/>
          <p:cNvSpPr/>
          <p:nvPr/>
        </p:nvSpPr>
        <p:spPr>
          <a:xfrm>
            <a:off x="548640" y="6309360"/>
            <a:ext cx="10881360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50" i="1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Biggest H1 gain: China (+805 RN) · biggest decline: United States (-965 RN). A 2025 bar of 0 = outside 2025's top-10 · change table follows the 2026 top-10, 'new' = outside 2025's top-10.</a:t>
            </a:r>
            <a:endParaRPr lang="en-US" sz="1050" dirty="0"/>
          </a:p>
        </p:txBody>
      </p:sp>
      <p:graphicFrame>
        <p:nvGraphicFramePr>
          <p:cNvPr id="900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6903720" y="2240280"/>
          <a:ext cx="3867912" cy="3072384"/>
        </p:xfrm>
        <a:graphic>
          <a:graphicData uri="http://schemas.openxmlformats.org/drawingml/2006/table">
            <a:tbl>
              <a:tblPr/>
              <a:tblGrid>
                <a:gridCol w="1307592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64008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640080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658368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  <a:gridCol w="621792">
                  <a:extLst>
                    <a:ext uri="{9D8B030D-6E8A-4147-A177-3AD203B41FA5}">
                      <a16:colId xmlns:a16="http://schemas.microsoft.com/office/drawing/2014/main" val="20004"/>
                    </a:ext>
                  </a:extLst>
                </a:gridCol>
              </a:tblGrid>
              <a:tr h="256032"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85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Nationality</a:t>
                      </a:r>
                      <a:endParaRPr lang="en-US" sz="8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E2E7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7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7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7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E2761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85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H1 25</a:t>
                      </a:r>
                      <a:endParaRPr lang="en-US" sz="8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E2E7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7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7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7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E2761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85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H1 26</a:t>
                      </a:r>
                      <a:endParaRPr lang="en-US" sz="8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E2E7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7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7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7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E2761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85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Chg</a:t>
                      </a:r>
                      <a:endParaRPr lang="en-US" sz="8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E2E7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7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7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7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E2761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85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%</a:t>
                      </a:r>
                      <a:endParaRPr lang="en-US" sz="8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E2E7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7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7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7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E276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256032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850" b="1" dirty="0">
                          <a:solidFill>
                            <a:srgbClr val="26292E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China</a:t>
                      </a:r>
                      <a:endParaRPr lang="en-US" sz="8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E2E7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7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7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7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r">
                        <a:buNone/>
                      </a:pPr>
                      <a:r>
                        <a:rPr lang="en-US" sz="850" dirty="0">
                          <a:solidFill>
                            <a:srgbClr val="26292E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9,640</a:t>
                      </a:r>
                      <a:endParaRPr lang="en-US" sz="8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E2E7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7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7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7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r">
                        <a:buNone/>
                      </a:pPr>
                      <a:r>
                        <a:rPr lang="en-US" sz="850" dirty="0">
                          <a:solidFill>
                            <a:srgbClr val="26292E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10,445</a:t>
                      </a:r>
                      <a:endParaRPr lang="en-US" sz="8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E2E7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7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7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7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r">
                        <a:buNone/>
                      </a:pPr>
                      <a:r>
                        <a:rPr lang="en-US" sz="850" b="1" dirty="0">
                          <a:solidFill>
                            <a:srgbClr val="2E7D32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+805</a:t>
                      </a:r>
                      <a:endParaRPr lang="en-US" sz="8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E2E7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7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7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7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r">
                        <a:buNone/>
                      </a:pPr>
                      <a:r>
                        <a:rPr lang="en-US" sz="850" dirty="0">
                          <a:solidFill>
                            <a:srgbClr val="2E7D32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+8%</a:t>
                      </a:r>
                      <a:endParaRPr lang="en-US" sz="8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E2E7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7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7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7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256032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850" b="1" dirty="0">
                          <a:solidFill>
                            <a:srgbClr val="26292E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India</a:t>
                      </a:r>
                      <a:endParaRPr lang="en-US" sz="8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E2E7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7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7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7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6FB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r">
                        <a:buNone/>
                      </a:pPr>
                      <a:r>
                        <a:rPr lang="en-US" sz="850" dirty="0">
                          <a:solidFill>
                            <a:srgbClr val="26292E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4,218</a:t>
                      </a:r>
                      <a:endParaRPr lang="en-US" sz="8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E2E7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7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7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7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6FB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r">
                        <a:buNone/>
                      </a:pPr>
                      <a:r>
                        <a:rPr lang="en-US" sz="850" dirty="0">
                          <a:solidFill>
                            <a:srgbClr val="26292E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3,764</a:t>
                      </a:r>
                      <a:endParaRPr lang="en-US" sz="8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E2E7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7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7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7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6FB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r">
                        <a:buNone/>
                      </a:pPr>
                      <a:r>
                        <a:rPr lang="en-US" sz="850" b="1" dirty="0">
                          <a:solidFill>
                            <a:srgbClr val="C0392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-454</a:t>
                      </a:r>
                      <a:endParaRPr lang="en-US" sz="8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E2E7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7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7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7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6FB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r">
                        <a:buNone/>
                      </a:pPr>
                      <a:r>
                        <a:rPr lang="en-US" sz="850" dirty="0">
                          <a:solidFill>
                            <a:srgbClr val="C0392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-11%</a:t>
                      </a:r>
                      <a:endParaRPr lang="en-US" sz="8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E2E7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7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7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7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6FB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256032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850" b="1" dirty="0">
                          <a:solidFill>
                            <a:srgbClr val="26292E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Thailand</a:t>
                      </a:r>
                      <a:endParaRPr lang="en-US" sz="8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E2E7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7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7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7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r">
                        <a:buNone/>
                      </a:pPr>
                      <a:r>
                        <a:rPr lang="en-US" sz="850" dirty="0">
                          <a:solidFill>
                            <a:srgbClr val="26292E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2,963</a:t>
                      </a:r>
                      <a:endParaRPr lang="en-US" sz="8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E2E7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7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7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7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r">
                        <a:buNone/>
                      </a:pPr>
                      <a:r>
                        <a:rPr lang="en-US" sz="850" dirty="0">
                          <a:solidFill>
                            <a:srgbClr val="26292E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3,622</a:t>
                      </a:r>
                      <a:endParaRPr lang="en-US" sz="8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E2E7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7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7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7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r">
                        <a:buNone/>
                      </a:pPr>
                      <a:r>
                        <a:rPr lang="en-US" sz="850" b="1" dirty="0">
                          <a:solidFill>
                            <a:srgbClr val="2E7D32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+659</a:t>
                      </a:r>
                      <a:endParaRPr lang="en-US" sz="8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E2E7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7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7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7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r">
                        <a:buNone/>
                      </a:pPr>
                      <a:r>
                        <a:rPr lang="en-US" sz="850" dirty="0">
                          <a:solidFill>
                            <a:srgbClr val="2E7D32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+22%</a:t>
                      </a:r>
                      <a:endParaRPr lang="en-US" sz="8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E2E7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7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7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7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256032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850" b="1" dirty="0">
                          <a:solidFill>
                            <a:srgbClr val="26292E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Israel</a:t>
                      </a:r>
                      <a:endParaRPr lang="en-US" sz="8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E2E7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7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7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7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6FB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r">
                        <a:buNone/>
                      </a:pPr>
                      <a:r>
                        <a:rPr lang="en-US" sz="850" dirty="0">
                          <a:solidFill>
                            <a:srgbClr val="26292E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2,509</a:t>
                      </a:r>
                      <a:endParaRPr lang="en-US" sz="8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E2E7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7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7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7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6FB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r">
                        <a:buNone/>
                      </a:pPr>
                      <a:r>
                        <a:rPr lang="en-US" sz="850" dirty="0">
                          <a:solidFill>
                            <a:srgbClr val="26292E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3,148</a:t>
                      </a:r>
                      <a:endParaRPr lang="en-US" sz="8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E2E7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7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7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7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6FB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r">
                        <a:buNone/>
                      </a:pPr>
                      <a:r>
                        <a:rPr lang="en-US" sz="850" b="1" dirty="0">
                          <a:solidFill>
                            <a:srgbClr val="2E7D32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+639</a:t>
                      </a:r>
                      <a:endParaRPr lang="en-US" sz="8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E2E7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7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7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7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6FB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r">
                        <a:buNone/>
                      </a:pPr>
                      <a:r>
                        <a:rPr lang="en-US" sz="850" dirty="0">
                          <a:solidFill>
                            <a:srgbClr val="2E7D32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+25%</a:t>
                      </a:r>
                      <a:endParaRPr lang="en-US" sz="8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E2E7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7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7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7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6FB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  <a:tr h="256032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850" b="1" dirty="0">
                          <a:solidFill>
                            <a:srgbClr val="26292E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United States</a:t>
                      </a:r>
                      <a:endParaRPr lang="en-US" sz="8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E2E7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7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7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7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r">
                        <a:buNone/>
                      </a:pPr>
                      <a:r>
                        <a:rPr lang="en-US" sz="850" dirty="0">
                          <a:solidFill>
                            <a:srgbClr val="26292E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3,346</a:t>
                      </a:r>
                      <a:endParaRPr lang="en-US" sz="8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E2E7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7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7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7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r">
                        <a:buNone/>
                      </a:pPr>
                      <a:r>
                        <a:rPr lang="en-US" sz="850" dirty="0">
                          <a:solidFill>
                            <a:srgbClr val="26292E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2,381</a:t>
                      </a:r>
                      <a:endParaRPr lang="en-US" sz="8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E2E7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7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7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7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r">
                        <a:buNone/>
                      </a:pPr>
                      <a:r>
                        <a:rPr lang="en-US" sz="850" b="1" dirty="0">
                          <a:solidFill>
                            <a:srgbClr val="C0392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-965</a:t>
                      </a:r>
                      <a:endParaRPr lang="en-US" sz="8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E2E7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7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7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7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r">
                        <a:buNone/>
                      </a:pPr>
                      <a:r>
                        <a:rPr lang="en-US" sz="850" dirty="0">
                          <a:solidFill>
                            <a:srgbClr val="C0392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-29%</a:t>
                      </a:r>
                      <a:endParaRPr lang="en-US" sz="8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E2E7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7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7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7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5"/>
                  </a:ext>
                </a:extLst>
              </a:tr>
              <a:tr h="256032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850" b="1" dirty="0">
                          <a:solidFill>
                            <a:srgbClr val="26292E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Russia</a:t>
                      </a:r>
                      <a:endParaRPr lang="en-US" sz="8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E2E7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7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7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7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6FB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r">
                        <a:buNone/>
                      </a:pPr>
                      <a:r>
                        <a:rPr lang="en-US" sz="850" dirty="0">
                          <a:solidFill>
                            <a:srgbClr val="26292E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2,030</a:t>
                      </a:r>
                      <a:endParaRPr lang="en-US" sz="8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E2E7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7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7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7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6FB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r">
                        <a:buNone/>
                      </a:pPr>
                      <a:r>
                        <a:rPr lang="en-US" sz="850" dirty="0">
                          <a:solidFill>
                            <a:srgbClr val="26292E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2,295</a:t>
                      </a:r>
                      <a:endParaRPr lang="en-US" sz="8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E2E7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7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7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7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6FB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r">
                        <a:buNone/>
                      </a:pPr>
                      <a:r>
                        <a:rPr lang="en-US" sz="850" b="1" dirty="0">
                          <a:solidFill>
                            <a:srgbClr val="2E7D32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+265</a:t>
                      </a:r>
                      <a:endParaRPr lang="en-US" sz="8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E2E7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7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7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7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6FB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r">
                        <a:buNone/>
                      </a:pPr>
                      <a:r>
                        <a:rPr lang="en-US" sz="850" dirty="0">
                          <a:solidFill>
                            <a:srgbClr val="2E7D32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+13%</a:t>
                      </a:r>
                      <a:endParaRPr lang="en-US" sz="8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E2E7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7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7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7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6FB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6"/>
                  </a:ext>
                </a:extLst>
              </a:tr>
              <a:tr h="256032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850" b="1" dirty="0">
                          <a:solidFill>
                            <a:srgbClr val="26292E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Taiwan</a:t>
                      </a:r>
                      <a:endParaRPr lang="en-US" sz="8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E2E7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7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7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7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r">
                        <a:buNone/>
                      </a:pPr>
                      <a:r>
                        <a:rPr lang="en-US" sz="850" dirty="0">
                          <a:solidFill>
                            <a:srgbClr val="26292E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2,369</a:t>
                      </a:r>
                      <a:endParaRPr lang="en-US" sz="8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E2E7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7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7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7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r">
                        <a:buNone/>
                      </a:pPr>
                      <a:r>
                        <a:rPr lang="en-US" sz="850" dirty="0">
                          <a:solidFill>
                            <a:srgbClr val="26292E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2,175</a:t>
                      </a:r>
                      <a:endParaRPr lang="en-US" sz="8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E2E7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7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7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7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r">
                        <a:buNone/>
                      </a:pPr>
                      <a:r>
                        <a:rPr lang="en-US" sz="850" b="1" dirty="0">
                          <a:solidFill>
                            <a:srgbClr val="C0392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-194</a:t>
                      </a:r>
                      <a:endParaRPr lang="en-US" sz="8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E2E7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7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7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7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r">
                        <a:buNone/>
                      </a:pPr>
                      <a:r>
                        <a:rPr lang="en-US" sz="850" dirty="0">
                          <a:solidFill>
                            <a:srgbClr val="C0392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-8%</a:t>
                      </a:r>
                      <a:endParaRPr lang="en-US" sz="8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E2E7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7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7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7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7"/>
                  </a:ext>
                </a:extLst>
              </a:tr>
              <a:tr h="256032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850" b="1" dirty="0">
                          <a:solidFill>
                            <a:srgbClr val="26292E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Republic of Korea</a:t>
                      </a:r>
                      <a:endParaRPr lang="en-US" sz="8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E2E7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7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7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7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6FB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r">
                        <a:buNone/>
                      </a:pPr>
                      <a:r>
                        <a:rPr lang="en-US" sz="850" dirty="0">
                          <a:solidFill>
                            <a:srgbClr val="26292E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2,040</a:t>
                      </a:r>
                      <a:endParaRPr lang="en-US" sz="8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E2E7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7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7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7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6FB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r">
                        <a:buNone/>
                      </a:pPr>
                      <a:r>
                        <a:rPr lang="en-US" sz="850" dirty="0">
                          <a:solidFill>
                            <a:srgbClr val="26292E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1,950</a:t>
                      </a:r>
                      <a:endParaRPr lang="en-US" sz="8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E2E7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7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7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7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6FB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r">
                        <a:buNone/>
                      </a:pPr>
                      <a:r>
                        <a:rPr lang="en-US" sz="850" b="1" dirty="0">
                          <a:solidFill>
                            <a:srgbClr val="C0392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-90</a:t>
                      </a:r>
                      <a:endParaRPr lang="en-US" sz="8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E2E7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7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7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7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6FB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r">
                        <a:buNone/>
                      </a:pPr>
                      <a:r>
                        <a:rPr lang="en-US" sz="850" dirty="0">
                          <a:solidFill>
                            <a:srgbClr val="C0392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-4%</a:t>
                      </a:r>
                      <a:endParaRPr lang="en-US" sz="8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E2E7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7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7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7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6FB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8"/>
                  </a:ext>
                </a:extLst>
              </a:tr>
              <a:tr h="256032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850" b="1" dirty="0">
                          <a:solidFill>
                            <a:srgbClr val="26292E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Australia</a:t>
                      </a:r>
                      <a:endParaRPr lang="en-US" sz="8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E2E7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7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7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7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r">
                        <a:buNone/>
                      </a:pPr>
                      <a:r>
                        <a:rPr lang="en-US" sz="850" dirty="0">
                          <a:solidFill>
                            <a:srgbClr val="26292E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1,310</a:t>
                      </a:r>
                      <a:endParaRPr lang="en-US" sz="8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E2E7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7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7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7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r">
                        <a:buNone/>
                      </a:pPr>
                      <a:r>
                        <a:rPr lang="en-US" sz="850" dirty="0">
                          <a:solidFill>
                            <a:srgbClr val="26292E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1,882</a:t>
                      </a:r>
                      <a:endParaRPr lang="en-US" sz="8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E2E7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7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7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7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r">
                        <a:buNone/>
                      </a:pPr>
                      <a:r>
                        <a:rPr lang="en-US" sz="850" b="1" dirty="0">
                          <a:solidFill>
                            <a:srgbClr val="2E7D32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+572</a:t>
                      </a:r>
                      <a:endParaRPr lang="en-US" sz="8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E2E7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7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7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7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r">
                        <a:buNone/>
                      </a:pPr>
                      <a:r>
                        <a:rPr lang="en-US" sz="850" dirty="0">
                          <a:solidFill>
                            <a:srgbClr val="2E7D32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+44%</a:t>
                      </a:r>
                      <a:endParaRPr lang="en-US" sz="8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E2E7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7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7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7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9"/>
                  </a:ext>
                </a:extLst>
              </a:tr>
              <a:tr h="256032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850" b="1" dirty="0">
                          <a:solidFill>
                            <a:srgbClr val="26292E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Japan</a:t>
                      </a:r>
                      <a:endParaRPr lang="en-US" sz="8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E2E7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7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7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7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6FB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r">
                        <a:buNone/>
                      </a:pPr>
                      <a:r>
                        <a:rPr lang="en-US" sz="850" dirty="0">
                          <a:solidFill>
                            <a:srgbClr val="26292E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1,663</a:t>
                      </a:r>
                      <a:endParaRPr lang="en-US" sz="8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E2E7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7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7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7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6FB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r">
                        <a:buNone/>
                      </a:pPr>
                      <a:r>
                        <a:rPr lang="en-US" sz="850" dirty="0">
                          <a:solidFill>
                            <a:srgbClr val="26292E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1,620</a:t>
                      </a:r>
                      <a:endParaRPr lang="en-US" sz="8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E2E7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7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7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7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6FB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r">
                        <a:buNone/>
                      </a:pPr>
                      <a:r>
                        <a:rPr lang="en-US" sz="850" b="1" dirty="0">
                          <a:solidFill>
                            <a:srgbClr val="C0392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-43</a:t>
                      </a:r>
                      <a:endParaRPr lang="en-US" sz="8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E2E7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7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7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7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6FB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r">
                        <a:buNone/>
                      </a:pPr>
                      <a:r>
                        <a:rPr lang="en-US" sz="850" dirty="0">
                          <a:solidFill>
                            <a:srgbClr val="C0392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-3%</a:t>
                      </a:r>
                      <a:endParaRPr lang="en-US" sz="8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E2E7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7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7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7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6FB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10"/>
                  </a:ext>
                </a:extLst>
              </a:tr>
              <a:tr h="256032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850" b="1" dirty="0">
                          <a:solidFill>
                            <a:srgbClr val="1E2761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Top-10 total</a:t>
                      </a:r>
                      <a:endParaRPr lang="en-US" sz="8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E2E7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7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7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7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2E7F2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r">
                        <a:buNone/>
                      </a:pPr>
                      <a:r>
                        <a:rPr lang="en-US" sz="850" b="1" dirty="0">
                          <a:solidFill>
                            <a:srgbClr val="1E2761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32,088</a:t>
                      </a:r>
                      <a:endParaRPr lang="en-US" sz="8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E2E7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7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7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7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2E7F2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r">
                        <a:buNone/>
                      </a:pPr>
                      <a:r>
                        <a:rPr lang="en-US" sz="850" b="1" dirty="0">
                          <a:solidFill>
                            <a:srgbClr val="1E2761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33,282</a:t>
                      </a:r>
                      <a:endParaRPr lang="en-US" sz="8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E2E7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7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7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7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2E7F2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r">
                        <a:buNone/>
                      </a:pPr>
                      <a:r>
                        <a:rPr lang="en-US" sz="850" b="1" dirty="0">
                          <a:solidFill>
                            <a:srgbClr val="2E7D32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+1,194</a:t>
                      </a:r>
                      <a:endParaRPr lang="en-US" sz="8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E2E7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7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7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7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2E7F2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r">
                        <a:buNone/>
                      </a:pPr>
                      <a:r>
                        <a:rPr lang="en-US" sz="850" b="1" dirty="0">
                          <a:solidFill>
                            <a:srgbClr val="2E7D32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+4%</a:t>
                      </a:r>
                      <a:endParaRPr lang="en-US" sz="8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E2E7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7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7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7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2E7F2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11"/>
                  </a:ext>
                </a:extLst>
              </a:tr>
            </a:tbl>
          </a:graphicData>
        </a:graphic>
      </p:graphicFrame>
    </p:spTree>
  </p:cSld>
  <p:clrMapOvr>
    <a:masterClrMapping/>
  </p:clrMapOvr>
</p:sld>
</file>

<file path=ppt/slides/slide4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0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292608"/>
            <a:ext cx="8229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b="1" kern="0" spc="200" dirty="0">
                <a:solidFill>
                  <a:srgbClr val="D9A44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SECTION 7 · SOMERSET PATTAYA (SP)</a:t>
            </a:r>
            <a:endParaRPr lang="en-US" sz="1100" dirty="0"/>
          </a:p>
        </p:txBody>
      </p:sp>
      <p:sp>
        <p:nvSpPr>
          <p:cNvPr id="3" name="Text 1"/>
          <p:cNvSpPr/>
          <p:nvPr/>
        </p:nvSpPr>
        <p:spPr>
          <a:xfrm>
            <a:off x="548640" y="502920"/>
            <a:ext cx="11091672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800" b="1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Somerset Pattaya (SP) — P&amp;L, H1 2026</a:t>
            </a:r>
            <a:endParaRPr lang="en-US" sz="2800" dirty="0"/>
          </a:p>
        </p:txBody>
      </p:sp>
      <p:sp>
        <p:nvSpPr>
          <p:cNvPr id="4" name="Text 2"/>
          <p:cNvSpPr/>
          <p:nvPr/>
        </p:nvSpPr>
        <p:spPr>
          <a:xfrm>
            <a:off x="548640" y="1060704"/>
            <a:ext cx="11091672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5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YTD Jan–Jun vs MF budget · monthly P&amp;L: actual 2026 vs Budget (MF) and actual 2025 · ฿M</a:t>
            </a:r>
            <a:endParaRPr lang="en-US" sz="1250" dirty="0"/>
          </a:p>
        </p:txBody>
      </p:sp>
      <p:sp>
        <p:nvSpPr>
          <p:cNvPr id="5" name="Text 3"/>
          <p:cNvSpPr/>
          <p:nvPr/>
        </p:nvSpPr>
        <p:spPr>
          <a:xfrm>
            <a:off x="8165592" y="310896"/>
            <a:ext cx="34747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90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Mitsui Thailand Portfolio · H1 2026</a:t>
            </a:r>
            <a:endParaRPr lang="en-US" sz="900" dirty="0"/>
          </a:p>
        </p:txBody>
      </p:sp>
      <p:graphicFrame>
        <p:nvGraphicFramePr>
          <p:cNvPr id="6" name="Chart 0"/>
          <p:cNvGraphicFramePr/>
          <p:nvPr/>
        </p:nvGraphicFramePr>
        <p:xfrm>
          <a:off x="548640" y="1783080"/>
          <a:ext cx="5394960" cy="2011680"/>
        </p:xfrm>
        <a:graphic>
          <a:graphicData uri="http://schemas.openxmlformats.org/drawingml/2006/chart">
            <c:chart xmlns:c="http://schemas.openxmlformats.org/drawingml/2006/chart" xmlns:r="http://schemas.openxmlformats.org/officeDocument/2006/relationships" r:id="rId3"/>
          </a:graphicData>
        </a:graphic>
      </p:graphicFrame>
      <p:graphicFrame>
        <p:nvGraphicFramePr>
          <p:cNvPr id="41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548640" y="3886200"/>
          <a:ext cx="5394960" cy="2414016"/>
        </p:xfrm>
        <a:graphic>
          <a:graphicData uri="http://schemas.openxmlformats.org/drawingml/2006/table">
            <a:tbl>
              <a:tblPr/>
              <a:tblGrid>
                <a:gridCol w="932688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603504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603504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603504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  <a:gridCol w="603504">
                  <a:extLst>
                    <a:ext uri="{9D8B030D-6E8A-4147-A177-3AD203B41FA5}">
                      <a16:colId xmlns:a16="http://schemas.microsoft.com/office/drawing/2014/main" val="20004"/>
                    </a:ext>
                  </a:extLst>
                </a:gridCol>
                <a:gridCol w="603504">
                  <a:extLst>
                    <a:ext uri="{9D8B030D-6E8A-4147-A177-3AD203B41FA5}">
                      <a16:colId xmlns:a16="http://schemas.microsoft.com/office/drawing/2014/main" val="20005"/>
                    </a:ext>
                  </a:extLst>
                </a:gridCol>
                <a:gridCol w="603504">
                  <a:extLst>
                    <a:ext uri="{9D8B030D-6E8A-4147-A177-3AD203B41FA5}">
                      <a16:colId xmlns:a16="http://schemas.microsoft.com/office/drawing/2014/main" val="20006"/>
                    </a:ext>
                  </a:extLst>
                </a:gridCol>
                <a:gridCol w="841248">
                  <a:extLst>
                    <a:ext uri="{9D8B030D-6E8A-4147-A177-3AD203B41FA5}">
                      <a16:colId xmlns:a16="http://schemas.microsoft.com/office/drawing/2014/main" val="20007"/>
                    </a:ext>
                  </a:extLst>
                </a:gridCol>
              </a:tblGrid>
              <a:tr h="150876"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75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฿M</a:t>
                      </a:r>
                      <a:endParaRPr lang="en-US" sz="7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27432" marR="27432" marT="9144" marB="9144" anchor="ctr">
                    <a:lnL w="6350" cap="flat" cmpd="sng" algn="ctr">
                      <a:solidFill>
                        <a:srgbClr val="E2E7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7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7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7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E2761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75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Jan</a:t>
                      </a:r>
                      <a:endParaRPr lang="en-US" sz="7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27432" marR="27432" marT="9144" marB="9144" anchor="ctr">
                    <a:lnL w="6350" cap="flat" cmpd="sng" algn="ctr">
                      <a:solidFill>
                        <a:srgbClr val="E2E7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7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7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7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E2761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75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Feb</a:t>
                      </a:r>
                      <a:endParaRPr lang="en-US" sz="7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27432" marR="27432" marT="9144" marB="9144" anchor="ctr">
                    <a:lnL w="6350" cap="flat" cmpd="sng" algn="ctr">
                      <a:solidFill>
                        <a:srgbClr val="E2E7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7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7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7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E2761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75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Mar</a:t>
                      </a:r>
                      <a:endParaRPr lang="en-US" sz="7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27432" marR="27432" marT="9144" marB="9144" anchor="ctr">
                    <a:lnL w="6350" cap="flat" cmpd="sng" algn="ctr">
                      <a:solidFill>
                        <a:srgbClr val="E2E7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7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7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7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E2761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75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Apr</a:t>
                      </a:r>
                      <a:endParaRPr lang="en-US" sz="7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27432" marR="27432" marT="9144" marB="9144" anchor="ctr">
                    <a:lnL w="6350" cap="flat" cmpd="sng" algn="ctr">
                      <a:solidFill>
                        <a:srgbClr val="E2E7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7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7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7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E2761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75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May</a:t>
                      </a:r>
                      <a:endParaRPr lang="en-US" sz="7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27432" marR="27432" marT="9144" marB="9144" anchor="ctr">
                    <a:lnL w="6350" cap="flat" cmpd="sng" algn="ctr">
                      <a:solidFill>
                        <a:srgbClr val="E2E7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7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7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7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E2761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75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Jun</a:t>
                      </a:r>
                      <a:endParaRPr lang="en-US" sz="7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27432" marR="27432" marT="9144" marB="9144" anchor="ctr">
                    <a:lnL w="6350" cap="flat" cmpd="sng" algn="ctr">
                      <a:solidFill>
                        <a:srgbClr val="E2E7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7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7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7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E2761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75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H1</a:t>
                      </a:r>
                      <a:endParaRPr lang="en-US" sz="7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27432" marR="27432" marT="9144" marB="9144" anchor="ctr">
                    <a:lnL w="6350" cap="flat" cmpd="sng" algn="ctr">
                      <a:solidFill>
                        <a:srgbClr val="E2E7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7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7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7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E276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150876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750" b="1" dirty="0">
                          <a:solidFill>
                            <a:srgbClr val="26292E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Revenue ’26</a:t>
                      </a:r>
                      <a:endParaRPr lang="en-US" sz="7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27432" marR="27432" marT="9144" marB="9144" anchor="ctr">
                    <a:lnL w="6350" cap="flat" cmpd="sng" algn="ctr">
                      <a:solidFill>
                        <a:srgbClr val="E2E7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7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7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7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r">
                        <a:buNone/>
                      </a:pPr>
                      <a:r>
                        <a:rPr lang="en-US" sz="750" dirty="0">
                          <a:solidFill>
                            <a:srgbClr val="26292E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36.7</a:t>
                      </a:r>
                      <a:endParaRPr lang="en-US" sz="7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27432" marR="27432" marT="9144" marB="9144" anchor="ctr">
                    <a:lnL w="6350" cap="flat" cmpd="sng" algn="ctr">
                      <a:solidFill>
                        <a:srgbClr val="E2E7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7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7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7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r">
                        <a:buNone/>
                      </a:pPr>
                      <a:r>
                        <a:rPr lang="en-US" sz="750" dirty="0">
                          <a:solidFill>
                            <a:srgbClr val="26292E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32.4</a:t>
                      </a:r>
                      <a:endParaRPr lang="en-US" sz="7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27432" marR="27432" marT="9144" marB="9144" anchor="ctr">
                    <a:lnL w="6350" cap="flat" cmpd="sng" algn="ctr">
                      <a:solidFill>
                        <a:srgbClr val="E2E7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7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7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7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r">
                        <a:buNone/>
                      </a:pPr>
                      <a:r>
                        <a:rPr lang="en-US" sz="750" dirty="0">
                          <a:solidFill>
                            <a:srgbClr val="26292E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28.0</a:t>
                      </a:r>
                      <a:endParaRPr lang="en-US" sz="7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27432" marR="27432" marT="9144" marB="9144" anchor="ctr">
                    <a:lnL w="6350" cap="flat" cmpd="sng" algn="ctr">
                      <a:solidFill>
                        <a:srgbClr val="E2E7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7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7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7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r">
                        <a:buNone/>
                      </a:pPr>
                      <a:r>
                        <a:rPr lang="en-US" sz="750" dirty="0">
                          <a:solidFill>
                            <a:srgbClr val="26292E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25.8</a:t>
                      </a:r>
                      <a:endParaRPr lang="en-US" sz="7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27432" marR="27432" marT="9144" marB="9144" anchor="ctr">
                    <a:lnL w="6350" cap="flat" cmpd="sng" algn="ctr">
                      <a:solidFill>
                        <a:srgbClr val="E2E7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7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7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7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r">
                        <a:buNone/>
                      </a:pPr>
                      <a:r>
                        <a:rPr lang="en-US" sz="750" dirty="0">
                          <a:solidFill>
                            <a:srgbClr val="26292E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22.4</a:t>
                      </a:r>
                      <a:endParaRPr lang="en-US" sz="7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27432" marR="27432" marT="9144" marB="9144" anchor="ctr">
                    <a:lnL w="6350" cap="flat" cmpd="sng" algn="ctr">
                      <a:solidFill>
                        <a:srgbClr val="E2E7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7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7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7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r">
                        <a:buNone/>
                      </a:pPr>
                      <a:r>
                        <a:rPr lang="en-US" sz="750" dirty="0">
                          <a:solidFill>
                            <a:srgbClr val="26292E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21.1</a:t>
                      </a:r>
                      <a:endParaRPr lang="en-US" sz="7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27432" marR="27432" marT="9144" marB="9144" anchor="ctr">
                    <a:lnL w="6350" cap="flat" cmpd="sng" algn="ctr">
                      <a:solidFill>
                        <a:srgbClr val="E2E7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7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7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7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r">
                        <a:buNone/>
                      </a:pPr>
                      <a:r>
                        <a:rPr lang="en-US" sz="750" b="1" dirty="0">
                          <a:solidFill>
                            <a:srgbClr val="1E2761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166.4</a:t>
                      </a:r>
                      <a:endParaRPr lang="en-US" sz="7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27432" marR="27432" marT="9144" marB="9144" anchor="ctr">
                    <a:lnL w="6350" cap="flat" cmpd="sng" algn="ctr">
                      <a:solidFill>
                        <a:srgbClr val="E2E7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7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7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7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150876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750" dirty="0">
                          <a:solidFill>
                            <a:srgbClr val="6B728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Revenue ’25</a:t>
                      </a:r>
                      <a:endParaRPr lang="en-US" sz="7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27432" marR="27432" marT="9144" marB="9144" anchor="ctr">
                    <a:lnL w="6350" cap="flat" cmpd="sng" algn="ctr">
                      <a:solidFill>
                        <a:srgbClr val="E2E7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7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7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7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r">
                        <a:buNone/>
                      </a:pPr>
                      <a:r>
                        <a:rPr lang="en-US" sz="750" dirty="0">
                          <a:solidFill>
                            <a:srgbClr val="6B728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40.6</a:t>
                      </a:r>
                      <a:endParaRPr lang="en-US" sz="7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27432" marR="27432" marT="9144" marB="9144" anchor="ctr">
                    <a:lnL w="6350" cap="flat" cmpd="sng" algn="ctr">
                      <a:solidFill>
                        <a:srgbClr val="E2E7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7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7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7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r">
                        <a:buNone/>
                      </a:pPr>
                      <a:r>
                        <a:rPr lang="en-US" sz="750" dirty="0">
                          <a:solidFill>
                            <a:srgbClr val="6B728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32.4</a:t>
                      </a:r>
                      <a:endParaRPr lang="en-US" sz="7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27432" marR="27432" marT="9144" marB="9144" anchor="ctr">
                    <a:lnL w="6350" cap="flat" cmpd="sng" algn="ctr">
                      <a:solidFill>
                        <a:srgbClr val="E2E7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7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7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7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r">
                        <a:buNone/>
                      </a:pPr>
                      <a:r>
                        <a:rPr lang="en-US" sz="750" dirty="0">
                          <a:solidFill>
                            <a:srgbClr val="6B728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25.5</a:t>
                      </a:r>
                      <a:endParaRPr lang="en-US" sz="7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27432" marR="27432" marT="9144" marB="9144" anchor="ctr">
                    <a:lnL w="6350" cap="flat" cmpd="sng" algn="ctr">
                      <a:solidFill>
                        <a:srgbClr val="E2E7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7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7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7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r">
                        <a:buNone/>
                      </a:pPr>
                      <a:r>
                        <a:rPr lang="en-US" sz="750" dirty="0">
                          <a:solidFill>
                            <a:srgbClr val="6B728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27.1</a:t>
                      </a:r>
                      <a:endParaRPr lang="en-US" sz="7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27432" marR="27432" marT="9144" marB="9144" anchor="ctr">
                    <a:lnL w="6350" cap="flat" cmpd="sng" algn="ctr">
                      <a:solidFill>
                        <a:srgbClr val="E2E7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7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7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7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r">
                        <a:buNone/>
                      </a:pPr>
                      <a:r>
                        <a:rPr lang="en-US" sz="750" dirty="0">
                          <a:solidFill>
                            <a:srgbClr val="6B728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22.4</a:t>
                      </a:r>
                      <a:endParaRPr lang="en-US" sz="7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27432" marR="27432" marT="9144" marB="9144" anchor="ctr">
                    <a:lnL w="6350" cap="flat" cmpd="sng" algn="ctr">
                      <a:solidFill>
                        <a:srgbClr val="E2E7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7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7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7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r">
                        <a:buNone/>
                      </a:pPr>
                      <a:r>
                        <a:rPr lang="en-US" sz="750" dirty="0">
                          <a:solidFill>
                            <a:srgbClr val="6B728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19.4</a:t>
                      </a:r>
                      <a:endParaRPr lang="en-US" sz="7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27432" marR="27432" marT="9144" marB="9144" anchor="ctr">
                    <a:lnL w="6350" cap="flat" cmpd="sng" algn="ctr">
                      <a:solidFill>
                        <a:srgbClr val="E2E7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7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7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7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r">
                        <a:buNone/>
                      </a:pPr>
                      <a:r>
                        <a:rPr lang="en-US" sz="750" b="1" dirty="0">
                          <a:solidFill>
                            <a:srgbClr val="6B728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167.4</a:t>
                      </a:r>
                      <a:endParaRPr lang="en-US" sz="7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27432" marR="27432" marT="9144" marB="9144" anchor="ctr">
                    <a:lnL w="6350" cap="flat" cmpd="sng" algn="ctr">
                      <a:solidFill>
                        <a:srgbClr val="E2E7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7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7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7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150876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750" b="1" dirty="0">
                          <a:solidFill>
                            <a:srgbClr val="26292E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OPEX ’26</a:t>
                      </a:r>
                      <a:endParaRPr lang="en-US" sz="7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27432" marR="27432" marT="9144" marB="9144" anchor="ctr">
                    <a:lnL w="6350" cap="flat" cmpd="sng" algn="ctr">
                      <a:solidFill>
                        <a:srgbClr val="E2E7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7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7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7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6FB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r">
                        <a:buNone/>
                      </a:pPr>
                      <a:r>
                        <a:rPr lang="en-US" sz="750" dirty="0">
                          <a:solidFill>
                            <a:srgbClr val="26292E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-13.8</a:t>
                      </a:r>
                      <a:endParaRPr lang="en-US" sz="7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27432" marR="27432" marT="9144" marB="9144" anchor="ctr">
                    <a:lnL w="6350" cap="flat" cmpd="sng" algn="ctr">
                      <a:solidFill>
                        <a:srgbClr val="E2E7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7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7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7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6FB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r">
                        <a:buNone/>
                      </a:pPr>
                      <a:r>
                        <a:rPr lang="en-US" sz="750" dirty="0">
                          <a:solidFill>
                            <a:srgbClr val="26292E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-12.8</a:t>
                      </a:r>
                      <a:endParaRPr lang="en-US" sz="7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27432" marR="27432" marT="9144" marB="9144" anchor="ctr">
                    <a:lnL w="6350" cap="flat" cmpd="sng" algn="ctr">
                      <a:solidFill>
                        <a:srgbClr val="E2E7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7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7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7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6FB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r">
                        <a:buNone/>
                      </a:pPr>
                      <a:r>
                        <a:rPr lang="en-US" sz="750" dirty="0">
                          <a:solidFill>
                            <a:srgbClr val="26292E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-12.2</a:t>
                      </a:r>
                      <a:endParaRPr lang="en-US" sz="7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27432" marR="27432" marT="9144" marB="9144" anchor="ctr">
                    <a:lnL w="6350" cap="flat" cmpd="sng" algn="ctr">
                      <a:solidFill>
                        <a:srgbClr val="E2E7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7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7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7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6FB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r">
                        <a:buNone/>
                      </a:pPr>
                      <a:r>
                        <a:rPr lang="en-US" sz="750" dirty="0">
                          <a:solidFill>
                            <a:srgbClr val="26292E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-12.6</a:t>
                      </a:r>
                      <a:endParaRPr lang="en-US" sz="7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27432" marR="27432" marT="9144" marB="9144" anchor="ctr">
                    <a:lnL w="6350" cap="flat" cmpd="sng" algn="ctr">
                      <a:solidFill>
                        <a:srgbClr val="E2E7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7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7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7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6FB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r">
                        <a:buNone/>
                      </a:pPr>
                      <a:r>
                        <a:rPr lang="en-US" sz="750" dirty="0">
                          <a:solidFill>
                            <a:srgbClr val="26292E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-11.2</a:t>
                      </a:r>
                      <a:endParaRPr lang="en-US" sz="7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27432" marR="27432" marT="9144" marB="9144" anchor="ctr">
                    <a:lnL w="6350" cap="flat" cmpd="sng" algn="ctr">
                      <a:solidFill>
                        <a:srgbClr val="E2E7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7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7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7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6FB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r">
                        <a:buNone/>
                      </a:pPr>
                      <a:r>
                        <a:rPr lang="en-US" sz="750" dirty="0">
                          <a:solidFill>
                            <a:srgbClr val="26292E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-11.7</a:t>
                      </a:r>
                      <a:endParaRPr lang="en-US" sz="7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27432" marR="27432" marT="9144" marB="9144" anchor="ctr">
                    <a:lnL w="6350" cap="flat" cmpd="sng" algn="ctr">
                      <a:solidFill>
                        <a:srgbClr val="E2E7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7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7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7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6FB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r">
                        <a:buNone/>
                      </a:pPr>
                      <a:r>
                        <a:rPr lang="en-US" sz="750" b="1" dirty="0">
                          <a:solidFill>
                            <a:srgbClr val="1E2761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-74.4</a:t>
                      </a:r>
                      <a:endParaRPr lang="en-US" sz="7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27432" marR="27432" marT="9144" marB="9144" anchor="ctr">
                    <a:lnL w="6350" cap="flat" cmpd="sng" algn="ctr">
                      <a:solidFill>
                        <a:srgbClr val="E2E7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7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7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7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6FB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  <a:tr h="150876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750" dirty="0">
                          <a:solidFill>
                            <a:srgbClr val="6B728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OPEX Budget</a:t>
                      </a:r>
                      <a:endParaRPr lang="en-US" sz="7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27432" marR="27432" marT="9144" marB="9144" anchor="ctr">
                    <a:lnL w="6350" cap="flat" cmpd="sng" algn="ctr">
                      <a:solidFill>
                        <a:srgbClr val="E2E7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7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7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7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6FB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r">
                        <a:buNone/>
                      </a:pPr>
                      <a:r>
                        <a:rPr lang="en-US" sz="750" dirty="0">
                          <a:solidFill>
                            <a:srgbClr val="6B728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-15.0</a:t>
                      </a:r>
                      <a:endParaRPr lang="en-US" sz="7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27432" marR="27432" marT="9144" marB="9144" anchor="ctr">
                    <a:lnL w="6350" cap="flat" cmpd="sng" algn="ctr">
                      <a:solidFill>
                        <a:srgbClr val="E2E7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7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7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7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6FB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r">
                        <a:buNone/>
                      </a:pPr>
                      <a:r>
                        <a:rPr lang="en-US" sz="750" dirty="0">
                          <a:solidFill>
                            <a:srgbClr val="6B728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-14.5</a:t>
                      </a:r>
                      <a:endParaRPr lang="en-US" sz="7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27432" marR="27432" marT="9144" marB="9144" anchor="ctr">
                    <a:lnL w="6350" cap="flat" cmpd="sng" algn="ctr">
                      <a:solidFill>
                        <a:srgbClr val="E2E7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7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7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7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6FB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r">
                        <a:buNone/>
                      </a:pPr>
                      <a:r>
                        <a:rPr lang="en-US" sz="750" dirty="0">
                          <a:solidFill>
                            <a:srgbClr val="6B728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-13.6</a:t>
                      </a:r>
                      <a:endParaRPr lang="en-US" sz="7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27432" marR="27432" marT="9144" marB="9144" anchor="ctr">
                    <a:lnL w="6350" cap="flat" cmpd="sng" algn="ctr">
                      <a:solidFill>
                        <a:srgbClr val="E2E7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7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7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7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6FB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r">
                        <a:buNone/>
                      </a:pPr>
                      <a:r>
                        <a:rPr lang="en-US" sz="750" dirty="0">
                          <a:solidFill>
                            <a:srgbClr val="6B728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-13.9</a:t>
                      </a:r>
                      <a:endParaRPr lang="en-US" sz="7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27432" marR="27432" marT="9144" marB="9144" anchor="ctr">
                    <a:lnL w="6350" cap="flat" cmpd="sng" algn="ctr">
                      <a:solidFill>
                        <a:srgbClr val="E2E7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7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7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7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6FB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r">
                        <a:buNone/>
                      </a:pPr>
                      <a:r>
                        <a:rPr lang="en-US" sz="750" dirty="0">
                          <a:solidFill>
                            <a:srgbClr val="6B728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-13.0</a:t>
                      </a:r>
                      <a:endParaRPr lang="en-US" sz="7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27432" marR="27432" marT="9144" marB="9144" anchor="ctr">
                    <a:lnL w="6350" cap="flat" cmpd="sng" algn="ctr">
                      <a:solidFill>
                        <a:srgbClr val="E2E7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7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7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7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6FB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r">
                        <a:buNone/>
                      </a:pPr>
                      <a:r>
                        <a:rPr lang="en-US" sz="750" dirty="0">
                          <a:solidFill>
                            <a:srgbClr val="6B728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-12.5</a:t>
                      </a:r>
                      <a:endParaRPr lang="en-US" sz="7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27432" marR="27432" marT="9144" marB="9144" anchor="ctr">
                    <a:lnL w="6350" cap="flat" cmpd="sng" algn="ctr">
                      <a:solidFill>
                        <a:srgbClr val="E2E7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7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7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7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6FB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r">
                        <a:buNone/>
                      </a:pPr>
                      <a:r>
                        <a:rPr lang="en-US" sz="750" b="1" dirty="0">
                          <a:solidFill>
                            <a:srgbClr val="6B728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-82.4</a:t>
                      </a:r>
                      <a:endParaRPr lang="en-US" sz="7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27432" marR="27432" marT="9144" marB="9144" anchor="ctr">
                    <a:lnL w="6350" cap="flat" cmpd="sng" algn="ctr">
                      <a:solidFill>
                        <a:srgbClr val="E2E7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7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7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7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6FB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5"/>
                  </a:ext>
                </a:extLst>
              </a:tr>
              <a:tr h="150876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750" dirty="0">
                          <a:solidFill>
                            <a:srgbClr val="6B728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OPEX ’25</a:t>
                      </a:r>
                      <a:endParaRPr lang="en-US" sz="7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27432" marR="27432" marT="9144" marB="9144" anchor="ctr">
                    <a:lnL w="6350" cap="flat" cmpd="sng" algn="ctr">
                      <a:solidFill>
                        <a:srgbClr val="E2E7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7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7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7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6FB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r">
                        <a:buNone/>
                      </a:pPr>
                      <a:r>
                        <a:rPr lang="en-US" sz="750" dirty="0">
                          <a:solidFill>
                            <a:srgbClr val="6B728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-15.6</a:t>
                      </a:r>
                      <a:endParaRPr lang="en-US" sz="7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27432" marR="27432" marT="9144" marB="9144" anchor="ctr">
                    <a:lnL w="6350" cap="flat" cmpd="sng" algn="ctr">
                      <a:solidFill>
                        <a:srgbClr val="E2E7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7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7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7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6FB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r">
                        <a:buNone/>
                      </a:pPr>
                      <a:r>
                        <a:rPr lang="en-US" sz="750" dirty="0">
                          <a:solidFill>
                            <a:srgbClr val="6B728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-13.6</a:t>
                      </a:r>
                      <a:endParaRPr lang="en-US" sz="7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27432" marR="27432" marT="9144" marB="9144" anchor="ctr">
                    <a:lnL w="6350" cap="flat" cmpd="sng" algn="ctr">
                      <a:solidFill>
                        <a:srgbClr val="E2E7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7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7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7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6FB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r">
                        <a:buNone/>
                      </a:pPr>
                      <a:r>
                        <a:rPr lang="en-US" sz="750" dirty="0">
                          <a:solidFill>
                            <a:srgbClr val="6B728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-11.1</a:t>
                      </a:r>
                      <a:endParaRPr lang="en-US" sz="7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27432" marR="27432" marT="9144" marB="9144" anchor="ctr">
                    <a:lnL w="6350" cap="flat" cmpd="sng" algn="ctr">
                      <a:solidFill>
                        <a:srgbClr val="E2E7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7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7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7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6FB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r">
                        <a:buNone/>
                      </a:pPr>
                      <a:r>
                        <a:rPr lang="en-US" sz="750" dirty="0">
                          <a:solidFill>
                            <a:srgbClr val="6B728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-12.1</a:t>
                      </a:r>
                      <a:endParaRPr lang="en-US" sz="7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27432" marR="27432" marT="9144" marB="9144" anchor="ctr">
                    <a:lnL w="6350" cap="flat" cmpd="sng" algn="ctr">
                      <a:solidFill>
                        <a:srgbClr val="E2E7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7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7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7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6FB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r">
                        <a:buNone/>
                      </a:pPr>
                      <a:r>
                        <a:rPr lang="en-US" sz="750" dirty="0">
                          <a:solidFill>
                            <a:srgbClr val="6B728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-11.5</a:t>
                      </a:r>
                      <a:endParaRPr lang="en-US" sz="7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27432" marR="27432" marT="9144" marB="9144" anchor="ctr">
                    <a:lnL w="6350" cap="flat" cmpd="sng" algn="ctr">
                      <a:solidFill>
                        <a:srgbClr val="E2E7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7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7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7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6FB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r">
                        <a:buNone/>
                      </a:pPr>
                      <a:r>
                        <a:rPr lang="en-US" sz="750" dirty="0">
                          <a:solidFill>
                            <a:srgbClr val="6B728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-11.2</a:t>
                      </a:r>
                      <a:endParaRPr lang="en-US" sz="7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27432" marR="27432" marT="9144" marB="9144" anchor="ctr">
                    <a:lnL w="6350" cap="flat" cmpd="sng" algn="ctr">
                      <a:solidFill>
                        <a:srgbClr val="E2E7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7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7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7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6FB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r">
                        <a:buNone/>
                      </a:pPr>
                      <a:r>
                        <a:rPr lang="en-US" sz="750" b="1" dirty="0">
                          <a:solidFill>
                            <a:srgbClr val="6B728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-75.1</a:t>
                      </a:r>
                      <a:endParaRPr lang="en-US" sz="7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27432" marR="27432" marT="9144" marB="9144" anchor="ctr">
                    <a:lnL w="6350" cap="flat" cmpd="sng" algn="ctr">
                      <a:solidFill>
                        <a:srgbClr val="E2E7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7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7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7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6FB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5"/>
                  </a:ext>
                </a:extLst>
              </a:tr>
              <a:tr h="150876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750" b="1" dirty="0">
                          <a:solidFill>
                            <a:srgbClr val="26292E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GOP ’26</a:t>
                      </a:r>
                      <a:endParaRPr lang="en-US" sz="7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27432" marR="27432" marT="9144" marB="9144" anchor="ctr">
                    <a:lnL w="6350" cap="flat" cmpd="sng" algn="ctr">
                      <a:solidFill>
                        <a:srgbClr val="E2E7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7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7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7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r">
                        <a:buNone/>
                      </a:pPr>
                      <a:r>
                        <a:rPr lang="en-US" sz="750" dirty="0">
                          <a:solidFill>
                            <a:srgbClr val="26292E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22.9</a:t>
                      </a:r>
                      <a:endParaRPr lang="en-US" sz="7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27432" marR="27432" marT="9144" marB="9144" anchor="ctr">
                    <a:lnL w="6350" cap="flat" cmpd="sng" algn="ctr">
                      <a:solidFill>
                        <a:srgbClr val="E2E7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7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7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7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r">
                        <a:buNone/>
                      </a:pPr>
                      <a:r>
                        <a:rPr lang="en-US" sz="750" dirty="0">
                          <a:solidFill>
                            <a:srgbClr val="26292E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19.6</a:t>
                      </a:r>
                      <a:endParaRPr lang="en-US" sz="7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27432" marR="27432" marT="9144" marB="9144" anchor="ctr">
                    <a:lnL w="6350" cap="flat" cmpd="sng" algn="ctr">
                      <a:solidFill>
                        <a:srgbClr val="E2E7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7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7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7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r">
                        <a:buNone/>
                      </a:pPr>
                      <a:r>
                        <a:rPr lang="en-US" sz="750" dirty="0">
                          <a:solidFill>
                            <a:srgbClr val="26292E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15.8</a:t>
                      </a:r>
                      <a:endParaRPr lang="en-US" sz="7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27432" marR="27432" marT="9144" marB="9144" anchor="ctr">
                    <a:lnL w="6350" cap="flat" cmpd="sng" algn="ctr">
                      <a:solidFill>
                        <a:srgbClr val="E2E7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7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7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7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r">
                        <a:buNone/>
                      </a:pPr>
                      <a:r>
                        <a:rPr lang="en-US" sz="750" dirty="0">
                          <a:solidFill>
                            <a:srgbClr val="26292E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13.2</a:t>
                      </a:r>
                      <a:endParaRPr lang="en-US" sz="7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27432" marR="27432" marT="9144" marB="9144" anchor="ctr">
                    <a:lnL w="6350" cap="flat" cmpd="sng" algn="ctr">
                      <a:solidFill>
                        <a:srgbClr val="E2E7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7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7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7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r">
                        <a:buNone/>
                      </a:pPr>
                      <a:r>
                        <a:rPr lang="en-US" sz="750" dirty="0">
                          <a:solidFill>
                            <a:srgbClr val="26292E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11.2</a:t>
                      </a:r>
                      <a:endParaRPr lang="en-US" sz="7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27432" marR="27432" marT="9144" marB="9144" anchor="ctr">
                    <a:lnL w="6350" cap="flat" cmpd="sng" algn="ctr">
                      <a:solidFill>
                        <a:srgbClr val="E2E7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7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7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7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r">
                        <a:buNone/>
                      </a:pPr>
                      <a:r>
                        <a:rPr lang="en-US" sz="750" dirty="0">
                          <a:solidFill>
                            <a:srgbClr val="26292E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9.3</a:t>
                      </a:r>
                      <a:endParaRPr lang="en-US" sz="7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27432" marR="27432" marT="9144" marB="9144" anchor="ctr">
                    <a:lnL w="6350" cap="flat" cmpd="sng" algn="ctr">
                      <a:solidFill>
                        <a:srgbClr val="E2E7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7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7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7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r">
                        <a:buNone/>
                      </a:pPr>
                      <a:r>
                        <a:rPr lang="en-US" sz="750" b="1" dirty="0">
                          <a:solidFill>
                            <a:srgbClr val="1E2761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92.1</a:t>
                      </a:r>
                      <a:endParaRPr lang="en-US" sz="7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27432" marR="27432" marT="9144" marB="9144" anchor="ctr">
                    <a:lnL w="6350" cap="flat" cmpd="sng" algn="ctr">
                      <a:solidFill>
                        <a:srgbClr val="E2E7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7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7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7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7"/>
                  </a:ext>
                </a:extLst>
              </a:tr>
              <a:tr h="150876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750" dirty="0">
                          <a:solidFill>
                            <a:srgbClr val="6B728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GOP Budget</a:t>
                      </a:r>
                      <a:endParaRPr lang="en-US" sz="7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27432" marR="27432" marT="9144" marB="9144" anchor="ctr">
                    <a:lnL w="6350" cap="flat" cmpd="sng" algn="ctr">
                      <a:solidFill>
                        <a:srgbClr val="E2E7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7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7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7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r">
                        <a:buNone/>
                      </a:pPr>
                      <a:r>
                        <a:rPr lang="en-US" sz="750" dirty="0">
                          <a:solidFill>
                            <a:srgbClr val="6B728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22.5</a:t>
                      </a:r>
                      <a:endParaRPr lang="en-US" sz="7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27432" marR="27432" marT="9144" marB="9144" anchor="ctr">
                    <a:lnL w="6350" cap="flat" cmpd="sng" algn="ctr">
                      <a:solidFill>
                        <a:srgbClr val="E2E7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7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7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7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r">
                        <a:buNone/>
                      </a:pPr>
                      <a:r>
                        <a:rPr lang="en-US" sz="750" dirty="0">
                          <a:solidFill>
                            <a:srgbClr val="6B728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22.5</a:t>
                      </a:r>
                      <a:endParaRPr lang="en-US" sz="7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27432" marR="27432" marT="9144" marB="9144" anchor="ctr">
                    <a:lnL w="6350" cap="flat" cmpd="sng" algn="ctr">
                      <a:solidFill>
                        <a:srgbClr val="E2E7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7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7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7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r">
                        <a:buNone/>
                      </a:pPr>
                      <a:r>
                        <a:rPr lang="en-US" sz="750" dirty="0">
                          <a:solidFill>
                            <a:srgbClr val="6B728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15.2</a:t>
                      </a:r>
                      <a:endParaRPr lang="en-US" sz="7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27432" marR="27432" marT="9144" marB="9144" anchor="ctr">
                    <a:lnL w="6350" cap="flat" cmpd="sng" algn="ctr">
                      <a:solidFill>
                        <a:srgbClr val="E2E7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7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7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7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r">
                        <a:buNone/>
                      </a:pPr>
                      <a:r>
                        <a:rPr lang="en-US" sz="750" dirty="0">
                          <a:solidFill>
                            <a:srgbClr val="6B728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16.9</a:t>
                      </a:r>
                      <a:endParaRPr lang="en-US" sz="7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27432" marR="27432" marT="9144" marB="9144" anchor="ctr">
                    <a:lnL w="6350" cap="flat" cmpd="sng" algn="ctr">
                      <a:solidFill>
                        <a:srgbClr val="E2E7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7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7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7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r">
                        <a:buNone/>
                      </a:pPr>
                      <a:r>
                        <a:rPr lang="en-US" sz="750" dirty="0">
                          <a:solidFill>
                            <a:srgbClr val="6B728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13.0</a:t>
                      </a:r>
                      <a:endParaRPr lang="en-US" sz="7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27432" marR="27432" marT="9144" marB="9144" anchor="ctr">
                    <a:lnL w="6350" cap="flat" cmpd="sng" algn="ctr">
                      <a:solidFill>
                        <a:srgbClr val="E2E7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7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7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7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r">
                        <a:buNone/>
                      </a:pPr>
                      <a:r>
                        <a:rPr lang="en-US" sz="750" dirty="0">
                          <a:solidFill>
                            <a:srgbClr val="6B728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10.6</a:t>
                      </a:r>
                      <a:endParaRPr lang="en-US" sz="7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27432" marR="27432" marT="9144" marB="9144" anchor="ctr">
                    <a:lnL w="6350" cap="flat" cmpd="sng" algn="ctr">
                      <a:solidFill>
                        <a:srgbClr val="E2E7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7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7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7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r">
                        <a:buNone/>
                      </a:pPr>
                      <a:r>
                        <a:rPr lang="en-US" sz="750" b="1" dirty="0">
                          <a:solidFill>
                            <a:srgbClr val="6B728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100.7</a:t>
                      </a:r>
                      <a:endParaRPr lang="en-US" sz="7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27432" marR="27432" marT="9144" marB="9144" anchor="ctr">
                    <a:lnL w="6350" cap="flat" cmpd="sng" algn="ctr">
                      <a:solidFill>
                        <a:srgbClr val="E2E7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7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7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7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8"/>
                  </a:ext>
                </a:extLst>
              </a:tr>
              <a:tr h="150876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750" dirty="0">
                          <a:solidFill>
                            <a:srgbClr val="6B728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GOP ’25</a:t>
                      </a:r>
                      <a:endParaRPr lang="en-US" sz="7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27432" marR="27432" marT="9144" marB="9144" anchor="ctr">
                    <a:lnL w="6350" cap="flat" cmpd="sng" algn="ctr">
                      <a:solidFill>
                        <a:srgbClr val="E2E7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7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7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7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r">
                        <a:buNone/>
                      </a:pPr>
                      <a:r>
                        <a:rPr lang="en-US" sz="750" dirty="0">
                          <a:solidFill>
                            <a:srgbClr val="6B728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25.0</a:t>
                      </a:r>
                      <a:endParaRPr lang="en-US" sz="7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27432" marR="27432" marT="9144" marB="9144" anchor="ctr">
                    <a:lnL w="6350" cap="flat" cmpd="sng" algn="ctr">
                      <a:solidFill>
                        <a:srgbClr val="E2E7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7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7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7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r">
                        <a:buNone/>
                      </a:pPr>
                      <a:r>
                        <a:rPr lang="en-US" sz="750" dirty="0">
                          <a:solidFill>
                            <a:srgbClr val="6B728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18.8</a:t>
                      </a:r>
                      <a:endParaRPr lang="en-US" sz="7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27432" marR="27432" marT="9144" marB="9144" anchor="ctr">
                    <a:lnL w="6350" cap="flat" cmpd="sng" algn="ctr">
                      <a:solidFill>
                        <a:srgbClr val="E2E7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7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7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7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r">
                        <a:buNone/>
                      </a:pPr>
                      <a:r>
                        <a:rPr lang="en-US" sz="750" dirty="0">
                          <a:solidFill>
                            <a:srgbClr val="6B728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14.4</a:t>
                      </a:r>
                      <a:endParaRPr lang="en-US" sz="7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27432" marR="27432" marT="9144" marB="9144" anchor="ctr">
                    <a:lnL w="6350" cap="flat" cmpd="sng" algn="ctr">
                      <a:solidFill>
                        <a:srgbClr val="E2E7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7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7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7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r">
                        <a:buNone/>
                      </a:pPr>
                      <a:r>
                        <a:rPr lang="en-US" sz="750" dirty="0">
                          <a:solidFill>
                            <a:srgbClr val="6B728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15.0</a:t>
                      </a:r>
                      <a:endParaRPr lang="en-US" sz="7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27432" marR="27432" marT="9144" marB="9144" anchor="ctr">
                    <a:lnL w="6350" cap="flat" cmpd="sng" algn="ctr">
                      <a:solidFill>
                        <a:srgbClr val="E2E7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7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7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7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r">
                        <a:buNone/>
                      </a:pPr>
                      <a:r>
                        <a:rPr lang="en-US" sz="750" dirty="0">
                          <a:solidFill>
                            <a:srgbClr val="6B728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10.9</a:t>
                      </a:r>
                      <a:endParaRPr lang="en-US" sz="7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27432" marR="27432" marT="9144" marB="9144" anchor="ctr">
                    <a:lnL w="6350" cap="flat" cmpd="sng" algn="ctr">
                      <a:solidFill>
                        <a:srgbClr val="E2E7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7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7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7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r">
                        <a:buNone/>
                      </a:pPr>
                      <a:r>
                        <a:rPr lang="en-US" sz="750" dirty="0">
                          <a:solidFill>
                            <a:srgbClr val="6B728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8.1</a:t>
                      </a:r>
                      <a:endParaRPr lang="en-US" sz="7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27432" marR="27432" marT="9144" marB="9144" anchor="ctr">
                    <a:lnL w="6350" cap="flat" cmpd="sng" algn="ctr">
                      <a:solidFill>
                        <a:srgbClr val="E2E7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7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7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7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r">
                        <a:buNone/>
                      </a:pPr>
                      <a:r>
                        <a:rPr lang="en-US" sz="750" b="1" dirty="0">
                          <a:solidFill>
                            <a:srgbClr val="6B728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92.3</a:t>
                      </a:r>
                      <a:endParaRPr lang="en-US" sz="7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27432" marR="27432" marT="9144" marB="9144" anchor="ctr">
                    <a:lnL w="6350" cap="flat" cmpd="sng" algn="ctr">
                      <a:solidFill>
                        <a:srgbClr val="E2E7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7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7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7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8"/>
                  </a:ext>
                </a:extLst>
              </a:tr>
              <a:tr h="150876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750" b="1" dirty="0">
                          <a:solidFill>
                            <a:srgbClr val="26292E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EBIT ’26</a:t>
                      </a:r>
                      <a:endParaRPr lang="en-US" sz="7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27432" marR="27432" marT="9144" marB="9144" anchor="ctr">
                    <a:lnL w="6350" cap="flat" cmpd="sng" algn="ctr">
                      <a:solidFill>
                        <a:srgbClr val="E2E7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7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7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7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6FB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r">
                        <a:buNone/>
                      </a:pPr>
                      <a:r>
                        <a:rPr lang="en-US" sz="750" dirty="0">
                          <a:solidFill>
                            <a:srgbClr val="26292E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15.0</a:t>
                      </a:r>
                      <a:endParaRPr lang="en-US" sz="7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27432" marR="27432" marT="9144" marB="9144" anchor="ctr">
                    <a:lnL w="6350" cap="flat" cmpd="sng" algn="ctr">
                      <a:solidFill>
                        <a:srgbClr val="E2E7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7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7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7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6FB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r">
                        <a:buNone/>
                      </a:pPr>
                      <a:r>
                        <a:rPr lang="en-US" sz="750" dirty="0">
                          <a:solidFill>
                            <a:srgbClr val="26292E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13.0</a:t>
                      </a:r>
                      <a:endParaRPr lang="en-US" sz="7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27432" marR="27432" marT="9144" marB="9144" anchor="ctr">
                    <a:lnL w="6350" cap="flat" cmpd="sng" algn="ctr">
                      <a:solidFill>
                        <a:srgbClr val="E2E7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7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7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7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6FB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r">
                        <a:buNone/>
                      </a:pPr>
                      <a:r>
                        <a:rPr lang="en-US" sz="750" dirty="0">
                          <a:solidFill>
                            <a:srgbClr val="26292E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8.9</a:t>
                      </a:r>
                      <a:endParaRPr lang="en-US" sz="7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27432" marR="27432" marT="9144" marB="9144" anchor="ctr">
                    <a:lnL w="6350" cap="flat" cmpd="sng" algn="ctr">
                      <a:solidFill>
                        <a:srgbClr val="E2E7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7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7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7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6FB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r">
                        <a:buNone/>
                      </a:pPr>
                      <a:r>
                        <a:rPr lang="en-US" sz="750" dirty="0">
                          <a:solidFill>
                            <a:srgbClr val="26292E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6.9</a:t>
                      </a:r>
                      <a:endParaRPr lang="en-US" sz="7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27432" marR="27432" marT="9144" marB="9144" anchor="ctr">
                    <a:lnL w="6350" cap="flat" cmpd="sng" algn="ctr">
                      <a:solidFill>
                        <a:srgbClr val="E2E7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7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7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7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6FB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r">
                        <a:buNone/>
                      </a:pPr>
                      <a:r>
                        <a:rPr lang="en-US" sz="750" dirty="0">
                          <a:solidFill>
                            <a:srgbClr val="26292E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4.9</a:t>
                      </a:r>
                      <a:endParaRPr lang="en-US" sz="7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27432" marR="27432" marT="9144" marB="9144" anchor="ctr">
                    <a:lnL w="6350" cap="flat" cmpd="sng" algn="ctr">
                      <a:solidFill>
                        <a:srgbClr val="E2E7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7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7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7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6FB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r">
                        <a:buNone/>
                      </a:pPr>
                      <a:r>
                        <a:rPr lang="en-US" sz="750" dirty="0">
                          <a:solidFill>
                            <a:srgbClr val="26292E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3.5</a:t>
                      </a:r>
                      <a:endParaRPr lang="en-US" sz="7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27432" marR="27432" marT="9144" marB="9144" anchor="ctr">
                    <a:lnL w="6350" cap="flat" cmpd="sng" algn="ctr">
                      <a:solidFill>
                        <a:srgbClr val="E2E7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7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7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7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6FB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r">
                        <a:buNone/>
                      </a:pPr>
                      <a:r>
                        <a:rPr lang="en-US" sz="750" b="1" dirty="0">
                          <a:solidFill>
                            <a:srgbClr val="1E2761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52.2</a:t>
                      </a:r>
                      <a:endParaRPr lang="en-US" sz="7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27432" marR="27432" marT="9144" marB="9144" anchor="ctr">
                    <a:lnL w="6350" cap="flat" cmpd="sng" algn="ctr">
                      <a:solidFill>
                        <a:srgbClr val="E2E7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7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7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7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6FB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10"/>
                  </a:ext>
                </a:extLst>
              </a:tr>
              <a:tr h="150876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750" dirty="0">
                          <a:solidFill>
                            <a:srgbClr val="6B728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EBIT Budget</a:t>
                      </a:r>
                      <a:endParaRPr lang="en-US" sz="7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27432" marR="27432" marT="9144" marB="9144" anchor="ctr">
                    <a:lnL w="6350" cap="flat" cmpd="sng" algn="ctr">
                      <a:solidFill>
                        <a:srgbClr val="E2E7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7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7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7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6FB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r">
                        <a:buNone/>
                      </a:pPr>
                      <a:r>
                        <a:rPr lang="en-US" sz="750" dirty="0">
                          <a:solidFill>
                            <a:srgbClr val="6B728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15.1</a:t>
                      </a:r>
                      <a:endParaRPr lang="en-US" sz="7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27432" marR="27432" marT="9144" marB="9144" anchor="ctr">
                    <a:lnL w="6350" cap="flat" cmpd="sng" algn="ctr">
                      <a:solidFill>
                        <a:srgbClr val="E2E7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7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7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7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6FB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r">
                        <a:buNone/>
                      </a:pPr>
                      <a:r>
                        <a:rPr lang="en-US" sz="750" dirty="0">
                          <a:solidFill>
                            <a:srgbClr val="6B728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15.1</a:t>
                      </a:r>
                      <a:endParaRPr lang="en-US" sz="7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27432" marR="27432" marT="9144" marB="9144" anchor="ctr">
                    <a:lnL w="6350" cap="flat" cmpd="sng" algn="ctr">
                      <a:solidFill>
                        <a:srgbClr val="E2E7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7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7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7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6FB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r">
                        <a:buNone/>
                      </a:pPr>
                      <a:r>
                        <a:rPr lang="en-US" sz="750" dirty="0">
                          <a:solidFill>
                            <a:srgbClr val="6B728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8.4</a:t>
                      </a:r>
                      <a:endParaRPr lang="en-US" sz="7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27432" marR="27432" marT="9144" marB="9144" anchor="ctr">
                    <a:lnL w="6350" cap="flat" cmpd="sng" algn="ctr">
                      <a:solidFill>
                        <a:srgbClr val="E2E7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7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7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7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6FB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r">
                        <a:buNone/>
                      </a:pPr>
                      <a:r>
                        <a:rPr lang="en-US" sz="750" dirty="0">
                          <a:solidFill>
                            <a:srgbClr val="6B728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10.0</a:t>
                      </a:r>
                      <a:endParaRPr lang="en-US" sz="7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27432" marR="27432" marT="9144" marB="9144" anchor="ctr">
                    <a:lnL w="6350" cap="flat" cmpd="sng" algn="ctr">
                      <a:solidFill>
                        <a:srgbClr val="E2E7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7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7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7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6FB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r">
                        <a:buNone/>
                      </a:pPr>
                      <a:r>
                        <a:rPr lang="en-US" sz="750" dirty="0">
                          <a:solidFill>
                            <a:srgbClr val="6B728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6.4</a:t>
                      </a:r>
                      <a:endParaRPr lang="en-US" sz="7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27432" marR="27432" marT="9144" marB="9144" anchor="ctr">
                    <a:lnL w="6350" cap="flat" cmpd="sng" algn="ctr">
                      <a:solidFill>
                        <a:srgbClr val="E2E7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7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7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7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6FB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r">
                        <a:buNone/>
                      </a:pPr>
                      <a:r>
                        <a:rPr lang="en-US" sz="750" dirty="0">
                          <a:solidFill>
                            <a:srgbClr val="6B728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4.1</a:t>
                      </a:r>
                      <a:endParaRPr lang="en-US" sz="7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27432" marR="27432" marT="9144" marB="9144" anchor="ctr">
                    <a:lnL w="6350" cap="flat" cmpd="sng" algn="ctr">
                      <a:solidFill>
                        <a:srgbClr val="E2E7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7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7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7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6FB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r">
                        <a:buNone/>
                      </a:pPr>
                      <a:r>
                        <a:rPr lang="en-US" sz="750" b="1" dirty="0">
                          <a:solidFill>
                            <a:srgbClr val="6B728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59.1</a:t>
                      </a:r>
                      <a:endParaRPr lang="en-US" sz="7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27432" marR="27432" marT="9144" marB="9144" anchor="ctr">
                    <a:lnL w="6350" cap="flat" cmpd="sng" algn="ctr">
                      <a:solidFill>
                        <a:srgbClr val="E2E7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7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7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7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6FB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11"/>
                  </a:ext>
                </a:extLst>
              </a:tr>
              <a:tr h="150876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750" dirty="0">
                          <a:solidFill>
                            <a:srgbClr val="6B728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EBIT ’25</a:t>
                      </a:r>
                      <a:endParaRPr lang="en-US" sz="7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27432" marR="27432" marT="9144" marB="9144" anchor="ctr">
                    <a:lnL w="6350" cap="flat" cmpd="sng" algn="ctr">
                      <a:solidFill>
                        <a:srgbClr val="E2E7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7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7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7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6FB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r">
                        <a:buNone/>
                      </a:pPr>
                      <a:r>
                        <a:rPr lang="en-US" sz="750" dirty="0">
                          <a:solidFill>
                            <a:srgbClr val="6B728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17.4</a:t>
                      </a:r>
                      <a:endParaRPr lang="en-US" sz="7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27432" marR="27432" marT="9144" marB="9144" anchor="ctr">
                    <a:lnL w="6350" cap="flat" cmpd="sng" algn="ctr">
                      <a:solidFill>
                        <a:srgbClr val="E2E7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7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7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7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6FB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r">
                        <a:buNone/>
                      </a:pPr>
                      <a:r>
                        <a:rPr lang="en-US" sz="750" dirty="0">
                          <a:solidFill>
                            <a:srgbClr val="6B728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12.4</a:t>
                      </a:r>
                      <a:endParaRPr lang="en-US" sz="7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27432" marR="27432" marT="9144" marB="9144" anchor="ctr">
                    <a:lnL w="6350" cap="flat" cmpd="sng" algn="ctr">
                      <a:solidFill>
                        <a:srgbClr val="E2E7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7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7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7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6FB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r">
                        <a:buNone/>
                      </a:pPr>
                      <a:r>
                        <a:rPr lang="en-US" sz="750" dirty="0">
                          <a:solidFill>
                            <a:srgbClr val="6B728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7.8</a:t>
                      </a:r>
                      <a:endParaRPr lang="en-US" sz="7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27432" marR="27432" marT="9144" marB="9144" anchor="ctr">
                    <a:lnL w="6350" cap="flat" cmpd="sng" algn="ctr">
                      <a:solidFill>
                        <a:srgbClr val="E2E7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7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7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7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6FB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r">
                        <a:buNone/>
                      </a:pPr>
                      <a:r>
                        <a:rPr lang="en-US" sz="750" dirty="0">
                          <a:solidFill>
                            <a:srgbClr val="6B728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8.6</a:t>
                      </a:r>
                      <a:endParaRPr lang="en-US" sz="7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27432" marR="27432" marT="9144" marB="9144" anchor="ctr">
                    <a:lnL w="6350" cap="flat" cmpd="sng" algn="ctr">
                      <a:solidFill>
                        <a:srgbClr val="E2E7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7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7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7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6FB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r">
                        <a:buNone/>
                      </a:pPr>
                      <a:r>
                        <a:rPr lang="en-US" sz="750" dirty="0">
                          <a:solidFill>
                            <a:srgbClr val="6B728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4.9</a:t>
                      </a:r>
                      <a:endParaRPr lang="en-US" sz="7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27432" marR="27432" marT="9144" marB="9144" anchor="ctr">
                    <a:lnL w="6350" cap="flat" cmpd="sng" algn="ctr">
                      <a:solidFill>
                        <a:srgbClr val="E2E7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7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7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7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6FB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r">
                        <a:buNone/>
                      </a:pPr>
                      <a:r>
                        <a:rPr lang="en-US" sz="750" dirty="0">
                          <a:solidFill>
                            <a:srgbClr val="6B728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2.0</a:t>
                      </a:r>
                      <a:endParaRPr lang="en-US" sz="7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27432" marR="27432" marT="9144" marB="9144" anchor="ctr">
                    <a:lnL w="6350" cap="flat" cmpd="sng" algn="ctr">
                      <a:solidFill>
                        <a:srgbClr val="E2E7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7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7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7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6FB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r">
                        <a:buNone/>
                      </a:pPr>
                      <a:r>
                        <a:rPr lang="en-US" sz="750" b="1" dirty="0">
                          <a:solidFill>
                            <a:srgbClr val="6B728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53.1</a:t>
                      </a:r>
                      <a:endParaRPr lang="en-US" sz="7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27432" marR="27432" marT="9144" marB="9144" anchor="ctr">
                    <a:lnL w="6350" cap="flat" cmpd="sng" algn="ctr">
                      <a:solidFill>
                        <a:srgbClr val="E2E7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7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7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7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6FB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11"/>
                  </a:ext>
                </a:extLst>
              </a:tr>
              <a:tr h="150876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750" b="1" dirty="0">
                          <a:solidFill>
                            <a:srgbClr val="26292E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NPAT ’26</a:t>
                      </a:r>
                      <a:endParaRPr lang="en-US" sz="7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27432" marR="27432" marT="9144" marB="9144" anchor="ctr">
                    <a:lnL w="6350" cap="flat" cmpd="sng" algn="ctr">
                      <a:solidFill>
                        <a:srgbClr val="E2E7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7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7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7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r">
                        <a:buNone/>
                      </a:pPr>
                      <a:r>
                        <a:rPr lang="en-US" sz="750" dirty="0">
                          <a:solidFill>
                            <a:srgbClr val="26292E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9.3</a:t>
                      </a:r>
                      <a:endParaRPr lang="en-US" sz="7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27432" marR="27432" marT="9144" marB="9144" anchor="ctr">
                    <a:lnL w="6350" cap="flat" cmpd="sng" algn="ctr">
                      <a:solidFill>
                        <a:srgbClr val="E2E7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7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7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7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r">
                        <a:buNone/>
                      </a:pPr>
                      <a:r>
                        <a:rPr lang="en-US" sz="750" dirty="0">
                          <a:solidFill>
                            <a:srgbClr val="26292E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8.0</a:t>
                      </a:r>
                      <a:endParaRPr lang="en-US" sz="7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27432" marR="27432" marT="9144" marB="9144" anchor="ctr">
                    <a:lnL w="6350" cap="flat" cmpd="sng" algn="ctr">
                      <a:solidFill>
                        <a:srgbClr val="E2E7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7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7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7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r">
                        <a:buNone/>
                      </a:pPr>
                      <a:r>
                        <a:rPr lang="en-US" sz="750" dirty="0">
                          <a:solidFill>
                            <a:srgbClr val="26292E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4.3</a:t>
                      </a:r>
                      <a:endParaRPr lang="en-US" sz="7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27432" marR="27432" marT="9144" marB="9144" anchor="ctr">
                    <a:lnL w="6350" cap="flat" cmpd="sng" algn="ctr">
                      <a:solidFill>
                        <a:srgbClr val="E2E7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7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7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7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r">
                        <a:buNone/>
                      </a:pPr>
                      <a:r>
                        <a:rPr lang="en-US" sz="750" dirty="0">
                          <a:solidFill>
                            <a:srgbClr val="26292E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2.9</a:t>
                      </a:r>
                      <a:endParaRPr lang="en-US" sz="7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27432" marR="27432" marT="9144" marB="9144" anchor="ctr">
                    <a:lnL w="6350" cap="flat" cmpd="sng" algn="ctr">
                      <a:solidFill>
                        <a:srgbClr val="E2E7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7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7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7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r">
                        <a:buNone/>
                      </a:pPr>
                      <a:r>
                        <a:rPr lang="en-US" sz="750" dirty="0">
                          <a:solidFill>
                            <a:srgbClr val="26292E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1.1</a:t>
                      </a:r>
                      <a:endParaRPr lang="en-US" sz="7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27432" marR="27432" marT="9144" marB="9144" anchor="ctr">
                    <a:lnL w="6350" cap="flat" cmpd="sng" algn="ctr">
                      <a:solidFill>
                        <a:srgbClr val="E2E7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7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7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7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r">
                        <a:buNone/>
                      </a:pPr>
                      <a:r>
                        <a:rPr lang="en-US" sz="750" dirty="0">
                          <a:solidFill>
                            <a:srgbClr val="26292E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0.2</a:t>
                      </a:r>
                      <a:endParaRPr lang="en-US" sz="7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27432" marR="27432" marT="9144" marB="9144" anchor="ctr">
                    <a:lnL w="6350" cap="flat" cmpd="sng" algn="ctr">
                      <a:solidFill>
                        <a:srgbClr val="E2E7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7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7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7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r">
                        <a:buNone/>
                      </a:pPr>
                      <a:r>
                        <a:rPr lang="en-US" sz="750" b="1" dirty="0">
                          <a:solidFill>
                            <a:srgbClr val="1E2761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25.7</a:t>
                      </a:r>
                      <a:endParaRPr lang="en-US" sz="7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27432" marR="27432" marT="9144" marB="9144" anchor="ctr">
                    <a:lnL w="6350" cap="flat" cmpd="sng" algn="ctr">
                      <a:solidFill>
                        <a:srgbClr val="E2E7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7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7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7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13"/>
                  </a:ext>
                </a:extLst>
              </a:tr>
              <a:tr h="150876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750" dirty="0">
                          <a:solidFill>
                            <a:srgbClr val="6B728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NPAT ’25</a:t>
                      </a:r>
                      <a:endParaRPr lang="en-US" sz="7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27432" marR="27432" marT="9144" marB="9144" anchor="ctr">
                    <a:lnL w="6350" cap="flat" cmpd="sng" algn="ctr">
                      <a:solidFill>
                        <a:srgbClr val="E2E7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7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7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7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r">
                        <a:buNone/>
                      </a:pPr>
                      <a:r>
                        <a:rPr lang="en-US" sz="750" dirty="0">
                          <a:solidFill>
                            <a:srgbClr val="6B728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9.9</a:t>
                      </a:r>
                      <a:endParaRPr lang="en-US" sz="7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27432" marR="27432" marT="9144" marB="9144" anchor="ctr">
                    <a:lnL w="6350" cap="flat" cmpd="sng" algn="ctr">
                      <a:solidFill>
                        <a:srgbClr val="E2E7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7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7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7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r">
                        <a:buNone/>
                      </a:pPr>
                      <a:r>
                        <a:rPr lang="en-US" sz="750" dirty="0">
                          <a:solidFill>
                            <a:srgbClr val="6B728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7.1</a:t>
                      </a:r>
                      <a:endParaRPr lang="en-US" sz="7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27432" marR="27432" marT="9144" marB="9144" anchor="ctr">
                    <a:lnL w="6350" cap="flat" cmpd="sng" algn="ctr">
                      <a:solidFill>
                        <a:srgbClr val="E2E7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7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7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7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r">
                        <a:buNone/>
                      </a:pPr>
                      <a:r>
                        <a:rPr lang="en-US" sz="750" dirty="0">
                          <a:solidFill>
                            <a:srgbClr val="6B728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3.2</a:t>
                      </a:r>
                      <a:endParaRPr lang="en-US" sz="7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27432" marR="27432" marT="9144" marB="9144" anchor="ctr">
                    <a:lnL w="6350" cap="flat" cmpd="sng" algn="ctr">
                      <a:solidFill>
                        <a:srgbClr val="E2E7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7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7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7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r">
                        <a:buNone/>
                      </a:pPr>
                      <a:r>
                        <a:rPr lang="en-US" sz="750" dirty="0">
                          <a:solidFill>
                            <a:srgbClr val="6B728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3.9</a:t>
                      </a:r>
                      <a:endParaRPr lang="en-US" sz="7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27432" marR="27432" marT="9144" marB="9144" anchor="ctr">
                    <a:lnL w="6350" cap="flat" cmpd="sng" algn="ctr">
                      <a:solidFill>
                        <a:srgbClr val="E2E7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7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7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7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r">
                        <a:buNone/>
                      </a:pPr>
                      <a:r>
                        <a:rPr lang="en-US" sz="750" dirty="0">
                          <a:solidFill>
                            <a:srgbClr val="6B728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0.9</a:t>
                      </a:r>
                      <a:endParaRPr lang="en-US" sz="7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27432" marR="27432" marT="9144" marB="9144" anchor="ctr">
                    <a:lnL w="6350" cap="flat" cmpd="sng" algn="ctr">
                      <a:solidFill>
                        <a:srgbClr val="E2E7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7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7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7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r">
                        <a:buNone/>
                      </a:pPr>
                      <a:r>
                        <a:rPr lang="en-US" sz="750" dirty="0">
                          <a:solidFill>
                            <a:srgbClr val="6B728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-1.2</a:t>
                      </a:r>
                      <a:endParaRPr lang="en-US" sz="7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27432" marR="27432" marT="9144" marB="9144" anchor="ctr">
                    <a:lnL w="6350" cap="flat" cmpd="sng" algn="ctr">
                      <a:solidFill>
                        <a:srgbClr val="E2E7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7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7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7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r">
                        <a:buNone/>
                      </a:pPr>
                      <a:r>
                        <a:rPr lang="en-US" sz="750" b="1" dirty="0">
                          <a:solidFill>
                            <a:srgbClr val="6B728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23.8</a:t>
                      </a:r>
                      <a:endParaRPr lang="en-US" sz="7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27432" marR="27432" marT="9144" marB="9144" anchor="ctr">
                    <a:lnL w="6350" cap="flat" cmpd="sng" algn="ctr">
                      <a:solidFill>
                        <a:srgbClr val="E2E7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7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7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7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14"/>
                  </a:ext>
                </a:extLst>
              </a:tr>
            </a:tbl>
          </a:graphicData>
        </a:graphic>
      </p:graphicFrame>
      <p:graphicFrame>
        <p:nvGraphicFramePr>
          <p:cNvPr id="81" name="Table 1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5897880" y="1783080"/>
          <a:ext cx="5742432" cy="2334768"/>
        </p:xfrm>
        <a:graphic>
          <a:graphicData uri="http://schemas.openxmlformats.org/drawingml/2006/table">
            <a:tbl>
              <a:tblPr/>
              <a:tblGrid>
                <a:gridCol w="1024128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694944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694944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731520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  <a:gridCol w="658368">
                  <a:extLst>
                    <a:ext uri="{9D8B030D-6E8A-4147-A177-3AD203B41FA5}">
                      <a16:colId xmlns:a16="http://schemas.microsoft.com/office/drawing/2014/main" val="20004"/>
                    </a:ext>
                  </a:extLst>
                </a:gridCol>
                <a:gridCol w="676656">
                  <a:extLst>
                    <a:ext uri="{9D8B030D-6E8A-4147-A177-3AD203B41FA5}">
                      <a16:colId xmlns:a16="http://schemas.microsoft.com/office/drawing/2014/main" val="20005"/>
                    </a:ext>
                  </a:extLst>
                </a:gridCol>
                <a:gridCol w="621792">
                  <a:extLst>
                    <a:ext uri="{9D8B030D-6E8A-4147-A177-3AD203B41FA5}">
                      <a16:colId xmlns:a16="http://schemas.microsoft.com/office/drawing/2014/main" val="20006"/>
                    </a:ext>
                  </a:extLst>
                </a:gridCol>
                <a:gridCol w="640080">
                  <a:extLst>
                    <a:ext uri="{9D8B030D-6E8A-4147-A177-3AD203B41FA5}">
                      <a16:colId xmlns:a16="http://schemas.microsoft.com/office/drawing/2014/main" val="20007"/>
                    </a:ext>
                  </a:extLst>
                </a:gridCol>
              </a:tblGrid>
              <a:tr h="283464"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85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H1 2026 (YTD)</a:t>
                      </a:r>
                      <a:endParaRPr lang="en-US" sz="8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E2E7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7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7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7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E2761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85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Actual</a:t>
                      </a:r>
                      <a:endParaRPr lang="en-US" sz="8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E2E7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7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7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7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E2761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85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MF budget</a:t>
                      </a:r>
                      <a:endParaRPr lang="en-US" sz="8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E2E7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7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7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7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E2761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85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vs MF budget</a:t>
                      </a:r>
                      <a:endParaRPr lang="en-US" sz="8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E2E7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7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7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7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E2761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85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H1 2025</a:t>
                      </a:r>
                      <a:endParaRPr lang="en-US" sz="8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E2E7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7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7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7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E2761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85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vs H1 25</a:t>
                      </a:r>
                      <a:endParaRPr lang="en-US" sz="8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E2E7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7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7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7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E2761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85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H1 2024</a:t>
                      </a:r>
                      <a:endParaRPr lang="en-US" sz="8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E2E7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7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7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7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E2761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85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vs H1 24</a:t>
                      </a:r>
                      <a:endParaRPr lang="en-US" sz="8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E2E7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7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7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7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E276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283464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850" b="1" dirty="0">
                          <a:solidFill>
                            <a:srgbClr val="26292E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Revenue</a:t>
                      </a:r>
                      <a:endParaRPr lang="en-US" sz="8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E2E7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7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7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7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r">
                        <a:buNone/>
                      </a:pPr>
                      <a:r>
                        <a:rPr lang="en-US" sz="850" b="1" dirty="0">
                          <a:solidFill>
                            <a:srgbClr val="1E2761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฿166.4M</a:t>
                      </a:r>
                      <a:endParaRPr lang="en-US" sz="8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E2E7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7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7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7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r">
                        <a:buNone/>
                      </a:pPr>
                      <a:r>
                        <a:rPr lang="en-US" sz="850" dirty="0">
                          <a:solidFill>
                            <a:srgbClr val="26292E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—</a:t>
                      </a:r>
                      <a:endParaRPr lang="en-US" sz="8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E2E7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7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7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7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r">
                        <a:buNone/>
                      </a:pPr>
                      <a:r>
                        <a:rPr lang="en-US" sz="850" b="1" dirty="0">
                          <a:solidFill>
                            <a:srgbClr val="6B728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—</a:t>
                      </a:r>
                      <a:endParaRPr lang="en-US" sz="8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E2E7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7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7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7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r">
                        <a:buNone/>
                      </a:pPr>
                      <a:r>
                        <a:rPr lang="en-US" sz="850" dirty="0">
                          <a:solidFill>
                            <a:srgbClr val="26292E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฿167.4M</a:t>
                      </a:r>
                      <a:endParaRPr lang="en-US" sz="8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E2E7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7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7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7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r">
                        <a:buNone/>
                      </a:pPr>
                      <a:r>
                        <a:rPr lang="en-US" sz="850" b="1" dirty="0">
                          <a:solidFill>
                            <a:srgbClr val="C0392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-0.6%</a:t>
                      </a:r>
                      <a:endParaRPr lang="en-US" sz="8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E2E7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7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7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7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r">
                        <a:buNone/>
                      </a:pPr>
                      <a:r>
                        <a:rPr lang="en-US" sz="850" dirty="0">
                          <a:solidFill>
                            <a:srgbClr val="6B728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฿182.4M</a:t>
                      </a:r>
                      <a:endParaRPr lang="en-US" sz="8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E2E7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7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7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7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r">
                        <a:buNone/>
                      </a:pPr>
                      <a:r>
                        <a:rPr lang="en-US" sz="850" b="1" dirty="0">
                          <a:solidFill>
                            <a:srgbClr val="C0392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-8.8%</a:t>
                      </a:r>
                      <a:endParaRPr lang="en-US" sz="8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E2E7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7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7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7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283464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850" b="1" dirty="0">
                          <a:solidFill>
                            <a:srgbClr val="26292E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OPEX</a:t>
                      </a:r>
                      <a:endParaRPr lang="en-US" sz="8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E2E7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7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7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7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6FB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r">
                        <a:buNone/>
                      </a:pPr>
                      <a:r>
                        <a:rPr lang="en-US" sz="850" b="1" dirty="0">
                          <a:solidFill>
                            <a:srgbClr val="1E2761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−฿74.4M</a:t>
                      </a:r>
                      <a:endParaRPr lang="en-US" sz="8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E2E7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7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7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7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6FB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r">
                        <a:buNone/>
                      </a:pPr>
                      <a:r>
                        <a:rPr lang="en-US" sz="850" dirty="0">
                          <a:solidFill>
                            <a:srgbClr val="26292E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−฿82.4M</a:t>
                      </a:r>
                      <a:endParaRPr lang="en-US" sz="8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E2E7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7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7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7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6FB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r">
                        <a:buNone/>
                      </a:pPr>
                      <a:r>
                        <a:rPr lang="en-US" sz="850" b="1" dirty="0">
                          <a:solidFill>
                            <a:srgbClr val="2E7D32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-9.8%</a:t>
                      </a:r>
                      <a:endParaRPr lang="en-US" sz="8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E2E7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7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7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7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6FB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r">
                        <a:buNone/>
                      </a:pPr>
                      <a:r>
                        <a:rPr lang="en-US" sz="850" dirty="0">
                          <a:solidFill>
                            <a:srgbClr val="26292E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−฿75.1M</a:t>
                      </a:r>
                      <a:endParaRPr lang="en-US" sz="8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E2E7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7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7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7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6FB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r">
                        <a:buNone/>
                      </a:pPr>
                      <a:r>
                        <a:rPr lang="en-US" sz="850" b="1" dirty="0">
                          <a:solidFill>
                            <a:srgbClr val="2E7D32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-1.0%</a:t>
                      </a:r>
                      <a:endParaRPr lang="en-US" sz="8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E2E7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7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7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7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6FB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r">
                        <a:buNone/>
                      </a:pPr>
                      <a:r>
                        <a:rPr lang="en-US" sz="850" dirty="0">
                          <a:solidFill>
                            <a:srgbClr val="6B728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−฿75.9M</a:t>
                      </a:r>
                      <a:endParaRPr lang="en-US" sz="8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E2E7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7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7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7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6FB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r">
                        <a:buNone/>
                      </a:pPr>
                      <a:r>
                        <a:rPr lang="en-US" sz="850" b="1" dirty="0">
                          <a:solidFill>
                            <a:srgbClr val="2E7D32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-2.0%</a:t>
                      </a:r>
                      <a:endParaRPr lang="en-US" sz="8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E2E7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7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7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7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6FB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283464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850" b="1" dirty="0">
                          <a:solidFill>
                            <a:srgbClr val="26292E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GOP (EBITDA)</a:t>
                      </a:r>
                      <a:endParaRPr lang="en-US" sz="8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E2E7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7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7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7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r">
                        <a:buNone/>
                      </a:pPr>
                      <a:r>
                        <a:rPr lang="en-US" sz="850" b="1" dirty="0">
                          <a:solidFill>
                            <a:srgbClr val="1E2761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฿92.1M</a:t>
                      </a:r>
                      <a:endParaRPr lang="en-US" sz="8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E2E7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7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7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7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r">
                        <a:buNone/>
                      </a:pPr>
                      <a:r>
                        <a:rPr lang="en-US" sz="850" dirty="0">
                          <a:solidFill>
                            <a:srgbClr val="26292E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฿100.7M</a:t>
                      </a:r>
                      <a:endParaRPr lang="en-US" sz="8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E2E7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7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7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7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r">
                        <a:buNone/>
                      </a:pPr>
                      <a:r>
                        <a:rPr lang="en-US" sz="850" b="1" dirty="0">
                          <a:solidFill>
                            <a:srgbClr val="C0392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-8.5%</a:t>
                      </a:r>
                      <a:endParaRPr lang="en-US" sz="8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E2E7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7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7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7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r">
                        <a:buNone/>
                      </a:pPr>
                      <a:r>
                        <a:rPr lang="en-US" sz="850" dirty="0">
                          <a:solidFill>
                            <a:srgbClr val="26292E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฿92.3M</a:t>
                      </a:r>
                      <a:endParaRPr lang="en-US" sz="8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E2E7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7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7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7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r">
                        <a:buNone/>
                      </a:pPr>
                      <a:r>
                        <a:rPr lang="en-US" sz="850" b="1" dirty="0">
                          <a:solidFill>
                            <a:srgbClr val="C0392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-0.2%</a:t>
                      </a:r>
                      <a:endParaRPr lang="en-US" sz="8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E2E7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7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7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7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r">
                        <a:buNone/>
                      </a:pPr>
                      <a:r>
                        <a:rPr lang="en-US" sz="850" dirty="0">
                          <a:solidFill>
                            <a:srgbClr val="6B728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฿106.6M</a:t>
                      </a:r>
                      <a:endParaRPr lang="en-US" sz="8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E2E7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7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7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7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r">
                        <a:buNone/>
                      </a:pPr>
                      <a:r>
                        <a:rPr lang="en-US" sz="850" b="1" dirty="0">
                          <a:solidFill>
                            <a:srgbClr val="C0392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-13.6%</a:t>
                      </a:r>
                      <a:endParaRPr lang="en-US" sz="8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E2E7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7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7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7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283464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850" b="1" dirty="0">
                          <a:solidFill>
                            <a:srgbClr val="26292E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GOP margin</a:t>
                      </a:r>
                      <a:endParaRPr lang="en-US" sz="8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E2E7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7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7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7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6FB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r">
                        <a:buNone/>
                      </a:pPr>
                      <a:r>
                        <a:rPr lang="en-US" sz="850" b="1" dirty="0">
                          <a:solidFill>
                            <a:srgbClr val="1E2761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55.3%</a:t>
                      </a:r>
                      <a:endParaRPr lang="en-US" sz="8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E2E7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7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7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7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6FB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r">
                        <a:buNone/>
                      </a:pPr>
                      <a:r>
                        <a:rPr lang="en-US" sz="850" dirty="0">
                          <a:solidFill>
                            <a:srgbClr val="26292E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—</a:t>
                      </a:r>
                      <a:endParaRPr lang="en-US" sz="8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E2E7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7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7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7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6FB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r">
                        <a:buNone/>
                      </a:pPr>
                      <a:r>
                        <a:rPr lang="en-US" sz="850" b="1" dirty="0">
                          <a:solidFill>
                            <a:srgbClr val="6B728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—</a:t>
                      </a:r>
                      <a:endParaRPr lang="en-US" sz="8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E2E7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7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7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7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6FB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r">
                        <a:buNone/>
                      </a:pPr>
                      <a:r>
                        <a:rPr lang="en-US" sz="850" dirty="0">
                          <a:solidFill>
                            <a:srgbClr val="26292E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55.1%</a:t>
                      </a:r>
                      <a:endParaRPr lang="en-US" sz="8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E2E7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7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7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7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6FB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r">
                        <a:buNone/>
                      </a:pPr>
                      <a:r>
                        <a:rPr lang="en-US" sz="850" b="1" dirty="0">
                          <a:solidFill>
                            <a:srgbClr val="2E7D32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+0.2 pts</a:t>
                      </a:r>
                      <a:endParaRPr lang="en-US" sz="8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E2E7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7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7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7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6FB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r">
                        <a:buNone/>
                      </a:pPr>
                      <a:r>
                        <a:rPr lang="en-US" sz="850" dirty="0">
                          <a:solidFill>
                            <a:srgbClr val="6B728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58.4%</a:t>
                      </a:r>
                      <a:endParaRPr lang="en-US" sz="8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E2E7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7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7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7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6FB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r">
                        <a:buNone/>
                      </a:pPr>
                      <a:r>
                        <a:rPr lang="en-US" sz="850" b="1" dirty="0">
                          <a:solidFill>
                            <a:srgbClr val="C0392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-3.1 pts</a:t>
                      </a:r>
                      <a:endParaRPr lang="en-US" sz="8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E2E7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7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7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7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6FB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  <a:tr h="283464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850" b="1" dirty="0">
                          <a:solidFill>
                            <a:srgbClr val="26292E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JV expense</a:t>
                      </a:r>
                      <a:endParaRPr lang="en-US" sz="8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E2E7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7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7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7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r">
                        <a:buNone/>
                      </a:pPr>
                      <a:r>
                        <a:rPr lang="en-US" sz="850" b="1" dirty="0">
                          <a:solidFill>
                            <a:srgbClr val="1E2761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−฿39.9M</a:t>
                      </a:r>
                      <a:endParaRPr lang="en-US" sz="8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E2E7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7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7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7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r">
                        <a:buNone/>
                      </a:pPr>
                      <a:r>
                        <a:rPr lang="en-US" sz="850" dirty="0">
                          <a:solidFill>
                            <a:srgbClr val="26292E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−฿41.6M</a:t>
                      </a:r>
                      <a:endParaRPr lang="en-US" sz="8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E2E7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7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7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7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r">
                        <a:buNone/>
                      </a:pPr>
                      <a:r>
                        <a:rPr lang="en-US" sz="850" b="1" dirty="0">
                          <a:solidFill>
                            <a:srgbClr val="2E7D32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-4.0%</a:t>
                      </a:r>
                      <a:endParaRPr lang="en-US" sz="8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E2E7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7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7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7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r">
                        <a:buNone/>
                      </a:pPr>
                      <a:r>
                        <a:rPr lang="en-US" sz="850" dirty="0">
                          <a:solidFill>
                            <a:srgbClr val="26292E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−฿39.2M</a:t>
                      </a:r>
                      <a:endParaRPr lang="en-US" sz="8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E2E7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7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7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7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r">
                        <a:buNone/>
                      </a:pPr>
                      <a:r>
                        <a:rPr lang="en-US" sz="850" b="1" dirty="0">
                          <a:solidFill>
                            <a:srgbClr val="C0392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+1.8%</a:t>
                      </a:r>
                      <a:endParaRPr lang="en-US" sz="8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E2E7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7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7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7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r">
                        <a:buNone/>
                      </a:pPr>
                      <a:r>
                        <a:rPr lang="en-US" sz="850" dirty="0">
                          <a:solidFill>
                            <a:srgbClr val="6B728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−฿41.0M</a:t>
                      </a:r>
                      <a:endParaRPr lang="en-US" sz="8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E2E7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7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7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7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r">
                        <a:buNone/>
                      </a:pPr>
                      <a:r>
                        <a:rPr lang="en-US" sz="850" b="1" dirty="0">
                          <a:solidFill>
                            <a:srgbClr val="2E7D32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-2.7%</a:t>
                      </a:r>
                      <a:endParaRPr lang="en-US" sz="8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E2E7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7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7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7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5"/>
                  </a:ext>
                </a:extLst>
              </a:tr>
              <a:tr h="283464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850" b="1" dirty="0">
                          <a:solidFill>
                            <a:srgbClr val="26292E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EBIT</a:t>
                      </a:r>
                      <a:endParaRPr lang="en-US" sz="8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E2E7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7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7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7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6FB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r">
                        <a:buNone/>
                      </a:pPr>
                      <a:r>
                        <a:rPr lang="en-US" sz="850" b="1" dirty="0">
                          <a:solidFill>
                            <a:srgbClr val="1E2761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฿52.2M</a:t>
                      </a:r>
                      <a:endParaRPr lang="en-US" sz="8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E2E7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7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7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7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6FB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r">
                        <a:buNone/>
                      </a:pPr>
                      <a:r>
                        <a:rPr lang="en-US" sz="850" dirty="0">
                          <a:solidFill>
                            <a:srgbClr val="26292E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฿59.1M</a:t>
                      </a:r>
                      <a:endParaRPr lang="en-US" sz="8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E2E7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7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7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7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6FB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r">
                        <a:buNone/>
                      </a:pPr>
                      <a:r>
                        <a:rPr lang="en-US" sz="850" b="1" dirty="0">
                          <a:solidFill>
                            <a:srgbClr val="C0392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-11.7%</a:t>
                      </a:r>
                      <a:endParaRPr lang="en-US" sz="8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E2E7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7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7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7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6FB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r">
                        <a:buNone/>
                      </a:pPr>
                      <a:r>
                        <a:rPr lang="en-US" sz="850" dirty="0">
                          <a:solidFill>
                            <a:srgbClr val="26292E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฿53.1M</a:t>
                      </a:r>
                      <a:endParaRPr lang="en-US" sz="8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E2E7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7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7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7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6FB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r">
                        <a:buNone/>
                      </a:pPr>
                      <a:r>
                        <a:rPr lang="en-US" sz="850" b="1" dirty="0">
                          <a:solidFill>
                            <a:srgbClr val="C0392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-1.7%</a:t>
                      </a:r>
                      <a:endParaRPr lang="en-US" sz="8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E2E7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7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7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7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6FB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r">
                        <a:buNone/>
                      </a:pPr>
                      <a:r>
                        <a:rPr lang="en-US" sz="850" dirty="0">
                          <a:solidFill>
                            <a:srgbClr val="6B728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฿65.5M</a:t>
                      </a:r>
                      <a:endParaRPr lang="en-US" sz="8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E2E7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7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7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7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6FB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r">
                        <a:buNone/>
                      </a:pPr>
                      <a:r>
                        <a:rPr lang="en-US" sz="850" b="1" dirty="0">
                          <a:solidFill>
                            <a:srgbClr val="C0392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-20.4%</a:t>
                      </a:r>
                      <a:endParaRPr lang="en-US" sz="8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E2E7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7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7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7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6FB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6"/>
                  </a:ext>
                </a:extLst>
              </a:tr>
              <a:tr h="283464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850" b="1" dirty="0">
                          <a:solidFill>
                            <a:srgbClr val="26292E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NPAT</a:t>
                      </a:r>
                      <a:endParaRPr lang="en-US" sz="8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E2E7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7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7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7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r">
                        <a:buNone/>
                      </a:pPr>
                      <a:r>
                        <a:rPr lang="en-US" sz="850" b="1" dirty="0">
                          <a:solidFill>
                            <a:srgbClr val="1E2761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฿25.7M</a:t>
                      </a:r>
                      <a:endParaRPr lang="en-US" sz="8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E2E7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7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7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7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r">
                        <a:buNone/>
                      </a:pPr>
                      <a:r>
                        <a:rPr lang="en-US" sz="850" dirty="0">
                          <a:solidFill>
                            <a:srgbClr val="26292E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—</a:t>
                      </a:r>
                      <a:endParaRPr lang="en-US" sz="8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E2E7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7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7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7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r">
                        <a:buNone/>
                      </a:pPr>
                      <a:r>
                        <a:rPr lang="en-US" sz="850" b="1" dirty="0">
                          <a:solidFill>
                            <a:srgbClr val="6B728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—</a:t>
                      </a:r>
                      <a:endParaRPr lang="en-US" sz="8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E2E7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7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7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7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r">
                        <a:buNone/>
                      </a:pPr>
                      <a:r>
                        <a:rPr lang="en-US" sz="850" dirty="0">
                          <a:solidFill>
                            <a:srgbClr val="26292E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฿23.8M</a:t>
                      </a:r>
                      <a:endParaRPr lang="en-US" sz="8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E2E7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7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7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7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r">
                        <a:buNone/>
                      </a:pPr>
                      <a:r>
                        <a:rPr lang="en-US" sz="850" b="1" dirty="0">
                          <a:solidFill>
                            <a:srgbClr val="2E7D32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+฿1.8M</a:t>
                      </a:r>
                      <a:endParaRPr lang="en-US" sz="8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E2E7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7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7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7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r">
                        <a:buNone/>
                      </a:pPr>
                      <a:r>
                        <a:rPr lang="en-US" sz="850" dirty="0">
                          <a:solidFill>
                            <a:srgbClr val="6B728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฿28.2M</a:t>
                      </a:r>
                      <a:endParaRPr lang="en-US" sz="8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E2E7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7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7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7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r">
                        <a:buNone/>
                      </a:pPr>
                      <a:r>
                        <a:rPr lang="en-US" sz="850" b="1" dirty="0">
                          <a:solidFill>
                            <a:srgbClr val="C0392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−฿2.5M</a:t>
                      </a:r>
                      <a:endParaRPr lang="en-US" sz="8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E2E7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7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7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7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7"/>
                  </a:ext>
                </a:extLst>
              </a:tr>
            </a:tbl>
          </a:graphicData>
        </a:graphic>
      </p:graphicFrame>
      <p:sp>
        <p:nvSpPr>
          <p:cNvPr id="9" name="Shape 4"/>
          <p:cNvSpPr/>
          <p:nvPr/>
        </p:nvSpPr>
        <p:spPr>
          <a:xfrm>
            <a:off x="6126480" y="4206240"/>
            <a:ext cx="2651760" cy="1207008"/>
          </a:xfrm>
          <a:prstGeom prst="roundRect">
            <a:avLst>
              <a:gd name="adj" fmla="val 4545"/>
            </a:avLst>
          </a:prstGeom>
          <a:solidFill>
            <a:srgbClr val="F4F6FB"/>
          </a:solidFill>
          <a:ln w="9525">
            <a:solidFill>
              <a:srgbClr val="E2E7F2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0" name="Text 5"/>
          <p:cNvSpPr/>
          <p:nvPr/>
        </p:nvSpPr>
        <p:spPr>
          <a:xfrm>
            <a:off x="6272784" y="4297680"/>
            <a:ext cx="2359152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50" b="1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REVENUE H1 2026</a:t>
            </a:r>
            <a:endParaRPr lang="en-US" sz="1050" dirty="0"/>
          </a:p>
        </p:txBody>
      </p:sp>
      <p:sp>
        <p:nvSpPr>
          <p:cNvPr id="11" name="Text 6"/>
          <p:cNvSpPr/>
          <p:nvPr/>
        </p:nvSpPr>
        <p:spPr>
          <a:xfrm>
            <a:off x="6272784" y="4517136"/>
            <a:ext cx="2359152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400" b="1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฿166.4M</a:t>
            </a:r>
            <a:endParaRPr lang="en-US" sz="2400" dirty="0"/>
          </a:p>
        </p:txBody>
      </p:sp>
      <p:sp>
        <p:nvSpPr>
          <p:cNvPr id="12" name="Text 7"/>
          <p:cNvSpPr/>
          <p:nvPr/>
        </p:nvSpPr>
        <p:spPr>
          <a:xfrm>
            <a:off x="6272784" y="4974336"/>
            <a:ext cx="2359152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50" dirty="0">
                <a:solidFill>
                  <a:srgbClr val="C0392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-0.6% vs H1 2025</a:t>
            </a:r>
            <a:endParaRPr lang="en-US" sz="1050" dirty="0"/>
          </a:p>
        </p:txBody>
      </p:sp>
      <p:sp>
        <p:nvSpPr>
          <p:cNvPr id="13" name="Shape 8"/>
          <p:cNvSpPr/>
          <p:nvPr/>
        </p:nvSpPr>
        <p:spPr>
          <a:xfrm>
            <a:off x="8988552" y="4206240"/>
            <a:ext cx="2651760" cy="1207008"/>
          </a:xfrm>
          <a:prstGeom prst="roundRect">
            <a:avLst>
              <a:gd name="adj" fmla="val 4545"/>
            </a:avLst>
          </a:prstGeom>
          <a:solidFill>
            <a:srgbClr val="F4F6FB"/>
          </a:solidFill>
          <a:ln w="9525">
            <a:solidFill>
              <a:srgbClr val="E2E7F2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4" name="Text 9"/>
          <p:cNvSpPr/>
          <p:nvPr/>
        </p:nvSpPr>
        <p:spPr>
          <a:xfrm>
            <a:off x="9134856" y="4297680"/>
            <a:ext cx="2359152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50" b="1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EBIT H1 2026</a:t>
            </a:r>
            <a:endParaRPr lang="en-US" sz="1050" dirty="0"/>
          </a:p>
        </p:txBody>
      </p:sp>
      <p:sp>
        <p:nvSpPr>
          <p:cNvPr id="15" name="Text 10"/>
          <p:cNvSpPr/>
          <p:nvPr/>
        </p:nvSpPr>
        <p:spPr>
          <a:xfrm>
            <a:off x="9134856" y="4517136"/>
            <a:ext cx="2359152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400" b="1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฿52.2M</a:t>
            </a:r>
            <a:endParaRPr lang="en-US" sz="2400" dirty="0"/>
          </a:p>
        </p:txBody>
      </p:sp>
      <p:sp>
        <p:nvSpPr>
          <p:cNvPr id="16" name="Text 11"/>
          <p:cNvSpPr/>
          <p:nvPr/>
        </p:nvSpPr>
        <p:spPr>
          <a:xfrm>
            <a:off x="9134856" y="4974336"/>
            <a:ext cx="2359152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50" dirty="0">
                <a:solidFill>
                  <a:srgbClr val="C0392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−฿0.9M vs H1 2025 (฿53.1M)</a:t>
            </a:r>
            <a:endParaRPr lang="en-US" sz="1050" dirty="0"/>
          </a:p>
        </p:txBody>
      </p:sp>
      <p:sp>
        <p:nvSpPr>
          <p:cNvPr id="17" name="Text 12"/>
          <p:cNvSpPr/>
          <p:nvPr/>
        </p:nvSpPr>
        <p:spPr>
          <a:xfrm>
            <a:off x="548640" y="6355080"/>
            <a:ext cx="10881360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50" i="1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GOP = gross operating profit (≈ EBITDA). MF budget = Mitsui Fudosan budget. All figures are Jan–Jun sums of the monthly P&amp;L blocks in the result sheets; budget rows exist for OPEX, GOP and EBIT only (revenue, GOP margin and NPAT show —). JV expense derived as EBIT − GOP. Source: result FY24/FY25/FY26 sheets (official record).</a:t>
            </a:r>
            <a:endParaRPr lang="en-US" sz="1050" dirty="0"/>
          </a:p>
        </p:txBody>
      </p:sp>
      <p:sp>
        <p:nvSpPr>
          <p:cNvPr id="7" name="TextBox 6">
            <a:extLst>
              <a:ext uri="{FF2B5EF4-FFF2-40B4-BE49-F238E27FC236}">
                <a16:creationId xmlns:a16="http://schemas.microsoft.com/office/drawing/2014/main" id="{DF2AB92E-5A8A-F38D-E8BB-9A78A70F4654}"/>
              </a:ext>
            </a:extLst>
          </p:cNvPr>
          <p:cNvSpPr txBox="1"/>
          <p:nvPr/>
        </p:nvSpPr>
        <p:spPr>
          <a:xfrm>
            <a:off x="8504903" y="5730719"/>
            <a:ext cx="2651760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dirty="0"/>
              <a:t>Pay lesser interest.</a:t>
            </a:r>
          </a:p>
        </p:txBody>
      </p:sp>
    </p:spTree>
  </p:cSld>
  <p:clrMapOvr>
    <a:masterClrMapping/>
  </p:clrMapOvr>
</p:sld>
</file>

<file path=ppt/slides/slide4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6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292608"/>
            <a:ext cx="8229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b="1" kern="0" spc="200" dirty="0">
                <a:solidFill>
                  <a:srgbClr val="D9A44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APPENDIX</a:t>
            </a:r>
            <a:endParaRPr lang="en-US" sz="1100" dirty="0"/>
          </a:p>
        </p:txBody>
      </p:sp>
      <p:sp>
        <p:nvSpPr>
          <p:cNvPr id="3" name="Text 1"/>
          <p:cNvSpPr/>
          <p:nvPr/>
        </p:nvSpPr>
        <p:spPr>
          <a:xfrm>
            <a:off x="548640" y="502920"/>
            <a:ext cx="11091672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800" b="1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Sources &amp; definitions</a:t>
            </a:r>
            <a:endParaRPr lang="en-US" sz="2800" dirty="0"/>
          </a:p>
        </p:txBody>
      </p:sp>
      <p:sp>
        <p:nvSpPr>
          <p:cNvPr id="4" name="Text 2"/>
          <p:cNvSpPr/>
          <p:nvPr/>
        </p:nvSpPr>
        <p:spPr>
          <a:xfrm>
            <a:off x="8165592" y="310896"/>
            <a:ext cx="34747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90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Mitsui Thailand Portfolio · H1 2026</a:t>
            </a:r>
            <a:endParaRPr lang="en-US" sz="900" dirty="0"/>
          </a:p>
        </p:txBody>
      </p:sp>
      <p:sp>
        <p:nvSpPr>
          <p:cNvPr id="5" name="Text 3"/>
          <p:cNvSpPr/>
          <p:nvPr/>
        </p:nvSpPr>
        <p:spPr>
          <a:xfrm>
            <a:off x="521208" y="758952"/>
            <a:ext cx="11091672" cy="4937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spcAft>
                <a:spcPts val="600"/>
              </a:spcAft>
              <a:buNone/>
            </a:pPr>
            <a:r>
              <a:rPr lang="en-US" sz="1400" b="1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Data sources</a:t>
            </a:r>
            <a:endParaRPr lang="en-US" sz="1200" dirty="0"/>
          </a:p>
          <a:p>
            <a:pPr marL="342900" indent="-342900">
              <a:spcAft>
                <a:spcPts val="400"/>
              </a:spcAft>
              <a:buSzPct val="100000"/>
              <a:buChar char="•"/>
            </a:pPr>
            <a:r>
              <a:rPr lang="en-US" sz="1200" dirty="0">
                <a:solidFill>
                  <a:srgbClr val="2629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Arrivals: Ministry of Tourism &amp; Sports (MOTS) and AOT statistics, as compiled in the Segment Half-year workbook (tabs Arrival / Summary-1). 2026 data through June; June is preliminary (a system error dropped 4 days).</a:t>
            </a:r>
            <a:endParaRPr lang="en-US" sz="1200" dirty="0"/>
          </a:p>
          <a:p>
            <a:pPr marL="342900" indent="-342900">
              <a:spcAft>
                <a:spcPts val="400"/>
              </a:spcAft>
              <a:buSzPct val="100000"/>
              <a:buChar char="•"/>
            </a:pPr>
            <a:r>
              <a:rPr lang="en-US" sz="1200" dirty="0">
                <a:solidFill>
                  <a:srgbClr val="2629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STR: Bangkok and Pattaya both re-based to the CoStar market/submarket reports of June 2026 (Jan–Jun; 2025 derived from reported % change; earlier compset rows not comparable). Per-property competitive sets: CoStar compset reports June 2026 (SR9/LYF/SP primary, AES secondary), Jan–Jun, used on the ADR-challenge and Us-vs-compsets slides. The old Compset tab series (Jan–May) is retained for history.</a:t>
            </a:r>
            <a:endParaRPr lang="en-US" sz="1200" dirty="0"/>
          </a:p>
          <a:p>
            <a:pPr marL="342900" indent="-342900">
              <a:spcAft>
                <a:spcPts val="400"/>
              </a:spcAft>
              <a:buSzPct val="100000"/>
              <a:buChar char="•"/>
            </a:pPr>
            <a:r>
              <a:rPr lang="en-US" sz="1200" dirty="0">
                <a:solidFill>
                  <a:srgbClr val="2629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Property performance: monthly Occ/ADR/RevPAR actuals, MF budget and prior years read directly from the result FY24/FY25/FY26 sheets (official record); property ADR includes breakfast (LYF has none). Segment data reconciled to each property's source system, July 2026.</a:t>
            </a:r>
            <a:endParaRPr lang="en-US" sz="1200" dirty="0"/>
          </a:p>
          <a:p>
            <a:pPr marL="342900" indent="-342900">
              <a:spcAft>
                <a:spcPts val="1000"/>
              </a:spcAft>
              <a:buSzPct val="100000"/>
              <a:buChar char="•"/>
            </a:pPr>
            <a:r>
              <a:rPr lang="en-US" sz="1200" dirty="0">
                <a:solidFill>
                  <a:srgbClr val="2629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Segmentation: property tabs (2026 Jan–Jun). Nationality: room nights by nationality from each property tab — H1 2026 and 2025 (each year's own top-10).</a:t>
            </a:r>
            <a:endParaRPr lang="en-US" sz="1200" dirty="0"/>
          </a:p>
          <a:p>
            <a:pPr marL="0" indent="0">
              <a:spcAft>
                <a:spcPts val="600"/>
              </a:spcAft>
              <a:buNone/>
            </a:pPr>
            <a:r>
              <a:rPr lang="en-US" sz="1400" b="1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Definitions &amp; notes</a:t>
            </a:r>
            <a:endParaRPr lang="en-US" sz="1200" dirty="0"/>
          </a:p>
          <a:p>
            <a:pPr marL="342900" indent="-342900">
              <a:spcAft>
                <a:spcPts val="400"/>
              </a:spcAft>
              <a:buSzPct val="100000"/>
              <a:buChar char="•"/>
            </a:pPr>
            <a:r>
              <a:rPr lang="en-US" sz="1200" dirty="0">
                <a:solidFill>
                  <a:srgbClr val="2629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ADR = room revenue ÷ rooms sold; RevPAR = room revenue ÷ rooms available; Occ = rooms sold ÷ rooms available. YTD = Jan–Jun 2026 unless stated.</a:t>
            </a:r>
            <a:endParaRPr lang="en-US" sz="1200" dirty="0"/>
          </a:p>
          <a:p>
            <a:pPr marL="342900" indent="-342900">
              <a:spcAft>
                <a:spcPts val="400"/>
              </a:spcAft>
              <a:buSzPct val="100000"/>
              <a:buChar char="•"/>
            </a:pPr>
            <a:r>
              <a:rPr lang="en-US" sz="1200" dirty="0">
                <a:solidFill>
                  <a:srgbClr val="2629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Portfolio figures weight the four properties by room inventory (SR9 464 · AES 403 · SP 333 · LYF 206 = 1,406 keys).</a:t>
            </a:r>
            <a:endParaRPr lang="en-US" sz="1200" dirty="0"/>
          </a:p>
          <a:p>
            <a:pPr marL="342900" indent="-342900">
              <a:spcAft>
                <a:spcPts val="400"/>
              </a:spcAft>
              <a:buSzPct val="100000"/>
              <a:buChar char="•"/>
            </a:pPr>
            <a:r>
              <a:rPr lang="en-US" sz="1200" dirty="0">
                <a:solidFill>
                  <a:srgbClr val="2629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Financials (Revenue, OPEX, GOP/EBITDA, EBIT) from the result FY25/FY26 sheets — the official record, frozen at accounting close. AES &amp; SP June 2026 revenue derived from the result totals. NPAT is not recorded there.</a:t>
            </a:r>
            <a:endParaRPr lang="en-US" sz="1200" dirty="0"/>
          </a:p>
          <a:p>
            <a:pPr marL="342900" indent="-342900">
              <a:buSzPct val="100000"/>
              <a:buChar char="•"/>
            </a:pPr>
            <a:r>
              <a:rPr lang="en-US" sz="1200" dirty="0">
                <a:solidFill>
                  <a:srgbClr val="2629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All charts are native PowerPoint charts — right-click → Edit Data to change any number.</a:t>
            </a:r>
            <a:endParaRPr lang="en-US" sz="1200" dirty="0"/>
          </a:p>
        </p:txBody>
      </p:sp>
      <p:sp>
        <p:nvSpPr>
          <p:cNvPr id="6" name="TextBox 5"/>
          <p:cNvSpPr txBox="1"/>
          <p:nvPr/>
        </p:nvSpPr>
        <p:spPr>
          <a:xfrm>
            <a:off x="548640" y="5074920"/>
            <a:ext cx="11064240" cy="1554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300" b="1" dirty="0">
                <a:solidFill>
                  <a:srgbClr val="1E2761"/>
                </a:solidFill>
                <a:latin typeface="Calibri"/>
              </a:rPr>
              <a:t>STR competitive sets (CoStar, Jun 2026)</a:t>
            </a:r>
          </a:p>
          <a:p>
            <a:r>
              <a:rPr sz="1050" dirty="0">
                <a:solidFill>
                  <a:srgbClr val="6B7280"/>
                </a:solidFill>
                <a:latin typeface="Calibri"/>
              </a:rPr>
              <a:t>SR9 (primary): Jubilee Prestige Hotel </a:t>
            </a:r>
            <a:r>
              <a:rPr sz="1050" dirty="0" err="1">
                <a:solidFill>
                  <a:srgbClr val="6B7280"/>
                </a:solidFill>
                <a:latin typeface="Calibri"/>
              </a:rPr>
              <a:t>Ratchadapisek</a:t>
            </a:r>
            <a:r>
              <a:rPr sz="1050" dirty="0">
                <a:solidFill>
                  <a:srgbClr val="6B7280"/>
                </a:solidFill>
                <a:latin typeface="Calibri"/>
              </a:rPr>
              <a:t>, Grand Mercure Bangkok Atrium, </a:t>
            </a:r>
            <a:r>
              <a:rPr sz="1050" dirty="0" err="1">
                <a:solidFill>
                  <a:srgbClr val="6B7280"/>
                </a:solidFill>
                <a:latin typeface="Calibri"/>
              </a:rPr>
              <a:t>Centara</a:t>
            </a:r>
            <a:r>
              <a:rPr sz="1050" dirty="0">
                <a:solidFill>
                  <a:srgbClr val="6B7280"/>
                </a:solidFill>
                <a:latin typeface="Calibri"/>
              </a:rPr>
              <a:t> Grand at Central Plaza </a:t>
            </a:r>
            <a:r>
              <a:rPr sz="1050" dirty="0" err="1">
                <a:solidFill>
                  <a:srgbClr val="6B7280"/>
                </a:solidFill>
                <a:latin typeface="Calibri"/>
              </a:rPr>
              <a:t>Ladprao</a:t>
            </a:r>
            <a:r>
              <a:rPr sz="1050" dirty="0">
                <a:solidFill>
                  <a:srgbClr val="6B7280"/>
                </a:solidFill>
                <a:latin typeface="Calibri"/>
              </a:rPr>
              <a:t> Bangkok, Avani Ratchada Bangkok Hotel, Lancaster Bangkok</a:t>
            </a:r>
          </a:p>
          <a:p>
            <a:r>
              <a:rPr sz="1050" dirty="0">
                <a:solidFill>
                  <a:srgbClr val="6B7280"/>
                </a:solidFill>
                <a:latin typeface="Calibri"/>
              </a:rPr>
              <a:t>AES (secondary): Pullman Bangkok Hotel G, Chatrium Residence Sathon Bangkok, COMO Metropolitan Bangkok, Marriott Executive Apartment Sathorn Vista, Eastin Grand Hotel Sathorn Bangkok</a:t>
            </a:r>
          </a:p>
          <a:p>
            <a:r>
              <a:rPr sz="1050" dirty="0">
                <a:solidFill>
                  <a:srgbClr val="6B7280"/>
                </a:solidFill>
                <a:latin typeface="Calibri"/>
              </a:rPr>
              <a:t>LYF (primary): ibis Bangkok Sukhumvit 4, Hotel </a:t>
            </a:r>
            <a:r>
              <a:rPr sz="1050" dirty="0" err="1">
                <a:solidFill>
                  <a:srgbClr val="6B7280"/>
                </a:solidFill>
                <a:latin typeface="Calibri"/>
              </a:rPr>
              <a:t>Graand</a:t>
            </a:r>
            <a:r>
              <a:rPr sz="1050" dirty="0">
                <a:solidFill>
                  <a:srgbClr val="6B7280"/>
                </a:solidFill>
                <a:latin typeface="Calibri"/>
              </a:rPr>
              <a:t> Swiss Bangkok, TRIBE Living Bangkok Sukhumvit 39, </a:t>
            </a:r>
            <a:r>
              <a:rPr sz="1050" dirty="0" err="1">
                <a:solidFill>
                  <a:srgbClr val="6B7280"/>
                </a:solidFill>
                <a:latin typeface="Calibri"/>
              </a:rPr>
              <a:t>Ruamchitt</a:t>
            </a:r>
            <a:r>
              <a:rPr sz="1050" dirty="0">
                <a:solidFill>
                  <a:srgbClr val="6B7280"/>
                </a:solidFill>
                <a:latin typeface="Calibri"/>
              </a:rPr>
              <a:t> Hotel</a:t>
            </a:r>
          </a:p>
          <a:p>
            <a:r>
              <a:rPr sz="1050" dirty="0">
                <a:solidFill>
                  <a:srgbClr val="6B7280"/>
                </a:solidFill>
                <a:latin typeface="Calibri"/>
              </a:rPr>
              <a:t>SP (primary): AVANI Pattaya Resort, Hard Rock Hotel Pattaya, Holiday Inn Pattaya, Melia Pattaya Hotel, Grande Centre Point Pattaya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customXml/_rels/item1.xml.rels><?xml version='1.0' encoding='UTF-8' standalone='yes'?>
<Relationships xmlns="http://schemas.openxmlformats.org/package/2006/relationships"><Relationship Id="rId1" Type="http://schemas.openxmlformats.org/officeDocument/2006/relationships/customXmlProps" Target="itemProps1.xml"/></Relationships>
</file>

<file path=customXml/_rels/item2.xml.rels><?xml version='1.0' encoding='UTF-8' standalone='yes'?>
<Relationships xmlns="http://schemas.openxmlformats.org/package/2006/relationships"><Relationship Id="rId1" Type="http://schemas.openxmlformats.org/officeDocument/2006/relationships/customXmlProps" Target="itemProps2.xml"/></Relationships>
</file>

<file path=customXml/_rels/item3.xml.rels><?xml version='1.0' encoding='UTF-8' standalone='yes'?>
<Relationships xmlns="http://schemas.openxmlformats.org/package/2006/relationships"><Relationship Id="rId1" Type="http://schemas.openxmlformats.org/officeDocument/2006/relationships/customXmlProps" Target="itemProps3.xml"/></Relationships>
</file>

<file path=customXml/item1.xml><?xml version="1.0" encoding="utf-8"?>
<ct:contentTypeSchema xmlns:ct="http://schemas.microsoft.com/office/2006/metadata/contentType" xmlns:ma="http://schemas.microsoft.com/office/2006/metadata/properties/metaAttributes" ct:_="" ma:_="" ma:contentTypeName="Document" ma:contentTypeID="0x010100BB95B0B08412A849A5A64508D0AA5F92" ma:contentTypeVersion="9" ma:contentTypeDescription="Create a new document." ma:contentTypeScope="" ma:versionID="4787747963eddd222ebc2112c47bd42e">
  <xsd:schema xmlns:xsd="http://www.w3.org/2001/XMLSchema" xmlns:xs="http://www.w3.org/2001/XMLSchema" xmlns:p="http://schemas.microsoft.com/office/2006/metadata/properties" xmlns:ns3="570ce379-ef9e-488e-8e74-44d887057c06" targetNamespace="http://schemas.microsoft.com/office/2006/metadata/properties" ma:root="true" ma:fieldsID="6f05b7aeef960c0d17e92540f6e08c72" ns3:_="">
    <xsd:import namespace="570ce379-ef9e-488e-8e74-44d887057c06"/>
    <xsd:element name="properties">
      <xsd:complexType>
        <xsd:sequence>
          <xsd:element name="documentManagement">
            <xsd:complexType>
              <xsd:all>
                <xsd:element ref="ns3:MediaServiceDateTaken" minOccurs="0"/>
                <xsd:element ref="ns3:_activity" minOccurs="0"/>
                <xsd:element ref="ns3:MediaServiceMetadata" minOccurs="0"/>
                <xsd:element ref="ns3:MediaServiceFastMetadata" minOccurs="0"/>
                <xsd:element ref="ns3:MediaServiceSearchProperties" minOccurs="0"/>
                <xsd:element ref="ns3:MediaServiceSystemTags" minOccurs="0"/>
                <xsd:element ref="ns3:MediaServiceOCR" minOccurs="0"/>
                <xsd:element ref="ns3:MediaServiceGenerationTime" minOccurs="0"/>
                <xsd:element ref="ns3:MediaServiceEventHashCode" minOccurs="0"/>
              </xsd:all>
            </xsd:complexType>
          </xsd:element>
        </xsd:sequence>
      </xsd:complexType>
    </xsd:element>
  </xsd:schema>
  <xsd:schema xmlns:xsd="http://www.w3.org/2001/XMLSchema" xmlns:xs="http://www.w3.org/2001/XMLSchema" xmlns:dms="http://schemas.microsoft.com/office/2006/documentManagement/types" xmlns:pc="http://schemas.microsoft.com/office/infopath/2007/PartnerControls" targetNamespace="570ce379-ef9e-488e-8e74-44d887057c06" elementFormDefault="qualified">
    <xsd:import namespace="http://schemas.microsoft.com/office/2006/documentManagement/types"/>
    <xsd:import namespace="http://schemas.microsoft.com/office/infopath/2007/PartnerControls"/>
    <xsd:element name="MediaServiceDateTaken" ma:index="8" nillable="true" ma:displayName="MediaServiceDateTaken" ma:hidden="true" ma:indexed="true" ma:internalName="MediaServiceDateTaken" ma:readOnly="true">
      <xsd:simpleType>
        <xsd:restriction base="dms:Text"/>
      </xsd:simpleType>
    </xsd:element>
    <xsd:element name="_activity" ma:index="9" nillable="true" ma:displayName="_activity" ma:hidden="true" ma:internalName="_activity">
      <xsd:simpleType>
        <xsd:restriction base="dms:Note"/>
      </xsd:simpleType>
    </xsd:element>
    <xsd:element name="MediaServiceMetadata" ma:index="10" nillable="true" ma:displayName="MediaServiceMetadata" ma:hidden="true" ma:internalName="MediaServiceMetadata" ma:readOnly="true">
      <xsd:simpleType>
        <xsd:restriction base="dms:Note"/>
      </xsd:simpleType>
    </xsd:element>
    <xsd:element name="MediaServiceFastMetadata" ma:index="11" nillable="true" ma:displayName="MediaServiceFastMetadata" ma:hidden="true" ma:internalName="MediaServiceFastMetadata" ma:readOnly="true">
      <xsd:simpleType>
        <xsd:restriction base="dms:Note"/>
      </xsd:simpleType>
    </xsd:element>
    <xsd:element name="MediaServiceSearchProperties" ma:index="12" nillable="true" ma:displayName="MediaServiceSearchProperties" ma:hidden="true" ma:internalName="MediaServiceSearchProperties" ma:readOnly="true">
      <xsd:simpleType>
        <xsd:restriction base="dms:Note"/>
      </xsd:simpleType>
    </xsd:element>
    <xsd:element name="MediaServiceSystemTags" ma:index="13" nillable="true" ma:displayName="MediaServiceSystemTags" ma:hidden="true" ma:internalName="MediaServiceSystemTags" ma:readOnly="true">
      <xsd:simpleType>
        <xsd:restriction base="dms:Note"/>
      </xsd:simpleType>
    </xsd:element>
    <xsd:element name="MediaServiceOCR" ma:index="14" nillable="true" ma:displayName="Extracted Text" ma:internalName="MediaServiceOCR" ma:readOnly="true">
      <xsd:simpleType>
        <xsd:restriction base="dms:Note">
          <xsd:maxLength value="255"/>
        </xsd:restriction>
      </xsd:simpleType>
    </xsd:element>
    <xsd:element name="MediaServiceGenerationTime" ma:index="15" nillable="true" ma:displayName="MediaServiceGenerationTime" ma:hidden="true" ma:internalName="MediaServiceGenerationTime" ma:readOnly="true">
      <xsd:simpleType>
        <xsd:restriction base="dms:Text"/>
      </xsd:simpleType>
    </xsd:element>
    <xsd:element name="MediaServiceEventHashCode" ma:index="16" nillable="true" ma:displayName="MediaServiceEventHashCode" ma:hidden="true" ma:internalName="MediaServiceEventHashCode" ma:readOnly="true">
      <xsd:simpleType>
        <xsd:restriction base="dms:Text"/>
      </xsd:simpleType>
    </xsd:element>
  </xsd:schema>
  <xsd:schema xmlns="http://schemas.openxmlformats.org/package/2006/metadata/core-properties" xmlns:xsd="http://www.w3.org/2001/XMLSchema" xmlns:xsi="http://www.w3.org/2001/XMLSchema-instance" xmlns:dc="http://purl.org/dc/elements/1.1/" xmlns:dcterms="http://purl.org/dc/terms/" xmlns:odoc="http://schemas.microsoft.com/internal/obd" targetNamespace="http://schemas.openxmlformats.org/package/2006/metadata/core-properties" elementFormDefault="qualified" attributeFormDefault="unqualified" blockDefault="#all">
    <xsd:import namespace="http://purl.org/dc/elements/1.1/" schemaLocation="http://dublincore.org/schemas/xmls/qdc/2003/04/02/dc.xsd"/>
    <xsd:import namespace="http://purl.org/dc/terms/" schemaLocation="http://dublincore.org/schemas/xmls/qdc/2003/04/02/dcterms.xsd"/>
    <xsd:element name="coreProperties" type="CT_coreProperties"/>
    <xsd:complexType name="CT_coreProperties">
      <xsd:all>
        <xsd:element ref="dc:creator" minOccurs="0" maxOccurs="1"/>
        <xsd:element ref="dcterms:created" minOccurs="0" maxOccurs="1"/>
        <xsd:element ref="dc:identifier" minOccurs="0" maxOccurs="1"/>
        <xsd:element name="contentType" minOccurs="0" maxOccurs="1" type="xsd:string" ma:index="0" ma:displayName="Content Type"/>
        <xsd:element ref="dc:title" minOccurs="0" maxOccurs="1" ma:index="4" ma:displayName="Title"/>
        <xsd:element ref="dc:subject" minOccurs="0" maxOccurs="1"/>
        <xsd:element ref="dc:description" minOccurs="0" maxOccurs="1"/>
        <xsd:element name="keywords" minOccurs="0" maxOccurs="1" type="xsd:string"/>
        <xsd:element ref="dc:language" minOccurs="0" maxOccurs="1"/>
        <xsd:element name="category" minOccurs="0" maxOccurs="1" type="xsd:string"/>
        <xsd:element name="version" minOccurs="0" maxOccurs="1" type="xsd:string"/>
        <xsd:element name="revision" minOccurs="0" maxOccurs="1" type="xsd:string">
          <xsd:annotation>
            <xsd:documentation>
                        This value indicates the number of saves or revisions. The application is responsible for updating this value after each revision.
                    </xsd:documentation>
          </xsd:annotation>
        </xsd:element>
        <xsd:element name="lastModifiedBy" minOccurs="0" maxOccurs="1" type="xsd:string"/>
        <xsd:element ref="dcterms:modified" minOccurs="0" maxOccurs="1"/>
        <xsd:element name="contentStatus" minOccurs="0" maxOccurs="1" type="xsd:string"/>
      </xsd:all>
    </xsd:complexType>
  </xsd:schema>
  <xs:schema xmlns:pc="http://schemas.microsoft.com/office/infopath/2007/PartnerControls" xmlns:xs="http://www.w3.org/2001/XMLSchema" targetNamespace="http://schemas.microsoft.com/office/infopath/2007/PartnerControls" elementFormDefault="qualified" attributeFormDefault="unqualified">
    <xs:element name="Person">
      <xs:complexType>
        <xs:sequence>
          <xs:element ref="pc:DisplayName" minOccurs="0"/>
          <xs:element ref="pc:AccountId" minOccurs="0"/>
          <xs:element ref="pc:AccountType" minOccurs="0"/>
        </xs:sequence>
      </xs:complexType>
    </xs:element>
    <xs:element name="DisplayName" type="xs:string"/>
    <xs:element name="AccountId" type="xs:string"/>
    <xs:element name="AccountType" type="xs:string"/>
    <xs:element name="BDCAssociatedEntity">
      <xs:complexType>
        <xs:sequence>
          <xs:element ref="pc:BDCEntity" minOccurs="0" maxOccurs="unbounded"/>
        </xs:sequence>
        <xs:attribute ref="pc:EntityNamespace"/>
        <xs:attribute ref="pc:EntityName"/>
        <xs:attribute ref="pc:SystemInstanceName"/>
        <xs:attribute ref="pc:AssociationName"/>
      </xs:complexType>
    </xs:element>
    <xs:attribute name="EntityNamespace" type="xs:string"/>
    <xs:attribute name="EntityName" type="xs:string"/>
    <xs:attribute name="SystemInstanceName" type="xs:string"/>
    <xs:attribute name="AssociationName" type="xs:string"/>
    <xs:element name="BDCEntity">
      <xs:complexType>
        <xs:sequence>
          <xs:element ref="pc:EntityDisplayName" minOccurs="0"/>
          <xs:element ref="pc:EntityInstanceReference" minOccurs="0"/>
          <xs:element ref="pc:EntityId1" minOccurs="0"/>
          <xs:element ref="pc:EntityId2" minOccurs="0"/>
          <xs:element ref="pc:EntityId3" minOccurs="0"/>
          <xs:element ref="pc:EntityId4" minOccurs="0"/>
          <xs:element ref="pc:EntityId5" minOccurs="0"/>
        </xs:sequence>
      </xs:complexType>
    </xs:element>
    <xs:element name="EntityDisplayName" type="xs:string"/>
    <xs:element name="EntityInstanceReference" type="xs:string"/>
    <xs:element name="EntityId1" type="xs:string"/>
    <xs:element name="EntityId2" type="xs:string"/>
    <xs:element name="EntityId3" type="xs:string"/>
    <xs:element name="EntityId4" type="xs:string"/>
    <xs:element name="EntityId5" type="xs:string"/>
    <xs:element name="Terms">
      <xs:complexType>
        <xs:sequence>
          <xs:element ref="pc:TermInfo" minOccurs="0" maxOccurs="unbounded"/>
        </xs:sequence>
      </xs:complexType>
    </xs:element>
    <xs:element name="TermInfo">
      <xs:complexType>
        <xs:sequence>
          <xs:element ref="pc:TermName" minOccurs="0"/>
          <xs:element ref="pc:TermId" minOccurs="0"/>
        </xs:sequence>
      </xs:complexType>
    </xs:element>
    <xs:element name="TermName" type="xs:string"/>
    <xs:element name="TermId" type="xs:string"/>
  </xs:schema>
</ct:contentTypeSchema>
</file>

<file path=customXml/item2.xml><?xml version="1.0" encoding="utf-8"?>
<?mso-contentType ?>
<FormTemplates xmlns="http://schemas.microsoft.com/sharepoint/v3/contenttype/forms">
  <Display>DocumentLibraryForm</Display>
  <Edit>DocumentLibraryForm</Edit>
  <New>DocumentLibraryForm</New>
</FormTemplates>
</file>

<file path=customXml/item3.xml><?xml version="1.0" encoding="utf-8"?>
<p:properties xmlns:p="http://schemas.microsoft.com/office/2006/metadata/properties" xmlns:xsi="http://www.w3.org/2001/XMLSchema-instance" xmlns:pc="http://schemas.microsoft.com/office/infopath/2007/PartnerControls">
  <documentManagement>
    <_activity xmlns="570ce379-ef9e-488e-8e74-44d887057c06" xsi:nil="true"/>
  </documentManagement>
</p:properties>
</file>

<file path=customXml/itemProps1.xml><?xml version="1.0" encoding="utf-8"?>
<ds:datastoreItem xmlns:ds="http://schemas.openxmlformats.org/officeDocument/2006/customXml" ds:itemID="{EDB74C21-A0DA-4EDB-999A-8BD9B5CF7863}">
  <ds:schemaRefs>
    <ds:schemaRef ds:uri="http://schemas.microsoft.com/office/2006/metadata/contentType"/>
    <ds:schemaRef ds:uri="http://schemas.microsoft.com/office/2006/metadata/properties/metaAttributes"/>
    <ds:schemaRef ds:uri="http://www.w3.org/2001/XMLSchema"/>
    <ds:schemaRef ds:uri="http://schemas.microsoft.com/office/2006/metadata/properties"/>
    <ds:schemaRef ds:uri="570ce379-ef9e-488e-8e74-44d887057c06"/>
    <ds:schemaRef ds:uri="http://schemas.microsoft.com/office/2006/documentManagement/types"/>
    <ds:schemaRef ds:uri="http://schemas.microsoft.com/office/infopath/2007/PartnerControls"/>
    <ds:schemaRef ds:uri="http://schemas.openxmlformats.org/package/2006/metadata/core-properties"/>
    <ds:schemaRef ds:uri="http://purl.org/dc/elements/1.1/"/>
    <ds:schemaRef ds:uri="http://purl.org/dc/terms/"/>
    <ds:schemaRef ds:uri="http://schemas.microsoft.com/internal/obd"/>
  </ds:schemaRefs>
</ds:datastoreItem>
</file>

<file path=customXml/itemProps2.xml><?xml version="1.0" encoding="utf-8"?>
<ds:datastoreItem xmlns:ds="http://schemas.openxmlformats.org/officeDocument/2006/customXml" ds:itemID="{BF51FCA5-1E74-4B12-B3EA-47FCB2B44557}">
  <ds:schemaRefs>
    <ds:schemaRef ds:uri="http://schemas.microsoft.com/sharepoint/v3/contenttype/forms"/>
  </ds:schemaRefs>
</ds:datastoreItem>
</file>

<file path=customXml/itemProps3.xml><?xml version="1.0" encoding="utf-8"?>
<ds:datastoreItem xmlns:ds="http://schemas.openxmlformats.org/officeDocument/2006/customXml" ds:itemID="{9B789EF4-9820-4A59-9D05-AF608D83E433}">
  <ds:schemaRefs>
    <ds:schemaRef ds:uri="http://purl.org/dc/elements/1.1/"/>
    <ds:schemaRef ds:uri="570ce379-ef9e-488e-8e74-44d887057c06"/>
    <ds:schemaRef ds:uri="http://purl.org/dc/dcmitype/"/>
    <ds:schemaRef ds:uri="http://www.w3.org/XML/1998/namespace"/>
    <ds:schemaRef ds:uri="http://purl.org/dc/terms/"/>
    <ds:schemaRef ds:uri="http://schemas.microsoft.com/office/2006/documentManagement/types"/>
    <ds:schemaRef ds:uri="http://schemas.microsoft.com/office/infopath/2007/PartnerControls"/>
    <ds:schemaRef ds:uri="http://schemas.openxmlformats.org/package/2006/metadata/core-properties"/>
    <ds:schemaRef ds:uri="http://schemas.microsoft.com/office/2006/metadata/properties"/>
  </ds:schemaRefs>
</ds:datastoreItem>
</file>

<file path=docProps/app.xml><?xml version="1.0" encoding="utf-8"?>
<Properties xmlns="http://schemas.openxmlformats.org/officeDocument/2006/extended-properties" xmlns:vt="http://schemas.openxmlformats.org/officeDocument/2006/docPropsVTypes">
  <TotalTime>13800</TotalTime>
  <Words>10216</Words>
  <Application>Microsoft Office PowerPoint</Application>
  <PresentationFormat>Widescreen</PresentationFormat>
  <Paragraphs>3525</Paragraphs>
  <Slides>51</Slides>
  <Notes>49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51</vt:i4>
      </vt:variant>
    </vt:vector>
  </HeadingPairs>
  <TitlesOfParts>
    <vt:vector size="54" baseType="lpstr">
      <vt:lpstr>Arial</vt:lpstr>
      <vt:lpstr>Calibri</vt:lpstr>
      <vt:lpstr>Office Theme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PptxGenJS Presentation</dc:title>
  <dc:subject>PptxGenJS Presentation</dc:subject>
  <dc:creator>PptxGenJS</dc:creator>
  <cp:lastModifiedBy>Ariya Ariyachotima</cp:lastModifiedBy>
  <cp:revision>6</cp:revision>
  <dcterms:created xsi:type="dcterms:W3CDTF">2026-07-24T09:01:49Z</dcterms:created>
  <dcterms:modified xsi:type="dcterms:W3CDTF">2026-08-03T01:08:56Z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ContentTypeId">
    <vt:lpwstr>0x010100BB95B0B08412A849A5A64508D0AA5F92</vt:lpwstr>
  </property>
</Properties>
</file>