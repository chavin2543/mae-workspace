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308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7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409C20-A998-4A5C-B625-CA10EEA2B52C}" v="50" dt="2026-08-19T01:55:04.009"/>
  </p1510:revLst>
</p1510:revInfo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>
        <p:scale>
          <a:sx n="98" d="100"/>
          <a:sy n="98" d="100"/>
        </p:scale>
        <p:origin x="103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55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1153</c:v>
                </c:pt>
                <c:pt idx="8">
                  <c:v>2214</c:v>
                </c:pt>
                <c:pt idx="9">
                  <c:v>1426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740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403-4B99-ABE6-54DA220BB5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403-4B99-ABE6-54DA220BB51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In this year, Number of arrival drop around -3.2% with the estimation data or around -500k ppl in first h1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down in the </a:t>
            </a:r>
            <a:r>
              <a:rPr lang="en-US" dirty="0" err="1"/>
              <a:t>nationaliy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We can see the recover from </a:t>
            </a:r>
            <a:r>
              <a:rPr lang="en-US" dirty="0" err="1"/>
              <a:t>china</a:t>
            </a:r>
            <a:r>
              <a:rPr lang="en-US" dirty="0"/>
              <a:t> around +14.8% compare to last year.</a:t>
            </a:r>
          </a:p>
          <a:p>
            <a:pPr marL="171450" indent="-171450">
              <a:buFontTx/>
              <a:buChar char="-"/>
            </a:pPr>
            <a:r>
              <a:rPr lang="en-US" dirty="0"/>
              <a:t>For </a:t>
            </a:r>
            <a:r>
              <a:rPr lang="en-US" dirty="0" err="1"/>
              <a:t>india</a:t>
            </a:r>
            <a:r>
              <a:rPr lang="en-US" dirty="0"/>
              <a:t>, which may not a really our major group of guest but it is quite interesting growth. We can see the continue growth in India</a:t>
            </a:r>
            <a:r>
              <a:rPr lang="th-TH" dirty="0"/>
              <a:t> </a:t>
            </a:r>
            <a:r>
              <a:rPr lang="en-US" dirty="0"/>
              <a:t>in past 3 years.</a:t>
            </a:r>
          </a:p>
          <a:p>
            <a:pPr marL="171450" indent="-171450">
              <a:buFontTx/>
              <a:buChar char="-"/>
            </a:pPr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Middle east may not the major top nationality in </a:t>
            </a:r>
            <a:r>
              <a:rPr lang="en-US" dirty="0" err="1"/>
              <a:t>arraivel</a:t>
            </a:r>
            <a:r>
              <a:rPr lang="en-US" dirty="0"/>
              <a:t> of Thailand but this arrival can effected our ADR spending power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After middle east religion war, the number of middle east got lower </a:t>
            </a:r>
            <a:r>
              <a:rPr lang="en-US" dirty="0" err="1"/>
              <a:t>accumtilate</a:t>
            </a:r>
            <a:r>
              <a:rPr lang="en-US" dirty="0"/>
              <a:t> -30% from Feb. Even in June that we may can see the coming back of ME, but it cannot reach the same as </a:t>
            </a:r>
            <a:r>
              <a:rPr lang="en-US" dirty="0" err="1"/>
              <a:t>ly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the long </a:t>
            </a:r>
            <a:r>
              <a:rPr lang="en-US" dirty="0" err="1"/>
              <a:t>hual</a:t>
            </a:r>
            <a:r>
              <a:rPr lang="en-US" dirty="0"/>
              <a:t> and EU that tensing to have more </a:t>
            </a:r>
            <a:r>
              <a:rPr lang="en-US" dirty="0" err="1"/>
              <a:t>spendn</a:t>
            </a:r>
            <a:r>
              <a:rPr lang="en-US" dirty="0"/>
              <a:t> </a:t>
            </a:r>
            <a:r>
              <a:rPr lang="en-US" dirty="0" err="1"/>
              <a:t>pwer</a:t>
            </a:r>
            <a:r>
              <a:rPr lang="en-US" dirty="0"/>
              <a:t>, also arrival decrease -1.2%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Moving to Bangkok area.</a:t>
            </a:r>
          </a:p>
          <a:p>
            <a:r>
              <a:rPr lang="en-US" dirty="0"/>
              <a:t>Even the number Thailand arrival is decrease but in term of Bangkok tourist arrival. The number of total arrival is increase by 3.3% which domestic +6.2% but foreigner quite similar to last year.</a:t>
            </a:r>
          </a:p>
          <a:p>
            <a:r>
              <a:rPr lang="en-US" dirty="0"/>
              <a:t>The number of </a:t>
            </a:r>
            <a:r>
              <a:rPr lang="en-US" dirty="0" err="1"/>
              <a:t>thai</a:t>
            </a:r>
            <a:r>
              <a:rPr lang="en-US" dirty="0"/>
              <a:t> ppl visitor is more than foreigner can be another factor that the price on hotel could be sensitive to our domestic </a:t>
            </a:r>
            <a:r>
              <a:rPr lang="en-US" dirty="0" err="1"/>
              <a:t>travaler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Moving to Bangkok hotel STR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last year due to growth on the arrival, so we can see the Occ that got higher this H1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Class segment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Due to we may rely on the Domestic demand as priority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Moving to Pattaya area.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 The arrival is lower</a:t>
            </a:r>
            <a:r>
              <a:rPr lang="th-TH" dirty="0"/>
              <a:t> </a:t>
            </a:r>
            <a:r>
              <a:rPr lang="en-US" dirty="0"/>
              <a:t>-2.7% mostly come from international arrival -5.4%</a:t>
            </a:r>
          </a:p>
        </p:txBody>
      </p:sp>
    </p:spTree>
    <p:extLst>
      <p:ext uri="{BB962C8B-B14F-4D97-AF65-F5344CB8AC3E}">
        <p14:creationId xmlns:p14="http://schemas.microsoft.com/office/powerpoint/2010/main" val="697306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the demand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(arrivals −2.7%) → market gave up occupancy (−2.6%) but held rate</a:t>
            </a:r>
          </a:p>
          <a:p>
            <a:r>
              <a:rPr lang="en-US" dirty="0"/>
              <a:t>Look at the segment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Upscale &amp; Upper Midscale which is very near to SP</a:t>
            </a:r>
            <a:endParaRPr lang="en-US" dirty="0"/>
          </a:p>
          <a:p>
            <a:r>
              <a:rPr lang="en-US" dirty="0"/>
              <a:t>We can see that the ADR drop -2% in first half year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MOTS Korea H12026−22.7%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dirty="0"/>
              <a:t>DTA write off will reflect Q2 and Q4</a:t>
            </a:r>
          </a:p>
          <a:p>
            <a:pPr marL="171450" indent="-171450">
              <a:buFont typeface="Arial"/>
              <a:buChar char="•"/>
            </a:pPr>
            <a:r>
              <a:rPr lang="en-US" dirty="0" err="1"/>
              <a:t>Npat</a:t>
            </a:r>
            <a:r>
              <a:rPr lang="en-US" dirty="0"/>
              <a:t> will effect next 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9252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>
                <a:solidFill>
                  <a:srgbClr val="26292E"/>
                </a:solidFill>
                <a:latin typeface="Calibri"/>
              </a:rPr>
              <a:t>(Estimate + actual)</a:t>
            </a:r>
            <a:endParaRPr lang="en-US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60 days free</a:t>
            </a:r>
          </a:p>
          <a:p>
            <a:pPr algn="ctr"/>
            <a:r>
              <a:rPr lang="en-US" sz="110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39" y="599890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China is recovering vs 2025 (+14.8%), but is still only ~46% of pre-COVID.</a:t>
            </a:r>
          </a:p>
          <a:p>
            <a:r>
              <a:rPr sz="1200">
                <a:solidFill>
                  <a:schemeClr val="tx1"/>
                </a:solidFill>
                <a:latin typeface="Calibri"/>
              </a:rPr>
              <a:t>India is the strongest growth market — +24% in January and a record H1.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2744270" y="3223812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58251" y="582832"/>
            <a:ext cx="233078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Middle East volumes dropped sharply from February — the regional war effect.</a:t>
            </a:r>
          </a:p>
          <a:p>
            <a:r>
              <a:rPr sz="1200">
                <a:latin typeface="Calibri"/>
              </a:rPr>
              <a:t>Long-haul held up but showed no growth vs 2025: a strong Jan–Feb offset a softer April (higher airfares from rerouting).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84018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63880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Even though total arrivals are −3%, international arrivals in Bangkok are similar to LY (−0.1%) — the overall drop came from Phuket and Pattaya, not Bangkok.</a:t>
            </a:r>
          </a:p>
          <a:p>
            <a:r>
              <a:rPr lang="en-US" sz="1200" dirty="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31584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The Bangkok hotel market runs Occ +2.3%, ADR −1.3% → RevPAR +0.9%; the rise in visitors explains the higher occupancy.</a:t>
            </a:r>
          </a:p>
          <a:p>
            <a:r>
              <a:rPr sz="1200">
                <a:solidFill>
                  <a:schemeClr val="tx1"/>
                </a:solidFill>
                <a:latin typeface="Calibri"/>
              </a:rPr>
              <a:t>By class, Luxury is the only one holding rate (+1.1%)</a:t>
            </a:r>
            <a:endParaRPr lang="en-US" sz="1200">
              <a:solidFill>
                <a:schemeClr val="tx1"/>
              </a:solidFill>
              <a:latin typeface="Calibri"/>
            </a:endParaRPr>
          </a:p>
          <a:p>
            <a:r>
              <a:rPr sz="1200">
                <a:solidFill>
                  <a:schemeClr val="tx1"/>
                </a:solidFill>
                <a:latin typeface="Calibri"/>
              </a:rPr>
              <a:t>Every class below it cut price — and the lower the tier, the deeper the ADR cut.</a:t>
            </a:r>
            <a:endParaRPr lang="en-US" sz="1200">
              <a:solidFill>
                <a:schemeClr val="tx1"/>
              </a:solidFill>
              <a:latin typeface="Calibri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07F377-B864-8A75-9010-6B3D75EB0330}"/>
              </a:ext>
            </a:extLst>
          </p:cNvPr>
          <p:cNvCxnSpPr/>
          <p:nvPr/>
        </p:nvCxnSpPr>
        <p:spPr>
          <a:xfrm>
            <a:off x="441789" y="4849402"/>
            <a:ext cx="0" cy="682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0CA16F-327B-15B2-0F7D-EDD0D9EF3335}"/>
              </a:ext>
            </a:extLst>
          </p:cNvPr>
          <p:cNvSpPr txBox="1"/>
          <p:nvPr/>
        </p:nvSpPr>
        <p:spPr>
          <a:xfrm rot="16200000">
            <a:off x="-234940" y="5075345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Our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/>
          </a:p>
          <a:p>
            <a:pPr marL="0" indent="0">
              <a:buNone/>
            </a:pP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59513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In the Pattaya area, arrivals are −2.7% vs LY — mostly from foreigners (−5.4% vs LY).</a:t>
            </a:r>
          </a:p>
          <a:p>
            <a:r>
              <a:rPr lang="en-US" sz="120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demand down (arrivals −2.7%) → market gave up occupancy (−2.6%) but held rate (ADR −0.1% = flat; Jan/Feb swing = CNY timing, May–Jun ADR −3~4%).</a:t>
            </a:r>
          </a:p>
          <a:p>
            <a:endParaRPr lang="en-US" sz="1200" i="1" dirty="0">
              <a:solidFill>
                <a:sysClr val="windowText" lastClr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00809" y="5001668"/>
            <a:ext cx="3804285" cy="16601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RevPAR is ~4% behind budget, driven mainly by rate (ADR −3.4%); occupancy is near plan (−1.0%). Vs last year, RevPAR is broadly flat.</a:t>
            </a:r>
          </a:p>
          <a:p>
            <a:r>
              <a:rPr sz="1050">
                <a:latin typeface="Calibri"/>
              </a:rPr>
              <a:t>April was our softest month — driven by AES (−16% RevPAR vs budget, after the Dubai group moved out) and LYF (occupancy 50% vs the 83% budgeted).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1901952"/>
        </p:xfrm>
        <a:graphic>
          <a:graphicData uri="http://schemas.openxmlformats.org/drawingml/2006/table">
            <a:tbl>
              <a:tblPr/>
              <a:tblGrid>
                <a:gridCol w="923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9299">
                  <a:extLst>
                    <a:ext uri="{9D8B030D-6E8A-4147-A177-3AD203B41FA5}">
                      <a16:colId xmlns:a16="http://schemas.microsoft.com/office/drawing/2014/main" val="990001"/>
                    </a:ext>
                  </a:extLst>
                </a:gridCol>
                <a:gridCol w="593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8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04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88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−263.9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−296.6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−269.4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−285.3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−30.1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099048" y="5120640"/>
            <a:ext cx="5541264" cy="16459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5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revenue is −9.7% vs MF budget, but NPAT is on plan (+฿0.3M) —</a:t>
            </a:r>
          </a:p>
          <a:p>
            <a:endParaRPr lang="en-US" sz="1200" i="1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95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control offset the rate shortfall (Lower interest expense due to loan repayment). EBIT is −11.0% vs budget.</a:t>
            </a:r>
            <a:endParaRPr lang="en-US" sz="8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322424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r>
                        <a:rPr lang="th-TH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(Inc. BF)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1648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SR9 runs close to budget for H1 — February outperformed strongly (CNY), May–Jun slightly behind on ADR.</a:t>
            </a:r>
          </a:p>
          <a:p>
            <a:r>
              <a:rPr sz="1200" dirty="0">
                <a:latin typeface="Calibri"/>
              </a:rPr>
              <a:t>Vs last year, occupancy is +4.8% better, turning RevPAR +1.3% above LY.</a:t>
            </a: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730325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271364"/>
            <a:ext cx="6144768" cy="90083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gainers are all Asian: China (+1,792 RN), India (+1,219) and Thailand (+762).</a:t>
            </a:r>
          </a:p>
          <a:p>
            <a:r>
              <a:rPr sz="1200">
                <a:latin typeface="Calibri"/>
              </a:rPr>
              <a:t>Biggest decline: Korea (−757 RN) — in line with the national arrival trends.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949071" y="5668280"/>
            <a:ext cx="10290810" cy="10605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Around 30% of this property’s mix is corporate booking.</a:t>
            </a:r>
          </a:p>
          <a:p>
            <a:r>
              <a:rPr sz="1200"/>
              <a:t>Online bookings also grew this year — and some corporate business is now mixed into OTA, since B2B channels book through the OTA as well.</a:t>
            </a:r>
          </a:p>
          <a:p>
            <a:r>
              <a:rPr sz="1200"/>
              <a:t>ASR bookings grew too, but without any growth in ADR.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255576"/>
              </p:ext>
            </p:extLst>
          </p:nvPr>
        </p:nvGraphicFramePr>
        <p:xfrm>
          <a:off x="548640" y="4142232"/>
          <a:ext cx="10290810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928554"/>
              </p:ext>
            </p:extLst>
          </p:nvPr>
        </p:nvGraphicFramePr>
        <p:xfrm>
          <a:off x="548640" y="379476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35.2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214.0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3822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-3.9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4022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298128"/>
              </p:ext>
            </p:extLst>
          </p:nvPr>
        </p:nvGraphicFramePr>
        <p:xfrm>
          <a:off x="6094476" y="1441279"/>
          <a:ext cx="5545835" cy="1901952"/>
        </p:xfrm>
        <a:graphic>
          <a:graphicData uri="http://schemas.openxmlformats.org/drawingml/2006/table">
            <a:tbl>
              <a:tblPr/>
              <a:tblGrid>
                <a:gridCol w="887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255">
                  <a:extLst>
                    <a:ext uri="{9D8B030D-6E8A-4147-A177-3AD203B41FA5}">
                      <a16:colId xmlns:a16="http://schemas.microsoft.com/office/drawing/2014/main" val="990002"/>
                    </a:ext>
                  </a:extLst>
                </a:gridCol>
                <a:gridCol w="5708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6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91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9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−84.3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−61.9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9048" y="4846320"/>
            <a:ext cx="5541264" cy="19385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sz="950"/>
              <a:t>Vs budget: revenue fell short; OPEX was managed −8.7% better, but GOP still missed on the revenue shortfall. EBIT is −11.3% below budget, while NPAT is +฿6.2M better — the MF projection assumed a DTA write-off in Q1–Q2 that has not been booked yet.</a:t>
            </a:r>
          </a:p>
          <a:p>
            <a:pPr algn="ctr"/>
            <a:r>
              <a:rPr lang="en-US" sz="950" dirty="0">
                <a:solidFill>
                  <a:schemeClr val="tx1"/>
                </a:solidFill>
              </a:rPr>
              <a:t>Vs LY: revenue is +0.6% better, but OPEX is also +0.6% higher, so GOP is similar to LY. EBIT comes in below LY (−฿1.7M, −3.2%). NPAT, however, beats LY — last year’s H1 carried a write-off.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60437" y="5467746"/>
            <a:ext cx="3520440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Vs last year, AES did well on occupancy (+3.8%) but could not yield ADR, turning RevPAR −2.2% below LY.</a:t>
            </a:r>
          </a:p>
          <a:p>
            <a:r>
              <a:rPr sz="1200" dirty="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449107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+2,867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+5213%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-2,326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-49%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+4,050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839513"/>
            <a:ext cx="6144768" cy="95778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three: China, Japan and Finland — AES is diversifying its guest mix into new nationalities.</a:t>
            </a:r>
          </a:p>
          <a:p>
            <a:r>
              <a:rPr sz="1200">
                <a:latin typeface="Calibri"/>
              </a:rPr>
              <a:t>Biggest H1 gain: Finland (+2,867 RN, from just 55 last year); biggest decline: Korea (−910 RN).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3BDAA7-0CA8-D415-B5EB-F239636C9D48}"/>
              </a:ext>
            </a:extLst>
          </p:cNvPr>
          <p:cNvSpPr txBox="1"/>
          <p:nvPr/>
        </p:nvSpPr>
        <p:spPr>
          <a:xfrm>
            <a:off x="9800316" y="1128135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183636"/>
              </p:ext>
            </p:extLst>
          </p:nvPr>
        </p:nvGraphicFramePr>
        <p:xfrm>
          <a:off x="606668" y="4169663"/>
          <a:ext cx="11033643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67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32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2"/>
            <a:ext cx="11117579" cy="946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 Corporate LS/SS has grown 30–40% vs H1 last year and group bookings are +185% — AES is clearly shifting to secure group business, which can pull the rate down.</a:t>
            </a:r>
          </a:p>
          <a:p>
            <a:r>
              <a:rPr sz="1200"/>
              <a:t>ASR bookings grew +50% (Ascott is pushing ASR) but still fall short on rate.</a:t>
            </a:r>
          </a:p>
          <a:p>
            <a:r>
              <a:rPr sz="1200"/>
              <a:t>Wholesale cannot be grown: leisure retail prices in this area are low and rate-cutting competition is intense.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922159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087451"/>
              </p:ext>
            </p:extLst>
          </p:nvPr>
        </p:nvGraphicFramePr>
        <p:xfrm>
          <a:off x="548640" y="388620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33.7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204.0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55693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53427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827674"/>
              </p:ext>
            </p:extLst>
          </p:nvPr>
        </p:nvGraphicFramePr>
        <p:xfrm>
          <a:off x="6096000" y="1444752"/>
          <a:ext cx="5544314" cy="1901952"/>
        </p:xfrm>
        <a:graphic>
          <a:graphicData uri="http://schemas.openxmlformats.org/drawingml/2006/table">
            <a:tbl>
              <a:tblPr/>
              <a:tblGrid>
                <a:gridCol w="887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61">
                  <a:extLst>
                    <a:ext uri="{9D8B030D-6E8A-4147-A177-3AD203B41FA5}">
                      <a16:colId xmlns:a16="http://schemas.microsoft.com/office/drawing/2014/main" val="990003"/>
                    </a:ext>
                  </a:extLst>
                </a:gridCol>
                <a:gridCol w="570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5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89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−97.2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−69.7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−69.5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099048" y="5001768"/>
            <a:ext cx="5541264" cy="17830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50"/>
              <a:t>Vs budget: the revenue shortfall is large (−12%), but GOP margin beats budget on OPEX control and JV expense is better — so the EBIT and NPAT gaps end up much smaller.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down −3.3%, but OPEX is −6.0% better (~฿6M, mainly leasing commission ~฿6.56M), GOP margin improves +2.5%, and JV expense is lower (house &amp; building tax was over-accrued last year; the 2026 tax is already paid) — so EBIT and NPAT both beat 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817825"/>
              </p:ext>
            </p:extLst>
          </p:nvPr>
        </p:nvGraphicFramePr>
        <p:xfrm>
          <a:off x="548639" y="5815584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r>
              <a:rPr sz="1200">
                <a:latin typeface="Calibri"/>
              </a:rPr>
              <a:t>Overall, LYF misses budget and is softer than last year as well — mostly from the ADR drop.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104943"/>
            <a:ext cx="6144768" cy="96408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Top nationalities: China, Indonesia, Malaysia and Singapore.</a:t>
            </a:r>
          </a:p>
          <a:p>
            <a:r>
              <a:rPr sz="1200"/>
              <a:t>Key gains come from Indonesia (+2,017 RN, +198%) and China (+1,312 RN, +28%), while the USA and UK dropped — the higher-spending nationalities have faded, which helps explain the ADR drop.</a:t>
            </a: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ECB97440-7C84-E1C3-821B-4672A7CE1D25}"/>
              </a:ext>
            </a:extLst>
          </p:cNvPr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222B76A0-8DD3-2542-EC9A-D9FAE5428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280981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+1,961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934294"/>
              </p:ext>
            </p:extLst>
          </p:nvPr>
        </p:nvGraphicFramePr>
        <p:xfrm>
          <a:off x="548639" y="4120773"/>
          <a:ext cx="10075212" cy="14805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40" y="5735503"/>
            <a:ext cx="10075212" cy="7498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Largest segment YTD: Online (66% of room nights). Even as OTA volume grew +3%, the OTA rate itself dropped −8%.</a:t>
            </a:r>
          </a:p>
          <a:p>
            <a:r>
              <a:rPr sz="1200"/>
              <a:t>(To verify: could the low rate come from rooms sold into Corporate LS? — LS is only ~0.7% of room nights, so the main driver is the OTA rate itself.)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248437"/>
              </p:ext>
            </p:extLst>
          </p:nvPr>
        </p:nvGraphicFramePr>
        <p:xfrm>
          <a:off x="548640" y="3886200"/>
          <a:ext cx="5394956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8.9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43.6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51833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-9.2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25286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1901952"/>
        </p:xfrm>
        <a:graphic>
          <a:graphicData uri="http://schemas.openxmlformats.org/drawingml/2006/table">
            <a:tbl>
              <a:tblPr/>
              <a:tblGrid>
                <a:gridCol w="88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4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−22.6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099048" y="5175504"/>
            <a:ext cx="5541264" cy="16093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50"/>
              <a:t>Vs budget: revenue −8.4% short, GOP margin −4.6% and EBIT −35% below budget. NPAT is in line with budget (the MF projection carried a ~฿2M interest-and-tax buffer).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−5.8% and OPEX is higher on marketing (online PR and website costs); GOP is −12% and JV expense is up (house &amp; building tax for three past years) —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187895"/>
              </p:ext>
            </p:extLst>
          </p:nvPr>
        </p:nvGraphicFramePr>
        <p:xfrm>
          <a:off x="548639" y="5879592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7970919" y="5431536"/>
            <a:ext cx="3864065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SP was ahead of budget in the Jan–Feb high season and broadly on plan in Mar–Jun.</a:t>
            </a:r>
          </a:p>
          <a:p>
            <a:r>
              <a:rPr sz="1200">
                <a:latin typeface="Calibri"/>
              </a:rPr>
              <a:t>Vs LY: occupancy +5.3% and RevPAR similar to LY.</a:t>
            </a:r>
          </a:p>
          <a:p>
            <a:r>
              <a:rPr sz="1200">
                <a:latin typeface="Calibri"/>
              </a:rPr>
              <a:t>Vs budget: occupancy +0.2%, but RevPAR −3.5% — the ADR could not be yielded as planned.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5017846"/>
            <a:ext cx="6144768" cy="8702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Top gainers: China (+805 RN), Thailand (+639) and Israel (+639), with Russia and Australia also up.</a:t>
            </a:r>
          </a:p>
          <a:p>
            <a:r>
              <a:rPr sz="1200"/>
              <a:t>Biggest decline: United States (−965 RN).</a:t>
            </a:r>
          </a:p>
          <a:p>
            <a:r>
              <a:rPr sz="1200"/>
              <a:t>ADR improved for India and the US.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E4D1E-69B7-E433-D597-328D5366FC59}"/>
              </a:ext>
            </a:extLst>
          </p:cNvPr>
          <p:cNvSpPr txBox="1"/>
          <p:nvPr/>
        </p:nvSpPr>
        <p:spPr>
          <a:xfrm>
            <a:off x="9902952" y="1266441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913622"/>
              </p:ext>
            </p:extLst>
          </p:nvPr>
        </p:nvGraphicFramePr>
        <p:xfrm>
          <a:off x="548640" y="388620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28.8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26.0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183.1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71696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5965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1901952"/>
        </p:xfrm>
        <a:graphic>
          <a:graphicData uri="http://schemas.openxmlformats.org/drawingml/2006/table">
            <a:tbl>
              <a:tblPr/>
              <a:tblGrid>
                <a:gridCol w="882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5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−74.4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−39.9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099048" y="4992624"/>
            <a:ext cx="5541264" cy="17922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budget: revenue fell short; OPEX was managed −9.8% better, but GOP still missed on the low revenue. JV expense was −4.0% better than budget; even so, the revenue shortfall leaves EBIT and NPAT below plan.</a:t>
            </a:r>
          </a:p>
          <a:p>
            <a:r>
              <a:rPr sz="950"/>
              <a:t>Vs LY: revenue is similar and OPEX slightly better, but JV expense is higher, making EBIT lower. NPAT improves — no bank loan in H1 this year, unlike last year.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  <p:sp>
        <p:nvSpPr>
          <p:cNvPr id="6" name="TextBox 5"/>
          <p:cNvSpPr txBox="1"/>
          <p:nvPr/>
        </p:nvSpPr>
        <p:spPr>
          <a:xfrm>
            <a:off x="548640" y="1353979"/>
            <a:ext cx="766364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65459"/>
            <a:ext cx="5440680" cy="78226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5291"/>
            <a:ext cx="2664319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lang="en-US" sz="1300" b="1">
                <a:solidFill>
                  <a:srgbClr val="1E2761"/>
                </a:solidFill>
                <a:latin typeface="Calibri"/>
              </a:rPr>
              <a:t>THE </a:t>
            </a:r>
            <a:r>
              <a:rPr sz="1300" b="1">
                <a:solidFill>
                  <a:srgbClr val="1E2761"/>
                </a:solidFill>
                <a:latin typeface="Calibri"/>
              </a:rPr>
              <a:t>MARKETS</a:t>
            </a:r>
            <a:r>
              <a:rPr lang="en-US" sz="1300" b="1">
                <a:solidFill>
                  <a:srgbClr val="1E2761"/>
                </a:solidFill>
                <a:latin typeface="Calibri"/>
              </a:rPr>
              <a:t> AND OUR PROPERTIES</a:t>
            </a:r>
            <a:endParaRPr sz="13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116771"/>
            <a:ext cx="5440680" cy="103361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9A2F7-AAFF-4D60-CE37-A169F9AF336E}"/>
              </a:ext>
            </a:extLst>
          </p:cNvPr>
          <p:cNvSpPr txBox="1"/>
          <p:nvPr/>
        </p:nvSpPr>
        <p:spPr>
          <a:xfrm>
            <a:off x="548640" y="746198"/>
            <a:ext cx="60975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2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E0171A-59D5-0060-907E-965A38D946E2}"/>
              </a:ext>
            </a:extLst>
          </p:cNvPr>
          <p:cNvSpPr txBox="1"/>
          <p:nvPr/>
        </p:nvSpPr>
        <p:spPr>
          <a:xfrm>
            <a:off x="6537483" y="746198"/>
            <a:ext cx="5204586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Recommendation</a:t>
            </a:r>
            <a:endParaRPr lang="en-US" err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F37F4-0918-5BE3-7988-46313A3A22FF}"/>
              </a:ext>
            </a:extLst>
          </p:cNvPr>
          <p:cNvSpPr txBox="1"/>
          <p:nvPr/>
        </p:nvSpPr>
        <p:spPr>
          <a:xfrm>
            <a:off x="6419088" y="1764792"/>
            <a:ext cx="5129784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050" dirty="0"/>
              <a:t>• </a:t>
            </a:r>
            <a:r>
              <a:rPr lang="en-US" sz="1050" b="1" dirty="0"/>
              <a:t>Push rate only in high season (Q4–Q1)</a:t>
            </a:r>
            <a:r>
              <a:rPr lang="en-US" sz="1050" dirty="0"/>
              <a:t> — Q2–Q3 demand shifts </a:t>
            </a:r>
            <a:r>
              <a:rPr lang="en-US" sz="1050" dirty="0" err="1"/>
              <a:t>leisure→corporate</a:t>
            </a:r>
            <a:r>
              <a:rPr lang="en-US" sz="1050" dirty="0"/>
              <a:t>; raising ADR there just loses traffic.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Reduce the China reliance</a:t>
            </a:r>
            <a:r>
              <a:rPr lang="en-US" sz="1050" dirty="0"/>
              <a:t> — it now dominates our mix but books below-average rates, capping ADR.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Rebalance toward higher-ADR guests</a:t>
            </a:r>
            <a:r>
              <a:rPr lang="en-US" sz="1050" dirty="0"/>
              <a:t> — long-haul (EU/USA) is at record levels; set a nationality-mix target with Ascott, not just a rate target.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Keep the cost discipline</a:t>
            </a:r>
            <a:r>
              <a:rPr lang="en-US" sz="1050" dirty="0"/>
              <a:t> — revenue missed budget by −9.7%, yet portfolio NPAT is still on plan thanks to OPEX control; make protecting this a standing order for H2.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Review low-rate wholesale deals</a:t>
            </a:r>
            <a:r>
              <a:rPr lang="en-US" sz="1050" dirty="0"/>
              <a:t> — AES's Finland case (55 → 2,922 room nights at half the rate) shows how these deals buy occupancy at the cost of ADR; every property should review such contracts before renewal.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9088" y="1353312"/>
            <a:ext cx="292608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ACTIONS FOR H2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06824"/>
            <a:ext cx="182880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18304"/>
            <a:ext cx="544068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Revenue closed −9.7% below MF budget on the rate shortfall — but OPEX control kept portfolio NPAT on plan (+฿0.3M); EBIT −11.0% vs budget.</a:t>
            </a:r>
          </a:p>
          <a:p>
            <a:r>
              <a:rPr sz="1050">
                <a:solidFill>
                  <a:srgbClr val="26292E"/>
                </a:solidFill>
                <a:latin typeface="Calibri"/>
              </a:rPr>
              <a:t>• Every property missed its revenue budget (−8% to −12%); keeping the H1 cost discipline is what protects the bottom line in H2.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elements/1.1/"/>
    <ds:schemaRef ds:uri="http://schemas.openxmlformats.org/package/2006/metadata/core-properties"/>
    <ds:schemaRef ds:uri="http://purl.org/dc/dcmitype/"/>
    <ds:schemaRef ds:uri="570ce379-ef9e-488e-8e74-44d887057c06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570ce379-ef9e-488e-8e74-44d887057c0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8694</Words>
  <Application>Microsoft Office PowerPoint</Application>
  <PresentationFormat>Widescreen</PresentationFormat>
  <Paragraphs>2890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2</cp:revision>
  <dcterms:created xsi:type="dcterms:W3CDTF">2026-07-24T09:01:49Z</dcterms:created>
  <dcterms:modified xsi:type="dcterms:W3CDTF">2026-08-19T01:55:50Z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