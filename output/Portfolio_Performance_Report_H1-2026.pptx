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72"/>
    <p:sldId id="318" r:id="rId71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320" r:id="rId73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321" r:id="rId74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322" r:id="rId7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323" r:id="rId76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1" Type="http://schemas.openxmlformats.org/officeDocument/2006/relationships/slide" Target="slides/slide28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8" Type="http://schemas.openxmlformats.org/officeDocument/2006/relationships/slide" Target="slides/slide36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5.xml"/><Relationship Id="rId45" Type="http://schemas.openxmlformats.org/officeDocument/2006/relationships/slide" Target="slides/slide44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3.xml"/><Relationship Id="rId52" Type="http://schemas.openxmlformats.org/officeDocument/2006/relationships/slide" Target="slides/slide52.xml"/><Relationship Id="rId54" Type="http://schemas.openxmlformats.org/officeDocument/2006/relationships/slide" Target="slides/slide57.xml"/><Relationship Id="rId55" Type="http://schemas.openxmlformats.org/officeDocument/2006/relationships/slide" Target="slides/slide58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2.xml"/><Relationship Id="rId63" Type="http://schemas.openxmlformats.org/officeDocument/2006/relationships/slide" Target="slides/slide30.xml"/><Relationship Id="rId64" Type="http://schemas.openxmlformats.org/officeDocument/2006/relationships/slide" Target="slides/slide38.xml"/><Relationship Id="rId65" Type="http://schemas.openxmlformats.org/officeDocument/2006/relationships/slide" Target="slides/slide46.xml"/><Relationship Id="rId66" Type="http://schemas.openxmlformats.org/officeDocument/2006/relationships/slide" Target="slides/slide54.xml"/><Relationship Id="rId67" Type="http://schemas.openxmlformats.org/officeDocument/2006/relationships/slide" Target="slides/slide32.xml"/><Relationship Id="rId68" Type="http://schemas.openxmlformats.org/officeDocument/2006/relationships/slide" Target="slides/slide40.xml"/><Relationship Id="rId69" Type="http://schemas.openxmlformats.org/officeDocument/2006/relationships/slide" Target="slides/slide48.xml"/><Relationship Id="rId70" Type="http://schemas.openxmlformats.org/officeDocument/2006/relationships/slide" Target="slides/slide56.xml"/><Relationship Id="rId71" Type="http://schemas.openxmlformats.org/officeDocument/2006/relationships/slide" Target="slides/slide10.xml"/><Relationship Id="rId72" Type="http://schemas.openxmlformats.org/officeDocument/2006/relationships/slide" Target="slides/slide9.xml"/><Relationship Id="rId73" Type="http://schemas.openxmlformats.org/officeDocument/2006/relationships/slide" Target="slides/slide31.xml"/><Relationship Id="rId74" Type="http://schemas.openxmlformats.org/officeDocument/2006/relationships/slide" Target="slides/slide39.xml"/><Relationship Id="rId75" Type="http://schemas.openxmlformats.org/officeDocument/2006/relationships/slide" Target="slides/slide47.xml"/><Relationship Id="rId76" Type="http://schemas.openxmlformats.org/officeDocument/2006/relationships/slide" Target="slides/slide5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8.xml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7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nationality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nationalities by 2026 room nights · monthly ADR 2026 · H1 = Jan–Jun weighted by room nights · H1 '25 = same nationality last year ('–' = outside 2025 top-10)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133856"/>
                <a:gridCol w="1133856"/>
                <a:gridCol w="1133856"/>
                <a:gridCol w="1133856"/>
                <a:gridCol w="1133856"/>
                <a:gridCol w="1133856"/>
                <a:gridCol w="960120"/>
                <a:gridCol w="960120"/>
                <a:gridCol w="768096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Nationality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China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Taiwan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Thailand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India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-14.7%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Japan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Malaysia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Singapore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Korea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Indonesia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USA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818888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ADR drop: India (-14.7%).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nationality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nationalities by 2026 room nights · monthly ADR 2026 · H1 = Jan–Jun weighted by room nights · H1 '25 = same nationality last year ('–' = outside 2025 top-10)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133856"/>
                <a:gridCol w="1133856"/>
                <a:gridCol w="1133856"/>
                <a:gridCol w="1133856"/>
                <a:gridCol w="1133856"/>
                <a:gridCol w="1133856"/>
                <a:gridCol w="960120"/>
                <a:gridCol w="960120"/>
                <a:gridCol w="768096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Nationality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China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Japan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Finland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Singapore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USA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Thailand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Germany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-14.6%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UK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Korea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3,691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Taiwan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818888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ADR drop: Germany (-14.6%).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nationality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nationalities by 2026 room nights · monthly ADR 2026 · H1 = Jan–Jun weighted by room nights · H1 '25 = same nationality last year ('–' = outside 2025 top-10)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133856"/>
                <a:gridCol w="1133856"/>
                <a:gridCol w="1133856"/>
                <a:gridCol w="1133856"/>
                <a:gridCol w="1133856"/>
                <a:gridCol w="1133856"/>
                <a:gridCol w="960120"/>
                <a:gridCol w="960120"/>
                <a:gridCol w="768096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Nationality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China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Indonesia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-14.6%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Singapore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Malaysia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Taiwan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Thailand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USA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1,606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Japan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UK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Germany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818888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ADR drop: Indonesia (-14.6%).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nationality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nationalities by 2026 room nights · monthly ADR 2026 · H1 = Jan–Jun weighted by room nights · H1 '25 = same nationality last year ('–' = outside 2025 top-10)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133856"/>
                <a:gridCol w="1133856"/>
                <a:gridCol w="1133856"/>
                <a:gridCol w="1133856"/>
                <a:gridCol w="1133856"/>
                <a:gridCol w="1133856"/>
                <a:gridCol w="960120"/>
                <a:gridCol w="960120"/>
                <a:gridCol w="768096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Nationality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'25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China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India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3,645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Thailand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Israel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3,754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United States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Russia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Taiwan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-14.8%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Republic of Korea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Australia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4,544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Japan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818888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ADR drop: Thailand (-26.6%).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