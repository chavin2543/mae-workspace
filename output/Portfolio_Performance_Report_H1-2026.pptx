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.xml" ContentType="application/vnd.openxmlformats-officedocument.drawingml.chart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36.xml" ContentType="application/vnd.openxmlformats-officedocument.drawingml.chart+xml"/>
  <Override PartName="/ppt/charts/chart37.xml" ContentType="application/vnd.openxmlformats-officedocument.drawingml.chart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charts/chart4.xml" ContentType="application/vnd.openxmlformats-officedocument.drawingml.chart+xml"/>
  <Override PartName="/ppt/charts/chart40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59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319" r:id="rId13"/>
    <p:sldId id="318" r:id="rId14"/>
    <p:sldId id="264" r:id="rId15"/>
    <p:sldId id="302" r:id="rId16"/>
    <p:sldId id="304" r:id="rId17"/>
    <p:sldId id="266" r:id="rId18"/>
    <p:sldId id="320" r:id="rId65"/>
    <p:sldId id="269" r:id="rId19"/>
    <p:sldId id="303" r:id="rId20"/>
    <p:sldId id="305" r:id="rId21"/>
    <p:sldId id="267" r:id="rId22"/>
    <p:sldId id="308" r:id="rId23"/>
    <p:sldId id="265" r:id="rId24"/>
    <p:sldId id="268" r:id="rId25"/>
    <p:sldId id="309" r:id="rId26"/>
    <p:sldId id="270" r:id="rId27"/>
    <p:sldId id="272" r:id="rId28"/>
    <p:sldId id="271" r:id="rId29"/>
    <p:sldId id="273" r:id="rId30"/>
    <p:sldId id="275" r:id="rId31"/>
    <p:sldId id="278" r:id="rId32"/>
    <p:sldId id="276" r:id="rId33"/>
    <p:sldId id="310" r:id="rId34"/>
    <p:sldId id="314" r:id="rId35"/>
    <p:sldId id="274" r:id="rId36"/>
    <p:sldId id="280" r:id="rId37"/>
    <p:sldId id="282" r:id="rId38"/>
    <p:sldId id="285" r:id="rId39"/>
    <p:sldId id="283" r:id="rId40"/>
    <p:sldId id="311" r:id="rId41"/>
    <p:sldId id="315" r:id="rId42"/>
    <p:sldId id="281" r:id="rId43"/>
    <p:sldId id="287" r:id="rId44"/>
    <p:sldId id="289" r:id="rId45"/>
    <p:sldId id="292" r:id="rId46"/>
    <p:sldId id="290" r:id="rId47"/>
    <p:sldId id="312" r:id="rId48"/>
    <p:sldId id="316" r:id="rId49"/>
    <p:sldId id="288" r:id="rId50"/>
    <p:sldId id="294" r:id="rId51"/>
    <p:sldId id="296" r:id="rId52"/>
    <p:sldId id="299" r:id="rId53"/>
    <p:sldId id="297" r:id="rId54"/>
    <p:sldId id="313" r:id="rId55"/>
    <p:sldId id="317" r:id="rId56"/>
    <p:sldId id="295" r:id="rId57"/>
    <p:sldId id="301" r:id="rId5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3447" autoAdjust="0"/>
  </p:normalViewPr>
  <p:slideViewPr>
    <p:cSldViewPr snapToGrid="0" snapToObjects="1">
      <p:cViewPr>
        <p:scale>
          <a:sx n="95" d="100"/>
          <a:sy n="95" d="100"/>
        </p:scale>
        <p:origin x="66" y="2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notesMaster" Target="notesMasters/notesMaster1.xml"/><Relationship Id="rId60" Type="http://schemas.openxmlformats.org/officeDocument/2006/relationships/presProps" Target="presProps.xml"/><Relationship Id="rId61" Type="http://schemas.openxmlformats.org/officeDocument/2006/relationships/viewProps" Target="viewProps.xml"/><Relationship Id="rId62" Type="http://schemas.openxmlformats.org/officeDocument/2006/relationships/theme" Target="theme/theme1.xml"/><Relationship Id="rId63" Type="http://schemas.openxmlformats.org/officeDocument/2006/relationships/tableStyles" Target="tableStyles.xml"/><Relationship Id="rId64" Type="http://schemas.microsoft.com/office/2016/11/relationships/changesInfo" Target="changesInfos/changesInfo1.xml"/><Relationship Id="rId65" Type="http://schemas.openxmlformats.org/officeDocument/2006/relationships/slide" Target="slides/slide1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riya Ariyachotima" userId="f22a3ca4-3a6d-4c65-b653-23a8a8731658" providerId="ADAL" clId="{71B5FC91-683F-46EF-ACD9-9D73290113E9}"/>
    <pc:docChg chg="modSld">
      <pc:chgData name="Ariya Ariyachotima" userId="f22a3ca4-3a6d-4c65-b653-23a8a8731658" providerId="ADAL" clId="{71B5FC91-683F-46EF-ACD9-9D73290113E9}" dt="2026-07-24T10:36:18.768" v="8" actId="20577"/>
      <pc:docMkLst>
        <pc:docMk/>
      </pc:docMkLst>
      <pc:sldChg chg="modSp mod">
        <pc:chgData name="Ariya Ariyachotima" userId="f22a3ca4-3a6d-4c65-b653-23a8a8731658" providerId="ADAL" clId="{71B5FC91-683F-46EF-ACD9-9D73290113E9}" dt="2026-07-24T10:12:21.574" v="0" actId="207"/>
        <pc:sldMkLst>
          <pc:docMk/>
          <pc:sldMk cId="0" sldId="267"/>
        </pc:sldMkLst>
        <pc:spChg chg="mod">
          <ac:chgData name="Ariya Ariyachotima" userId="f22a3ca4-3a6d-4c65-b653-23a8a8731658" providerId="ADAL" clId="{71B5FC91-683F-46EF-ACD9-9D73290113E9}" dt="2026-07-24T10:12:21.574" v="0" actId="207"/>
          <ac:spMkLst>
            <pc:docMk/>
            <pc:sldMk cId="0" sldId="267"/>
            <ac:spMk id="9" creationId="{00000000-0000-0000-0000-000000000000}"/>
          </ac:spMkLst>
        </pc:spChg>
      </pc:sldChg>
      <pc:sldChg chg="modSp mod">
        <pc:chgData name="Ariya Ariyachotima" userId="f22a3ca4-3a6d-4c65-b653-23a8a8731658" providerId="ADAL" clId="{71B5FC91-683F-46EF-ACD9-9D73290113E9}" dt="2026-07-24T10:36:16.393" v="6" actId="20577"/>
        <pc:sldMkLst>
          <pc:docMk/>
          <pc:sldMk cId="1283255815" sldId="302"/>
        </pc:sldMkLst>
        <pc:spChg chg="mod">
          <ac:chgData name="Ariya Ariyachotima" userId="f22a3ca4-3a6d-4c65-b653-23a8a8731658" providerId="ADAL" clId="{71B5FC91-683F-46EF-ACD9-9D73290113E9}" dt="2026-07-24T10:36:16.393" v="6" actId="20577"/>
          <ac:spMkLst>
            <pc:docMk/>
            <pc:sldMk cId="1283255815" sldId="302"/>
            <ac:spMk id="2" creationId="{6079A81D-15BF-EB2A-A929-89FBC8E2147F}"/>
          </ac:spMkLst>
        </pc:spChg>
      </pc:sldChg>
      <pc:sldChg chg="modSp mod">
        <pc:chgData name="Ariya Ariyachotima" userId="f22a3ca4-3a6d-4c65-b653-23a8a8731658" providerId="ADAL" clId="{71B5FC91-683F-46EF-ACD9-9D73290113E9}" dt="2026-07-24T10:36:18.768" v="8" actId="20577"/>
        <pc:sldMkLst>
          <pc:docMk/>
          <pc:sldMk cId="493236828" sldId="303"/>
        </pc:sldMkLst>
        <pc:spChg chg="mod">
          <ac:chgData name="Ariya Ariyachotima" userId="f22a3ca4-3a6d-4c65-b653-23a8a8731658" providerId="ADAL" clId="{71B5FC91-683F-46EF-ACD9-9D73290113E9}" dt="2026-07-24T10:36:18.768" v="8" actId="20577"/>
          <ac:spMkLst>
            <pc:docMk/>
            <pc:sldMk cId="493236828" sldId="303"/>
            <ac:spMk id="2" creationId="{073B7DB2-D012-32E1-1B91-CDBEEE14DD8D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3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4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3035296</c:v>
                </c:pt>
                <c:pt idx="1">
                  <c:v>3352302</c:v>
                </c:pt>
                <c:pt idx="2">
                  <c:v>2982721</c:v>
                </c:pt>
                <c:pt idx="3">
                  <c:v>2757128</c:v>
                </c:pt>
                <c:pt idx="4">
                  <c:v>2633464</c:v>
                </c:pt>
                <c:pt idx="5">
                  <c:v>2740372</c:v>
                </c:pt>
                <c:pt idx="6">
                  <c:v>3103420</c:v>
                </c:pt>
                <c:pt idx="7">
                  <c:v>2963147</c:v>
                </c:pt>
                <c:pt idx="8">
                  <c:v>2521005</c:v>
                </c:pt>
                <c:pt idx="9">
                  <c:v>2679180</c:v>
                </c:pt>
                <c:pt idx="10">
                  <c:v>3150237</c:v>
                </c:pt>
                <c:pt idx="11">
                  <c:v>3627442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4B-44A5-8F07-E307CA03968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3709102</c:v>
                </c:pt>
                <c:pt idx="1">
                  <c:v>3119445</c:v>
                </c:pt>
                <c:pt idx="2">
                  <c:v>2720457</c:v>
                </c:pt>
                <c:pt idx="3">
                  <c:v>2547116</c:v>
                </c:pt>
                <c:pt idx="4">
                  <c:v>2266574</c:v>
                </c:pt>
                <c:pt idx="5">
                  <c:v>2322775</c:v>
                </c:pt>
                <c:pt idx="6">
                  <c:v>2610369</c:v>
                </c:pt>
                <c:pt idx="7">
                  <c:v>2583638</c:v>
                </c:pt>
                <c:pt idx="8">
                  <c:v>2235852</c:v>
                </c:pt>
                <c:pt idx="9">
                  <c:v>2573743</c:v>
                </c:pt>
                <c:pt idx="10">
                  <c:v>2914810</c:v>
                </c:pt>
                <c:pt idx="11">
                  <c:v>3370440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4B-44A5-8F07-E307CA03968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3277908</c:v>
                </c:pt>
                <c:pt idx="1">
                  <c:v>3263802</c:v>
                </c:pt>
                <c:pt idx="2">
                  <c:v>2775199</c:v>
                </c:pt>
                <c:pt idx="3">
                  <c:v>2368895</c:v>
                </c:pt>
                <c:pt idx="4">
                  <c:v>2346845</c:v>
                </c:pt>
                <c:pt idx="5">
                  <c:v>1841551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54B-44A5-8F07-E307CA0396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1069787</c:v>
                </c:pt>
                <c:pt idx="1">
                  <c:v>1064806</c:v>
                </c:pt>
                <c:pt idx="2">
                  <c:v>985232</c:v>
                </c:pt>
                <c:pt idx="3">
                  <c:v>898994</c:v>
                </c:pt>
                <c:pt idx="4">
                  <c:v>794913</c:v>
                </c:pt>
                <c:pt idx="5">
                  <c:v>894105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8AA-439B-923F-F7993838E3F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508563</c:v>
                </c:pt>
                <c:pt idx="1">
                  <c:v>674558</c:v>
                </c:pt>
                <c:pt idx="2">
                  <c:v>573216</c:v>
                </c:pt>
                <c:pt idx="3">
                  <c:v>595572</c:v>
                </c:pt>
                <c:pt idx="4">
                  <c:v>559461</c:v>
                </c:pt>
                <c:pt idx="5">
                  <c:v>528112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8AA-439B-923F-F7993838E3F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662779</c:v>
                </c:pt>
                <c:pt idx="1">
                  <c:v>371542</c:v>
                </c:pt>
                <c:pt idx="2">
                  <c:v>297113</c:v>
                </c:pt>
                <c:pt idx="3">
                  <c:v>317213</c:v>
                </c:pt>
                <c:pt idx="4">
                  <c:v>310292</c:v>
                </c:pt>
                <c:pt idx="5">
                  <c:v>306617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8AA-439B-923F-F7993838E3F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400321</c:v>
                </c:pt>
                <c:pt idx="1">
                  <c:v>677768</c:v>
                </c:pt>
                <c:pt idx="2">
                  <c:v>410624</c:v>
                </c:pt>
                <c:pt idx="3">
                  <c:v>418291</c:v>
                </c:pt>
                <c:pt idx="4">
                  <c:v>411308</c:v>
                </c:pt>
                <c:pt idx="5">
                  <c:v>283297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8AA-439B-923F-F7993838E3F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162831</c:v>
                </c:pt>
                <c:pt idx="1">
                  <c:v>148992</c:v>
                </c:pt>
                <c:pt idx="2">
                  <c:v>161129</c:v>
                </c:pt>
                <c:pt idx="3">
                  <c:v>170635</c:v>
                </c:pt>
                <c:pt idx="4">
                  <c:v>198993</c:v>
                </c:pt>
                <c:pt idx="5">
                  <c:v>197489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AE1-430E-8329-BF727804A79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185809</c:v>
                </c:pt>
                <c:pt idx="1">
                  <c:v>169988</c:v>
                </c:pt>
                <c:pt idx="2">
                  <c:v>187973</c:v>
                </c:pt>
                <c:pt idx="3">
                  <c:v>206286</c:v>
                </c:pt>
                <c:pt idx="4">
                  <c:v>228544</c:v>
                </c:pt>
                <c:pt idx="5">
                  <c:v>205299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AE1-430E-8329-BF727804A79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231184</c:v>
                </c:pt>
                <c:pt idx="1">
                  <c:v>185930</c:v>
                </c:pt>
                <c:pt idx="2">
                  <c:v>208484</c:v>
                </c:pt>
                <c:pt idx="3">
                  <c:v>206641</c:v>
                </c:pt>
                <c:pt idx="4">
                  <c:v>224490</c:v>
                </c:pt>
                <c:pt idx="5">
                  <c:v>163378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AE1-430E-8329-BF727804A79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94365</c:v>
                </c:pt>
                <c:pt idx="1">
                  <c:v>85613</c:v>
                </c:pt>
                <c:pt idx="2">
                  <c:v>101002</c:v>
                </c:pt>
                <c:pt idx="3">
                  <c:v>91897</c:v>
                </c:pt>
                <c:pt idx="4">
                  <c:v>95246</c:v>
                </c:pt>
                <c:pt idx="5">
                  <c:v>93648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485-498E-BD41-AD4A2A527E5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44223</c:v>
                </c:pt>
                <c:pt idx="1">
                  <c:v>35346</c:v>
                </c:pt>
                <c:pt idx="2">
                  <c:v>8455</c:v>
                </c:pt>
                <c:pt idx="3">
                  <c:v>45071</c:v>
                </c:pt>
                <c:pt idx="4">
                  <c:v>44106</c:v>
                </c:pt>
                <c:pt idx="5">
                  <c:v>97083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485-498E-BD41-AD4A2A527E5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49839</c:v>
                </c:pt>
                <c:pt idx="1">
                  <c:v>32831</c:v>
                </c:pt>
                <c:pt idx="2">
                  <c:v>18708</c:v>
                </c:pt>
                <c:pt idx="3">
                  <c:v>50561</c:v>
                </c:pt>
                <c:pt idx="4">
                  <c:v>48650</c:v>
                </c:pt>
                <c:pt idx="5">
                  <c:v>82462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485-498E-BD41-AD4A2A527E5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52261</c:v>
                </c:pt>
                <c:pt idx="1">
                  <c:v>15814</c:v>
                </c:pt>
                <c:pt idx="2">
                  <c:v>12201</c:v>
                </c:pt>
                <c:pt idx="3">
                  <c:v>21707</c:v>
                </c:pt>
                <c:pt idx="4">
                  <c:v>47726</c:v>
                </c:pt>
                <c:pt idx="5">
                  <c:v>52702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485-498E-BD41-AD4A2A527E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82919</c:v>
                </c:pt>
                <c:pt idx="1">
                  <c:v>70389</c:v>
                </c:pt>
                <c:pt idx="2">
                  <c:v>66486</c:v>
                </c:pt>
                <c:pt idx="3">
                  <c:v>72756</c:v>
                </c:pt>
                <c:pt idx="4">
                  <c:v>72807</c:v>
                </c:pt>
                <c:pt idx="5">
                  <c:v>60489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BAA7-41A1-B079-85777902CA5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69406</c:v>
                </c:pt>
                <c:pt idx="1">
                  <c:v>51461</c:v>
                </c:pt>
                <c:pt idx="2">
                  <c:v>64997</c:v>
                </c:pt>
                <c:pt idx="3">
                  <c:v>47561</c:v>
                </c:pt>
                <c:pt idx="4">
                  <c:v>54601</c:v>
                </c:pt>
                <c:pt idx="5">
                  <c:v>42388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BAA7-41A1-B079-85777902CA5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t"/>
      <c:overlay val="0"/>
    </c:legend>
    <c:plotVisOnly val="1"/>
    <c:dispBlanksAs val="gap"/>
    <c:showDLblsOverMax val="1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77555</c:v>
                </c:pt>
                <c:pt idx="1">
                  <c:v>64585</c:v>
                </c:pt>
                <c:pt idx="2">
                  <c:v>81349</c:v>
                </c:pt>
                <c:pt idx="3">
                  <c:v>61321</c:v>
                </c:pt>
                <c:pt idx="4">
                  <c:v>76706</c:v>
                </c:pt>
                <c:pt idx="5">
                  <c:v>95578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F625-4845-813B-F2E546F54A0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69405</c:v>
                </c:pt>
                <c:pt idx="1">
                  <c:v>60334</c:v>
                </c:pt>
                <c:pt idx="2">
                  <c:v>80504</c:v>
                </c:pt>
                <c:pt idx="3">
                  <c:v>63751</c:v>
                </c:pt>
                <c:pt idx="4">
                  <c:v>74142</c:v>
                </c:pt>
                <c:pt idx="5">
                  <c:v>78528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F625-4845-813B-F2E546F54A0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t"/>
      <c:overlay val="0"/>
    </c:legend>
    <c:plotVisOnly val="1"/>
    <c:dispBlanksAs val="gap"/>
    <c:showDLblsOverMax val="1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Europe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Sheet1!$A$2:$A$6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6"/>
                <c:pt idx="0">
                  <c:v>879741</c:v>
                </c:pt>
                <c:pt idx="1">
                  <c:v>849024</c:v>
                </c:pt>
                <c:pt idx="2">
                  <c:v>765683</c:v>
                </c:pt>
                <c:pt idx="3">
                  <c:v>523160</c:v>
                </c:pt>
                <c:pt idx="4">
                  <c:v>343907</c:v>
                </c:pt>
                <c:pt idx="5">
                  <c:v>325497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91B-450C-83BB-C59D8123E8E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Sheet1!$A$2:$A$6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6"/>
                <c:pt idx="0">
                  <c:v>1080094</c:v>
                </c:pt>
                <c:pt idx="1">
                  <c:v>1001220</c:v>
                </c:pt>
                <c:pt idx="2">
                  <c:v>854963</c:v>
                </c:pt>
                <c:pt idx="3">
                  <c:v>652062</c:v>
                </c:pt>
                <c:pt idx="4">
                  <c:v>366631</c:v>
                </c:pt>
                <c:pt idx="5">
                  <c:v>345417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91B-450C-83BB-C59D8123E8E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Sheet1!$A$2:$A$6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6"/>
                <c:pt idx="0">
                  <c:v>1184479</c:v>
                </c:pt>
                <c:pt idx="1">
                  <c:v>1047216</c:v>
                </c:pt>
                <c:pt idx="2">
                  <c:v>819016</c:v>
                </c:pt>
                <c:pt idx="3">
                  <c:v>549123</c:v>
                </c:pt>
                <c:pt idx="4">
                  <c:v>365345</c:v>
                </c:pt>
                <c:pt idx="5">
                  <c:v>289156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91B-450C-83BB-C59D8123E8E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USA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Sheet1!$A$2:$A$6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6"/>
                <c:pt idx="0">
                  <c:v>146288</c:v>
                </c:pt>
                <c:pt idx="1">
                  <c:v>138484</c:v>
                </c:pt>
                <c:pt idx="2">
                  <c:v>135962</c:v>
                </c:pt>
                <c:pt idx="3">
                  <c:v>108172</c:v>
                </c:pt>
                <c:pt idx="4">
                  <c:v>97076</c:v>
                </c:pt>
                <c:pt idx="5">
                  <c:v>107002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2EF-4719-B532-FA11579CD6E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Sheet1!$A$2:$A$6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6"/>
                <c:pt idx="0">
                  <c:v>177614</c:v>
                </c:pt>
                <c:pt idx="1">
                  <c:v>155136</c:v>
                </c:pt>
                <c:pt idx="2">
                  <c:v>151520</c:v>
                </c:pt>
                <c:pt idx="3">
                  <c:v>119491</c:v>
                </c:pt>
                <c:pt idx="4">
                  <c:v>98871</c:v>
                </c:pt>
                <c:pt idx="5">
                  <c:v>106358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2EF-4719-B532-FA11579CD6E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Sheet1!$A$2:$A$6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6"/>
                <c:pt idx="0">
                  <c:v>181692</c:v>
                </c:pt>
                <c:pt idx="1">
                  <c:v>154938</c:v>
                </c:pt>
                <c:pt idx="2">
                  <c:v>148421</c:v>
                </c:pt>
                <c:pt idx="3">
                  <c:v>117349</c:v>
                </c:pt>
                <c:pt idx="4">
                  <c:v>102389</c:v>
                </c:pt>
                <c:pt idx="5">
                  <c:v>90980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02EF-4719-B532-FA11579CD6E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15.62</c:v>
                </c:pt>
                <c:pt idx="1">
                  <c:v>14.83</c:v>
                </c:pt>
                <c:pt idx="2">
                  <c:v>14.55</c:v>
                </c:pt>
                <c:pt idx="3">
                  <c:v>15.45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3A2C-471C-BF67-EBD171204F8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11.62</c:v>
                </c:pt>
                <c:pt idx="1">
                  <c:v>13.49</c:v>
                </c:pt>
                <c:pt idx="2">
                  <c:v>12.43</c:v>
                </c:pt>
                <c:pt idx="3">
                  <c:v>12.42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3A2C-471C-BF67-EBD171204F8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27.23</c:v>
                </c:pt>
                <c:pt idx="1">
                  <c:v>28.32</c:v>
                </c:pt>
                <c:pt idx="2">
                  <c:v>26.98</c:v>
                </c:pt>
                <c:pt idx="3">
                  <c:v>27.86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3A2C-471C-BF67-EBD171204F8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4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Revenue from tourists H1 (Billion 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125.5</c:v>
                </c:pt>
                <c:pt idx="1">
                  <c:v>124.5</c:v>
                </c:pt>
                <c:pt idx="2">
                  <c:v>122.4</c:v>
                </c:pt>
                <c:pt idx="3">
                  <c:v>133.4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907F-402E-B742-5B793452DFA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276.60000000000002</c:v>
                </c:pt>
                <c:pt idx="1">
                  <c:v>326.10000000000002</c:v>
                </c:pt>
                <c:pt idx="2">
                  <c:v>304</c:v>
                </c:pt>
                <c:pt idx="3">
                  <c:v>311.5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907F-402E-B742-5B793452DFA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402.1</c:v>
                </c:pt>
                <c:pt idx="1">
                  <c:v>450.6</c:v>
                </c:pt>
                <c:pt idx="2">
                  <c:v>426.3</c:v>
                </c:pt>
                <c:pt idx="3">
                  <c:v>444.8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907F-402E-B742-5B793452DFA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layout>
        <c:manualLayout>
          <c:xMode val="edge"/>
          <c:yMode val="edge"/>
          <c:x val="0.17712420481338137"/>
          <c:y val="0.81614816530286649"/>
          <c:w val="0.67635422690807723"/>
          <c:h val="0.11849235757295044"/>
        </c:manualLayout>
      </c:layout>
      <c:overlay val="0"/>
      <c:txPr>
        <a:bodyPr/>
        <a:lstStyle/>
        <a:p>
          <a:pPr>
            <a:defRPr sz="14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77.52</c:v>
                </c:pt>
                <c:pt idx="1">
                  <c:v>78.64</c:v>
                </c:pt>
                <c:pt idx="2">
                  <c:v>68.82</c:v>
                </c:pt>
                <c:pt idx="3">
                  <c:v>62.29</c:v>
                </c:pt>
                <c:pt idx="4">
                  <c:v>63.27</c:v>
                </c:pt>
                <c:pt idx="5">
                  <c:v>63.65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FA5-4170-BABD-F3C4CFAC4D7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75.69</c:v>
                </c:pt>
                <c:pt idx="1">
                  <c:v>80.86</c:v>
                </c:pt>
                <c:pt idx="2">
                  <c:v>73.25</c:v>
                </c:pt>
                <c:pt idx="3">
                  <c:v>64.67</c:v>
                </c:pt>
                <c:pt idx="4">
                  <c:v>65.36</c:v>
                </c:pt>
                <c:pt idx="5">
                  <c:v>63.87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FA5-4170-BABD-F3C4CFAC4D7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4605.45</c:v>
                </c:pt>
                <c:pt idx="1">
                  <c:v>4286.41</c:v>
                </c:pt>
                <c:pt idx="2">
                  <c:v>3890.63</c:v>
                </c:pt>
                <c:pt idx="3">
                  <c:v>3869</c:v>
                </c:pt>
                <c:pt idx="4">
                  <c:v>3638.97</c:v>
                </c:pt>
                <c:pt idx="5">
                  <c:v>3572.01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9B7-4650-99F9-F81ABD5824E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4279.7</c:v>
                </c:pt>
                <c:pt idx="1">
                  <c:v>4348.93</c:v>
                </c:pt>
                <c:pt idx="2">
                  <c:v>3941.53</c:v>
                </c:pt>
                <c:pt idx="3">
                  <c:v>3841.97</c:v>
                </c:pt>
                <c:pt idx="4">
                  <c:v>3617.64</c:v>
                </c:pt>
                <c:pt idx="5">
                  <c:v>3561.51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9B7-4650-99F9-F81ABD5824E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3569.98</c:v>
                </c:pt>
                <c:pt idx="1">
                  <c:v>3370.82</c:v>
                </c:pt>
                <c:pt idx="2">
                  <c:v>2677.46</c:v>
                </c:pt>
                <c:pt idx="3">
                  <c:v>2409.86</c:v>
                </c:pt>
                <c:pt idx="4">
                  <c:v>2302.24</c:v>
                </c:pt>
                <c:pt idx="5">
                  <c:v>2273.57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804-4804-A496-A00E8A92874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3239.27</c:v>
                </c:pt>
                <c:pt idx="1">
                  <c:v>3516.46</c:v>
                </c:pt>
                <c:pt idx="2">
                  <c:v>2887.33</c:v>
                </c:pt>
                <c:pt idx="3">
                  <c:v>2484.6</c:v>
                </c:pt>
                <c:pt idx="4">
                  <c:v>2364.44</c:v>
                </c:pt>
                <c:pt idx="5">
                  <c:v>2274.62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804-4804-A496-A00E8A92874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7.12</c:v>
                </c:pt>
                <c:pt idx="1">
                  <c:v>7.57</c:v>
                </c:pt>
                <c:pt idx="2">
                  <c:v>8.4499999999999993</c:v>
                </c:pt>
                <c:pt idx="3">
                  <c:v>8.3800000000000008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FF1D-449F-835B-98E82FD5A41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4.7</c:v>
                </c:pt>
                <c:pt idx="1">
                  <c:v>5.78</c:v>
                </c:pt>
                <c:pt idx="2">
                  <c:v>5.42</c:v>
                </c:pt>
                <c:pt idx="3">
                  <c:v>5.13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FF1D-449F-835B-98E82FD5A4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11.82</c:v>
                </c:pt>
                <c:pt idx="1">
                  <c:v>13.35</c:v>
                </c:pt>
                <c:pt idx="2">
                  <c:v>13.87</c:v>
                </c:pt>
                <c:pt idx="3">
                  <c:v>13.51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FF1D-449F-835B-98E82FD5A4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Revenue from tourists H1 (Billion 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42.6</c:v>
                </c:pt>
                <c:pt idx="1">
                  <c:v>48.2</c:v>
                </c:pt>
                <c:pt idx="2">
                  <c:v>57.2</c:v>
                </c:pt>
                <c:pt idx="3">
                  <c:v>56.8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F412-4FB2-AA34-025BA661BE9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105.3</c:v>
                </c:pt>
                <c:pt idx="1">
                  <c:v>126.6</c:v>
                </c:pt>
                <c:pt idx="2">
                  <c:v>118.5</c:v>
                </c:pt>
                <c:pt idx="3">
                  <c:v>113.3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F412-4FB2-AA34-025BA661BE9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147.9</c:v>
                </c:pt>
                <c:pt idx="1">
                  <c:v>174.8</c:v>
                </c:pt>
                <c:pt idx="2">
                  <c:v>175.8</c:v>
                </c:pt>
                <c:pt idx="3">
                  <c:v>170.2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F412-4FB2-AA34-025BA661BE9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79.099999999999994</c:v>
                </c:pt>
                <c:pt idx="1">
                  <c:v>73.8</c:v>
                </c:pt>
                <c:pt idx="2">
                  <c:v>68.8</c:v>
                </c:pt>
                <c:pt idx="3">
                  <c:v>63.9</c:v>
                </c:pt>
                <c:pt idx="4">
                  <c:v>58.7</c:v>
                </c:pt>
                <c:pt idx="5">
                  <c:v>54.5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303-418E-A737-F48065E28C6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74.3</c:v>
                </c:pt>
                <c:pt idx="1">
                  <c:v>74.599999999999994</c:v>
                </c:pt>
                <c:pt idx="2">
                  <c:v>69.400000000000006</c:v>
                </c:pt>
                <c:pt idx="3">
                  <c:v>63.8</c:v>
                </c:pt>
                <c:pt idx="4">
                  <c:v>53.6</c:v>
                </c:pt>
                <c:pt idx="5">
                  <c:v>51.4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303-418E-A737-F48065E28C6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3970.74</c:v>
                </c:pt>
                <c:pt idx="1">
                  <c:v>3554.74</c:v>
                </c:pt>
                <c:pt idx="2">
                  <c:v>3320.1</c:v>
                </c:pt>
                <c:pt idx="3">
                  <c:v>3524.93</c:v>
                </c:pt>
                <c:pt idx="4">
                  <c:v>3254.5</c:v>
                </c:pt>
                <c:pt idx="5">
                  <c:v>3006.11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C41-430F-BD89-9F4BEDFC74D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3733</c:v>
                </c:pt>
                <c:pt idx="1">
                  <c:v>3932</c:v>
                </c:pt>
                <c:pt idx="2">
                  <c:v>3341</c:v>
                </c:pt>
                <c:pt idx="3">
                  <c:v>3510</c:v>
                </c:pt>
                <c:pt idx="4">
                  <c:v>3115</c:v>
                </c:pt>
                <c:pt idx="5">
                  <c:v>2921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C41-430F-BD89-9F4BEDFC74D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3140.86</c:v>
                </c:pt>
                <c:pt idx="1">
                  <c:v>2623.4</c:v>
                </c:pt>
                <c:pt idx="2">
                  <c:v>2284.23</c:v>
                </c:pt>
                <c:pt idx="3">
                  <c:v>2252.4299999999998</c:v>
                </c:pt>
                <c:pt idx="4">
                  <c:v>1910.39</c:v>
                </c:pt>
                <c:pt idx="5">
                  <c:v>1638.33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39-41ED-BD4C-46D14D4EF95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2773.62</c:v>
                </c:pt>
                <c:pt idx="1">
                  <c:v>2933.27</c:v>
                </c:pt>
                <c:pt idx="2">
                  <c:v>2318.65</c:v>
                </c:pt>
                <c:pt idx="3">
                  <c:v>2239.38</c:v>
                </c:pt>
                <c:pt idx="4">
                  <c:v>1669.64</c:v>
                </c:pt>
                <c:pt idx="5">
                  <c:v>1501.39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39-41ED-BD4C-46D14D4EF95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2730.61</c:v>
                </c:pt>
                <c:pt idx="1">
                  <c:v>2981.88</c:v>
                </c:pt>
                <c:pt idx="2">
                  <c:v>2265.4699999999998</c:v>
                </c:pt>
                <c:pt idx="3">
                  <c:v>2090.5500000000002</c:v>
                </c:pt>
                <c:pt idx="4">
                  <c:v>1841.55</c:v>
                </c:pt>
                <c:pt idx="5">
                  <c:v>1856.88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2832.89</c:v>
                </c:pt>
                <c:pt idx="1">
                  <c:v>2930.13</c:v>
                </c:pt>
                <c:pt idx="2">
                  <c:v>2196.21</c:v>
                </c:pt>
                <c:pt idx="3">
                  <c:v>2340.37</c:v>
                </c:pt>
                <c:pt idx="4">
                  <c:v>2058</c:v>
                </c:pt>
                <c:pt idx="5">
                  <c:v>2015.7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938-4BD0-9BC4-1779E1420A4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3058.29</c:v>
                </c:pt>
                <c:pt idx="1">
                  <c:v>2793.16</c:v>
                </c:pt>
                <c:pt idx="2">
                  <c:v>2045.25</c:v>
                </c:pt>
                <c:pt idx="3">
                  <c:v>2130.85</c:v>
                </c:pt>
                <c:pt idx="4">
                  <c:v>1956.25</c:v>
                </c:pt>
                <c:pt idx="5">
                  <c:v>1852.03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938-4BD0-9BC4-1779E1420A4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2549.8200000000002</c:v>
                </c:pt>
                <c:pt idx="1">
                  <c:v>3094.06</c:v>
                </c:pt>
                <c:pt idx="2">
                  <c:v>2490.73</c:v>
                </c:pt>
                <c:pt idx="3">
                  <c:v>2681.05</c:v>
                </c:pt>
                <c:pt idx="4">
                  <c:v>2184.6999999999998</c:v>
                </c:pt>
                <c:pt idx="5">
                  <c:v>2497.0700000000002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111475897.26000001</c:v>
                </c:pt>
                <c:pt idx="1">
                  <c:v>126112350.23999999</c:v>
                </c:pt>
                <c:pt idx="2">
                  <c:v>109777270.98000002</c:v>
                </c:pt>
                <c:pt idx="3">
                  <c:v>113258166.72999999</c:v>
                </c:pt>
                <c:pt idx="4">
                  <c:v>96284030.989999995</c:v>
                </c:pt>
                <c:pt idx="5">
                  <c:v>106385076.2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736-4905-8B7A-7A386F3F912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133807592.83000001</c:v>
                </c:pt>
                <c:pt idx="1">
                  <c:v>110119287.81999999</c:v>
                </c:pt>
                <c:pt idx="2">
                  <c:v>89952687.949999988</c:v>
                </c:pt>
                <c:pt idx="3">
                  <c:v>91434840.560000002</c:v>
                </c:pt>
                <c:pt idx="4">
                  <c:v>85699029.230000004</c:v>
                </c:pt>
                <c:pt idx="5">
                  <c:v>79340898.109999999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736-4905-8B7A-7A386F3F912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118442088.12</c:v>
                </c:pt>
                <c:pt idx="1">
                  <c:v>116700026.86</c:v>
                </c:pt>
                <c:pt idx="2">
                  <c:v>99275487.290000007</c:v>
                </c:pt>
                <c:pt idx="3">
                  <c:v>88366637.049999997</c:v>
                </c:pt>
                <c:pt idx="4">
                  <c:v>80532064.560000002</c:v>
                </c:pt>
                <c:pt idx="5">
                  <c:v>78588276.849999994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736-4905-8B7A-7A386F3F912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2584.46</c:v>
                </c:pt>
                <c:pt idx="1">
                  <c:v>2840.81</c:v>
                </c:pt>
                <c:pt idx="2">
                  <c:v>2283.83</c:v>
                </c:pt>
                <c:pt idx="3">
                  <c:v>2267.7399999999998</c:v>
                </c:pt>
                <c:pt idx="4">
                  <c:v>2029.21</c:v>
                </c:pt>
                <c:pt idx="5">
                  <c:v>2045.21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2875.9054000000001</c:v>
                </c:pt>
                <c:pt idx="1">
                  <c:v>2698.8366000000001</c:v>
                </c:pt>
                <c:pt idx="2">
                  <c:v>2275.9744999999998</c:v>
                </c:pt>
                <c:pt idx="3">
                  <c:v>2218.3143</c:v>
                </c:pt>
                <c:pt idx="4">
                  <c:v>2087.6923000000002</c:v>
                </c:pt>
                <c:pt idx="5">
                  <c:v>2076.6554000000001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863-4432-BC37-0F1FC74515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2830.4776999999999</c:v>
                </c:pt>
                <c:pt idx="1">
                  <c:v>2684.1437999999998</c:v>
                </c:pt>
                <c:pt idx="2">
                  <c:v>2204.3263000000002</c:v>
                </c:pt>
                <c:pt idx="3">
                  <c:v>2015.123</c:v>
                </c:pt>
                <c:pt idx="4">
                  <c:v>2070.1639</c:v>
                </c:pt>
                <c:pt idx="5">
                  <c:v>2045.5304000000001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4863-4432-BC37-0F1FC745151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2531.6268</c:v>
                </c:pt>
                <c:pt idx="1">
                  <c:v>3072.0153</c:v>
                </c:pt>
                <c:pt idx="2">
                  <c:v>2585.7296000000001</c:v>
                </c:pt>
                <c:pt idx="3">
                  <c:v>2663.5610000000001</c:v>
                </c:pt>
                <c:pt idx="4">
                  <c:v>2544.7352999999998</c:v>
                </c:pt>
                <c:pt idx="5">
                  <c:v>2399.04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30611</c:v>
                </c:pt>
                <c:pt idx="1">
                  <c:v>6536</c:v>
                </c:pt>
                <c:pt idx="2">
                  <c:v>3044</c:v>
                </c:pt>
                <c:pt idx="3">
                  <c:v>1455</c:v>
                </c:pt>
                <c:pt idx="4">
                  <c:v>2679</c:v>
                </c:pt>
                <c:pt idx="5">
                  <c:v>2486</c:v>
                </c:pt>
                <c:pt idx="6">
                  <c:v>2017</c:v>
                </c:pt>
                <c:pt idx="7">
                  <c:v>2863</c:v>
                </c:pt>
                <c:pt idx="8">
                  <c:v>1120</c:v>
                </c:pt>
                <c:pt idx="9">
                  <c:v>1034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49D-44A8-8B79-278AE8A3A4D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32403</c:v>
                </c:pt>
                <c:pt idx="1">
                  <c:v>5882</c:v>
                </c:pt>
                <c:pt idx="2">
                  <c:v>3806</c:v>
                </c:pt>
                <c:pt idx="3">
                  <c:v>2674</c:v>
                </c:pt>
                <c:pt idx="4">
                  <c:v>2635</c:v>
                </c:pt>
                <c:pt idx="5">
                  <c:v>2247</c:v>
                </c:pt>
                <c:pt idx="6">
                  <c:v>2169</c:v>
                </c:pt>
                <c:pt idx="7">
                  <c:v>2106</c:v>
                </c:pt>
                <c:pt idx="8">
                  <c:v>1273</c:v>
                </c:pt>
                <c:pt idx="9">
                  <c:v>1032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49D-44A8-8B79-278AE8A3A4D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1270</c:v>
                </c:pt>
                <c:pt idx="1">
                  <c:v>1549</c:v>
                </c:pt>
                <c:pt idx="2">
                  <c:v>1849</c:v>
                </c:pt>
                <c:pt idx="3">
                  <c:v>1541</c:v>
                </c:pt>
                <c:pt idx="4">
                  <c:v>1597</c:v>
                </c:pt>
                <c:pt idx="5">
                  <c:v>1484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541-448A-AF96-C51AE27DD68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1416</c:v>
                </c:pt>
                <c:pt idx="1">
                  <c:v>1303</c:v>
                </c:pt>
                <c:pt idx="2">
                  <c:v>1323</c:v>
                </c:pt>
                <c:pt idx="3">
                  <c:v>1437</c:v>
                </c:pt>
                <c:pt idx="4">
                  <c:v>1936</c:v>
                </c:pt>
                <c:pt idx="5">
                  <c:v>2208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541-448A-AF96-C51AE27DD68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5457</c:v>
                </c:pt>
                <c:pt idx="1">
                  <c:v>4414</c:v>
                </c:pt>
                <c:pt idx="2">
                  <c:v>4854</c:v>
                </c:pt>
                <c:pt idx="3">
                  <c:v>4174</c:v>
                </c:pt>
                <c:pt idx="4">
                  <c:v>4085</c:v>
                </c:pt>
                <c:pt idx="5">
                  <c:v>4517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541-448A-AF96-C51AE27DD68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837</c:v>
                </c:pt>
                <c:pt idx="1">
                  <c:v>958</c:v>
                </c:pt>
                <c:pt idx="2">
                  <c:v>972</c:v>
                </c:pt>
                <c:pt idx="3">
                  <c:v>1070</c:v>
                </c:pt>
                <c:pt idx="4">
                  <c:v>1123</c:v>
                </c:pt>
                <c:pt idx="5">
                  <c:v>876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541-448A-AF96-C51AE27DD68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1828</c:v>
                </c:pt>
                <c:pt idx="1">
                  <c:v>2664</c:v>
                </c:pt>
                <c:pt idx="2">
                  <c:v>1360</c:v>
                </c:pt>
                <c:pt idx="3">
                  <c:v>1531</c:v>
                </c:pt>
                <c:pt idx="4">
                  <c:v>851</c:v>
                </c:pt>
                <c:pt idx="5">
                  <c:v>802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C541-448A-AF96-C51AE27DD689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Group Corp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338</c:v>
                </c:pt>
                <c:pt idx="1">
                  <c:v>69</c:v>
                </c:pt>
                <c:pt idx="2">
                  <c:v>252</c:v>
                </c:pt>
                <c:pt idx="3">
                  <c:v>73</c:v>
                </c:pt>
                <c:pt idx="4">
                  <c:v>41</c:v>
                </c:pt>
                <c:pt idx="5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C541-448A-AF96-C51AE27DD689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Group Leisure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426</c:v>
                </c:pt>
                <c:pt idx="1">
                  <c:v>105</c:v>
                </c:pt>
                <c:pt idx="2">
                  <c:v>188</c:v>
                </c:pt>
                <c:pt idx="3">
                  <c:v>294</c:v>
                </c:pt>
                <c:pt idx="4">
                  <c:v>373</c:v>
                </c:pt>
                <c:pt idx="5">
                  <c:v>133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541-448A-AF96-C51AE27DD689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Group Series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526</c:v>
                </c:pt>
                <c:pt idx="1">
                  <c:v>213</c:v>
                </c:pt>
                <c:pt idx="2">
                  <c:v>207</c:v>
                </c:pt>
                <c:pt idx="3">
                  <c:v>90</c:v>
                </c:pt>
                <c:pt idx="4">
                  <c:v>332</c:v>
                </c:pt>
                <c:pt idx="5">
                  <c:v>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C541-448A-AF96-C51AE27DD689}"/>
            </c:ext>
          </c:extLst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8FA35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Sheet1!$J$2:$J$7</c:f>
              <c:numCache>
                <c:formatCode>General</c:formatCode>
                <c:ptCount val="6"/>
                <c:pt idx="0">
                  <c:v>1</c:v>
                </c:pt>
                <c:pt idx="1">
                  <c:v>0</c:v>
                </c:pt>
                <c:pt idx="2">
                  <c:v>25</c:v>
                </c:pt>
                <c:pt idx="3">
                  <c:v>0</c:v>
                </c:pt>
                <c:pt idx="4">
                  <c:v>4</c:v>
                </c:pt>
                <c:pt idx="5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541-448A-AF96-C51AE27DD689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(65,175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E50D-4561-8741-147DBC9FE6C0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E50D-4561-8741-147DBC9FE6C0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E50D-4561-8741-147DBC9FE6C0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E50D-4561-8741-147DBC9FE6C0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E50D-4561-8741-147DBC9FE6C0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E50D-4561-8741-147DBC9FE6C0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E50D-4561-8741-147DBC9FE6C0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E50D-4561-8741-147DBC9FE6C0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E50D-4561-8741-147DBC9FE6C0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E50D-4561-8741-147DBC9FE6C0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E50D-4561-8741-147DBC9FE6C0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E50D-4561-8741-147DBC9FE6C0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E50D-4561-8741-147DBC9FE6C0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E50D-4561-8741-147DBC9FE6C0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E50D-4561-8741-147DBC9FE6C0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E50D-4561-8741-147DBC9FE6C0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E50D-4561-8741-147DBC9FE6C0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E50D-4561-8741-147DBC9FE6C0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Sheet1!$A$2:$A$10</c:f>
              <c:strCache>
                <c:ptCount val="9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Group Corp</c:v>
                </c:pt>
                <c:pt idx="6">
                  <c:v>Group Leisure</c:v>
                </c:pt>
                <c:pt idx="7">
                  <c:v>Group Series</c:v>
                </c:pt>
                <c:pt idx="8">
                  <c:v>Employee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9290</c:v>
                </c:pt>
                <c:pt idx="1">
                  <c:v>9623</c:v>
                </c:pt>
                <c:pt idx="2">
                  <c:v>27501</c:v>
                </c:pt>
                <c:pt idx="3">
                  <c:v>5836</c:v>
                </c:pt>
                <c:pt idx="4">
                  <c:v>9036</c:v>
                </c:pt>
                <c:pt idx="5">
                  <c:v>873</c:v>
                </c:pt>
                <c:pt idx="6">
                  <c:v>1519</c:v>
                </c:pt>
                <c:pt idx="7">
                  <c:v>1463</c:v>
                </c:pt>
                <c:pt idx="8">
                  <c:v>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2-E50D-4561-8741-147DBC9FE6C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36808084.990000002</c:v>
                </c:pt>
                <c:pt idx="1">
                  <c:v>41472163.590000004</c:v>
                </c:pt>
                <c:pt idx="2">
                  <c:v>37684641.259999998</c:v>
                </c:pt>
                <c:pt idx="3">
                  <c:v>37448282.219999999</c:v>
                </c:pt>
                <c:pt idx="4">
                  <c:v>37081120.259999998</c:v>
                </c:pt>
                <c:pt idx="5">
                  <c:v>33416187.350000001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0AB-4477-975D-449E7DD3F03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40471406.759999998</c:v>
                </c:pt>
                <c:pt idx="1">
                  <c:v>35097386</c:v>
                </c:pt>
                <c:pt idx="2">
                  <c:v>31885906.359999999</c:v>
                </c:pt>
                <c:pt idx="3">
                  <c:v>28944481.789999999</c:v>
                </c:pt>
                <c:pt idx="4">
                  <c:v>29907879.420000002</c:v>
                </c:pt>
                <c:pt idx="5">
                  <c:v>28869835.91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0AB-4477-975D-449E7DD3F03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36981091.140000001</c:v>
                </c:pt>
                <c:pt idx="1">
                  <c:v>36798669.049999997</c:v>
                </c:pt>
                <c:pt idx="2">
                  <c:v>33026703.75</c:v>
                </c:pt>
                <c:pt idx="3">
                  <c:v>31830715.75</c:v>
                </c:pt>
                <c:pt idx="4">
                  <c:v>29125527.620000001</c:v>
                </c:pt>
                <c:pt idx="5">
                  <c:v>28515831.960000001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0AB-4477-975D-449E7DD3F03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2846.76</c:v>
                </c:pt>
                <c:pt idx="1">
                  <c:v>3468.5</c:v>
                </c:pt>
                <c:pt idx="2">
                  <c:v>2447.06</c:v>
                </c:pt>
                <c:pt idx="3">
                  <c:v>2181.63</c:v>
                </c:pt>
                <c:pt idx="4">
                  <c:v>1861.3</c:v>
                </c:pt>
                <c:pt idx="5">
                  <c:v>1993.88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2955.1113</c:v>
                </c:pt>
                <c:pt idx="1">
                  <c:v>3156.7793999999999</c:v>
                </c:pt>
                <c:pt idx="2">
                  <c:v>2298.422</c:v>
                </c:pt>
                <c:pt idx="3">
                  <c:v>2608.8519999999999</c:v>
                </c:pt>
                <c:pt idx="4">
                  <c:v>2312.0012000000002</c:v>
                </c:pt>
                <c:pt idx="5">
                  <c:v>2374.5527000000002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211-4356-9605-8536186A880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3408.1212</c:v>
                </c:pt>
                <c:pt idx="1">
                  <c:v>3007.4331999999999</c:v>
                </c:pt>
                <c:pt idx="2">
                  <c:v>2031.3738000000001</c:v>
                </c:pt>
                <c:pt idx="3">
                  <c:v>2352.3757000000001</c:v>
                </c:pt>
                <c:pt idx="4">
                  <c:v>2192.6749</c:v>
                </c:pt>
                <c:pt idx="5">
                  <c:v>2097.2766000000001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8211-4356-9605-8536186A880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2950.6957000000002</c:v>
                </c:pt>
                <c:pt idx="1">
                  <c:v>3749.3217</c:v>
                </c:pt>
                <c:pt idx="2">
                  <c:v>2842.5663</c:v>
                </c:pt>
                <c:pt idx="3">
                  <c:v>3095.3478</c:v>
                </c:pt>
                <c:pt idx="4">
                  <c:v>2257.2103000000002</c:v>
                </c:pt>
                <c:pt idx="5">
                  <c:v>3085.8020000000001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16921</c:v>
                </c:pt>
                <c:pt idx="1">
                  <c:v>2723</c:v>
                </c:pt>
                <c:pt idx="2">
                  <c:v>0</c:v>
                </c:pt>
                <c:pt idx="3">
                  <c:v>2263</c:v>
                </c:pt>
                <c:pt idx="4">
                  <c:v>2078</c:v>
                </c:pt>
                <c:pt idx="5">
                  <c:v>1524</c:v>
                </c:pt>
                <c:pt idx="6">
                  <c:v>1536</c:v>
                </c:pt>
                <c:pt idx="7">
                  <c:v>0</c:v>
                </c:pt>
                <c:pt idx="8">
                  <c:v>2214</c:v>
                </c:pt>
                <c:pt idx="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2BB-42D3-8C5E-0E2C8B63539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18613</c:v>
                </c:pt>
                <c:pt idx="1">
                  <c:v>3600</c:v>
                </c:pt>
                <c:pt idx="2">
                  <c:v>2922</c:v>
                </c:pt>
                <c:pt idx="3">
                  <c:v>1934</c:v>
                </c:pt>
                <c:pt idx="4">
                  <c:v>1818</c:v>
                </c:pt>
                <c:pt idx="5">
                  <c:v>1625</c:v>
                </c:pt>
                <c:pt idx="6">
                  <c:v>1526</c:v>
                </c:pt>
                <c:pt idx="7">
                  <c:v>1385</c:v>
                </c:pt>
                <c:pt idx="8">
                  <c:v>1304</c:v>
                </c:pt>
                <c:pt idx="9">
                  <c:v>1216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2BB-42D3-8C5E-0E2C8B63539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979</c:v>
                </c:pt>
                <c:pt idx="1">
                  <c:v>907</c:v>
                </c:pt>
                <c:pt idx="2">
                  <c:v>1236</c:v>
                </c:pt>
                <c:pt idx="3">
                  <c:v>545</c:v>
                </c:pt>
                <c:pt idx="4">
                  <c:v>768</c:v>
                </c:pt>
                <c:pt idx="5">
                  <c:v>752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FAD-4E93-B94C-848C271419B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2388</c:v>
                </c:pt>
                <c:pt idx="1">
                  <c:v>2430</c:v>
                </c:pt>
                <c:pt idx="2">
                  <c:v>2676</c:v>
                </c:pt>
                <c:pt idx="3">
                  <c:v>1683</c:v>
                </c:pt>
                <c:pt idx="4">
                  <c:v>2075</c:v>
                </c:pt>
                <c:pt idx="5">
                  <c:v>1844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FAD-4E93-B94C-848C271419B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3257</c:v>
                </c:pt>
                <c:pt idx="1">
                  <c:v>3910</c:v>
                </c:pt>
                <c:pt idx="2">
                  <c:v>2690</c:v>
                </c:pt>
                <c:pt idx="3">
                  <c:v>2876</c:v>
                </c:pt>
                <c:pt idx="4">
                  <c:v>2049</c:v>
                </c:pt>
                <c:pt idx="5">
                  <c:v>2146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FAD-4E93-B94C-848C271419B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756</c:v>
                </c:pt>
                <c:pt idx="1">
                  <c:v>720</c:v>
                </c:pt>
                <c:pt idx="2">
                  <c:v>578</c:v>
                </c:pt>
                <c:pt idx="3">
                  <c:v>769</c:v>
                </c:pt>
                <c:pt idx="4">
                  <c:v>752</c:v>
                </c:pt>
                <c:pt idx="5">
                  <c:v>961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FAD-4E93-B94C-848C271419B6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1479</c:v>
                </c:pt>
                <c:pt idx="1">
                  <c:v>2041</c:v>
                </c:pt>
                <c:pt idx="2">
                  <c:v>1382</c:v>
                </c:pt>
                <c:pt idx="3">
                  <c:v>711</c:v>
                </c:pt>
                <c:pt idx="4">
                  <c:v>1203</c:v>
                </c:pt>
                <c:pt idx="5">
                  <c:v>1315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FAD-4E93-B94C-848C271419B6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294</c:v>
                </c:pt>
                <c:pt idx="1">
                  <c:v>126</c:v>
                </c:pt>
                <c:pt idx="2">
                  <c:v>502</c:v>
                </c:pt>
                <c:pt idx="3">
                  <c:v>941</c:v>
                </c:pt>
                <c:pt idx="4">
                  <c:v>193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BFAD-4E93-B94C-848C271419B6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33</c:v>
                </c:pt>
                <c:pt idx="1">
                  <c:v>30</c:v>
                </c:pt>
                <c:pt idx="2">
                  <c:v>17</c:v>
                </c:pt>
                <c:pt idx="3">
                  <c:v>23</c:v>
                </c:pt>
                <c:pt idx="4">
                  <c:v>46</c:v>
                </c:pt>
                <c:pt idx="5">
                  <c:v>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FAD-4E93-B94C-848C271419B6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(50,123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1279-4F19-93D3-ED11D50173E7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1279-4F19-93D3-ED11D50173E7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1279-4F19-93D3-ED11D50173E7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1279-4F19-93D3-ED11D50173E7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1279-4F19-93D3-ED11D50173E7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1279-4F19-93D3-ED11D50173E7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1279-4F19-93D3-ED11D50173E7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1279-4F19-93D3-ED11D50173E7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279-4F19-93D3-ED11D50173E7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279-4F19-93D3-ED11D50173E7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279-4F19-93D3-ED11D50173E7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1279-4F19-93D3-ED11D50173E7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1279-4F19-93D3-ED11D50173E7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1279-4F19-93D3-ED11D50173E7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5187</c:v>
                </c:pt>
                <c:pt idx="1">
                  <c:v>13096</c:v>
                </c:pt>
                <c:pt idx="2">
                  <c:v>16928</c:v>
                </c:pt>
                <c:pt idx="3">
                  <c:v>4536</c:v>
                </c:pt>
                <c:pt idx="4">
                  <c:v>8131</c:v>
                </c:pt>
                <c:pt idx="5">
                  <c:v>2056</c:v>
                </c:pt>
                <c:pt idx="6">
                  <c:v>189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1279-4F19-93D3-ED11D50173E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37080363.420000002</c:v>
                </c:pt>
                <c:pt idx="1">
                  <c:v>43940128.82</c:v>
                </c:pt>
                <c:pt idx="2">
                  <c:v>36407936.200000003</c:v>
                </c:pt>
                <c:pt idx="3">
                  <c:v>37521347.82</c:v>
                </c:pt>
                <c:pt idx="4">
                  <c:v>28302837.649999999</c:v>
                </c:pt>
                <c:pt idx="5">
                  <c:v>37484972.880000003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7B2-4478-A710-45370385096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42691294.950000003</c:v>
                </c:pt>
                <c:pt idx="1">
                  <c:v>34251573.439999998</c:v>
                </c:pt>
                <c:pt idx="2">
                  <c:v>25843470.18</c:v>
                </c:pt>
                <c:pt idx="3">
                  <c:v>29043750.920000002</c:v>
                </c:pt>
                <c:pt idx="4">
                  <c:v>27716956.989999998</c:v>
                </c:pt>
                <c:pt idx="5">
                  <c:v>25848762.559999999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7B2-4478-A710-45370385096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35431726.369999997</c:v>
                </c:pt>
                <c:pt idx="1">
                  <c:v>38907552.450000003</c:v>
                </c:pt>
                <c:pt idx="2">
                  <c:v>30984315.649999999</c:v>
                </c:pt>
                <c:pt idx="3">
                  <c:v>26245238.559999999</c:v>
                </c:pt>
                <c:pt idx="4">
                  <c:v>23379075.129999999</c:v>
                </c:pt>
                <c:pt idx="5">
                  <c:v>24286103.100000001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7B2-4478-A710-45370385096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1461.17</c:v>
                </c:pt>
                <c:pt idx="1">
                  <c:v>1500.13</c:v>
                </c:pt>
                <c:pt idx="2">
                  <c:v>1132.05</c:v>
                </c:pt>
                <c:pt idx="3">
                  <c:v>731.09</c:v>
                </c:pt>
                <c:pt idx="4">
                  <c:v>878.94</c:v>
                </c:pt>
                <c:pt idx="5">
                  <c:v>755.55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1526.8151</c:v>
                </c:pt>
                <c:pt idx="1">
                  <c:v>1630.5147999999999</c:v>
                </c:pt>
                <c:pt idx="2">
                  <c:v>1103.7076</c:v>
                </c:pt>
                <c:pt idx="3">
                  <c:v>1152.0808</c:v>
                </c:pt>
                <c:pt idx="4">
                  <c:v>1024.3922</c:v>
                </c:pt>
                <c:pt idx="5">
                  <c:v>975.58159999999998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C1A-4E1D-9FCD-0CD06040DE7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1587.0329999999999</c:v>
                </c:pt>
                <c:pt idx="1">
                  <c:v>1457.7360000000001</c:v>
                </c:pt>
                <c:pt idx="2">
                  <c:v>1049.8834999999999</c:v>
                </c:pt>
                <c:pt idx="3">
                  <c:v>1022.25</c:v>
                </c:pt>
                <c:pt idx="4">
                  <c:v>912.91200000000003</c:v>
                </c:pt>
                <c:pt idx="5">
                  <c:v>843.70489999999995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FC1A-4E1D-9FCD-0CD06040DE7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1011.4803000000001</c:v>
                </c:pt>
                <c:pt idx="1">
                  <c:v>1267.7425000000001</c:v>
                </c:pt>
                <c:pt idx="2">
                  <c:v>966.12109999999996</c:v>
                </c:pt>
                <c:pt idx="3">
                  <c:v>938.71799999999996</c:v>
                </c:pt>
                <c:pt idx="4">
                  <c:v>762.88589999999999</c:v>
                </c:pt>
                <c:pt idx="5">
                  <c:v>1017.228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4642</c:v>
                </c:pt>
                <c:pt idx="1">
                  <c:v>1017</c:v>
                </c:pt>
                <c:pt idx="2">
                  <c:v>2762</c:v>
                </c:pt>
                <c:pt idx="3">
                  <c:v>2138</c:v>
                </c:pt>
                <c:pt idx="4">
                  <c:v>1200</c:v>
                </c:pt>
                <c:pt idx="5">
                  <c:v>1873</c:v>
                </c:pt>
                <c:pt idx="6">
                  <c:v>1999</c:v>
                </c:pt>
                <c:pt idx="7">
                  <c:v>926</c:v>
                </c:pt>
                <c:pt idx="8">
                  <c:v>1201</c:v>
                </c:pt>
                <c:pt idx="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F42-44CF-BE94-3540394E7CC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5954</c:v>
                </c:pt>
                <c:pt idx="1">
                  <c:v>3034</c:v>
                </c:pt>
                <c:pt idx="2">
                  <c:v>2336</c:v>
                </c:pt>
                <c:pt idx="3">
                  <c:v>2120</c:v>
                </c:pt>
                <c:pt idx="4">
                  <c:v>1524</c:v>
                </c:pt>
                <c:pt idx="5">
                  <c:v>1463</c:v>
                </c:pt>
                <c:pt idx="6">
                  <c:v>1440</c:v>
                </c:pt>
                <c:pt idx="7">
                  <c:v>1038</c:v>
                </c:pt>
                <c:pt idx="8">
                  <c:v>809</c:v>
                </c:pt>
                <c:pt idx="9">
                  <c:v>741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F42-44CF-BE94-3540394E7CC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102</c:v>
                </c:pt>
                <c:pt idx="1">
                  <c:v>158</c:v>
                </c:pt>
                <c:pt idx="2">
                  <c:v>203</c:v>
                </c:pt>
                <c:pt idx="3">
                  <c:v>194</c:v>
                </c:pt>
                <c:pt idx="4">
                  <c:v>176</c:v>
                </c:pt>
                <c:pt idx="5">
                  <c:v>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DE4-4447-8389-11EEF250562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31</c:v>
                </c:pt>
                <c:pt idx="1">
                  <c:v>28</c:v>
                </c:pt>
                <c:pt idx="2">
                  <c:v>31</c:v>
                </c:pt>
                <c:pt idx="3">
                  <c:v>30</c:v>
                </c:pt>
                <c:pt idx="4">
                  <c:v>31</c:v>
                </c:pt>
                <c:pt idx="5">
                  <c:v>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DE4-4447-8389-11EEF250562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3853</c:v>
                </c:pt>
                <c:pt idx="1">
                  <c:v>3409</c:v>
                </c:pt>
                <c:pt idx="2">
                  <c:v>4095</c:v>
                </c:pt>
                <c:pt idx="3">
                  <c:v>1641</c:v>
                </c:pt>
                <c:pt idx="4">
                  <c:v>2723</c:v>
                </c:pt>
                <c:pt idx="5">
                  <c:v>2549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DE4-4447-8389-11EEF250562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610</c:v>
                </c:pt>
                <c:pt idx="1">
                  <c:v>559</c:v>
                </c:pt>
                <c:pt idx="2">
                  <c:v>438</c:v>
                </c:pt>
                <c:pt idx="3">
                  <c:v>394</c:v>
                </c:pt>
                <c:pt idx="4">
                  <c:v>622</c:v>
                </c:pt>
                <c:pt idx="5">
                  <c:v>614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DE4-4447-8389-11EEF2505625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1024</c:v>
                </c:pt>
                <c:pt idx="1">
                  <c:v>1021</c:v>
                </c:pt>
                <c:pt idx="2">
                  <c:v>558</c:v>
                </c:pt>
                <c:pt idx="3">
                  <c:v>689</c:v>
                </c:pt>
                <c:pt idx="4">
                  <c:v>874</c:v>
                </c:pt>
                <c:pt idx="5">
                  <c:v>799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DE4-4447-8389-11EEF2505625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43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DE4-4447-8389-11EEF2505625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19</c:v>
                </c:pt>
                <c:pt idx="1">
                  <c:v>17</c:v>
                </c:pt>
                <c:pt idx="2">
                  <c:v>11</c:v>
                </c:pt>
                <c:pt idx="3">
                  <c:v>17</c:v>
                </c:pt>
                <c:pt idx="4">
                  <c:v>25</c:v>
                </c:pt>
                <c:pt idx="5">
                  <c:v>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DE4-4447-8389-11EEF2505625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(27,714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7462-47FD-9E01-464BE07F3DBD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7462-47FD-9E01-464BE07F3DBD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7462-47FD-9E01-464BE07F3DBD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7462-47FD-9E01-464BE07F3DBD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7462-47FD-9E01-464BE07F3DBD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7462-47FD-9E01-464BE07F3DBD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7462-47FD-9E01-464BE07F3DBD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7462-47FD-9E01-464BE07F3DBD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7462-47FD-9E01-464BE07F3DBD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7462-47FD-9E01-464BE07F3DBD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7462-47FD-9E01-464BE07F3DBD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7462-47FD-9E01-464BE07F3DBD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7462-47FD-9E01-464BE07F3DBD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7462-47FD-9E01-464BE07F3DBD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900</c:v>
                </c:pt>
                <c:pt idx="1">
                  <c:v>181</c:v>
                </c:pt>
                <c:pt idx="2">
                  <c:v>18270</c:v>
                </c:pt>
                <c:pt idx="3">
                  <c:v>3237</c:v>
                </c:pt>
                <c:pt idx="4">
                  <c:v>4965</c:v>
                </c:pt>
                <c:pt idx="5">
                  <c:v>43</c:v>
                </c:pt>
                <c:pt idx="6">
                  <c:v>118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7462-47FD-9E01-464BE07F3DB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6277584.4800000004</c:v>
                </c:pt>
                <c:pt idx="1">
                  <c:v>7331522.8399999999</c:v>
                </c:pt>
                <c:pt idx="2">
                  <c:v>6018438.3700000001</c:v>
                </c:pt>
                <c:pt idx="3">
                  <c:v>5676589.5700000003</c:v>
                </c:pt>
                <c:pt idx="4">
                  <c:v>4792394.21</c:v>
                </c:pt>
                <c:pt idx="5">
                  <c:v>6131005.75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8A9-4199-B237-407A0327171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10057547.08</c:v>
                </c:pt>
                <c:pt idx="1">
                  <c:v>8360412.3399999999</c:v>
                </c:pt>
                <c:pt idx="2">
                  <c:v>6748527.7300000004</c:v>
                </c:pt>
                <c:pt idx="3">
                  <c:v>6301518.4400000004</c:v>
                </c:pt>
                <c:pt idx="4">
                  <c:v>5674281.3799999999</c:v>
                </c:pt>
                <c:pt idx="5">
                  <c:v>5270669.6500000004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8A9-4199-B237-407A0327171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9283927.7299999986</c:v>
                </c:pt>
                <c:pt idx="1">
                  <c:v>8589919.6899999995</c:v>
                </c:pt>
                <c:pt idx="2">
                  <c:v>7238468.9199999999</c:v>
                </c:pt>
                <c:pt idx="3">
                  <c:v>4493751.3</c:v>
                </c:pt>
                <c:pt idx="4">
                  <c:v>5625446.3199999994</c:v>
                </c:pt>
                <c:pt idx="5">
                  <c:v>4727539.0999999996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8A9-4199-B237-407A032717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3578.97</c:v>
                </c:pt>
                <c:pt idx="1">
                  <c:v>3506.15</c:v>
                </c:pt>
                <c:pt idx="2">
                  <c:v>2721.3</c:v>
                </c:pt>
                <c:pt idx="3">
                  <c:v>2574.4</c:v>
                </c:pt>
                <c:pt idx="4">
                  <c:v>2151.66</c:v>
                </c:pt>
                <c:pt idx="5">
                  <c:v>2109.96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3433.4403000000002</c:v>
                </c:pt>
                <c:pt idx="1">
                  <c:v>3782.0533</c:v>
                </c:pt>
                <c:pt idx="2">
                  <c:v>2637.0587</c:v>
                </c:pt>
                <c:pt idx="3">
                  <c:v>2920.6149</c:v>
                </c:pt>
                <c:pt idx="4">
                  <c:v>2348.8998000000001</c:v>
                </c:pt>
                <c:pt idx="5">
                  <c:v>2139.5412000000001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DC1-4A92-9335-F120C8A9FA8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3862.6219999999998</c:v>
                </c:pt>
                <c:pt idx="1">
                  <c:v>3511.806</c:v>
                </c:pt>
                <c:pt idx="2">
                  <c:v>2456.1851999999999</c:v>
                </c:pt>
                <c:pt idx="3">
                  <c:v>2709.7</c:v>
                </c:pt>
                <c:pt idx="4">
                  <c:v>2156.8049999999998</c:v>
                </c:pt>
                <c:pt idx="5">
                  <c:v>1908.9133999999999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DC1-4A92-9335-F120C8A9FA8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3041.8440000000001</c:v>
                </c:pt>
                <c:pt idx="1">
                  <c:v>3461.5645</c:v>
                </c:pt>
                <c:pt idx="2">
                  <c:v>2875.8485999999998</c:v>
                </c:pt>
                <c:pt idx="3">
                  <c:v>3281.7613000000001</c:v>
                </c:pt>
                <c:pt idx="4">
                  <c:v>2474.7379999999998</c:v>
                </c:pt>
                <c:pt idx="5">
                  <c:v>2836.62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9640</c:v>
                </c:pt>
                <c:pt idx="1">
                  <c:v>4218</c:v>
                </c:pt>
                <c:pt idx="2">
                  <c:v>2963</c:v>
                </c:pt>
                <c:pt idx="3">
                  <c:v>2509</c:v>
                </c:pt>
                <c:pt idx="4">
                  <c:v>3346</c:v>
                </c:pt>
                <c:pt idx="5">
                  <c:v>2030</c:v>
                </c:pt>
                <c:pt idx="6">
                  <c:v>2369</c:v>
                </c:pt>
                <c:pt idx="7">
                  <c:v>2040</c:v>
                </c:pt>
                <c:pt idx="8">
                  <c:v>1310</c:v>
                </c:pt>
                <c:pt idx="9">
                  <c:v>1663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019-4FA6-BB85-72F0C6910C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10445</c:v>
                </c:pt>
                <c:pt idx="1">
                  <c:v>3764</c:v>
                </c:pt>
                <c:pt idx="2">
                  <c:v>3622</c:v>
                </c:pt>
                <c:pt idx="3">
                  <c:v>3148</c:v>
                </c:pt>
                <c:pt idx="4">
                  <c:v>2381</c:v>
                </c:pt>
                <c:pt idx="5">
                  <c:v>2295</c:v>
                </c:pt>
                <c:pt idx="6">
                  <c:v>2175</c:v>
                </c:pt>
                <c:pt idx="7">
                  <c:v>1950</c:v>
                </c:pt>
                <c:pt idx="8">
                  <c:v>1882</c:v>
                </c:pt>
                <c:pt idx="9">
                  <c:v>1620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019-4FA6-BB85-72F0C6910C1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312</c:v>
                </c:pt>
                <c:pt idx="1">
                  <c:v>340</c:v>
                </c:pt>
                <c:pt idx="2">
                  <c:v>378</c:v>
                </c:pt>
                <c:pt idx="3">
                  <c:v>238</c:v>
                </c:pt>
                <c:pt idx="4">
                  <c:v>347</c:v>
                </c:pt>
                <c:pt idx="5">
                  <c:v>264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0BC-4A7C-A7C2-124556FE8FD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389</c:v>
                </c:pt>
                <c:pt idx="1">
                  <c:v>297</c:v>
                </c:pt>
                <c:pt idx="2">
                  <c:v>422</c:v>
                </c:pt>
                <c:pt idx="3">
                  <c:v>357</c:v>
                </c:pt>
                <c:pt idx="4">
                  <c:v>213</c:v>
                </c:pt>
                <c:pt idx="5">
                  <c:v>308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0BC-4A7C-A7C2-124556FE8FD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2725</c:v>
                </c:pt>
                <c:pt idx="1">
                  <c:v>2119</c:v>
                </c:pt>
                <c:pt idx="2">
                  <c:v>2427</c:v>
                </c:pt>
                <c:pt idx="3">
                  <c:v>1984</c:v>
                </c:pt>
                <c:pt idx="4">
                  <c:v>1791</c:v>
                </c:pt>
                <c:pt idx="5">
                  <c:v>1698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0BC-4A7C-A7C2-124556FE8FD2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1201</c:v>
                </c:pt>
                <c:pt idx="1">
                  <c:v>1116</c:v>
                </c:pt>
                <c:pt idx="2">
                  <c:v>1214</c:v>
                </c:pt>
                <c:pt idx="3">
                  <c:v>1002</c:v>
                </c:pt>
                <c:pt idx="4">
                  <c:v>938</c:v>
                </c:pt>
                <c:pt idx="5">
                  <c:v>955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D0BC-4A7C-A7C2-124556FE8FD2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4009</c:v>
                </c:pt>
                <c:pt idx="1">
                  <c:v>3483</c:v>
                </c:pt>
                <c:pt idx="2">
                  <c:v>2429</c:v>
                </c:pt>
                <c:pt idx="3">
                  <c:v>2948</c:v>
                </c:pt>
                <c:pt idx="4">
                  <c:v>2855</c:v>
                </c:pt>
                <c:pt idx="5">
                  <c:v>2281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D0BC-4A7C-A7C2-124556FE8FD2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Wholesale Grp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134</c:v>
                </c:pt>
                <c:pt idx="1">
                  <c:v>261</c:v>
                </c:pt>
                <c:pt idx="2">
                  <c:v>453</c:v>
                </c:pt>
                <c:pt idx="3">
                  <c:v>254</c:v>
                </c:pt>
                <c:pt idx="4">
                  <c:v>194</c:v>
                </c:pt>
                <c:pt idx="5">
                  <c:v>225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D0BC-4A7C-A7C2-124556FE8FD2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93</c:v>
                </c:pt>
                <c:pt idx="1">
                  <c:v>39</c:v>
                </c:pt>
                <c:pt idx="2">
                  <c:v>85</c:v>
                </c:pt>
                <c:pt idx="3">
                  <c:v>80</c:v>
                </c:pt>
                <c:pt idx="4">
                  <c:v>59</c:v>
                </c:pt>
                <c:pt idx="5">
                  <c:v>328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D0BC-4A7C-A7C2-124556FE8FD2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4</c:v>
                </c:pt>
                <c:pt idx="1">
                  <c:v>10</c:v>
                </c:pt>
                <c:pt idx="2">
                  <c:v>12</c:v>
                </c:pt>
                <c:pt idx="3">
                  <c:v>9</c:v>
                </c:pt>
                <c:pt idx="4">
                  <c:v>8</c:v>
                </c:pt>
                <c:pt idx="5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D0BC-4A7C-A7C2-124556FE8FD2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(43,294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00EF-4036-8714-587FF8B76019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0EF-4036-8714-587FF8B76019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00EF-4036-8714-587FF8B76019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00EF-4036-8714-587FF8B76019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00EF-4036-8714-587FF8B76019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00EF-4036-8714-587FF8B76019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00EF-4036-8714-587FF8B76019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00EF-4036-8714-587FF8B76019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00EF-4036-8714-587FF8B76019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00EF-4036-8714-587FF8B76019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00EF-4036-8714-587FF8B76019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00EF-4036-8714-587FF8B76019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00EF-4036-8714-587FF8B76019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00EF-4036-8714-587FF8B76019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00EF-4036-8714-587FF8B76019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00EF-4036-8714-587FF8B76019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Sheet1!$A$2:$A$9</c:f>
              <c:strCache>
                <c:ptCount val="8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Wholesale Grp</c:v>
                </c:pt>
                <c:pt idx="6">
                  <c:v>Corporate Group</c:v>
                </c:pt>
                <c:pt idx="7">
                  <c:v>Employee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1879</c:v>
                </c:pt>
                <c:pt idx="1">
                  <c:v>1986</c:v>
                </c:pt>
                <c:pt idx="2">
                  <c:v>12744</c:v>
                </c:pt>
                <c:pt idx="3">
                  <c:v>6426</c:v>
                </c:pt>
                <c:pt idx="4">
                  <c:v>18005</c:v>
                </c:pt>
                <c:pt idx="5">
                  <c:v>1521</c:v>
                </c:pt>
                <c:pt idx="6">
                  <c:v>684</c:v>
                </c:pt>
                <c:pt idx="7">
                  <c:v>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00EF-4036-8714-587FF8B7601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31309864.370000001</c:v>
                </c:pt>
                <c:pt idx="1">
                  <c:v>33368534.989999998</c:v>
                </c:pt>
                <c:pt idx="2">
                  <c:v>29666255.149999999</c:v>
                </c:pt>
                <c:pt idx="3">
                  <c:v>32611947.120000001</c:v>
                </c:pt>
                <c:pt idx="4">
                  <c:v>26107678.870000001</c:v>
                </c:pt>
                <c:pt idx="5">
                  <c:v>29352910.219999999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3D9-4435-95DF-9F1B1664A37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40587344.039999999</c:v>
                </c:pt>
                <c:pt idx="1">
                  <c:v>32409916.039999999</c:v>
                </c:pt>
                <c:pt idx="2">
                  <c:v>25474783.68</c:v>
                </c:pt>
                <c:pt idx="3">
                  <c:v>27145089.41</c:v>
                </c:pt>
                <c:pt idx="4">
                  <c:v>22399911.440000001</c:v>
                </c:pt>
                <c:pt idx="5">
                  <c:v>19351629.989999998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3D9-4435-95DF-9F1B1664A37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36745342.880000003</c:v>
                </c:pt>
                <c:pt idx="1">
                  <c:v>32403885.670000002</c:v>
                </c:pt>
                <c:pt idx="2">
                  <c:v>28025998.969999999</c:v>
                </c:pt>
                <c:pt idx="3">
                  <c:v>25796931.440000001</c:v>
                </c:pt>
                <c:pt idx="4">
                  <c:v>22402015.489999998</c:v>
                </c:pt>
                <c:pt idx="5">
                  <c:v>21058802.690000001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3D9-4435-95DF-9F1B1664A37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708496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C3D0B-5609-C509-FBFC-0C3B3A4D7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9CED49-7CBE-236C-21D2-D8B8554681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6F9E2E-C5BF-4883-FEAB-4916269700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35F1EE-A583-AF14-5807-DFBD68248F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22073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 more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AF3A5-7C9C-CE20-48AA-C6CB9E530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7BEE60-A122-806C-BD0F-6980FC8E17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F3E66D-E7B2-7B96-AA33-B72E56F148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6083C2-1715-F253-70CA-78D0A3B60A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7048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734090-F488-B807-0850-3629B1D8F9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4103E2-8608-BEA1-83D2-70E48F9094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947A5C-3971-C431-0C14-E3D94C0942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D73B4D-5AE3-F9F2-809F-AF2723A37E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7453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ADR segment &gt;&gt; Trend how the segment shift.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7.xml"/><Relationship Id="rId4" Type="http://schemas.openxmlformats.org/officeDocument/2006/relationships/chart" Target="../charts/chart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9.xml"/><Relationship Id="rId3" Type="http://schemas.openxmlformats.org/officeDocument/2006/relationships/chart" Target="../charts/chart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chart" Target="../charts/chart11.xml"/><Relationship Id="rId4" Type="http://schemas.openxmlformats.org/officeDocument/2006/relationships/chart" Target="../charts/chart12.xml"/><Relationship Id="rId5" Type="http://schemas.openxmlformats.org/officeDocument/2006/relationships/chart" Target="../charts/chart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chart" Target="../charts/chart11.xml"/><Relationship Id="rId4" Type="http://schemas.openxmlformats.org/officeDocument/2006/relationships/chart" Target="../charts/chart12.xml"/><Relationship Id="rId5" Type="http://schemas.openxmlformats.org/officeDocument/2006/relationships/chart" Target="../charts/chart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4.xml"/><Relationship Id="rId3" Type="http://schemas.openxmlformats.org/officeDocument/2006/relationships/chart" Target="../charts/chart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chart" Target="../charts/chart16.xml"/><Relationship Id="rId4" Type="http://schemas.openxmlformats.org/officeDocument/2006/relationships/chart" Target="../charts/chart17.xml"/><Relationship Id="rId5" Type="http://schemas.openxmlformats.org/officeDocument/2006/relationships/chart" Target="../charts/chart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chart" Target="../charts/chart19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chart" Target="../charts/chart20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chart" Target="../charts/chart2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chart" Target="../charts/chart2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chart" Target="../charts/chart23.xml"/><Relationship Id="rId4" Type="http://schemas.openxmlformats.org/officeDocument/2006/relationships/chart" Target="../charts/chart2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chart" Target="../charts/chart2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chart" Target="../charts/chart2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chart" Target="../charts/chart2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chart" Target="../charts/chart28.xml"/><Relationship Id="rId4" Type="http://schemas.openxmlformats.org/officeDocument/2006/relationships/chart" Target="../charts/chart29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chart" Target="../charts/chart3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chart" Target="../charts/chart3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chart" Target="../charts/chart3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chart" Target="../charts/chart33.xml"/><Relationship Id="rId4" Type="http://schemas.openxmlformats.org/officeDocument/2006/relationships/chart" Target="../charts/chart3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3" Type="http://schemas.openxmlformats.org/officeDocument/2006/relationships/chart" Target="../charts/chart35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chart" Target="../charts/chart3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chart" Target="../charts/chart3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chart" Target="../charts/chart38.xml"/><Relationship Id="rId4" Type="http://schemas.openxmlformats.org/officeDocument/2006/relationships/chart" Target="../charts/chart39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3" Type="http://schemas.openxmlformats.org/officeDocument/2006/relationships/chart" Target="../charts/chart40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HOTEL PORTFOLIO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48640" y="2331720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 — H1 2026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3383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Tourist arrivals · Market (STR) · Portfolio · By property: performance · P&amp;L · segmentation · nationality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58064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(SR9)  ·  Ascott Embassy Sathorn (AES)  ·  lyf Sukhumvit 8 (LYF)  ·  Somerset Pattaya (SP)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614476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through June 2026 (June arrivals preliminary · STR: Bangkok &amp; Pattaya re-based, Jan–Jun) · Prepared July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at a glance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Arrivals YTD = Jan–Jun vs same period 2025 (June preliminary) · Portfolio YTD = Jan–Jun · Revenue MF proj = GOP + OPEX budget (no direct revenue budget line)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572768"/>
            <a:ext cx="2679192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94944" y="1664208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ARRIVALS (MOTS)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94944" y="18836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15.87M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94944" y="23408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2025 YTD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46704" y="1572768"/>
            <a:ext cx="2679192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493008" y="1664208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ARRIVALS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493008" y="18836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2.60M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3493008" y="23408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+14.8% vs 2025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still 46% of 2019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44768" y="1572768"/>
            <a:ext cx="2679192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291072" y="1664208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ARRIVALS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291072" y="18836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1.22M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291072" y="23408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+3.1% vs 2025 — record high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94944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REVENUE H1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94944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฿581.9M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694944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-9.7% vs MF proj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LY (฿590.4M)</a:t>
            </a:r>
          </a:p>
        </p:txBody>
      </p:sp>
      <p:sp>
        <p:nvSpPr>
          <p:cNvPr id="22" name="Shape 20"/>
          <p:cNvSpPr/>
          <p:nvPr/>
        </p:nvSpPr>
        <p:spPr>
          <a:xfrm>
            <a:off x="4337304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483608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EBIT H1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483608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฿143.2M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4483608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−฿17.7M vs MF proj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−฿3.8M vs LY · margin 24.6%</a:t>
            </a:r>
          </a:p>
        </p:txBody>
      </p:sp>
      <p:sp>
        <p:nvSpPr>
          <p:cNvPr id="26" name="Shape 24"/>
          <p:cNvSpPr/>
          <p:nvPr/>
        </p:nvSpPr>
        <p:spPr>
          <a:xfrm>
            <a:off x="8125968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8272272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YTD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272272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฿2,287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8272272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LY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4526280"/>
            <a:ext cx="110916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messages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is holding: H1 EBIT ฿143.2M vs ฿147.1M last year (−2.6%) despite rate pressure — cost discipline (OPEX −2.1% vs LY) protected profitability.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Rate, not volume, is the 2026 challenge: occupancy is near plan but ADR runs ~3% under budget across the portfolio — see ‘The ADR challenge’ in Section 2.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demand is mixed: total arrivals are below last year (June preliminary), with China (+18%), India and long-haul holding the recovery together — Middle East is down on the war effect.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is -4.3% vs budget on 75.8% occupancy — rate (ADR, −3.4%) is the main gap; occupancy is close to plan.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Re-based STR: the markets AND our direct compsets held rate in H1, while our four hotels cut ADR ~5–10% and bought occupancy (all above compset) — the rate gap is our pricing/mix trade, not market-forced.</a:t>
            </a:r>
            <a:endParaRPr lang="en-US" sz="1250" dirty="0"/>
          </a:p>
        </p:txBody>
      </p:sp>
      <p:sp>
        <p:nvSpPr>
          <p:cNvPr id="31" name="Shape 8"/>
          <p:cNvSpPr/>
          <p:nvPr/>
        </p:nvSpPr>
        <p:spPr>
          <a:xfrm>
            <a:off x="8951976" y="1572768"/>
            <a:ext cx="2679192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9"/>
          <p:cNvSpPr/>
          <p:nvPr/>
        </p:nvSpPr>
        <p:spPr>
          <a:xfrm>
            <a:off x="9098280" y="1664208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(EU + USA)</a:t>
            </a:r>
            <a:endParaRPr lang="en-US" sz="1050" dirty="0"/>
          </a:p>
        </p:txBody>
      </p:sp>
      <p:sp>
        <p:nvSpPr>
          <p:cNvPr id="33" name="Text 10"/>
          <p:cNvSpPr/>
          <p:nvPr/>
        </p:nvSpPr>
        <p:spPr>
          <a:xfrm>
            <a:off x="9098280" y="18836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5.05M</a:t>
            </a:r>
            <a:endParaRPr lang="en-US" sz="2400" dirty="0"/>
          </a:p>
        </p:txBody>
      </p:sp>
      <p:sp>
        <p:nvSpPr>
          <p:cNvPr id="34" name="Text 11"/>
          <p:cNvSpPr/>
          <p:nvPr/>
        </p:nvSpPr>
        <p:spPr>
          <a:xfrm>
            <a:off x="9098280" y="23408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-1.2% vs 2025 — record-high base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Tourist Arrivals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(MOTS) · Chinese · India · Middle East · Long-haul (EU + USA)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international arrivals (MOTS)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arrivals, all nationalities — 2026 through June (June preliminary: 4 days missing)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15.87M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2025 (16.69M)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2025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16.69M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-4.7% vs 2024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PRE-COVID (2019)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Jan–Jun 2019 level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Ministry of Tourism &amp; Sports (MOTS). 2026 slightly below 2025 — January was weak (−12% vs Jan 2025), February–May broadly flat.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arrivals (MOTS) — monthly numbers by year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International arrivals by month, 2018–2026 · unit: persons · same layout as the Summary sheet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91672" cy="3118104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3,544,528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3,566,898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3,497,260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3,092,725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2,755,059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3,025,279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3,175,981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3,228,595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2,655,562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2,712,033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3,177,569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3,845,811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38,277,300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3,713,172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3,600,922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3,478,687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3,216,929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2,736,598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3,056,697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3,342,750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3,472,655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2,890,039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3,074,099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3,386,366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3,947,337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39,916,251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 (COVID)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3,810,155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2,061,990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819,429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3,065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6,556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6,702,396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 (COVID)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7,694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5,741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8,529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5,694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18,056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15,105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20,272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91,255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230,497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427,869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133,903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152,954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210,836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293,350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521,410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767,497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1,124,227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1,174,743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1,309,115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1,475,430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1,748,366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2,241,195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11,153,026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2,144,948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2,113,550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2,219,040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2,182,100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2,013,852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2,241,201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2,490,643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2,468,042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2,130,596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2,197,017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2,637,077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3,261,257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28,099,323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3,035,296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3,352,302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2,982,721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2,757,128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2,633,464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2,740,372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3,103,420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2,963,147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2,521,005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2,679,180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3,150,237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3,627,442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35,545,714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3,709,102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3,119,445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2,720,457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2,547,116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2,266,574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2,322,775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2,610,369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2,583,638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2,235,852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2,573,743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2,914,810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3,370,440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32,974,321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3,277,908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3,263,802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2,775,199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2,368,895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2,346,845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1,841,551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14,032,649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-4.9%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166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total = Jan–Jun (June preliminary — 4 days missing). ‘26 vs 25’ row compares each month; the Total cell compares Jan–Jun of both years. 2019 total highlighted = pre-COVID peak; 2020–2021 grayed = COVID years.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— 2019 shown as pre-COVID reference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1426464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1,069,787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1,064,806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985,232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898,994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794,913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894,105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5,707,837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508,563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674,558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573,216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595,572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559,461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528,112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3,439,482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662,779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371,542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297,113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317,213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310,292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306,617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2,265,556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400,321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677,768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410,624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418,291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411,308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283,297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2,601,609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+14.8%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2.60M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+14.8%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2019 LEVEL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46%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pre-COVID Jan–Jun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2024 LEVEL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76%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Jan–Jun 2024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demand is recovering vs a weak 2025 (safety concerns faded) but is still only ~48% of pre-COVID volume.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— India keeps setting record highs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1188720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162,831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148,992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161,129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170,635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198,993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197,489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1,040,069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185,809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169,988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187,973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206,286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228,544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205,299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1,183,899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231,184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185,930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208,484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206,641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224,490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163,378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1,220,107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1.22M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+3.1%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2025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1.18M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+13.8% vs 2024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 year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consecutive YTD growth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is the strongest growth market: +24% in January alone; Apr–May flat against a high 2025 base.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— 2019 shown as pre-COVID reference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1426464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94,365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85,613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101,002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91,897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95,246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93,648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561,771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44,223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35,346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45,071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44,106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97,083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274,284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49,839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32,831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18,708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50,561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48,650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82,462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283,051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52,261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15,814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21,707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47,726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52,702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202,411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-28.5%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202k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-28.5%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2019 LEVEL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36%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pre-COVID Jan–Jun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MONTH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 −57%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April 2025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volumes dropped sharply from February — regional war effect. Watch for recovery in H2.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Indonesia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— 2026 vs 2025 (MOTS nationality report; 2024 not included in this report)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950976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82,919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70,389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66,486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72,756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72,807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60,489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425,846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69,406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51,461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64,997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47,561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54,601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42,388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330,414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330k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-22.4%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2025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426k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2025 base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2026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42.4k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-29.9% vs Jun 25 · Jun (-4) data gap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Indonesia is down every month of 2026 — a real softness beyond the June data gap; worth asking the properties about Indonesian wholesale/group business.</a:t>
            </a:r>
            <a:endParaRPr lang="en-US" sz="1050" dirty="0"/>
          </a:p>
        </p:txBody>
      </p:sp>
      <p:graphicFrame>
        <p:nvGraphicFramePr>
          <p:cNvPr id="21" name="Chart 20"/>
          <p:cNvGraphicFramePr>
            <a:graphicFrameLocks noGrp="1"/>
          </p:cNvGraphicFramePr>
          <p:nvPr/>
        </p:nvGraphicFramePr>
        <p:xfrm>
          <a:off x="548640" y="1600200"/>
          <a:ext cx="7498079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Singapore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— 2026 vs 2025 (MOTS nationality report; 2024 not included in this report)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950976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77,555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64,585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81,349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61,321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76,706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95,578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457,094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69,405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60,334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80,504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63,751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74,142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78,528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426,664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427k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-6.7%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2025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457k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2025 base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2026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78.5k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-17.8% vs Jun 25 · Jun (-4) data gap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Singapore held up Jan–May (-2% ex-June); the June drop coincides with the MOTS 4-day data loss, so H2 data will show if it is real.</a:t>
            </a:r>
            <a:endParaRPr lang="en-US" sz="1050" dirty="0"/>
          </a:p>
        </p:txBody>
      </p:sp>
      <p:graphicFrame>
        <p:nvGraphicFramePr>
          <p:cNvPr id="21" name="Chart 20"/>
          <p:cNvGraphicFramePr>
            <a:graphicFrameLocks noGrp="1"/>
          </p:cNvGraphicFramePr>
          <p:nvPr/>
        </p:nvGraphicFramePr>
        <p:xfrm>
          <a:off x="548640" y="1600200"/>
          <a:ext cx="7498079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arrivals (EU + USA)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arrivals Jan–Jun — Europe (left) and USA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28800"/>
          <a:ext cx="374904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526280" y="1828800"/>
          <a:ext cx="374904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Shape 4"/>
          <p:cNvSpPr/>
          <p:nvPr/>
        </p:nvSpPr>
        <p:spPr>
          <a:xfrm>
            <a:off x="8549640" y="2011680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695944" y="2103120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YTD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695944" y="2322576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5.05M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695944" y="2779776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-1.2%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549640" y="3364992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695944" y="3456432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695944" y="3675888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4.25M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695944" y="4133088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-1.1% vs 2025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549640" y="4718304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695944" y="4809744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695944" y="5029200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796k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695944" y="5486400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-1.6% vs 2025</a:t>
            </a:r>
            <a:endParaRPr lang="en-US" sz="10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5193792"/>
          <a:ext cx="7726673" cy="1143000"/>
        </p:xfrm>
        <a:graphic>
          <a:graphicData uri="http://schemas.openxmlformats.org/drawingml/2006/table">
            <a:tbl>
              <a:tblPr/>
              <a:tblGrid>
                <a:gridCol w="794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95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95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95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95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0955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09555">
                  <a:extLst>
                    <a:ext uri="{9D8B030D-6E8A-4147-A177-3AD203B41FA5}">
                      <a16:colId xmlns:a16="http://schemas.microsoft.com/office/drawing/2014/main" val="900001"/>
                    </a:ext>
                  </a:extLst>
                </a:gridCol>
                <a:gridCol w="87441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EU+USA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1,026,029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987,508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901,645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631,332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440,983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432,499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4,419,996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1,257,708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1,156,356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1,006,483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771,553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465,502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451,775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5,109,377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1,366,171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1,202,154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967,437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666,472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467,734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380,136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5,050,104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1" name="Text 16"/>
          <p:cNvSpPr/>
          <p:nvPr/>
        </p:nvSpPr>
        <p:spPr>
          <a:xfrm>
            <a:off x="8549640" y="525780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stable at record levels — strong Jan–Feb offset a softer April.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4E22DB-AFAD-6BDF-F76E-FF39AE62E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079A81D-15BF-EB2A-A929-89FBC8E2147F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9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2A079B0-9A0B-3BC6-B93A-2183125E4175}"/>
              </a:ext>
            </a:extLst>
          </p:cNvPr>
          <p:cNvSpPr/>
          <p:nvPr/>
        </p:nvSpPr>
        <p:spPr>
          <a:xfrm>
            <a:off x="2514600" y="1965960"/>
            <a:ext cx="6944360" cy="16924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Tourist Arrivals + Revenue from tourists</a:t>
            </a:r>
          </a:p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Hotel Market</a:t>
            </a:r>
            <a:endParaRPr lang="en-US" sz="4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DD7B280-FDD1-D9D8-D92B-43DD8A8103BB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2832558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Bangkok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dirty="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2371212"/>
              </p:ext>
            </p:extLst>
          </p:nvPr>
        </p:nvGraphicFramePr>
        <p:xfrm>
          <a:off x="548640" y="1323594"/>
          <a:ext cx="5394960" cy="202589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5396153"/>
              </p:ext>
            </p:extLst>
          </p:nvPr>
        </p:nvGraphicFramePr>
        <p:xfrm>
          <a:off x="6217920" y="1323594"/>
          <a:ext cx="5394960" cy="202589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7266589"/>
              </p:ext>
            </p:extLst>
          </p:nvPr>
        </p:nvGraphicFramePr>
        <p:xfrm>
          <a:off x="563880" y="3279913"/>
          <a:ext cx="11064240" cy="28615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27.23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28.32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26.98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27.86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15.62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14.83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14.55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15.45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11.62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13.49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12.43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12.42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Total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-4.7%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+16.2%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-7.9%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-0.1%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revenue (Bn฿)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402.1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450.6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426.3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444.8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- Domestic (Bn฿)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125.5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124.5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122.4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133.4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(Bn฿)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276.6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326.1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304.0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311.5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Total revenue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+12.1%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-5.4%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+4.3%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revenue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+17.9%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-6.8%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+2.5%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638C1245-2B94-E895-1548-4E1A61CE948D}"/>
              </a:ext>
            </a:extLst>
          </p:cNvPr>
          <p:cNvSpPr txBox="1"/>
          <p:nvPr/>
        </p:nvSpPr>
        <p:spPr>
          <a:xfrm>
            <a:off x="545658" y="6211039"/>
            <a:ext cx="110642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ysClr val="windowText" lastClr="000000"/>
                </a:solidFill>
              </a:rPr>
              <a:t> Arrival BKK 2026</a:t>
            </a:r>
            <a:r>
              <a:rPr lang="en-US" sz="1100" baseline="0" dirty="0">
                <a:solidFill>
                  <a:sysClr val="windowText" lastClr="000000"/>
                </a:solidFill>
              </a:rPr>
              <a:t> is higher than 2025 3.3% but when we compare just foreigner showing that in </a:t>
            </a:r>
            <a:r>
              <a:rPr lang="en-US" sz="1100" baseline="0" dirty="0" err="1">
                <a:solidFill>
                  <a:sysClr val="windowText" lastClr="000000"/>
                </a:solidFill>
              </a:rPr>
              <a:t>foriegner</a:t>
            </a:r>
            <a:r>
              <a:rPr lang="en-US" sz="1100" baseline="0" dirty="0">
                <a:solidFill>
                  <a:sysClr val="windowText" lastClr="000000"/>
                </a:solidFill>
              </a:rPr>
              <a:t> arrival is similar to 2025 (-0.1%)</a:t>
            </a:r>
            <a:endParaRPr lang="en-US" sz="1100" dirty="0">
              <a:solidFill>
                <a:sysClr val="windowText" lastClr="000000"/>
              </a:solidFill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100" baseline="0" dirty="0">
                <a:solidFill>
                  <a:sysClr val="windowText" lastClr="000000"/>
                </a:solidFill>
              </a:rPr>
              <a:t>Revenue from Foreigner is more than 2025 a round +2.5% with missing for data 4 days</a:t>
            </a:r>
          </a:p>
        </p:txBody>
      </p:sp>
    </p:spTree>
    <p:extLst>
      <p:ext uri="{BB962C8B-B14F-4D97-AF65-F5344CB8AC3E}">
        <p14:creationId xmlns:p14="http://schemas.microsoft.com/office/powerpoint/2010/main" val="27715563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market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overall (all classes) · STR monthly reports 2024–2026 · Jan–Jun monthly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34340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/>
        </p:nvGraphicFramePr>
        <p:xfrm>
          <a:off x="813816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58978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(Bangkok overall):   Occ +2.3%   ·   ADR −1.4%   ·   RevPAR +0.9%</a:t>
            </a:r>
            <a:r>
              <a:rPr lang="en-US" sz="12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250" dirty="0"/>
          </a:p>
        </p:txBody>
      </p:sp>
      <p:sp>
        <p:nvSpPr>
          <p:cNvPr id="10" name="Text 5"/>
          <p:cNvSpPr/>
          <p:nvPr/>
        </p:nvSpPr>
        <p:spPr>
          <a:xfrm>
            <a:off x="548640" y="619963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= STR "Bangkok overall" from the STR_Bangkok_by_segment workbook (STR monthly performance reports; 2026 from the YTD Jun 2026 files, H1 figures calculated from monthly data per Mae’s decision).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— STR by market class, H1 (Jan–Jun)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Luxury · Upper Upscale · Upscale · Upper Midscale · Bangkok overall — H1 each year, calculated from STR monthly data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554480"/>
          <a:ext cx="950976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1234440"/>
                <a:gridCol w="1234440"/>
                <a:gridCol w="1234440"/>
                <a:gridCol w="1234440"/>
                <a:gridCol w="1234440"/>
                <a:gridCol w="1234440"/>
              </a:tblGrid>
              <a:tr h="228600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Occupancy (%)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 2023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 2024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 2025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 2026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26 vs 24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2860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Luxury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67.2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72.7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65.1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66.8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+2.6%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-8.2%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Upper Upscale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71.0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76.6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68.6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68.9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+0.5%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-10.0%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Upscale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69.6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75.8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71.8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75.4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+5.1%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-0.5%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Upper Midscale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70.3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74.3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74.3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76.8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+3.4%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+3.5%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Bangkok overall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73.7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68.9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70.5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+2.3%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-4.4%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3200400"/>
          <a:ext cx="950976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1234440"/>
                <a:gridCol w="1234440"/>
                <a:gridCol w="1234440"/>
                <a:gridCol w="1234440"/>
                <a:gridCol w="1234440"/>
                <a:gridCol w="1234440"/>
              </a:tblGrid>
              <a:tr h="228600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ADR (฿)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 2023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 2024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 2025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 2026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26 vs 24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2860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Luxury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6,620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6,858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7,007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7,082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+1.1%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+3.3%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Upper Upscale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4,205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4,399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4,430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4,301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-2.9%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-2.2%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Upscale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2,838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3,038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3,130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2,991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-4.5%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-1.5%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Upper Midscale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2,431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2,697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2,834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2,635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-7.0%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Bangkok overall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3,960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4,007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3,952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-1.4%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-0.2%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4846320"/>
          <a:ext cx="950976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1234440"/>
                <a:gridCol w="1234440"/>
                <a:gridCol w="1234440"/>
                <a:gridCol w="1234440"/>
                <a:gridCol w="1234440"/>
                <a:gridCol w="1234440"/>
              </a:tblGrid>
              <a:tr h="228600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RevPAR (฿)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 2023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 2024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 2025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 2026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26 vs 24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2860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Luxury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4,452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4,987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4,560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4,729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+3.7%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-5.2%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Upper Upscale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2,987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3,369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3,039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2,965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-2.4%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-12.0%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Upscale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1,975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2,301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2,247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2,256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+0.4%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-2.0%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Upper Midscale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1,710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2,003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2,106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2,024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-3.9%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+1.1%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Bangkok overall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2,921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2,762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2,787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+0.9%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-4.6%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6537960"/>
            <a:ext cx="10881360" cy="3200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50">
                <a:solidFill>
                  <a:srgbClr val="595959"/>
                </a:solidFill>
                <a:latin typeface="Calibri"/>
              </a:rPr>
              <a:t>Luxury is the only class holding rate (+1.1%); every other class cut ADR while occupancy recovered — the market-wide version of our own rate-for-volume trade. Bangkok overall 2023 not reported. Source: STR_Bangkok_by_segment workbook.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 — Bangkok market &amp; compsets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Per-property comp set tables moved to each property section · summary view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8D55007-83B3-DAF4-BD6A-18A9D4DC1FC9}"/>
              </a:ext>
            </a:extLst>
          </p:cNvPr>
          <p:cNvSpPr/>
          <p:nvPr/>
        </p:nvSpPr>
        <p:spPr>
          <a:xfrm>
            <a:off x="8639092" y="2868829"/>
            <a:ext cx="554604" cy="66830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A489FBB-D00E-4CDB-B6F6-149F919F052A}"/>
              </a:ext>
            </a:extLst>
          </p:cNvPr>
          <p:cNvSpPr/>
          <p:nvPr/>
        </p:nvSpPr>
        <p:spPr>
          <a:xfrm>
            <a:off x="548640" y="1600200"/>
            <a:ext cx="11091672" cy="315547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100" b="1" dirty="0">
                <a:solidFill>
                  <a:sysClr val="windowText" lastClr="000000"/>
                </a:solidFill>
              </a:rPr>
              <a:t>Key Takeaway — Bangkok (STR)</a:t>
            </a:r>
            <a:endParaRPr lang="en-US" sz="1100" baseline="0" dirty="0">
              <a:solidFill>
                <a:sysClr val="windowText" lastClr="000000"/>
              </a:solidFill>
            </a:endParaRPr>
          </a:p>
          <a:p>
            <a:r>
              <a:rPr sz="1100" b="0"/>
              <a:t>Overall Bangkok: RevPAR grew +2% YoY — driven by +3% occupancy, despite a −1% dip in ADR.</a:t>
            </a:r>
          </a:p>
          <a:p>
            <a:r>
              <a:rPr sz="1100" b="0"/>
              <a:t/>
            </a:r>
          </a:p>
          <a:p>
            <a:r>
              <a:rPr sz="1100" b="0"/>
              <a:t>SR9: Occ +4.8%, ADR −3.3% → RevPAR +1.3% vs LY.  Rama 9 comp set: Occ +1.4%, but ADR fell sharply (−19%) → RevPAR −17%.</a:t>
            </a:r>
          </a:p>
          <a:p>
            <a:r>
              <a:rPr sz="1100" b="0"/>
              <a:t>→ SR9 is outperforming its market: the comp set’s RevPAR is falling while SR9’s stays positive. Key drivers: corporate bookings, plus reduced supply nearby (e.g. the Jubilee under renovation).</a:t>
            </a:r>
          </a:p>
          <a:p>
            <a:r>
              <a:rPr sz="1100" b="0"/>
              <a:t/>
            </a:r>
          </a:p>
          <a:p>
            <a:r>
              <a:rPr sz="1100" b="0"/>
              <a:t>AES: Occ +3.8%, ADR −5.8% → RevPAR −2.2% vs LY.  Sathorn comp set: Occ −5%, ADR −2% → RevPAR −7%.</a:t>
            </a:r>
          </a:p>
          <a:p>
            <a:r>
              <a:rPr sz="1100" b="0"/>
              <a:t>→ AES beats its comp set on occupancy and RevPAR, but its ADR fell more than the market’s — the GM notes one comp-set hotel (COMO) has not cut rate, which keeps the set’s average ADR close to last year. Overall, AES is moving with a soft Sathorn market.</a:t>
            </a:r>
          </a:p>
          <a:p>
            <a:r>
              <a:rPr sz="1100" b="0"/>
              <a:t/>
            </a:r>
          </a:p>
          <a:p>
            <a:r>
              <a:rPr sz="1100" b="0"/>
              <a:t>LYF: Occ −1.1%, ADR −5% → RevPAR −6.1% vs LY.  Nana comp set: Occ +3.7%, ADR −2.3% → RevPAR +1.2%.</a:t>
            </a:r>
          </a:p>
          <a:p>
            <a:r>
              <a:rPr sz="1100" b="0"/>
              <a:t>→ LYF underperformed its market: the comp set gained occupancy and RevPAR while LYF’s occupancy slipped −1.1% and its ADR fell −5%, twice the market’s decline.</a:t>
            </a:r>
          </a:p>
        </p:txBody>
      </p:sp>
      <p:sp>
        <p:nvSpPr>
          <p:cNvPr id="15" name="Right Brace 14">
            <a:extLst>
              <a:ext uri="{FF2B5EF4-FFF2-40B4-BE49-F238E27FC236}">
                <a16:creationId xmlns:a16="http://schemas.microsoft.com/office/drawing/2014/main" id="{46C4E402-60D4-0AB6-86F9-674E79F2C7E8}"/>
              </a:ext>
            </a:extLst>
          </p:cNvPr>
          <p:cNvSpPr/>
          <p:nvPr/>
        </p:nvSpPr>
        <p:spPr>
          <a:xfrm>
            <a:off x="11477044" y="1725034"/>
            <a:ext cx="292169" cy="1115166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F7DF7B-61AE-4183-3010-CCE5E2AD7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73B7DB2-D012-32E1-1B91-CDBEEE14DD8D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</a:t>
            </a:r>
            <a:endParaRPr lang="en-US" sz="9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B051A42-3A8D-125D-B9B0-7559C561E523}"/>
              </a:ext>
            </a:extLst>
          </p:cNvPr>
          <p:cNvSpPr/>
          <p:nvPr/>
        </p:nvSpPr>
        <p:spPr>
          <a:xfrm>
            <a:off x="2514600" y="1961949"/>
            <a:ext cx="5958840" cy="27151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Tourist Arrivals + Revenue from tourists</a:t>
            </a:r>
          </a:p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Hotel Market</a:t>
            </a:r>
            <a:endParaRPr lang="en-US" sz="4000" dirty="0"/>
          </a:p>
          <a:p>
            <a:pPr marL="0" indent="0">
              <a:buNone/>
            </a:pPr>
            <a:endParaRPr lang="en-US" sz="4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12A9611-A91A-2CCB-AAD3-DAAB4E3CB4AA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4932368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Pattaya (Chonburi)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1600200"/>
          <a:ext cx="539496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217920" y="1600200"/>
          <a:ext cx="539496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1548062"/>
              </p:ext>
            </p:extLst>
          </p:nvPr>
        </p:nvGraphicFramePr>
        <p:xfrm>
          <a:off x="548640" y="3931920"/>
          <a:ext cx="11064240" cy="27660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11.82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13.35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13.87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13.51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7.57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4.70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5.78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5.13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+12.9%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+23.0%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-6.2%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-5.4%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revenue (Bn฿)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147.9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174.8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175.8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170.2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Domestic (Bn฿)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42.6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48.2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57.2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56.8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(Bn฿)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105.3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126.6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118.5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113.3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revenue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+18.2%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+0.5%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-3.2%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revenue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+20.3%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-6.4%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-4.4%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459431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market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market basis (re-based Jun 2026) · Jan–Jun · 2025 derived from reported % change · prior years not comparable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34340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/>
        </p:nvGraphicFramePr>
        <p:xfrm>
          <a:off x="813816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58978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(Compset sheet):   </a:t>
            </a:r>
            <a:r>
              <a:rPr lang="en-US" sz="12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 -2.0 pts   ·   ADR -0.3%   ·   RevPAR -3.3%</a:t>
            </a:r>
            <a:endParaRPr lang="en-US" sz="1250" dirty="0">
              <a:solidFill>
                <a:srgbClr val="FF0000"/>
              </a:solidFill>
            </a:endParaRPr>
          </a:p>
        </p:txBody>
      </p:sp>
      <p:sp>
        <p:nvSpPr>
          <p:cNvPr id="10" name="Text 5"/>
          <p:cNvSpPr/>
          <p:nvPr/>
        </p:nvSpPr>
        <p:spPr>
          <a:xfrm>
            <a:off x="548640" y="619963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per the workbook Compset sheet (updated Jul 2026): Pattaya softened in H1 — occupancy ran below 2025 through Q2 (−2.0 pts) while rate held broadly flat (ADR −0.3%); RevPAR −3.3%.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3402B4-BA0A-A98F-53D6-8BB939975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964EC1C-73E8-93F6-BCCB-B229ADBFEE29}"/>
              </a:ext>
            </a:extLst>
          </p:cNvPr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D606F07-A04A-F7D4-E1D2-98692293C51F}"/>
              </a:ext>
            </a:extLst>
          </p:cNvPr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 — Pattaya market &amp; compsets</a:t>
            </a:r>
            <a:endParaRPr lang="en-US" sz="28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23D956B-923F-1431-421F-7037179D3215}"/>
              </a:ext>
            </a:extLst>
          </p:cNvPr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Per-property comp set tables moved to each property section · summary view</a:t>
            </a:r>
            <a:endParaRPr lang="en-US" sz="125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57F2540-B0AC-3EBC-4990-743D8D8CA5D1}"/>
              </a:ext>
            </a:extLst>
          </p:cNvPr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F0E3A5FB-83F4-A352-5D60-FBFB0140A50A}"/>
              </a:ext>
            </a:extLst>
          </p:cNvPr>
          <p:cNvSpPr/>
          <p:nvPr/>
        </p:nvSpPr>
        <p:spPr>
          <a:xfrm>
            <a:off x="548640" y="62636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CoStar per-property compset reports, June 2026 (SR9/LYF/SP primary comp set; AES secondary comp set). STR ADR basis differs from the result-sheet ADR (breakfast/net treatment) — use % changes, not absolute levels, for comparison.</a:t>
            </a:r>
            <a:endParaRPr lang="en-US" sz="105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647BEDE-5832-34EF-F898-BB5E82D7F1CA}"/>
              </a:ext>
            </a:extLst>
          </p:cNvPr>
          <p:cNvSpPr/>
          <p:nvPr/>
        </p:nvSpPr>
        <p:spPr>
          <a:xfrm>
            <a:off x="521208" y="1600200"/>
            <a:ext cx="11119104" cy="230139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1600" b="1" dirty="0">
                <a:solidFill>
                  <a:srgbClr val="1E2761"/>
                </a:solidFill>
                <a:latin typeface="Calibri"/>
              </a:rPr>
              <a:t>Key Takeaway — Pattaya</a:t>
            </a:r>
          </a:p>
          <a:p>
            <a:pPr>
              <a:spcAft>
                <a:spcPts val="600"/>
              </a:spcAft>
            </a:pPr>
            <a:r>
              <a:rPr sz="1300" dirty="0">
                <a:solidFill>
                  <a:srgbClr val="26292E"/>
                </a:solidFill>
                <a:latin typeface="Calibri"/>
              </a:rPr>
              <a:t>• Tourist spending in Pattaya is about −3% below both 2024 and 2025 (June 2026 is still missing 4 days of data).</a:t>
            </a:r>
          </a:p>
          <a:p>
            <a:pPr>
              <a:spcAft>
                <a:spcPts val="600"/>
              </a:spcAft>
            </a:pPr>
            <a:r>
              <a:rPr sz="1300" dirty="0">
                <a:solidFill>
                  <a:srgbClr val="26292E"/>
                </a:solidFill>
                <a:latin typeface="Calibri"/>
              </a:rPr>
              <a:t>• Arrivals in Pattaya are −2.7% vs 2025.</a:t>
            </a:r>
          </a:p>
          <a:p>
            <a:pPr>
              <a:spcAft>
                <a:spcPts val="600"/>
              </a:spcAft>
            </a:pPr>
            <a:r>
              <a:rPr sz="1300" dirty="0">
                <a:solidFill>
                  <a:srgbClr val="26292E"/>
                </a:solidFill>
                <a:latin typeface="Calibri"/>
              </a:rPr>
              <a:t>• Pattaya STR market: occupancy −3%, ADR roughly flat — turning RevPAR −3%.</a:t>
            </a:r>
            <a:endParaRPr lang="en-US" sz="1300" dirty="0">
              <a:solidFill>
                <a:srgbClr val="26292E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endParaRPr sz="1300" dirty="0">
              <a:solidFill>
                <a:srgbClr val="26292E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300" dirty="0">
                <a:solidFill>
                  <a:srgbClr val="26292E"/>
                </a:solidFill>
                <a:latin typeface="Calibri"/>
              </a:rPr>
              <a:t>• Narrowing to our property's competitive set: H1 2026 vs 2025 occupancy −3%, ADR −6% — RevPAR −9%.</a:t>
            </a:r>
          </a:p>
          <a:p>
            <a:pPr>
              <a:spcAft>
                <a:spcPts val="600"/>
              </a:spcAft>
            </a:pPr>
            <a:r>
              <a:rPr sz="1300" dirty="0">
                <a:solidFill>
                  <a:srgbClr val="26292E"/>
                </a:solidFill>
                <a:latin typeface="Calibri"/>
              </a:rPr>
              <a:t>• Our property (SP): occupancy </a:t>
            </a:r>
            <a:r>
              <a:rPr lang="en-US" sz="1300" dirty="0">
                <a:solidFill>
                  <a:srgbClr val="26292E"/>
                </a:solidFill>
                <a:latin typeface="Calibri"/>
              </a:rPr>
              <a:t>+5.3% </a:t>
            </a:r>
            <a:r>
              <a:rPr sz="1300" dirty="0">
                <a:solidFill>
                  <a:srgbClr val="26292E"/>
                </a:solidFill>
                <a:latin typeface="Calibri"/>
              </a:rPr>
              <a:t>vs LY, ADR −4.9% — RevPAR +0.2% vs LY.</a:t>
            </a:r>
          </a:p>
          <a:p>
            <a:pPr>
              <a:spcAft>
                <a:spcPts val="600"/>
              </a:spcAft>
            </a:pPr>
            <a:r>
              <a:rPr sz="1300" dirty="0">
                <a:solidFill>
                  <a:srgbClr val="00B050"/>
                </a:solidFill>
                <a:latin typeface="Calibri"/>
              </a:rPr>
              <a:t>• Conclusion: SP is performing better than the market.</a:t>
            </a:r>
          </a:p>
        </p:txBody>
      </p:sp>
    </p:spTree>
    <p:extLst>
      <p:ext uri="{BB962C8B-B14F-4D97-AF65-F5344CB8AC3E}">
        <p14:creationId xmlns:p14="http://schemas.microsoft.com/office/powerpoint/2010/main" val="27302718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Challenge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ADR challenge — rate is the story of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is holding, rate is not · left = what the data shows, right = why we believe it is happening · TBC items await data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477256" cy="4526280"/>
          </a:xfrm>
          <a:prstGeom prst="roundRect">
            <a:avLst>
              <a:gd name="adj" fmla="val 1212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49808" y="1828800"/>
            <a:ext cx="5074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FACTS — what the data shows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49808" y="2240280"/>
            <a:ext cx="50749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(workbook Compset sheet): the broad markets held RATE in H1 — Bangkok ADR −1.1% (occ +1.8 pts), Pattaya ADR −0.3% (occ −2.0 pts) — while our portfolio ADR fell -4.2%.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63056" y="1691640"/>
            <a:ext cx="5477256" cy="4526280"/>
          </a:xfrm>
          <a:prstGeom prst="roundRect">
            <a:avLst>
              <a:gd name="adj" fmla="val 1212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364224" y="1828800"/>
            <a:ext cx="5074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HYPOTHESES — why we believe it is happening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364224" y="2240280"/>
            <a:ext cx="50749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Rate-for-volume strategy: STR shows we discounted far deeper than our compsets and bought occupancy share (MPI above 100 at all four hotels) — was the occupancy gain worth the rate given up? [key question for the GMs]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dilution: losing high-rate Middle East / European long-stay and refilling with Chinese/SEA leisure lowers our achieved ADR even without price cuts — our compsets carry less of that exposure, so their ADR held.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Spending power: Chinese and SEA leisure guests book entry-level rooms and shorter stays; a strong THB makes Thailand more expensive in guests' home currencies. [TBC — FX / spend-per-trip evidence]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behaviour changed: guests book further in advance and last-minute premium demand has faded (SR9) — less late-yield upside on peak dates.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mix dilution: OTA flash deals and wholesale rates lift occupancy but cap ADR (LYF ADR ranks 5/5 in its compset; Trip.com flash deal discontinued).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supply: additional rooms in Bangkok keep pressure on rates. [TBC — 2025–26 new openings in Rama 9 / Sathorn /Nana to quantify]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v2 for discussion — computed figures come from the result sheets, STR and MOTS data in this workbook; [TBC] items to be confirmed by management.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by segment — where the rate went, H1 2026 vs H1 2025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= room revenue ÷ room nights per segment · H1 = Jan–Jun · % rooms = segment share of room nights · segments under 1% of rooms omitted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6" name="TextBox 5"/>
          <p:cNvSpPr txBox="1"/>
          <p:nvPr/>
        </p:nvSpPr>
        <p:spPr>
          <a:xfrm>
            <a:off x="548640" y="1572768"/>
            <a:ext cx="5303520" cy="237744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100" b="1">
                <a:solidFill>
                  <a:srgbClr val="1E2761"/>
                </a:solidFill>
                <a:latin typeface="Calibri"/>
              </a:rPr>
              <a:t>Somerset Rama 9 (SR9)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847088"/>
          <a:ext cx="5303520" cy="13121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25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26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'25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'26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chg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 (dynamic)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34%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3,536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3,043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-13.9%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2,134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1,994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-6.6%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2,735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2,408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-11.9%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2,946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3,003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+1.9%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3,156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2,889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-8.5%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2,642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2,069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-21.7%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336792" y="1572768"/>
            <a:ext cx="5303520" cy="237744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100" b="1">
                <a:solidFill>
                  <a:srgbClr val="1E2761"/>
                </a:solidFill>
                <a:latin typeface="Calibri"/>
              </a:rPr>
              <a:t>Ascott Embassy Sathorn (AES)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336792" y="1847088"/>
          <a:ext cx="5303520" cy="13121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25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26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'25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'26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chg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 (dynamic)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38%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34%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4,365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3,883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-11.0%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26%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2,558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2,506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-2.0%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27%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3,387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3,297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3,967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-12.1%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4,379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3,830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-12.5%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2,572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-26.2%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4041648"/>
            <a:ext cx="5303520" cy="237744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100" b="1">
                <a:solidFill>
                  <a:srgbClr val="1E2761"/>
                </a:solidFill>
                <a:latin typeface="Calibri"/>
              </a:rPr>
              <a:t>lyf Sukhumvit 8 (LYF)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4315968"/>
          <a:ext cx="5303520" cy="9372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25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26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'25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'26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chg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 (dynamic)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64%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66%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1,559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1,430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-8.2%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1,221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1,249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+2.3%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12%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1,325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1,295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1,279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1,369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+7.0%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336792" y="4041648"/>
            <a:ext cx="5303520" cy="237744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100" b="1">
                <a:solidFill>
                  <a:srgbClr val="1E2761"/>
                </a:solidFill>
                <a:latin typeface="Calibri"/>
              </a:rPr>
              <a:t>Somerset Pattaya (SP)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336792" y="4315968"/>
          <a:ext cx="5303520" cy="13121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25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26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'25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'26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chg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47%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3,323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2,954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-11.1%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 (dynamic)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30%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29%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4,940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4,145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-16.1%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11%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4,640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4,382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-5.5%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2,643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3,155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+19.4%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3,493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3,570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+2.2%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3,671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2,533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-31.0%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548640" y="6382512"/>
            <a:ext cx="11091672" cy="36576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050" b="1">
                <a:solidFill>
                  <a:srgbClr val="1E2761"/>
                </a:solidFill>
                <a:latin typeface="Calibri"/>
              </a:rPr>
              <a:t>Takeaway: the segment mix hardly moved (% rooms columns) — the ADR decline comes from lower prices inside almost every segment, deepest in Online (dynamic rate): SR9 −13.9% · AES −11.0% · LYF −8.2% · SP −16.1%.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properties — P&amp;L (EBIT) · performance vs budget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all four properties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by room inventory (1,406 keys) · YTD = Jan–Jun 2026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5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6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7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-0.7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฿3,018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-4.2%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7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฿2,287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is ~4% behind budget, driven mainly by rate (ADR −3.4%); occupancy is near plan (−0.7 pts). Vs last year RevPAR is broadly flat. April was the softest month — driven by AES (−16% RevPAR vs budget, ≈half the gap) and LYF (occupancy 50% vs 83% budgeted), not really the market: the re-based Bangkok market actually grew RevPAR in April (+3.0%) and Pattaya was level — the April miss was property-specific.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468880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฿581.9M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฿590.4M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฿663.3M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−฿263.9M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−฿296.6M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−฿269.4M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−฿285.3M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฿348.1M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฿320.9M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฿378.0M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−฿187.1M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฿143.2M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฿147.1M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+฿20.6M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฿581.9M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฿143.2M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−฿3.8M vs H1 2025 (฿147.1M)</a:t>
            </a:r>
            <a:endParaRPr lang="en-US" sz="1050" dirty="0"/>
          </a:p>
        </p:txBody>
      </p:sp>
      <p:sp>
        <p:nvSpPr>
          <p:cNvPr id="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464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5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6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+0.7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฿2,891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฿2,336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+1.3%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SR9 runs close to budget all year; Feb outperformed strongly, May–Jun slightly behind on rate.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6CBC93C-ECD8-46AB-78C9-FE407A0F0935}"/>
              </a:ext>
            </a:extLst>
          </p:cNvPr>
          <p:cNvSpPr txBox="1"/>
          <p:nvPr/>
        </p:nvSpPr>
        <p:spPr>
          <a:xfrm>
            <a:off x="8357420" y="1324094"/>
            <a:ext cx="26842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Budget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guest nationality — room nights &amp; change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China (+1,792 RN) · biggest decline: Korea (-757 RN). ADR cols = H1 ADR per nationality, RN-weighted · '–' = outside that year's top-10.</a:t>
            </a:r>
            <a:endParaRPr lang="en-US" sz="1050" dirty="0"/>
          </a:p>
        </p:txBody>
      </p:sp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5254806"/>
              </p:ext>
            </p:extLst>
          </p:nvPr>
        </p:nvGraphicFramePr>
        <p:xfrm>
          <a:off x="5623560" y="1828800"/>
          <a:ext cx="6144768" cy="3072384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17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18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1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19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+1,792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53,845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56,227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+2,382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314F342E-F1D5-AC9C-26B4-59F392AD6164}"/>
              </a:ext>
            </a:extLst>
          </p:cNvPr>
          <p:cNvSpPr/>
          <p:nvPr/>
        </p:nvSpPr>
        <p:spPr>
          <a:xfrm>
            <a:off x="5782252" y="5174901"/>
            <a:ext cx="5647748" cy="92153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-Key change come from India, </a:t>
            </a:r>
            <a:r>
              <a:rPr lang="en-US" dirty="0" err="1"/>
              <a:t>Thaiand</a:t>
            </a:r>
            <a:r>
              <a:rPr lang="en-US" dirty="0"/>
              <a:t>, Indo, Sg and China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room nights by month 2026, H1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45920"/>
          <a:ext cx="667512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45920"/>
          <a:ext cx="40233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598932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(42% of room nights). Wholesale incl. Wholesale Group · Group incl. all group types · segments &lt;1% (Employee, Medical) omitted.</a:t>
            </a:r>
            <a:endParaRPr lang="en-US" sz="1050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4041648"/>
          <a:ext cx="11347704" cy="17922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H1 ’26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H1 ’25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Mix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1,270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1,549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1,849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1,541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1,597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1,484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9,290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10,039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-7%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1,416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1,303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1,323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1,437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1,936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2,208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9,623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9,229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5,457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4,414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4,854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4,174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4,085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4,517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27,501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21,225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+30%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837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958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972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1,070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1,123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876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5,836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4,614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+26%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1,828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2,664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1,360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1,531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851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802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9,036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12,655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-29%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1,290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387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647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457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746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328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3,855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4,303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-10%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12,099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11,275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11,030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10,210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10,342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10,219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65,175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62,101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+5%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AE1BFCA4-5141-101A-DA78-E0094FC6A4A0}"/>
              </a:ext>
            </a:extLst>
          </p:cNvPr>
          <p:cNvSpPr/>
          <p:nvPr/>
        </p:nvSpPr>
        <p:spPr>
          <a:xfrm>
            <a:off x="548640" y="5989320"/>
            <a:ext cx="11347704" cy="4389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-Around 30% of this property are </a:t>
            </a:r>
            <a:r>
              <a:rPr lang="en-US" dirty="0" err="1"/>
              <a:t>Coporate</a:t>
            </a:r>
            <a:r>
              <a:rPr lang="en-US" dirty="0"/>
              <a:t> booking. </a:t>
            </a:r>
            <a:r>
              <a:rPr lang="en-US" dirty="0" err="1"/>
              <a:t>Additionaly</a:t>
            </a:r>
            <a:r>
              <a:rPr lang="en-US" dirty="0"/>
              <a:t> some corporate are mix in OTA since there are a B2B channel o booking through the OTA right now.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ADR by segment (฿ / room night)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= segment revenue ÷ room nights · 2026 vs 2025 (gray) · Chg % = H1 26 vs 25 · Wholesale incl. Wholesale Group · Group incl. all group types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691640"/>
          <a:ext cx="11091672" cy="399775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00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84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84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9844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984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9844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9844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3268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2,483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2,484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2,378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2,398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2,367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2,358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2,408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-11.9%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2,994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2,800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2,723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2,692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2,610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2,661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2,735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2,098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2,071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1,927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2,015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2,008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1,894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1,994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-6.6%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2,062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2,236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2,267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2,240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2,056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2,079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2,134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3,085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3,368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2,982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3,270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2,850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2,706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3,043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-13.9%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4,020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3,453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3,339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3,384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3,430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3,342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3,536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3,125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3,277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2,845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2,772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2,527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2,893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2,889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-8.5%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3,972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2,957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2,944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3,027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3,060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3,389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3,156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3,013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3,015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3,091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3,021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2,890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2,871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3,003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+1.9%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3,312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3,236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2,941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3,119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2,661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2,635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2,946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2,095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2,216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2,079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2,071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1,917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2,117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2,069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-21.7%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2,795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2,668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2,560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2,687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2,559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2,384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2,642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2,793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2,966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2,701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2,819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2,519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2,491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2,721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-8.9%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3,340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3,056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2,930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3,001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2,760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2,776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2,987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486400"/>
            <a:ext cx="1088136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50">
                <a:solidFill>
                  <a:srgbClr val="595959"/>
                </a:solidFill>
                <a:latin typeface="Calibri"/>
              </a:rPr>
              <a:t>Deepest H1 rate cut: Group (-21.7%) · '–' = no rooms sold that month.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vs comp set (STR) —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property (result sheets) vs its STR competitive set (Rachada comp set, workbook Compset sheet, CoStar re-based Jun 2026) · H1 = Jan–Jun · Rank = position within the comp set (Occ · ADR · RevPAR)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graphicFrame>
        <p:nvGraphicFramePr>
          <p:cNvPr id="905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85682"/>
              </p:ext>
            </p:extLst>
          </p:nvPr>
        </p:nvGraphicFramePr>
        <p:xfrm>
          <a:off x="713232" y="2103120"/>
          <a:ext cx="10762088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90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15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0903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5339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646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3490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Hotel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Rank </a:t>
                      </a:r>
                      <a:r>
                        <a:rPr sz="105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Occ·ADR·RevPAR</a:t>
                      </a:r>
                      <a:endParaRPr sz="105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SR9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80.8%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+4.8%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2,891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-3.3%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2,336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 of 6 · 2 of 6 · 2 of 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(</a:t>
                      </a:r>
                      <a:r>
                        <a:rPr sz="1050" b="1" dirty="0" err="1">
                          <a:solidFill>
                            <a:srgbClr val="26292E"/>
                          </a:solidFill>
                          <a:latin typeface="Calibri"/>
                        </a:rPr>
                        <a:t>Rachada</a:t>
                      </a:r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76.6%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+1.4%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2,586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-18.7%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1,985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-17.4%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Rectangle 6">
            <a:extLst>
              <a:ext uri="{FF2B5EF4-FFF2-40B4-BE49-F238E27FC236}">
                <a16:creationId xmlns:a16="http://schemas.microsoft.com/office/drawing/2014/main" id="{61753108-C2A0-EDFA-8E92-F8AB2E5727F3}"/>
              </a:ext>
            </a:extLst>
          </p:cNvPr>
          <p:cNvSpPr/>
          <p:nvPr/>
        </p:nvSpPr>
        <p:spPr>
          <a:xfrm>
            <a:off x="548640" y="5543327"/>
            <a:ext cx="11347704" cy="4389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-Jubilee is under renovating </a:t>
            </a:r>
            <a:r>
              <a:rPr lang="th-TH" dirty="0"/>
              <a:t>สร้างอนิสงค์ให้กับเรา</a:t>
            </a:r>
            <a:endParaRPr lang="en-US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฿196.3M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฿195.2M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฿223.9M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−฿84.3M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฿112.0M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฿111.4M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฿130.8M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−฿56.7M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−฿59.3M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฿53.0M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฿54.7M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+฿6.7M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−฿10.4M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฿196.3M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฿53.0M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−฿1.7M vs H1 2025 (฿54.7M)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7654342-99F5-076C-3B36-DFD40188D595}"/>
              </a:ext>
            </a:extLst>
          </p:cNvPr>
          <p:cNvSpPr/>
          <p:nvPr/>
        </p:nvSpPr>
        <p:spPr>
          <a:xfrm>
            <a:off x="6248402" y="5501640"/>
            <a:ext cx="6561846" cy="15636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 term of Revenue half H1 We can do better. But </a:t>
            </a:r>
            <a:r>
              <a:rPr lang="en-US" dirty="0" err="1"/>
              <a:t>opex</a:t>
            </a:r>
            <a:r>
              <a:rPr lang="en-US" dirty="0"/>
              <a:t> +0.6% from LY </a:t>
            </a:r>
          </a:p>
          <a:p>
            <a:pPr algn="ctr"/>
            <a:r>
              <a:rPr lang="en-US" dirty="0"/>
              <a:t>GOP compare to LY is better even the ADR is lower</a:t>
            </a:r>
          </a:p>
          <a:p>
            <a:pPr algn="ctr"/>
            <a:r>
              <a:rPr lang="en-US" dirty="0"/>
              <a:t>Margins look same.</a:t>
            </a:r>
          </a:p>
          <a:p>
            <a:pPr algn="ctr"/>
            <a:r>
              <a:rPr lang="en-US" dirty="0">
                <a:solidFill>
                  <a:srgbClr val="FF0000"/>
                </a:solidFill>
                <a:highlight>
                  <a:srgbClr val="FFFF00"/>
                </a:highlight>
              </a:rPr>
              <a:t>But the JV expense higher from LY </a:t>
            </a:r>
            <a:r>
              <a:rPr lang="en-US" dirty="0" err="1">
                <a:solidFill>
                  <a:srgbClr val="FF0000"/>
                </a:solidFill>
                <a:highlight>
                  <a:srgbClr val="FFFF00"/>
                </a:highlight>
              </a:rPr>
              <a:t>bc</a:t>
            </a:r>
            <a:r>
              <a:rPr lang="en-US" dirty="0">
                <a:solidFill>
                  <a:srgbClr val="FF0000"/>
                </a:solidFill>
                <a:highlight>
                  <a:srgbClr val="FFFF00"/>
                </a:highlight>
              </a:rPr>
              <a:t> </a:t>
            </a:r>
            <a:r>
              <a:rPr lang="en-US" dirty="0" err="1">
                <a:solidFill>
                  <a:srgbClr val="FF0000"/>
                </a:solidFill>
                <a:highlight>
                  <a:srgbClr val="FFFF00"/>
                </a:highlight>
              </a:rPr>
              <a:t>xxxx</a:t>
            </a:r>
            <a:endParaRPr lang="en-US" dirty="0">
              <a:solidFill>
                <a:srgbClr val="FF0000"/>
              </a:solidFill>
              <a:highlight>
                <a:srgbClr val="FFFF00"/>
              </a:highlight>
            </a:endParaRPr>
          </a:p>
          <a:p>
            <a:pPr algn="ctr"/>
            <a:r>
              <a:rPr lang="en-US" dirty="0"/>
              <a:t>EBIT lower than -1.7MB LY and (59.7-53.00 MB)BG.</a:t>
            </a:r>
          </a:p>
          <a:p>
            <a:pPr algn="ctr"/>
            <a:r>
              <a:rPr lang="en-US" dirty="0" err="1"/>
              <a:t>Howver</a:t>
            </a:r>
            <a:r>
              <a:rPr lang="en-US" dirty="0"/>
              <a:t> in the NAPTA Data can do better than LY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403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5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3,938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6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7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8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70.4%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-1.2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+2.6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฿3,484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฿2,454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-6.0%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-2.2%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AES: February was exceptional (92% occupancy, well above budget); April–May fell behind budget in a softer Bangkok market.</a:t>
            </a:r>
            <a:endParaRPr lang="en-US" sz="10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guest nationality — room nights &amp; change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Finland (+2,922 RN) · biggest decline: Korea (-910 RN). ADR cols = H1 ADR per nationality, RN-weighted · '–' = outside that year's top-10.</a:t>
            </a:r>
            <a:endParaRPr lang="en-US" sz="1050" dirty="0"/>
          </a:p>
        </p:txBody>
      </p:sp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1500358"/>
              </p:ext>
            </p:extLst>
          </p:nvPr>
        </p:nvGraphicFramePr>
        <p:xfrm>
          <a:off x="5623560" y="1497467"/>
          <a:ext cx="6144768" cy="3094969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29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3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2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31"/>
                    </a:ext>
                  </a:extLst>
                </a:gridCol>
              </a:tblGrid>
              <a:tr h="27861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18,613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+1,692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29,259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35,943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+6,684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162AF8FE-028B-4F43-614D-7712F7EF7868}"/>
              </a:ext>
            </a:extLst>
          </p:cNvPr>
          <p:cNvSpPr/>
          <p:nvPr/>
        </p:nvSpPr>
        <p:spPr>
          <a:xfrm>
            <a:off x="6643396" y="4948210"/>
            <a:ext cx="4786604" cy="122399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-Key change come Japan follow by </a:t>
            </a:r>
            <a:r>
              <a:rPr lang="en-US" dirty="0" err="1"/>
              <a:t>chinease</a:t>
            </a:r>
            <a:endParaRPr lang="en-US" dirty="0"/>
          </a:p>
          <a:p>
            <a:pPr algn="ctr"/>
            <a:r>
              <a:rPr lang="en-US" dirty="0"/>
              <a:t>New nationality are UK and Finland and Taiwan</a:t>
            </a:r>
          </a:p>
          <a:p>
            <a:pPr algn="ctr"/>
            <a:r>
              <a:rPr lang="en-US" dirty="0"/>
              <a:t>Most significant drop are Korea.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room nights by month 2026, H1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45920"/>
          <a:ext cx="667512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45920"/>
          <a:ext cx="40233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598932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(34% of room nights). Wholesale incl. Wholesale Group · Group incl. all group types · segments &lt;1% (Employee, Medical) omitted.</a:t>
            </a:r>
            <a:endParaRPr lang="en-US" sz="1050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4041648"/>
          <a:ext cx="11347704" cy="17922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H1 ’26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H1 ’25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Mix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979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907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1,236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545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768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752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5,187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3,545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+46%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2,388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2,430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2,676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1,683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2,075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1,844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13,096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9,699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+35%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26%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3,257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3,910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2,690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2,876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2,049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2,146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16,928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18,378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-8%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756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720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578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769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752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961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4,536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3,034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+50%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1,479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2,041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1,382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711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1,203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1,315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8,131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12,794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-36%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294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502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941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193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2,056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721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+185%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9,186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10,164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9,081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7,548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7,086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7,058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50,123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48,277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F833D8B9-35B7-01F4-9708-B7C5CEA82C84}"/>
              </a:ext>
            </a:extLst>
          </p:cNvPr>
          <p:cNvSpPr/>
          <p:nvPr/>
        </p:nvSpPr>
        <p:spPr>
          <a:xfrm>
            <a:off x="2537510" y="5935109"/>
            <a:ext cx="10881360" cy="122399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ctr">
              <a:buFontTx/>
              <a:buChar char="-"/>
            </a:pPr>
            <a:r>
              <a:rPr lang="en-US" dirty="0"/>
              <a:t>36% are corporate segment follow by online 24%</a:t>
            </a:r>
          </a:p>
          <a:p>
            <a:pPr marL="285750" indent="-285750" algn="ctr">
              <a:buFontTx/>
              <a:buChar char="-"/>
            </a:pPr>
            <a:r>
              <a:rPr lang="en-US" dirty="0"/>
              <a:t>Can see the growth from corporate group almost 30-40% from H1 last year.</a:t>
            </a:r>
          </a:p>
          <a:p>
            <a:pPr marL="285750" indent="-285750" algn="ctr">
              <a:buFontTx/>
              <a:buChar char="-"/>
            </a:pPr>
            <a:r>
              <a:rPr lang="en-US" dirty="0"/>
              <a:t>Big change is group booking +185% from </a:t>
            </a:r>
            <a:r>
              <a:rPr lang="en-US" dirty="0" err="1"/>
              <a:t>ly</a:t>
            </a:r>
            <a:r>
              <a:rPr lang="en-US" dirty="0"/>
              <a:t>. Implied that AES is shifting in secure to sell the room to a group and can make a rate drop</a:t>
            </a:r>
          </a:p>
          <a:p>
            <a:pPr marL="285750" indent="-285750" algn="ctr">
              <a:buFontTx/>
              <a:buChar char="-"/>
            </a:pPr>
            <a:endParaRPr lang="en-US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ADR by segment (฿ / room night)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= segment revenue ÷ room nights · 2026 vs 2025 (gray) · Chg % = H1 26 vs 25 · Wholesale incl. Wholesale Group · Group incl. all group types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691640"/>
          <a:ext cx="11091672" cy="399775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00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84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84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9844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984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9844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9844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3268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3,415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3,715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3,306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3,564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3,388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3,646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-12.1%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4,012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3,887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4,040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4,012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3,864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4,027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3,967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2,450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2,540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2,455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2,554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2,446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2,629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2,506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-2.0%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2,449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2,618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2,578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2,569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2,488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2,664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2,558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4,347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4,078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3,724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3,803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3,507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3,489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3,883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-11.0%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5,212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4,521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4,068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4,272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3,686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3,988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4,365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4,875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4,679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3,660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3,648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2,978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3,285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3,830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-12.5%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5,372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4,534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4,208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4,126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3,718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4,148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4,379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3,304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3,402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3,179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3,390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3,260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3,232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3,297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3,755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3,765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3,236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3,208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3,153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3,082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3,387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2,888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2,558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2,542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2,391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3,058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2,572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-26.2%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3,473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3,663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3,417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3,455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3,608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3,578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3,566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3,140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3,273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3,066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3,199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3,325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-10.1%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4,191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3,938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3,539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3,684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3,299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3,366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3,698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486400"/>
            <a:ext cx="1088136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50">
                <a:solidFill>
                  <a:srgbClr val="595959"/>
                </a:solidFill>
                <a:latin typeface="Calibri"/>
              </a:rPr>
              <a:t>Deepest H1 rate cut: Group (-26.2%) · '–' = no rooms sold that month.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vs comp set (STR) —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property (result sheets) vs its STR competitive set (Sathorn comp set, workbook Compset sheet, CoStar re-based Jun 2026) · H1 = Jan–Jun · Rank = position within the comp set (Occ · ADR · RevPAR)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graphicFrame>
        <p:nvGraphicFramePr>
          <p:cNvPr id="905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85682"/>
              </p:ext>
            </p:extLst>
          </p:nvPr>
        </p:nvGraphicFramePr>
        <p:xfrm>
          <a:off x="713232" y="2103120"/>
          <a:ext cx="10762088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90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15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0903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5339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646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3490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Hotel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Rank </a:t>
                      </a:r>
                      <a:r>
                        <a:rPr sz="105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Occ·ADR·RevPAR</a:t>
                      </a:r>
                      <a:endParaRPr sz="105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AES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70.4%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+3.8%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3,484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2,454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-2.2%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 of 6 · 4 of 6 · 3 of 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(Sathorn)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65.2%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-5.3%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6B7280"/>
                          </a:solidFill>
                          <a:latin typeface="Calibri"/>
                        </a:rPr>
                        <a:t>3,328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-2.4%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6B7280"/>
                          </a:solidFill>
                          <a:latin typeface="Calibri"/>
                        </a:rPr>
                        <a:t>2,170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-7.6%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-99.2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5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5127427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฿185.4M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฿220.7M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−฿83.6M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−฿97.2M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฿123.5M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−฿69.7M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−฿69.5M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฿33.5M</a:t>
                      </a:r>
                      <a:endParaRPr lang="en-US" sz="850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-38.0%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−฿15.4M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+฿0.1M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฿179.2M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฿33.5M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+฿1.9M vs H1 2025 (฿31.6M)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7DD75E-562E-9FF2-4E5E-6EA629AC241A}"/>
              </a:ext>
            </a:extLst>
          </p:cNvPr>
          <p:cNvSpPr txBox="1"/>
          <p:nvPr/>
        </p:nvSpPr>
        <p:spPr>
          <a:xfrm>
            <a:off x="8185355" y="5047488"/>
            <a:ext cx="43852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reason Why rev –</a:t>
            </a:r>
          </a:p>
          <a:p>
            <a:r>
              <a:rPr lang="en-US" dirty="0"/>
              <a:t>EBIT+</a:t>
            </a:r>
          </a:p>
          <a:p>
            <a:r>
              <a:rPr lang="en-US" dirty="0"/>
              <a:t>From last year. Background</a:t>
            </a:r>
          </a:p>
          <a:p>
            <a:r>
              <a:rPr lang="en-US" dirty="0"/>
              <a:t>House and building tax &gt;&gt;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4739411-78F9-3CF6-7951-57DA74B37027}"/>
              </a:ext>
            </a:extLst>
          </p:cNvPr>
          <p:cNvSpPr/>
          <p:nvPr/>
        </p:nvSpPr>
        <p:spPr>
          <a:xfrm>
            <a:off x="3246120" y="3460418"/>
            <a:ext cx="7049380" cy="36576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ctr">
              <a:buFontTx/>
              <a:buChar char="-"/>
            </a:pPr>
            <a:r>
              <a:rPr lang="en-US" dirty="0"/>
              <a:t>Rev drop -3.3% from LY</a:t>
            </a:r>
          </a:p>
          <a:p>
            <a:pPr marL="285750" indent="-285750" algn="ctr">
              <a:buFontTx/>
              <a:buChar char="-"/>
            </a:pPr>
            <a:r>
              <a:rPr lang="en-US" dirty="0" err="1"/>
              <a:t>Opex</a:t>
            </a:r>
            <a:r>
              <a:rPr lang="en-US" dirty="0"/>
              <a:t> manage </a:t>
            </a:r>
            <a:r>
              <a:rPr lang="en-US" dirty="0" err="1"/>
              <a:t>beeter</a:t>
            </a:r>
            <a:r>
              <a:rPr lang="en-US" dirty="0"/>
              <a:t> from LY -6.0% or 6MB (from)</a:t>
            </a:r>
          </a:p>
          <a:p>
            <a:pPr marL="285750" indent="-285750" algn="ctr">
              <a:buFontTx/>
              <a:buChar char="-"/>
            </a:pPr>
            <a:r>
              <a:rPr lang="en-US" dirty="0"/>
              <a:t>GOP make better +1.3 pts</a:t>
            </a:r>
          </a:p>
          <a:p>
            <a:pPr marL="285750" indent="-285750" algn="ctr">
              <a:buFontTx/>
              <a:buChar char="-"/>
            </a:pPr>
            <a:r>
              <a:rPr lang="en-US" dirty="0"/>
              <a:t>JV expense better</a:t>
            </a:r>
          </a:p>
          <a:p>
            <a:pPr marL="285750" indent="-285750" algn="ctr">
              <a:buFontTx/>
              <a:buChar char="-"/>
            </a:pPr>
            <a:r>
              <a:rPr lang="en-US" dirty="0"/>
              <a:t>Resulting EBIT better</a:t>
            </a:r>
          </a:p>
          <a:p>
            <a:pPr marL="285750" indent="-285750" algn="ctr">
              <a:buFontTx/>
              <a:buChar char="-"/>
            </a:pPr>
            <a:r>
              <a:rPr lang="en-US" dirty="0"/>
              <a:t>NPAT is better</a:t>
            </a:r>
          </a:p>
          <a:p>
            <a:pPr marL="285750" indent="-285750" algn="ctr">
              <a:buFontTx/>
              <a:buChar char="-"/>
            </a:pPr>
            <a:endParaRPr lang="en-US" dirty="0"/>
          </a:p>
          <a:p>
            <a:pPr marL="285750" indent="-285750" algn="ctr">
              <a:buFontTx/>
              <a:buChar char="-"/>
            </a:pPr>
            <a:r>
              <a:rPr lang="en-US" dirty="0"/>
              <a:t>The key reason if AES is the </a:t>
            </a:r>
            <a:r>
              <a:rPr lang="en-US" dirty="0" err="1"/>
              <a:t>the</a:t>
            </a:r>
            <a:r>
              <a:rPr lang="en-US" dirty="0"/>
              <a:t> manage of the OPEX better\</a:t>
            </a:r>
          </a:p>
          <a:p>
            <a:pPr marL="285750" indent="-285750" algn="ctr">
              <a:buFontTx/>
              <a:buChar char="-"/>
            </a:pPr>
            <a:r>
              <a:rPr lang="en-US" dirty="0"/>
              <a:t>And for the owner expense can manage better </a:t>
            </a:r>
            <a:r>
              <a:rPr lang="en-US" dirty="0" err="1"/>
              <a:t>bc</a:t>
            </a:r>
            <a:r>
              <a:rPr lang="en-US" dirty="0"/>
              <a:t> xxx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206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5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6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7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8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1,073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9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1,143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0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78.1%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-4.6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-0.9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฿1,374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-5.0%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฿1,073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-12.8%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-6.1%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LYF: strong Q1 above budget, then April dropped sharply (occupancy −32 pts vs budget) — recovering since May.</a:t>
            </a:r>
            <a:endParaRPr lang="en-US" sz="1050" dirty="0"/>
          </a:p>
        </p:txBody>
      </p:sp>
      <p:sp>
        <p:nvSpPr>
          <p:cNvPr id="21" name="Star: 5 Points 20">
            <a:extLst>
              <a:ext uri="{FF2B5EF4-FFF2-40B4-BE49-F238E27FC236}">
                <a16:creationId xmlns:a16="http://schemas.microsoft.com/office/drawing/2014/main" id="{01171B67-1C65-F02A-1E92-33AFEB4FBF47}"/>
              </a:ext>
            </a:extLst>
          </p:cNvPr>
          <p:cNvSpPr/>
          <p:nvPr/>
        </p:nvSpPr>
        <p:spPr>
          <a:xfrm>
            <a:off x="4650718" y="2063981"/>
            <a:ext cx="196523" cy="187452"/>
          </a:xfrm>
          <a:prstGeom prst="star5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CF853EF-F8FB-6847-289F-CADF68148AF0}"/>
              </a:ext>
            </a:extLst>
          </p:cNvPr>
          <p:cNvSpPr txBox="1"/>
          <p:nvPr/>
        </p:nvSpPr>
        <p:spPr>
          <a:xfrm>
            <a:off x="4295431" y="2199686"/>
            <a:ext cx="1345827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Most drop due to the ADR want to Ramp up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guest nationality — room nights &amp; change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Indonesia (+2,017 RN) · biggest decline: USA (-559 RN). ADR cols = H1 ADR per nationality, RN-weighted · '–' = outside that year's top-10.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D16DE3-DA0C-C11C-50DC-36EFD5989D57}"/>
              </a:ext>
            </a:extLst>
          </p:cNvPr>
          <p:cNvSpPr txBox="1"/>
          <p:nvPr/>
        </p:nvSpPr>
        <p:spPr>
          <a:xfrm>
            <a:off x="8636508" y="5522976"/>
            <a:ext cx="3741666" cy="3801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Checking SG </a:t>
            </a:r>
            <a:r>
              <a:rPr lang="en-US" dirty="0" err="1"/>
              <a:t>arrival.Indonesia</a:t>
            </a:r>
            <a:r>
              <a:rPr lang="en-US" dirty="0"/>
              <a:t>)?)</a:t>
            </a:r>
          </a:p>
        </p:txBody>
      </p:sp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23560" y="2240280"/>
          <a:ext cx="6144768" cy="3072384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4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42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3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4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+198%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17,758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+2,701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74DD1DA7-E131-9AAB-41FC-81A1C4A02C58}"/>
              </a:ext>
            </a:extLst>
          </p:cNvPr>
          <p:cNvSpPr/>
          <p:nvPr/>
        </p:nvSpPr>
        <p:spPr>
          <a:xfrm>
            <a:off x="12087225" y="1353312"/>
            <a:ext cx="5267492" cy="37554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-Key change come from Indonesia +198%, China and Taiwan and Japan  come. Can see booking from Germany in first H12026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USA UK are dropped.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This cam implies that make the ADR is more drop due to the </a:t>
            </a:r>
            <a:r>
              <a:rPr lang="en-US" dirty="0" err="1"/>
              <a:t>the</a:t>
            </a:r>
            <a:r>
              <a:rPr lang="en-US" dirty="0"/>
              <a:t> high spending power nationality has </a:t>
            </a:r>
            <a:r>
              <a:rPr lang="en-US" dirty="0" err="1"/>
              <a:t>benn</a:t>
            </a:r>
            <a:r>
              <a:rPr lang="en-US" dirty="0"/>
              <a:t> faded down and make the </a:t>
            </a:r>
            <a:r>
              <a:rPr lang="en-US" dirty="0" err="1"/>
              <a:t>overallADR</a:t>
            </a:r>
            <a:r>
              <a:rPr lang="en-US" dirty="0"/>
              <a:t> drop.</a:t>
            </a:r>
          </a:p>
          <a:p>
            <a:pPr algn="ctr"/>
            <a:endParaRPr lang="en-US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room nights by month 2026, H1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45920"/>
          <a:ext cx="667512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45920"/>
          <a:ext cx="40233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598932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(66% of room nights). Wholesale incl. Wholesale Group · Group incl. all group types · segments &lt;1% (Employee, Medical) omitted.</a:t>
            </a:r>
            <a:endParaRPr lang="en-US" sz="105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601CC85-EDF6-E437-4EA7-D3CE1E7B18AC}"/>
              </a:ext>
            </a:extLst>
          </p:cNvPr>
          <p:cNvSpPr/>
          <p:nvPr/>
        </p:nvSpPr>
        <p:spPr>
          <a:xfrm>
            <a:off x="6223819" y="5447071"/>
            <a:ext cx="806246" cy="22614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4041648"/>
          <a:ext cx="11347704" cy="185714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H1 ’26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H1 ’25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Mix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102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158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203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194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176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900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660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+36%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181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+262%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3,853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3,409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4,095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1,641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2,723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2,549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18,270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17,803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66%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610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559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438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394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622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614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3,237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4,269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12%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1,024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1,021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558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689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874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799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4,965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5,017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5,639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5,192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5,336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2,965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4,494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4,088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27,714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28,019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2" name="Rectangle 11">
            <a:extLst>
              <a:ext uri="{FF2B5EF4-FFF2-40B4-BE49-F238E27FC236}">
                <a16:creationId xmlns:a16="http://schemas.microsoft.com/office/drawing/2014/main" id="{CC1BA4B2-41AC-258A-E8E0-69FABC268976}"/>
              </a:ext>
            </a:extLst>
          </p:cNvPr>
          <p:cNvSpPr/>
          <p:nvPr/>
        </p:nvSpPr>
        <p:spPr>
          <a:xfrm>
            <a:off x="6362451" y="3758184"/>
            <a:ext cx="5375985" cy="21035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One key reason why the ADR drop is that we can see the OTA channel has+3% and ASR – 24% has drop this make our commission expense is higher than H2 2025 for sure. Due to commission from OTA is higher than ASR.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OTA growth +3% but the rate of OTA drop -8%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ADR by segment (฿ / room night)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= segment revenue ÷ room nights · 2026 vs 2025 (gray) · Chg % = H1 26 vs 25 · Wholesale incl. Wholesale Group · Group incl. all group types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601CC85-EDF6-E437-4EA7-D3CE1E7B18AC}"/>
              </a:ext>
            </a:extLst>
          </p:cNvPr>
          <p:cNvSpPr/>
          <p:nvPr/>
        </p:nvSpPr>
        <p:spPr>
          <a:xfrm>
            <a:off x="6223819" y="5447071"/>
            <a:ext cx="806246" cy="22614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1691640"/>
          <a:ext cx="11091672" cy="40398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00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84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84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9844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984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9844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9844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3268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1,402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1,504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1,396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1,328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1,295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1,236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1,369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+7.0%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1,373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1,387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1,383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1,207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1,254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1,089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1,279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935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935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935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935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959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941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940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-28.5%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904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1,349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1,314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1,667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1,671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1,288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1,521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1,224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1,140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1,430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-8.2%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1,893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1,782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1,512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1,418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1,349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1,281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1,559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1,588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1,536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1,319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1,295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1,094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970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1,295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1,658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1,503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1,319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1,208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1,113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1,103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1,295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1,366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1,257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1,436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1,127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1,011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1,249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+2.3%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1,284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1,270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1,258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1,274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1,096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1,065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1,221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1,361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1,361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1,581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1,586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1,289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1,450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1,188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1,087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1,375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-5.2%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1,710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1,630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1,423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1,356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1,260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1,212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1,451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5486400"/>
            <a:ext cx="1088136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50">
                <a:solidFill>
                  <a:srgbClr val="595959"/>
                </a:solidFill>
                <a:latin typeface="Calibri"/>
              </a:rPr>
              <a:t>Deepest H1 rate cut: Corporate LS (-28.5%) · '–' = no rooms sold that month.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vs comp set (STR) —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property (result sheets) vs its STR competitive set (Nana comp set, workbook Compset sheet, CoStar re-based Jun 2026) · H1 = Jan–Jun · Rank = position within the comp set (Occ · ADR · RevPAR)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graphicFrame>
        <p:nvGraphicFramePr>
          <p:cNvPr id="905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85682"/>
              </p:ext>
            </p:extLst>
          </p:nvPr>
        </p:nvGraphicFramePr>
        <p:xfrm>
          <a:off x="713232" y="2103120"/>
          <a:ext cx="10762088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90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15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0903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5339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646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3490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Hotel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Rank </a:t>
                      </a:r>
                      <a:r>
                        <a:rPr sz="105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Occ·ADR·RevPAR</a:t>
                      </a:r>
                      <a:endParaRPr sz="105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LYF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78.1%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-1.1%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1,374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-5.0%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1,073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-6.1%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 of 5 · 4 of 5 · 4 of 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(Nana)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68.8%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+3.7%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2,009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1,383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+1.2%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6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฿40.0M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฿36.2M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฿21.0M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−฿0.1M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฿40.0M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฿4.5M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−฿3.2M vs H1 2025 (฿7.7M)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AA202C9-125C-09C5-32E8-99465498E207}"/>
              </a:ext>
            </a:extLst>
          </p:cNvPr>
          <p:cNvSpPr/>
          <p:nvPr/>
        </p:nvSpPr>
        <p:spPr>
          <a:xfrm>
            <a:off x="4124171" y="7150608"/>
            <a:ext cx="5375985" cy="249653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Rev lower than LY 5.8 %</a:t>
            </a:r>
          </a:p>
          <a:p>
            <a:pPr algn="ctr"/>
            <a:r>
              <a:rPr lang="en-US" dirty="0" err="1"/>
              <a:t>OpeX</a:t>
            </a:r>
            <a:r>
              <a:rPr lang="en-US" dirty="0"/>
              <a:t> more than </a:t>
            </a:r>
            <a:r>
              <a:rPr lang="en-US" dirty="0" err="1"/>
              <a:t>lY</a:t>
            </a:r>
            <a:r>
              <a:rPr lang="en-US" dirty="0"/>
              <a:t> 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EA1E1BA-F75F-BD8C-B7F9-98880F310D58}"/>
              </a:ext>
            </a:extLst>
          </p:cNvPr>
          <p:cNvSpPr/>
          <p:nvPr/>
        </p:nvSpPr>
        <p:spPr>
          <a:xfrm>
            <a:off x="6314986" y="4632960"/>
            <a:ext cx="5535637" cy="211226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Rev lower than LY 5.8 %</a:t>
            </a:r>
          </a:p>
          <a:p>
            <a:pPr algn="ctr"/>
            <a:r>
              <a:rPr lang="en-US" dirty="0" err="1"/>
              <a:t>OpeX</a:t>
            </a:r>
            <a:r>
              <a:rPr lang="en-US" dirty="0"/>
              <a:t> more than LY maybe the shifting to OTA</a:t>
            </a:r>
            <a:endParaRPr lang="th-TH" dirty="0"/>
          </a:p>
          <a:p>
            <a:pPr algn="ctr"/>
            <a:r>
              <a:rPr lang="en-US" dirty="0"/>
              <a:t>GOP -12% form last year.</a:t>
            </a:r>
          </a:p>
          <a:p>
            <a:pPr algn="ctr"/>
            <a:r>
              <a:rPr lang="en-US" dirty="0"/>
              <a:t>JV expenses also more than last year</a:t>
            </a:r>
          </a:p>
          <a:p>
            <a:pPr algn="ctr"/>
            <a:r>
              <a:rPr lang="en-US" dirty="0"/>
              <a:t>EBIT drop due to the low revenue</a:t>
            </a:r>
          </a:p>
          <a:p>
            <a:pPr algn="ctr"/>
            <a:r>
              <a:rPr lang="en-US" dirty="0"/>
              <a:t>N pat minus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7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8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3,892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9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3,863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2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฿3,749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฿2,766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-3.5%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SP: ahead of budget in Jan–Feb high season; Mar–Jun broadly on plan — the re-based Pattaya STR shows a level market.</a:t>
            </a:r>
            <a:endParaRPr lang="en-US" sz="10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guest nationality — room nights &amp; change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China (+805 RN) · biggest decline: United States (-965 RN). ADR cols = H1 ADR per nationality, RN-weighted · '–' = outside that year's top-10.</a:t>
            </a:r>
            <a:endParaRPr lang="en-US" sz="1050" dirty="0"/>
          </a:p>
        </p:txBody>
      </p:sp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3468013"/>
              </p:ext>
            </p:extLst>
          </p:nvPr>
        </p:nvGraphicFramePr>
        <p:xfrm>
          <a:off x="5623560" y="1649387"/>
          <a:ext cx="6144768" cy="3072384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53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54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4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55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10,445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-1,183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Israel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United States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Russia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Republic of 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Australia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33,282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EA02EB18-E0AB-5D60-1913-73E36BECD347}"/>
              </a:ext>
            </a:extLst>
          </p:cNvPr>
          <p:cNvSpPr/>
          <p:nvPr/>
        </p:nvSpPr>
        <p:spPr>
          <a:xfrm>
            <a:off x="5888736" y="4832001"/>
            <a:ext cx="5751576" cy="152307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-Key change come from </a:t>
            </a:r>
            <a:r>
              <a:rPr lang="en-US" b="1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Australia Israel</a:t>
            </a:r>
            <a:endParaRPr lang="en-US" dirty="0">
              <a:latin typeface="Calibri" charset="0"/>
              <a:ea typeface="Calibri" charset="0"/>
              <a:cs typeface="Calibri" charset="0"/>
            </a:endParaRPr>
          </a:p>
          <a:p>
            <a:pPr algn="ctr"/>
            <a:r>
              <a:rPr lang="en-US" dirty="0">
                <a:latin typeface="Calibri" charset="0"/>
                <a:ea typeface="Calibri" charset="0"/>
                <a:cs typeface="Calibri" charset="0"/>
              </a:rPr>
              <a:t> and </a:t>
            </a:r>
            <a:r>
              <a:rPr lang="en-US" dirty="0" err="1">
                <a:latin typeface="Calibri" charset="0"/>
                <a:ea typeface="Calibri" charset="0"/>
                <a:cs typeface="Calibri" charset="0"/>
              </a:rPr>
              <a:t>Thialand</a:t>
            </a:r>
            <a:r>
              <a:rPr lang="en-US" dirty="0">
                <a:latin typeface="Calibri" charset="0"/>
                <a:ea typeface="Calibri" charset="0"/>
                <a:cs typeface="Calibri" charset="0"/>
              </a:rPr>
              <a:t>.</a:t>
            </a:r>
          </a:p>
          <a:p>
            <a:pPr algn="ctr"/>
            <a:r>
              <a:rPr lang="en-US" dirty="0">
                <a:latin typeface="Calibri" charset="0"/>
                <a:ea typeface="Calibri" charset="0"/>
                <a:cs typeface="Calibri" charset="0"/>
              </a:rPr>
              <a:t>ADR in PTY not increase from the </a:t>
            </a:r>
            <a:r>
              <a:rPr lang="en-US" dirty="0" err="1">
                <a:latin typeface="Calibri" charset="0"/>
                <a:ea typeface="Calibri" charset="0"/>
                <a:cs typeface="Calibri" charset="0"/>
              </a:rPr>
              <a:t>lY</a:t>
            </a:r>
            <a:r>
              <a:rPr lang="en-US" dirty="0">
                <a:latin typeface="Calibri" charset="0"/>
                <a:ea typeface="Calibri" charset="0"/>
                <a:cs typeface="Calibri" charset="0"/>
              </a:rPr>
              <a:t> in every nationality.</a:t>
            </a:r>
          </a:p>
          <a:p>
            <a:pPr algn="ctr"/>
            <a:r>
              <a:rPr lang="en-US" dirty="0"/>
              <a:t>  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room nights by month 2026, H1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45920"/>
          <a:ext cx="667512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45920"/>
          <a:ext cx="40233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598932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Wholesale (42% of room nights). Wholesale incl. Wholesale Group · Group incl. all group types · segments &lt;1% (Employee, Medical) omitted.</a:t>
            </a:r>
            <a:endParaRPr lang="en-US" sz="1050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4041648"/>
          <a:ext cx="11347704" cy="17922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H1 ’26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H1 ’25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Mix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312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340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378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238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347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264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1,879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1,386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+36%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389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297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422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357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213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308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1,986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2,270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-13%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2,725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2,119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2,427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1,984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1,791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1,698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12,744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12,400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29%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1,201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1,116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1,214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1,002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938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955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6,426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4,567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+41%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4,143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3,744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2,882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3,202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3,049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2,506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19,526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19,078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+2%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85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59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328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684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1,221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-44%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8,867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7,665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7,420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6,872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6,405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6,065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43,294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40,993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+6%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3ADC5836-419B-8C4E-63CD-67EA0F153579}"/>
              </a:ext>
            </a:extLst>
          </p:cNvPr>
          <p:cNvSpPr/>
          <p:nvPr/>
        </p:nvSpPr>
        <p:spPr>
          <a:xfrm>
            <a:off x="12372871" y="1501927"/>
            <a:ext cx="5602726" cy="25282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Asr increase I think Ascott is trying to emphasize their leisure brand maybe promote more in the </a:t>
            </a:r>
            <a:r>
              <a:rPr lang="en-US" dirty="0" err="1"/>
              <a:t>the</a:t>
            </a:r>
            <a:r>
              <a:rPr lang="en-US" dirty="0"/>
              <a:t> leisure property like SP.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Also there +36% change in booking in SS corporate SS and ADR of this is more than </a:t>
            </a:r>
            <a:r>
              <a:rPr lang="en-US" dirty="0" err="1"/>
              <a:t>lY</a:t>
            </a:r>
            <a:r>
              <a:rPr lang="en-US" dirty="0"/>
              <a:t>. Showing that it is have the demand of SS corporate more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ADR by segment (฿ / room night)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= segment revenue ÷ room nights · 2026 vs 2025 (gray) · Chg % = H1 26 vs 25 · Wholesale incl. Wholesale Group · Group incl. all group types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691640"/>
          <a:ext cx="11091672" cy="399775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00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84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84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9844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984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9844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9844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3268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4,184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3,285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3,330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3,878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3,568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3,277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3,570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+2.2%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3,718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3,806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3,557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3,388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3,111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3,309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3,493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3,319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3,014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3,104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3,053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3,339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3,143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3,155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+19.4%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2,745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2,828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2,609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2,208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2,316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2,940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2,643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4,617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4,788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3,799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3,955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3,702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3,766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4,145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-16.1%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6,251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5,217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4,921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4,643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4,262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3,757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4,940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4,875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4,949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4,160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4,306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3,935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3,903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4,382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-5.5%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5,787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5,167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4,829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4,477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4,226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3,895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4,640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3,040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3,231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3,008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2,914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2,697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2,702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2,954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-11.1%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3,686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3,564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3,208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3,350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2,984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2,901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3,323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3,163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4,245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3,157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2,487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2,121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2,075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2,533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-31.0%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3,783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3,398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2,838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3,738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2,611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2,804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3,671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3,827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3,910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3,478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3,453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3,222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3,202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3,545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-9.9%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4,481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4,188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3,898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3,877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3,508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3,331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3,936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486400"/>
            <a:ext cx="1088136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50">
                <a:solidFill>
                  <a:srgbClr val="595959"/>
                </a:solidFill>
                <a:latin typeface="Calibri"/>
              </a:rPr>
              <a:t>Deepest H1 rate cut: Group (-31.0%) · '–' = no rooms sold that month.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vs comp set (STR) —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property (result sheets) vs its STR competitive set (SP comp set, workbook Compset sheet, CoStar re-based Jun 2026) · H1 = Jan–Jun · Rank = position within the comp set (Occ · ADR · RevPAR)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graphicFrame>
        <p:nvGraphicFramePr>
          <p:cNvPr id="905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2244949"/>
              </p:ext>
            </p:extLst>
          </p:nvPr>
        </p:nvGraphicFramePr>
        <p:xfrm>
          <a:off x="713232" y="2103120"/>
          <a:ext cx="11091672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49047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Hotel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Rank Occ·ADR·RevPAR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73.8%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+5.3%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3,749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-4.9%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2,766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+0.2%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3 of 6 · 5 of 6 · 4 of 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(SP comp set)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71.5%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4,214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3,011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-8.9%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8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฿167.4M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−฿74.4M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−฿75.9M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฿100.7M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฿106.6M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−฿39.9M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−฿41.6M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−฿41.0M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฿52.2M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฿65.5M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฿25.7M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+฿1.8M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฿28.2M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฿166.4M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฿52.2M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−฿0.9M vs H1 2025 (฿53.1M)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779BFC3-8929-9F1D-90E3-08B5032A8251}"/>
              </a:ext>
            </a:extLst>
          </p:cNvPr>
          <p:cNvSpPr/>
          <p:nvPr/>
        </p:nvSpPr>
        <p:spPr>
          <a:xfrm>
            <a:off x="6195562" y="5501640"/>
            <a:ext cx="7414779" cy="14861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Rev is similar to last year.</a:t>
            </a:r>
          </a:p>
          <a:p>
            <a:pPr algn="ctr"/>
            <a:r>
              <a:rPr lang="en-US" dirty="0"/>
              <a:t>Can manage the a little bit </a:t>
            </a:r>
            <a:r>
              <a:rPr lang="en-US" dirty="0" err="1"/>
              <a:t>Opex</a:t>
            </a:r>
            <a:r>
              <a:rPr lang="en-US" dirty="0"/>
              <a:t> better.</a:t>
            </a:r>
          </a:p>
          <a:p>
            <a:pPr algn="ctr"/>
            <a:r>
              <a:rPr lang="en-US" dirty="0"/>
              <a:t>JV expense use more than last year make EBIT is lower.</a:t>
            </a:r>
          </a:p>
          <a:p>
            <a:pPr algn="ctr"/>
            <a:r>
              <a:rPr lang="en-US" dirty="0"/>
              <a:t>NPAT improve </a:t>
            </a:r>
            <a:r>
              <a:rPr lang="en-US" dirty="0" err="1"/>
              <a:t>bc</a:t>
            </a:r>
            <a:r>
              <a:rPr lang="en-US" dirty="0"/>
              <a:t> xxx interest </a:t>
            </a:r>
            <a:r>
              <a:rPr lang="en-US" dirty="0" err="1"/>
              <a:t>dp</a:t>
            </a:r>
            <a:endParaRPr lang="en-US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&amp; definitions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21208" y="758952"/>
            <a:ext cx="11091672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Arrivals: Ministry of Tourism &amp; Sports (MOTS) and AOT statistics, as compiled in the Segment Half-year workbook (tabs Arrival / Summary-1). 2026 data through June; June is preliminary (a system error dropped 4 days).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STR: Bangkok and Pattaya both re-based to the CoStar market/submarket reports of June 2026 (Jan–Jun; 2025 derived from reported % change; earlier compset rows not comparable). Per-property competitive sets: CoStar compset reports June 2026 (SR9/LYF/SP primary, AES secondary), Jan–Jun, used on the ADR-challenge and Us-vs-compsets slides. The old Compset tab series (Jan–May) is retained for history.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performance: monthly Occ/ADR/RevPAR actuals, MF budget and prior years read directly from the result FY24/FY25/FY26 sheets (official record); property ADR includes breakfast (LYF has none). Segment data reconciled to each property's source system, July 2026.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Segmentation: property tabs (2026 Jan–Jun). Nationality: room nights by nationality from each property tab — H1 2026 and 2025 (each year's own top-10).</a:t>
            </a:r>
            <a:endParaRPr lang="en-US" sz="12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Definitions &amp; notes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= room revenue ÷ rooms sold; RevPAR = room revenue ÷ rooms available; Occ = rooms sold ÷ rooms available. YTD = Jan–Jun 2026 unless stated.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figures weight the four properties by room inventory (SR9 464 · AES 403 · SP 333 · LYF 206 = 1,406 keys).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Financials (Revenue, OPEX, GOP/EBITDA, EBIT) from the result FY25/FY26 sheets — the official record, frozen at accounting close. AES &amp; SP June 2026 revenue derived from the result totals. NPAT is not recorded there.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charts are native PowerPoint charts — right-click → Edit Data to change any number.</a:t>
            </a:r>
            <a:endParaRPr lang="en-US" sz="1200" dirty="0"/>
          </a:p>
        </p:txBody>
      </p:sp>
      <p:sp>
        <p:nvSpPr>
          <p:cNvPr id="6" name="TextBox 5"/>
          <p:cNvSpPr txBox="1"/>
          <p:nvPr/>
        </p:nvSpPr>
        <p:spPr>
          <a:xfrm>
            <a:off x="548640" y="507492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dirty="0">
                <a:solidFill>
                  <a:srgbClr val="1E2761"/>
                </a:solidFill>
                <a:latin typeface="Calibri"/>
              </a:rPr>
              <a:t>STR competitive sets (CoStar, Jun 2026)</a:t>
            </a:r>
          </a:p>
          <a:p>
            <a:r>
              <a:rPr sz="1050" dirty="0">
                <a:solidFill>
                  <a:srgbClr val="6B7280"/>
                </a:solidFill>
                <a:latin typeface="Calibri"/>
              </a:rPr>
              <a:t>SR9 (primary): Jubilee Prestige Hotel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Ratchadapisek</a:t>
            </a:r>
            <a:r>
              <a:rPr sz="1050" dirty="0">
                <a:solidFill>
                  <a:srgbClr val="6B7280"/>
                </a:solidFill>
                <a:latin typeface="Calibri"/>
              </a:rPr>
              <a:t>, Grand Mercure Bangkok Atrium,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Centara</a:t>
            </a:r>
            <a:r>
              <a:rPr sz="1050" dirty="0">
                <a:solidFill>
                  <a:srgbClr val="6B7280"/>
                </a:solidFill>
                <a:latin typeface="Calibri"/>
              </a:rPr>
              <a:t> Grand at Central Plaza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Ladprao</a:t>
            </a:r>
            <a:r>
              <a:rPr sz="1050" dirty="0">
                <a:solidFill>
                  <a:srgbClr val="6B7280"/>
                </a:solidFill>
                <a:latin typeface="Calibri"/>
              </a:rPr>
              <a:t> Bangkok, Avani Ratchada Bangkok Hotel, Lancaster Bangkok</a:t>
            </a:r>
          </a:p>
          <a:p>
            <a:r>
              <a:rPr sz="1050" dirty="0">
                <a:solidFill>
                  <a:srgbClr val="6B7280"/>
                </a:solidFill>
                <a:latin typeface="Calibri"/>
              </a:rPr>
              <a:t>AES (secondary): Pullman Bangkok Hotel G, Chatrium Residence Sathon Bangkok, COMO Metropolitan Bangkok, Marriott Executive Apartment Sathorn Vista, Eastin Grand Hotel Sathorn Bangkok</a:t>
            </a:r>
          </a:p>
          <a:p>
            <a:r>
              <a:rPr sz="1050" dirty="0">
                <a:solidFill>
                  <a:srgbClr val="6B7280"/>
                </a:solidFill>
                <a:latin typeface="Calibri"/>
              </a:rPr>
              <a:t>LYF (primary): ibis Bangkok Sukhumvit 4, Hotel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Graand</a:t>
            </a:r>
            <a:r>
              <a:rPr sz="1050" dirty="0">
                <a:solidFill>
                  <a:srgbClr val="6B7280"/>
                </a:solidFill>
                <a:latin typeface="Calibri"/>
              </a:rPr>
              <a:t> Swiss Bangkok, TRIBE Living Bangkok Sukhumvit 39,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Ruamchitt</a:t>
            </a:r>
            <a:r>
              <a:rPr sz="1050" dirty="0">
                <a:solidFill>
                  <a:srgbClr val="6B7280"/>
                </a:solidFill>
                <a:latin typeface="Calibri"/>
              </a:rPr>
              <a:t> Hotel</a:t>
            </a:r>
          </a:p>
          <a:p>
            <a:r>
              <a:rPr sz="1050" dirty="0">
                <a:solidFill>
                  <a:srgbClr val="6B7280"/>
                </a:solidFill>
                <a:latin typeface="Calibri"/>
              </a:rPr>
              <a:t>SP (primary): AVANI Pattaya Resort, Hard Rock Hotel Pattaya, Holiday Inn Pattaya, Melia Pattaya Hotel, Grande Centre Point Pattaya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570ce379-ef9e-488e-8e74-44d887057c06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B95B0B08412A849A5A64508D0AA5F92" ma:contentTypeVersion="9" ma:contentTypeDescription="Create a new document." ma:contentTypeScope="" ma:versionID="4787747963eddd222ebc2112c47bd42e">
  <xsd:schema xmlns:xsd="http://www.w3.org/2001/XMLSchema" xmlns:xs="http://www.w3.org/2001/XMLSchema" xmlns:p="http://schemas.microsoft.com/office/2006/metadata/properties" xmlns:ns3="570ce379-ef9e-488e-8e74-44d887057c06" targetNamespace="http://schemas.microsoft.com/office/2006/metadata/properties" ma:root="true" ma:fieldsID="6f05b7aeef960c0d17e92540f6e08c72" ns3:_="">
    <xsd:import namespace="570ce379-ef9e-488e-8e74-44d887057c06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70ce379-ef9e-488e-8e74-44d887057c06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1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F51FCA5-1E74-4B12-B3EA-47FCB2B4455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9B789EF4-9820-4A59-9D05-AF608D83E433}">
  <ds:schemaRefs>
    <ds:schemaRef ds:uri="http://purl.org/dc/elements/1.1/"/>
    <ds:schemaRef ds:uri="570ce379-ef9e-488e-8e74-44d887057c06"/>
    <ds:schemaRef ds:uri="http://purl.org/dc/dcmitype/"/>
    <ds:schemaRef ds:uri="http://www.w3.org/XML/1998/namespace"/>
    <ds:schemaRef ds:uri="http://purl.org/dc/terms/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customXml/itemProps3.xml><?xml version="1.0" encoding="utf-8"?>
<ds:datastoreItem xmlns:ds="http://schemas.openxmlformats.org/officeDocument/2006/customXml" ds:itemID="{EDB74C21-A0DA-4EDB-999A-8BD9B5CF786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70ce379-ef9e-488e-8e74-44d887057c0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13871</TotalTime>
  <Words>11908</Words>
  <Application>Microsoft Office PowerPoint</Application>
  <PresentationFormat>Widescreen</PresentationFormat>
  <Paragraphs>3931</Paragraphs>
  <Slides>54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5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Ariya Ariyachotima</cp:lastModifiedBy>
  <cp:revision>8</cp:revision>
  <dcterms:created xsi:type="dcterms:W3CDTF">2026-07-24T09:01:49Z</dcterms:created>
  <dcterms:modified xsi:type="dcterms:W3CDTF">2026-08-03T09:55:13Z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0x010100BB95B0B08412A849A5A64508D0AA5F92</vt:lpwstr>
  </property>
</Properties>
</file>