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2.xml" ContentType="application/vnd.openxmlformats-officedocument.drawingml.chart+xml"/>
  <Override PartName="/ppt/notesSlides/notesSlide7.xml" ContentType="application/vnd.openxmlformats-officedocument.presentationml.notesSlide+xml"/>
  <Override PartName="/ppt/charts/chart3.xml" ContentType="application/vnd.openxmlformats-officedocument.drawingml.chart+xml"/>
  <Override PartName="/ppt/notesSlides/notesSlide8.xml" ContentType="application/vnd.openxmlformats-officedocument.presentationml.notesSlide+xml"/>
  <Override PartName="/ppt/charts/chart4.xml" ContentType="application/vnd.openxmlformats-officedocument.drawingml.chart+xml"/>
  <Override PartName="/ppt/notesSlides/notesSlide9.xml" ContentType="application/vnd.openxmlformats-officedocument.presentationml.notesSlide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Slides/notesSlide14.xml" ContentType="application/vnd.openxmlformats-officedocument.presentationml.notesSlide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rts/chart13.xml" ContentType="application/vnd.openxmlformats-officedocument.drawingml.chart+xml"/>
  <Override PartName="/ppt/notesSlides/notesSlide19.xml" ContentType="application/vnd.openxmlformats-officedocument.presentationml.notesSlide+xml"/>
  <Override PartName="/ppt/charts/chart14.xml" ContentType="application/vnd.openxmlformats-officedocument.drawingml.chart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rts/chart15.xml" ContentType="application/vnd.openxmlformats-officedocument.drawingml.chart+xml"/>
  <Override PartName="/ppt/notesSlides/notesSlide22.xml" ContentType="application/vnd.openxmlformats-officedocument.presentationml.notesSlide+xml"/>
  <Override PartName="/ppt/charts/chart16.xml" ContentType="application/vnd.openxmlformats-officedocument.drawingml.chart+xml"/>
  <Override PartName="/ppt/notesSlides/notesSlide23.xml" ContentType="application/vnd.openxmlformats-officedocument.presentationml.notes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19.xml" ContentType="application/vnd.openxmlformats-officedocument.drawingml.chart+xml"/>
  <Override PartName="/ppt/notesSlides/notesSlide26.xml" ContentType="application/vnd.openxmlformats-officedocument.presentationml.notesSlide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charts/chart22.xml" ContentType="application/vnd.openxmlformats-officedocument.drawingml.chart+xml"/>
  <Override PartName="/ppt/notesSlides/notesSlide29.xml" ContentType="application/vnd.openxmlformats-officedocument.presentationml.notesSlide+xml"/>
  <Override PartName="/ppt/charts/chart23.xml" ContentType="application/vnd.openxmlformats-officedocument.drawingml.chart+xml"/>
  <Override PartName="/ppt/notesSlides/notesSlide30.xml" ContentType="application/vnd.openxmlformats-officedocument.presentationml.notesSlide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rts/chart26.xml" ContentType="application/vnd.openxmlformats-officedocument.drawingml.chart+xml"/>
  <Override PartName="/ppt/notesSlides/notesSlide33.xml" ContentType="application/vnd.openxmlformats-officedocument.presentationml.notesSlide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charts/chart29.xml" ContentType="application/vnd.openxmlformats-officedocument.drawingml.chart+xml"/>
  <Override PartName="/ppt/notesSlides/notesSlide36.xml" ContentType="application/vnd.openxmlformats-officedocument.presentationml.notesSlide+xml"/>
  <Override PartName="/ppt/charts/chart30.xml" ContentType="application/vnd.openxmlformats-officedocument.drawingml.chart+xml"/>
  <Override PartName="/ppt/notesSlides/notesSlide37.xml" ContentType="application/vnd.openxmlformats-officedocument.presentationml.notes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charts/chart33.xml" ContentType="application/vnd.openxmlformats-officedocument.drawingml.chart+xml"/>
  <Override PartName="/ppt/notesSlides/notesSlide40.xml" ContentType="application/vnd.openxmlformats-officedocument.presentationml.notesSlide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charts/chart36.xml" ContentType="application/vnd.openxmlformats-officedocument.drawingml.chart+xml"/>
  <Override PartName="/ppt/notesSlides/notesSlide43.xml" ContentType="application/vnd.openxmlformats-officedocument.presentationml.notesSlide+xml"/>
  <Override PartName="/ppt/charts/chart37.xml" ContentType="application/vnd.openxmlformats-officedocument.drawingml.chart+xml"/>
  <Override PartName="/ppt/notesSlides/notesSlide44.xml" ContentType="application/vnd.openxmlformats-officedocument.presentationml.notesSlide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harts/chart40.xml" ContentType="application/vnd.openxmlformats-officedocument.drawingml.chart+xml"/>
  <Override PartName="/ppt/notesSlides/notesSlide47.xml" ContentType="application/vnd.openxmlformats-officedocument.presentationml.notes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notesSlides/notesSlide4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5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303" r:id="rId16"/>
    <p:sldId id="305" r:id="rId17"/>
    <p:sldId id="265" r:id="rId18"/>
    <p:sldId id="266" r:id="rId19"/>
    <p:sldId id="267" r:id="rId20"/>
    <p:sldId id="269" r:id="rId21"/>
    <p:sldId id="268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  <p:sldId id="292" r:id="rId45"/>
    <p:sldId id="293" r:id="rId46"/>
    <p:sldId id="294" r:id="rId47"/>
    <p:sldId id="295" r:id="rId48"/>
    <p:sldId id="296" r:id="rId49"/>
    <p:sldId id="297" r:id="rId50"/>
    <p:sldId id="298" r:id="rId51"/>
    <p:sldId id="299" r:id="rId52"/>
    <p:sldId id="300" r:id="rId53"/>
    <p:sldId id="301" r:id="rId5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93" d="100"/>
          <a:sy n="93" d="100"/>
        </p:scale>
        <p:origin x="1248" y="4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theme" Target="theme/theme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presProps" Target="presProps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viewProps" Target="viewProp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77.56</c:v>
                </c:pt>
                <c:pt idx="1">
                  <c:v>78.650000000000006</c:v>
                </c:pt>
                <c:pt idx="2">
                  <c:v>68.83</c:v>
                </c:pt>
                <c:pt idx="3">
                  <c:v>62.27</c:v>
                </c:pt>
                <c:pt idx="4">
                  <c:v>63.27</c:v>
                </c:pt>
                <c:pt idx="5">
                  <c:v>63.67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75.84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65.52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4611.84</c:v>
                </c:pt>
                <c:pt idx="1">
                  <c:v>4292.67</c:v>
                </c:pt>
                <c:pt idx="2">
                  <c:v>3896.31</c:v>
                </c:pt>
                <c:pt idx="3">
                  <c:v>3875.18</c:v>
                </c:pt>
                <c:pt idx="4">
                  <c:v>3644.5</c:v>
                </c:pt>
                <c:pt idx="5">
                  <c:v>3576.56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3576.99</c:v>
                </c:pt>
                <c:pt idx="1">
                  <c:v>3376.38</c:v>
                </c:pt>
                <c:pt idx="2">
                  <c:v>2681.76</c:v>
                </c:pt>
                <c:pt idx="3">
                  <c:v>2412.9299999999998</c:v>
                </c:pt>
                <c:pt idx="4">
                  <c:v>2305.9</c:v>
                </c:pt>
                <c:pt idx="5">
                  <c:v>2277.27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3251.07</c:v>
                </c:pt>
                <c:pt idx="1">
                  <c:v>3516.32</c:v>
                </c:pt>
                <c:pt idx="2">
                  <c:v>2887.21</c:v>
                </c:pt>
                <c:pt idx="3">
                  <c:v>2484.4699999999998</c:v>
                </c:pt>
                <c:pt idx="4">
                  <c:v>2376.6799999999998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79.06</c:v>
                </c:pt>
                <c:pt idx="1">
                  <c:v>73.760000000000005</c:v>
                </c:pt>
                <c:pt idx="2">
                  <c:v>67.959999999999994</c:v>
                </c:pt>
                <c:pt idx="3">
                  <c:v>63.13</c:v>
                </c:pt>
                <c:pt idx="4">
                  <c:v>58.16</c:v>
                </c:pt>
                <c:pt idx="5">
                  <c:v>53.54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74.53</c:v>
                </c:pt>
                <c:pt idx="1">
                  <c:v>74.62</c:v>
                </c:pt>
                <c:pt idx="2">
                  <c:v>69.349999999999994</c:v>
                </c:pt>
                <c:pt idx="3">
                  <c:v>63.76</c:v>
                </c:pt>
                <c:pt idx="4">
                  <c:v>58.67</c:v>
                </c:pt>
                <c:pt idx="5">
                  <c:v>54.97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3970.6</c:v>
                </c:pt>
                <c:pt idx="1">
                  <c:v>3553.85</c:v>
                </c:pt>
                <c:pt idx="2">
                  <c:v>3319.68</c:v>
                </c:pt>
                <c:pt idx="3">
                  <c:v>3523.02</c:v>
                </c:pt>
                <c:pt idx="4">
                  <c:v>3266.75</c:v>
                </c:pt>
                <c:pt idx="5">
                  <c:v>3029.16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3764.51</c:v>
                </c:pt>
                <c:pt idx="1">
                  <c:v>3932.53</c:v>
                </c:pt>
                <c:pt idx="2">
                  <c:v>3341.82</c:v>
                </c:pt>
                <c:pt idx="3">
                  <c:v>3510.72</c:v>
                </c:pt>
                <c:pt idx="4">
                  <c:v>3258.53</c:v>
                </c:pt>
                <c:pt idx="5">
                  <c:v>3149.52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3139.22</c:v>
                </c:pt>
                <c:pt idx="1">
                  <c:v>2621.3200000000002</c:v>
                </c:pt>
                <c:pt idx="2">
                  <c:v>2256.1999999999998</c:v>
                </c:pt>
                <c:pt idx="3">
                  <c:v>2224.12</c:v>
                </c:pt>
                <c:pt idx="4">
                  <c:v>1899.8</c:v>
                </c:pt>
                <c:pt idx="5">
                  <c:v>1621.91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2805.61</c:v>
                </c:pt>
                <c:pt idx="1">
                  <c:v>2934.6</c:v>
                </c:pt>
                <c:pt idx="2">
                  <c:v>2317.67</c:v>
                </c:pt>
                <c:pt idx="3">
                  <c:v>2238.46</c:v>
                </c:pt>
                <c:pt idx="4">
                  <c:v>1911.68</c:v>
                </c:pt>
                <c:pt idx="5">
                  <c:v>1731.14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(53,845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(53,845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854-4B4A-86A2-2B732C9F1C0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854-4B4A-86A2-2B732C9F1C0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854-4B4A-86A2-2B732C9F1C0D}"/>
              </c:ext>
            </c:extLst>
          </c:dPt>
          <c:dPt>
            <c:idx val="3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854-4B4A-86A2-2B732C9F1C0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854-4B4A-86A2-2B732C9F1C0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854-4B4A-86A2-2B732C9F1C0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854-4B4A-86A2-2B732C9F1C0D}"/>
              </c:ext>
            </c:extLst>
          </c:dPt>
          <c:dPt>
            <c:idx val="7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854-4B4A-86A2-2B732C9F1C0D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854-4B4A-86A2-2B732C9F1C0D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854-4B4A-86A2-2B732C9F1C0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854-4B4A-86A2-2B732C9F1C0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854-4B4A-86A2-2B732C9F1C0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854-4B4A-86A2-2B732C9F1C0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854-4B4A-86A2-2B732C9F1C0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854-4B4A-86A2-2B732C9F1C0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854-4B4A-86A2-2B732C9F1C0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854-4B4A-86A2-2B732C9F1C0D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854-4B4A-86A2-2B732C9F1C0D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854-4B4A-86A2-2B732C9F1C0D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854-4B4A-86A2-2B732C9F1C0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Korea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India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2863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1455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854-4B4A-86A2-2B732C9F1C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(56,227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(56,227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04D-4E9A-B8A7-135446A19AA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04D-4E9A-B8A7-135446A19AA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04D-4E9A-B8A7-135446A19AA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04D-4E9A-B8A7-135446A19AA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04D-4E9A-B8A7-135446A19AA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04D-4E9A-B8A7-135446A19AA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04D-4E9A-B8A7-135446A19AA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04D-4E9A-B8A7-135446A19AA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04D-4E9A-B8A7-135446A19AA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04D-4E9A-B8A7-135446A19AA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04D-4E9A-B8A7-135446A19AA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04D-4E9A-B8A7-135446A19AA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04D-4E9A-B8A7-135446A19AA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04D-4E9A-B8A7-135446A19AA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04D-4E9A-B8A7-135446A19AA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04D-4E9A-B8A7-135446A19AA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04D-4E9A-B8A7-135446A19AA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04D-4E9A-B8A7-135446A19AA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04D-4E9A-B8A7-135446A19AA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04D-4E9A-B8A7-135446A19AA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04D-4E9A-B8A7-135446A19AA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(33,413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(33,413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0CB-4FE8-8405-8F7ACABA4BD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0CB-4FE8-8405-8F7ACABA4BDB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0CB-4FE8-8405-8F7ACABA4BDB}"/>
              </c:ext>
            </c:extLst>
          </c:dPt>
          <c:dPt>
            <c:idx val="3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0CB-4FE8-8405-8F7ACABA4BDB}"/>
              </c:ext>
            </c:extLst>
          </c:dPt>
          <c:dPt>
            <c:idx val="4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0CB-4FE8-8405-8F7ACABA4BDB}"/>
              </c:ext>
            </c:extLst>
          </c:dPt>
          <c:dPt>
            <c:idx val="5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80CB-4FE8-8405-8F7ACABA4BDB}"/>
              </c:ext>
            </c:extLst>
          </c:dPt>
          <c:dPt>
            <c:idx val="6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80CB-4FE8-8405-8F7ACABA4BDB}"/>
              </c:ext>
            </c:extLst>
          </c:dPt>
          <c:dPt>
            <c:idx val="7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80CB-4FE8-8405-8F7ACABA4BDB}"/>
              </c:ext>
            </c:extLst>
          </c:dPt>
          <c:dPt>
            <c:idx val="8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80CB-4FE8-8405-8F7ACABA4BDB}"/>
              </c:ext>
            </c:extLst>
          </c:dPt>
          <c:dPt>
            <c:idx val="9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80CB-4FE8-8405-8F7ACABA4BD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80CB-4FE8-8405-8F7ACABA4BD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80CB-4FE8-8405-8F7ACABA4BD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80CB-4FE8-8405-8F7ACABA4BD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80CB-4FE8-8405-8F7ACABA4BD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80CB-4FE8-8405-8F7ACABA4BD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80CB-4FE8-8405-8F7ACABA4BD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80CB-4FE8-8405-8F7ACABA4BD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80CB-4FE8-8405-8F7ACABA4BD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80CB-4FE8-8405-8F7ACABA4BD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80CB-4FE8-8405-8F7ACABA4B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Singapore</c:v>
                </c:pt>
                <c:pt idx="3">
                  <c:v>Korea</c:v>
                </c:pt>
                <c:pt idx="4">
                  <c:v>Qatar</c:v>
                </c:pt>
                <c:pt idx="5">
                  <c:v>USA</c:v>
                </c:pt>
                <c:pt idx="6">
                  <c:v>Australia</c:v>
                </c:pt>
                <c:pt idx="7">
                  <c:v>Germany</c:v>
                </c:pt>
                <c:pt idx="8">
                  <c:v>Hong Kong</c:v>
                </c:pt>
                <c:pt idx="9">
                  <c:v>Thailand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2263</c:v>
                </c:pt>
                <c:pt idx="3">
                  <c:v>2214</c:v>
                </c:pt>
                <c:pt idx="4">
                  <c:v>1173</c:v>
                </c:pt>
                <c:pt idx="5">
                  <c:v>2078</c:v>
                </c:pt>
                <c:pt idx="6">
                  <c:v>1740</c:v>
                </c:pt>
                <c:pt idx="7">
                  <c:v>1536</c:v>
                </c:pt>
                <c:pt idx="8">
                  <c:v>1241</c:v>
                </c:pt>
                <c:pt idx="9">
                  <c:v>1524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80CB-4FE8-8405-8F7ACABA4B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(35,943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(35,943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8DF-498B-BB5B-BC01AA448DF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8DF-498B-BB5B-BC01AA448DF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8DF-498B-BB5B-BC01AA448DF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8DF-498B-BB5B-BC01AA448DF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8DF-498B-BB5B-BC01AA448DF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8DF-498B-BB5B-BC01AA448DF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58DF-498B-BB5B-BC01AA448DF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58DF-498B-BB5B-BC01AA448DF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58DF-498B-BB5B-BC01AA448DF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58DF-498B-BB5B-BC01AA448DF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8DF-498B-BB5B-BC01AA448DF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8DF-498B-BB5B-BC01AA448DF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8DF-498B-BB5B-BC01AA448DF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8DF-498B-BB5B-BC01AA448DF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58DF-498B-BB5B-BC01AA448DF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58DF-498B-BB5B-BC01AA448DF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58DF-498B-BB5B-BC01AA448DF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58DF-498B-BB5B-BC01AA448DF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58DF-498B-BB5B-BC01AA448DF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58DF-498B-BB5B-BC01AA448DF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58DF-498B-BB5B-BC01AA448D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2025 (18,610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(18,610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292-41FC-8A7E-79F1562EBA5F}"/>
              </c:ext>
            </c:extLst>
          </c:dPt>
          <c:dPt>
            <c:idx val="1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292-41FC-8A7E-79F1562EBA5F}"/>
              </c:ext>
            </c:extLst>
          </c:dPt>
          <c:dPt>
            <c:idx val="2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292-41FC-8A7E-79F1562EBA5F}"/>
              </c:ext>
            </c:extLst>
          </c:dPt>
          <c:dPt>
            <c:idx val="3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292-41FC-8A7E-79F1562EBA5F}"/>
              </c:ext>
            </c:extLst>
          </c:dPt>
          <c:dPt>
            <c:idx val="4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292-41FC-8A7E-79F1562EBA5F}"/>
              </c:ext>
            </c:extLst>
          </c:dPt>
          <c:dPt>
            <c:idx val="5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292-41FC-8A7E-79F1562EBA5F}"/>
              </c:ext>
            </c:extLst>
          </c:dPt>
          <c:dPt>
            <c:idx val="6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292-41FC-8A7E-79F1562EBA5F}"/>
              </c:ext>
            </c:extLst>
          </c:dPt>
          <c:dPt>
            <c:idx val="7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292-41FC-8A7E-79F1562EBA5F}"/>
              </c:ext>
            </c:extLst>
          </c:dPt>
          <c:dPt>
            <c:idx val="8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0292-41FC-8A7E-79F1562EBA5F}"/>
              </c:ext>
            </c:extLst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0292-41FC-8A7E-79F1562EBA5F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292-41FC-8A7E-79F1562EBA5F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292-41FC-8A7E-79F1562EBA5F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292-41FC-8A7E-79F1562EBA5F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292-41FC-8A7E-79F1562EBA5F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292-41FC-8A7E-79F1562EBA5F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292-41FC-8A7E-79F1562EBA5F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292-41FC-8A7E-79F1562EBA5F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292-41FC-8A7E-79F1562EBA5F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0292-41FC-8A7E-79F1562EBA5F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0292-41FC-8A7E-79F1562EBA5F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Singapore</c:v>
                </c:pt>
                <c:pt idx="2">
                  <c:v>Malaysia</c:v>
                </c:pt>
                <c:pt idx="3">
                  <c:v>USA</c:v>
                </c:pt>
                <c:pt idx="4">
                  <c:v>Thailand</c:v>
                </c:pt>
                <c:pt idx="5">
                  <c:v>Indonesia</c:v>
                </c:pt>
                <c:pt idx="6">
                  <c:v>Taiwan</c:v>
                </c:pt>
                <c:pt idx="7">
                  <c:v>UK</c:v>
                </c:pt>
                <c:pt idx="8">
                  <c:v>Japan</c:v>
                </c:pt>
                <c:pt idx="9">
                  <c:v>Philippines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2762</c:v>
                </c:pt>
                <c:pt idx="2">
                  <c:v>2138</c:v>
                </c:pt>
                <c:pt idx="3">
                  <c:v>1999</c:v>
                </c:pt>
                <c:pt idx="4">
                  <c:v>1873</c:v>
                </c:pt>
                <c:pt idx="5">
                  <c:v>1017</c:v>
                </c:pt>
                <c:pt idx="6">
                  <c:v>1200</c:v>
                </c:pt>
                <c:pt idx="7">
                  <c:v>1201</c:v>
                </c:pt>
                <c:pt idx="8">
                  <c:v>926</c:v>
                </c:pt>
                <c:pt idx="9">
                  <c:v>852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0292-41FC-8A7E-79F1562EBA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H1 2026 (20,459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(20,459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C6F-4E40-ACB1-DD19A7B8BA4B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C6F-4E40-ACB1-DD19A7B8BA4B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AC6F-4E40-ACB1-DD19A7B8BA4B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AC6F-4E40-ACB1-DD19A7B8BA4B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AC6F-4E40-ACB1-DD19A7B8BA4B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AC6F-4E40-ACB1-DD19A7B8BA4B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AC6F-4E40-ACB1-DD19A7B8BA4B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AC6F-4E40-ACB1-DD19A7B8BA4B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AC6F-4E40-ACB1-DD19A7B8BA4B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AC6F-4E40-ACB1-DD19A7B8BA4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AC6F-4E40-ACB1-DD19A7B8BA4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C6F-4E40-ACB1-DD19A7B8BA4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AC6F-4E40-ACB1-DD19A7B8BA4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C6F-4E40-ACB1-DD19A7B8BA4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AC6F-4E40-ACB1-DD19A7B8BA4B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AC6F-4E40-ACB1-DD19A7B8BA4B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AC6F-4E40-ACB1-DD19A7B8BA4B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AC6F-4E40-ACB1-DD19A7B8BA4B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AC6F-4E40-ACB1-DD19A7B8BA4B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AC6F-4E40-ACB1-DD19A7B8BA4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AC6F-4E40-ACB1-DD19A7B8BA4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2025 (32,088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2025 (32,088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2F52-40E1-B98F-12976C9A66D2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2F52-40E1-B98F-12976C9A66D2}"/>
              </c:ext>
            </c:extLst>
          </c:dPt>
          <c:dPt>
            <c:idx val="2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2F52-40E1-B98F-12976C9A66D2}"/>
              </c:ext>
            </c:extLst>
          </c:dPt>
          <c:dPt>
            <c:idx val="3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2F52-40E1-B98F-12976C9A66D2}"/>
              </c:ext>
            </c:extLst>
          </c:dPt>
          <c:dPt>
            <c:idx val="4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2F52-40E1-B98F-12976C9A66D2}"/>
              </c:ext>
            </c:extLst>
          </c:dPt>
          <c:dPt>
            <c:idx val="5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2F52-40E1-B98F-12976C9A66D2}"/>
              </c:ext>
            </c:extLst>
          </c:dPt>
          <c:dPt>
            <c:idx val="6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2F52-40E1-B98F-12976C9A66D2}"/>
              </c:ext>
            </c:extLst>
          </c:dPt>
          <c:dPt>
            <c:idx val="7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2F52-40E1-B98F-12976C9A66D2}"/>
              </c:ext>
            </c:extLst>
          </c:dPt>
          <c:dPt>
            <c:idx val="8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2F52-40E1-B98F-12976C9A66D2}"/>
              </c:ext>
            </c:extLst>
          </c:dPt>
          <c:dPt>
            <c:idx val="9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2F52-40E1-B98F-12976C9A66D2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2F52-40E1-B98F-12976C9A66D2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2F52-40E1-B98F-12976C9A66D2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2F52-40E1-B98F-12976C9A66D2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2F52-40E1-B98F-12976C9A66D2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2F52-40E1-B98F-12976C9A66D2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2F52-40E1-B98F-12976C9A66D2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2F52-40E1-B98F-12976C9A66D2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2F52-40E1-B98F-12976C9A66D2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2F52-40E1-B98F-12976C9A66D2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2F52-40E1-B98F-12976C9A66D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United States</c:v>
                </c:pt>
                <c:pt idx="3">
                  <c:v>Thailand</c:v>
                </c:pt>
                <c:pt idx="4">
                  <c:v>Israel</c:v>
                </c:pt>
                <c:pt idx="5">
                  <c:v>Taiwan</c:v>
                </c:pt>
                <c:pt idx="6">
                  <c:v>Republic of Korea</c:v>
                </c:pt>
                <c:pt idx="7">
                  <c:v>Russia</c:v>
                </c:pt>
                <c:pt idx="8">
                  <c:v>Japan</c:v>
                </c:pt>
                <c:pt idx="9">
                  <c:v>Australia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3346</c:v>
                </c:pt>
                <c:pt idx="3">
                  <c:v>2963</c:v>
                </c:pt>
                <c:pt idx="4">
                  <c:v>2509</c:v>
                </c:pt>
                <c:pt idx="5">
                  <c:v>2369</c:v>
                </c:pt>
                <c:pt idx="6">
                  <c:v>2040</c:v>
                </c:pt>
                <c:pt idx="7">
                  <c:v>2030</c:v>
                </c:pt>
                <c:pt idx="8">
                  <c:v>1663</c:v>
                </c:pt>
                <c:pt idx="9">
                  <c:v>1310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2F52-40E1-B98F-12976C9A66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Calibri"/>
              </a:rPr>
              <a:t>H1 2026 (33,282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H1 2026 (33,282 RN)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B175-473F-98C1-EEA717B74CC3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B175-473F-98C1-EEA717B74CC3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B175-473F-98C1-EEA717B74CC3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B175-473F-98C1-EEA717B74CC3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B175-473F-98C1-EEA717B74CC3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B175-473F-98C1-EEA717B74CC3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B175-473F-98C1-EEA717B74CC3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B175-473F-98C1-EEA717B74CC3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B175-473F-98C1-EEA717B74CC3}"/>
              </c:ext>
            </c:extLst>
          </c:dPt>
          <c:dPt>
            <c:idx val="9"/>
            <c:bubble3D val="0"/>
            <c:spPr>
              <a:solidFill>
                <a:srgbClr val="AEB6C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3-B175-473F-98C1-EEA717B74CC3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B175-473F-98C1-EEA717B74CC3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B175-473F-98C1-EEA717B74CC3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B175-473F-98C1-EEA717B74CC3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B175-473F-98C1-EEA717B74CC3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B175-473F-98C1-EEA717B74CC3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B175-473F-98C1-EEA717B74CC3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B175-473F-98C1-EEA717B74CC3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B175-473F-98C1-EEA717B74CC3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B175-473F-98C1-EEA717B74CC3}"/>
                </c:ext>
              </c:extLst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85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B175-473F-98C1-EEA717B74CC3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B175-473F-98C1-EEA717B74CC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2.xml"/><Relationship Id="rId4" Type="http://schemas.openxmlformats.org/officeDocument/2006/relationships/chart" Target="../charts/chart1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9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4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6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9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3.xm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4.xml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6.xml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7.xm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8.xml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9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1.xm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4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vs budget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(฿590.4M LY)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margin 24.6%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2286000"/>
            <a:ext cx="6944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Spending power</a:t>
            </a:r>
            <a:endParaRPr lang="en-US" sz="4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A7CEE0D-3D35-82DE-03ED-0E3986E87329}"/>
              </a:ext>
            </a:extLst>
          </p:cNvPr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2286000"/>
            <a:ext cx="595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Spending power</a:t>
            </a:r>
            <a:endParaRPr lang="en-US" sz="4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1974A1B-FDE2-84D3-7777-37BD93B1CDFC}"/>
              </a:ext>
            </a:extLst>
          </p:cNvPr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Market (STR)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compset · Pattaya compset — Occ, ADR, RevPAR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(STR report):   Occ +2.6%   ·   ADR -1.2%   ·   RevPAR +1.3%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series (CoStar market report, Jun 2026): the broad Bangkok market held rate in H1 (ADR −1.2%) and grew occupancy (+2.6 pts) — the deep discounting sits in our direct serviced-apartment compset, not the whole market. Source: Bangkok STR Jun 2026 (submarket).xls.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(STR report):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-0.1 %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 </a:t>
            </a:r>
            <a:r>
              <a:rPr lang="en-US" sz="1250" b="1" dirty="0">
                <a:solidFill>
                  <a:srgbClr val="00B0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+0.9%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+0.8%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series (CoStar submarket report, Jun 2026): the Pattaya market is broadly level vs 2025 — occupancy eases through Q2 as normal seasonality, while rate holds (Jun ADR +4.0%). Source: Pattaya STR Jun 2026 (submarket).xls.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 vs our compsets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hotel against its own STR competitive set · Jan–Jun · STR basis (differs from result-sheet ADR)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263955"/>
              </p:ext>
            </p:extLst>
          </p:nvPr>
        </p:nvGraphicFramePr>
        <p:xfrm>
          <a:off x="548640" y="1920240"/>
          <a:ext cx="11318239" cy="1947672"/>
        </p:xfrm>
        <a:graphic>
          <a:graphicData uri="http://schemas.openxmlformats.org/drawingml/2006/table">
            <a:tbl>
              <a:tblPr/>
              <a:tblGrid>
                <a:gridCol w="948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3441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7751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49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7751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7751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4992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9302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0508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05114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(STR)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—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—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chg us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chg comps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 rank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฿2,991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฿3,667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฿1,513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of 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+5.4%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฿3,902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0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+3.8%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of 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397764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500"/>
              </a:spcAft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table says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compset held its rate (−2.8% to +1.5%) — our four hotels cut ADR −4.9% to −10.0%.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exchange we won occupancy: all four hotels grew occupancy faster than (or held above) their compsets — SR9 ranks 2/6, AES 2/6, LYF 2/5, SP 3/6.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H1 rate loss was OUR trade, not market-forced — the discussion for H2 is whether to defend the occupancy or rebuild the rate.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ADR H1 ฿3,018: -3.4% vs MF budget and -4.2% vs 2025 — while occupancy is near plan (-0.7 pts).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broad markets HELD rate in H1 — Bangkok ADR -1.2% (occ +2.6 pts), Pattaya ADR +0.9%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direct compsets ALSO held rate (H1 ADR: SR9 set -2.8%, AES set -2.0%, LYF set +1.5%, SP set +0.1%) — while OUR hotels cut ADR -9.0% / -10.0% / -4.9% / -10.0% and won occupancy vs every compset (STR basis, Jan–Jun).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 -28% H1 (a high-rate, long-stay segment) and total arrivals -4.9% vs 2025 (June preliminary).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mix is shifting to price-sensitive source markets: Chinese share of portfolio room nights 36% H1 2026 vs 33% in 2025; SEA share also rising (LYF).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Visitor spending power: [TBC — MOTS/BoT average spend per head data to be added]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· 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3218688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22,373,138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19,185,691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83,692,230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27,132,061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Corp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1,998,780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Leisure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3,118,250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 Series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2,858,700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95,260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12,099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10,342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65,175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177,312,810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568696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(47% of segment revenue · ฿83,692,230).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4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633472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18,083,934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13,096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32,812,405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65,733,302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17,371,829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8,131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26,804,161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5,287,593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547,029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9,081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166,640,253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(39% of segment revenue · ฿65,733,302).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6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1664208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Qatar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1,232,538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170,093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18,270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26,128,979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6,203,603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58,539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121,583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5,192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5,336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27,714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38,106,441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4946904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Online (69% of segment revenue · ฿26,128,979).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7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 and H1 2025/2024 comparison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vs budget, 2025 and 2024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7223760" cy="16002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BG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vs 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Jan–Jun 2026 (left) and YTD share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667512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737360"/>
          <a:ext cx="402336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14476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segmentation, monthly numbers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nights by segment per month (2026) · YTD, mix and revenue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91672" cy="292608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8046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572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 RN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YTD (฿)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 mix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6,707,183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6,264,944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Online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1,698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12,744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52,818,680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28,161,766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53,999,377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Wholesale Grp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3,687,513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Corporate 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1,732,625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122,697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8,867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6,872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43,294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153,494,786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257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revenue segment YTD: Wholesale (35% of segment revenue · ฿53,999,377).</a:t>
            </a:r>
            <a:endParaRPr lang="en-US" sz="10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(room nights)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monthly room nights by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78308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graphicFrame>
        <p:nvGraphicFramePr>
          <p:cNvPr id="8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3977640"/>
          <a:ext cx="537667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772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Each year shows its own top-10 list; a 2025 bar of 0 means that nationality was outside 2025’s top-10. Tables show the top 6 of each year.</a:t>
            </a:r>
            <a:endParaRPr lang="en-US" sz="10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nationality mix &amp; change (YTD)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top-10 room nights, H1 2025 vs H1 2026 · change by nationality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160520" y="1783080"/>
          <a:ext cx="3429000" cy="4297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783080"/>
          <a:ext cx="3867912" cy="914400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Pies show each year’s own top-10 room nights (shares within top-10). Change table follows the 2026 top-10; ‘new’ = outside 2025’s top-10. Same nationality = same colour in both pies.</a:t>
            </a:r>
            <a:endParaRPr lang="en-US" sz="10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8466</TotalTime>
  <Words>9375</Words>
  <Application>Microsoft Office PowerPoint</Application>
  <PresentationFormat>Widescreen</PresentationFormat>
  <Paragraphs>3308</Paragraphs>
  <Slides>50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3</cp:revision>
  <dcterms:created xsi:type="dcterms:W3CDTF">2026-07-24T09:01:49Z</dcterms:created>
  <dcterms:modified xsi:type="dcterms:W3CDTF">2026-07-30T06:52:16Z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