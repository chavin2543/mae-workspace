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6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6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02" r:id="rId14"/>
    <p:sldId id="304" r:id="rId15"/>
    <p:sldId id="266" r:id="rId16"/>
    <p:sldId id="269" r:id="rId17"/>
    <p:sldId id="303" r:id="rId18"/>
    <p:sldId id="305" r:id="rId19"/>
    <p:sldId id="267" r:id="rId20"/>
    <p:sldId id="308" r:id="rId21"/>
    <p:sldId id="265" r:id="rId22"/>
    <p:sldId id="268" r:id="rId23"/>
    <p:sldId id="309" r:id="rId62"/>
    <p:sldId id="270" r:id="rId24"/>
    <p:sldId id="272" r:id="rId25"/>
    <p:sldId id="271" r:id="rId26"/>
    <p:sldId id="273" r:id="rId27"/>
    <p:sldId id="275" r:id="rId28"/>
    <p:sldId id="278" r:id="rId31"/>
    <p:sldId id="276" r:id="rId29"/>
    <p:sldId id="310" r:id="rId63"/>
    <p:sldId id="314" r:id="rId67"/>
    <p:sldId id="274" r:id="rId33"/>
    <p:sldId id="280" r:id="rId34"/>
    <p:sldId id="282" r:id="rId35"/>
    <p:sldId id="285" r:id="rId38"/>
    <p:sldId id="283" r:id="rId36"/>
    <p:sldId id="311" r:id="rId64"/>
    <p:sldId id="315" r:id="rId68"/>
    <p:sldId id="281" r:id="rId40"/>
    <p:sldId id="287" r:id="rId41"/>
    <p:sldId id="289" r:id="rId42"/>
    <p:sldId id="292" r:id="rId45"/>
    <p:sldId id="290" r:id="rId43"/>
    <p:sldId id="312" r:id="rId65"/>
    <p:sldId id="316" r:id="rId69"/>
    <p:sldId id="288" r:id="rId47"/>
    <p:sldId id="294" r:id="rId48"/>
    <p:sldId id="296" r:id="rId49"/>
    <p:sldId id="299" r:id="rId52"/>
    <p:sldId id="297" r:id="rId50"/>
    <p:sldId id="313" r:id="rId66"/>
    <p:sldId id="317" r:id="rId70"/>
    <p:sldId id="295" r:id="rId54"/>
    <p:sldId id="301" r:id="rId5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>
        <p:scale>
          <a:sx n="65" d="100"/>
          <a:sy n="65" d="100"/>
        </p:scale>
        <p:origin x="2316" y="9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7.xml"/><Relationship Id="rId31" Type="http://schemas.openxmlformats.org/officeDocument/2006/relationships/slide" Target="slides/slide26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4.xml"/><Relationship Id="rId38" Type="http://schemas.openxmlformats.org/officeDocument/2006/relationships/slide" Target="slides/slide33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1.xml"/><Relationship Id="rId45" Type="http://schemas.openxmlformats.org/officeDocument/2006/relationships/slide" Target="slides/slide40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8.xml"/><Relationship Id="rId52" Type="http://schemas.openxmlformats.org/officeDocument/2006/relationships/slide" Target="slides/slide47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6/11/relationships/changesInfo" Target="changesInfos/changesInfo1.xml"/><Relationship Id="rId62" Type="http://schemas.openxmlformats.org/officeDocument/2006/relationships/slide" Target="slides/slide20.xml"/><Relationship Id="rId63" Type="http://schemas.openxmlformats.org/officeDocument/2006/relationships/slide" Target="slides/slide28.xml"/><Relationship Id="rId64" Type="http://schemas.openxmlformats.org/officeDocument/2006/relationships/slide" Target="slides/slide35.xml"/><Relationship Id="rId65" Type="http://schemas.openxmlformats.org/officeDocument/2006/relationships/slide" Target="slides/slide42.xml"/><Relationship Id="rId66" Type="http://schemas.openxmlformats.org/officeDocument/2006/relationships/slide" Target="slides/slide49.xml"/><Relationship Id="rId67" Type="http://schemas.openxmlformats.org/officeDocument/2006/relationships/slide" Target="slides/slide29.xml"/><Relationship Id="rId68" Type="http://schemas.openxmlformats.org/officeDocument/2006/relationships/slide" Target="slides/slide36.xml"/><Relationship Id="rId69" Type="http://schemas.openxmlformats.org/officeDocument/2006/relationships/slide" Target="slides/slide43.xml"/><Relationship Id="rId70" Type="http://schemas.openxmlformats.org/officeDocument/2006/relationships/slide" Target="slides/slide5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712420481338137"/>
          <c:y val="0.81614816530286649"/>
          <c:w val="0.67635422690807723"/>
          <c:h val="0.11849235757295044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</c:v>
                </c:pt>
                <c:pt idx="1">
                  <c:v>80.900000000000006</c:v>
                </c:pt>
                <c:pt idx="2">
                  <c:v>73.3</c:v>
                </c:pt>
                <c:pt idx="3">
                  <c:v>64.7</c:v>
                </c:pt>
                <c:pt idx="4">
                  <c:v>65.5</c:v>
                </c:pt>
                <c:pt idx="5">
                  <c:v>64.56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4286.6400000000003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3249.27</c:v>
                </c:pt>
                <c:pt idx="1">
                  <c:v>3518.15</c:v>
                </c:pt>
                <c:pt idx="2">
                  <c:v>2889.02</c:v>
                </c:pt>
                <c:pt idx="3">
                  <c:v>2485.63</c:v>
                </c:pt>
                <c:pt idx="4">
                  <c:v>2375.7800000000002</c:v>
                </c:pt>
                <c:pt idx="5">
                  <c:v>2337.25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more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34090-F488-B807-0850-3629B1D8F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103E2-8608-BEA1-83D2-70E48F909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47A5C-3971-C431-0C14-E3D94C094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73B4D-5AE3-F9F2-809F-AF2723A37E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45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9.xml"/><Relationship Id="rId4" Type="http://schemas.openxmlformats.org/officeDocument/2006/relationships/chart" Target="../charts/chart10.xml"/><Relationship Id="rId5" Type="http://schemas.openxmlformats.org/officeDocument/2006/relationships/chart" Target="../charts/chart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4.xml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chart" Target="../charts/chart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chart" Target="../charts/chart3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chart" Target="../charts/chart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chart" Target="../charts/chart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chart" Target="../charts/chart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vs budget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7304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83608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3608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83608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72272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72272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72272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(฿590.4M LY)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margin 24.6%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11430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3,987,497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4,657,602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4,669,968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71212"/>
              </p:ext>
            </p:extLst>
          </p:nvPr>
        </p:nvGraphicFramePr>
        <p:xfrm>
          <a:off x="54864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396153"/>
              </p:ext>
            </p:extLst>
          </p:nvPr>
        </p:nvGraphicFramePr>
        <p:xfrm>
          <a:off x="621792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66589"/>
              </p:ext>
            </p:extLst>
          </p:nvPr>
        </p:nvGraphicFramePr>
        <p:xfrm>
          <a:off x="563880" y="3279913"/>
          <a:ext cx="11064240" cy="2861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125.5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124.5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122.4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133.4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326.1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304.0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311.5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621103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  <a:endParaRPr lang="en-US" sz="11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+1.8 pts   ·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-1.1%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RevPAR +1.4%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the broad Bangkok market held rate in H1 (ADR −1.1%) and grew occupancy (+1.8 pts) — the deep discounting sits in our direct serviced-apartment compsets, not the whole market.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— Bangkok market &amp; compsets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Per-property comp set tables moved to each property section · summary view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D55007-83B3-DAF4-BD6A-18A9D4DC1FC9}"/>
              </a:ext>
            </a:extLst>
          </p:cNvPr>
          <p:cNvSpPr/>
          <p:nvPr/>
        </p:nvSpPr>
        <p:spPr>
          <a:xfrm>
            <a:off x="8639092" y="2868829"/>
            <a:ext cx="554604" cy="6683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489FBB-D00E-4CDB-B6F6-149F919F052A}"/>
              </a:ext>
            </a:extLst>
          </p:cNvPr>
          <p:cNvSpPr/>
          <p:nvPr/>
        </p:nvSpPr>
        <p:spPr>
          <a:xfrm>
            <a:off x="548640" y="1600200"/>
            <a:ext cx="11091672" cy="315547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ysClr val="windowText" lastClr="000000"/>
                </a:solidFill>
              </a:rPr>
              <a:t>Key Takeaway BKK : </a:t>
            </a:r>
            <a:endParaRPr lang="en-US" sz="110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aseline="0" dirty="0">
                <a:solidFill>
                  <a:sysClr val="windowText" lastClr="000000"/>
                </a:solidFill>
              </a:rPr>
              <a:t>If look at STR market of Bangkok &gt;&gt;</a:t>
            </a:r>
            <a:endParaRPr lang="en-US" sz="1100" baseline="0" dirty="0">
              <a:solidFill>
                <a:schemeClr val="tx1"/>
              </a:solidFill>
            </a:endParaRPr>
          </a:p>
          <a:p>
            <a:pPr algn="l"/>
            <a:r>
              <a:rPr lang="en-US" sz="1100" baseline="0" dirty="0">
                <a:solidFill>
                  <a:schemeClr val="tx1"/>
                </a:solidFill>
              </a:rPr>
              <a:t>Overall BKK: RevPAR grew by +2% YoY (driven by +3% Occupancy, despite a -1% drop in ADR).</a:t>
            </a:r>
          </a:p>
          <a:p>
            <a:pPr algn="l"/>
            <a:endParaRPr lang="en-US" sz="110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SR9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rgbClr val="2E7D32"/>
                </a:solidFill>
              </a:rPr>
              <a:t>+4.8%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ADR -3.3% </a:t>
            </a:r>
            <a:r>
              <a:rPr lang="en-US" dirty="0">
                <a:solidFill>
                  <a:sysClr val="windowText" lastClr="000000"/>
                </a:solidFill>
              </a:rPr>
              <a:t>turning </a:t>
            </a:r>
            <a:r>
              <a:rPr lang="en-US" dirty="0" err="1">
                <a:solidFill>
                  <a:sysClr val="windowText" lastClr="000000"/>
                </a:solidFill>
              </a:rPr>
              <a:t>revpar</a:t>
            </a:r>
            <a:r>
              <a:rPr lang="en-US" dirty="0">
                <a:solidFill>
                  <a:sysClr val="windowText" lastClr="000000"/>
                </a:solidFill>
              </a:rPr>
              <a:t> 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+1.3%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Rama 9 market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 Occ is +1.4% compare to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lastyear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. but ADR is very lower than last year around -19%,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-17%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SR9 doing better from the market. While the </a:t>
            </a:r>
            <a:r>
              <a:rPr lang="en-US" sz="1100" b="1" baseline="0" dirty="0">
                <a:solidFill>
                  <a:srgbClr val="00B050"/>
                </a:solidFill>
              </a:rPr>
              <a:t>m</a:t>
            </a:r>
            <a:r>
              <a:rPr lang="en-US" sz="1100" b="0" baseline="0" dirty="0">
                <a:solidFill>
                  <a:srgbClr val="00B050"/>
                </a:solidFill>
              </a:rPr>
              <a:t>arket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is decreasing but SR9 have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positive number. The key driver come from the corporate booking. And the supply in the </a:t>
            </a:r>
            <a:r>
              <a:rPr lang="en-US" dirty="0">
                <a:solidFill>
                  <a:srgbClr val="00B050"/>
                </a:solidFill>
              </a:rPr>
              <a:t>area </a:t>
            </a:r>
            <a:r>
              <a:rPr lang="en-US" sz="1100" b="0" baseline="0" dirty="0">
                <a:solidFill>
                  <a:srgbClr val="00B050"/>
                </a:solidFill>
              </a:rPr>
              <a:t>like jubilee is under renovation.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AES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ysClr val="windowText" lastClr="000000"/>
                </a:solidFill>
              </a:rPr>
              <a:t> </a:t>
            </a:r>
            <a:r>
              <a:rPr lang="en-US" dirty="0">
                <a:solidFill>
                  <a:srgbClr val="2E7D32"/>
                </a:solidFill>
              </a:rPr>
              <a:t>+3.8%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ADR -5.85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-2.2%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pPr algn="l"/>
            <a:r>
              <a:rPr lang="en-US" sz="1100" b="0" baseline="0" dirty="0">
                <a:solidFill>
                  <a:sysClr val="windowText" lastClr="000000"/>
                </a:solidFill>
              </a:rPr>
              <a:t>Sathorn market &gt;&gt; Occ is down around -5% and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Adr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comapre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to LY, resulting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-7% compare to LY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AES can do occ and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better than the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but ADR is lower than the market around change (Gm said that </a:t>
            </a:r>
            <a:r>
              <a:rPr lang="en-US" sz="1100" b="0" baseline="0" dirty="0" err="1">
                <a:solidFill>
                  <a:srgbClr val="00B050"/>
                </a:solidFill>
              </a:rPr>
              <a:t>bc</a:t>
            </a:r>
            <a:r>
              <a:rPr lang="en-US" sz="1100" b="0" baseline="0" dirty="0">
                <a:solidFill>
                  <a:srgbClr val="00B050"/>
                </a:solidFill>
              </a:rPr>
              <a:t> one of them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like COMO doesn't drop the rate down so make the ADR average index remain same to last year). AES is align with the market which has a soft market.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="1" baseline="0" dirty="0">
                <a:solidFill>
                  <a:sysClr val="windowText" lastClr="000000"/>
                </a:solidFill>
              </a:rPr>
              <a:t>LYF8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&gt;&gt;Occ -1.1% ADR -5% drop,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-6.1% 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Nana market &gt;&gt; Occ +4% ADR drop 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-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3%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+1% vs LY</a:t>
            </a:r>
          </a:p>
          <a:p>
            <a:r>
              <a:rPr lang="en-US" dirty="0">
                <a:solidFill>
                  <a:srgbClr val="FF0000"/>
                </a:solidFill>
              </a:rPr>
              <a:t>Overall, LS8 performed worse than the market. The market achieved better occupancy +3.7% than last year along with a 1.2% increase in RevPAR, but LS8's occupancy dropped by 1.1% compared to 2025. Also, while the market's ADR dropped by about 2.3%, LS8's ADR dropped by 5%.</a:t>
            </a:r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endParaRPr lang="en-US" sz="1100" b="1" baseline="0" dirty="0">
              <a:solidFill>
                <a:sysClr val="windowText" lastClr="000000"/>
              </a:solidFill>
            </a:endParaRP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46C4E402-60D4-0AB6-86F9-674E79F2C7E8}"/>
              </a:ext>
            </a:extLst>
          </p:cNvPr>
          <p:cNvSpPr/>
          <p:nvPr/>
        </p:nvSpPr>
        <p:spPr>
          <a:xfrm>
            <a:off x="11477044" y="1725034"/>
            <a:ext cx="292169" cy="11151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48062"/>
              </p:ext>
            </p:extLst>
          </p:nvPr>
        </p:nvGraphicFramePr>
        <p:xfrm>
          <a:off x="548640" y="3931920"/>
          <a:ext cx="11064240" cy="2766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48.2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57.2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56.8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105.3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02B4-BA0A-A98F-53D6-8BB93997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64EC1C-73E8-93F6-BCCB-B229ADBFEE29}"/>
              </a:ext>
            </a:extLst>
          </p:cNvPr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606F07-A04A-F7D4-E1D2-98692293C51F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— Pattaya market &amp; compsets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3D956B-923F-1431-421F-7037179D3215}"/>
              </a:ext>
            </a:extLst>
          </p:cNvPr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Per-property comp set tables moved to each property section · summary view</a:t>
            </a:r>
            <a:endParaRPr lang="en-US" sz="12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7F2540-B0AC-3EBC-4990-743D8D8CA5D1}"/>
              </a:ext>
            </a:extLst>
          </p:cNvPr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0E3A5FB-83F4-A352-5D60-FBFB0140A50A}"/>
              </a:ext>
            </a:extLst>
          </p:cNvPr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647BEDE-5832-34EF-F898-BB5E82D7F1CA}"/>
              </a:ext>
            </a:extLst>
          </p:cNvPr>
          <p:cNvSpPr/>
          <p:nvPr/>
        </p:nvSpPr>
        <p:spPr>
          <a:xfrm>
            <a:off x="521208" y="1600200"/>
            <a:ext cx="11119104" cy="23013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 dirty="0">
                <a:solidFill>
                  <a:srgbClr val="1E2761"/>
                </a:solidFill>
                <a:latin typeface="Calibri"/>
              </a:rPr>
              <a:t>Key Takeaway — Pattaya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Tourist spending in Pattaya is about −3% below both 2024 and 2025 (June 2026 is still missing 4 days of data).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Arrivals in Pattaya are −2.7% vs 2025.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Pattaya STR market: occupancy −3%, ADR roughly flat — turning RevPAR −3%.</a:t>
            </a:r>
            <a:endParaRPr lang="en-US"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Narrowing to our property's competitive set: H1 2026 vs 2025 occupancy −3%, ADR −6% — RevPAR −9%.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Our property (SP): occupancy </a:t>
            </a:r>
            <a:r>
              <a:rPr lang="en-US" sz="1300" dirty="0">
                <a:solidFill>
                  <a:srgbClr val="26292E"/>
                </a:solidFill>
                <a:latin typeface="Calibri"/>
              </a:rPr>
              <a:t>+5.3% </a:t>
            </a:r>
            <a:r>
              <a:rPr sz="1300" dirty="0">
                <a:solidFill>
                  <a:srgbClr val="26292E"/>
                </a:solidFill>
                <a:latin typeface="Calibri"/>
              </a:rPr>
              <a:t>vs LY, ADR −4.9% — RevPAR +0.2% vs LY.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00B050"/>
                </a:solidFill>
                <a:latin typeface="Calibri"/>
              </a:rPr>
              <a:t>• Conclusion: SP is performing better than the market.</a:t>
            </a:r>
          </a:p>
        </p:txBody>
      </p:sp>
    </p:spTree>
    <p:extLst>
      <p:ext uri="{BB962C8B-B14F-4D97-AF65-F5344CB8AC3E}">
        <p14:creationId xmlns:p14="http://schemas.microsoft.com/office/powerpoint/2010/main" val="27302718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Challenge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(workbook Compset sheet): the broad markets held RATE in H1 — Bangkok ADR −1.1% (occ +1.8 pts), Pattaya ADR −0.3% (occ −2.0 pts)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/Nana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by segment — where the rate went, H1 2026 vs H1 2025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 nights per segment · H1 = Jan–Jun · % rooms = segment share of room nights · segments under 1% of rooms omitted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Rama 9 (SR9)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4708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36792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Ascott Embassy Sathorn (AES)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36792" y="184708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lyf Sukhumvit 8 (LYF)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315968"/>
          <a:ext cx="5303520" cy="9372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336792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Pattaya (SP)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36792" y="431596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6382512"/>
            <a:ext cx="11091672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050" b="1">
                <a:solidFill>
                  <a:srgbClr val="1E2761"/>
                </a:solidFill>
                <a:latin typeface="Calibri"/>
              </a:rPr>
              <a:t>Takeaway: the segment mix hardly moved (% rooms columns) — the ADR decline comes from lower prices inside almost every segment, deepest in Online (dynamic rate): SR9 −13.9% · AES −11.0% · LYF −8.2% · SP −16.1%.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BC93C-ECD8-46AB-78C9-FE407A0F0935}"/>
              </a:ext>
            </a:extLst>
          </p:cNvPr>
          <p:cNvSpPr txBox="1"/>
          <p:nvPr/>
        </p:nvSpPr>
        <p:spPr>
          <a:xfrm>
            <a:off x="8357420" y="1324094"/>
            <a:ext cx="2684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Budget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5,457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4,414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4,854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4,085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4,517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1,123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12,099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11,275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11,030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10,210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10,342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10,219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2,692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1,894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(-21.7%) · '–' = no rooms sold that month.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(Rachada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</a:t>
                      </a:r>
                      <a:r>
                        <a:rPr sz="1050" b="1" dirty="0" err="1">
                          <a:solidFill>
                            <a:srgbClr val="26292E"/>
                          </a:solidFill>
                          <a:latin typeface="Calibri"/>
                        </a:rPr>
                        <a:t>Rachada</a:t>
                      </a:r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9,186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10,164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9,081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7,548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7,086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7,058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2,449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2,488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4,078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5,212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4,521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5,372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4,534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(-26.2%) · '–' = no rooms sold that month.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(Sathorn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127427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8185355" y="5047488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 2025 bar of 0 = outside 2025's top-10 · change table follows the 2026 top-10, 'new' = outside 2025's top-10.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16DE3-DA0C-C11C-50DC-36EFD5989D57}"/>
              </a:ext>
            </a:extLst>
          </p:cNvPr>
          <p:cNvSpPr txBox="1"/>
          <p:nvPr/>
        </p:nvSpPr>
        <p:spPr>
          <a:xfrm>
            <a:off x="9177921" y="3496909"/>
            <a:ext cx="3741666" cy="380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Checking SG </a:t>
            </a:r>
            <a:r>
              <a:rPr lang="en-US" dirty="0" err="1"/>
              <a:t>arrival.Indonesia</a:t>
            </a:r>
            <a:r>
              <a:rPr lang="en-US" dirty="0"/>
              <a:t>)?)</a:t>
            </a:r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Wholesale incl. Wholesale Group · Group incl. all group types · segments &lt;1% (Employee, Medical) omitted.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4,095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5,639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5,192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5,336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4,494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4,088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904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1,893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1,782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1,658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1,113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1,103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1,188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1,087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1,710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1,630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Corporate LS (-28.5%) · '–' = no rooms sold that month.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(Nana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C469CD-4CE3-10EB-A71A-F44B269CC01E}"/>
              </a:ext>
            </a:extLst>
          </p:cNvPr>
          <p:cNvSpPr txBox="1"/>
          <p:nvPr/>
        </p:nvSpPr>
        <p:spPr>
          <a:xfrm>
            <a:off x="8165592" y="5431750"/>
            <a:ext cx="37460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Rev align GOP</a:t>
            </a:r>
          </a:p>
          <a:p>
            <a:r>
              <a:rPr lang="en-US" dirty="0" err="1"/>
              <a:t>Jv</a:t>
            </a:r>
            <a:r>
              <a:rPr lang="en-US" dirty="0"/>
              <a:t> expense &gt; Prop tax</a:t>
            </a:r>
          </a:p>
          <a:p>
            <a:r>
              <a:rPr lang="en-US" dirty="0"/>
              <a:t>Loss carry forward 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1,116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3,744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8,867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7,665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7,420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6,872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6,405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6,065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4,788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6,251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5,217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4,921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4,643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4,949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5,787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5,167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4,829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4,245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(-31.0%) · '–' = no rooms sold that month.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(SP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4949"/>
              </p:ext>
            </p:extLst>
          </p:nvPr>
        </p:nvGraphicFramePr>
        <p:xfrm>
          <a:off x="713232" y="2103120"/>
          <a:ext cx="1109167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2AB92E-5A8A-F38D-E8BB-9A78A70F4654}"/>
              </a:ext>
            </a:extLst>
          </p:cNvPr>
          <p:cNvSpPr txBox="1"/>
          <p:nvPr/>
        </p:nvSpPr>
        <p:spPr>
          <a:xfrm>
            <a:off x="8504903" y="5730719"/>
            <a:ext cx="265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Pay lesser interest.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SR9 (primary): Jubilee Prestige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Ratchadapisek</a:t>
            </a:r>
            <a:r>
              <a:rPr sz="1050" dirty="0">
                <a:solidFill>
                  <a:srgbClr val="6B7280"/>
                </a:solidFill>
                <a:latin typeface="Calibri"/>
              </a:rPr>
              <a:t>, Grand Mercure Bangkok Atrium,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Centara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Grand at Central Plaza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Ladprao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Bangkok, Avani Ratchada Bangkok Hotel, Lancaster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LYF (primary): ibis Bangkok Sukhumvit 4,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Graand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Swiss Bangkok, TRIBE Living Bangkok Sukhumvit 39,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Ruamchitt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Hotel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Props1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13800</TotalTime>
  <Words>10216</Words>
  <Application>Microsoft Office PowerPoint</Application>
  <PresentationFormat>Widescreen</PresentationFormat>
  <Paragraphs>3525</Paragraphs>
  <Slides>51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6</cp:revision>
  <dcterms:created xsi:type="dcterms:W3CDTF">2026-07-24T09:01:49Z</dcterms:created>
  <dcterms:modified xsi:type="dcterms:W3CDTF">2026-08-03T01:08:56Z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