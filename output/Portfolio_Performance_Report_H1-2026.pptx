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303" r:id="rId16"/>
    <p:sldId id="305" r:id="rId17"/>
    <p:sldId id="265" r:id="rId18"/>
    <p:sldId id="266" r:id="rId19"/>
    <p:sldId id="267" r:id="rId20"/>
    <p:sldId id="269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24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3869.0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74.6</c:v>
                </c:pt>
                <c:pt idx="2">
                  <c:v>69.4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3733.0</c:v>
                </c:pt>
                <c:pt idx="1">
                  <c:v>3932.0</c:v>
                </c:pt>
                <c:pt idx="2">
                  <c:v>3341.0</c:v>
                </c:pt>
                <c:pt idx="3">
                  <c:v>3510.0</c:v>
                </c:pt>
                <c:pt idx="4">
                  <c:v>3115.0</c:v>
                </c:pt>
                <c:pt idx="5">
                  <c:v>2921.0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2252.43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15.61759</c:v>
                </c:pt>
                <c:pt idx="1">
                  <c:v>14.82773</c:v>
                </c:pt>
                <c:pt idx="2">
                  <c:v>14.547001</c:v>
                </c:pt>
                <c:pt idx="3">
                  <c:v>15.44509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11.615539</c:v>
                </c:pt>
                <c:pt idx="1">
                  <c:v>13.493325</c:v>
                </c:pt>
                <c:pt idx="2">
                  <c:v>12.43225</c:v>
                </c:pt>
                <c:pt idx="3">
                  <c:v>12.418947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7.12104</c:v>
                </c:pt>
                <c:pt idx="1">
                  <c:v>7.566661</c:v>
                </c:pt>
                <c:pt idx="2">
                  <c:v>8.453199</c:v>
                </c:pt>
                <c:pt idx="3">
                  <c:v>8.376278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4.698326</c:v>
                </c:pt>
                <c:pt idx="1">
                  <c:v>5.780252</c:v>
                </c:pt>
                <c:pt idx="2">
                  <c:v>5.421691</c:v>
                </c:pt>
                <c:pt idx="3">
                  <c:v>5.130334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chart" Target="../charts/chart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2286000"/>
            <a:ext cx="694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Spending power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7CEE0D-3D35-82DE-03ED-0E3986E87329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international arrivals &amp; spending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arrivals in persons, revenue in Million THB · source: MOTS provincial data (Province arrival / Revenue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37360"/>
          <a:ext cx="53949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8308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914400"/>
                <a:gridCol w="914400"/>
              </a:tblGrid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revenue (M฿)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276,597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326,082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303,964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311,469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Spend/head intl (฿)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23,813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24,166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24,450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25,080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% International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Takeaway: Bangkok's international arrivals are flat vs 2025 (−0.1%) but spend per head keeps climbing (฿23.8k → ฿25.1k since 2023, +2.6% vs LY) — visitors still spend; the rate battle is about capturing it.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2286000"/>
            <a:ext cx="595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Spending power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974A1B-FDE2-84D3-7777-37BD93B1CDFC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international arrivals &amp; spending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arrivals in persons, revenue in Million THB · source: MOTS provincial data (Province arrival / Revenue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37360"/>
          <a:ext cx="53949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8308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914400"/>
                <a:gridCol w="914400"/>
              </a:tblGrid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revenue (M฿)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105,260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126,618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118,539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113,322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Spend/head intl (฿)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22,404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21,905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21,864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22,089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% International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Takeaway: Pattaya's international arrivals are down −5.4% vs 2025 and −11% vs 2024, while spend per head is only ~flat (฿22.1k) — Pattaya leans on Thai domestic demand (62% of visitors) to fill the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63955"/>
              </p:ext>
            </p:extLst>
          </p:nvPr>
        </p:nvGraphicFramePr>
        <p:xfrm>
          <a:off x="548640" y="1920240"/>
          <a:ext cx="11318239" cy="1947672"/>
        </p:xfrm>
        <a:graphic>
          <a:graphicData uri="http://schemas.openxmlformats.org/drawingml/2006/table">
            <a:tbl>
              <a:tblPr/>
              <a:tblGrid>
                <a:gridCol w="948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3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508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511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(STR)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฿2,991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฿3,667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฿1,513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฿3,902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9375</Words>
  <Application>Microsoft Office PowerPoint</Application>
  <PresentationFormat>Widescreen</PresentationFormat>
  <Paragraphs>3308</Paragraphs>
  <Slides>50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2026-07-30T06:52:16Z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