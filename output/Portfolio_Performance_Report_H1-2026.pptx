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5"/>
    <p:sldId id="302" r:id="rId16"/>
    <p:sldId id="304" r:id="rId17"/>
    <p:sldId id="266" r:id="rId18"/>
    <p:sldId id="320" r:id="rId65"/>
    <p:sldId id="303" r:id="rId20"/>
    <p:sldId id="305" r:id="rId21"/>
    <p:sldId id="267" r:id="rId22"/>
    <p:sldId id="270" r:id="rId27"/>
    <p:sldId id="272" r:id="rId28"/>
    <p:sldId id="271" r:id="rId29"/>
    <p:sldId id="273" r:id="rId30"/>
    <p:sldId id="275" r:id="rId31"/>
    <p:sldId id="278" r:id="rId32"/>
    <p:sldId id="276" r:id="rId33"/>
    <p:sldId id="310" r:id="rId34"/>
    <p:sldId id="314" r:id="rId35"/>
    <p:sldId id="274" r:id="rId36"/>
    <p:sldId id="280" r:id="rId37"/>
    <p:sldId id="282" r:id="rId38"/>
    <p:sldId id="285" r:id="rId39"/>
    <p:sldId id="283" r:id="rId40"/>
    <p:sldId id="311" r:id="rId41"/>
    <p:sldId id="315" r:id="rId42"/>
    <p:sldId id="281" r:id="rId43"/>
    <p:sldId id="287" r:id="rId44"/>
    <p:sldId id="289" r:id="rId45"/>
    <p:sldId id="292" r:id="rId46"/>
    <p:sldId id="290" r:id="rId47"/>
    <p:sldId id="312" r:id="rId48"/>
    <p:sldId id="316" r:id="rId49"/>
    <p:sldId id="288" r:id="rId50"/>
    <p:sldId id="294" r:id="rId51"/>
    <p:sldId id="296" r:id="rId52"/>
    <p:sldId id="299" r:id="rId53"/>
    <p:sldId id="297" r:id="rId54"/>
    <p:sldId id="313" r:id="rId55"/>
    <p:sldId id="317" r:id="rId56"/>
    <p:sldId id="295" r:id="rId57"/>
    <p:sldId id="301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95" d="100"/>
          <a:sy n="95" d="100"/>
        </p:scale>
        <p:origin x="6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Relationship Id="rId65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3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31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34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73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900001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·   ADR −1.4%   ·   RevPAR +0.9%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= STR "Bangkok overall" from the STR_Bangkok_by_segment workbook (STR monthly performance reports; 2026 from the YTD Jun 2026 files, H1 figures calculated from monthly data per Mae’s decision).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— STR by market class, H1 (Jan–Jun)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· Upper Upscale · Upscale · Upper Midscale · Bangkok overall — H1 each year, calculated from STR monthly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Occupancy (%)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67.2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72.7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71.0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76.6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69.6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75.8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70.3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0040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6,620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6,858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84632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RevPAR (฿)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4,452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537960"/>
            <a:ext cx="1088136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Luxury is the only class holding rate (+1.1%); every other class cut ADR while occupancy recovered — the market-wide version of our own rate-for-volume trade. Source: STR_Bangkok_by_segment workbook.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782252" y="5174901"/>
            <a:ext cx="5647748" cy="921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India, Thailand, Indonesia, Singapore and China.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989320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Around 30% of this property is corporate booking. Additionally, some corporate business is mixed into OTA, since B2B channels now book through the OTA as well.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997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61753108-C2A0-EDFA-8E92-F8AB2E5727F3}"/>
              </a:ext>
            </a:extLst>
          </p:cNvPr>
          <p:cNvSpPr/>
          <p:nvPr/>
        </p:nvSpPr>
        <p:spPr>
          <a:xfrm>
            <a:off x="548640" y="5543327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Jubilee is under renovation — reduced supply nearby works in our favour.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248402" y="5501640"/>
            <a:ext cx="6561846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revenue, H1 is better than last year, but OPEX is +0.6% vs LY. GOP beats LY even with the lower ADR, and the margin is about the same. However, JV expense is higher than LY because [xxx], so EBIT comes in below both LY (−฿1.7M) and budget (฿53.0M vs ฿59.7M). NPAT, on the other hand, is better than LY.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2AF8FE-028B-4F43-614D-7712F7EF7868}"/>
              </a:ext>
            </a:extLst>
          </p:cNvPr>
          <p:cNvSpPr/>
          <p:nvPr/>
        </p:nvSpPr>
        <p:spPr>
          <a:xfrm>
            <a:off x="6643396" y="4948210"/>
            <a:ext cx="4786604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Japan, followed by China. New nationalities this year are the UK, Finland and Taiwan; the most significant drop is Korea.</a:t>
            </a:r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F833D8B9-35B7-01F4-9708-B7C5CEA82C84}"/>
              </a:ext>
            </a:extLst>
          </p:cNvPr>
          <p:cNvSpPr/>
          <p:nvPr/>
        </p:nvSpPr>
        <p:spPr>
          <a:xfrm>
            <a:off x="2537510" y="5935109"/>
            <a:ext cx="10881360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Corporate is the largest segment at 36%, followed by online at 24%. Corporate group has grown almost 30–40% vs H1 last year, and group bookings are +185% vs LY — implying AES is shifting to secure group business, which can pull the rate down.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997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39411-78F9-3CF6-7951-57DA74B37027}"/>
              </a:ext>
            </a:extLst>
          </p:cNvPr>
          <p:cNvSpPr/>
          <p:nvPr/>
        </p:nvSpPr>
        <p:spPr>
          <a:xfrm>
            <a:off x="3246120" y="3460418"/>
            <a:ext cx="7049380" cy="3657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Revenue is down −3.3% vs LY, but OPEX is managed better: −6.0% (about ฿6M). GOP margin improves +1.3 pts and JV expense is better, so EBIT and NPAT both beat LY. The key reason is AES managing OPEX well — and owner expenses are lower because [xxx].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2063981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199686"/>
            <a:ext cx="13458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Most drop due to the ADR want to Ramp up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8636508" y="5522976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24028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4DD1DA7-E131-9AAB-41FC-81A1C4A02C58}"/>
              </a:ext>
            </a:extLst>
          </p:cNvPr>
          <p:cNvSpPr/>
          <p:nvPr/>
        </p:nvSpPr>
        <p:spPr>
          <a:xfrm>
            <a:off x="12087225" y="1353312"/>
            <a:ext cx="5267492" cy="37554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8571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CC1BA4B2-41AC-258A-E8E0-69FABC268976}"/>
              </a:ext>
            </a:extLst>
          </p:cNvPr>
          <p:cNvSpPr/>
          <p:nvPr/>
        </p:nvSpPr>
        <p:spPr>
          <a:xfrm>
            <a:off x="6362451" y="3758184"/>
            <a:ext cx="5375985" cy="21035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4039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A1E1BA-F75F-BD8C-B7F9-98880F310D58}"/>
              </a:ext>
            </a:extLst>
          </p:cNvPr>
          <p:cNvSpPr/>
          <p:nvPr/>
        </p:nvSpPr>
        <p:spPr>
          <a:xfrm>
            <a:off x="6314986" y="4632960"/>
            <a:ext cx="5535637" cy="21122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−5.8% vs LY and OPEX is higher — possibly from the shift toward OTA (commissions). GOP is −12% vs last year and JV expense is also higher, so EBIT drops on the weak revenue and NPAT is negative.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EA02EB18-E0AB-5D60-1913-73E36BECD347}"/>
              </a:ext>
            </a:extLst>
          </p:cNvPr>
          <p:cNvSpPr/>
          <p:nvPr/>
        </p:nvSpPr>
        <p:spPr>
          <a:xfrm>
            <a:off x="5888736" y="4832001"/>
            <a:ext cx="5751576" cy="1523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Australia, Israel and Thailand. ADR in Pattaya did not increase vs LY for any nationality.</a:t>
            </a:r>
            <a:endParaRPr lang="en-US" dirty="0"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ADC5836-419B-8C4E-63CD-67EA0F153579}"/>
              </a:ext>
            </a:extLst>
          </p:cNvPr>
          <p:cNvSpPr/>
          <p:nvPr/>
        </p:nvSpPr>
        <p:spPr>
          <a:xfrm>
            <a:off x="12372871" y="1501927"/>
            <a:ext cx="5602726" cy="252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ASR is increasing — Ascott seems to be emphasising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997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9BFC3-8929-9F1D-90E3-08B5032A8251}"/>
              </a:ext>
            </a:extLst>
          </p:cNvPr>
          <p:cNvSpPr/>
          <p:nvPr/>
        </p:nvSpPr>
        <p:spPr>
          <a:xfrm>
            <a:off x="6195562" y="5501640"/>
            <a:ext cx="7414779" cy="1486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similar to last year and OPEX is managed slightly better, but JV expense is higher than last year, which makes EBIT lower. NPAT improves because of [xxx] (interest).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13871</TotalTime>
  <Words>11908</Words>
  <Application>Microsoft Office PowerPoint</Application>
  <PresentationFormat>Widescreen</PresentationFormat>
  <Paragraphs>3931</Paragraphs>
  <Slides>54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8</cp:revision>
  <dcterms:created xsi:type="dcterms:W3CDTF">2026-07-24T09:01:49Z</dcterms:created>
  <dcterms:modified xsi:type="dcterms:W3CDTF">2026-08-03T09:55:13Z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