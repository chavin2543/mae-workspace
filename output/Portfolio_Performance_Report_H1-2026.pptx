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303" r:id="rId16"/>
    <p:sldId id="305" r:id="rId17"/>
    <p:sldId id="265" r:id="rId18"/>
    <p:sldId id="266" r:id="rId19"/>
    <p:sldId id="267" r:id="rId20"/>
    <p:sldId id="269" r:id="rId21"/>
    <p:sldId id="268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3" d="100"/>
          <a:sy n="93" d="100"/>
        </p:scale>
        <p:origin x="1248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3869.0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74.6</c:v>
                </c:pt>
                <c:pt idx="2">
                  <c:v>69.4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3733.0</c:v>
                </c:pt>
                <c:pt idx="1">
                  <c:v>3932.0</c:v>
                </c:pt>
                <c:pt idx="2">
                  <c:v>3341.0</c:v>
                </c:pt>
                <c:pt idx="3">
                  <c:v>3510.0</c:v>
                </c:pt>
                <c:pt idx="4">
                  <c:v>3115.0</c:v>
                </c:pt>
                <c:pt idx="5">
                  <c:v>2921.0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2252.43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Visitors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15.61759</c:v>
                </c:pt>
                <c:pt idx="1">
                  <c:v>14.82773</c:v>
                </c:pt>
                <c:pt idx="2">
                  <c:v>14.547001</c:v>
                </c:pt>
                <c:pt idx="3">
                  <c:v>15.44509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11.615539</c:v>
                </c:pt>
                <c:pt idx="1">
                  <c:v>13.493325</c:v>
                </c:pt>
                <c:pt idx="2">
                  <c:v>12.43225</c:v>
                </c:pt>
                <c:pt idx="3">
                  <c:v>12.418947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Visitors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7.12104</c:v>
                </c:pt>
                <c:pt idx="1">
                  <c:v>7.566661</c:v>
                </c:pt>
                <c:pt idx="2">
                  <c:v>8.453199</c:v>
                </c:pt>
                <c:pt idx="3">
                  <c:v>8.376278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4.698326</c:v>
                </c:pt>
                <c:pt idx="1">
                  <c:v>5.780252</c:v>
                </c:pt>
                <c:pt idx="2">
                  <c:v>5.421691</c:v>
                </c:pt>
                <c:pt idx="3">
                  <c:v>5.130334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</c:v>
                </c:pt>
                <c:pt idx="1">
                  <c:v>326.1</c:v>
                </c:pt>
                <c:pt idx="2">
                  <c:v>304.0</c:v>
                </c:pt>
                <c:pt idx="3">
                  <c:v>311.5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8.45</c:v>
                </c:pt>
                <c:pt idx="3">
                  <c:v>8.38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3.xml"/><Relationship Id="rId3" Type="http://schemas.openxmlformats.org/officeDocument/2006/relationships/chart" Target="../charts/chart45.xml"/><Relationship Id="rId4" Type="http://schemas.openxmlformats.org/officeDocument/2006/relationships/chart" Target="../charts/chart4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4.xml"/><Relationship Id="rId3" Type="http://schemas.openxmlformats.org/officeDocument/2006/relationships/chart" Target="../charts/chart47.xml"/><Relationship Id="rId4" Type="http://schemas.openxmlformats.org/officeDocument/2006/relationships/chart" Target="../charts/chart4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chart" Target="../charts/chart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2286000"/>
            <a:ext cx="694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7CEE0D-3D35-82DE-03ED-0E3986E87329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66344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Calibri"/>
              </a:rPr>
              <a:t>Takeaway: Bangkok total revenue reached ฿444.8bn H1 (+4.3% vs LY) on flat international arrivals — spend per head keeps rising (฿25.1k intl, +2.6% vs LY).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2286000"/>
            <a:ext cx="595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974A1B-FDE2-84D3-7777-37BD93B1CDFC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66344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Calibri"/>
              </a:rPr>
              <a:t>Takeaway: Pattaya total revenue ฿170.2bn H1 (−3.2% vs LY) as international arrivals fell −5.4%; domestic visitors (62% of arrivals) cushion the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ADR -1.1%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-2.0 pts   ·   ADR -0.3%   ·   RevPAR -3.3%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977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 — Rate: our ADR fell -5.8% to -3.3% — compset ADR moved -18.7% (Rachada cut hardest) to -0.3%; only Pattaya's set held rate (−0.3%).  Occupancy: our hotels run above every comp set and rank 1–3 on occupancy; ADR ranks are lower (see Rank column) — volume-first positioning across the portfolio.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Comp set = workbook Compset sheet (Rachada/Sathorn/Nana/Pattaya areas, ADR excl breakfast) · My property = result FY25/FY26 sheets (ADR incl breakfast; LYF none) · ranks from CoStar compset reports Jun 2026. Bases differ — compare the % changes, not the absolute levels.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783080"/>
          <a:ext cx="1109167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325880"/>
                <a:gridCol w="960120"/>
                <a:gridCol w="1143000"/>
                <a:gridCol w="1188720"/>
                <a:gridCol w="1097280"/>
                <a:gridCol w="1325880"/>
                <a:gridCol w="1325880"/>
                <a:gridCol w="1581912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(Rachada)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(Pattaya)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2,232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8466</TotalTime>
  <Words>9375</Words>
  <Application>Microsoft Office PowerPoint</Application>
  <PresentationFormat>Widescreen</PresentationFormat>
  <Paragraphs>3308</Paragraphs>
  <Slides>50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3</cp:revision>
  <dcterms:created xsi:type="dcterms:W3CDTF">2026-07-24T09:01:49Z</dcterms:created>
  <dcterms:modified xsi:type="dcterms:W3CDTF">2026-07-30T06:52:16Z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