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36.xml" ContentType="application/vnd.openxmlformats-officedocument.drawingml.chart+xml"/>
  <Override PartName="/ppt/charts/chart39.xml" ContentType="application/vnd.openxmlformats-officedocument.drawingml.chart+xml"/>
  <Override PartName="/ppt/charts/chart4.xml" ContentType="application/vnd.openxmlformats-officedocument.drawingml.chart+xml"/>
  <Override PartName="/ppt/charts/chart40.xml" ContentType="application/vnd.openxmlformats-officedocument.drawingml.chart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6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56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302" r:id="rId14"/>
    <p:sldId id="304" r:id="rId15"/>
    <p:sldId id="266" r:id="rId16"/>
    <p:sldId id="269" r:id="rId17"/>
    <p:sldId id="303" r:id="rId18"/>
    <p:sldId id="305" r:id="rId19"/>
    <p:sldId id="267" r:id="rId20"/>
    <p:sldId id="308" r:id="rId21"/>
    <p:sldId id="265" r:id="rId22"/>
    <p:sldId id="268" r:id="rId23"/>
    <p:sldId id="309" r:id="rId62"/>
    <p:sldId id="270" r:id="rId24"/>
    <p:sldId id="272" r:id="rId25"/>
    <p:sldId id="271" r:id="rId26"/>
    <p:sldId id="273" r:id="rId27"/>
    <p:sldId id="275" r:id="rId28"/>
    <p:sldId id="278" r:id="rId31"/>
    <p:sldId id="276" r:id="rId29"/>
    <p:sldId id="310" r:id="rId63"/>
    <p:sldId id="314" r:id="rId67"/>
    <p:sldId id="274" r:id="rId33"/>
    <p:sldId id="280" r:id="rId34"/>
    <p:sldId id="282" r:id="rId35"/>
    <p:sldId id="285" r:id="rId38"/>
    <p:sldId id="283" r:id="rId36"/>
    <p:sldId id="311" r:id="rId64"/>
    <p:sldId id="315" r:id="rId68"/>
    <p:sldId id="281" r:id="rId40"/>
    <p:sldId id="287" r:id="rId41"/>
    <p:sldId id="289" r:id="rId42"/>
    <p:sldId id="292" r:id="rId45"/>
    <p:sldId id="290" r:id="rId43"/>
    <p:sldId id="312" r:id="rId65"/>
    <p:sldId id="316" r:id="rId69"/>
    <p:sldId id="288" r:id="rId47"/>
    <p:sldId id="294" r:id="rId48"/>
    <p:sldId id="296" r:id="rId49"/>
    <p:sldId id="299" r:id="rId52"/>
    <p:sldId id="297" r:id="rId50"/>
    <p:sldId id="313" r:id="rId66"/>
    <p:sldId id="317" r:id="rId70"/>
    <p:sldId id="295" r:id="rId54"/>
    <p:sldId id="301" r:id="rId5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>
        <p:scale>
          <a:sx n="65" d="100"/>
          <a:sy n="65" d="100"/>
        </p:scale>
        <p:origin x="2316" y="9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7.xml"/><Relationship Id="rId31" Type="http://schemas.openxmlformats.org/officeDocument/2006/relationships/slide" Target="slides/slide26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4.xml"/><Relationship Id="rId38" Type="http://schemas.openxmlformats.org/officeDocument/2006/relationships/slide" Target="slides/slide33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1.xml"/><Relationship Id="rId45" Type="http://schemas.openxmlformats.org/officeDocument/2006/relationships/slide" Target="slides/slide40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8.xml"/><Relationship Id="rId52" Type="http://schemas.openxmlformats.org/officeDocument/2006/relationships/slide" Target="slides/slide47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notesMaster" Target="notesMasters/notesMaster1.xml"/><Relationship Id="rId57" Type="http://schemas.openxmlformats.org/officeDocument/2006/relationships/presProps" Target="presProps.xml"/><Relationship Id="rId58" Type="http://schemas.openxmlformats.org/officeDocument/2006/relationships/viewProps" Target="viewProps.xml"/><Relationship Id="rId59" Type="http://schemas.openxmlformats.org/officeDocument/2006/relationships/theme" Target="theme/theme1.xml"/><Relationship Id="rId60" Type="http://schemas.openxmlformats.org/officeDocument/2006/relationships/tableStyles" Target="tableStyles.xml"/><Relationship Id="rId61" Type="http://schemas.microsoft.com/office/2016/11/relationships/changesInfo" Target="changesInfos/changesInfo1.xml"/><Relationship Id="rId62" Type="http://schemas.openxmlformats.org/officeDocument/2006/relationships/slide" Target="slides/slide20.xml"/><Relationship Id="rId63" Type="http://schemas.openxmlformats.org/officeDocument/2006/relationships/slide" Target="slides/slide28.xml"/><Relationship Id="rId64" Type="http://schemas.openxmlformats.org/officeDocument/2006/relationships/slide" Target="slides/slide35.xml"/><Relationship Id="rId65" Type="http://schemas.openxmlformats.org/officeDocument/2006/relationships/slide" Target="slides/slide42.xml"/><Relationship Id="rId66" Type="http://schemas.openxmlformats.org/officeDocument/2006/relationships/slide" Target="slides/slide49.xml"/><Relationship Id="rId67" Type="http://schemas.openxmlformats.org/officeDocument/2006/relationships/slide" Target="slides/slide29.xml"/><Relationship Id="rId68" Type="http://schemas.openxmlformats.org/officeDocument/2006/relationships/slide" Target="slides/slide36.xml"/><Relationship Id="rId69" Type="http://schemas.openxmlformats.org/officeDocument/2006/relationships/slide" Target="slides/slide43.xml"/><Relationship Id="rId70" Type="http://schemas.openxmlformats.org/officeDocument/2006/relationships/slide" Target="slides/slide5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4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Europe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879741</c:v>
                </c:pt>
                <c:pt idx="1">
                  <c:v>849024</c:v>
                </c:pt>
                <c:pt idx="2">
                  <c:v>765683</c:v>
                </c:pt>
                <c:pt idx="3">
                  <c:v>523160</c:v>
                </c:pt>
                <c:pt idx="4">
                  <c:v>343907</c:v>
                </c:pt>
                <c:pt idx="5">
                  <c:v>325497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91B-450C-83BB-C59D8123E8E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1080094</c:v>
                </c:pt>
                <c:pt idx="1">
                  <c:v>1001220</c:v>
                </c:pt>
                <c:pt idx="2">
                  <c:v>854963</c:v>
                </c:pt>
                <c:pt idx="3">
                  <c:v>652062</c:v>
                </c:pt>
                <c:pt idx="4">
                  <c:v>366631</c:v>
                </c:pt>
                <c:pt idx="5">
                  <c:v>345417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91B-450C-83BB-C59D8123E8E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1184479</c:v>
                </c:pt>
                <c:pt idx="1">
                  <c:v>1047216</c:v>
                </c:pt>
                <c:pt idx="2">
                  <c:v>819016</c:v>
                </c:pt>
                <c:pt idx="3">
                  <c:v>549123</c:v>
                </c:pt>
                <c:pt idx="4">
                  <c:v>365345</c:v>
                </c:pt>
                <c:pt idx="5">
                  <c:v>289156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91B-450C-83BB-C59D8123E8E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USA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6"/>
                <c:pt idx="0">
                  <c:v>146288</c:v>
                </c:pt>
                <c:pt idx="1">
                  <c:v>138484</c:v>
                </c:pt>
                <c:pt idx="2">
                  <c:v>135962</c:v>
                </c:pt>
                <c:pt idx="3">
                  <c:v>108172</c:v>
                </c:pt>
                <c:pt idx="4">
                  <c:v>97076</c:v>
                </c:pt>
                <c:pt idx="5">
                  <c:v>107002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2EF-4719-B532-FA11579CD6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6"/>
                <c:pt idx="0">
                  <c:v>177614</c:v>
                </c:pt>
                <c:pt idx="1">
                  <c:v>155136</c:v>
                </c:pt>
                <c:pt idx="2">
                  <c:v>151520</c:v>
                </c:pt>
                <c:pt idx="3">
                  <c:v>119491</c:v>
                </c:pt>
                <c:pt idx="4">
                  <c:v>98871</c:v>
                </c:pt>
                <c:pt idx="5">
                  <c:v>106358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02EF-4719-B532-FA11579CD6E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Sheet1!$D$2:$D$6</c:f>
              <c:numCache>
                <c:formatCode>General</c:formatCode>
                <c:ptCount val="6"/>
                <c:pt idx="0">
                  <c:v>181692</c:v>
                </c:pt>
                <c:pt idx="1">
                  <c:v>154938</c:v>
                </c:pt>
                <c:pt idx="2">
                  <c:v>148421</c:v>
                </c:pt>
                <c:pt idx="3">
                  <c:v>117349</c:v>
                </c:pt>
                <c:pt idx="4">
                  <c:v>102389</c:v>
                </c:pt>
                <c:pt idx="5">
                  <c:v>90980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02EF-4719-B532-FA11579CD6E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125.5</c:v>
                </c:pt>
                <c:pt idx="1">
                  <c:v>124.5</c:v>
                </c:pt>
                <c:pt idx="2">
                  <c:v>122.4</c:v>
                </c:pt>
                <c:pt idx="3">
                  <c:v>133.4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907F-402E-B742-5B793452DFA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276.60000000000002</c:v>
                </c:pt>
                <c:pt idx="1">
                  <c:v>326.10000000000002</c:v>
                </c:pt>
                <c:pt idx="2">
                  <c:v>304</c:v>
                </c:pt>
                <c:pt idx="3">
                  <c:v>311.5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907F-402E-B742-5B793452DFA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402.1</c:v>
                </c:pt>
                <c:pt idx="1">
                  <c:v>450.6</c:v>
                </c:pt>
                <c:pt idx="2">
                  <c:v>426.3</c:v>
                </c:pt>
                <c:pt idx="3">
                  <c:v>444.8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907F-402E-B742-5B793452DFA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layout>
        <c:manualLayout>
          <c:xMode val="edge"/>
          <c:yMode val="edge"/>
          <c:x val="0.17712420481338137"/>
          <c:y val="0.81614816530286649"/>
          <c:w val="0.67635422690807723"/>
          <c:h val="0.11849235757295044"/>
        </c:manualLayout>
      </c:layout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75.8</c:v>
                </c:pt>
                <c:pt idx="1">
                  <c:v>80.900000000000006</c:v>
                </c:pt>
                <c:pt idx="2">
                  <c:v>73.3</c:v>
                </c:pt>
                <c:pt idx="3">
                  <c:v>64.7</c:v>
                </c:pt>
                <c:pt idx="4">
                  <c:v>65.5</c:v>
                </c:pt>
                <c:pt idx="5">
                  <c:v>64.56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4286.6400000000003</c:v>
                </c:pt>
                <c:pt idx="1">
                  <c:v>4348.76</c:v>
                </c:pt>
                <c:pt idx="2">
                  <c:v>3941.36</c:v>
                </c:pt>
                <c:pt idx="3">
                  <c:v>3841.77</c:v>
                </c:pt>
                <c:pt idx="4">
                  <c:v>3627.15</c:v>
                </c:pt>
                <c:pt idx="5">
                  <c:v>3620.17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3249.27</c:v>
                </c:pt>
                <c:pt idx="1">
                  <c:v>3518.15</c:v>
                </c:pt>
                <c:pt idx="2">
                  <c:v>2889.02</c:v>
                </c:pt>
                <c:pt idx="3">
                  <c:v>2485.63</c:v>
                </c:pt>
                <c:pt idx="4">
                  <c:v>2375.7800000000002</c:v>
                </c:pt>
                <c:pt idx="5">
                  <c:v>2337.25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Revenue from tourists H1 (Billion 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42.6</c:v>
                </c:pt>
                <c:pt idx="1">
                  <c:v>48.2</c:v>
                </c:pt>
                <c:pt idx="2">
                  <c:v>57.2</c:v>
                </c:pt>
                <c:pt idx="3">
                  <c:v>56.8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412-4FB2-AA34-025BA661BE9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105.3</c:v>
                </c:pt>
                <c:pt idx="1">
                  <c:v>126.6</c:v>
                </c:pt>
                <c:pt idx="2">
                  <c:v>118.5</c:v>
                </c:pt>
                <c:pt idx="3">
                  <c:v>113.3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412-4FB2-AA34-025BA661BE9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147.9</c:v>
                </c:pt>
                <c:pt idx="1">
                  <c:v>174.8</c:v>
                </c:pt>
                <c:pt idx="2">
                  <c:v>175.8</c:v>
                </c:pt>
                <c:pt idx="3">
                  <c:v>170.2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412-4FB2-AA34-025BA661BE9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more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734090-F488-B807-0850-3629B1D8F9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04103E2-8608-BEA1-83D2-70E48F9094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947A5C-3971-C431-0C14-E3D94C0942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D73B4D-5AE3-F9F2-809F-AF2723A37E7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745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5.xml"/><Relationship Id="rId4" Type="http://schemas.openxmlformats.org/officeDocument/2006/relationships/chart" Target="../charts/char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7.xml"/><Relationship Id="rId3" Type="http://schemas.openxmlformats.org/officeDocument/2006/relationships/chart" Target="../charts/chart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9.xml"/><Relationship Id="rId4" Type="http://schemas.openxmlformats.org/officeDocument/2006/relationships/chart" Target="../charts/chart10.xml"/><Relationship Id="rId5" Type="http://schemas.openxmlformats.org/officeDocument/2006/relationships/chart" Target="../charts/chart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2.xml"/><Relationship Id="rId3" Type="http://schemas.openxmlformats.org/officeDocument/2006/relationships/chart" Target="../charts/chart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chart" Target="../charts/chart14.xml"/><Relationship Id="rId4" Type="http://schemas.openxmlformats.org/officeDocument/2006/relationships/chart" Target="../charts/chart15.xml"/><Relationship Id="rId5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chart" Target="../charts/chart1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18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19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0.xml"/><Relationship Id="rId4" Type="http://schemas.openxmlformats.org/officeDocument/2006/relationships/chart" Target="../charts/chart2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5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3" Type="http://schemas.openxmlformats.org/officeDocument/2006/relationships/chart" Target="../charts/chart26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29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chart" Target="../charts/chart3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chart" Target="../charts/chart33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36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34.xml"/><Relationship Id="rId4" Type="http://schemas.openxmlformats.org/officeDocument/2006/relationships/chart" Target="../charts/chart35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chart" Target="../charts/chart3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chart" Target="../charts/chart40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chart" Target="../charts/chart43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chart" Target="../charts/chart41.xml"/><Relationship Id="rId4" Type="http://schemas.openxmlformats.org/officeDocument/2006/relationships/chart" Target="../charts/chart4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chart" Target="../charts/chart46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 YTD = Jan–Jun vs same period 2025 (June preliminary) · Portfolio YTD = Jan–Jun · Revenue MF proj = GOP + OPEX budget (no direct revenue budget line)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694944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ARRIVALS (MOTS)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694944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YTD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37304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483608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4483608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83608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still 46% of 2019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125968" y="1572768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8272272" y="1664208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72272" y="18836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8272272" y="2340864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 — record high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694944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REVENUE H1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694944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-9.7%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LY (฿590.4M)</a:t>
            </a:r>
          </a:p>
        </p:txBody>
      </p:sp>
      <p:sp>
        <p:nvSpPr>
          <p:cNvPr id="22" name="Shape 20"/>
          <p:cNvSpPr/>
          <p:nvPr/>
        </p:nvSpPr>
        <p:spPr>
          <a:xfrm>
            <a:off x="4337304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4483608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EBIT H1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483608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483608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−฿17.7M vs MF proj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LY · margin 24.6%</a:t>
            </a:r>
          </a:p>
        </p:txBody>
      </p:sp>
      <p:sp>
        <p:nvSpPr>
          <p:cNvPr id="26" name="Shape 24"/>
          <p:cNvSpPr/>
          <p:nvPr/>
        </p:nvSpPr>
        <p:spPr>
          <a:xfrm>
            <a:off x="8125968" y="3017520"/>
            <a:ext cx="3514344" cy="1298448"/>
          </a:xfrm>
          <a:prstGeom prst="roundRect">
            <a:avLst>
              <a:gd name="adj" fmla="val 422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5"/>
          <p:cNvSpPr/>
          <p:nvPr/>
        </p:nvSpPr>
        <p:spPr>
          <a:xfrm>
            <a:off x="8272272" y="3108960"/>
            <a:ext cx="32217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YTD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8272272" y="33284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8272272" y="3785616"/>
            <a:ext cx="322173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48640" y="4526280"/>
            <a:ext cx="1109167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messages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is holding: H1 EBIT ฿143.2M vs ฿147.1M last year (−2.6%) despite rate pressure — cost discipline (OPEX −2.1% vs LY) protected profitability.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Rate, not volume, is the 2026 challenge: occupancy is near plan but ADR runs ~3% under budget across the portfolio — see ‘The ADR challenge’ in Section 2.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demand is mixed: total arrivals are below last year (June preliminary), with China (+18%), India and long-haul holding the recovery together — Middle East is down on the war effect.</a:t>
            </a:r>
            <a:endParaRPr lang="en-US" sz="125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-4.3% vs budget on 75.8% occupancy — rate (ADR, −3.4%) is the main gap; occupancy is close to plan.</a:t>
            </a:r>
            <a:endParaRPr lang="en-US" sz="1250" dirty="0"/>
          </a:p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Re-based STR: the markets AND our direct compsets held rate in H1, while our four hotels cut ADR ~5–10% and bought occupancy (all above compset) — the rate gap is our pricing/mix trade, not market-forced.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— 2026 through June (June preliminary: 4 days missing)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4480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15.87M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Ministry of Tourism &amp; Sports (MOTS). 2026 slightly below 2025 — January was weak (−12% vs Jan 2025), February–May broadly flat.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arrivals (MOTS) — monthly numbers by year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arrivals by month, 2018–2026 · unit: persons · same layout as the Summary sheet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1672" cy="311810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768096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3,544,528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3,566,898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3,497,260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3,092,725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2,755,059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3,025,279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3,175,981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3,228,595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2,655,562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2,712,033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3,177,569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3,845,811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38,277,300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3,713,172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3,600,922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3,478,687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3,216,929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2,736,598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3,056,697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3,342,750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3,472,655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2,890,039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3,074,099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3,386,366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3,947,337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39,916,251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3,810,155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2,061,990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819,429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6,702,396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 (COVID)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5,741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8,529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5,694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18,056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15,105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20,272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91,255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427,869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133,903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152,954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210,836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293,350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521,410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767,497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1,124,227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1,174,743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1,309,115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1,475,430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1,748,366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2,241,195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11,153,026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2,144,948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2,113,550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2,219,040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2,182,100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2,013,852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2,241,201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2,490,643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2,468,042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2,130,596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2,197,017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2,637,077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3,261,257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28,099,323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3,035,296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3,352,302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2,982,721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2,757,128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2,633,464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2,740,372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3,103,420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2,963,147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2,521,005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2,679,180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3,150,237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3,627,442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35,545,714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3,709,102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3,119,445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2,720,457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2,547,116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2,266,574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2,322,775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2,610,369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2,583,638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2,235,852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2,573,743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2,914,810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3,370,440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32,974,321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3,277,908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3,263,802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2,775,199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2,368,895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2,346,845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1,841,551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14,032,649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-4.9%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5166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total = Jan–Jun (June preliminary — 4 days missing). ‘26 vs 25’ row compares each month; the Total cell compares Jan–Jun of both years. 2019 total highlighted = pre-COVID peak; 2020–2021 grayed = COVID years.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1,069,787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1,064,806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985,232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898,994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794,913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894,105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5,707,837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508,563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674,558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573,216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595,572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559,461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528,112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3,439,482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662,779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371,542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297,113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317,213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310,292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306,617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2,265,556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400,321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677,768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410,624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418,291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411,308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283,297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2,601,609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+33%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+14.8%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+14.8%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2024 LEVEL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2024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demand is recovering vs a weak 2025 (safety concerns faded) but is still only ~48% of pre-COVID volume.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India keeps setting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18872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148,992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161,129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170,635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198,993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197,489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1,040,069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185,809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169,988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187,973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206,286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228,544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205,299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1,183,899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231,184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185,930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208,484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206,641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224,490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163,378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1,220,107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+24%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+3.1%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1.22M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+3.1%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1.18M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+13.8% vs 2024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 year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consecutive YTD growth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 is the strongest growth market: +24% in January alone; Apr–May flat against a high 2025 base.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— 2019 shown as pre-COVID reference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3063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773168"/>
          <a:ext cx="7498080" cy="1426464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296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94,365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85,613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101,002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91,897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95,246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93,648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561,771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44,223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35,346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45,071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44,106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97,083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274,284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49,839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32,831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18,708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50,561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48,650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82,462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283,051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52,261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15,814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12,201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21,707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47,726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52,702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202,411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-57%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-28.5%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202k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-28.5%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2019 LEVEL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36%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pre-COVID Jan–Jun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 MONTH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−57%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April 2025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Watch for recovery in H2.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arrivals (EU + USA)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 Jan–Jun — Europe (left) and USA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526280" y="1828800"/>
          <a:ext cx="3749040" cy="32004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Shape 4"/>
          <p:cNvSpPr/>
          <p:nvPr/>
        </p:nvSpPr>
        <p:spPr>
          <a:xfrm>
            <a:off x="8549640" y="2011680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695944" y="2103120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YTD 2026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695944" y="2322576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5.05M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695944" y="2779776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-1.2% vs 2025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549640" y="3364992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695944" y="3456432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695944" y="3675888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4.25M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695944" y="4133088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 vs 2025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549640" y="4718304"/>
            <a:ext cx="306324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695944" y="4809744"/>
            <a:ext cx="2770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695944" y="5029200"/>
            <a:ext cx="2770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796k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695944" y="5486400"/>
            <a:ext cx="2770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-1.6% vs 2025</a:t>
            </a:r>
            <a:endParaRPr lang="en-US" sz="10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5193792"/>
          <a:ext cx="7726680" cy="11430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6128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058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EU+USA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1,026,029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987,508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901,645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631,332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440,983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3,987,497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1,257,708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1,156,356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1,006,483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771,553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465,502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4,657,602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1,366,171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1,202,154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967,437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666,472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467,734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4,669,968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vs 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Text 16"/>
          <p:cNvSpPr/>
          <p:nvPr/>
        </p:nvSpPr>
        <p:spPr>
          <a:xfrm>
            <a:off x="8549640" y="5257800"/>
            <a:ext cx="3108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Long-haul stable at record levels — strong Jan–Feb offset a softer April.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2371212"/>
              </p:ext>
            </p:extLst>
          </p:nvPr>
        </p:nvGraphicFramePr>
        <p:xfrm>
          <a:off x="54864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396153"/>
              </p:ext>
            </p:extLst>
          </p:nvPr>
        </p:nvGraphicFramePr>
        <p:xfrm>
          <a:off x="6217920" y="1323594"/>
          <a:ext cx="5394960" cy="202589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7266589"/>
              </p:ext>
            </p:extLst>
          </p:nvPr>
        </p:nvGraphicFramePr>
        <p:xfrm>
          <a:off x="563880" y="3279913"/>
          <a:ext cx="11064240" cy="286155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402.1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426.3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444.8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125.5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124.5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122.4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133.4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276.6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326.1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304.0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311.5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+17.9%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-6.8%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621103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>
                <a:solidFill>
                  <a:sysClr val="windowText" lastClr="000000"/>
                </a:solidFill>
              </a:rPr>
              <a:t> Arrival BKK 2026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is higher than 2025 3.3% but when we compare just foreigner showing that in </a:t>
            </a:r>
            <a:r>
              <a:rPr lang="en-US" sz="1100" baseline="0" dirty="0" err="1">
                <a:solidFill>
                  <a:sysClr val="windowText" lastClr="000000"/>
                </a:solidFill>
              </a:rPr>
              <a:t>foriegner</a:t>
            </a:r>
            <a:r>
              <a:rPr lang="en-US" sz="1100" baseline="0" dirty="0">
                <a:solidFill>
                  <a:sysClr val="windowText" lastClr="000000"/>
                </a:solidFill>
              </a:rPr>
              <a:t> arrival is similar to 2025 (-0.1%)</a:t>
            </a:r>
            <a:endParaRPr lang="en-US" sz="1100" dirty="0">
              <a:solidFill>
                <a:sysClr val="windowText" lastClr="000000"/>
              </a:solidFill>
            </a:endParaRPr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baseline="0" dirty="0">
                <a:solidFill>
                  <a:sysClr val="windowText" lastClr="000000"/>
                </a:solidFill>
              </a:rPr>
              <a:t>Revenue from Foreigner is more than 2025 a round +2.5% with missing for data 4 days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Occ +1.8 pts   ·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-1.1%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RevPAR +1.4%</a:t>
            </a:r>
            <a:endParaRPr lang="en-US" sz="1250" dirty="0"/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the broad Bangkok market held rate in H1 (ADR −1.1%) and grew occupancy (+1.8 pts) — the deep discounting sits in our direct serviced-apartment compsets, not the whole market.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Bangkok market &amp; compsets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8D55007-83B3-DAF4-BD6A-18A9D4DC1FC9}"/>
              </a:ext>
            </a:extLst>
          </p:cNvPr>
          <p:cNvSpPr/>
          <p:nvPr/>
        </p:nvSpPr>
        <p:spPr>
          <a:xfrm>
            <a:off x="8639092" y="2868829"/>
            <a:ext cx="554604" cy="66830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A489FBB-D00E-4CDB-B6F6-149F919F052A}"/>
              </a:ext>
            </a:extLst>
          </p:cNvPr>
          <p:cNvSpPr/>
          <p:nvPr/>
        </p:nvSpPr>
        <p:spPr>
          <a:xfrm>
            <a:off x="548640" y="1600200"/>
            <a:ext cx="11091672" cy="315547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ysClr val="windowText" lastClr="000000"/>
                </a:solidFill>
              </a:rPr>
              <a:t>Key Takeaway BKK : </a:t>
            </a:r>
            <a:endParaRPr lang="en-US" sz="110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aseline="0" dirty="0">
                <a:solidFill>
                  <a:sysClr val="windowText" lastClr="000000"/>
                </a:solidFill>
              </a:rPr>
              <a:t>If look at STR market of Bangkok &gt;&gt;</a:t>
            </a:r>
            <a:endParaRPr lang="en-US" sz="1100" baseline="0" dirty="0">
              <a:solidFill>
                <a:schemeClr val="tx1"/>
              </a:solidFill>
            </a:endParaRPr>
          </a:p>
          <a:p>
            <a:pPr algn="l"/>
            <a:r>
              <a:rPr lang="en-US" sz="1100" baseline="0" dirty="0">
                <a:solidFill>
                  <a:schemeClr val="tx1"/>
                </a:solidFill>
              </a:rPr>
              <a:t>Overall BKK: RevPAR grew by +2% YoY (driven by +3% Occupancy, despite a -1% drop in ADR).</a:t>
            </a:r>
          </a:p>
          <a:p>
            <a:pPr algn="l"/>
            <a:endParaRPr lang="en-US" sz="110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SR9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rgbClr val="2E7D32"/>
                </a:solidFill>
              </a:rPr>
              <a:t>+4.8%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ADR -3.3% </a:t>
            </a:r>
            <a:r>
              <a:rPr lang="en-US" dirty="0">
                <a:solidFill>
                  <a:sysClr val="windowText" lastClr="000000"/>
                </a:solidFill>
              </a:rPr>
              <a:t>turning </a:t>
            </a:r>
            <a:r>
              <a:rPr lang="en-US" dirty="0" err="1">
                <a:solidFill>
                  <a:sysClr val="windowText" lastClr="000000"/>
                </a:solidFill>
              </a:rPr>
              <a:t>revpar</a:t>
            </a:r>
            <a:r>
              <a:rPr lang="en-US" dirty="0">
                <a:solidFill>
                  <a:sysClr val="windowText" lastClr="000000"/>
                </a:solidFill>
              </a:rPr>
              <a:t> 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+1.3%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Rama 9 market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 Occ is +1.4% compare to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lastyear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. but ADR is very lower than last year around -19%,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-17%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SR9 doing better from the market. While the </a:t>
            </a:r>
            <a:r>
              <a:rPr lang="en-US" sz="1100" b="1" baseline="0" dirty="0">
                <a:solidFill>
                  <a:srgbClr val="00B050"/>
                </a:solidFill>
              </a:rPr>
              <a:t>m</a:t>
            </a:r>
            <a:r>
              <a:rPr lang="en-US" sz="1100" b="0" baseline="0" dirty="0">
                <a:solidFill>
                  <a:srgbClr val="00B050"/>
                </a:solidFill>
              </a:rPr>
              <a:t>arket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is decreasing but SR9 have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positive number. The key driver come from the corporate booking. And the supply in the </a:t>
            </a:r>
            <a:r>
              <a:rPr lang="en-US" dirty="0">
                <a:solidFill>
                  <a:srgbClr val="00B050"/>
                </a:solidFill>
              </a:rPr>
              <a:t>area </a:t>
            </a:r>
            <a:r>
              <a:rPr lang="en-US" sz="1100" b="0" baseline="0" dirty="0">
                <a:solidFill>
                  <a:srgbClr val="00B050"/>
                </a:solidFill>
              </a:rPr>
              <a:t>like jubilee is under renovation.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r>
              <a:rPr lang="en-US" sz="1100" b="1" baseline="0" dirty="0">
                <a:solidFill>
                  <a:sysClr val="windowText" lastClr="000000"/>
                </a:solidFill>
              </a:rPr>
              <a:t>AES &gt;&gt;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Occ </a:t>
            </a:r>
            <a:r>
              <a:rPr lang="en-US" dirty="0">
                <a:solidFill>
                  <a:sysClr val="windowText" lastClr="000000"/>
                </a:solidFill>
              </a:rPr>
              <a:t> </a:t>
            </a:r>
            <a:r>
              <a:rPr lang="en-US" dirty="0">
                <a:solidFill>
                  <a:srgbClr val="2E7D32"/>
                </a:solidFill>
              </a:rPr>
              <a:t>+3.8%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ADR -5.85 turning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-2.2% </a:t>
            </a:r>
            <a:r>
              <a:rPr lang="en-US" dirty="0">
                <a:solidFill>
                  <a:sysClr val="windowText" lastClr="000000"/>
                </a:solidFill>
              </a:rPr>
              <a:t>vs LY</a:t>
            </a:r>
          </a:p>
          <a:p>
            <a:pPr algn="l"/>
            <a:r>
              <a:rPr lang="en-US" sz="1100" b="0" baseline="0" dirty="0">
                <a:solidFill>
                  <a:sysClr val="windowText" lastClr="000000"/>
                </a:solidFill>
              </a:rPr>
              <a:t>Sathorn market &gt;&gt; Occ is down around -5% and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Adr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-2%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comapre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to LY, resulting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-7% compare to LY</a:t>
            </a:r>
          </a:p>
          <a:p>
            <a:pPr algn="l"/>
            <a:r>
              <a:rPr lang="en-US" sz="1100" b="0" baseline="0" dirty="0">
                <a:solidFill>
                  <a:srgbClr val="00B050"/>
                </a:solidFill>
              </a:rPr>
              <a:t>So, AES can do occ and </a:t>
            </a:r>
            <a:r>
              <a:rPr lang="en-US" sz="1100" b="0" baseline="0" dirty="0" err="1">
                <a:solidFill>
                  <a:srgbClr val="00B050"/>
                </a:solidFill>
              </a:rPr>
              <a:t>revpar</a:t>
            </a:r>
            <a:r>
              <a:rPr lang="en-US" sz="1100" b="0" baseline="0" dirty="0">
                <a:solidFill>
                  <a:srgbClr val="00B050"/>
                </a:solidFill>
              </a:rPr>
              <a:t> better than the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but ADR is lower than the market around change (Gm said that </a:t>
            </a:r>
            <a:r>
              <a:rPr lang="en-US" sz="1100" b="0" baseline="0" dirty="0" err="1">
                <a:solidFill>
                  <a:srgbClr val="00B050"/>
                </a:solidFill>
              </a:rPr>
              <a:t>bc</a:t>
            </a:r>
            <a:r>
              <a:rPr lang="en-US" sz="1100" b="0" baseline="0" dirty="0">
                <a:solidFill>
                  <a:srgbClr val="00B050"/>
                </a:solidFill>
              </a:rPr>
              <a:t> one of them </a:t>
            </a:r>
            <a:r>
              <a:rPr lang="en-US" sz="1100" b="0" baseline="0" dirty="0" err="1">
                <a:solidFill>
                  <a:srgbClr val="00B050"/>
                </a:solidFill>
              </a:rPr>
              <a:t>compset</a:t>
            </a:r>
            <a:r>
              <a:rPr lang="en-US" sz="1100" b="0" baseline="0" dirty="0">
                <a:solidFill>
                  <a:srgbClr val="00B050"/>
                </a:solidFill>
              </a:rPr>
              <a:t> like COMO doesn't drop the rate down so make the ADR average index remain same to last year). AES is align with the market which has a soft market.</a:t>
            </a:r>
          </a:p>
          <a:p>
            <a:pPr algn="l"/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r>
              <a:rPr lang="en-US" sz="1100" b="1" baseline="0" dirty="0">
                <a:solidFill>
                  <a:sysClr val="windowText" lastClr="000000"/>
                </a:solidFill>
              </a:rPr>
              <a:t>LYF8 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&gt;&gt;Occ -1.1% ADR -5% drop,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-6.1% vs LY</a:t>
            </a:r>
          </a:p>
          <a:p>
            <a:r>
              <a:rPr lang="en-US" sz="1100" b="0" baseline="0" dirty="0">
                <a:solidFill>
                  <a:sysClr val="windowText" lastClr="000000"/>
                </a:solidFill>
              </a:rPr>
              <a:t>Nana market &gt;&gt; Occ +4% ADR drop </a:t>
            </a:r>
            <a:r>
              <a:rPr lang="th-TH" sz="1100" b="0" baseline="0" dirty="0">
                <a:solidFill>
                  <a:sysClr val="windowText" lastClr="000000"/>
                </a:solidFill>
              </a:rPr>
              <a:t>-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3% </a:t>
            </a:r>
            <a:r>
              <a:rPr lang="en-US" sz="1100" b="0" baseline="0" dirty="0" err="1">
                <a:solidFill>
                  <a:sysClr val="windowText" lastClr="000000"/>
                </a:solidFill>
              </a:rPr>
              <a:t>Revpar</a:t>
            </a:r>
            <a:r>
              <a:rPr lang="en-US" sz="1100" b="0" baseline="0" dirty="0">
                <a:solidFill>
                  <a:sysClr val="windowText" lastClr="000000"/>
                </a:solidFill>
              </a:rPr>
              <a:t> +1% vs LY</a:t>
            </a:r>
          </a:p>
          <a:p>
            <a:r>
              <a:rPr lang="en-US" dirty="0">
                <a:solidFill>
                  <a:srgbClr val="FF0000"/>
                </a:solidFill>
              </a:rPr>
              <a:t>Overall, LS8 performed worse than the market. The market achieved better occupancy +3.7% than last year along with a 1.2% increase in RevPAR, but LS8's occupancy dropped by 1.1% compared to 2025. Also, while the market's ADR dropped by about 2.3%, LS8's ADR dropped by 5%.</a:t>
            </a:r>
            <a:endParaRPr lang="en-US" sz="1100" b="0" baseline="0" dirty="0">
              <a:solidFill>
                <a:sysClr val="windowText" lastClr="000000"/>
              </a:solidFill>
            </a:endParaRPr>
          </a:p>
          <a:p>
            <a:pPr algn="l"/>
            <a:endParaRPr lang="en-US" sz="1100" b="1" baseline="0" dirty="0">
              <a:solidFill>
                <a:sysClr val="windowText" lastClr="000000"/>
              </a:solidFill>
            </a:endParaRPr>
          </a:p>
        </p:txBody>
      </p:sp>
      <p:sp>
        <p:nvSpPr>
          <p:cNvPr id="15" name="Right Brace 14">
            <a:extLst>
              <a:ext uri="{FF2B5EF4-FFF2-40B4-BE49-F238E27FC236}">
                <a16:creationId xmlns:a16="http://schemas.microsoft.com/office/drawing/2014/main" id="{46C4E402-60D4-0AB6-86F9-674E79F2C7E8}"/>
              </a:ext>
            </a:extLst>
          </p:cNvPr>
          <p:cNvSpPr/>
          <p:nvPr/>
        </p:nvSpPr>
        <p:spPr>
          <a:xfrm>
            <a:off x="11477044" y="1725034"/>
            <a:ext cx="292169" cy="111516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4864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6217920" y="1600200"/>
          <a:ext cx="53949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51548062"/>
              </p:ext>
            </p:extLst>
          </p:nvPr>
        </p:nvGraphicFramePr>
        <p:xfrm>
          <a:off x="548640" y="3931920"/>
          <a:ext cx="11064240" cy="27660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147.9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174.8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175.8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170.2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(Bn฿)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42.6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48.2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57.2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56.8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(Bn฿)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105.3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126.6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118.5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revenue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+18.2%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revenue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+20.3%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434340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/>
        </p:nvGraphicFramePr>
        <p:xfrm>
          <a:off x="8138160" y="1828800"/>
          <a:ext cx="3611880" cy="3977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3402B4-BA0A-A98F-53D6-8BB93997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5964EC1C-73E8-93F6-BCCB-B229ADBFEE29}"/>
              </a:ext>
            </a:extLst>
          </p:cNvPr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CD606F07-A04A-F7D4-E1D2-98692293C51F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— Pattaya market &amp; compsets</a:t>
            </a:r>
            <a:endParaRPr lang="en-US" sz="28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C23D956B-923F-1431-421F-7037179D3215}"/>
              </a:ext>
            </a:extLst>
          </p:cNvPr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Per-property comp set tables moved to each property section · summary view</a:t>
            </a:r>
            <a:endParaRPr lang="en-US" sz="125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057F2540-B0AC-3EBC-4990-743D8D8CA5D1}"/>
              </a:ext>
            </a:extLst>
          </p:cNvPr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F0E3A5FB-83F4-A352-5D60-FBFB0140A50A}"/>
              </a:ext>
            </a:extLst>
          </p:cNvPr>
          <p:cNvSpPr/>
          <p:nvPr/>
        </p:nvSpPr>
        <p:spPr>
          <a:xfrm>
            <a:off x="548640" y="626364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CoStar per-property compset reports, June 2026 (SR9/LYF/SP primary comp set; AES secondary comp set). STR ADR basis differs from the result-sheet ADR (breakfast/net treatment) — use % changes, not absolute levels, for comparison.</a:t>
            </a:r>
            <a:endParaRPr lang="en-US" sz="105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D647BEDE-5832-34EF-F898-BB5E82D7F1CA}"/>
              </a:ext>
            </a:extLst>
          </p:cNvPr>
          <p:cNvSpPr/>
          <p:nvPr/>
        </p:nvSpPr>
        <p:spPr>
          <a:xfrm>
            <a:off x="521208" y="1600200"/>
            <a:ext cx="11119104" cy="2301396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>
            <a:lvl1pPr marL="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sz="1600" b="1" dirty="0">
                <a:solidFill>
                  <a:srgbClr val="1E2761"/>
                </a:solidFill>
                <a:latin typeface="Calibri"/>
              </a:rPr>
              <a:t>Key Takeaway — Pattaya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Tourist spending in Pattaya is about −3% below both 2024 and 2025 (June 2026 is still missing 4 days of data).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Arrivals in Pattaya are −2.7% vs 2025.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Pattaya STR market: occupancy −3%, ADR roughly flat — turning RevPAR −3%.</a:t>
            </a:r>
            <a:endParaRPr lang="en-US"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endParaRPr sz="1300" dirty="0">
              <a:solidFill>
                <a:srgbClr val="26292E"/>
              </a:solidFill>
              <a:latin typeface="Calibri"/>
            </a:endParaRP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Narrowing to our property's competitive set: H1 2026 vs 2025 occupancy −3%, ADR −6% — RevPAR −9%.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26292E"/>
                </a:solidFill>
                <a:latin typeface="Calibri"/>
              </a:rPr>
              <a:t>• Our property (SP): occupancy </a:t>
            </a:r>
            <a:r>
              <a:rPr lang="en-US" sz="1300" dirty="0">
                <a:solidFill>
                  <a:srgbClr val="26292E"/>
                </a:solidFill>
                <a:latin typeface="Calibri"/>
              </a:rPr>
              <a:t>+5.3% </a:t>
            </a:r>
            <a:r>
              <a:rPr sz="1300" dirty="0">
                <a:solidFill>
                  <a:srgbClr val="26292E"/>
                </a:solidFill>
                <a:latin typeface="Calibri"/>
              </a:rPr>
              <a:t>vs LY, ADR −4.9% — RevPAR +0.2% vs LY.</a:t>
            </a:r>
          </a:p>
          <a:p>
            <a:pPr>
              <a:spcAft>
                <a:spcPts val="600"/>
              </a:spcAft>
            </a:pPr>
            <a:r>
              <a:rPr sz="1300" dirty="0">
                <a:solidFill>
                  <a:srgbClr val="00B050"/>
                </a:solidFill>
                <a:latin typeface="Calibri"/>
              </a:rPr>
              <a:t>• Conclusion: SP is performing better than the market.</a:t>
            </a:r>
          </a:p>
        </p:txBody>
      </p:sp>
    </p:spTree>
    <p:extLst>
      <p:ext uri="{BB962C8B-B14F-4D97-AF65-F5344CB8AC3E}">
        <p14:creationId xmlns:p14="http://schemas.microsoft.com/office/powerpoint/2010/main" val="273027183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Challenge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ADR challenge — rate is the story of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is holding, rate is not · left = what the data shows, right = why we believe it is happening · TBC items await data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49808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FACTS — what the data shows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(workbook Compset sheet): the broad markets held RATE in H1 — Bangkok ADR −1.1% (occ +1.8 pts), Pattaya ADR −0.3% (occ −2.0 pts) — while our portfolio ADR fell -4.2%.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163056" y="1691640"/>
            <a:ext cx="5477256" cy="4526280"/>
          </a:xfrm>
          <a:prstGeom prst="roundRect">
            <a:avLst>
              <a:gd name="adj" fmla="val 1212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6364224" y="1828800"/>
            <a:ext cx="5074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HYPOTHESES — why we believe it is happening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364224" y="2240280"/>
            <a:ext cx="507492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Rate-for-volume strategy: STR shows we discounted far deeper than our compsets and bought occupancy share (MPI above 100 at all four hotels) — was the occupancy gain worth the rate given up? [key question for the GMs]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dilution: losing high-rate Middle East / European long-stay and refilling with Chinese/SEA leisure lowers our achieved ADR even without price cuts — our compsets carry less of that exposure, so their ADR held.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Spending power: Chinese and SEA leisure guests book entry-level rooms and shorter stays; a strong THB makes Thailand more expensive in guests' home currencies. [TBC — FX / spend-per-trip evidence]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behaviour changed: guests book further in advance and last-minute premium demand has faded (SR9) — less late-yield upside on peak dates.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Channel mix dilution: OTA flash deals and wholesale rates lift occupancy but cap ADR (LYF ADR ranks 5/5 in its compset; Trip.com flash deal discontinued).</a:t>
            </a:r>
            <a:endParaRPr lang="en-US" sz="115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supply: additional rooms in Bangkok keep pressure on rates. [TBC — 2025–26 new openings in Rama 9 / Sathorn /Nana to quantify]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v2 for discussion — computed figures come from the result sheets, STR and MOTS data in this workbook; [TBC] items to be confirmed by management.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by segment — where the rate went, H1 2026 vs H1 2025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 nights per segment · H1 = Jan–Jun · % rooms = segment share of room nights · segments under 1% of rooms omitted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Rama 9 (SR9)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336792" y="157276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Ascott Embassy Sathorn (AES)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336792" y="184708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lyf Sukhumvit 8 (LYF)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48640" y="4315968"/>
          <a:ext cx="5303520" cy="937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336792" y="4041648"/>
            <a:ext cx="5303520" cy="237744"/>
          </a:xfrm>
          <a:prstGeom prst="rect">
            <a:avLst/>
          </a:prstGeom>
          <a:noFill/>
        </p:spPr>
        <p:txBody>
          <a:bodyPr wrap="none" lIns="0" tIns="0" bIns="0">
            <a:spAutoFit/>
          </a:bodyPr>
          <a:lstStyle/>
          <a:p>
            <a:r>
              <a:rPr sz="1100" b="1">
                <a:solidFill>
                  <a:srgbClr val="1E2761"/>
                </a:solidFill>
                <a:latin typeface="Calibri"/>
              </a:rPr>
              <a:t>Somerset Pattaya (SP)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336792" y="4315968"/>
          <a:ext cx="5303520" cy="131216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731520"/>
                <a:gridCol w="731520"/>
                <a:gridCol w="841248"/>
                <a:gridCol w="841248"/>
                <a:gridCol w="740664"/>
              </a:tblGrid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% rooms 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'26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chg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 (dynamic)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11%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187452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9144" marB="9144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548640" y="6382512"/>
            <a:ext cx="11091672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050" b="1">
                <a:solidFill>
                  <a:srgbClr val="1E2761"/>
                </a:solidFill>
                <a:latin typeface="Calibri"/>
              </a:rPr>
              <a:t>Takeaway: the segment mix hardly moved (% rooms columns) — the ADR decline comes from lower prices inside almost every segment, deepest in Online (dynamic rate): SR9 −13.9% · AES −11.0% · LYF −8.2% · SP −16.1%.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468880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  <p:sp>
        <p:nvSpPr>
          <p:cNvPr id="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SR9 runs close to budget all year; Feb outperformed strongly, May–Jun slightly behind on rate.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6CBC93C-ECD8-46AB-78C9-FE407A0F0935}"/>
              </a:ext>
            </a:extLst>
          </p:cNvPr>
          <p:cNvSpPr txBox="1"/>
          <p:nvPr/>
        </p:nvSpPr>
        <p:spPr>
          <a:xfrm>
            <a:off x="8357420" y="1324094"/>
            <a:ext cx="26842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Budget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4,414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4,854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4,517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1,531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12,099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11,275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11,030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10,219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1,894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2,216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1,917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2,819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2,491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(-21.7%) · '–' = no rooms sold that month.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(Rachada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SR9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80.8%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2,891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2,336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2 of 6 · 2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</a:t>
                      </a:r>
                      <a:r>
                        <a:rPr sz="1050" b="1" dirty="0" err="1">
                          <a:solidFill>
                            <a:srgbClr val="26292E"/>
                          </a:solidFill>
                          <a:latin typeface="Calibri"/>
                        </a:rPr>
                        <a:t>Rachada</a:t>
                      </a:r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AES: February was exceptional (92% occupancy, well above budget); April–May fell behind budget in a softer Bangkok market.</a:t>
            </a:r>
            <a:endParaRPr lang="en-US" sz="10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(34%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1,844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1,479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1,315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9,186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10,164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9,081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7,548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3,715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2,446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2,488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4,068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3,648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4,534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4,148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3,390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3,082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2,888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2,542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2,391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3,066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(-26.2%) · '–' = no rooms sold that month.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(Sathorn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AES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70.4%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3,484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2,454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6 · 4 of 6 · 3 of 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(Sathorn)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25127427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8185355" y="5047488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LYF: strong Q1 above budget, then April dropped sharply (occupancy −32 pts vs budget) — recovering since May.</a:t>
            </a:r>
            <a:endParaRPr lang="en-US" sz="105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 2025 bar of 0 = outside 2025's top-10 · change table follows the 2026 top-10, 'new' = outside 2025's top-10.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D16DE3-DA0C-C11C-50DC-36EFD5989D57}"/>
              </a:ext>
            </a:extLst>
          </p:cNvPr>
          <p:cNvSpPr txBox="1"/>
          <p:nvPr/>
        </p:nvSpPr>
        <p:spPr>
          <a:xfrm>
            <a:off x="9177921" y="3496909"/>
            <a:ext cx="3741666" cy="3801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Checking SG </a:t>
            </a:r>
            <a:r>
              <a:rPr lang="en-US" dirty="0" err="1"/>
              <a:t>arrival.Indonesia</a:t>
            </a:r>
            <a:r>
              <a:rPr lang="en-US" dirty="0"/>
              <a:t>)?)</a:t>
            </a:r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Wholesale incl. Wholesale Group · Group incl. all group types · segments &lt;1% (Employee, Medical) omitted.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176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3,853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4,095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5,639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5,192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5,336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4,494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4,088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1,373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941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904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1,893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1,536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970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1,503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1,103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1,257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1,436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1,127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1,011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1,258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1,586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1,289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1,450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1,087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1,710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1,630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1,356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1,212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Corporate LS (-28.5%) · '–' = no rooms sold that month.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(Nana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601CC85-EDF6-E437-4EA7-D3CE1E7B18AC}"/>
              </a:ext>
            </a:extLst>
          </p:cNvPr>
          <p:cNvSpPr/>
          <p:nvPr/>
        </p:nvSpPr>
        <p:spPr>
          <a:xfrm>
            <a:off x="6223819" y="5447071"/>
            <a:ext cx="806246" cy="226142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85682"/>
              </p:ext>
            </p:extLst>
          </p:nvPr>
        </p:nvGraphicFramePr>
        <p:xfrm>
          <a:off x="713232" y="2103120"/>
          <a:ext cx="10762088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0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15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903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339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46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8648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3490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Rank </a:t>
                      </a:r>
                      <a:r>
                        <a:rPr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Occ·ADR·RevPAR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LYF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78.1%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-1.1%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1,374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1,073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 of 5 · 4 of 5 · 4 of 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(Nana)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3C469CD-4CE3-10EB-A71A-F44B269CC01E}"/>
              </a:ext>
            </a:extLst>
          </p:cNvPr>
          <p:cNvSpPr txBox="1"/>
          <p:nvPr/>
        </p:nvSpPr>
        <p:spPr>
          <a:xfrm>
            <a:off x="8165592" y="5431750"/>
            <a:ext cx="374609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Rev align GOP</a:t>
            </a:r>
          </a:p>
          <a:p>
            <a:r>
              <a:rPr lang="en-US" dirty="0" err="1"/>
              <a:t>Jv</a:t>
            </a:r>
            <a:r>
              <a:rPr lang="en-US" dirty="0"/>
              <a:t> expense &gt; Prop tax</a:t>
            </a:r>
          </a:p>
          <a:p>
            <a:r>
              <a:rPr lang="en-US" dirty="0"/>
              <a:t>Loss carry forward 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91640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69080"/>
          <a:ext cx="7223760" cy="201168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(฿)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MF Projection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Actual 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82880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92024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213969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59689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323697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332841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54787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400507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64515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73659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95604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541324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SP: ahead of budget in Jan–Feb high season; Mar–Jun broadly on plan — the re-based Pattaya STR shows a level market.</a:t>
            </a:r>
            <a:endParaRPr lang="en-US" sz="10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guest nationality — room nights &amp; change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2026 vs 2025 (left) · change vs last year (right)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39496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(+805 RN) · biggest decline: United States (-965 RN). A 2025 bar of 0 = outside 2025's top-10 · change table follows the 2026 top-10, 'new' = outside 2025's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03720" y="2240280"/>
          <a:ext cx="3867912" cy="3072384"/>
        </p:xfrm>
        <a:graphic>
          <a:graphicData uri="http://schemas.openxmlformats.org/drawingml/2006/table">
            <a:tbl>
              <a:tblPr/>
              <a:tblGrid>
                <a:gridCol w="130759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room nights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room nights by month 2026, H1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45920"/>
          <a:ext cx="667512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45920"/>
          <a:ext cx="40233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598932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nights). Wholesale incl. Wholesale Group · Group incl. all group types · segments &lt;1% (Employee, Medical) omitted.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4041648"/>
          <a:ext cx="11347704" cy="179222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1115568"/>
                <a:gridCol w="1115568"/>
                <a:gridCol w="1115568"/>
                <a:gridCol w="1115568"/>
                <a:gridCol w="1115568"/>
                <a:gridCol w="1115568"/>
                <a:gridCol w="914400"/>
                <a:gridCol w="914400"/>
                <a:gridCol w="768096"/>
                <a:gridCol w="640080"/>
              </a:tblGrid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H1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Mix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312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347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213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2,725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2,119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2,427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1,791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1,698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1,214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1,002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3,744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2,882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3,049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80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59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24028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8,867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7,665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7,420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6,872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6,405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6,065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ADR by segment (฿ / room night)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segment revenue ÷ room nights · 2026 vs 2025 (gray) · Chg % = H1 26 vs 25 · Wholesale incl. Wholesale Group · Group incl. all group types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48640" y="1691640"/>
          <a:ext cx="11091672" cy="37033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600200"/>
                <a:gridCol w="1298448"/>
                <a:gridCol w="1298448"/>
                <a:gridCol w="1298448"/>
                <a:gridCol w="1298448"/>
                <a:gridCol w="1298448"/>
                <a:gridCol w="1298448"/>
                <a:gridCol w="932688"/>
                <a:gridCol w="768096"/>
              </a:tblGrid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Segment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FFFFFF"/>
                          </a:solidFill>
                          <a:latin typeface="Calibri"/>
                        </a:rPr>
                        <a:t>Chg 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3,878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3,568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3,718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3,111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3,339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2,745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2,609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2,316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4,617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4,788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3,766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6,251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5,217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4,875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4,949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4,160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4,306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3,935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3,903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5,787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5,167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4,829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4,226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3,040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3,231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3,008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2,914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2,702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3,686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3,208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3,350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2,984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2,901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3,163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4,245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3,157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2,487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2,121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>2,075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3,738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2,611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2,804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3,827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3,910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3,478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3,453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3,202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1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   ’25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4,481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4,188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3,877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3,508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3,331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900" b="0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l"/>
                      <a:r>
                        <a:rPr sz="900" b="0">
                          <a:solidFill>
                            <a:srgbClr val="26292E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5486400"/>
            <a:ext cx="1088136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Deepest H1 rate cut: Group (-31.0%) · '–' = no rooms sold that month.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vs comp set (STR) —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property (result sheets) vs its STR competitive set (SP comp set, workbook Compset sheet, CoStar re-based Jun 2026) · H1 = Jan–Jun · Rank = position within the comp set (Occ · ADR · RevPAR)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548640" y="64008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050" dirty="0"/>
          </a:p>
        </p:txBody>
      </p:sp>
      <p:graphicFrame>
        <p:nvGraphicFramePr>
          <p:cNvPr id="905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2244949"/>
              </p:ext>
            </p:extLst>
          </p:nvPr>
        </p:nvGraphicFramePr>
        <p:xfrm>
          <a:off x="713232" y="2103120"/>
          <a:ext cx="11091672" cy="1152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60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3258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Hotel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Rank Occ·ADR·RevPAR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My property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73.8%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+5.3%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3,749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2,766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+0.2%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3 of 6 · 5 of 6 · 4 of 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(SP comp set)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414016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897880" y="1783080"/>
          <a:ext cx="5742432" cy="2334768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346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8346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420624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29768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51713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97433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17" name="Text 12"/>
          <p:cNvSpPr/>
          <p:nvPr/>
        </p:nvSpPr>
        <p:spPr>
          <a:xfrm>
            <a:off x="548640" y="635508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GOP = gross operating profit (≈ EBITDA). MF budget = Mitsui Fudosan budget. All figures are Jan–Jun sums of the monthly P&amp;L blocks in the result sheets; budget rows exist for OPEX, GOP and EBIT only (revenue, GOP margin and NPAT show —). JV expense derived as EBIT − GOP. Source: result FY24/FY25/FY26 sheets (official record).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F2AB92E-5A8A-F38D-E8BB-9A78A70F4654}"/>
              </a:ext>
            </a:extLst>
          </p:cNvPr>
          <p:cNvSpPr txBox="1"/>
          <p:nvPr/>
        </p:nvSpPr>
        <p:spPr>
          <a:xfrm>
            <a:off x="8504903" y="5730719"/>
            <a:ext cx="26517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Pay lesser interest.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APPENDIX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 &amp; definitions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521208" y="758952"/>
            <a:ext cx="11091672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sources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Arrivals: Ministry of Tourism &amp; Sports (MOTS) and AOT statistics, as compiled in the Segment Half-year workbook (tabs Arrival / Summary-1). 2026 data through June; June is preliminary (a system error dropped 4 days).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STR: Bangkok and Pattaya both re-based to the CoStar market/submarket reports of June 2026 (Jan–Jun; 2025 derived from reported % change; earlier compset rows not comparable). Per-property competitive sets: CoStar compset reports June 2026 (SR9/LYF/SP primary, AES secondary), Jan–Jun, used on the ADR-challenge and Us-vs-compsets slides. The old Compset tab series (Jan–May) is retained for history.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performance: monthly Occ/ADR/RevPAR actuals, MF budget and prior years read directly from the result FY24/FY25/FY26 sheets (official record); property ADR includes breakfast (LYF has none). Segment data reconciled to each property's source system, July 2026.</a:t>
            </a:r>
            <a:endParaRPr lang="en-US" sz="12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Segmentation: property tabs (2026 Jan–Jun). Nationality: room nights by nationality from each property tab — H1 2026 and 2025 (each year's own top-10).</a:t>
            </a:r>
            <a:endParaRPr lang="en-US" sz="1200" dirty="0"/>
          </a:p>
          <a:p>
            <a:pPr marL="0" indent="0">
              <a:spcAft>
                <a:spcPts val="600"/>
              </a:spcAft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Definitions &amp; notes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= room revenue ÷ rooms sold; RevPAR = room revenue ÷ rooms available; Occ = rooms sold ÷ rooms available. YTD = Jan–Jun 2026 unless stated.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figures weight the four properties by room inventory (SR9 464 · AES 403 · SP 333 · LYF 206 = 1,406 keys).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Financials (Revenue, OPEX, GOP/EBITDA, EBIT) from the result FY25/FY26 sheets — the official record, frozen at accounting close. AES &amp; SP June 2026 revenue derived from the result totals. NPAT is not recorded there.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262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charts are native PowerPoint charts — right-click → Edit Data to change any number.</a:t>
            </a:r>
            <a:endParaRPr lang="en-US" sz="12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5074920"/>
            <a:ext cx="110642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 dirty="0">
                <a:solidFill>
                  <a:srgbClr val="1E2761"/>
                </a:solidFill>
                <a:latin typeface="Calibri"/>
              </a:rPr>
              <a:t>STR competitive sets (CoStar, Jun 2026)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SR9 (primary): Jubilee Prestige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Ratchadapisek</a:t>
            </a:r>
            <a:r>
              <a:rPr sz="1050" dirty="0">
                <a:solidFill>
                  <a:srgbClr val="6B7280"/>
                </a:solidFill>
                <a:latin typeface="Calibri"/>
              </a:rPr>
              <a:t>, Grand Mercure Bangkok Atrium,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Centara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Grand at Central Plaza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Ladprao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Bangkok, Avani Ratchada Bangkok Hotel, Lancaster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AES (secondary): Pullman Bangkok Hotel G, Chatrium Residence Sathon Bangkok, COMO Metropolitan Bangkok, Marriott Executive Apartment Sathorn Vista, Eastin Grand Hotel Sathorn Bangkok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LYF (primary): ibis Bangkok Sukhumvit 4, Hotel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Graand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Swiss Bangkok, TRIBE Living Bangkok Sukhumvit 39, </a:t>
            </a:r>
            <a:r>
              <a:rPr sz="1050" dirty="0" err="1">
                <a:solidFill>
                  <a:srgbClr val="6B7280"/>
                </a:solidFill>
                <a:latin typeface="Calibri"/>
              </a:rPr>
              <a:t>Ruamchitt</a:t>
            </a:r>
            <a:r>
              <a:rPr sz="1050" dirty="0">
                <a:solidFill>
                  <a:srgbClr val="6B7280"/>
                </a:solidFill>
                <a:latin typeface="Calibri"/>
              </a:rPr>
              <a:t> Hotel</a:t>
            </a:r>
          </a:p>
          <a:p>
            <a:r>
              <a:rPr sz="1050" dirty="0">
                <a:solidFill>
                  <a:srgbClr val="6B7280"/>
                </a:solidFill>
                <a:latin typeface="Calibri"/>
              </a:rPr>
              <a:t>SP (primary): AVANI Pattaya Resort, Hard Rock Hotel Pattaya, Holiday Inn Pattaya, Melia Pattaya Hotel, Grande Centre Point Pattaya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Props1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10216</Words>
  <Application>Microsoft Office PowerPoint</Application>
  <PresentationFormat>Widescreen</PresentationFormat>
  <Paragraphs>3525</Paragraphs>
  <Slides>51</Slides>
  <Notes>49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51</vt:i4>
      </vt:variant>
    </vt:vector>
  </HeadingPairs>
  <TitlesOfParts>
    <vt:vector size="5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6</cp:revision>
  <dcterms:created xsi:type="dcterms:W3CDTF">2026-07-24T09:01:49Z</dcterms:created>
  <dcterms:modified xsi:type="dcterms:W3CDTF">2026-08-03T01:08:56Z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