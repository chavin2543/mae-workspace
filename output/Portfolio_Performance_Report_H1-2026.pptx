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6.xml" ContentType="application/vnd.openxmlformats-officedocument.drawingml.chart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Slides/notesSlide9.xml" ContentType="application/vnd.openxmlformats-officedocument.presentationml.notesSlide+xml"/>
  <Override PartName="/ppt/charts/chart10.xml" ContentType="application/vnd.openxmlformats-officedocument.drawingml.chart+xml"/>
  <Override PartName="/ppt/notesSlides/notesSlide10.xml" ContentType="application/vnd.openxmlformats-officedocument.presentationml.notes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4.xml" ContentType="application/vnd.openxmlformats-officedocument.drawingml.chart+xml"/>
  <Override PartName="/ppt/notesSlides/notesSlide13.xml" ContentType="application/vnd.openxmlformats-officedocument.presentationml.notesSlide+xml"/>
  <Override PartName="/ppt/charts/chart15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6.xml" ContentType="application/vnd.openxmlformats-officedocument.drawingml.chart+xml"/>
  <Override PartName="/ppt/notesSlides/notesSlide16.xml" ContentType="application/vnd.openxmlformats-officedocument.presentationml.notesSlide+xml"/>
  <Override PartName="/ppt/charts/chart17.xml" ContentType="application/vnd.openxmlformats-officedocument.drawingml.chart+xml"/>
  <Override PartName="/ppt/notesSlides/notesSlide17.xml" ContentType="application/vnd.openxmlformats-officedocument.presentationml.notes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notesSlides/notesSlide18.xml" ContentType="application/vnd.openxmlformats-officedocument.presentationml.notesSlide+xml"/>
  <Override PartName="/ppt/charts/chart20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21.xml" ContentType="application/vnd.openxmlformats-officedocument.drawingml.chart+xml"/>
  <Override PartName="/ppt/notesSlides/notesSlide21.xml" ContentType="application/vnd.openxmlformats-officedocument.presentationml.notesSlide+xml"/>
  <Override PartName="/ppt/charts/chart22.xml" ContentType="application/vnd.openxmlformats-officedocument.drawingml.chart+xml"/>
  <Override PartName="/ppt/notesSlides/notesSlide22.xml" ContentType="application/vnd.openxmlformats-officedocument.presentationml.notes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notesSlides/notesSlide23.xml" ContentType="application/vnd.openxmlformats-officedocument.presentationml.notesSlide+xml"/>
  <Override PartName="/ppt/charts/chart25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rts/chart26.xml" ContentType="application/vnd.openxmlformats-officedocument.drawingml.chart+xml"/>
  <Override PartName="/ppt/notesSlides/notesSlide26.xml" ContentType="application/vnd.openxmlformats-officedocument.presentationml.notesSlide+xml"/>
  <Override PartName="/ppt/charts/chart27.xml" ContentType="application/vnd.openxmlformats-officedocument.drawingml.chart+xml"/>
  <Override PartName="/ppt/notesSlides/notesSlide27.xml" ContentType="application/vnd.openxmlformats-officedocument.presentationml.notesSlide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notesSlides/notesSlide28.xml" ContentType="application/vnd.openxmlformats-officedocument.presentationml.notesSlide+xml"/>
  <Override PartName="/ppt/charts/chart30.xml" ContentType="application/vnd.openxmlformats-officedocument.drawingml.chart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31.xml" ContentType="application/vnd.openxmlformats-officedocument.drawingml.chart+xml"/>
  <Override PartName="/ppt/notesSlides/notesSlide31.xml" ContentType="application/vnd.openxmlformats-officedocument.presentationml.notesSlide+xml"/>
  <Override PartName="/ppt/charts/chart32.xml" ContentType="application/vnd.openxmlformats-officedocument.drawingml.chart+xml"/>
  <Override PartName="/ppt/notesSlides/notesSlide32.xml" ContentType="application/vnd.openxmlformats-officedocument.presentationml.notesSlide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notesSlides/notesSlide33.xml" ContentType="application/vnd.openxmlformats-officedocument.presentationml.notesSlide+xml"/>
  <Override PartName="/ppt/charts/chart35.xml" ContentType="application/vnd.openxmlformats-officedocument.drawingml.char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1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285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6" r:id="rId39"/>
    <p:sldId id="307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052" autoAdjust="0"/>
  </p:normalViewPr>
  <p:slideViewPr>
    <p:cSldViewPr snapToGrid="0" snapToObjects="1">
      <p:cViewPr>
        <p:scale>
          <a:sx n="91" d="100"/>
          <a:sy n="91" d="100"/>
        </p:scale>
        <p:origin x="168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68.069999999999993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74.349999999999994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2612.2600000000002</c:v>
                </c:pt>
                <c:pt idx="2">
                  <c:v>2248.3200000000002</c:v>
                </c:pt>
                <c:pt idx="3">
                  <c:v>2217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+Estimate data in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จีน โต อนเดียโต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 </a:t>
            </a:r>
            <a:r>
              <a:rPr lang="th-TH" dirty="0"/>
              <a:t>มีผลกระทบที่สำคัญ</a:t>
            </a:r>
          </a:p>
          <a:p>
            <a:r>
              <a:rPr lang="th-TH" dirty="0"/>
              <a:t>ตลาดตกจริงเพราะ</a:t>
            </a:r>
            <a:r>
              <a:rPr lang="en-US" dirty="0"/>
              <a:t>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Domestic demand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April </a:t>
            </a:r>
            <a:r>
              <a:rPr lang="th-TH" dirty="0"/>
              <a:t>น้ำมันแพง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r>
              <a:rPr lang="en-US" dirty="0"/>
              <a:t>Pattern same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opex</a:t>
            </a:r>
            <a:r>
              <a:rPr lang="en-US" dirty="0"/>
              <a:t> is good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Soften down lei sure to Corporate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9.xml"/><Relationship Id="rId4" Type="http://schemas.openxmlformats.org/officeDocument/2006/relationships/chart" Target="../charts/char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3.xml"/><Relationship Id="rId4" Type="http://schemas.openxmlformats.org/officeDocument/2006/relationships/chart" Target="../charts/char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6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2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3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5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26505" y="2601108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26292E"/>
                </a:solidFill>
                <a:latin typeface="Calibri"/>
              </a:rPr>
              <a:t>(Estimate + actual)</a:t>
            </a:r>
            <a:endParaRPr lang="en-US" dirty="0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5233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dirty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60 days free</a:t>
            </a:r>
          </a:p>
          <a:p>
            <a:pPr algn="ctr"/>
            <a:r>
              <a:rPr lang="en-US" sz="1100" dirty="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065445-756C-C8A8-A2BF-4AEA75A407AB}"/>
              </a:ext>
            </a:extLst>
          </p:cNvPr>
          <p:cNvSpPr/>
          <p:nvPr/>
        </p:nvSpPr>
        <p:spPr>
          <a:xfrm>
            <a:off x="548639" y="599890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</a:t>
            </a:r>
            <a:r>
              <a:rPr lang="th-TH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recovering vs 2025</a:t>
            </a:r>
            <a:r>
              <a:rPr lang="th-TH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+14.8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%(still ~46% of pre-COVID)</a:t>
            </a: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 — +24% in Jan and a record H1.</a:t>
            </a: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***June carries the MOTS 4-day data loss gap.</a:t>
            </a:r>
            <a:endParaRPr lang="en-US" sz="1200" dirty="0">
              <a:solidFill>
                <a:sysClr val="windowText" lastClr="00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1868506" y="3109627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28486" y="553067"/>
            <a:ext cx="292609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237A0-6123-FB7D-6AC5-4DB03ACBE352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Middle East volumes dropped sharply from February — regional war effect.</a:t>
            </a: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held up — strong Jan–Feb offset a softer April</a:t>
            </a: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***June carries the MOTS 4-day data losses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26987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44607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B4C631-256A-E482-091B-E208689D6F7D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Even the number arrival total is -3% . Total international arrival in Bangkok is similar to LY (-0.1%)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overall drops came from Phuket and Pattaya, not Bangkok.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815B0B-BC00-C025-DD96-B1438FFEF390}"/>
              </a:ext>
            </a:extLst>
          </p:cNvPr>
          <p:cNvSpPr/>
          <p:nvPr/>
        </p:nvSpPr>
        <p:spPr>
          <a:xfrm>
            <a:off x="548639" y="5699282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However, the hotel market in Bangkok in term of Occ+2.3% ADR -1.3% Turning to REVPAR +0.9%. The number of visitor increasing can answer the occ is up</a:t>
            </a:r>
          </a:p>
          <a:p>
            <a:pPr marL="171450" indent="-171450">
              <a:buFontTx/>
              <a:buChar char="-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when we look at the class, we can see that only Luxury is the only class holding rate (+1.1%) </a:t>
            </a:r>
          </a:p>
          <a:p>
            <a:pPr marL="171450" indent="-171450">
              <a:buFontTx/>
              <a:buChar char="-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Luxury class, other classes cut the price. The more low tier to more % change the ADR.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364258"/>
              </p:ext>
            </p:extLst>
          </p:nvPr>
        </p:nvGraphicFramePr>
        <p:xfrm>
          <a:off x="548640" y="1600200"/>
          <a:ext cx="11064240" cy="2225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0744408"/>
              </p:ext>
            </p:extLst>
          </p:nvPr>
        </p:nvGraphicFramePr>
        <p:xfrm>
          <a:off x="548640" y="3895639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95997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2EA17F-8A49-A763-07C3-906307D99AB6}"/>
              </a:ext>
            </a:extLst>
          </p:cNvPr>
          <p:cNvSpPr/>
          <p:nvPr/>
        </p:nvSpPr>
        <p:spPr>
          <a:xfrm>
            <a:off x="548639" y="5797296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When we look at the </a:t>
            </a:r>
            <a:r>
              <a:rPr lang="en-US" sz="1200" i="1" dirty="0" err="1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area, the number of arrivals vs LY loss -2.7% from last year. Mostly come from foreigner -5.4% from LY 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−2.6%   ·   ADR −0.1%   ·   RevPAR −2.6%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240872"/>
              </p:ext>
            </p:extLst>
          </p:nvPr>
        </p:nvGraphicFramePr>
        <p:xfrm>
          <a:off x="564330" y="4423054"/>
          <a:ext cx="11075982" cy="475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dirty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90D37C43-8759-22CB-9FD5-32DB5D8AB134}"/>
              </a:ext>
            </a:extLst>
          </p:cNvPr>
          <p:cNvSpPr/>
          <p:nvPr/>
        </p:nvSpPr>
        <p:spPr>
          <a:xfrm>
            <a:off x="546774" y="5084938"/>
            <a:ext cx="11130970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demand down (arrivals −2.7%) → market gave up occupancy (−2.6%) but held rate (ADR −0.1% = flat; Jan/Feb swing = CNY timing, May–Jun ADR −3~4%).</a:t>
            </a:r>
          </a:p>
          <a:p>
            <a:endParaRPr lang="en-US" sz="1200" i="1" dirty="0">
              <a:solidFill>
                <a:sysClr val="windowText" lastClr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Upscale &amp; Upper Midscale set — closest to SP — lost both (Occ −3.0%, ADR −2.0%, RevPAR −5.0%)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F44B-EB10-22B1-7043-DDD0D6353B66}"/>
              </a:ext>
            </a:extLst>
          </p:cNvPr>
          <p:cNvSpPr/>
          <p:nvPr/>
        </p:nvSpPr>
        <p:spPr>
          <a:xfrm>
            <a:off x="8092440" y="5029874"/>
            <a:ext cx="3804285" cy="142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</a:t>
            </a:r>
            <a:r>
              <a:rPr lang="th-TH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>
              <a:solidFill>
                <a:sysClr val="windowText" lastClr="000000"/>
              </a:solidFill>
            </a:endParaRPr>
          </a:p>
          <a:p>
            <a:endParaRPr lang="en-US" sz="1050" dirty="0">
              <a:solidFill>
                <a:sysClr val="windowText" lastClr="00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฿644.7M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620FEF-C0EB-9128-141C-3B45B3343636}"/>
              </a:ext>
            </a:extLst>
          </p:cNvPr>
          <p:cNvSpPr/>
          <p:nvPr/>
        </p:nvSpPr>
        <p:spPr>
          <a:xfrm>
            <a:off x="6179987" y="5286106"/>
            <a:ext cx="5460325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</a:t>
            </a:r>
            <a:endParaRPr lang="en-US" sz="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7181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79738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88882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0828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56548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 vs LY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0556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29700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1645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297365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13739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05179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3924635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381835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1" y="5009397"/>
            <a:ext cx="3547872" cy="126187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SR9 runs performance close to budget H1</a:t>
            </a: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outperformed strongly (CNY), May–Jun slightly behind on rate.</a:t>
            </a:r>
          </a:p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LY SR9 run +4.8% better from last year turn 1.3% LY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401819"/>
            <a:ext cx="6144768" cy="7589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India, Thailand, Indonesia, Singapore and China.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Overall ADR from all Nationality is dropped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E0F99A-07E6-9F3C-B60A-8D2F5720F178}"/>
              </a:ext>
            </a:extLst>
          </p:cNvPr>
          <p:cNvSpPr txBox="1"/>
          <p:nvPr/>
        </p:nvSpPr>
        <p:spPr>
          <a:xfrm>
            <a:off x="9902953" y="4902032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677334"/>
            <a:ext cx="11347704" cy="5098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324736"/>
              </p:ext>
            </p:extLst>
          </p:nvPr>
        </p:nvGraphicFramePr>
        <p:xfrm>
          <a:off x="548640" y="4142232"/>
          <a:ext cx="11347704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767267"/>
              </p:ext>
            </p:extLst>
          </p:nvPr>
        </p:nvGraphicFramePr>
        <p:xfrm>
          <a:off x="338328" y="379476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893664"/>
              </p:ext>
            </p:extLst>
          </p:nvPr>
        </p:nvGraphicFramePr>
        <p:xfrm>
          <a:off x="6094476" y="1560576"/>
          <a:ext cx="5545835" cy="1946205"/>
        </p:xfrm>
        <a:graphic>
          <a:graphicData uri="http://schemas.openxmlformats.org/drawingml/2006/table">
            <a:tbl>
              <a:tblPr/>
              <a:tblGrid>
                <a:gridCol w="989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8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5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1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1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4477" y="4942332"/>
            <a:ext cx="5545836" cy="12070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Key takeaway : On revenue, H1 is better than last year, but OPEX is +0.6% vs LY.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GOP beats LY even with the lower ADR, and the margin is about the same.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However, JV expense is higher than LY because </a:t>
            </a:r>
            <a:r>
              <a:rPr lang="en-US" sz="1200" dirty="0">
                <a:solidFill>
                  <a:srgbClr val="FF0000"/>
                </a:solidFill>
              </a:rPr>
              <a:t>[xxx], </a:t>
            </a:r>
            <a:r>
              <a:rPr lang="en-US" sz="1200" dirty="0">
                <a:solidFill>
                  <a:schemeClr val="tx1"/>
                </a:solidFill>
              </a:rPr>
              <a:t>so EBIT comes in below both LY (−฿1.7M). NPAT, on the other hand, is better than LY.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Compare to BG </a:t>
            </a:r>
            <a:r>
              <a:rPr lang="en-US" sz="1200" dirty="0" err="1">
                <a:solidFill>
                  <a:schemeClr val="tx1"/>
                </a:solidFill>
              </a:rPr>
              <a:t>Revenure</a:t>
            </a:r>
            <a:r>
              <a:rPr lang="en-US" sz="1200" dirty="0">
                <a:solidFill>
                  <a:schemeClr val="tx1"/>
                </a:solidFill>
              </a:rPr>
              <a:t> side shortfall to BG. EBIT is shortfall -11.3%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But NPAT can +6.2 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-1.7%vs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+3.8%vs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60436" y="5467746"/>
            <a:ext cx="3685031" cy="1182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Compare to LY did well +3.8% better than LY but cannot yield ADR. </a:t>
            </a:r>
            <a:r>
              <a:rPr lang="en-US" sz="1200" i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Truning</a:t>
            </a: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r>
              <a:rPr lang="en-US" sz="1200" i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</a:t>
            </a: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-2.2% compare to LY</a:t>
            </a:r>
          </a:p>
          <a:p>
            <a:b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i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Comapre</a:t>
            </a: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MF BG, Occ 1.7% shortfall, ADR -4.4% from BG so in to </a:t>
            </a:r>
            <a:r>
              <a:rPr lang="en-US" sz="1200" i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</a:t>
            </a: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is -6.0% from </a:t>
            </a:r>
            <a:r>
              <a:rPr lang="en-US" sz="1200" i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752236"/>
            <a:ext cx="6144768" cy="8949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Japan, followed by China. New nationalities this year are the UK, Finland and Taiwan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Diversify other nationalities.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611757"/>
              </p:ext>
            </p:extLst>
          </p:nvPr>
        </p:nvGraphicFramePr>
        <p:xfrm>
          <a:off x="606669" y="4169663"/>
          <a:ext cx="11109959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599049" y="5695292"/>
            <a:ext cx="11117579" cy="946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group has grown almost 30–40% vs H1 last year, and group bookings are +185% vs LY — implying AES is shifting to secure group business both LS and 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Cannot boost the wholesale, due to the low rate and in leisure retail price. High rate cut competition in this area.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997996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988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3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3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79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11996780" y="1353312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126479" y="5047487"/>
            <a:ext cx="5513833" cy="171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down −3.3% vs LY, but OPEX is managed better: −6.0% (about ฿6M). GOP margin improves +1.3 pts and JV expense is better, so EBIT and NPAT both beat LY. The key reason is AES managing OPEX well — and owner expenses are lower because in house and building tax over </a:t>
            </a:r>
            <a:r>
              <a:rPr lang="en-US" sz="1200" dirty="0" err="1">
                <a:solidFill>
                  <a:schemeClr val="tx1"/>
                </a:solidFill>
              </a:rPr>
              <a:t>accured</a:t>
            </a:r>
            <a:r>
              <a:rPr lang="en-US" sz="1200" dirty="0">
                <a:solidFill>
                  <a:schemeClr val="tx1"/>
                </a:solidFill>
              </a:rPr>
              <a:t>. And in 2026 already paid the House and the building tax.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From budget, The high gap rev shortfall about -12%. But in term of GOP margin they can do better than the budget. Also improve in JV expense so NPAT short fall a small gap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540161"/>
              </p:ext>
            </p:extLst>
          </p:nvPr>
        </p:nvGraphicFramePr>
        <p:xfrm>
          <a:off x="548640" y="5687568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148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LYF strong Q1 above budget, then April dropped sharply (occupancy −32 pts vs budget) — recovering since May.</a:t>
            </a:r>
          </a:p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Overall, LS 8 Cannot hit the </a:t>
            </a:r>
            <a:r>
              <a:rPr lang="en-US" sz="1200" i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</a:t>
            </a: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perform softer than LY too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27252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063581"/>
            <a:ext cx="6144768" cy="1108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  <a:p>
            <a:pPr algn="ctr"/>
            <a:endParaRPr lang="en-US" sz="12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Mostly we were challenged with ADR ^nationality drop ADR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Drop </a:t>
            </a:r>
            <a:r>
              <a:rPr lang="en-US" sz="1200" dirty="0" err="1">
                <a:solidFill>
                  <a:sysClr val="windowText" lastClr="000000"/>
                </a:solidFill>
              </a:rPr>
              <a:t>Nationlity</a:t>
            </a:r>
            <a:r>
              <a:rPr lang="en-US" sz="1200" dirty="0">
                <a:solidFill>
                  <a:sysClr val="windowText" lastClr="000000"/>
                </a:solidFill>
              </a:rPr>
              <a:t> High ADR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614388"/>
              </p:ext>
            </p:extLst>
          </p:nvPr>
        </p:nvGraphicFramePr>
        <p:xfrm>
          <a:off x="548639" y="4120773"/>
          <a:ext cx="11109963" cy="14798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3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39" y="5645229"/>
            <a:ext cx="11117579" cy="5868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983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126479" y="5251797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Revenue is −5.8% vs LY and OPEX is higher — possibly from the shift toward OTA (commissions). GOP is −12% vs last year and JV expense is also higher (Due to House and building tax for 3 </a:t>
            </a:r>
            <a:r>
              <a:rPr lang="en-US" sz="1200" dirty="0" err="1">
                <a:solidFill>
                  <a:schemeClr val="tx1"/>
                </a:solidFill>
              </a:rPr>
              <a:t>yesra</a:t>
            </a:r>
            <a:r>
              <a:rPr lang="en-US" sz="1200" dirty="0">
                <a:solidFill>
                  <a:schemeClr val="tx1"/>
                </a:solidFill>
              </a:rPr>
              <a:t> passed),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606235"/>
              </p:ext>
            </p:extLst>
          </p:nvPr>
        </p:nvGraphicFramePr>
        <p:xfrm>
          <a:off x="548639" y="5724144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SP: ahead of budget in Jan–Feb high season; Mar–Jun broadly on plan — the re-based Pattaya STR shows a level market.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4874319"/>
            <a:ext cx="6144768" cy="6685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Biggest H1 gain: China (+805 RN) · biggest decline: United States (-965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Key %changes come from Australia, Israel and Thailand.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ADR in Pattaya did not increase vs LY for any nationality.</a:t>
            </a:r>
            <a:endParaRPr lang="en-US" sz="1200" dirty="0">
              <a:solidFill>
                <a:sysClr val="windowText" lastClr="000000"/>
              </a:solidFill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 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983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126479" y="5112039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similar to last year and OPEX is managed slightly better, but JV expense is higher than last year</a:t>
            </a:r>
            <a:r>
              <a:rPr lang="th-TH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bc</a:t>
            </a:r>
            <a:r>
              <a:rPr lang="en-US" sz="1200" dirty="0">
                <a:solidFill>
                  <a:schemeClr val="tx1"/>
                </a:solidFill>
              </a:rPr>
              <a:t> other expense, which makes EBIT lower.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NPAT improves because </a:t>
            </a:r>
            <a:r>
              <a:rPr lang="en-US" sz="1200" dirty="0">
                <a:solidFill>
                  <a:srgbClr val="FF0000"/>
                </a:solidFill>
              </a:rPr>
              <a:t>of no more bank loan ?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6F3A157-32E6-3939-F000-BD929E7F3C7B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1552851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 — 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Fact check — by volume the biggest losses are short-haul: Malaysia −213k, Cambodia −193k, Korea −172k, Laos −127k; the Middle East itself is −81k. China (+379k) and India (+63k) grew.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April was the weakest full-data month: −7.0% vs April 2025 — high fuel prices a possible driver [TBC — not verifiable from our data].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WHAT IT MEANS FOR OUR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−2.6% — yet SP outperformed its market (Occ +5.3%, RevPAR +0.2% vs LY).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14134</TotalTime>
  <Words>8051</Words>
  <Application>Microsoft Office PowerPoint</Application>
  <PresentationFormat>Widescreen</PresentationFormat>
  <Paragraphs>2802</Paragraphs>
  <Slides>36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11</cp:revision>
  <dcterms:created xsi:type="dcterms:W3CDTF">2026-07-24T09:01:49Z</dcterms:created>
  <dcterms:modified xsi:type="dcterms:W3CDTF">2026-08-05T03:16:25Z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