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0"/>
  </p:notesMasterIdLst>
  <p:sldIdLst>
    <p:sldId id="256" r:id="rId5"/>
    <p:sldId id="258" r:id="rId6"/>
    <p:sldId id="259" r:id="rId7"/>
    <p:sldId id="261" r:id="rId8"/>
    <p:sldId id="263" r:id="rId9"/>
    <p:sldId id="302" r:id="rId10"/>
    <p:sldId id="304" r:id="rId11"/>
    <p:sldId id="266" r:id="rId12"/>
    <p:sldId id="303" r:id="rId13"/>
    <p:sldId id="305" r:id="rId14"/>
    <p:sldId id="267" r:id="rId15"/>
    <p:sldId id="270" r:id="rId16"/>
    <p:sldId id="272" r:id="rId17"/>
    <p:sldId id="271" r:id="rId18"/>
    <p:sldId id="273" r:id="rId19"/>
    <p:sldId id="275" r:id="rId20"/>
    <p:sldId id="278" r:id="rId21"/>
    <p:sldId id="276" r:id="rId22"/>
    <p:sldId id="274" r:id="rId23"/>
    <p:sldId id="280" r:id="rId24"/>
    <p:sldId id="282" r:id="rId25"/>
    <p:sldId id="285" r:id="rId26"/>
    <p:sldId id="283" r:id="rId27"/>
    <p:sldId id="281" r:id="rId28"/>
    <p:sldId id="287" r:id="rId29"/>
    <p:sldId id="289" r:id="rId30"/>
    <p:sldId id="292" r:id="rId31"/>
    <p:sldId id="290" r:id="rId32"/>
    <p:sldId id="288" r:id="rId33"/>
    <p:sldId id="294" r:id="rId34"/>
    <p:sldId id="296" r:id="rId35"/>
    <p:sldId id="299" r:id="rId36"/>
    <p:sldId id="297" r:id="rId37"/>
    <p:sldId id="295" r:id="rId38"/>
    <p:sldId id="306" r:id="rId39"/>
    <p:sldId id="307" r:id="rId4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 varScale="1">
        <p:scale>
          <a:sx n="103" d="100"/>
          <a:sy n="103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6/11/relationships/changesInfo" Target="changesInfos/changesInfo1.xml"/><Relationship Id="rId46" Type="http://schemas.openxmlformats.org/officeDocument/2006/relationships/slide" Target="slides/slide3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1026029</c:v>
                </c:pt>
                <c:pt idx="1">
                  <c:v>987508</c:v>
                </c:pt>
                <c:pt idx="2">
                  <c:v>901645</c:v>
                </c:pt>
                <c:pt idx="3">
                  <c:v>631332</c:v>
                </c:pt>
                <c:pt idx="4">
                  <c:v>440983</c:v>
                </c:pt>
                <c:pt idx="5">
                  <c:v>432499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22A-41DB-B165-89D079F54A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1257708</c:v>
                </c:pt>
                <c:pt idx="1">
                  <c:v>1156356</c:v>
                </c:pt>
                <c:pt idx="2">
                  <c:v>1006483</c:v>
                </c:pt>
                <c:pt idx="3">
                  <c:v>771553</c:v>
                </c:pt>
                <c:pt idx="4">
                  <c:v>465502</c:v>
                </c:pt>
                <c:pt idx="5">
                  <c:v>451775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22A-41DB-B165-89D079F54A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1366171</c:v>
                </c:pt>
                <c:pt idx="1">
                  <c:v>1202154</c:v>
                </c:pt>
                <c:pt idx="2">
                  <c:v>967437</c:v>
                </c:pt>
                <c:pt idx="3">
                  <c:v>666472</c:v>
                </c:pt>
                <c:pt idx="4">
                  <c:v>467734</c:v>
                </c:pt>
                <c:pt idx="5">
                  <c:v>380136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C22A-41DB-B165-89D079F54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3"/>
              <c:layout>
                <c:manualLayout>
                  <c:x val="1.4064697609001406E-2"/>
                  <c:y val="-1.63398692810457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484-4D39-8ECA-6620D640AD9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2"/>
              <c:layout>
                <c:manualLayout>
                  <c:x val="-6.4462452698835405E-17"/>
                  <c:y val="-1.63398692810457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D49-452B-84B8-37BC5ED0BA6E}"/>
                </c:ext>
              </c:extLst>
            </c:dLbl>
            <c:dLbl>
              <c:idx val="3"/>
              <c:layout>
                <c:manualLayout>
                  <c:x val="0"/>
                  <c:y val="-3.267973856209150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D49-452B-84B8-37BC5ED0BA6E}"/>
                </c:ext>
              </c:extLst>
            </c:dLbl>
            <c:dLbl>
              <c:idx val="4"/>
              <c:layout>
                <c:manualLayout>
                  <c:x val="-1.2892490539767081E-16"/>
                  <c:y val="-1.63398692810458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D49-452B-84B8-37BC5ED0BA6E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79.13</c:v>
                </c:pt>
                <c:pt idx="1">
                  <c:v>73.86</c:v>
                </c:pt>
                <c:pt idx="2">
                  <c:v>68.07</c:v>
                </c:pt>
                <c:pt idx="3">
                  <c:v>63.24</c:v>
                </c:pt>
                <c:pt idx="4">
                  <c:v>58.23</c:v>
                </c:pt>
                <c:pt idx="5">
                  <c:v>53.87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74.35</c:v>
                </c:pt>
                <c:pt idx="1">
                  <c:v>74.62</c:v>
                </c:pt>
                <c:pt idx="2">
                  <c:v>69.35</c:v>
                </c:pt>
                <c:pt idx="3">
                  <c:v>63.76</c:v>
                </c:pt>
                <c:pt idx="4">
                  <c:v>53.65</c:v>
                </c:pt>
                <c:pt idx="5">
                  <c:v>51.55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3952.41</c:v>
                </c:pt>
                <c:pt idx="1">
                  <c:v>3536.96</c:v>
                </c:pt>
                <c:pt idx="2">
                  <c:v>3302.88</c:v>
                </c:pt>
                <c:pt idx="3">
                  <c:v>3505.45</c:v>
                </c:pt>
                <c:pt idx="4">
                  <c:v>3251.06</c:v>
                </c:pt>
                <c:pt idx="5">
                  <c:v>3010.59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3734.91</c:v>
                </c:pt>
                <c:pt idx="1">
                  <c:v>3933.56</c:v>
                </c:pt>
                <c:pt idx="2">
                  <c:v>3342.78</c:v>
                </c:pt>
                <c:pt idx="3">
                  <c:v>3511.78</c:v>
                </c:pt>
                <c:pt idx="4">
                  <c:v>3116.64</c:v>
                </c:pt>
                <c:pt idx="5">
                  <c:v>2908.52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3127.51</c:v>
                </c:pt>
                <c:pt idx="1">
                  <c:v>2612.26</c:v>
                </c:pt>
                <c:pt idx="2">
                  <c:v>2248.32</c:v>
                </c:pt>
                <c:pt idx="3">
                  <c:v>2217.0</c:v>
                </c:pt>
                <c:pt idx="4">
                  <c:v>1893.05</c:v>
                </c:pt>
                <c:pt idx="5">
                  <c:v>1621.68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2776.79</c:v>
                </c:pt>
                <c:pt idx="1">
                  <c:v>2935.37</c:v>
                </c:pt>
                <c:pt idx="2">
                  <c:v>2318.34</c:v>
                </c:pt>
                <c:pt idx="3">
                  <c:v>2239.14</c:v>
                </c:pt>
                <c:pt idx="4">
                  <c:v>1671.95</c:v>
                </c:pt>
                <c:pt idx="5">
                  <c:v>1499.42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+Estimate data in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 dirty="0"/>
              <a:t>จีน โต อนเดียโต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 </a:t>
            </a:r>
            <a:r>
              <a:rPr lang="th-TH" dirty="0"/>
              <a:t>มีผลกระทบที่สำคัญ</a:t>
            </a:r>
          </a:p>
          <a:p>
            <a:r>
              <a:rPr lang="th-TH" dirty="0"/>
              <a:t>ตลาดตกจริงเพราะ</a:t>
            </a:r>
            <a:r>
              <a:rPr lang="en-US" dirty="0"/>
              <a:t>xx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05505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 war</a:t>
            </a:r>
          </a:p>
          <a:p>
            <a:r>
              <a:rPr lang="en-US" dirty="0"/>
              <a:t>Luxury plus ADR</a:t>
            </a:r>
          </a:p>
          <a:p>
            <a:r>
              <a:rPr lang="en-US" dirty="0"/>
              <a:t>Segment </a:t>
            </a:r>
            <a:r>
              <a:rPr lang="th-TH" dirty="0"/>
              <a:t>ที่ต่ำลง ยิ่งแข่ง </a:t>
            </a:r>
            <a:r>
              <a:rPr lang="en-US" dirty="0"/>
              <a:t>Price -&gt; </a:t>
            </a:r>
            <a:r>
              <a:rPr lang="th-TH" dirty="0"/>
              <a:t>ปัญหา</a:t>
            </a:r>
            <a:r>
              <a:rPr lang="en-US" dirty="0"/>
              <a:t> </a:t>
            </a:r>
            <a:r>
              <a:rPr lang="en-US" dirty="0" err="1"/>
              <a:t>Adr</a:t>
            </a:r>
            <a:r>
              <a:rPr lang="en-US" dirty="0"/>
              <a:t> </a:t>
            </a:r>
          </a:p>
          <a:p>
            <a:r>
              <a:rPr lang="en-US" dirty="0"/>
              <a:t>Domestic demand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April </a:t>
            </a:r>
            <a:r>
              <a:rPr lang="th-TH" dirty="0"/>
              <a:t>น้ำมันแพง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r>
              <a:rPr lang="en-US" dirty="0"/>
              <a:t>Pattern same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opex</a:t>
            </a:r>
            <a:r>
              <a:rPr lang="en-US" dirty="0"/>
              <a:t> is good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Soften down lei sure to Corporate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8.xml"/><Relationship Id="rId4" Type="http://schemas.openxmlformats.org/officeDocument/2006/relationships/chart" Target="../charts/chart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16.16M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MOTS. June 2026 lost 4 days to a system error; "+Jun est." adds the pro-rated estimate (June ≈ 2.12M, H1 ≈ 16.16M = −3.2% vs 2025) from the workbook audit sheet.</a:t>
            </a:r>
            <a:endParaRPr lang="en-US" sz="10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0E574B-D851-0770-1155-49CA203A1272}"/>
              </a:ext>
            </a:extLst>
          </p:cNvPr>
          <p:cNvSpPr/>
          <p:nvPr/>
        </p:nvSpPr>
        <p:spPr>
          <a:xfrm>
            <a:off x="4343469" y="2743866"/>
            <a:ext cx="144454" cy="246222"/>
          </a:xfrm>
          <a:prstGeom prst="rect">
            <a:avLst/>
          </a:prstGeom>
          <a:solidFill>
            <a:srgbClr val="1E2761">
              <a:alpha val="30196"/>
            </a:srgbClr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9297B-A31C-4886-062D-DEB7734F8EFE}"/>
              </a:ext>
            </a:extLst>
          </p:cNvPr>
          <p:cNvSpPr txBox="1"/>
          <p:nvPr/>
        </p:nvSpPr>
        <p:spPr>
          <a:xfrm>
            <a:off x="4082489" y="2436116"/>
            <a:ext cx="1394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**Missing 4 days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88823B-49F8-4CF8-9266-A59B431BC122}"/>
              </a:ext>
            </a:extLst>
          </p:cNvPr>
          <p:cNvSpPr txBox="1"/>
          <p:nvPr/>
        </p:nvSpPr>
        <p:spPr>
          <a:xfrm>
            <a:off x="1742898" y="4297513"/>
            <a:ext cx="5380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**CNY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530198-3EC4-CD79-A189-649DBADE152B}"/>
              </a:ext>
            </a:extLst>
          </p:cNvPr>
          <p:cNvSpPr txBox="1"/>
          <p:nvPr/>
        </p:nvSpPr>
        <p:spPr>
          <a:xfrm>
            <a:off x="8464060" y="2361492"/>
            <a:ext cx="10944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rgbClr val="26292E"/>
                </a:solidFill>
                <a:latin typeface="Calibri"/>
              </a:rPr>
              <a:t>(Estimate + actual)</a:t>
            </a:r>
            <a:endParaRPr lang="en-US" dirty="0"/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48640" y="4572000"/>
          <a:ext cx="7406640" cy="14401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/>
                <a:gridCol w="914400"/>
                <a:gridCol w="914400"/>
                <a:gridCol w="914400"/>
                <a:gridCol w="914400"/>
                <a:gridCol w="914400"/>
                <a:gridCol w="914400"/>
                <a:gridCol w="1234440"/>
              </a:tblGrid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3,713,172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3,600,922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3,478,687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3,216,929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2,736,598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3,056,697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3,035,296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3,352,302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2,982,721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2,757,128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2,633,464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2,740,372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3,709,102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3,119,445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2,720,457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2,547,116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2,266,574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2,322,775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3,277,908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3,263,802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2,775,199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2,368,895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2,346,845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1,841,551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26 +Jun est.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2,124,867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16,157,516 (-3.2%)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-21%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is recovering vs a weak 2025 (still ~46% of pre-COVID); India is the strongest growth market — +24% in Jan and a record H1. June carries the MOTS 4-day data gap.</a:t>
            </a:r>
            <a:endParaRPr lang="en-US" sz="1050" dirty="0"/>
          </a:p>
        </p:txBody>
      </p:sp>
      <p:graphicFrame>
        <p:nvGraphicFramePr>
          <p:cNvPr id="920" name="Chart 0"/>
          <p:cNvGraphicFramePr/>
          <p:nvPr/>
        </p:nvGraphicFramePr>
        <p:xfrm>
          <a:off x="6291072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870448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870448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 dirty="0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/>
        </p:nvGraphicFramePr>
        <p:xfrm>
          <a:off x="548640" y="4553712"/>
          <a:ext cx="5349240" cy="11292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1,069,787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1,064,806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985,232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898,994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794,913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894,105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5,707,837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508,563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674,558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573,216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595,572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559,461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528,112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3,439,482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662,779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371,542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297,113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317,213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310,292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306,617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2,265,556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400,321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677,768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410,624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418,291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411,308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26292E"/>
                          </a:solidFill>
                          <a:latin typeface="Calibri"/>
                        </a:rPr>
                        <a:t>283,297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2,601,609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+82%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+33%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+14.8%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26" name="Table 925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148,992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161,129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170,635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198,993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197,489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1,040,069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185,809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169,988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187,973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206,286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228,544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205,299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1,183,899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231,184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185,930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208,484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206,641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224,490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163,378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1,220,107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ight Brace 7">
            <a:extLst>
              <a:ext uri="{FF2B5EF4-FFF2-40B4-BE49-F238E27FC236}">
                <a16:creationId xmlns:a16="http://schemas.microsoft.com/office/drawing/2014/main" id="{D4E25DBC-C75C-A38C-282A-6E36E013E6BD}"/>
              </a:ext>
            </a:extLst>
          </p:cNvPr>
          <p:cNvSpPr/>
          <p:nvPr/>
        </p:nvSpPr>
        <p:spPr>
          <a:xfrm rot="16200000">
            <a:off x="10665671" y="1091532"/>
            <a:ext cx="201573" cy="152939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C4911-6CFD-051C-79B0-C66503D77E6B}"/>
              </a:ext>
            </a:extLst>
          </p:cNvPr>
          <p:cNvSpPr txBox="1"/>
          <p:nvPr/>
        </p:nvSpPr>
        <p:spPr>
          <a:xfrm>
            <a:off x="10171692" y="1434722"/>
            <a:ext cx="11895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60 days free</a:t>
            </a:r>
          </a:p>
          <a:p>
            <a:pPr algn="ctr"/>
            <a:r>
              <a:rPr lang="en-US" sz="1100" dirty="0"/>
              <a:t>Visa cancellation</a:t>
            </a:r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A562E0FA-9704-8132-4444-81CCA9392039}"/>
              </a:ext>
            </a:extLst>
          </p:cNvPr>
          <p:cNvSpPr/>
          <p:nvPr/>
        </p:nvSpPr>
        <p:spPr>
          <a:xfrm>
            <a:off x="2298305" y="2648380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FC0792-EC48-F0A8-C0CB-13257F1617C5}"/>
              </a:ext>
            </a:extLst>
          </p:cNvPr>
          <p:cNvSpPr txBox="1"/>
          <p:nvPr/>
        </p:nvSpPr>
        <p:spPr>
          <a:xfrm>
            <a:off x="2360519" y="2601468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C7FA66A-63D9-510D-080F-A75BC777C4AA}"/>
              </a:ext>
            </a:extLst>
          </p:cNvPr>
          <p:cNvSpPr/>
          <p:nvPr/>
        </p:nvSpPr>
        <p:spPr>
          <a:xfrm>
            <a:off x="6291072" y="5680609"/>
            <a:ext cx="534924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3DD46-7609-7956-8D38-36227600EC9E}"/>
              </a:ext>
            </a:extLst>
          </p:cNvPr>
          <p:cNvSpPr/>
          <p:nvPr/>
        </p:nvSpPr>
        <p:spPr>
          <a:xfrm>
            <a:off x="548640" y="5680609"/>
            <a:ext cx="534924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Long-haul = Europe + USA combined, monthly by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854971644"/>
              </p:ext>
            </p:extLst>
          </p:nvPr>
        </p:nvGraphicFramePr>
        <p:xfrm>
          <a:off x="548640" y="1755646"/>
          <a:ext cx="5349240" cy="2798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Long-haul held up — strong Jan–Feb offset a softer April; June carries the MOTS 4-day data gap.</a:t>
            </a:r>
            <a:endParaRPr lang="en-US" sz="1050" dirty="0"/>
          </a:p>
        </p:txBody>
      </p:sp>
      <p:sp>
        <p:nvSpPr>
          <p:cNvPr id="939" name="TextBox 938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870448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graphicFrame>
        <p:nvGraphicFramePr>
          <p:cNvPr id="943" name="Chart 9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256271"/>
              </p:ext>
            </p:extLst>
          </p:nvPr>
        </p:nvGraphicFramePr>
        <p:xfrm>
          <a:off x="6291072" y="1755647"/>
          <a:ext cx="5349240" cy="2798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4" name="TextBox 943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LONG-HAUL (EU + USA)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6291072" y="5870448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5.05M · −1.2% vs 25 (Europe 4.25M −1.1% · USA 796k −1.6%)</a:t>
            </a:r>
          </a:p>
        </p:txBody>
      </p:sp>
      <p:graphicFrame>
        <p:nvGraphicFramePr>
          <p:cNvPr id="946" name="Table 945"/>
          <p:cNvGraphicFramePr>
            <a:graphicFrameLocks noGrp="1"/>
          </p:cNvGraphicFramePr>
          <p:nvPr/>
        </p:nvGraphicFramePr>
        <p:xfrm>
          <a:off x="548640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44,223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35,346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8,455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45,071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44,106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97,083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274,284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49,839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50,561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48,650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82,462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283,051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52,261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15,814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12,201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21,707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47,726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52,702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202,411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-57%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47" name="Table 946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1,026,029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987,508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901,645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631,332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440,983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432,499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4,419,996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1,257,708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1,156,356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1,006,483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771,553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465,502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451,775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5,109,377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1,366,171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1,202,154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967,437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666,472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467,734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380,136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5,050,104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C62828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844BE5D-A0BA-0358-7619-84635144C752}"/>
              </a:ext>
            </a:extLst>
          </p:cNvPr>
          <p:cNvSpPr txBox="1"/>
          <p:nvPr/>
        </p:nvSpPr>
        <p:spPr>
          <a:xfrm>
            <a:off x="1868506" y="3109627"/>
            <a:ext cx="7541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**ME War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112495-5200-8E74-A52E-1171004B053A}"/>
              </a:ext>
            </a:extLst>
          </p:cNvPr>
          <p:cNvSpPr txBox="1"/>
          <p:nvPr/>
        </p:nvSpPr>
        <p:spPr>
          <a:xfrm>
            <a:off x="3623129" y="2535244"/>
            <a:ext cx="7541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**Fuel Most effected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86D3D91A-0DB6-6E24-99FE-A520BE05185E}"/>
              </a:ext>
            </a:extLst>
          </p:cNvPr>
          <p:cNvSpPr/>
          <p:nvPr/>
        </p:nvSpPr>
        <p:spPr>
          <a:xfrm rot="16200000">
            <a:off x="4128486" y="553067"/>
            <a:ext cx="292609" cy="290874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068016A-BE69-D249-3422-1A449666B143}"/>
              </a:ext>
            </a:extLst>
          </p:cNvPr>
          <p:cNvSpPr/>
          <p:nvPr/>
        </p:nvSpPr>
        <p:spPr>
          <a:xfrm>
            <a:off x="548640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179443"/>
              </p:ext>
            </p:extLst>
          </p:nvPr>
        </p:nvGraphicFramePr>
        <p:xfrm>
          <a:off x="548640" y="1323594"/>
          <a:ext cx="11094720" cy="2552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4269870"/>
              </p:ext>
            </p:extLst>
          </p:nvPr>
        </p:nvGraphicFramePr>
        <p:xfrm>
          <a:off x="563880" y="3973560"/>
          <a:ext cx="11064240" cy="1820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-5.1%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586769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/>
              <a:t>Key takeaway : Even the number arrival total is -3% . Total international arrival </a:t>
            </a:r>
            <a:r>
              <a:rPr lang="en-US" sz="1100" baseline="0" dirty="0"/>
              <a:t>in Bangkok is similar to </a:t>
            </a:r>
            <a:r>
              <a:rPr lang="en-US" sz="1100" dirty="0"/>
              <a:t>LY </a:t>
            </a:r>
            <a:r>
              <a:rPr lang="en-US" sz="1100" baseline="0" dirty="0"/>
              <a:t>(-0.1%)</a:t>
            </a:r>
            <a:endParaRPr lang="en-US" sz="11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/>
              <a:t>BC the drops come from Phuket and Pattaya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5541981-8D5B-7750-A24A-85CC7D50BD24}"/>
              </a:ext>
            </a:extLst>
          </p:cNvPr>
          <p:cNvSpPr/>
          <p:nvPr/>
        </p:nvSpPr>
        <p:spPr>
          <a:xfrm>
            <a:off x="548640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951800409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13813365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125956722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ADR −1.4%   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RevPAR +0.9%</a:t>
            </a:r>
            <a:endParaRPr lang="en-US" sz="125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971682"/>
              </p:ext>
            </p:extLst>
          </p:nvPr>
        </p:nvGraphicFramePr>
        <p:xfrm>
          <a:off x="548639" y="4343400"/>
          <a:ext cx="11091672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8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738975"/>
            <a:ext cx="11091672" cy="2308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lang="en-US" sz="1200" dirty="0">
                <a:solidFill>
                  <a:srgbClr val="595959"/>
                </a:solidFill>
                <a:latin typeface="Calibri"/>
              </a:rPr>
              <a:t>Key takeaway : </a:t>
            </a:r>
            <a:r>
              <a:rPr sz="1200" dirty="0">
                <a:solidFill>
                  <a:srgbClr val="595959"/>
                </a:solidFill>
                <a:latin typeface="Calibri"/>
              </a:rPr>
              <a:t>Luxury is the only class holding rate (+1.1%) — every other class cut ADR while occupancy recovered, the market-wide version of the rate-for-volume trade.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66D82F-3185-C779-478F-80FF275E3664}"/>
              </a:ext>
            </a:extLst>
          </p:cNvPr>
          <p:cNvSpPr txBox="1"/>
          <p:nvPr/>
        </p:nvSpPr>
        <p:spPr>
          <a:xfrm>
            <a:off x="7906043" y="984738"/>
            <a:ext cx="19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April??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1FDBC196-F69E-4BD1-1768-7DEF4F940DBC}"/>
              </a:ext>
            </a:extLst>
          </p:cNvPr>
          <p:cNvSpPr/>
          <p:nvPr/>
        </p:nvSpPr>
        <p:spPr>
          <a:xfrm rot="16200000" flipH="1">
            <a:off x="10873917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0757AD-A561-E33B-C7BE-DCC2514B2BF7}"/>
              </a:ext>
            </a:extLst>
          </p:cNvPr>
          <p:cNvSpPr txBox="1"/>
          <p:nvPr/>
        </p:nvSpPr>
        <p:spPr>
          <a:xfrm>
            <a:off x="10511839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3F6D5320-6995-BFC8-23C9-8B0E1FB06C50}"/>
              </a:ext>
            </a:extLst>
          </p:cNvPr>
          <p:cNvSpPr/>
          <p:nvPr/>
        </p:nvSpPr>
        <p:spPr>
          <a:xfrm rot="16200000" flipH="1">
            <a:off x="7086844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2F9CDA-50EF-802D-0A4E-61D3366A8F99}"/>
              </a:ext>
            </a:extLst>
          </p:cNvPr>
          <p:cNvSpPr txBox="1"/>
          <p:nvPr/>
        </p:nvSpPr>
        <p:spPr>
          <a:xfrm>
            <a:off x="6724766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FA69062-879C-BF76-A32C-5DAF0B241F01}"/>
              </a:ext>
            </a:extLst>
          </p:cNvPr>
          <p:cNvSpPr/>
          <p:nvPr/>
        </p:nvSpPr>
        <p:spPr>
          <a:xfrm rot="16200000" flipH="1">
            <a:off x="3178391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B07932-8C4E-8A97-584D-52A5F0DC674A}"/>
              </a:ext>
            </a:extLst>
          </p:cNvPr>
          <p:cNvSpPr txBox="1"/>
          <p:nvPr/>
        </p:nvSpPr>
        <p:spPr>
          <a:xfrm>
            <a:off x="2816313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2281436"/>
              </p:ext>
            </p:extLst>
          </p:nvPr>
        </p:nvGraphicFramePr>
        <p:xfrm>
          <a:off x="548640" y="1600200"/>
          <a:ext cx="11064240" cy="25591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8741768"/>
              </p:ext>
            </p:extLst>
          </p:nvPr>
        </p:nvGraphicFramePr>
        <p:xfrm>
          <a:off x="548640" y="4288536"/>
          <a:ext cx="110642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4DC70740-E16C-CB88-C339-2F29B5B49406}"/>
              </a:ext>
            </a:extLst>
          </p:cNvPr>
          <p:cNvSpPr/>
          <p:nvPr/>
        </p:nvSpPr>
        <p:spPr>
          <a:xfrm>
            <a:off x="2098536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submarket (CoStar Standard Monthly, YTD Jun 2026 report) · Jan–Jun monthly,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47986545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3264171204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35785145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50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(CoStar Pattaya submarket):   Occ −2.6%   ·   ADR −0.1%   ·   RevPAR −2.6%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7E8D0-2F35-D50E-D759-648928A5822D}"/>
              </a:ext>
            </a:extLst>
          </p:cNvPr>
          <p:cNvSpPr txBox="1"/>
          <p:nvPr/>
        </p:nvSpPr>
        <p:spPr>
          <a:xfrm>
            <a:off x="2879188" y="2404048"/>
            <a:ext cx="1237957" cy="43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32BB7564-58AA-2AEE-602C-AC8A26BAEE83}"/>
              </a:ext>
            </a:extLst>
          </p:cNvPr>
          <p:cNvSpPr/>
          <p:nvPr/>
        </p:nvSpPr>
        <p:spPr>
          <a:xfrm rot="16200000" flipH="1">
            <a:off x="3178390" y="4337546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4772CB-664C-618C-9066-3FF8AB1F4658}"/>
              </a:ext>
            </a:extLst>
          </p:cNvPr>
          <p:cNvSpPr txBox="1"/>
          <p:nvPr/>
        </p:nvSpPr>
        <p:spPr>
          <a:xfrm>
            <a:off x="2816312" y="5091953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C4BE4FA5-07FC-E10A-A87A-908FF8C5398C}"/>
              </a:ext>
            </a:extLst>
          </p:cNvPr>
          <p:cNvSpPr/>
          <p:nvPr/>
        </p:nvSpPr>
        <p:spPr>
          <a:xfrm rot="16200000" flipH="1">
            <a:off x="7022107" y="4337546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91952B-2203-9840-CF68-263B417CFA7E}"/>
              </a:ext>
            </a:extLst>
          </p:cNvPr>
          <p:cNvSpPr txBox="1"/>
          <p:nvPr/>
        </p:nvSpPr>
        <p:spPr>
          <a:xfrm>
            <a:off x="6660029" y="5091953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B52886D4-588F-DCC0-7649-4AF0656839E6}"/>
              </a:ext>
            </a:extLst>
          </p:cNvPr>
          <p:cNvSpPr/>
          <p:nvPr/>
        </p:nvSpPr>
        <p:spPr>
          <a:xfrm rot="16200000" flipH="1">
            <a:off x="10784905" y="4337547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87CAE3-5CAF-A1F1-B596-5CDFCACEA8E9}"/>
              </a:ext>
            </a:extLst>
          </p:cNvPr>
          <p:cNvSpPr txBox="1"/>
          <p:nvPr/>
        </p:nvSpPr>
        <p:spPr>
          <a:xfrm>
            <a:off x="10422827" y="5091954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018C65-8546-B68B-1416-691D392361BA}"/>
              </a:ext>
            </a:extLst>
          </p:cNvPr>
          <p:cNvSpPr txBox="1"/>
          <p:nvPr/>
        </p:nvSpPr>
        <p:spPr>
          <a:xfrm>
            <a:off x="548640" y="5797221"/>
            <a:ext cx="3997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Segmentation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AF5ED99-9453-143A-EAF7-BD5A3F1F5EA6}"/>
              </a:ext>
            </a:extLst>
          </p:cNvPr>
          <p:cNvSpPr/>
          <p:nvPr/>
        </p:nvSpPr>
        <p:spPr>
          <a:xfrm>
            <a:off x="2098536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48640" y="4370832"/>
          <a:ext cx="9966960" cy="7132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914400"/>
                <a:gridCol w="914400"/>
                <a:gridCol w="822960"/>
                <a:gridCol w="914400"/>
                <a:gridCol w="914400"/>
                <a:gridCol w="822960"/>
                <a:gridCol w="914400"/>
                <a:gridCol w="914400"/>
                <a:gridCol w="822960"/>
              </a:tblGrid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Pattaya overall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66.0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64.3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3,461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 &amp; Upper Midscale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67.4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65.3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2,655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1,789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548640" y="5175504"/>
            <a:ext cx="108813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Pattaya market H1: demand down (arrivals −2.7%) → market gave up occupancy (−2.6%) but held rate (ADR −0.1% = flat; Jan/Feb swing = CNY timing, watch May–Jun ADR −3~4%). The Upscale &amp; Upper Midscale set — closest to SP — lost both (Occ −3.0%, ADR −2.0%, RevPAR −5.0%). Source: CoStar Pattaya Area YTD Jun 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07502558"/>
              </p:ext>
            </p:extLst>
          </p:nvPr>
        </p:nvGraphicFramePr>
        <p:xfrm>
          <a:off x="548640" y="1354637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44720"/>
              </p:ext>
            </p:extLst>
          </p:nvPr>
        </p:nvGraphicFramePr>
        <p:xfrm>
          <a:off x="548640" y="3672641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83200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92344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14290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60010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4018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3316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55107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00827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4835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3979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395925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41645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8092441" y="5001668"/>
            <a:ext cx="3633986" cy="1261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  <p:sp>
        <p:nvSpPr>
          <p:cNvPr id="22" name="Star: 5 Points 21">
            <a:extLst>
              <a:ext uri="{FF2B5EF4-FFF2-40B4-BE49-F238E27FC236}">
                <a16:creationId xmlns:a16="http://schemas.microsoft.com/office/drawing/2014/main" id="{BCA2C0C0-B180-A464-73A7-7ACEBEA2149C}"/>
              </a:ext>
            </a:extLst>
          </p:cNvPr>
          <p:cNvSpPr/>
          <p:nvPr/>
        </p:nvSpPr>
        <p:spPr>
          <a:xfrm>
            <a:off x="2360519" y="1742118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FF3C47-0C50-2E6D-D1ED-988ECAD046E8}"/>
              </a:ext>
            </a:extLst>
          </p:cNvPr>
          <p:cNvSpPr txBox="1"/>
          <p:nvPr/>
        </p:nvSpPr>
        <p:spPr>
          <a:xfrm>
            <a:off x="2422733" y="1695206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409361"/>
              </p:ext>
            </p:extLst>
          </p:nvPr>
        </p:nvGraphicFramePr>
        <p:xfrm>
          <a:off x="6126480" y="1438321"/>
          <a:ext cx="5742432" cy="2309845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111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฿644.7M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789618102"/>
              </p:ext>
            </p:extLst>
          </p:nvPr>
        </p:nvGraphicFramePr>
        <p:xfrm>
          <a:off x="548640" y="117957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207181"/>
              </p:ext>
            </p:extLst>
          </p:nvPr>
        </p:nvGraphicFramePr>
        <p:xfrm>
          <a:off x="548640" y="3081528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31673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40817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62763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8483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2491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81635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03580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9300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13308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2452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44398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90118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745709"/>
              </p:ext>
            </p:extLst>
          </p:nvPr>
        </p:nvGraphicFramePr>
        <p:xfrm>
          <a:off x="548640" y="5459239"/>
          <a:ext cx="7223759" cy="5209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7075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8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Ratchada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Rectangle 22">
            <a:extLst>
              <a:ext uri="{FF2B5EF4-FFF2-40B4-BE49-F238E27FC236}">
                <a16:creationId xmlns:a16="http://schemas.microsoft.com/office/drawing/2014/main" id="{80DD613A-C645-1434-3717-58318C756372}"/>
              </a:ext>
            </a:extLst>
          </p:cNvPr>
          <p:cNvSpPr/>
          <p:nvPr/>
        </p:nvSpPr>
        <p:spPr>
          <a:xfrm>
            <a:off x="8092440" y="5532486"/>
            <a:ext cx="3824905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SR9 runs performance close to budget H1;</a:t>
            </a:r>
          </a:p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outperformed strongly (CNY), May–Jun slightly behind on rate.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4" name="Star: 5 Points 23">
            <a:extLst>
              <a:ext uri="{FF2B5EF4-FFF2-40B4-BE49-F238E27FC236}">
                <a16:creationId xmlns:a16="http://schemas.microsoft.com/office/drawing/2014/main" id="{085E149A-219E-048A-BD83-F583723633F8}"/>
              </a:ext>
            </a:extLst>
          </p:cNvPr>
          <p:cNvSpPr/>
          <p:nvPr/>
        </p:nvSpPr>
        <p:spPr>
          <a:xfrm>
            <a:off x="2360519" y="161131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261BB2-B5CD-CA2C-CAD1-13190E89BC94}"/>
              </a:ext>
            </a:extLst>
          </p:cNvPr>
          <p:cNvSpPr txBox="1"/>
          <p:nvPr/>
        </p:nvSpPr>
        <p:spPr>
          <a:xfrm>
            <a:off x="2422733" y="156440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25914B7-5C3F-3890-0638-4319C6F84451}"/>
              </a:ext>
            </a:extLst>
          </p:cNvPr>
          <p:cNvSpPr/>
          <p:nvPr/>
        </p:nvSpPr>
        <p:spPr>
          <a:xfrm>
            <a:off x="548640" y="6053328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 Jubilee Hotel is under renovation 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254806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623560" y="5038345"/>
            <a:ext cx="6144768" cy="7589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India, Thailand, Indonesia, Singapore and China.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Overall ADR from all Nationality is dropped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548640" y="5677334"/>
            <a:ext cx="11347704" cy="50982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Around 30% of this property is corporate booking. Additionally, some corporate business is mixed into OTA, since B2B channels now book through the OTA as well.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2324736"/>
              </p:ext>
            </p:extLst>
          </p:nvPr>
        </p:nvGraphicFramePr>
        <p:xfrm>
          <a:off x="548640" y="4142232"/>
          <a:ext cx="11347704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8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89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827511013"/>
              </p:ext>
            </p:extLst>
          </p:nvPr>
        </p:nvGraphicFramePr>
        <p:xfrm>
          <a:off x="548640" y="1560576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767267"/>
              </p:ext>
            </p:extLst>
          </p:nvPr>
        </p:nvGraphicFramePr>
        <p:xfrm>
          <a:off x="338328" y="379476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1893664"/>
              </p:ext>
            </p:extLst>
          </p:nvPr>
        </p:nvGraphicFramePr>
        <p:xfrm>
          <a:off x="6094476" y="1560576"/>
          <a:ext cx="5545835" cy="1946205"/>
        </p:xfrm>
        <a:graphic>
          <a:graphicData uri="http://schemas.openxmlformats.org/drawingml/2006/table">
            <a:tbl>
              <a:tblPr/>
              <a:tblGrid>
                <a:gridCol w="989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4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8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4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50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81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1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094477" y="4942332"/>
            <a:ext cx="5545836" cy="12070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Key takeaway : On revenue, H1 is better than last year, but OPEX is +0.6% vs LY.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GOP beats LY even with the lower ADR, and the margin is about the same.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However, JV expense is higher than LY because </a:t>
            </a:r>
            <a:r>
              <a:rPr lang="en-US" sz="1200" dirty="0">
                <a:solidFill>
                  <a:srgbClr val="FF0000"/>
                </a:solidFill>
              </a:rPr>
              <a:t>[xxx], </a:t>
            </a:r>
            <a:r>
              <a:rPr lang="en-US" sz="1200" dirty="0">
                <a:solidFill>
                  <a:schemeClr val="tx1"/>
                </a:solidFill>
              </a:rPr>
              <a:t>so EBIT comes in below both LY (−฿1.7M) and budget (฿53.0M vs ฿59.7M). NPAT, on the other hand, is better than LY.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200" dirty="0" err="1">
                <a:solidFill>
                  <a:schemeClr val="tx1"/>
                </a:solidFill>
              </a:rPr>
              <a:t>Buget</a:t>
            </a:r>
            <a:r>
              <a:rPr lang="en-US" sz="1200" dirty="0">
                <a:solidFill>
                  <a:schemeClr val="tx1"/>
                </a:solidFill>
              </a:rPr>
              <a:t> // LY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662619336"/>
              </p:ext>
            </p:extLst>
          </p:nvPr>
        </p:nvGraphicFramePr>
        <p:xfrm>
          <a:off x="548640" y="145040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079832"/>
              </p:ext>
            </p:extLst>
          </p:nvPr>
        </p:nvGraphicFramePr>
        <p:xfrm>
          <a:off x="548640" y="337979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9881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9025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60971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6691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0699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9843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01788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7508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11516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0660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42606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8326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04667"/>
              </p:ext>
            </p:extLst>
          </p:nvPr>
        </p:nvGraphicFramePr>
        <p:xfrm>
          <a:off x="548640" y="5722435"/>
          <a:ext cx="7254240" cy="438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3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25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Sathorn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3042657A-38F5-05E9-69C0-CC8F0E5684DA}"/>
              </a:ext>
            </a:extLst>
          </p:cNvPr>
          <p:cNvSpPr/>
          <p:nvPr/>
        </p:nvSpPr>
        <p:spPr>
          <a:xfrm>
            <a:off x="8092440" y="5467746"/>
            <a:ext cx="3685031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AES February was exceptional (92% occupancy, well above budget); April–May fell behind budget in a softer Bangkok market.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D852618-9757-829B-F4B2-86B28B79343D}"/>
              </a:ext>
            </a:extLst>
          </p:cNvPr>
          <p:cNvSpPr/>
          <p:nvPr/>
        </p:nvSpPr>
        <p:spPr>
          <a:xfrm>
            <a:off x="2360519" y="232663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DB09A-B544-49E2-864F-2528EDEBF468}"/>
              </a:ext>
            </a:extLst>
          </p:cNvPr>
          <p:cNvSpPr txBox="1"/>
          <p:nvPr/>
        </p:nvSpPr>
        <p:spPr>
          <a:xfrm>
            <a:off x="2422733" y="227972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500358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237B99E0-1A5C-40A8-3BAC-0D81FAEFE87E}"/>
              </a:ext>
            </a:extLst>
          </p:cNvPr>
          <p:cNvSpPr/>
          <p:nvPr/>
        </p:nvSpPr>
        <p:spPr>
          <a:xfrm>
            <a:off x="5623560" y="4752236"/>
            <a:ext cx="6144768" cy="8949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Japan, followed by China. New nationalities this year are the UK, Finland and Taiwan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Diversify other nationalities.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6611757"/>
              </p:ext>
            </p:extLst>
          </p:nvPr>
        </p:nvGraphicFramePr>
        <p:xfrm>
          <a:off x="606669" y="4169663"/>
          <a:ext cx="11109959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5651FEDD-6C98-3066-EAC5-4EFD49D4CA2F}"/>
              </a:ext>
            </a:extLst>
          </p:cNvPr>
          <p:cNvSpPr/>
          <p:nvPr/>
        </p:nvSpPr>
        <p:spPr>
          <a:xfrm>
            <a:off x="606669" y="5600699"/>
            <a:ext cx="11117579" cy="8879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is the largest segment at 36%, followed by online at 34%.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group has grown almost 30–40% vs H1 last year, and group bookings are +185% vs LY — implying AES is shifting to secure group business, which can pull the rate down.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Finland Group// Whole sale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Boost LS? Group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7997996"/>
              </p:ext>
            </p:extLst>
          </p:nvPr>
        </p:nvGraphicFramePr>
        <p:xfrm>
          <a:off x="6096000" y="1444752"/>
          <a:ext cx="5544314" cy="2293321"/>
        </p:xfrm>
        <a:graphic>
          <a:graphicData uri="http://schemas.openxmlformats.org/drawingml/2006/table">
            <a:tbl>
              <a:tblPr/>
              <a:tblGrid>
                <a:gridCol w="988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2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6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3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3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799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319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11996780" y="1353312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DBF112-735C-614B-84E3-1A51FC1B75C3}"/>
              </a:ext>
            </a:extLst>
          </p:cNvPr>
          <p:cNvSpPr/>
          <p:nvPr/>
        </p:nvSpPr>
        <p:spPr>
          <a:xfrm>
            <a:off x="6126479" y="5047487"/>
            <a:ext cx="5513833" cy="1090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down −3.3% vs LY, but OPEX is managed better: −6.0% (about ฿6M). GOP margin improves +1.3 pts and JV expense is better, so EBIT and NPAT both beat LY. The key reason is AES managing OPEX well — and owner expenses are lower because in house and building tax over </a:t>
            </a:r>
            <a:r>
              <a:rPr lang="en-US" sz="1200" dirty="0" err="1">
                <a:solidFill>
                  <a:schemeClr val="tx1"/>
                </a:solidFill>
              </a:rPr>
              <a:t>accured</a:t>
            </a:r>
            <a:r>
              <a:rPr lang="en-US" sz="1200" dirty="0">
                <a:solidFill>
                  <a:schemeClr val="tx1"/>
                </a:solidFill>
              </a:rPr>
              <a:t>. And in 2026 already paid the House and the building tax in month XXX</a:t>
            </a:r>
          </a:p>
          <a:p>
            <a:endParaRPr 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94412409"/>
              </p:ext>
            </p:extLst>
          </p:nvPr>
        </p:nvGraphicFramePr>
        <p:xfrm>
          <a:off x="548640" y="150912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92410"/>
              </p:ext>
            </p:extLst>
          </p:nvPr>
        </p:nvGraphicFramePr>
        <p:xfrm>
          <a:off x="548640" y="3438509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50531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41971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61427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18627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5870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5014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6960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2680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6688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5832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7777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3497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1881467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017172"/>
            <a:ext cx="134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540161"/>
              </p:ext>
            </p:extLst>
          </p:nvPr>
        </p:nvGraphicFramePr>
        <p:xfrm>
          <a:off x="548640" y="5687568"/>
          <a:ext cx="7223761" cy="539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3833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6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Nana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2009D7BE-0C30-75EF-D95B-DAC73202CC61}"/>
              </a:ext>
            </a:extLst>
          </p:cNvPr>
          <p:cNvSpPr/>
          <p:nvPr/>
        </p:nvSpPr>
        <p:spPr>
          <a:xfrm>
            <a:off x="8092440" y="5416574"/>
            <a:ext cx="3685031" cy="1148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LYF strong Q1 above budget, then April dropped sharply (occupancy −32 pts vs budget) — recovering since May.</a:t>
            </a:r>
          </a:p>
          <a:p>
            <a:endParaRPr lang="en-US" sz="1200" i="1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Overall, LS 8 Cannot hit the </a:t>
            </a:r>
            <a:r>
              <a:rPr lang="en-US" sz="1200" i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</a:t>
            </a: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perform softer than LY too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5" name="Star: 5 Points 24">
            <a:extLst>
              <a:ext uri="{FF2B5EF4-FFF2-40B4-BE49-F238E27FC236}">
                <a16:creationId xmlns:a16="http://schemas.microsoft.com/office/drawing/2014/main" id="{83C81148-CF98-6919-ADF7-17585537339E}"/>
              </a:ext>
            </a:extLst>
          </p:cNvPr>
          <p:cNvSpPr/>
          <p:nvPr/>
        </p:nvSpPr>
        <p:spPr>
          <a:xfrm>
            <a:off x="2360519" y="1953022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74E54-1F9B-300F-5F5A-F1341EB8E485}"/>
              </a:ext>
            </a:extLst>
          </p:cNvPr>
          <p:cNvSpPr txBox="1"/>
          <p:nvPr/>
        </p:nvSpPr>
        <p:spPr>
          <a:xfrm>
            <a:off x="2422733" y="1906110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27252"/>
              </p:ext>
            </p:extLst>
          </p:nvPr>
        </p:nvGraphicFramePr>
        <p:xfrm>
          <a:off x="5623560" y="1759549"/>
          <a:ext cx="6144768" cy="3166872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42B9E0D7-5E76-4453-A155-36E0B95DD358}"/>
              </a:ext>
            </a:extLst>
          </p:cNvPr>
          <p:cNvSpPr/>
          <p:nvPr/>
        </p:nvSpPr>
        <p:spPr>
          <a:xfrm>
            <a:off x="5623560" y="5063581"/>
            <a:ext cx="6144768" cy="1108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Key changes come from Indonesia (+198%), China, Taiwan and Japan; Germany appears for the first time in H1 2026, while the USA and UK dropped. This helps explain the ADR drop: the higher-spending nationalities have faded, pulling the overall ADR down.</a:t>
            </a:r>
          </a:p>
          <a:p>
            <a:pPr algn="ctr"/>
            <a:endParaRPr lang="en-US" sz="12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Mostly we were challenged with ADR ^nationality drop ADR</a:t>
            </a: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Drop </a:t>
            </a:r>
            <a:r>
              <a:rPr lang="en-US" sz="1200" dirty="0" err="1">
                <a:solidFill>
                  <a:sysClr val="windowText" lastClr="000000"/>
                </a:solidFill>
              </a:rPr>
              <a:t>Nationlity</a:t>
            </a:r>
            <a:r>
              <a:rPr lang="en-US" sz="1200" dirty="0">
                <a:solidFill>
                  <a:sysClr val="windowText" lastClr="000000"/>
                </a:solidFill>
              </a:rPr>
              <a:t> High ADR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614388"/>
              </p:ext>
            </p:extLst>
          </p:nvPr>
        </p:nvGraphicFramePr>
        <p:xfrm>
          <a:off x="548639" y="4120773"/>
          <a:ext cx="11109963" cy="14798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83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05E6024-1FFD-E8D1-D9D2-621DDA6573DD}"/>
              </a:ext>
            </a:extLst>
          </p:cNvPr>
          <p:cNvSpPr/>
          <p:nvPr/>
        </p:nvSpPr>
        <p:spPr>
          <a:xfrm>
            <a:off x="548639" y="5645229"/>
            <a:ext cx="11117579" cy="5868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One key reason for the ADR drop: OTA is +3% while ASR is −24%, so commission expense is certainly higher than last year (OTA commission is higher than ASR). And even as OTA volume grew +3%, the OTA rate itself dropped −8%.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882543"/>
              </p:ext>
            </p:extLst>
          </p:nvPr>
        </p:nvGraphicFramePr>
        <p:xfrm>
          <a:off x="6126480" y="1508760"/>
          <a:ext cx="5513832" cy="2277571"/>
        </p:xfrm>
        <a:graphic>
          <a:graphicData uri="http://schemas.openxmlformats.org/drawingml/2006/table">
            <a:tbl>
              <a:tblPr/>
              <a:tblGrid>
                <a:gridCol w="9833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04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5C6AF7-3646-F2BB-1218-B97791D953AC}"/>
              </a:ext>
            </a:extLst>
          </p:cNvPr>
          <p:cNvSpPr/>
          <p:nvPr/>
        </p:nvSpPr>
        <p:spPr>
          <a:xfrm>
            <a:off x="6126479" y="5251797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Revenue is −5.8% vs LY and OPEX is higher — possibly from the shift toward OTA (commissions). GOP is −12% vs last year and JV expense is also higher (Due to House and building tax for 3 </a:t>
            </a:r>
            <a:r>
              <a:rPr lang="en-US" sz="1200" dirty="0" err="1">
                <a:solidFill>
                  <a:schemeClr val="tx1"/>
                </a:solidFill>
              </a:rPr>
              <a:t>yesra</a:t>
            </a:r>
            <a:r>
              <a:rPr lang="en-US" sz="1200" dirty="0">
                <a:solidFill>
                  <a:schemeClr val="tx1"/>
                </a:solidFill>
              </a:rPr>
              <a:t> passed), so EBIT drops on the weak revenue and NPAT is negative.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17979996"/>
              </p:ext>
            </p:extLst>
          </p:nvPr>
        </p:nvGraphicFramePr>
        <p:xfrm>
          <a:off x="548640" y="150542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516604"/>
              </p:ext>
            </p:extLst>
          </p:nvPr>
        </p:nvGraphicFramePr>
        <p:xfrm>
          <a:off x="548640" y="343481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0700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29844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1790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97510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1518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0662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2608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38328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2336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148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3425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79145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606235"/>
              </p:ext>
            </p:extLst>
          </p:nvPr>
        </p:nvGraphicFramePr>
        <p:xfrm>
          <a:off x="548639" y="5724144"/>
          <a:ext cx="7223759" cy="47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SP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F57ED365-6DDA-DCF0-69C7-5C3A3B0C0D13}"/>
              </a:ext>
            </a:extLst>
          </p:cNvPr>
          <p:cNvSpPr/>
          <p:nvPr/>
        </p:nvSpPr>
        <p:spPr>
          <a:xfrm>
            <a:off x="8092440" y="5467746"/>
            <a:ext cx="3685031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SP: ahead of budget in Jan–Feb high season; Mar–Jun broadly on plan — the re-based Pattaya STR shows a level market.</a:t>
            </a:r>
            <a:endParaRPr 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5E50704-22E1-8877-4752-4E965043C5AE}"/>
              </a:ext>
            </a:extLst>
          </p:cNvPr>
          <p:cNvSpPr/>
          <p:nvPr/>
        </p:nvSpPr>
        <p:spPr>
          <a:xfrm>
            <a:off x="2360519" y="2066004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F822C5-D574-4395-6623-DF5CFB1ED427}"/>
              </a:ext>
            </a:extLst>
          </p:cNvPr>
          <p:cNvSpPr txBox="1"/>
          <p:nvPr/>
        </p:nvSpPr>
        <p:spPr>
          <a:xfrm>
            <a:off x="2422733" y="2019092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9C7DA9E-C2B9-74A4-27CD-55B766BD75B7}"/>
              </a:ext>
            </a:extLst>
          </p:cNvPr>
          <p:cNvSpPr/>
          <p:nvPr/>
        </p:nvSpPr>
        <p:spPr>
          <a:xfrm>
            <a:off x="5623560" y="4874319"/>
            <a:ext cx="6144768" cy="6685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Biggest H1 gain: China (+805 RN) · biggest decline: United States (-965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Key %changes come from Australia, Israel and Thailand.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ADR in Pattaya did not increase vs LY for any nationality.</a:t>
            </a:r>
            <a:endParaRPr lang="en-US" sz="1200" dirty="0">
              <a:solidFill>
                <a:sysClr val="windowText" lastClr="000000"/>
              </a:solidFill>
              <a:latin typeface="Calibri" charset="0"/>
              <a:ea typeface="Calibri" charset="0"/>
              <a:cs typeface="Calibri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608273"/>
              </p:ext>
            </p:extLst>
          </p:nvPr>
        </p:nvGraphicFramePr>
        <p:xfrm>
          <a:off x="548639" y="4203192"/>
          <a:ext cx="11091671" cy="1359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11B85CAA-8BB5-CE77-F0F1-5557DEC5E4DA}"/>
              </a:ext>
            </a:extLst>
          </p:cNvPr>
          <p:cNvSpPr/>
          <p:nvPr/>
        </p:nvSpPr>
        <p:spPr>
          <a:xfrm>
            <a:off x="548639" y="5645229"/>
            <a:ext cx="11117579" cy="7098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ASR is increasing — Ascott seems to be </a:t>
            </a:r>
            <a:r>
              <a:rPr lang="en-US" sz="1200" dirty="0" err="1">
                <a:solidFill>
                  <a:schemeClr val="tx1"/>
                </a:solidFill>
              </a:rPr>
              <a:t>emphasising</a:t>
            </a:r>
            <a:r>
              <a:rPr lang="en-US" sz="1200" dirty="0">
                <a:solidFill>
                  <a:schemeClr val="tx1"/>
                </a:solidFill>
              </a:rPr>
              <a:t> its leisure brand, promoting leisure properties like SP more. Corporate SS bookings are also +36% with ADR above LY, showing real demand for corporate short-stay.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94740"/>
              </p:ext>
            </p:extLst>
          </p:nvPr>
        </p:nvGraphicFramePr>
        <p:xfrm>
          <a:off x="6126481" y="1442089"/>
          <a:ext cx="5513832" cy="2224112"/>
        </p:xfrm>
        <a:graphic>
          <a:graphicData uri="http://schemas.openxmlformats.org/drawingml/2006/table">
            <a:tbl>
              <a:tblPr/>
              <a:tblGrid>
                <a:gridCol w="983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097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CC5E7-EBE5-6B3E-61A8-7E1250831288}"/>
              </a:ext>
            </a:extLst>
          </p:cNvPr>
          <p:cNvSpPr/>
          <p:nvPr/>
        </p:nvSpPr>
        <p:spPr>
          <a:xfrm>
            <a:off x="6126479" y="5112039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similar to last year and OPEX is managed slightly better, but JV expense is higher than last year</a:t>
            </a:r>
            <a:r>
              <a:rPr lang="th-TH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bc</a:t>
            </a:r>
            <a:r>
              <a:rPr lang="en-US" sz="1200" dirty="0">
                <a:solidFill>
                  <a:schemeClr val="tx1"/>
                </a:solidFill>
              </a:rPr>
              <a:t> other expense, which makes EBIT lower.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NPAT improves because </a:t>
            </a:r>
            <a:r>
              <a:rPr lang="en-US" sz="1200" dirty="0">
                <a:solidFill>
                  <a:srgbClr val="FF0000"/>
                </a:solidFill>
              </a:rPr>
              <a:t>of no more bank loan ?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36F3A157-32E6-3939-F000-BD929E7F3C7B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155285100"/>
      </p:ext>
    </p:extLst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440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ARRIVALS — 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40680" cy="4526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Thailand H1 arrivals: 15.87M reported, −4.9% vs 2025 — adding back the MOTS 4-day June data loss, the estimate is 16.16M = −3.2%: soft, but not a collapse.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Middle East fell hardest in %: −28.5% vs LY, collapsing from February onward (the war broke out at the end of January) — Feb −52%, Apr −57%.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Fact check — by volume the biggest losses are short-haul: Malaysia −213k, Cambodia −193k, Korea −172k, Laos −127k; the Middle East itself is −81k. China (+379k) and India (+63k) grew.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April was the weakest full-data month: −7.0% vs April 2025 — high fuel prices a possible driver [TBC — not verifiable from our data].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9632" y="1600200"/>
            <a:ext cx="5440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WHAT IT MEANS FOR OUR MARKETS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9632" y="2011680"/>
            <a:ext cx="5440680" cy="4526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Pattaya: arrivals below LY (−2.7%) and market RevPAR −2.6% — yet SP outperformed its market (Occ +5.3%, RevPAR +0.2% vs LY).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That is exactly what STR shows for Bangkok: occupancy UP (+2.3%) but ADR DOWN (−1.4%).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By class, only Luxury held rate (+1.1% ADR); every other class traded rate for occupancy — and our portfolio competes in those classes. That is why yielding ADR is this year’s challenge.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Pattaya: arrivals below LY (−2.7%) and market RevPAR −2.3% — yet SP outperformed its market (Occ +5.3%, RevPAR +0.2% vs 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14106</TotalTime>
  <Words>7360</Words>
  <Application>Microsoft Office PowerPoint</Application>
  <PresentationFormat>Widescreen</PresentationFormat>
  <Paragraphs>2697</Paragraphs>
  <Slides>35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Aptos Narrow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10</cp:revision>
  <dcterms:created xsi:type="dcterms:W3CDTF">2026-07-24T09:01:49Z</dcterms:created>
  <dcterms:modified xsi:type="dcterms:W3CDTF">2026-08-04T10:16:41Z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