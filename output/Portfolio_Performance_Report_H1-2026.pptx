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6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6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302" r:id="rId14"/>
    <p:sldId id="304" r:id="rId15"/>
    <p:sldId id="266" r:id="rId16"/>
    <p:sldId id="269" r:id="rId17"/>
    <p:sldId id="303" r:id="rId18"/>
    <p:sldId id="305" r:id="rId19"/>
    <p:sldId id="267" r:id="rId20"/>
    <p:sldId id="308" r:id="rId21"/>
    <p:sldId id="265" r:id="rId22"/>
    <p:sldId id="268" r:id="rId23"/>
    <p:sldId id="309" r:id="rId62"/>
    <p:sldId id="270" r:id="rId24"/>
    <p:sldId id="272" r:id="rId25"/>
    <p:sldId id="271" r:id="rId26"/>
    <p:sldId id="273" r:id="rId27"/>
    <p:sldId id="275" r:id="rId28"/>
    <p:sldId id="276" r:id="rId29"/>
    <p:sldId id="278" r:id="rId31"/>
    <p:sldId id="274" r:id="rId33"/>
    <p:sldId id="280" r:id="rId34"/>
    <p:sldId id="282" r:id="rId35"/>
    <p:sldId id="283" r:id="rId36"/>
    <p:sldId id="285" r:id="rId38"/>
    <p:sldId id="281" r:id="rId40"/>
    <p:sldId id="287" r:id="rId41"/>
    <p:sldId id="289" r:id="rId42"/>
    <p:sldId id="290" r:id="rId43"/>
    <p:sldId id="292" r:id="rId45"/>
    <p:sldId id="288" r:id="rId47"/>
    <p:sldId id="294" r:id="rId48"/>
    <p:sldId id="296" r:id="rId49"/>
    <p:sldId id="297" r:id="rId50"/>
    <p:sldId id="299" r:id="rId52"/>
    <p:sldId id="295" r:id="rId54"/>
    <p:sldId id="301" r:id="rId5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447" autoAdjust="0"/>
  </p:normalViewPr>
  <p:slideViewPr>
    <p:cSldViewPr snapToGrid="0" snapToObjects="1">
      <p:cViewPr>
        <p:scale>
          <a:sx n="65" d="100"/>
          <a:sy n="65" d="100"/>
        </p:scale>
        <p:origin x="2316" y="9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1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8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5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2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6/11/relationships/changesInfo" Target="changesInfos/changesInfo1.xml"/><Relationship Id="rId62" Type="http://schemas.openxmlformats.org/officeDocument/2006/relationships/slide" Target="slides/slide2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  <c:pt idx="5">
                  <c:v>325497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1B-450C-83BB-C59D8123E8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  <c:pt idx="5">
                  <c:v>345417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1B-450C-83BB-C59D8123E8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  <c:pt idx="5">
                  <c:v>289156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1B-450C-83BB-C59D8123E8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  <c:pt idx="5">
                  <c:v>107002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F-4719-B532-FA11579CD6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  <c:pt idx="5">
                  <c:v>106358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F-4719-B532-FA11579CD6E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  <c:pt idx="5">
                  <c:v>90980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2EF-4719-B532-FA11579CD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125.5</c:v>
                </c:pt>
                <c:pt idx="1">
                  <c:v>124.5</c:v>
                </c:pt>
                <c:pt idx="2">
                  <c:v>122.4</c:v>
                </c:pt>
                <c:pt idx="3">
                  <c:v>133.4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07F-402E-B742-5B793452DF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276.60000000000002</c:v>
                </c:pt>
                <c:pt idx="1">
                  <c:v>326.10000000000002</c:v>
                </c:pt>
                <c:pt idx="2">
                  <c:v>304</c:v>
                </c:pt>
                <c:pt idx="3">
                  <c:v>311.5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07F-402E-B742-5B793452DFA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402.1</c:v>
                </c:pt>
                <c:pt idx="1">
                  <c:v>450.6</c:v>
                </c:pt>
                <c:pt idx="2">
                  <c:v>426.3</c:v>
                </c:pt>
                <c:pt idx="3">
                  <c:v>444.8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907F-402E-B742-5B793452DF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17712420481338137"/>
          <c:y val="0.81614816530286649"/>
          <c:w val="0.67635422690807723"/>
          <c:h val="0.11849235757295044"/>
        </c:manualLayout>
      </c:layout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75.8</c:v>
                </c:pt>
                <c:pt idx="1">
                  <c:v>80.900000000000006</c:v>
                </c:pt>
                <c:pt idx="2">
                  <c:v>73.3</c:v>
                </c:pt>
                <c:pt idx="3">
                  <c:v>64.7</c:v>
                </c:pt>
                <c:pt idx="4">
                  <c:v>65.5</c:v>
                </c:pt>
                <c:pt idx="5">
                  <c:v>64.56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4286.6400000000003</c:v>
                </c:pt>
                <c:pt idx="1">
                  <c:v>4348.76</c:v>
                </c:pt>
                <c:pt idx="2">
                  <c:v>3941.36</c:v>
                </c:pt>
                <c:pt idx="3">
                  <c:v>3841.77</c:v>
                </c:pt>
                <c:pt idx="4">
                  <c:v>3627.15</c:v>
                </c:pt>
                <c:pt idx="5">
                  <c:v>3620.17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3249.27</c:v>
                </c:pt>
                <c:pt idx="1">
                  <c:v>3518.15</c:v>
                </c:pt>
                <c:pt idx="2">
                  <c:v>2889.02</c:v>
                </c:pt>
                <c:pt idx="3">
                  <c:v>2485.63</c:v>
                </c:pt>
                <c:pt idx="4">
                  <c:v>2375.7800000000002</c:v>
                </c:pt>
                <c:pt idx="5">
                  <c:v>2337.25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42.6</c:v>
                </c:pt>
                <c:pt idx="1">
                  <c:v>48.2</c:v>
                </c:pt>
                <c:pt idx="2">
                  <c:v>57.2</c:v>
                </c:pt>
                <c:pt idx="3">
                  <c:v>56.8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412-4FB2-AA34-025BA661B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105.3</c:v>
                </c:pt>
                <c:pt idx="1">
                  <c:v>126.6</c:v>
                </c:pt>
                <c:pt idx="2">
                  <c:v>118.5</c:v>
                </c:pt>
                <c:pt idx="3">
                  <c:v>113.3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412-4FB2-AA34-025BA661B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147.9</c:v>
                </c:pt>
                <c:pt idx="1">
                  <c:v>174.8</c:v>
                </c:pt>
                <c:pt idx="2">
                  <c:v>175.8</c:v>
                </c:pt>
                <c:pt idx="3">
                  <c:v>170.2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412-4FB2-AA34-025BA661B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79.099999999999994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74.599999999999994</c:v>
                </c:pt>
                <c:pt idx="2">
                  <c:v>69.400000000000006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</c:v>
                </c:pt>
                <c:pt idx="1">
                  <c:v>3932</c:v>
                </c:pt>
                <c:pt idx="2">
                  <c:v>3341</c:v>
                </c:pt>
                <c:pt idx="3">
                  <c:v>3510</c:v>
                </c:pt>
                <c:pt idx="4">
                  <c:v>3115</c:v>
                </c:pt>
                <c:pt idx="5">
                  <c:v>2921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2252.4299999999998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more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34090-F488-B807-0850-3629B1D8F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4103E2-8608-BEA1-83D2-70E48F9094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47A5C-3971-C431-0C14-E3D94C0942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D73B4D-5AE3-F9F2-809F-AF2723A37E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45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9.xml"/><Relationship Id="rId4" Type="http://schemas.openxmlformats.org/officeDocument/2006/relationships/chart" Target="../charts/chart10.xml"/><Relationship Id="rId5" Type="http://schemas.openxmlformats.org/officeDocument/2006/relationships/chart" Target="../charts/chart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4.xml"/><Relationship Id="rId4" Type="http://schemas.openxmlformats.org/officeDocument/2006/relationships/chart" Target="../charts/chart15.xml"/><Relationship Id="rId5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2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chart" Target="../charts/chart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chart" Target="../charts/chart3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chart" Target="../charts/chart4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chart" Target="../charts/chart4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chart" Target="../charts/chart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Jan–Jun vs same period 2025 (June preliminary) · Portfolio YTD = Jan–Jun vs budget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7304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83608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83608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83608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still 46%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25968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272272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72272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272272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H1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(฿590.4M LY)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EBIT H1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margin 24.6%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is holding: H1 EBIT ฿143.2M vs ฿147.1M last year (−2.6%) despite rate pressure — cost discipline (OPEX −2.1% vs LY) protected profitability.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not volume, is the 2026 challenge: occupancy is near plan but ADR runs ~3% under budget across the portfolio — see ‘The ADR challenge’ in Section 2.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below last year (June preliminary), with China (+18%), India and long-haul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-4.3%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markets AND our direct compsets held rate in H1, while our four hotels cut ADR ~5–10% and bought occupancy (all above compset) — the rate gap is our pricing/mix trade, not market-forced.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through June (June preliminary: 4 days missing)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arrivals (MOTS) — monthly numbers by year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by month, 2018–2026 · unit: persons · same layout as the Summary sheet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311810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3,544,528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3,566,898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3,497,260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3,092,725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2,755,059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3,025,279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3,175,981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3,228,595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2,655,562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2,712,033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3,177,569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3,845,811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38,277,300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3,713,172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3,600,922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3,478,687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3,216,929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2,736,598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3,056,697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3,342,750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3,472,655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2,890,039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3,074,099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3,386,366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3,947,337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39,916,251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3,810,155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2,061,990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819,429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6,702,396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91,255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427,869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133,903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293,350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521,410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1,124,227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1,174,743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1,309,115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1,475,430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2,241,195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2,144,948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2,113,550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2,219,040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2,182,100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2,013,852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2,490,643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2,468,042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2,130,596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2,197,017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2,637,077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3,261,257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28,099,323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3,035,296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3,352,302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2,982,721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2,757,128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2,633,464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2,740,372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3,103,420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2,963,147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2,521,005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3,627,442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35,545,714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3,709,102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2,720,457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2,547,116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2,266,574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2,322,775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2,610,369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2,583,638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2,573,743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2,914,810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3,370,440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32,974,321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3,277,908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3,263,802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2,775,199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2,368,895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2,346,845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1,841,551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14,032,649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66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total = Jan–Jun (June preliminary — 4 days missing). ‘26 vs 25’ row compares each month; the Total cell compares Jan–Jun of both years. 2019 total highlighted = pre-COVID peak; 2020–2021 grayed = COVID years.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1,069,787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1,064,806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985,232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794,913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894,105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5,707,837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508,563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674,558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573,216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595,572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528,112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3,439,482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662,779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371,542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297,113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317,213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310,292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306,617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2,265,556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410,624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418,291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411,308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2,601,609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2024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1887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1,040,069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185,809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205,299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1,183,899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231,184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185,930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224,490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1,220,107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+13.8% vs 2024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93,648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561,771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97,083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274,284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82,462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52,702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-28.5%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Jan–Jun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52628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796k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 vs 2025</a:t>
            </a:r>
            <a:endParaRPr lang="en-US" sz="10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80" cy="11430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3,987,497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4,657,602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4,669,968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2371212"/>
              </p:ext>
            </p:extLst>
          </p:nvPr>
        </p:nvGraphicFramePr>
        <p:xfrm>
          <a:off x="54864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396153"/>
              </p:ext>
            </p:extLst>
          </p:nvPr>
        </p:nvGraphicFramePr>
        <p:xfrm>
          <a:off x="621792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66589"/>
              </p:ext>
            </p:extLst>
          </p:nvPr>
        </p:nvGraphicFramePr>
        <p:xfrm>
          <a:off x="563880" y="3279913"/>
          <a:ext cx="11064240" cy="28615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402.1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450.6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444.8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125.5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124.5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122.4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133.4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326.1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304.0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311.5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38C1245-2B94-E895-1548-4E1A61CE948D}"/>
              </a:ext>
            </a:extLst>
          </p:cNvPr>
          <p:cNvSpPr txBox="1"/>
          <p:nvPr/>
        </p:nvSpPr>
        <p:spPr>
          <a:xfrm>
            <a:off x="545658" y="6211039"/>
            <a:ext cx="110642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ysClr val="windowText" lastClr="000000"/>
                </a:solidFill>
              </a:rPr>
              <a:t> Arrival BKK 2026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is higher than 2025 3.3% but when we compare just foreigner showing that in </a:t>
            </a:r>
            <a:r>
              <a:rPr lang="en-US" sz="1100" baseline="0" dirty="0" err="1">
                <a:solidFill>
                  <a:sysClr val="windowText" lastClr="000000"/>
                </a:solidFill>
              </a:rPr>
              <a:t>foriegner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arrival is similar to 2025 (-0.1%)</a:t>
            </a:r>
            <a:endParaRPr lang="en-US" sz="1100" dirty="0">
              <a:solidFill>
                <a:sysClr val="windowText" lastClr="000000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baseline="0" dirty="0">
                <a:solidFill>
                  <a:sysClr val="windowText" lastClr="000000"/>
                </a:solidFill>
              </a:rPr>
              <a:t>Revenue from Foreigner is more than 2025 a round +2.5% with missing for data 4 days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Occ +1.8 pts   ·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-1.1%</a:t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RevPAR +1.4%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the broad Bangkok market held rate in H1 (ADR −1.1%) and grew occupancy (+1.8 pts) — the deep discounting sits in our direct serviced-apartment compsets, not the whole market.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vs our compsets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hotel against its own STR competitive set · Jan–Jun · STR basis (differs from result-sheet ADR)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4956" y="1441570"/>
          <a:ext cx="10762088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89004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25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SR9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80.8%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2,891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2,336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2 of 6 · 2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006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</a:t>
                      </a:r>
                      <a:r>
                        <a:rPr sz="1050" b="1" dirty="0" err="1">
                          <a:solidFill>
                            <a:srgbClr val="26292E"/>
                          </a:solidFill>
                          <a:latin typeface="Calibri"/>
                        </a:rPr>
                        <a:t>Rachada</a:t>
                      </a:r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25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AES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3,484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4 of 6 · 3 of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2006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(Sathorn)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9004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LYF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78.1%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1,374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1,073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5 · 4 of 5 · 4 of 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200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(Nana)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3" name="Rectangle 12">
            <a:extLst>
              <a:ext uri="{FF2B5EF4-FFF2-40B4-BE49-F238E27FC236}">
                <a16:creationId xmlns:a16="http://schemas.microsoft.com/office/drawing/2014/main" id="{A8D55007-83B3-DAF4-BD6A-18A9D4DC1FC9}"/>
              </a:ext>
            </a:extLst>
          </p:cNvPr>
          <p:cNvSpPr/>
          <p:nvPr/>
        </p:nvSpPr>
        <p:spPr>
          <a:xfrm>
            <a:off x="8639092" y="2868829"/>
            <a:ext cx="554604" cy="66830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A489FBB-D00E-4CDB-B6F6-149F919F052A}"/>
              </a:ext>
            </a:extLst>
          </p:cNvPr>
          <p:cNvSpPr/>
          <p:nvPr/>
        </p:nvSpPr>
        <p:spPr>
          <a:xfrm>
            <a:off x="548640" y="3608296"/>
            <a:ext cx="11091672" cy="315547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ysClr val="windowText" lastClr="000000"/>
                </a:solidFill>
              </a:rPr>
              <a:t>Key Takeaway BKK : </a:t>
            </a:r>
            <a:endParaRPr lang="en-US" sz="110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aseline="0" dirty="0">
                <a:solidFill>
                  <a:sysClr val="windowText" lastClr="000000"/>
                </a:solidFill>
              </a:rPr>
              <a:t>If look at STR market of Bangkok &gt;&gt;</a:t>
            </a:r>
            <a:endParaRPr lang="en-US" sz="1100" baseline="0" dirty="0">
              <a:solidFill>
                <a:schemeClr val="tx1"/>
              </a:solidFill>
            </a:endParaRPr>
          </a:p>
          <a:p>
            <a:pPr algn="l"/>
            <a:r>
              <a:rPr lang="en-US" sz="1100" baseline="0" dirty="0">
                <a:solidFill>
                  <a:schemeClr val="tx1"/>
                </a:solidFill>
              </a:rPr>
              <a:t>Overall BKK: RevPAR grew by +2% YoY (driven by +3% Occupancy, despite a -1% drop in ADR).</a:t>
            </a:r>
          </a:p>
          <a:p>
            <a:pPr algn="l"/>
            <a:endParaRPr lang="en-US" sz="1100" baseline="0" dirty="0">
              <a:solidFill>
                <a:sysClr val="windowText" lastClr="000000"/>
              </a:solidFill>
            </a:endParaRPr>
          </a:p>
          <a:p>
            <a:r>
              <a:rPr lang="en-US" sz="1100" b="1" baseline="0" dirty="0">
                <a:solidFill>
                  <a:sysClr val="windowText" lastClr="000000"/>
                </a:solidFill>
              </a:rPr>
              <a:t>SR9 &gt;&gt;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occ </a:t>
            </a:r>
            <a:r>
              <a:rPr lang="en-US" dirty="0">
                <a:solidFill>
                  <a:srgbClr val="2E7D32"/>
                </a:solidFill>
              </a:rPr>
              <a:t>+4.8%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ADR -3.3% </a:t>
            </a:r>
            <a:r>
              <a:rPr lang="en-US" dirty="0">
                <a:solidFill>
                  <a:sysClr val="windowText" lastClr="000000"/>
                </a:solidFill>
              </a:rPr>
              <a:t>turning </a:t>
            </a:r>
            <a:r>
              <a:rPr lang="en-US" dirty="0" err="1">
                <a:solidFill>
                  <a:sysClr val="windowText" lastClr="000000"/>
                </a:solidFill>
              </a:rPr>
              <a:t>revpar</a:t>
            </a:r>
            <a:r>
              <a:rPr lang="en-US" dirty="0">
                <a:solidFill>
                  <a:sysClr val="windowText" lastClr="000000"/>
                </a:solidFill>
              </a:rPr>
              <a:t> 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+1.3% </a:t>
            </a:r>
            <a:r>
              <a:rPr lang="en-US" dirty="0">
                <a:solidFill>
                  <a:sysClr val="windowText" lastClr="000000"/>
                </a:solidFill>
              </a:rPr>
              <a:t>vs LY</a:t>
            </a:r>
          </a:p>
          <a:p>
            <a:r>
              <a:rPr lang="en-US" sz="1100" b="0" baseline="0" dirty="0">
                <a:solidFill>
                  <a:sysClr val="windowText" lastClr="000000"/>
                </a:solidFill>
              </a:rPr>
              <a:t>Rama 9 market</a:t>
            </a:r>
            <a:r>
              <a:rPr lang="th-TH" sz="1100" b="0" baseline="0" dirty="0">
                <a:solidFill>
                  <a:sysClr val="windowText" lastClr="000000"/>
                </a:solidFill>
              </a:rPr>
              <a:t>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&gt;&gt; Occ is +1.4% compare to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lastyear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. but ADR is very lower than last year around -19%, turning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-17%</a:t>
            </a:r>
          </a:p>
          <a:p>
            <a:pPr algn="l"/>
            <a:r>
              <a:rPr lang="en-US" sz="1100" b="0" baseline="0" dirty="0">
                <a:solidFill>
                  <a:srgbClr val="00B050"/>
                </a:solidFill>
              </a:rPr>
              <a:t>So, SR9 doing better from the market. While the </a:t>
            </a:r>
            <a:r>
              <a:rPr lang="en-US" sz="1100" b="1" baseline="0" dirty="0">
                <a:solidFill>
                  <a:srgbClr val="00B050"/>
                </a:solidFill>
              </a:rPr>
              <a:t>m</a:t>
            </a:r>
            <a:r>
              <a:rPr lang="en-US" sz="1100" b="0" baseline="0" dirty="0">
                <a:solidFill>
                  <a:srgbClr val="00B050"/>
                </a:solidFill>
              </a:rPr>
              <a:t>arket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is decreasing but SR9 have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positive number. The key driver come from the corporate booking. And the supply in the </a:t>
            </a:r>
            <a:r>
              <a:rPr lang="en-US" dirty="0">
                <a:solidFill>
                  <a:srgbClr val="00B050"/>
                </a:solidFill>
              </a:rPr>
              <a:t>area </a:t>
            </a:r>
            <a:r>
              <a:rPr lang="en-US" sz="1100" b="0" baseline="0" dirty="0">
                <a:solidFill>
                  <a:srgbClr val="00B050"/>
                </a:solidFill>
              </a:rPr>
              <a:t>like jubilee is under renovation.</a:t>
            </a:r>
          </a:p>
          <a:p>
            <a:pPr algn="l"/>
            <a:endParaRPr lang="en-US" sz="1100" b="0" baseline="0" dirty="0">
              <a:solidFill>
                <a:sysClr val="windowText" lastClr="000000"/>
              </a:solidFill>
            </a:endParaRPr>
          </a:p>
          <a:p>
            <a:r>
              <a:rPr lang="en-US" sz="1100" b="1" baseline="0" dirty="0">
                <a:solidFill>
                  <a:sysClr val="windowText" lastClr="000000"/>
                </a:solidFill>
              </a:rPr>
              <a:t>AES &gt;&gt;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Occ </a:t>
            </a:r>
            <a:r>
              <a:rPr lang="en-US" dirty="0">
                <a:solidFill>
                  <a:sysClr val="windowText" lastClr="000000"/>
                </a:solidFill>
              </a:rPr>
              <a:t> </a:t>
            </a:r>
            <a:r>
              <a:rPr lang="en-US" dirty="0">
                <a:solidFill>
                  <a:srgbClr val="2E7D32"/>
                </a:solidFill>
              </a:rPr>
              <a:t>+3.8%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ADR -5.85 turning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-2.2% </a:t>
            </a:r>
            <a:r>
              <a:rPr lang="en-US" dirty="0">
                <a:solidFill>
                  <a:sysClr val="windowText" lastClr="000000"/>
                </a:solidFill>
              </a:rPr>
              <a:t>vs LY</a:t>
            </a:r>
          </a:p>
          <a:p>
            <a:pPr algn="l"/>
            <a:r>
              <a:rPr lang="en-US" sz="1100" b="0" baseline="0" dirty="0">
                <a:solidFill>
                  <a:sysClr val="windowText" lastClr="000000"/>
                </a:solidFill>
              </a:rPr>
              <a:t>Sathorn market &gt;&gt; Occ is down around -5% and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Adr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-2%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comapre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to LY, resulting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-7% compare to LY</a:t>
            </a:r>
          </a:p>
          <a:p>
            <a:pPr algn="l"/>
            <a:r>
              <a:rPr lang="en-US" sz="1100" b="0" baseline="0" dirty="0">
                <a:solidFill>
                  <a:srgbClr val="00B050"/>
                </a:solidFill>
              </a:rPr>
              <a:t>So, AES can do occ and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better than the </a:t>
            </a:r>
            <a:r>
              <a:rPr lang="en-US" sz="1100" b="0" baseline="0" dirty="0" err="1">
                <a:solidFill>
                  <a:srgbClr val="00B050"/>
                </a:solidFill>
              </a:rPr>
              <a:t>compset</a:t>
            </a:r>
            <a:r>
              <a:rPr lang="en-US" sz="1100" b="0" baseline="0" dirty="0">
                <a:solidFill>
                  <a:srgbClr val="00B050"/>
                </a:solidFill>
              </a:rPr>
              <a:t> but ADR is lower than the market around change (Gm said that </a:t>
            </a:r>
            <a:r>
              <a:rPr lang="en-US" sz="1100" b="0" baseline="0" dirty="0" err="1">
                <a:solidFill>
                  <a:srgbClr val="00B050"/>
                </a:solidFill>
              </a:rPr>
              <a:t>bc</a:t>
            </a:r>
            <a:r>
              <a:rPr lang="en-US" sz="1100" b="0" baseline="0" dirty="0">
                <a:solidFill>
                  <a:srgbClr val="00B050"/>
                </a:solidFill>
              </a:rPr>
              <a:t> one of them </a:t>
            </a:r>
            <a:r>
              <a:rPr lang="en-US" sz="1100" b="0" baseline="0" dirty="0" err="1">
                <a:solidFill>
                  <a:srgbClr val="00B050"/>
                </a:solidFill>
              </a:rPr>
              <a:t>compset</a:t>
            </a:r>
            <a:r>
              <a:rPr lang="en-US" sz="1100" b="0" baseline="0" dirty="0">
                <a:solidFill>
                  <a:srgbClr val="00B050"/>
                </a:solidFill>
              </a:rPr>
              <a:t> like COMO doesn't drop the rate down so make the ADR average index remain same to last year). AES is align with the market which has a soft market.</a:t>
            </a:r>
          </a:p>
          <a:p>
            <a:pPr algn="l"/>
            <a:endParaRPr lang="en-US" sz="1100" b="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="1" baseline="0" dirty="0">
                <a:solidFill>
                  <a:sysClr val="windowText" lastClr="000000"/>
                </a:solidFill>
              </a:rPr>
              <a:t>LYF8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&gt;&gt;Occ -1.1% ADR -5% drop,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-6.1% vs LY</a:t>
            </a:r>
          </a:p>
          <a:p>
            <a:r>
              <a:rPr lang="en-US" sz="1100" b="0" baseline="0" dirty="0">
                <a:solidFill>
                  <a:sysClr val="windowText" lastClr="000000"/>
                </a:solidFill>
              </a:rPr>
              <a:t>Nana market &gt;&gt; Occ +4% ADR drop </a:t>
            </a:r>
            <a:r>
              <a:rPr lang="th-TH" sz="1100" b="0" baseline="0" dirty="0">
                <a:solidFill>
                  <a:sysClr val="windowText" lastClr="000000"/>
                </a:solidFill>
              </a:rPr>
              <a:t>-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3%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+1% vs LY</a:t>
            </a:r>
          </a:p>
          <a:p>
            <a:r>
              <a:rPr lang="en-US" dirty="0">
                <a:solidFill>
                  <a:srgbClr val="FF0000"/>
                </a:solidFill>
              </a:rPr>
              <a:t>Overall, LS8 performed worse than the market. The market achieved better occupancy +3.7% than last year along with a 1.2% increase in RevPAR, but LS8's occupancy dropped by 1.1% compared to 2025. Also, while the market's ADR dropped by about 2.3%, LS8's ADR dropped by 5%.</a:t>
            </a:r>
            <a:endParaRPr lang="en-US" sz="1100" b="0" baseline="0" dirty="0">
              <a:solidFill>
                <a:sysClr val="windowText" lastClr="000000"/>
              </a:solidFill>
            </a:endParaRPr>
          </a:p>
          <a:p>
            <a:pPr algn="l"/>
            <a:endParaRPr lang="en-US" sz="1100" b="1" baseline="0" dirty="0">
              <a:solidFill>
                <a:sysClr val="windowText" lastClr="000000"/>
              </a:solidFill>
            </a:endParaRP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46C4E402-60D4-0AB6-86F9-674E79F2C7E8}"/>
              </a:ext>
            </a:extLst>
          </p:cNvPr>
          <p:cNvSpPr/>
          <p:nvPr/>
        </p:nvSpPr>
        <p:spPr>
          <a:xfrm>
            <a:off x="11477044" y="1725034"/>
            <a:ext cx="292169" cy="111516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548062"/>
              </p:ext>
            </p:extLst>
          </p:nvPr>
        </p:nvGraphicFramePr>
        <p:xfrm>
          <a:off x="548640" y="3931920"/>
          <a:ext cx="11064240" cy="2766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147.9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42.6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48.2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57.2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56.8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105.3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+18.2%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-2.0 pts   ·   ADR -0.3%   ·   RevPAR -3.3%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402B4-BA0A-A98F-53D6-8BB939975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964EC1C-73E8-93F6-BCCB-B229ADBFEE29}"/>
              </a:ext>
            </a:extLst>
          </p:cNvPr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D606F07-A04A-F7D4-E1D2-98692293C51F}"/>
              </a:ext>
            </a:extLst>
          </p:cNvPr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vs our compsets — H1 2026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23D956B-923F-1431-421F-7037179D3215}"/>
              </a:ext>
            </a:extLst>
          </p:cNvPr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hotel against its own STR competitive set · Jan–Jun · STR basis (differs from result-sheet ADR)</a:t>
            </a:r>
            <a:endParaRPr lang="en-US" sz="12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57F2540-B0AC-3EBC-4990-743D8D8CA5D1}"/>
              </a:ext>
            </a:extLst>
          </p:cNvPr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0E3A5FB-83F4-A352-5D60-FBFB0140A50A}"/>
              </a:ext>
            </a:extLst>
          </p:cNvPr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CoStar per-property compset reports, June 2026 (SR9/LYF/SP primary comp set; AES secondary comp set). STR ADR basis differs from the result-sheet ADR (breakfast/net treatment) — use % changes, not absolute levels, for comparison.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2244949"/>
              </p:ext>
            </p:extLst>
          </p:nvPr>
        </p:nvGraphicFramePr>
        <p:xfrm>
          <a:off x="521208" y="1563624"/>
          <a:ext cx="1109167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Rank Occ·ADR·RevPAR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73.8%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+5.3%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3,749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2,766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+0.2%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 of 6 · 5 of 6 · 4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(SP comp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D647BEDE-5832-34EF-F898-BB5E82D7F1CA}"/>
              </a:ext>
            </a:extLst>
          </p:cNvPr>
          <p:cNvSpPr/>
          <p:nvPr/>
        </p:nvSpPr>
        <p:spPr>
          <a:xfrm>
            <a:off x="521208" y="2658230"/>
            <a:ext cx="11119104" cy="23013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600" b="1" dirty="0">
                <a:solidFill>
                  <a:srgbClr val="1E2761"/>
                </a:solidFill>
                <a:latin typeface="Calibri"/>
              </a:rPr>
              <a:t>Key Takeaway — Pattaya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Tourist spending in Pattaya is about −3% below both 2024 and 2025 (June 2026 is still missing 4 days of data).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Arrivals in Pattaya are −2.7% vs 2025.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Pattaya STR market: occupancy −3%, ADR roughly flat — turning RevPAR −3%.</a:t>
            </a:r>
            <a:endParaRPr lang="en-US" sz="1300" dirty="0">
              <a:solidFill>
                <a:srgbClr val="26292E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sz="1300" dirty="0">
              <a:solidFill>
                <a:srgbClr val="26292E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Narrowing to our property's competitive set: H1 2026 vs 2025 occupancy −3%, ADR −6% — RevPAR −9%.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Our property (SP): occupancy </a:t>
            </a:r>
            <a:r>
              <a:rPr lang="en-US" sz="1300" dirty="0">
                <a:solidFill>
                  <a:srgbClr val="26292E"/>
                </a:solidFill>
                <a:latin typeface="Calibri"/>
              </a:rPr>
              <a:t>+5.3% </a:t>
            </a:r>
            <a:r>
              <a:rPr sz="1300" dirty="0">
                <a:solidFill>
                  <a:srgbClr val="26292E"/>
                </a:solidFill>
                <a:latin typeface="Calibri"/>
              </a:rPr>
              <a:t>vs LY, ADR −4.9% — RevPAR +0.2% vs LY.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00B050"/>
                </a:solidFill>
                <a:latin typeface="Calibri"/>
              </a:rPr>
              <a:t>• Conclusion: SP is performing better than the market.</a:t>
            </a:r>
          </a:p>
        </p:txBody>
      </p:sp>
    </p:spTree>
    <p:extLst>
      <p:ext uri="{BB962C8B-B14F-4D97-AF65-F5344CB8AC3E}">
        <p14:creationId xmlns:p14="http://schemas.microsoft.com/office/powerpoint/2010/main" val="27302718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Challenge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ADR challenge — rate is the story of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is holding, rate is not · left = what the data shows, right = why we believe it is happening · TBC items await data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— what the data shows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49808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(workbook Compset sheet): the broad markets held RATE in H1 — Bangkok ADR −1.1% (occ +1.8 pts), Pattaya ADR −0.3% (occ −2.0 pts) — while our portfolio ADR fell -4.2%.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63056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64224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HYPOTHESES — why we believe it is happening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64224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Rate-for-volume strategy: STR shows we discounted far deeper than our compsets and bought occupancy share (MPI above 100 at all four hotels) — was the occupancy gain worth the rate given up? [key question for the GMs]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dilution: losing high-rate Middle East / European long-stay and refilling with Chinese/SEA leisure lowers our achieved ADR even without price cuts — our compsets carry less of that exposure, so their ADR held.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power: Chinese and SEA leisure guests book entry-level rooms and shorter stays; a strong THB makes Thailand more expensive in guests' home currencies. [TBC — FX / spend-per-trip evidence]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behaviour changed: guests book further in advance and last-minute premium demand has faded (SR9) — less late-yield upside on peak dates.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mix dilution: OTA flash deals and wholesale rates lift occupancy but cap ADR (LYF ADR ranks 5/5 in its compset; Trip.com flash deal discontinued).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supply: additional rooms in Bangkok keep pressure on rates. [TBC — 2025–26 new openings in Rama 9 / Sathorn /Nana to quantify]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v2 for discussion — computed figures come from the result sheets, STR and MOTS data in this workbook; [TBC] items to be confirmed by management.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by segment — where the rate went, H1 2026 vs H1 2025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 nights per segment · H1 = Jan–Jun · % rooms = segment share of room nights · segments under 1% of rooms omitted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Somerset Rama 9 (SR9)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4708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36792" y="157276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Ascott Embassy Sathorn (AES)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36792" y="184708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404164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lyf Sukhumvit 8 (LYF)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4315968"/>
          <a:ext cx="5303520" cy="9372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336792" y="404164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Somerset Pattaya (SP)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336792" y="431596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6382512"/>
            <a:ext cx="11091672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050" b="1">
                <a:solidFill>
                  <a:srgbClr val="1E2761"/>
                </a:solidFill>
                <a:latin typeface="Calibri"/>
              </a:rPr>
              <a:t>Takeaway: the segment mix hardly moved (% rooms columns) — the ADR decline comes from lower prices inside almost every segment, deepest in Online (dynamic rate): SR9 −13.9% · AES −11.0% · LYF −8.2% · SP −16.1%.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468880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BC93C-ECD8-46AB-78C9-FE407A0F0935}"/>
              </a:ext>
            </a:extLst>
          </p:cNvPr>
          <p:cNvSpPr txBox="1"/>
          <p:nvPr/>
        </p:nvSpPr>
        <p:spPr>
          <a:xfrm>
            <a:off x="8357420" y="1324094"/>
            <a:ext cx="2684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Budget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segment per month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 Largest revenue segment YTD: Online (47% of segment revenue · ฿83,692,230).</a:t>
            </a:r>
            <a:endParaRPr lang="en-US" sz="1050" dirty="0"/>
          </a:p>
        </p:txBody>
      </p:sp>
      <p:graphicFrame>
        <p:nvGraphicFramePr>
          <p:cNvPr id="90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23360"/>
          <a:ext cx="11091672" cy="221284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22,373,138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19,185,691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27,501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83,692,230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16,858,700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27,132,061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Corp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1,998,780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Leisure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3,118,250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Series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2,858,700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10,342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65,175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177,312,810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A 2025 bar of 0 = outside 2025's top-10 · change table follows the 2026 top-10, 'new' = outside 2025's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segment per month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 Largest revenue segment YTD: Online (39% of segment revenue · ฿65,733,302).</a:t>
            </a:r>
            <a:endParaRPr lang="en-US" sz="1050" dirty="0"/>
          </a:p>
        </p:txBody>
      </p:sp>
      <p:graphicFrame>
        <p:nvGraphicFramePr>
          <p:cNvPr id="90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23360"/>
          <a:ext cx="11091672" cy="1810512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18,083,934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13,096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32,812,405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65,733,302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17,371,829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8,131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26,804,161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5,287,593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547,029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50,123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166,640,253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A 2025 bar of 0 = outside 2025's top-10 · change table follows the 2026 top-10, 'new' = outside 2025's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127427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8185355" y="5047488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segment per month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 Largest revenue segment YTD: Online (69% of segment revenue · ฿26,128,979).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90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23360"/>
          <a:ext cx="11091672" cy="1810512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1,232,538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170,093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26,128,979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6,203,603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58,539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121,583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27,714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38,106,441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 2025 bar of 0 = outside 2025's top-10 · change table follows the 2026 top-10, 'new' = outside 2025's top-10.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D16DE3-DA0C-C11C-50DC-36EFD5989D57}"/>
              </a:ext>
            </a:extLst>
          </p:cNvPr>
          <p:cNvSpPr txBox="1"/>
          <p:nvPr/>
        </p:nvSpPr>
        <p:spPr>
          <a:xfrm>
            <a:off x="9177921" y="3496909"/>
            <a:ext cx="3741666" cy="380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Checking SG </a:t>
            </a:r>
            <a:r>
              <a:rPr lang="en-US" dirty="0" err="1"/>
              <a:t>arrival.Indonesia</a:t>
            </a:r>
            <a:r>
              <a:rPr lang="en-US" dirty="0"/>
              <a:t>)?)</a:t>
            </a:r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C469CD-4CE3-10EB-A71A-F44B269CC01E}"/>
              </a:ext>
            </a:extLst>
          </p:cNvPr>
          <p:cNvSpPr txBox="1"/>
          <p:nvPr/>
        </p:nvSpPr>
        <p:spPr>
          <a:xfrm>
            <a:off x="8165592" y="5431750"/>
            <a:ext cx="374609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Rev align GOP</a:t>
            </a:r>
          </a:p>
          <a:p>
            <a:r>
              <a:rPr lang="en-US" dirty="0" err="1"/>
              <a:t>Jv</a:t>
            </a:r>
            <a:r>
              <a:rPr lang="en-US" dirty="0"/>
              <a:t> expense &gt; Prop tax</a:t>
            </a:r>
          </a:p>
          <a:p>
            <a:r>
              <a:rPr lang="en-US" dirty="0"/>
              <a:t>Loss carry forward 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— the re-based Pattaya STR shows a level market.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segment per month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 Largest revenue segment YTD: Wholesale (35% of segment revenue · ฿53,999,377).</a:t>
            </a:r>
            <a:endParaRPr lang="en-US" sz="1050" dirty="0"/>
          </a:p>
        </p:txBody>
      </p:sp>
      <p:graphicFrame>
        <p:nvGraphicFramePr>
          <p:cNvPr id="90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23360"/>
          <a:ext cx="11091672" cy="201168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6,707,183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6,264,944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52,818,680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28,161,766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53,999,377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 Grp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3,687,513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1,732,625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122,697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153,494,786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A 2025 bar of 0 = outside 2025's top-10 · change table follows the 2026 top-10, 'new' = outside 2025's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2AB92E-5A8A-F38D-E8BB-9A78A70F4654}"/>
              </a:ext>
            </a:extLst>
          </p:cNvPr>
          <p:cNvSpPr txBox="1"/>
          <p:nvPr/>
        </p:nvSpPr>
        <p:spPr>
          <a:xfrm>
            <a:off x="8504903" y="5730719"/>
            <a:ext cx="265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Pay lesser interest.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June; June is preliminary (a system error dropped 4 days).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Bangkok and Pattaya both re-based to the CoStar market/submarket reports of June 2026 (Jan–Jun; 2025 derived from reported % change; earlier compset rows not comparable). Per-property competitive sets: CoStar compset reports June 2026 (SR9/LYF/SP primary, AES secondary), Jan–Jun, used on the ADR-challenge and Us-vs-compsets slides. The old Compset tab series (Jan–May) is retained for history.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monthly Occ/ADR/RevPAR actuals, MF budget and prior years read directly from the result FY24/FY25/FY26 sheets (official record); property ADR includes breakfast (LYF has none).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(Revenue, OPEX, GOP/EBITDA, EBIT) from the result FY25/FY26 sheets — the official record, frozen at accounting close. AES &amp; SP June 2026 revenue derived from the result totals. NPAT is not recorded there.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507492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1E2761"/>
                </a:solidFill>
                <a:latin typeface="Calibri"/>
              </a:rPr>
              <a:t>STR competitive sets (CoStar, Jun 2026)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SR9 (primary): Jubilee Prestige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Ratchadapisek</a:t>
            </a:r>
            <a:r>
              <a:rPr sz="1050" dirty="0">
                <a:solidFill>
                  <a:srgbClr val="6B7280"/>
                </a:solidFill>
                <a:latin typeface="Calibri"/>
              </a:rPr>
              <a:t>, Grand Mercure Bangkok Atrium,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Centara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Grand at Central Plaza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Ladprao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Bangkok, Avani Ratchada Bangkok Hotel, Lancaster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AES (secondary): Pullman Bangkok Hotel G, Chatrium Residence Sathon Bangkok, COMO Metropolitan Bangkok, Marriott Executive Apartment Sathorn Vista, Eastin Grand Hotel Sathorn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LYF (primary): ibis Bangkok Sukhumvit 4,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Graand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Swiss Bangkok, TRIBE Living Bangkok Sukhumvit 39,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Ruamchitt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Hotel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SP (primary): AVANI Pattaya Resort, Hard Rock Hotel Pattaya, Holiday Inn Pattaya, Melia Pattaya Hotel, Grande Centre Point Pattaya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Props1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13800</TotalTime>
  <Words>10216</Words>
  <Application>Microsoft Office PowerPoint</Application>
  <PresentationFormat>Widescreen</PresentationFormat>
  <Paragraphs>3525</Paragraphs>
  <Slides>51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6</cp:revision>
  <dcterms:created xsi:type="dcterms:W3CDTF">2026-07-24T09:01:49Z</dcterms:created>
  <dcterms:modified xsi:type="dcterms:W3CDTF">2026-08-03T01:08:56Z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