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notesSlides/notesSlide14.xml" ContentType="application/vnd.openxmlformats-officedocument.presentationml.notes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7.xml" ContentType="application/vnd.openxmlformats-officedocument.drawingml.chart+xml"/>
  <Override PartName="/ppt/notesSlides/notesSlide20.xml" ContentType="application/vnd.openxmlformats-officedocument.presentationml.notesSlide+xml"/>
  <Override PartName="/ppt/charts/chart18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9.xml" ContentType="application/vnd.openxmlformats-officedocument.drawingml.chart+xml"/>
  <Override PartName="/ppt/notesSlides/notesSlide23.xml" ContentType="application/vnd.openxmlformats-officedocument.presentationml.notes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22.xml" ContentType="application/vnd.openxmlformats-officedocument.drawingml.chart+xml"/>
  <Override PartName="/ppt/notesSlides/notesSlide26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27.xml" ContentType="application/vnd.openxmlformats-officedocument.presentationml.notesSlide+xml"/>
  <Override PartName="/ppt/charts/chart25.xml" ContentType="application/vnd.openxmlformats-officedocument.drawingml.chart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26.xml" ContentType="application/vnd.openxmlformats-officedocument.drawingml.chart+xml"/>
  <Override PartName="/ppt/notesSlides/notesSlide30.xml" ContentType="application/vnd.openxmlformats-officedocument.presentationml.notesSlide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29.xml" ContentType="application/vnd.openxmlformats-officedocument.drawingml.chart+xml"/>
  <Override PartName="/ppt/notesSlides/notesSlide33.xml" ContentType="application/vnd.openxmlformats-officedocument.presentationml.notesSlide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notesSlides/notesSlide34.xml" ContentType="application/vnd.openxmlformats-officedocument.presentationml.notesSlide+xml"/>
  <Override PartName="/ppt/charts/chart32.xml" ContentType="application/vnd.openxmlformats-officedocument.drawingml.chart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rts/chart33.xml" ContentType="application/vnd.openxmlformats-officedocument.drawingml.chart+xml"/>
  <Override PartName="/ppt/notesSlides/notesSlide37.xml" ContentType="application/vnd.openxmlformats-officedocument.presentationml.notes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rts/chart36.xml" ContentType="application/vnd.openxmlformats-officedocument.drawingml.chart+xml"/>
  <Override PartName="/ppt/notesSlides/notesSlide40.xml" ContentType="application/vnd.openxmlformats-officedocument.presentationml.notesSlide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notesSlides/notesSlide41.xml" ContentType="application/vnd.openxmlformats-officedocument.presentationml.notesSlide+xml"/>
  <Override PartName="/ppt/charts/chart39.xml" ContentType="application/vnd.openxmlformats-officedocument.drawingml.chart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rts/chart40.xml" ContentType="application/vnd.openxmlformats-officedocument.drawingml.chart+xml"/>
  <Override PartName="/ppt/notesSlides/notesSlide44.xml" ContentType="application/vnd.openxmlformats-officedocument.presentationml.notes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rts/chart43.xml" ContentType="application/vnd.openxmlformats-officedocument.drawingml.chart+xml"/>
  <Override PartName="/ppt/notesSlides/notesSlide47.xml" ContentType="application/vnd.openxmlformats-officedocument.presentationml.notes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notesSlides/notesSlide48.xml" ContentType="application/vnd.openxmlformats-officedocument.presentationml.notesSlide+xml"/>
  <Override PartName="/ppt/charts/chart46.xml" ContentType="application/vnd.openxmlformats-officedocument.drawingml.chart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6" r:id="rId18"/>
    <p:sldId id="303" r:id="rId19"/>
    <p:sldId id="305" r:id="rId20"/>
    <p:sldId id="267" r:id="rId21"/>
    <p:sldId id="308" r:id="rId22"/>
    <p:sldId id="307" r:id="rId23"/>
    <p:sldId id="265" r:id="rId24"/>
    <p:sldId id="268" r:id="rId25"/>
    <p:sldId id="270" r:id="rId26"/>
    <p:sldId id="272" r:id="rId27"/>
    <p:sldId id="271" r:id="rId28"/>
    <p:sldId id="273" r:id="rId29"/>
    <p:sldId id="275" r:id="rId30"/>
    <p:sldId id="276" r:id="rId31"/>
    <p:sldId id="277" r:id="rId32"/>
    <p:sldId id="278" r:id="rId33"/>
    <p:sldId id="279" r:id="rId34"/>
    <p:sldId id="274" r:id="rId35"/>
    <p:sldId id="280" r:id="rId36"/>
    <p:sldId id="282" r:id="rId37"/>
    <p:sldId id="283" r:id="rId38"/>
    <p:sldId id="284" r:id="rId39"/>
    <p:sldId id="285" r:id="rId40"/>
    <p:sldId id="286" r:id="rId41"/>
    <p:sldId id="281" r:id="rId42"/>
    <p:sldId id="287" r:id="rId43"/>
    <p:sldId id="289" r:id="rId44"/>
    <p:sldId id="290" r:id="rId45"/>
    <p:sldId id="291" r:id="rId46"/>
    <p:sldId id="292" r:id="rId47"/>
    <p:sldId id="293" r:id="rId48"/>
    <p:sldId id="288" r:id="rId49"/>
    <p:sldId id="294" r:id="rId50"/>
    <p:sldId id="296" r:id="rId51"/>
    <p:sldId id="297" r:id="rId52"/>
    <p:sldId id="298" r:id="rId53"/>
    <p:sldId id="299" r:id="rId54"/>
    <p:sldId id="300" r:id="rId55"/>
    <p:sldId id="295" r:id="rId56"/>
    <p:sldId id="301" r:id="rId5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6.xml"/><Relationship Id="rId4" Type="http://schemas.openxmlformats.org/officeDocument/2006/relationships/chart" Target="../charts/char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4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6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7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9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1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3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4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6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628635"/>
              </p:ext>
            </p:extLst>
          </p:nvPr>
        </p:nvGraphicFramePr>
        <p:xfrm>
          <a:off x="563880" y="4480560"/>
          <a:ext cx="11064240" cy="181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Bangkok total revenue reached ฿444.8bn H1 (+4.3% vs LY) on flat international arrivals — spend per head keeps rising (฿25.1k intl, +2.6% vs LY).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ADR -1.1%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2356" y="4087368"/>
            <a:ext cx="11064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427763"/>
              </p:ext>
            </p:extLst>
          </p:nvPr>
        </p:nvGraphicFramePr>
        <p:xfrm>
          <a:off x="548640" y="1638300"/>
          <a:ext cx="1109167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2369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sz="11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SR9  (occ rank 2 of 6)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6292E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2,420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C0392B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6B7280"/>
                          </a:solidFill>
                          <a:latin typeface="Calibri"/>
                        </a:rPr>
                        <a:t>76.8%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+0.3%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6B7280"/>
                          </a:solidFill>
                          <a:latin typeface="Calibri"/>
                        </a:rPr>
                        <a:t>2,593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-2.8%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6B7280"/>
                          </a:solidFill>
                          <a:latin typeface="Calibri"/>
                        </a:rPr>
                        <a:t>1,991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C0392B"/>
                          </a:solidFill>
                          <a:latin typeface="Calibri"/>
                        </a:rPr>
                        <a:t>-2.5%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AES  (occ rank 2 of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3,667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2,582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137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LYF  (occ rank 2 of 5)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1,513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1,182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35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6B7280"/>
                          </a:solidFill>
                          <a:latin typeface="Calibri"/>
                        </a:rPr>
                        <a:t>67.1%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C0392B"/>
                          </a:solidFill>
                          <a:latin typeface="Calibri"/>
                        </a:rPr>
                        <a:t>-0.7%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1,898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+1.5%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1,273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7E9A5E-D737-42E8-9032-A60597F8D42A}"/>
              </a:ext>
            </a:extLst>
          </p:cNvPr>
          <p:cNvSpPr/>
          <p:nvPr/>
        </p:nvSpPr>
        <p:spPr>
          <a:xfrm>
            <a:off x="5697453" y="385762"/>
            <a:ext cx="5353050" cy="60864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</a:p>
          <a:p>
            <a:pPr algn="l"/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</a:p>
          <a:p>
            <a:pPr algn="l"/>
            <a:br>
              <a:rPr lang="en-US" sz="1100" baseline="0" dirty="0">
                <a:solidFill>
                  <a:sysClr val="windowText" lastClr="000000"/>
                </a:solidFill>
              </a:rPr>
            </a:b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Occ% is up to 3% but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-1% when compare to 2025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turnin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Revapr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+2% when compare to last year.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+3.7pts compare to last year ADR -3.3% turning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 +1.3% compare to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Occ is +1%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uis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very lower than last year -19%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market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+2.6ptscompare to LY ADR -5.85% compare to LY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compare to LY.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area market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Occ is down around -5%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(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howver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it is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atill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negative when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LY) but ADR is lower than the market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aorunf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-3% (Gm said that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bc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one of them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compset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like COMO doesn't drop the rate down so make the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ADRaverage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index remain same to last year)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-0.9pts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Nana market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0" baseline="0" dirty="0">
                <a:solidFill>
                  <a:srgbClr val="FF0000"/>
                </a:solidFill>
              </a:rPr>
              <a:t>So, LS8 can so lesser than the </a:t>
            </a:r>
            <a:r>
              <a:rPr lang="en-US" sz="1100" b="0" baseline="0" dirty="0" err="1">
                <a:solidFill>
                  <a:srgbClr val="FF0000"/>
                </a:solidFill>
              </a:rPr>
              <a:t>market.since</a:t>
            </a:r>
            <a:r>
              <a:rPr lang="en-US" sz="1100" b="0" baseline="0" dirty="0">
                <a:solidFill>
                  <a:srgbClr val="FF0000"/>
                </a:solidFill>
              </a:rPr>
              <a:t> the market can do OCC better than last year. but LS do -.9pts drop compare to 2025 also ADR the </a:t>
            </a:r>
            <a:r>
              <a:rPr lang="en-US" sz="1100" b="0" baseline="0" dirty="0" err="1">
                <a:solidFill>
                  <a:srgbClr val="FF0000"/>
                </a:solidFill>
              </a:rPr>
              <a:t>markte</a:t>
            </a:r>
            <a:r>
              <a:rPr lang="en-US" sz="1100" b="0" baseline="0" dirty="0">
                <a:solidFill>
                  <a:srgbClr val="FF0000"/>
                </a:solidFill>
              </a:rPr>
              <a:t> </a:t>
            </a:r>
            <a:r>
              <a:rPr lang="en-US" sz="1100" b="0" baseline="0" dirty="0" err="1">
                <a:solidFill>
                  <a:srgbClr val="FF0000"/>
                </a:solidFill>
              </a:rPr>
              <a:t>Adr</a:t>
            </a:r>
            <a:r>
              <a:rPr lang="en-US" sz="1100" b="0" baseline="0" dirty="0">
                <a:solidFill>
                  <a:srgbClr val="FF0000"/>
                </a:solidFill>
              </a:rPr>
              <a:t> drop about -3% but LS drop by -5%.</a:t>
            </a: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89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663440"/>
          <a:ext cx="11064240" cy="181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Pattaya total revenue ฿170.2bn H1 (−3.2% vs LY) as international arrivals fell −5.4%; domestic visitors (62% of arrivals) cushion the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-2.0 pts   ·   ADR -0.3%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65E2FF1-C1E7-3EF5-CA78-AB0A9B82A60E}"/>
              </a:ext>
            </a:extLst>
          </p:cNvPr>
          <p:cNvSpPr/>
          <p:nvPr/>
        </p:nvSpPr>
        <p:spPr>
          <a:xfrm>
            <a:off x="548640" y="2595731"/>
            <a:ext cx="11064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2D90F8-C827-A0EE-479C-B7444D2860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013003"/>
              </p:ext>
            </p:extLst>
          </p:nvPr>
        </p:nvGraphicFramePr>
        <p:xfrm>
          <a:off x="548640" y="1638300"/>
          <a:ext cx="11091672" cy="89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2369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sz="11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SP  (occ rank 3 of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6292E"/>
                          </a:solidFill>
                          <a:latin typeface="Calibri"/>
                        </a:rPr>
                        <a:t>3,902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C0392B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6B7280"/>
                          </a:solidFill>
                          <a:latin typeface="Calibri"/>
                        </a:rPr>
                        <a:t>71.3%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42B809-6BD9-4579-8B4D-6060C6B6EC14}"/>
              </a:ext>
            </a:extLst>
          </p:cNvPr>
          <p:cNvSpPr/>
          <p:nvPr/>
        </p:nvSpPr>
        <p:spPr>
          <a:xfrm>
            <a:off x="7561748" y="632634"/>
            <a:ext cx="3699809" cy="55927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for Pattaya</a:t>
            </a:r>
            <a:r>
              <a:rPr lang="en-US" sz="1100" b="1" baseline="0" dirty="0">
                <a:solidFill>
                  <a:sysClr val="windowText" lastClr="000000"/>
                </a:solidFill>
              </a:rPr>
              <a:t> :</a:t>
            </a: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Spending in 2026 is less than 2025 and 2026 around -3% both year but in 2026 the data missing for 4 day.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Arrival in PTY of 2026 is lower than 2025 -2.7%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the STR data of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pattaya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market, Occ is lower -3% but ADR is similar. Turn to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revapar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 -3%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However, if scope down to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compeet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of our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peroperty</a:t>
            </a:r>
            <a:r>
              <a:rPr lang="en-US" sz="1100" baseline="0" dirty="0">
                <a:solidFill>
                  <a:sysClr val="windowText" lastClr="000000"/>
                </a:solidFill>
              </a:rPr>
              <a:t>. H1 26vs 25 occ -3% ADr-6%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resuting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revper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- 9%</a:t>
            </a:r>
          </a:p>
          <a:p>
            <a:pPr algn="l"/>
            <a:endParaRPr lang="en-US" sz="110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dirty="0">
                <a:solidFill>
                  <a:sysClr val="windowText" lastClr="000000"/>
                </a:solidFill>
              </a:rPr>
              <a:t>Our property</a:t>
            </a:r>
          </a:p>
          <a:p>
            <a:pPr algn="l"/>
            <a:r>
              <a:rPr lang="en-US" sz="1100" dirty="0">
                <a:solidFill>
                  <a:sysClr val="windowText" lastClr="000000"/>
                </a:solidFill>
              </a:rPr>
              <a:t>Occ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+ 3.7% from last year.</a:t>
            </a: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ADR -4.9% from LY</a:t>
            </a:r>
          </a:p>
          <a:p>
            <a:pPr algn="l"/>
            <a:r>
              <a:rPr lang="en-US" sz="110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+0.2% from LY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rgbClr val="00B050"/>
                </a:solidFill>
              </a:rPr>
              <a:t>So SP is better from the market.</a:t>
            </a:r>
          </a:p>
        </p:txBody>
      </p:sp>
    </p:spTree>
    <p:extLst>
      <p:ext uri="{BB962C8B-B14F-4D97-AF65-F5344CB8AC3E}">
        <p14:creationId xmlns:p14="http://schemas.microsoft.com/office/powerpoint/2010/main" val="3469821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8499</TotalTime>
  <Words>10106</Words>
  <Application>Microsoft Office PowerPoint</Application>
  <PresentationFormat>Widescreen</PresentationFormat>
  <Paragraphs>3399</Paragraphs>
  <Slides>53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4</cp:revision>
  <dcterms:created xsi:type="dcterms:W3CDTF">2026-07-24T09:01:49Z</dcterms:created>
  <dcterms:modified xsi:type="dcterms:W3CDTF">2026-07-30T08:15:37Z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