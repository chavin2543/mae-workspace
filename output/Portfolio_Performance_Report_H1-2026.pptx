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1" r:id="rId10"/>
    <p:sldId id="263" r:id="rId12"/>
    <p:sldId id="264" r:id="rId15"/>
    <p:sldId id="302" r:id="rId16"/>
    <p:sldId id="304" r:id="rId17"/>
    <p:sldId id="266" r:id="rId18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274" r:id="rId36"/>
    <p:sldId id="280" r:id="rId37"/>
    <p:sldId id="282" r:id="rId38"/>
    <p:sldId id="285" r:id="rId39"/>
    <p:sldId id="283" r:id="rId40"/>
    <p:sldId id="281" r:id="rId43"/>
    <p:sldId id="287" r:id="rId44"/>
    <p:sldId id="289" r:id="rId45"/>
    <p:sldId id="292" r:id="rId46"/>
    <p:sldId id="290" r:id="rId47"/>
    <p:sldId id="288" r:id="rId50"/>
    <p:sldId id="294" r:id="rId51"/>
    <p:sldId id="296" r:id="rId52"/>
    <p:sldId id="299" r:id="rId53"/>
    <p:sldId id="297" r:id="rId54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slide" Target="slides/slide6.xml"/><Relationship Id="rId12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7" Type="http://schemas.openxmlformats.org/officeDocument/2006/relationships/slide" Target="slides/slide38.xml"/><Relationship Id="rId58" Type="http://schemas.openxmlformats.org/officeDocument/2006/relationships/slide" Target="slides/slide39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4828032"/>
          <a:ext cx="5029200" cy="1234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011680"/>
                <a:gridCol w="155448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(Jan–Jun)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vs prior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12,914,691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920240"/>
          <a:ext cx="5349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920240"/>
          <a:ext cx="5349240" cy="3291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303520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303520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1560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43400"/>
          <a:ext cx="9692640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23559"/>
            <a:ext cx="1088136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By class (H1 26 vs 25): Luxury is the only class holding rate (+1.1%) — every other class cut ADR while occupancy recovered, the market-wide version of the rate-for-volume trade. Full 2023–2026 series in the STR_Bangkok_by_segment workbook.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80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982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7223760" cy="187452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5105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48640" y="5687568"/>
          <a:ext cx="736092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1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8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8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82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99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891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15968"/>
          <a:ext cx="9326880" cy="1975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188720"/>
                <a:gridCol w="1188720"/>
                <a:gridCol w="1005840"/>
                <a:gridCol w="868680"/>
                <a:gridCol w="1188720"/>
                <a:gridCol w="1188720"/>
                <a:gridCol w="1005840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45720" marR="45720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