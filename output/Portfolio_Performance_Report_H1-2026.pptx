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29.xml" ContentType="application/vnd.openxmlformats-officedocument.drawingml.chart+xml"/>
  <Override PartName="/ppt/charts/chart3.xml" ContentType="application/vnd.openxmlformats-officedocument.drawingml.chart+xml"/>
  <Override PartName="/ppt/charts/chart30.xml" ContentType="application/vnd.openxmlformats-officedocument.drawingml.chart+xml"/>
  <Override PartName="/ppt/charts/chart31.xml" ContentType="application/vnd.openxmlformats-officedocument.drawingml.chart+xml"/>
  <Override PartName="/ppt/charts/chart32.xml" ContentType="application/vnd.openxmlformats-officedocument.drawingml.chart+xml"/>
  <Override PartName="/ppt/charts/chart33.xml" ContentType="application/vnd.openxmlformats-officedocument.drawingml.chart+xml"/>
  <Override PartName="/ppt/charts/chart34.xml" ContentType="application/vnd.openxmlformats-officedocument.drawingml.chart+xml"/>
  <Override PartName="/ppt/charts/chart35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40"/>
  </p:notesMasterIdLst>
  <p:sldIdLst>
    <p:sldId id="256" r:id="rId5"/>
    <p:sldId id="258" r:id="rId6"/>
    <p:sldId id="259" r:id="rId7"/>
    <p:sldId id="261" r:id="rId8"/>
    <p:sldId id="263" r:id="rId9"/>
    <p:sldId id="302" r:id="rId10"/>
    <p:sldId id="304" r:id="rId11"/>
    <p:sldId id="266" r:id="rId12"/>
    <p:sldId id="303" r:id="rId13"/>
    <p:sldId id="305" r:id="rId14"/>
    <p:sldId id="267" r:id="rId15"/>
    <p:sldId id="270" r:id="rId16"/>
    <p:sldId id="272" r:id="rId17"/>
    <p:sldId id="271" r:id="rId18"/>
    <p:sldId id="273" r:id="rId19"/>
    <p:sldId id="275" r:id="rId20"/>
    <p:sldId id="278" r:id="rId21"/>
    <p:sldId id="276" r:id="rId22"/>
    <p:sldId id="274" r:id="rId23"/>
    <p:sldId id="280" r:id="rId24"/>
    <p:sldId id="282" r:id="rId25"/>
    <p:sldId id="285" r:id="rId26"/>
    <p:sldId id="283" r:id="rId27"/>
    <p:sldId id="281" r:id="rId28"/>
    <p:sldId id="287" r:id="rId29"/>
    <p:sldId id="289" r:id="rId30"/>
    <p:sldId id="292" r:id="rId31"/>
    <p:sldId id="290" r:id="rId32"/>
    <p:sldId id="288" r:id="rId33"/>
    <p:sldId id="294" r:id="rId34"/>
    <p:sldId id="296" r:id="rId35"/>
    <p:sldId id="299" r:id="rId36"/>
    <p:sldId id="297" r:id="rId37"/>
    <p:sldId id="295" r:id="rId38"/>
    <p:sldId id="306" r:id="rId39"/>
    <p:sldId id="307" r:id="rId46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3447" autoAdjust="0"/>
  </p:normalViewPr>
  <p:slideViewPr>
    <p:cSldViewPr snapToGrid="0" snapToObjects="1">
      <p:cViewPr varScale="1">
        <p:scale>
          <a:sx n="103" d="100"/>
          <a:sy n="103" d="100"/>
        </p:scale>
        <p:origin x="87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notesMaster" Target="notesMasters/notesMaster1.xml"/><Relationship Id="rId41" Type="http://schemas.openxmlformats.org/officeDocument/2006/relationships/presProps" Target="presProps.xml"/><Relationship Id="rId42" Type="http://schemas.openxmlformats.org/officeDocument/2006/relationships/viewProps" Target="viewProps.xml"/><Relationship Id="rId43" Type="http://schemas.openxmlformats.org/officeDocument/2006/relationships/theme" Target="theme/theme1.xml"/><Relationship Id="rId44" Type="http://schemas.openxmlformats.org/officeDocument/2006/relationships/tableStyles" Target="tableStyles.xml"/><Relationship Id="rId45" Type="http://schemas.microsoft.com/office/2016/11/relationships/changesInfo" Target="changesInfos/changesInfo1.xml"/><Relationship Id="rId46" Type="http://schemas.openxmlformats.org/officeDocument/2006/relationships/slide" Target="slides/slide36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riya Ariyachotima" userId="f22a3ca4-3a6d-4c65-b653-23a8a8731658" providerId="ADAL" clId="{71B5FC91-683F-46EF-ACD9-9D73290113E9}"/>
    <pc:docChg chg="modSld">
      <pc:chgData name="Ariya Ariyachotima" userId="f22a3ca4-3a6d-4c65-b653-23a8a8731658" providerId="ADAL" clId="{71B5FC91-683F-46EF-ACD9-9D73290113E9}" dt="2026-07-24T10:36:18.768" v="8" actId="20577"/>
      <pc:docMkLst>
        <pc:docMk/>
      </pc:docMkLst>
      <pc:sldChg chg="modSp mod">
        <pc:chgData name="Ariya Ariyachotima" userId="f22a3ca4-3a6d-4c65-b653-23a8a8731658" providerId="ADAL" clId="{71B5FC91-683F-46EF-ACD9-9D73290113E9}" dt="2026-07-24T10:12:21.574" v="0" actId="207"/>
        <pc:sldMkLst>
          <pc:docMk/>
          <pc:sldMk cId="0" sldId="267"/>
        </pc:sldMkLst>
        <pc:spChg chg="mod">
          <ac:chgData name="Ariya Ariyachotima" userId="f22a3ca4-3a6d-4c65-b653-23a8a8731658" providerId="ADAL" clId="{71B5FC91-683F-46EF-ACD9-9D73290113E9}" dt="2026-07-24T10:12:21.574" v="0" actId="207"/>
          <ac:spMkLst>
            <pc:docMk/>
            <pc:sldMk cId="0" sldId="267"/>
            <ac:spMk id="9" creationId="{00000000-0000-0000-0000-000000000000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6.393" v="6" actId="20577"/>
        <pc:sldMkLst>
          <pc:docMk/>
          <pc:sldMk cId="1283255815" sldId="302"/>
        </pc:sldMkLst>
        <pc:spChg chg="mod">
          <ac:chgData name="Ariya Ariyachotima" userId="f22a3ca4-3a6d-4c65-b653-23a8a8731658" providerId="ADAL" clId="{71B5FC91-683F-46EF-ACD9-9D73290113E9}" dt="2026-07-24T10:36:16.393" v="6" actId="20577"/>
          <ac:spMkLst>
            <pc:docMk/>
            <pc:sldMk cId="1283255815" sldId="302"/>
            <ac:spMk id="2" creationId="{6079A81D-15BF-EB2A-A929-89FBC8E2147F}"/>
          </ac:spMkLst>
        </pc:spChg>
      </pc:sldChg>
      <pc:sldChg chg="modSp mod">
        <pc:chgData name="Ariya Ariyachotima" userId="f22a3ca4-3a6d-4c65-b653-23a8a8731658" providerId="ADAL" clId="{71B5FC91-683F-46EF-ACD9-9D73290113E9}" dt="2026-07-24T10:36:18.768" v="8" actId="20577"/>
        <pc:sldMkLst>
          <pc:docMk/>
          <pc:sldMk cId="493236828" sldId="303"/>
        </pc:sldMkLst>
        <pc:spChg chg="mod">
          <ac:chgData name="Ariya Ariyachotima" userId="f22a3ca4-3a6d-4c65-b653-23a8a8731658" providerId="ADAL" clId="{71B5FC91-683F-46EF-ACD9-9D73290113E9}" dt="2026-07-24T10:36:18.768" v="8" actId="20577"/>
          <ac:spMkLst>
            <pc:docMk/>
            <pc:sldMk cId="493236828" sldId="303"/>
            <ac:spMk id="2" creationId="{073B7DB2-D012-32E1-1B91-CDBEEE14DD8D}"/>
          </ac:spMkLst>
        </pc:sp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1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2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3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4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5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6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7.xlsx"/></Relationships>
</file>

<file path=ppt/charts/_rels/chart2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8.xlsx"/></Relationships>
</file>

<file path=ppt/charts/_rels/chart3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9.xlsx"/></Relationships>
</file>

<file path=ppt/charts/_rels/chart3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0.xlsx"/></Relationships>
</file>

<file path=ppt/charts/_rels/chart3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1.xlsx"/></Relationships>
</file>

<file path=ppt/charts/_rels/chart3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2.xlsx"/></Relationships>
</file>

<file path=ppt/charts/_rels/chart3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3.xlsx"/></Relationships>
</file>

<file path=ppt/charts/_rels/chart3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Sheet1!$B$2:$B$13</c:f>
              <c:numCache>
                <c:formatCode>General</c:formatCode>
                <c:ptCount val="12"/>
                <c:pt idx="0">
                  <c:v>3035296</c:v>
                </c:pt>
                <c:pt idx="1">
                  <c:v>3352302</c:v>
                </c:pt>
                <c:pt idx="2">
                  <c:v>2982721</c:v>
                </c:pt>
                <c:pt idx="3">
                  <c:v>2757128</c:v>
                </c:pt>
                <c:pt idx="4">
                  <c:v>2633464</c:v>
                </c:pt>
                <c:pt idx="5">
                  <c:v>2740372</c:v>
                </c:pt>
                <c:pt idx="6">
                  <c:v>3103420</c:v>
                </c:pt>
                <c:pt idx="7">
                  <c:v>2963147</c:v>
                </c:pt>
                <c:pt idx="8">
                  <c:v>2521005</c:v>
                </c:pt>
                <c:pt idx="9">
                  <c:v>2679180</c:v>
                </c:pt>
                <c:pt idx="10">
                  <c:v>3150237</c:v>
                </c:pt>
                <c:pt idx="11">
                  <c:v>3627442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4B-44A5-8F07-E307CA03968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Sheet1!$C$2:$C$13</c:f>
              <c:numCache>
                <c:formatCode>General</c:formatCode>
                <c:ptCount val="12"/>
                <c:pt idx="0">
                  <c:v>3709102</c:v>
                </c:pt>
                <c:pt idx="1">
                  <c:v>3119445</c:v>
                </c:pt>
                <c:pt idx="2">
                  <c:v>2720457</c:v>
                </c:pt>
                <c:pt idx="3">
                  <c:v>2547116</c:v>
                </c:pt>
                <c:pt idx="4">
                  <c:v>2266574</c:v>
                </c:pt>
                <c:pt idx="5">
                  <c:v>2322775</c:v>
                </c:pt>
                <c:pt idx="6">
                  <c:v>2610369</c:v>
                </c:pt>
                <c:pt idx="7">
                  <c:v>2583638</c:v>
                </c:pt>
                <c:pt idx="8">
                  <c:v>2235852</c:v>
                </c:pt>
                <c:pt idx="9">
                  <c:v>2573743</c:v>
                </c:pt>
                <c:pt idx="10">
                  <c:v>2914810</c:v>
                </c:pt>
                <c:pt idx="11">
                  <c:v>3370440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4B-44A5-8F07-E307CA03968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Sheet1!$A$2:$A$13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Sheet1!$D$2:$D$13</c:f>
              <c:numCache>
                <c:formatCode>General</c:formatCode>
                <c:ptCount val="12"/>
                <c:pt idx="0">
                  <c:v>3277908</c:v>
                </c:pt>
                <c:pt idx="1">
                  <c:v>3263802</c:v>
                </c:pt>
                <c:pt idx="2">
                  <c:v>2775199</c:v>
                </c:pt>
                <c:pt idx="3">
                  <c:v>2368895</c:v>
                </c:pt>
                <c:pt idx="4">
                  <c:v>2346845</c:v>
                </c:pt>
                <c:pt idx="5">
                  <c:v>1841551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354B-44A5-8F07-E307CA03968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1069787</c:v>
                </c:pt>
                <c:pt idx="1">
                  <c:v>1064806</c:v>
                </c:pt>
                <c:pt idx="2">
                  <c:v>985232</c:v>
                </c:pt>
                <c:pt idx="3">
                  <c:v>898994</c:v>
                </c:pt>
                <c:pt idx="4">
                  <c:v>794913</c:v>
                </c:pt>
                <c:pt idx="5">
                  <c:v>894105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8AA-439B-923F-F7993838E3F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508563</c:v>
                </c:pt>
                <c:pt idx="1">
                  <c:v>674558</c:v>
                </c:pt>
                <c:pt idx="2">
                  <c:v>573216</c:v>
                </c:pt>
                <c:pt idx="3">
                  <c:v>595572</c:v>
                </c:pt>
                <c:pt idx="4">
                  <c:v>559461</c:v>
                </c:pt>
                <c:pt idx="5">
                  <c:v>528112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8AA-439B-923F-F7993838E3F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662779</c:v>
                </c:pt>
                <c:pt idx="1">
                  <c:v>371542</c:v>
                </c:pt>
                <c:pt idx="2">
                  <c:v>297113</c:v>
                </c:pt>
                <c:pt idx="3">
                  <c:v>317213</c:v>
                </c:pt>
                <c:pt idx="4">
                  <c:v>310292</c:v>
                </c:pt>
                <c:pt idx="5">
                  <c:v>306617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8AA-439B-923F-F7993838E3F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400321</c:v>
                </c:pt>
                <c:pt idx="1">
                  <c:v>677768</c:v>
                </c:pt>
                <c:pt idx="2">
                  <c:v>410624</c:v>
                </c:pt>
                <c:pt idx="3">
                  <c:v>418291</c:v>
                </c:pt>
                <c:pt idx="4">
                  <c:v>411308</c:v>
                </c:pt>
                <c:pt idx="5">
                  <c:v>283297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8AA-439B-923F-F7993838E3F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162831</c:v>
                </c:pt>
                <c:pt idx="1">
                  <c:v>148992</c:v>
                </c:pt>
                <c:pt idx="2">
                  <c:v>161129</c:v>
                </c:pt>
                <c:pt idx="3">
                  <c:v>170635</c:v>
                </c:pt>
                <c:pt idx="4">
                  <c:v>198993</c:v>
                </c:pt>
                <c:pt idx="5">
                  <c:v>197489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AE1-430E-8329-BF727804A79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185809</c:v>
                </c:pt>
                <c:pt idx="1">
                  <c:v>169988</c:v>
                </c:pt>
                <c:pt idx="2">
                  <c:v>187973</c:v>
                </c:pt>
                <c:pt idx="3">
                  <c:v>206286</c:v>
                </c:pt>
                <c:pt idx="4">
                  <c:v>228544</c:v>
                </c:pt>
                <c:pt idx="5">
                  <c:v>205299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AE1-430E-8329-BF727804A79A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231184</c:v>
                </c:pt>
                <c:pt idx="1">
                  <c:v>185930</c:v>
                </c:pt>
                <c:pt idx="2">
                  <c:v>208484</c:v>
                </c:pt>
                <c:pt idx="3">
                  <c:v>206641</c:v>
                </c:pt>
                <c:pt idx="4">
                  <c:v>224490</c:v>
                </c:pt>
                <c:pt idx="5">
                  <c:v>163378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AE1-430E-8329-BF727804A79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2019</c:v>
                </c:pt>
              </c:strCache>
            </c:strRef>
          </c:tx>
          <c:spPr>
            <a:solidFill>
              <a:srgbClr val="AEB6C2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94365</c:v>
                </c:pt>
                <c:pt idx="1">
                  <c:v>85613</c:v>
                </c:pt>
                <c:pt idx="2">
                  <c:v>101002</c:v>
                </c:pt>
                <c:pt idx="3">
                  <c:v>91897</c:v>
                </c:pt>
                <c:pt idx="4">
                  <c:v>95246</c:v>
                </c:pt>
                <c:pt idx="5">
                  <c:v>93648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85-498E-BD41-AD4A2A527E5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44223</c:v>
                </c:pt>
                <c:pt idx="1">
                  <c:v>35346</c:v>
                </c:pt>
                <c:pt idx="2">
                  <c:v>8455</c:v>
                </c:pt>
                <c:pt idx="3">
                  <c:v>45071</c:v>
                </c:pt>
                <c:pt idx="4">
                  <c:v>44106</c:v>
                </c:pt>
                <c:pt idx="5">
                  <c:v>97083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85-498E-BD41-AD4A2A527E5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49839</c:v>
                </c:pt>
                <c:pt idx="1">
                  <c:v>32831</c:v>
                </c:pt>
                <c:pt idx="2">
                  <c:v>18708</c:v>
                </c:pt>
                <c:pt idx="3">
                  <c:v>50561</c:v>
                </c:pt>
                <c:pt idx="4">
                  <c:v>48650</c:v>
                </c:pt>
                <c:pt idx="5">
                  <c:v>82462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485-498E-BD41-AD4A2A527E5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52261</c:v>
                </c:pt>
                <c:pt idx="1">
                  <c:v>15814</c:v>
                </c:pt>
                <c:pt idx="2">
                  <c:v>12201</c:v>
                </c:pt>
                <c:pt idx="3">
                  <c:v>21707</c:v>
                </c:pt>
                <c:pt idx="4">
                  <c:v>47726</c:v>
                </c:pt>
                <c:pt idx="5">
                  <c:v>52702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485-498E-BD41-AD4A2A527E5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1026029</c:v>
                </c:pt>
                <c:pt idx="1">
                  <c:v>987508</c:v>
                </c:pt>
                <c:pt idx="2">
                  <c:v>901645</c:v>
                </c:pt>
                <c:pt idx="3">
                  <c:v>631332</c:v>
                </c:pt>
                <c:pt idx="4">
                  <c:v>440983</c:v>
                </c:pt>
                <c:pt idx="5">
                  <c:v>432499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C22A-41DB-B165-89D079F54AA1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1257708</c:v>
                </c:pt>
                <c:pt idx="1">
                  <c:v>1156356</c:v>
                </c:pt>
                <c:pt idx="2">
                  <c:v>1006483</c:v>
                </c:pt>
                <c:pt idx="3">
                  <c:v>771553</c:v>
                </c:pt>
                <c:pt idx="4">
                  <c:v>465502</c:v>
                </c:pt>
                <c:pt idx="5">
                  <c:v>451775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C22A-41DB-B165-89D079F54AA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1366171</c:v>
                </c:pt>
                <c:pt idx="1">
                  <c:v>1202154</c:v>
                </c:pt>
                <c:pt idx="2">
                  <c:v>967437</c:v>
                </c:pt>
                <c:pt idx="3">
                  <c:v>666472</c:v>
                </c:pt>
                <c:pt idx="4">
                  <c:v>467734</c:v>
                </c:pt>
                <c:pt idx="5">
                  <c:v>380136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C22A-41DB-B165-89D079F54AA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t"/>
      <c:overlay val="0"/>
    </c:legend>
    <c:plotVisOnly val="1"/>
    <c:dispBlanksAs val="gap"/>
    <c:showDLblsOverMax val="1"/>
  </c:chart>
  <c:txPr>
    <a:bodyPr/>
    <a:lstStyle/>
    <a:p>
      <a:pPr>
        <a:defRPr sz="900">
          <a:latin typeface="Calibri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15.62</c:v>
                </c:pt>
                <c:pt idx="1">
                  <c:v>14.83</c:v>
                </c:pt>
                <c:pt idx="2">
                  <c:v>14.55</c:v>
                </c:pt>
                <c:pt idx="3">
                  <c:v>15.45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3A2C-471C-BF67-EBD171204F8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11.62</c:v>
                </c:pt>
                <c:pt idx="1">
                  <c:v>13.49</c:v>
                </c:pt>
                <c:pt idx="2">
                  <c:v>12.43</c:v>
                </c:pt>
                <c:pt idx="3">
                  <c:v>12.42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3A2C-471C-BF67-EBD171204F8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27.23</c:v>
                </c:pt>
                <c:pt idx="1">
                  <c:v>28.32</c:v>
                </c:pt>
                <c:pt idx="2">
                  <c:v>26.98</c:v>
                </c:pt>
                <c:pt idx="3">
                  <c:v>27.86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3A2C-471C-BF67-EBD171204F8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  <a:endParaRPr lang="en-US"/>
          </a:p>
        </c:txPr>
        <c:crossAx val="-2068027336"/>
        <c:crosses val="autoZero"/>
        <c:crossBetween val="between"/>
      </c:valAx>
    </c:plotArea>
    <c:legend>
      <c:legendPos val="b"/>
      <c:overlay val="0"/>
      <c:txPr>
        <a:bodyPr/>
        <a:lstStyle/>
        <a:p>
          <a:pPr>
            <a:defRPr sz="1400"/>
          </a:pPr>
          <a:endParaRPr lang="en-US"/>
        </a:p>
      </c:txPr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77.52</c:v>
                </c:pt>
                <c:pt idx="1">
                  <c:v>78.64</c:v>
                </c:pt>
                <c:pt idx="2">
                  <c:v>68.819999999999993</c:v>
                </c:pt>
                <c:pt idx="3">
                  <c:v>62.29</c:v>
                </c:pt>
                <c:pt idx="4">
                  <c:v>63.27</c:v>
                </c:pt>
                <c:pt idx="5">
                  <c:v>63.65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FA5-4170-BABD-F3C4CFAC4D74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75.69</c:v>
                </c:pt>
                <c:pt idx="1">
                  <c:v>80.86</c:v>
                </c:pt>
                <c:pt idx="2">
                  <c:v>73.25</c:v>
                </c:pt>
                <c:pt idx="3">
                  <c:v>64.67</c:v>
                </c:pt>
                <c:pt idx="4">
                  <c:v>65.36</c:v>
                </c:pt>
                <c:pt idx="5">
                  <c:v>63.87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FA5-4170-BABD-F3C4CFAC4D7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4605.45</c:v>
                </c:pt>
                <c:pt idx="1">
                  <c:v>4286.41</c:v>
                </c:pt>
                <c:pt idx="2">
                  <c:v>3890.63</c:v>
                </c:pt>
                <c:pt idx="3">
                  <c:v>3869</c:v>
                </c:pt>
                <c:pt idx="4">
                  <c:v>3638.97</c:v>
                </c:pt>
                <c:pt idx="5">
                  <c:v>3572.01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9B7-4650-99F9-F81ABD5824E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3"/>
              <c:layout>
                <c:manualLayout>
                  <c:x val="1.4064697609001406E-2"/>
                  <c:y val="-1.6339869281045777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F484-4D39-8ECA-6620D640AD96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4279.7</c:v>
                </c:pt>
                <c:pt idx="1">
                  <c:v>4348.93</c:v>
                </c:pt>
                <c:pt idx="2">
                  <c:v>3941.53</c:v>
                </c:pt>
                <c:pt idx="3">
                  <c:v>3841.97</c:v>
                </c:pt>
                <c:pt idx="4">
                  <c:v>3617.64</c:v>
                </c:pt>
                <c:pt idx="5">
                  <c:v>3561.51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9B7-4650-99F9-F81ABD5824E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3569.98</c:v>
                </c:pt>
                <c:pt idx="1">
                  <c:v>3370.82</c:v>
                </c:pt>
                <c:pt idx="2">
                  <c:v>2677.46</c:v>
                </c:pt>
                <c:pt idx="3">
                  <c:v>2409.86</c:v>
                </c:pt>
                <c:pt idx="4">
                  <c:v>2302.2399999999998</c:v>
                </c:pt>
                <c:pt idx="5">
                  <c:v>2273.5700000000002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6804-4804-A496-A00E8A92874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dLbl>
              <c:idx val="2"/>
              <c:layout>
                <c:manualLayout>
                  <c:x val="-6.4462452698835405E-17"/>
                  <c:y val="-1.6339869281045753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9D49-452B-84B8-37BC5ED0BA6E}"/>
                </c:ext>
              </c:extLst>
            </c:dLbl>
            <c:dLbl>
              <c:idx val="3"/>
              <c:layout>
                <c:manualLayout>
                  <c:x val="0"/>
                  <c:y val="-3.2679738562091505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0-9D49-452B-84B8-37BC5ED0BA6E}"/>
                </c:ext>
              </c:extLst>
            </c:dLbl>
            <c:dLbl>
              <c:idx val="4"/>
              <c:layout>
                <c:manualLayout>
                  <c:x val="-1.2892490539767081E-16"/>
                  <c:y val="-1.6339869281045801E-2"/>
                </c:manualLayout>
              </c:layout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9D49-452B-84B8-37BC5ED0BA6E}"/>
                </c:ext>
              </c:extLst>
            </c:dLbl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3239.27</c:v>
                </c:pt>
                <c:pt idx="1">
                  <c:v>3516.46</c:v>
                </c:pt>
                <c:pt idx="2">
                  <c:v>2887.33</c:v>
                </c:pt>
                <c:pt idx="3">
                  <c:v>2484.6</c:v>
                </c:pt>
                <c:pt idx="4">
                  <c:v>2364.44</c:v>
                </c:pt>
                <c:pt idx="5">
                  <c:v>2274.62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6804-4804-A496-A00E8A92874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0.36808227294373014"/>
          <c:y val="0.90150918635170607"/>
          <c:w val="0.26383517724841354"/>
          <c:h val="9.8490813648293957E-2"/>
        </c:manualLayout>
      </c:layout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E2761"/>
                </a:solidFill>
                <a:latin typeface="Calibri"/>
              </a:rPr>
              <a:t>Tourist arrivals H1 (millions)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Domestic</c:v>
                </c:pt>
              </c:strCache>
            </c:strRef>
          </c:tx>
          <c:spPr>
            <a:solidFill>
              <a:srgbClr val="C9D6EE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7.12</c:v>
                </c:pt>
                <c:pt idx="1">
                  <c:v>7.57</c:v>
                </c:pt>
                <c:pt idx="2">
                  <c:v>8.4499999999999993</c:v>
                </c:pt>
                <c:pt idx="3">
                  <c:v>8.3800000000000008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0-FF1D-449F-835B-98E82FD5A41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International</c:v>
                </c:pt>
              </c:strCache>
            </c:strRef>
          </c:tx>
          <c:spPr>
            <a:solidFill>
              <a:srgbClr val="1E276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4.7</c:v>
                </c:pt>
                <c:pt idx="1">
                  <c:v>5.78</c:v>
                </c:pt>
                <c:pt idx="2">
                  <c:v>5.42</c:v>
                </c:pt>
                <c:pt idx="3">
                  <c:v>5.13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1-FF1D-449F-835B-98E82FD5A4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rgbClr val="D9A441"/>
            </a:solidFill>
          </c:spPr>
          <c:invertIfNegative val="1"/>
          <c:cat>
            <c:strRef>
              <c:f>Sheet1!$A$2:$A$5</c:f>
              <c:strCache>
                <c:ptCount val="4"/>
                <c:pt idx="0">
                  <c:v>2023</c:v>
                </c:pt>
                <c:pt idx="1">
                  <c:v>2024</c:v>
                </c:pt>
                <c:pt idx="2">
                  <c:v>2025</c:v>
                </c:pt>
                <c:pt idx="3">
                  <c:v>2026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11.82</c:v>
                </c:pt>
                <c:pt idx="1">
                  <c:v>13.35</c:v>
                </c:pt>
                <c:pt idx="2">
                  <c:v>13.87</c:v>
                </c:pt>
                <c:pt idx="3">
                  <c:v>13.51</c:v>
                </c:pt>
              </c:numCache>
            </c:numRef>
          </c:val>
          <c:extLst>
            <c:ext xmlns:c14="http://schemas.microsoft.com/office/drawing/2007/8/2/chart" uri="{6F2FDCE9-48DA-4B69-8628-5D25D57E5C99}">
              <c14:invertSolidFillFmt>
                <c14:spPr xmlns:c14="http://schemas.microsoft.com/office/drawing/2007/8/2/chart">
                  <a:solidFill>
                    <a:srgbClr val="FFFFFF"/>
                  </a:solidFill>
                </c14:spPr>
              </c14:invertSolidFillFmt>
            </c:ext>
            <c:ext xmlns:c16="http://schemas.microsoft.com/office/drawing/2014/chart" uri="{C3380CC4-5D6E-409C-BE32-E72D297353CC}">
              <c16:uniqueId val="{00000002-FF1D-449F-835B-98E82FD5A4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numFmt formatCode="General" sourceLinked="0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068027336"/>
        <c:crosses val="autoZero"/>
        <c:crossBetween val="between"/>
      </c:valAx>
    </c:plotArea>
    <c:legend>
      <c:legendPos val="b"/>
      <c:overlay val="0"/>
    </c:legend>
    <c:plotVisOnly val="1"/>
    <c:dispBlanksAs val="gap"/>
    <c:showDLblsOverMax val="1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Occupancy (%)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79.099999999999994</c:v>
                </c:pt>
                <c:pt idx="1">
                  <c:v>73.8</c:v>
                </c:pt>
                <c:pt idx="2">
                  <c:v>68.8</c:v>
                </c:pt>
                <c:pt idx="3">
                  <c:v>63.9</c:v>
                </c:pt>
                <c:pt idx="4">
                  <c:v>58.7</c:v>
                </c:pt>
                <c:pt idx="5">
                  <c:v>54.5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303-418E-A737-F48065E28C6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74.3</c:v>
                </c:pt>
                <c:pt idx="1">
                  <c:v>74.599999999999994</c:v>
                </c:pt>
                <c:pt idx="2">
                  <c:v>69.400000000000006</c:v>
                </c:pt>
                <c:pt idx="3">
                  <c:v>63.8</c:v>
                </c:pt>
                <c:pt idx="4">
                  <c:v>53.6</c:v>
                </c:pt>
                <c:pt idx="5">
                  <c:v>51.4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303-418E-A737-F48065E28C6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ADR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3970.74</c:v>
                </c:pt>
                <c:pt idx="1">
                  <c:v>3554.74</c:v>
                </c:pt>
                <c:pt idx="2">
                  <c:v>3320.1</c:v>
                </c:pt>
                <c:pt idx="3">
                  <c:v>3524.93</c:v>
                </c:pt>
                <c:pt idx="4">
                  <c:v>3254.5</c:v>
                </c:pt>
                <c:pt idx="5">
                  <c:v>3006.11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C41-430F-BD89-9F4BEDFC74D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3733</c:v>
                </c:pt>
                <c:pt idx="1">
                  <c:v>3932</c:v>
                </c:pt>
                <c:pt idx="2">
                  <c:v>3341</c:v>
                </c:pt>
                <c:pt idx="3">
                  <c:v>3510</c:v>
                </c:pt>
                <c:pt idx="4">
                  <c:v>3115</c:v>
                </c:pt>
                <c:pt idx="5">
                  <c:v>2921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C41-430F-BD89-9F4BEDFC74D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RevPAR (THB)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3140.86</c:v>
                </c:pt>
                <c:pt idx="1">
                  <c:v>2623.4</c:v>
                </c:pt>
                <c:pt idx="2">
                  <c:v>2284.23</c:v>
                </c:pt>
                <c:pt idx="3">
                  <c:v>2252.4299999999998</c:v>
                </c:pt>
                <c:pt idx="4">
                  <c:v>1910.39</c:v>
                </c:pt>
                <c:pt idx="5">
                  <c:v>1638.33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539-41ED-BD4C-46D14D4EF95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2773.62</c:v>
                </c:pt>
                <c:pt idx="1">
                  <c:v>2933.27</c:v>
                </c:pt>
                <c:pt idx="2">
                  <c:v>2318.65</c:v>
                </c:pt>
                <c:pt idx="3">
                  <c:v>2239.38</c:v>
                </c:pt>
                <c:pt idx="4">
                  <c:v>1669.64</c:v>
                </c:pt>
                <c:pt idx="5">
                  <c:v>1501.39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539-41ED-BD4C-46D14D4EF95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2730.61</c:v>
                </c:pt>
                <c:pt idx="1">
                  <c:v>2981.88</c:v>
                </c:pt>
                <c:pt idx="2">
                  <c:v>2265.4699999999998</c:v>
                </c:pt>
                <c:pt idx="3">
                  <c:v>2090.5500000000002</c:v>
                </c:pt>
                <c:pt idx="4">
                  <c:v>1841.55</c:v>
                </c:pt>
                <c:pt idx="5">
                  <c:v>1856.88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2832.89</c:v>
                </c:pt>
                <c:pt idx="1">
                  <c:v>2930.13</c:v>
                </c:pt>
                <c:pt idx="2">
                  <c:v>2196.21</c:v>
                </c:pt>
                <c:pt idx="3">
                  <c:v>2340.37</c:v>
                </c:pt>
                <c:pt idx="4">
                  <c:v>2058</c:v>
                </c:pt>
                <c:pt idx="5">
                  <c:v>2015.7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938-4BD0-9BC4-1779E1420A4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3058.29</c:v>
                </c:pt>
                <c:pt idx="1">
                  <c:v>2793.16</c:v>
                </c:pt>
                <c:pt idx="2">
                  <c:v>2045.25</c:v>
                </c:pt>
                <c:pt idx="3">
                  <c:v>2130.85</c:v>
                </c:pt>
                <c:pt idx="4">
                  <c:v>1956.25</c:v>
                </c:pt>
                <c:pt idx="5">
                  <c:v>1852.03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A938-4BD0-9BC4-1779E1420A4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2549.8200000000002</c:v>
                </c:pt>
                <c:pt idx="1">
                  <c:v>3094.06</c:v>
                </c:pt>
                <c:pt idx="2">
                  <c:v>2490.73</c:v>
                </c:pt>
                <c:pt idx="3">
                  <c:v>2681.05</c:v>
                </c:pt>
                <c:pt idx="4">
                  <c:v>2184.6999999999998</c:v>
                </c:pt>
                <c:pt idx="5">
                  <c:v>2497.0700000000002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A938-4BD0-9BC4-1779E1420A4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111475897.26000001</c:v>
                </c:pt>
                <c:pt idx="1">
                  <c:v>126112350.23999999</c:v>
                </c:pt>
                <c:pt idx="2">
                  <c:v>109777270.98000002</c:v>
                </c:pt>
                <c:pt idx="3">
                  <c:v>113258166.72999999</c:v>
                </c:pt>
                <c:pt idx="4">
                  <c:v>96284030.989999995</c:v>
                </c:pt>
                <c:pt idx="5">
                  <c:v>106385076.2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36-4905-8B7A-7A386F3F9120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133807592.83000001</c:v>
                </c:pt>
                <c:pt idx="1">
                  <c:v>110119287.81999999</c:v>
                </c:pt>
                <c:pt idx="2">
                  <c:v>89952687.949999988</c:v>
                </c:pt>
                <c:pt idx="3">
                  <c:v>91434840.560000002</c:v>
                </c:pt>
                <c:pt idx="4">
                  <c:v>85699029.230000004</c:v>
                </c:pt>
                <c:pt idx="5">
                  <c:v>79340898.109999999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36-4905-8B7A-7A386F3F912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118442088.12</c:v>
                </c:pt>
                <c:pt idx="1">
                  <c:v>116700026.86</c:v>
                </c:pt>
                <c:pt idx="2">
                  <c:v>99275487.290000007</c:v>
                </c:pt>
                <c:pt idx="3">
                  <c:v>88366637.049999997</c:v>
                </c:pt>
                <c:pt idx="4">
                  <c:v>80532064.560000002</c:v>
                </c:pt>
                <c:pt idx="5">
                  <c:v>78588276.849999994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736-4905-8B7A-7A386F3F912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2584.46</c:v>
                </c:pt>
                <c:pt idx="1">
                  <c:v>2840.81</c:v>
                </c:pt>
                <c:pt idx="2">
                  <c:v>2283.83</c:v>
                </c:pt>
                <c:pt idx="3">
                  <c:v>2267.7399999999998</c:v>
                </c:pt>
                <c:pt idx="4">
                  <c:v>2029.21</c:v>
                </c:pt>
                <c:pt idx="5">
                  <c:v>2045.21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2875.9054000000001</c:v>
                </c:pt>
                <c:pt idx="1">
                  <c:v>2698.8366000000001</c:v>
                </c:pt>
                <c:pt idx="2">
                  <c:v>2275.9744999999998</c:v>
                </c:pt>
                <c:pt idx="3">
                  <c:v>2218.3143</c:v>
                </c:pt>
                <c:pt idx="4">
                  <c:v>2087.6923000000002</c:v>
                </c:pt>
                <c:pt idx="5">
                  <c:v>2076.6554000000001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4863-4432-BC37-0F1FC745151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2830.4776999999999</c:v>
                </c:pt>
                <c:pt idx="1">
                  <c:v>2684.1437999999998</c:v>
                </c:pt>
                <c:pt idx="2">
                  <c:v>2204.3263000000002</c:v>
                </c:pt>
                <c:pt idx="3">
                  <c:v>2015.123</c:v>
                </c:pt>
                <c:pt idx="4">
                  <c:v>2070.1639</c:v>
                </c:pt>
                <c:pt idx="5">
                  <c:v>2045.5304000000001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4863-4432-BC37-0F1FC745151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2531.6268</c:v>
                </c:pt>
                <c:pt idx="1">
                  <c:v>3072.0153</c:v>
                </c:pt>
                <c:pt idx="2">
                  <c:v>2585.7296000000001</c:v>
                </c:pt>
                <c:pt idx="3">
                  <c:v>2663.5610000000001</c:v>
                </c:pt>
                <c:pt idx="4">
                  <c:v>2544.7352999999998</c:v>
                </c:pt>
                <c:pt idx="5">
                  <c:v>2399.04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4863-4432-BC37-0F1FC745151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30611</c:v>
                </c:pt>
                <c:pt idx="1">
                  <c:v>6536</c:v>
                </c:pt>
                <c:pt idx="2">
                  <c:v>3044</c:v>
                </c:pt>
                <c:pt idx="3">
                  <c:v>1455</c:v>
                </c:pt>
                <c:pt idx="4">
                  <c:v>2679</c:v>
                </c:pt>
                <c:pt idx="5">
                  <c:v>2486</c:v>
                </c:pt>
                <c:pt idx="6">
                  <c:v>2017</c:v>
                </c:pt>
                <c:pt idx="7">
                  <c:v>2863</c:v>
                </c:pt>
                <c:pt idx="8">
                  <c:v>1120</c:v>
                </c:pt>
                <c:pt idx="9">
                  <c:v>1034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149D-44A8-8B79-278AE8A3A4D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Taiwan</c:v>
                </c:pt>
                <c:pt idx="2">
                  <c:v>Thailand</c:v>
                </c:pt>
                <c:pt idx="3">
                  <c:v>India</c:v>
                </c:pt>
                <c:pt idx="4">
                  <c:v>Japan</c:v>
                </c:pt>
                <c:pt idx="5">
                  <c:v>Malaysia</c:v>
                </c:pt>
                <c:pt idx="6">
                  <c:v>Singapore</c:v>
                </c:pt>
                <c:pt idx="7">
                  <c:v>Korea</c:v>
                </c:pt>
                <c:pt idx="8">
                  <c:v>Indonesia</c:v>
                </c:pt>
                <c:pt idx="9">
                  <c:v>USA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32403</c:v>
                </c:pt>
                <c:pt idx="1">
                  <c:v>5882</c:v>
                </c:pt>
                <c:pt idx="2">
                  <c:v>3806</c:v>
                </c:pt>
                <c:pt idx="3">
                  <c:v>2674</c:v>
                </c:pt>
                <c:pt idx="4">
                  <c:v>2635</c:v>
                </c:pt>
                <c:pt idx="5">
                  <c:v>2247</c:v>
                </c:pt>
                <c:pt idx="6">
                  <c:v>2169</c:v>
                </c:pt>
                <c:pt idx="7">
                  <c:v>2106</c:v>
                </c:pt>
                <c:pt idx="8">
                  <c:v>1273</c:v>
                </c:pt>
                <c:pt idx="9">
                  <c:v>1032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149D-44A8-8B79-278AE8A3A4D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1270</c:v>
                </c:pt>
                <c:pt idx="1">
                  <c:v>1549</c:v>
                </c:pt>
                <c:pt idx="2">
                  <c:v>1849</c:v>
                </c:pt>
                <c:pt idx="3">
                  <c:v>1541</c:v>
                </c:pt>
                <c:pt idx="4">
                  <c:v>1597</c:v>
                </c:pt>
                <c:pt idx="5">
                  <c:v>1484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541-448A-AF96-C51AE27DD68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1416</c:v>
                </c:pt>
                <c:pt idx="1">
                  <c:v>1303</c:v>
                </c:pt>
                <c:pt idx="2">
                  <c:v>1323</c:v>
                </c:pt>
                <c:pt idx="3">
                  <c:v>1437</c:v>
                </c:pt>
                <c:pt idx="4">
                  <c:v>1936</c:v>
                </c:pt>
                <c:pt idx="5">
                  <c:v>2208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541-448A-AF96-C51AE27DD68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5457</c:v>
                </c:pt>
                <c:pt idx="1">
                  <c:v>4414</c:v>
                </c:pt>
                <c:pt idx="2">
                  <c:v>4854</c:v>
                </c:pt>
                <c:pt idx="3">
                  <c:v>4174</c:v>
                </c:pt>
                <c:pt idx="4">
                  <c:v>4085</c:v>
                </c:pt>
                <c:pt idx="5">
                  <c:v>4517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541-448A-AF96-C51AE27DD68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837</c:v>
                </c:pt>
                <c:pt idx="1">
                  <c:v>958</c:v>
                </c:pt>
                <c:pt idx="2">
                  <c:v>972</c:v>
                </c:pt>
                <c:pt idx="3">
                  <c:v>1070</c:v>
                </c:pt>
                <c:pt idx="4">
                  <c:v>1123</c:v>
                </c:pt>
                <c:pt idx="5">
                  <c:v>876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C541-448A-AF96-C51AE27DD68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1828</c:v>
                </c:pt>
                <c:pt idx="1">
                  <c:v>2664</c:v>
                </c:pt>
                <c:pt idx="2">
                  <c:v>1360</c:v>
                </c:pt>
                <c:pt idx="3">
                  <c:v>1531</c:v>
                </c:pt>
                <c:pt idx="4">
                  <c:v>851</c:v>
                </c:pt>
                <c:pt idx="5">
                  <c:v>802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C541-448A-AF96-C51AE27DD68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Group Corp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338</c:v>
                </c:pt>
                <c:pt idx="1">
                  <c:v>69</c:v>
                </c:pt>
                <c:pt idx="2">
                  <c:v>252</c:v>
                </c:pt>
                <c:pt idx="3">
                  <c:v>73</c:v>
                </c:pt>
                <c:pt idx="4">
                  <c:v>41</c:v>
                </c:pt>
                <c:pt idx="5">
                  <c:v>100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C541-448A-AF96-C51AE27DD68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Group Leisure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426</c:v>
                </c:pt>
                <c:pt idx="1">
                  <c:v>105</c:v>
                </c:pt>
                <c:pt idx="2">
                  <c:v>188</c:v>
                </c:pt>
                <c:pt idx="3">
                  <c:v>294</c:v>
                </c:pt>
                <c:pt idx="4">
                  <c:v>373</c:v>
                </c:pt>
                <c:pt idx="5">
                  <c:v>133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541-448A-AF96-C51AE27DD689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Group Series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526</c:v>
                </c:pt>
                <c:pt idx="1">
                  <c:v>213</c:v>
                </c:pt>
                <c:pt idx="2">
                  <c:v>207</c:v>
                </c:pt>
                <c:pt idx="3">
                  <c:v>90</c:v>
                </c:pt>
                <c:pt idx="4">
                  <c:v>332</c:v>
                </c:pt>
                <c:pt idx="5">
                  <c:v>95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C541-448A-AF96-C51AE27DD689}"/>
            </c:ext>
          </c:extLst>
        </c:ser>
        <c:ser>
          <c:idx val="8"/>
          <c:order val="8"/>
          <c:tx>
            <c:strRef>
              <c:f>Sheet1!$J$1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8FA35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Sheet1!$J$2:$J$7</c:f>
              <c:numCache>
                <c:formatCode>General</c:formatCode>
                <c:ptCount val="6"/>
                <c:pt idx="0">
                  <c:v>1</c:v>
                </c:pt>
                <c:pt idx="1">
                  <c:v>0</c:v>
                </c:pt>
                <c:pt idx="2">
                  <c:v>25</c:v>
                </c:pt>
                <c:pt idx="3">
                  <c:v>0</c:v>
                </c:pt>
                <c:pt idx="4">
                  <c:v>4</c:v>
                </c:pt>
                <c:pt idx="5">
                  <c:v>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541-448A-AF96-C51AE27DD689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(65,175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E50D-4561-8741-147DBC9FE6C0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E50D-4561-8741-147DBC9FE6C0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E50D-4561-8741-147DBC9FE6C0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E50D-4561-8741-147DBC9FE6C0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E50D-4561-8741-147DBC9FE6C0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E50D-4561-8741-147DBC9FE6C0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E50D-4561-8741-147DBC9FE6C0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E50D-4561-8741-147DBC9FE6C0}"/>
              </c:ext>
            </c:extLst>
          </c:dPt>
          <c:dPt>
            <c:idx val="8"/>
            <c:bubble3D val="0"/>
            <c:spPr>
              <a:solidFill>
                <a:srgbClr val="8FA35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11-E50D-4561-8741-147DBC9FE6C0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E50D-4561-8741-147DBC9FE6C0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E50D-4561-8741-147DBC9FE6C0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E50D-4561-8741-147DBC9FE6C0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E50D-4561-8741-147DBC9FE6C0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E50D-4561-8741-147DBC9FE6C0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E50D-4561-8741-147DBC9FE6C0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E50D-4561-8741-147DBC9FE6C0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E50D-4561-8741-147DBC9FE6C0}"/>
                </c:ext>
              </c:extLst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11-E50D-4561-8741-147DBC9FE6C0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Sheet1!$A$2:$A$10</c:f>
              <c:strCache>
                <c:ptCount val="9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Group Corp</c:v>
                </c:pt>
                <c:pt idx="6">
                  <c:v>Group Leisure</c:v>
                </c:pt>
                <c:pt idx="7">
                  <c:v>Group Series</c:v>
                </c:pt>
                <c:pt idx="8">
                  <c:v>Employee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9290</c:v>
                </c:pt>
                <c:pt idx="1">
                  <c:v>9623</c:v>
                </c:pt>
                <c:pt idx="2">
                  <c:v>27501</c:v>
                </c:pt>
                <c:pt idx="3">
                  <c:v>5836</c:v>
                </c:pt>
                <c:pt idx="4">
                  <c:v>9036</c:v>
                </c:pt>
                <c:pt idx="5">
                  <c:v>873</c:v>
                </c:pt>
                <c:pt idx="6">
                  <c:v>1519</c:v>
                </c:pt>
                <c:pt idx="7">
                  <c:v>1463</c:v>
                </c:pt>
                <c:pt idx="8">
                  <c:v>34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2-E50D-4561-8741-147DBC9FE6C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36808084.990000002</c:v>
                </c:pt>
                <c:pt idx="1">
                  <c:v>41472163.590000004</c:v>
                </c:pt>
                <c:pt idx="2">
                  <c:v>37684641.259999998</c:v>
                </c:pt>
                <c:pt idx="3">
                  <c:v>37448282.219999999</c:v>
                </c:pt>
                <c:pt idx="4">
                  <c:v>37081120.259999998</c:v>
                </c:pt>
                <c:pt idx="5">
                  <c:v>33416187.350000001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0AB-4477-975D-449E7DD3F03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40471406.759999998</c:v>
                </c:pt>
                <c:pt idx="1">
                  <c:v>35097386</c:v>
                </c:pt>
                <c:pt idx="2">
                  <c:v>31885906.359999999</c:v>
                </c:pt>
                <c:pt idx="3">
                  <c:v>28944481.789999999</c:v>
                </c:pt>
                <c:pt idx="4">
                  <c:v>29907879.420000002</c:v>
                </c:pt>
                <c:pt idx="5">
                  <c:v>28869835.91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20AB-4477-975D-449E7DD3F037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36981091.140000001</c:v>
                </c:pt>
                <c:pt idx="1">
                  <c:v>36798669.049999997</c:v>
                </c:pt>
                <c:pt idx="2">
                  <c:v>33026703.75</c:v>
                </c:pt>
                <c:pt idx="3">
                  <c:v>31830715.75</c:v>
                </c:pt>
                <c:pt idx="4">
                  <c:v>29125527.620000001</c:v>
                </c:pt>
                <c:pt idx="5">
                  <c:v>28515831.960000001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20AB-4477-975D-449E7DD3F0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2846.76</c:v>
                </c:pt>
                <c:pt idx="1">
                  <c:v>3468.5</c:v>
                </c:pt>
                <c:pt idx="2">
                  <c:v>2447.06</c:v>
                </c:pt>
                <c:pt idx="3">
                  <c:v>2181.63</c:v>
                </c:pt>
                <c:pt idx="4">
                  <c:v>1861.3</c:v>
                </c:pt>
                <c:pt idx="5">
                  <c:v>1993.88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2955.1113</c:v>
                </c:pt>
                <c:pt idx="1">
                  <c:v>3156.7793999999999</c:v>
                </c:pt>
                <c:pt idx="2">
                  <c:v>2298.422</c:v>
                </c:pt>
                <c:pt idx="3">
                  <c:v>2608.8519999999999</c:v>
                </c:pt>
                <c:pt idx="4">
                  <c:v>2312.0012000000002</c:v>
                </c:pt>
                <c:pt idx="5">
                  <c:v>2374.5527000000002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211-4356-9605-8536186A8801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3408.1212</c:v>
                </c:pt>
                <c:pt idx="1">
                  <c:v>3007.4331999999999</c:v>
                </c:pt>
                <c:pt idx="2">
                  <c:v>2031.3738000000001</c:v>
                </c:pt>
                <c:pt idx="3">
                  <c:v>2352.3757000000001</c:v>
                </c:pt>
                <c:pt idx="4">
                  <c:v>2192.6749</c:v>
                </c:pt>
                <c:pt idx="5">
                  <c:v>2097.2766000000001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8211-4356-9605-8536186A8801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2950.6957000000002</c:v>
                </c:pt>
                <c:pt idx="1">
                  <c:v>3749.3217</c:v>
                </c:pt>
                <c:pt idx="2">
                  <c:v>2842.5663</c:v>
                </c:pt>
                <c:pt idx="3">
                  <c:v>3095.3478</c:v>
                </c:pt>
                <c:pt idx="4">
                  <c:v>2257.2103000000002</c:v>
                </c:pt>
                <c:pt idx="5">
                  <c:v>3085.8020000000001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8211-4356-9605-8536186A880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16921</c:v>
                </c:pt>
                <c:pt idx="1">
                  <c:v>2723</c:v>
                </c:pt>
                <c:pt idx="2">
                  <c:v>0</c:v>
                </c:pt>
                <c:pt idx="3">
                  <c:v>2263</c:v>
                </c:pt>
                <c:pt idx="4">
                  <c:v>2078</c:v>
                </c:pt>
                <c:pt idx="5">
                  <c:v>1524</c:v>
                </c:pt>
                <c:pt idx="6">
                  <c:v>1536</c:v>
                </c:pt>
                <c:pt idx="7">
                  <c:v>0</c:v>
                </c:pt>
                <c:pt idx="8">
                  <c:v>2214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2BB-42D3-8C5E-0E2C8B63539E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Japan</c:v>
                </c:pt>
                <c:pt idx="2">
                  <c:v>Finland</c:v>
                </c:pt>
                <c:pt idx="3">
                  <c:v>Singapore</c:v>
                </c:pt>
                <c:pt idx="4">
                  <c:v>USA</c:v>
                </c:pt>
                <c:pt idx="5">
                  <c:v>Thailand</c:v>
                </c:pt>
                <c:pt idx="6">
                  <c:v>Germany</c:v>
                </c:pt>
                <c:pt idx="7">
                  <c:v>UK</c:v>
                </c:pt>
                <c:pt idx="8">
                  <c:v>Korea</c:v>
                </c:pt>
                <c:pt idx="9">
                  <c:v>Taiwan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18613</c:v>
                </c:pt>
                <c:pt idx="1">
                  <c:v>3600</c:v>
                </c:pt>
                <c:pt idx="2">
                  <c:v>2922</c:v>
                </c:pt>
                <c:pt idx="3">
                  <c:v>1934</c:v>
                </c:pt>
                <c:pt idx="4">
                  <c:v>1818</c:v>
                </c:pt>
                <c:pt idx="5">
                  <c:v>1625</c:v>
                </c:pt>
                <c:pt idx="6">
                  <c:v>1526</c:v>
                </c:pt>
                <c:pt idx="7">
                  <c:v>1385</c:v>
                </c:pt>
                <c:pt idx="8">
                  <c:v>1304</c:v>
                </c:pt>
                <c:pt idx="9">
                  <c:v>1216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F2BB-42D3-8C5E-0E2C8B63539E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979</c:v>
                </c:pt>
                <c:pt idx="1">
                  <c:v>907</c:v>
                </c:pt>
                <c:pt idx="2">
                  <c:v>1236</c:v>
                </c:pt>
                <c:pt idx="3">
                  <c:v>545</c:v>
                </c:pt>
                <c:pt idx="4">
                  <c:v>768</c:v>
                </c:pt>
                <c:pt idx="5">
                  <c:v>752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FAD-4E93-B94C-848C271419B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2388</c:v>
                </c:pt>
                <c:pt idx="1">
                  <c:v>2430</c:v>
                </c:pt>
                <c:pt idx="2">
                  <c:v>2676</c:v>
                </c:pt>
                <c:pt idx="3">
                  <c:v>1683</c:v>
                </c:pt>
                <c:pt idx="4">
                  <c:v>2075</c:v>
                </c:pt>
                <c:pt idx="5">
                  <c:v>1844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FAD-4E93-B94C-848C271419B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3257</c:v>
                </c:pt>
                <c:pt idx="1">
                  <c:v>3910</c:v>
                </c:pt>
                <c:pt idx="2">
                  <c:v>2690</c:v>
                </c:pt>
                <c:pt idx="3">
                  <c:v>2876</c:v>
                </c:pt>
                <c:pt idx="4">
                  <c:v>2049</c:v>
                </c:pt>
                <c:pt idx="5">
                  <c:v>2146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FAD-4E93-B94C-848C271419B6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756</c:v>
                </c:pt>
                <c:pt idx="1">
                  <c:v>720</c:v>
                </c:pt>
                <c:pt idx="2">
                  <c:v>578</c:v>
                </c:pt>
                <c:pt idx="3">
                  <c:v>769</c:v>
                </c:pt>
                <c:pt idx="4">
                  <c:v>752</c:v>
                </c:pt>
                <c:pt idx="5">
                  <c:v>961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FAD-4E93-B94C-848C271419B6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1479</c:v>
                </c:pt>
                <c:pt idx="1">
                  <c:v>2041</c:v>
                </c:pt>
                <c:pt idx="2">
                  <c:v>1382</c:v>
                </c:pt>
                <c:pt idx="3">
                  <c:v>711</c:v>
                </c:pt>
                <c:pt idx="4">
                  <c:v>1203</c:v>
                </c:pt>
                <c:pt idx="5">
                  <c:v>1315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FAD-4E93-B94C-848C271419B6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294</c:v>
                </c:pt>
                <c:pt idx="1">
                  <c:v>126</c:v>
                </c:pt>
                <c:pt idx="2">
                  <c:v>502</c:v>
                </c:pt>
                <c:pt idx="3">
                  <c:v>941</c:v>
                </c:pt>
                <c:pt idx="4">
                  <c:v>193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FAD-4E93-B94C-848C271419B6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33</c:v>
                </c:pt>
                <c:pt idx="1">
                  <c:v>30</c:v>
                </c:pt>
                <c:pt idx="2">
                  <c:v>17</c:v>
                </c:pt>
                <c:pt idx="3">
                  <c:v>23</c:v>
                </c:pt>
                <c:pt idx="4">
                  <c:v>46</c:v>
                </c:pt>
                <c:pt idx="5">
                  <c:v>40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BFAD-4E93-B94C-848C271419B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(50,123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1279-4F19-93D3-ED11D50173E7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1279-4F19-93D3-ED11D50173E7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1279-4F19-93D3-ED11D50173E7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1279-4F19-93D3-ED11D50173E7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1279-4F19-93D3-ED11D50173E7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1279-4F19-93D3-ED11D50173E7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1279-4F19-93D3-ED11D50173E7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1279-4F19-93D3-ED11D50173E7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1279-4F19-93D3-ED11D50173E7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1279-4F19-93D3-ED11D50173E7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1279-4F19-93D3-ED11D50173E7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1279-4F19-93D3-ED11D50173E7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1279-4F19-93D3-ED11D50173E7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1279-4F19-93D3-ED11D50173E7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5187</c:v>
                </c:pt>
                <c:pt idx="1">
                  <c:v>13096</c:v>
                </c:pt>
                <c:pt idx="2">
                  <c:v>16928</c:v>
                </c:pt>
                <c:pt idx="3">
                  <c:v>4536</c:v>
                </c:pt>
                <c:pt idx="4">
                  <c:v>8131</c:v>
                </c:pt>
                <c:pt idx="5">
                  <c:v>2056</c:v>
                </c:pt>
                <c:pt idx="6">
                  <c:v>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1279-4F19-93D3-ED11D50173E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37080363.420000002</c:v>
                </c:pt>
                <c:pt idx="1">
                  <c:v>43940128.82</c:v>
                </c:pt>
                <c:pt idx="2">
                  <c:v>36407936.200000003</c:v>
                </c:pt>
                <c:pt idx="3">
                  <c:v>37521347.82</c:v>
                </c:pt>
                <c:pt idx="4">
                  <c:v>28302837.649999999</c:v>
                </c:pt>
                <c:pt idx="5">
                  <c:v>37484972.880000003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7B2-4478-A710-45370385096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42691294.950000003</c:v>
                </c:pt>
                <c:pt idx="1">
                  <c:v>34251573.439999998</c:v>
                </c:pt>
                <c:pt idx="2">
                  <c:v>25843470.18</c:v>
                </c:pt>
                <c:pt idx="3">
                  <c:v>29043750.920000002</c:v>
                </c:pt>
                <c:pt idx="4">
                  <c:v>27716956.989999998</c:v>
                </c:pt>
                <c:pt idx="5">
                  <c:v>25848762.559999999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87B2-4478-A710-45370385096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35431726.369999997</c:v>
                </c:pt>
                <c:pt idx="1">
                  <c:v>38907552.450000003</c:v>
                </c:pt>
                <c:pt idx="2">
                  <c:v>30984315.649999999</c:v>
                </c:pt>
                <c:pt idx="3">
                  <c:v>26245238.559999999</c:v>
                </c:pt>
                <c:pt idx="4">
                  <c:v>23379075.129999999</c:v>
                </c:pt>
                <c:pt idx="5">
                  <c:v>24286103.100000001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87B2-4478-A710-453703850968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1461.17</c:v>
                </c:pt>
                <c:pt idx="1">
                  <c:v>1500.13</c:v>
                </c:pt>
                <c:pt idx="2">
                  <c:v>1132.05</c:v>
                </c:pt>
                <c:pt idx="3">
                  <c:v>731.09</c:v>
                </c:pt>
                <c:pt idx="4">
                  <c:v>878.94</c:v>
                </c:pt>
                <c:pt idx="5">
                  <c:v>755.55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1526.8151</c:v>
                </c:pt>
                <c:pt idx="1">
                  <c:v>1630.5147999999999</c:v>
                </c:pt>
                <c:pt idx="2">
                  <c:v>1103.7076</c:v>
                </c:pt>
                <c:pt idx="3">
                  <c:v>1152.0808</c:v>
                </c:pt>
                <c:pt idx="4">
                  <c:v>1024.3922</c:v>
                </c:pt>
                <c:pt idx="5">
                  <c:v>975.58159999999998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FC1A-4E1D-9FCD-0CD06040DE7B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1587.0329999999999</c:v>
                </c:pt>
                <c:pt idx="1">
                  <c:v>1457.7360000000001</c:v>
                </c:pt>
                <c:pt idx="2">
                  <c:v>1049.8834999999999</c:v>
                </c:pt>
                <c:pt idx="3">
                  <c:v>1022.25</c:v>
                </c:pt>
                <c:pt idx="4">
                  <c:v>912.91200000000003</c:v>
                </c:pt>
                <c:pt idx="5">
                  <c:v>843.70489999999995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FC1A-4E1D-9FCD-0CD06040DE7B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D9A441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1011.4803000000001</c:v>
                </c:pt>
                <c:pt idx="1">
                  <c:v>1267.7425000000001</c:v>
                </c:pt>
                <c:pt idx="2">
                  <c:v>966.12109999999996</c:v>
                </c:pt>
                <c:pt idx="3">
                  <c:v>938.71799999999996</c:v>
                </c:pt>
                <c:pt idx="4">
                  <c:v>762.88589999999999</c:v>
                </c:pt>
                <c:pt idx="5">
                  <c:v>1017.228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FC1A-4E1D-9FCD-0CD06040DE7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4642</c:v>
                </c:pt>
                <c:pt idx="1">
                  <c:v>1017</c:v>
                </c:pt>
                <c:pt idx="2">
                  <c:v>2762</c:v>
                </c:pt>
                <c:pt idx="3">
                  <c:v>2138</c:v>
                </c:pt>
                <c:pt idx="4">
                  <c:v>1200</c:v>
                </c:pt>
                <c:pt idx="5">
                  <c:v>1873</c:v>
                </c:pt>
                <c:pt idx="6">
                  <c:v>1999</c:v>
                </c:pt>
                <c:pt idx="7">
                  <c:v>926</c:v>
                </c:pt>
                <c:pt idx="8">
                  <c:v>1201</c:v>
                </c:pt>
                <c:pt idx="9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3F42-44CF-BE94-3540394E7CC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Indonesia</c:v>
                </c:pt>
                <c:pt idx="2">
                  <c:v>Singapore</c:v>
                </c:pt>
                <c:pt idx="3">
                  <c:v>Malaysia</c:v>
                </c:pt>
                <c:pt idx="4">
                  <c:v>Taiwan</c:v>
                </c:pt>
                <c:pt idx="5">
                  <c:v>Thailand</c:v>
                </c:pt>
                <c:pt idx="6">
                  <c:v>USA</c:v>
                </c:pt>
                <c:pt idx="7">
                  <c:v>Japan</c:v>
                </c:pt>
                <c:pt idx="8">
                  <c:v>UK</c:v>
                </c:pt>
                <c:pt idx="9">
                  <c:v>Germany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5954</c:v>
                </c:pt>
                <c:pt idx="1">
                  <c:v>3034</c:v>
                </c:pt>
                <c:pt idx="2">
                  <c:v>2336</c:v>
                </c:pt>
                <c:pt idx="3">
                  <c:v>2120</c:v>
                </c:pt>
                <c:pt idx="4">
                  <c:v>1524</c:v>
                </c:pt>
                <c:pt idx="5">
                  <c:v>1463</c:v>
                </c:pt>
                <c:pt idx="6">
                  <c:v>1440</c:v>
                </c:pt>
                <c:pt idx="7">
                  <c:v>1038</c:v>
                </c:pt>
                <c:pt idx="8">
                  <c:v>809</c:v>
                </c:pt>
                <c:pt idx="9">
                  <c:v>741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3F42-44CF-BE94-3540394E7CC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102</c:v>
                </c:pt>
                <c:pt idx="1">
                  <c:v>158</c:v>
                </c:pt>
                <c:pt idx="2">
                  <c:v>203</c:v>
                </c:pt>
                <c:pt idx="3">
                  <c:v>194</c:v>
                </c:pt>
                <c:pt idx="4">
                  <c:v>176</c:v>
                </c:pt>
                <c:pt idx="5">
                  <c:v>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DE4-4447-8389-11EEF2505625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31</c:v>
                </c:pt>
                <c:pt idx="1">
                  <c:v>28</c:v>
                </c:pt>
                <c:pt idx="2">
                  <c:v>31</c:v>
                </c:pt>
                <c:pt idx="3">
                  <c:v>30</c:v>
                </c:pt>
                <c:pt idx="4">
                  <c:v>31</c:v>
                </c:pt>
                <c:pt idx="5">
                  <c:v>30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DE4-4447-8389-11EEF2505625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3853</c:v>
                </c:pt>
                <c:pt idx="1">
                  <c:v>3409</c:v>
                </c:pt>
                <c:pt idx="2">
                  <c:v>4095</c:v>
                </c:pt>
                <c:pt idx="3">
                  <c:v>1641</c:v>
                </c:pt>
                <c:pt idx="4">
                  <c:v>2723</c:v>
                </c:pt>
                <c:pt idx="5">
                  <c:v>2549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9DE4-4447-8389-11EEF2505625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610</c:v>
                </c:pt>
                <c:pt idx="1">
                  <c:v>559</c:v>
                </c:pt>
                <c:pt idx="2">
                  <c:v>438</c:v>
                </c:pt>
                <c:pt idx="3">
                  <c:v>394</c:v>
                </c:pt>
                <c:pt idx="4">
                  <c:v>622</c:v>
                </c:pt>
                <c:pt idx="5">
                  <c:v>614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9DE4-4447-8389-11EEF2505625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1024</c:v>
                </c:pt>
                <c:pt idx="1">
                  <c:v>1021</c:v>
                </c:pt>
                <c:pt idx="2">
                  <c:v>558</c:v>
                </c:pt>
                <c:pt idx="3">
                  <c:v>689</c:v>
                </c:pt>
                <c:pt idx="4">
                  <c:v>874</c:v>
                </c:pt>
                <c:pt idx="5">
                  <c:v>799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9DE4-4447-8389-11EEF2505625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43</c:v>
                </c:pt>
                <c:pt idx="5">
                  <c:v>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9DE4-4447-8389-11EEF2505625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19</c:v>
                </c:pt>
                <c:pt idx="1">
                  <c:v>17</c:v>
                </c:pt>
                <c:pt idx="2">
                  <c:v>11</c:v>
                </c:pt>
                <c:pt idx="3">
                  <c:v>17</c:v>
                </c:pt>
                <c:pt idx="4">
                  <c:v>25</c:v>
                </c:pt>
                <c:pt idx="5">
                  <c:v>29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9DE4-4447-8389-11EEF2505625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(27,714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7462-47FD-9E01-464BE07F3DBD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7462-47FD-9E01-464BE07F3DBD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7462-47FD-9E01-464BE07F3DBD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7462-47FD-9E01-464BE07F3DBD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7462-47FD-9E01-464BE07F3DBD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7462-47FD-9E01-464BE07F3DBD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7462-47FD-9E01-464BE07F3DBD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7462-47FD-9E01-464BE07F3DBD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7462-47FD-9E01-464BE07F3DBD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7462-47FD-9E01-464BE07F3DBD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7462-47FD-9E01-464BE07F3DBD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7462-47FD-9E01-464BE07F3DBD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7462-47FD-9E01-464BE07F3DBD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7462-47FD-9E01-464BE07F3DBD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Sheet1!$A$2:$A$8</c:f>
              <c:strCache>
                <c:ptCount val="7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Corporate Group</c:v>
                </c:pt>
                <c:pt idx="6">
                  <c:v>Employee</c:v>
                </c:pt>
              </c:strCache>
            </c: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900</c:v>
                </c:pt>
                <c:pt idx="1">
                  <c:v>181</c:v>
                </c:pt>
                <c:pt idx="2">
                  <c:v>18270</c:v>
                </c:pt>
                <c:pt idx="3">
                  <c:v>3237</c:v>
                </c:pt>
                <c:pt idx="4">
                  <c:v>4965</c:v>
                </c:pt>
                <c:pt idx="5">
                  <c:v>43</c:v>
                </c:pt>
                <c:pt idx="6">
                  <c:v>118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E-7462-47FD-9E01-464BE07F3DB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6277584.4800000004</c:v>
                </c:pt>
                <c:pt idx="1">
                  <c:v>7331522.8399999999</c:v>
                </c:pt>
                <c:pt idx="2">
                  <c:v>6018438.3700000001</c:v>
                </c:pt>
                <c:pt idx="3">
                  <c:v>5676589.5700000003</c:v>
                </c:pt>
                <c:pt idx="4">
                  <c:v>4792394.21</c:v>
                </c:pt>
                <c:pt idx="5">
                  <c:v>6131005.75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8A9-4199-B237-407A0327171C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10057547.08</c:v>
                </c:pt>
                <c:pt idx="1">
                  <c:v>8360412.3399999999</c:v>
                </c:pt>
                <c:pt idx="2">
                  <c:v>6748527.7300000004</c:v>
                </c:pt>
                <c:pt idx="3">
                  <c:v>6301518.4400000004</c:v>
                </c:pt>
                <c:pt idx="4">
                  <c:v>5674281.3799999999</c:v>
                </c:pt>
                <c:pt idx="5">
                  <c:v>5270669.6500000004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8A9-4199-B237-407A0327171C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9283927.7299999986</c:v>
                </c:pt>
                <c:pt idx="1">
                  <c:v>8589919.6899999995</c:v>
                </c:pt>
                <c:pt idx="2">
                  <c:v>7238468.9199999999</c:v>
                </c:pt>
                <c:pt idx="3">
                  <c:v>4493751.3</c:v>
                </c:pt>
                <c:pt idx="4">
                  <c:v>5625446.3199999994</c:v>
                </c:pt>
                <c:pt idx="5">
                  <c:v>4727539.0999999996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8A9-4199-B237-407A0327171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00" b="0" i="0" u="none" strike="noStrike">
                <a:solidFill>
                  <a:srgbClr val="1E2761"/>
                </a:solidFill>
                <a:latin typeface="Calibri"/>
              </a:rPr>
              <a:t>Monthly RevPAR (THB) — actual vs budget vs 2025 vs 2024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RevPAR 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3578.97</c:v>
                </c:pt>
                <c:pt idx="1">
                  <c:v>3506.15</c:v>
                </c:pt>
                <c:pt idx="2">
                  <c:v>2721.3</c:v>
                </c:pt>
                <c:pt idx="3">
                  <c:v>2574.4</c:v>
                </c:pt>
                <c:pt idx="4">
                  <c:v>2151.66</c:v>
                </c:pt>
                <c:pt idx="5">
                  <c:v>2109.96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8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Budget</c:v>
                </c:pt>
              </c:strCache>
            </c:strRef>
          </c:tx>
          <c:spPr>
            <a:ln w="31750" cap="flat">
              <a:solidFill>
                <a:srgbClr val="D9A441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AEB6C2"/>
              </a:solidFill>
              <a:ln w="9525" cap="flat">
                <a:solidFill>
                  <a:srgbClr val="D9A441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3433.4403000000002</c:v>
                </c:pt>
                <c:pt idx="1">
                  <c:v>3782.0533</c:v>
                </c:pt>
                <c:pt idx="2">
                  <c:v>2637.0587</c:v>
                </c:pt>
                <c:pt idx="3">
                  <c:v>2920.6149</c:v>
                </c:pt>
                <c:pt idx="4">
                  <c:v>2348.8998000000001</c:v>
                </c:pt>
                <c:pt idx="5">
                  <c:v>2139.5412000000001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EDC1-4A92-9335-F120C8A9FA80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2025</c:v>
                </c:pt>
              </c:strCache>
            </c:strRef>
          </c:tx>
          <c:spPr>
            <a:ln w="31750" cap="flat">
              <a:solidFill>
                <a:srgbClr val="AEB6C2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AEB6C2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3862.6219999999998</c:v>
                </c:pt>
                <c:pt idx="1">
                  <c:v>3511.806</c:v>
                </c:pt>
                <c:pt idx="2">
                  <c:v>2456.1851999999999</c:v>
                </c:pt>
                <c:pt idx="3">
                  <c:v>2709.7</c:v>
                </c:pt>
                <c:pt idx="4">
                  <c:v>2156.8049999999998</c:v>
                </c:pt>
                <c:pt idx="5">
                  <c:v>1908.9133999999999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2-EDC1-4A92-9335-F120C8A9FA80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2024</c:v>
                </c:pt>
              </c:strCache>
            </c:strRef>
          </c:tx>
          <c:spPr>
            <a:ln w="31750" cap="flat">
              <a:solidFill>
                <a:srgbClr val="C9D6EE"/>
              </a:solidFill>
              <a:prstDash val="solid"/>
              <a:round/>
            </a:ln>
            <a:effectLst/>
          </c:spPr>
          <c:marker>
            <c:symbol val="circle"/>
            <c:size val="5"/>
            <c:spPr>
              <a:solidFill>
                <a:srgbClr val="C9D6EE"/>
              </a:solidFill>
              <a:ln w="9525" cap="flat">
                <a:solidFill>
                  <a:srgbClr val="C9D6EE"/>
                </a:solidFill>
                <a:prstDash val="solid"/>
                <a:round/>
              </a:ln>
              <a:effectLst/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3041.8440000000001</c:v>
                </c:pt>
                <c:pt idx="1">
                  <c:v>3461.5645</c:v>
                </c:pt>
                <c:pt idx="2">
                  <c:v>2875.8485999999998</c:v>
                </c:pt>
                <c:pt idx="3">
                  <c:v>3281.7613000000001</c:v>
                </c:pt>
                <c:pt idx="4">
                  <c:v>2474.7379999999998</c:v>
                </c:pt>
                <c:pt idx="5">
                  <c:v>2836.62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3-EDC1-4A92-9335-F120C8A9FA8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H1 (Jan–Jun)</a:t>
            </a:r>
          </a:p>
        </c:rich>
      </c:tx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 H1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9640</c:v>
                </c:pt>
                <c:pt idx="1">
                  <c:v>4218</c:v>
                </c:pt>
                <c:pt idx="2">
                  <c:v>2963</c:v>
                </c:pt>
                <c:pt idx="3">
                  <c:v>2509</c:v>
                </c:pt>
                <c:pt idx="4">
                  <c:v>3346</c:v>
                </c:pt>
                <c:pt idx="5">
                  <c:v>2030</c:v>
                </c:pt>
                <c:pt idx="6">
                  <c:v>2369</c:v>
                </c:pt>
                <c:pt idx="7">
                  <c:v>2040</c:v>
                </c:pt>
                <c:pt idx="8">
                  <c:v>1310</c:v>
                </c:pt>
                <c:pt idx="9">
                  <c:v>1663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19-4FA6-BB85-72F0C6910C1D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 H1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6B7280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Sheet1!$A$2:$A$11</c:f>
              <c:strCache>
                <c:ptCount val="10"/>
                <c:pt idx="0">
                  <c:v>China</c:v>
                </c:pt>
                <c:pt idx="1">
                  <c:v>India</c:v>
                </c:pt>
                <c:pt idx="2">
                  <c:v>Thailand</c:v>
                </c:pt>
                <c:pt idx="3">
                  <c:v>Israel</c:v>
                </c:pt>
                <c:pt idx="4">
                  <c:v>United States</c:v>
                </c:pt>
                <c:pt idx="5">
                  <c:v>Russia</c:v>
                </c:pt>
                <c:pt idx="6">
                  <c:v>Taiwan</c:v>
                </c:pt>
                <c:pt idx="7">
                  <c:v>Republic of Korea</c:v>
                </c:pt>
                <c:pt idx="8">
                  <c:v>Australia</c:v>
                </c:pt>
                <c:pt idx="9">
                  <c:v>Japan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0">
                  <c:v>10445</c:v>
                </c:pt>
                <c:pt idx="1">
                  <c:v>3764</c:v>
                </c:pt>
                <c:pt idx="2">
                  <c:v>3622</c:v>
                </c:pt>
                <c:pt idx="3">
                  <c:v>3148</c:v>
                </c:pt>
                <c:pt idx="4">
                  <c:v>2381</c:v>
                </c:pt>
                <c:pt idx="5">
                  <c:v>2295</c:v>
                </c:pt>
                <c:pt idx="6">
                  <c:v>2175</c:v>
                </c:pt>
                <c:pt idx="7">
                  <c:v>1950</c:v>
                </c:pt>
                <c:pt idx="8">
                  <c:v>1882</c:v>
                </c:pt>
                <c:pt idx="9">
                  <c:v>1620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19-4FA6-BB85-72F0C6910C1D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Room nights per month (stacked)</a:t>
            </a:r>
          </a:p>
        </c:rich>
      </c:tx>
      <c:overlay val="0"/>
    </c:title>
    <c:autoTitleDeleted val="0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Corporate SS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312</c:v>
                </c:pt>
                <c:pt idx="1">
                  <c:v>340</c:v>
                </c:pt>
                <c:pt idx="2">
                  <c:v>378</c:v>
                </c:pt>
                <c:pt idx="3">
                  <c:v>238</c:v>
                </c:pt>
                <c:pt idx="4">
                  <c:v>347</c:v>
                </c:pt>
                <c:pt idx="5">
                  <c:v>264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0BC-4A7C-A7C2-124556FE8FD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Corporate LS</c:v>
                </c:pt>
              </c:strCache>
            </c:strRef>
          </c:tx>
          <c:spPr>
            <a:solidFill>
              <a:srgbClr val="4A6FC4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389</c:v>
                </c:pt>
                <c:pt idx="1">
                  <c:v>297</c:v>
                </c:pt>
                <c:pt idx="2">
                  <c:v>422</c:v>
                </c:pt>
                <c:pt idx="3">
                  <c:v>357</c:v>
                </c:pt>
                <c:pt idx="4">
                  <c:v>213</c:v>
                </c:pt>
                <c:pt idx="5">
                  <c:v>308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0BC-4A7C-A7C2-124556FE8FD2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Online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2725</c:v>
                </c:pt>
                <c:pt idx="1">
                  <c:v>2119</c:v>
                </c:pt>
                <c:pt idx="2">
                  <c:v>2427</c:v>
                </c:pt>
                <c:pt idx="3">
                  <c:v>1984</c:v>
                </c:pt>
                <c:pt idx="4">
                  <c:v>1791</c:v>
                </c:pt>
                <c:pt idx="5">
                  <c:v>1698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0BC-4A7C-A7C2-124556FE8FD2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ASR</c:v>
                </c:pt>
              </c:strCache>
            </c:strRef>
          </c:tx>
          <c:spPr>
            <a:solidFill>
              <a:srgbClr val="AFC6EC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Sheet1!$E$2:$E$7</c:f>
              <c:numCache>
                <c:formatCode>General</c:formatCode>
                <c:ptCount val="6"/>
                <c:pt idx="0">
                  <c:v>1201</c:v>
                </c:pt>
                <c:pt idx="1">
                  <c:v>1116</c:v>
                </c:pt>
                <c:pt idx="2">
                  <c:v>1214</c:v>
                </c:pt>
                <c:pt idx="3">
                  <c:v>1002</c:v>
                </c:pt>
                <c:pt idx="4">
                  <c:v>938</c:v>
                </c:pt>
                <c:pt idx="5">
                  <c:v>955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0BC-4A7C-A7C2-124556FE8FD2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Wholesale</c:v>
                </c:pt>
              </c:strCache>
            </c:strRef>
          </c:tx>
          <c:spPr>
            <a:solidFill>
              <a:srgbClr val="D9A441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Sheet1!$F$2:$F$7</c:f>
              <c:numCache>
                <c:formatCode>General</c:formatCode>
                <c:ptCount val="6"/>
                <c:pt idx="0">
                  <c:v>4009</c:v>
                </c:pt>
                <c:pt idx="1">
                  <c:v>3483</c:v>
                </c:pt>
                <c:pt idx="2">
                  <c:v>2429</c:v>
                </c:pt>
                <c:pt idx="3">
                  <c:v>2948</c:v>
                </c:pt>
                <c:pt idx="4">
                  <c:v>2855</c:v>
                </c:pt>
                <c:pt idx="5">
                  <c:v>2281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0BC-4A7C-A7C2-124556FE8FD2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Wholesale Grp</c:v>
                </c:pt>
              </c:strCache>
            </c:strRef>
          </c:tx>
          <c:spPr>
            <a:solidFill>
              <a:srgbClr val="8A5A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Sheet1!$G$2:$G$7</c:f>
              <c:numCache>
                <c:formatCode>General</c:formatCode>
                <c:ptCount val="6"/>
                <c:pt idx="0">
                  <c:v>134</c:v>
                </c:pt>
                <c:pt idx="1">
                  <c:v>261</c:v>
                </c:pt>
                <c:pt idx="2">
                  <c:v>453</c:v>
                </c:pt>
                <c:pt idx="3">
                  <c:v>254</c:v>
                </c:pt>
                <c:pt idx="4">
                  <c:v>194</c:v>
                </c:pt>
                <c:pt idx="5">
                  <c:v>225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D0BC-4A7C-A7C2-124556FE8FD2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Corporate Group</c:v>
                </c:pt>
              </c:strCache>
            </c:strRef>
          </c:tx>
          <c:spPr>
            <a:solidFill>
              <a:srgbClr val="2F8F83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Sheet1!$H$2:$H$7</c:f>
              <c:numCache>
                <c:formatCode>General</c:formatCode>
                <c:ptCount val="6"/>
                <c:pt idx="0">
                  <c:v>93</c:v>
                </c:pt>
                <c:pt idx="1">
                  <c:v>39</c:v>
                </c:pt>
                <c:pt idx="2">
                  <c:v>85</c:v>
                </c:pt>
                <c:pt idx="3">
                  <c:v>80</c:v>
                </c:pt>
                <c:pt idx="4">
                  <c:v>59</c:v>
                </c:pt>
                <c:pt idx="5">
                  <c:v>328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D0BC-4A7C-A7C2-124556FE8FD2}"/>
            </c:ext>
          </c:extLst>
        </c:ser>
        <c:ser>
          <c:idx val="7"/>
          <c:order val="7"/>
          <c:tx>
            <c:strRef>
              <c:f>Sheet1!$I$1</c:f>
              <c:strCache>
                <c:ptCount val="1"/>
                <c:pt idx="0">
                  <c:v>Employee</c:v>
                </c:pt>
              </c:strCache>
            </c:strRef>
          </c:tx>
          <c:spPr>
            <a:solidFill>
              <a:srgbClr val="C97B4A"/>
            </a:solidFill>
            <a:effectLst/>
          </c:spPr>
          <c:invertIfNegative val="0"/>
          <c:dLbls>
            <c:numFmt formatCode="#,##0;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Sheet1!$I$2:$I$7</c:f>
              <c:numCache>
                <c:formatCode>General</c:formatCode>
                <c:ptCount val="6"/>
                <c:pt idx="0">
                  <c:v>4</c:v>
                </c:pt>
                <c:pt idx="1">
                  <c:v>10</c:v>
                </c:pt>
                <c:pt idx="2">
                  <c:v>12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D0BC-4A7C-A7C2-124556FE8FD2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45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300" b="0" i="0" u="none" strike="noStrike">
                <a:solidFill>
                  <a:srgbClr val="1E2761"/>
                </a:solidFill>
                <a:latin typeface="Calibri"/>
              </a:rPr>
              <a:t>YTD mix (43,294 RN)</a:t>
            </a:r>
          </a:p>
        </c:rich>
      </c:tx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YTD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1-00EF-4036-8714-587FF8B76019}"/>
              </c:ext>
            </c:extLst>
          </c:dPt>
          <c:dPt>
            <c:idx val="1"/>
            <c:bubble3D val="0"/>
            <c:spPr>
              <a:solidFill>
                <a:srgbClr val="4A6FC4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00EF-4036-8714-587FF8B76019}"/>
              </c:ext>
            </c:extLst>
          </c:dPt>
          <c:dPt>
            <c:idx val="2"/>
            <c:bubble3D val="0"/>
            <c:spPr>
              <a:solidFill>
                <a:srgbClr val="7FA4D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00EF-4036-8714-587FF8B76019}"/>
              </c:ext>
            </c:extLst>
          </c:dPt>
          <c:dPt>
            <c:idx val="3"/>
            <c:bubble3D val="0"/>
            <c:spPr>
              <a:solidFill>
                <a:srgbClr val="AFC6EC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7-00EF-4036-8714-587FF8B76019}"/>
              </c:ext>
            </c:extLst>
          </c:dPt>
          <c:dPt>
            <c:idx val="4"/>
            <c:bubble3D val="0"/>
            <c:spPr>
              <a:solidFill>
                <a:srgbClr val="D9A441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00EF-4036-8714-587FF8B76019}"/>
              </c:ext>
            </c:extLst>
          </c:dPt>
          <c:dPt>
            <c:idx val="5"/>
            <c:bubble3D val="0"/>
            <c:spPr>
              <a:solidFill>
                <a:srgbClr val="8A5A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B-00EF-4036-8714-587FF8B76019}"/>
              </c:ext>
            </c:extLst>
          </c:dPt>
          <c:dPt>
            <c:idx val="6"/>
            <c:bubble3D val="0"/>
            <c:spPr>
              <a:solidFill>
                <a:srgbClr val="2F8F83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D-00EF-4036-8714-587FF8B76019}"/>
              </c:ext>
            </c:extLst>
          </c:dPt>
          <c:dPt>
            <c:idx val="7"/>
            <c:bubble3D val="0"/>
            <c:spPr>
              <a:solidFill>
                <a:srgbClr val="C97B4A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F-00EF-4036-8714-587FF8B76019}"/>
              </c:ext>
            </c:extLst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00EF-4036-8714-587FF8B76019}"/>
                </c:ext>
              </c:extLst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00EF-4036-8714-587FF8B76019}"/>
                </c:ext>
              </c:extLst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5-00EF-4036-8714-587FF8B76019}"/>
                </c:ext>
              </c:extLst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00EF-4036-8714-587FF8B76019}"/>
                </c:ext>
              </c:extLst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9-00EF-4036-8714-587FF8B76019}"/>
                </c:ext>
              </c:extLst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B-00EF-4036-8714-587FF8B76019}"/>
                </c:ext>
              </c:extLst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D-00EF-4036-8714-587FF8B76019}"/>
                </c:ext>
              </c:extLst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Calibri"/>
                    </a:defRPr>
                  </a:pPr>
                  <a:endParaRPr lang="en-US"/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F-00EF-4036-8714-587FF8B76019}"/>
                </c:ext>
              </c:extLst>
            </c:dLbl>
            <c:numFmt formatCode="0%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endParaRPr lang="en-US"/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  <c:extLst>
              <c:ext xmlns:c15="http://schemas.microsoft.com/office/drawing/2012/chart" uri="{CE6537A1-D6FC-4f65-9D91-7224C49458BB}"/>
            </c:extLst>
          </c:dLbls>
          <c:cat>
            <c:strRef>
              <c:f>Sheet1!$A$2:$A$9</c:f>
              <c:strCache>
                <c:ptCount val="8"/>
                <c:pt idx="0">
                  <c:v>Corporate SS</c:v>
                </c:pt>
                <c:pt idx="1">
                  <c:v>Corporate LS</c:v>
                </c:pt>
                <c:pt idx="2">
                  <c:v>Online</c:v>
                </c:pt>
                <c:pt idx="3">
                  <c:v>ASR</c:v>
                </c:pt>
                <c:pt idx="4">
                  <c:v>Wholesale</c:v>
                </c:pt>
                <c:pt idx="5">
                  <c:v>Wholesale Grp</c:v>
                </c:pt>
                <c:pt idx="6">
                  <c:v>Corporate Group</c:v>
                </c:pt>
                <c:pt idx="7">
                  <c:v>Employee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1879</c:v>
                </c:pt>
                <c:pt idx="1">
                  <c:v>1986</c:v>
                </c:pt>
                <c:pt idx="2">
                  <c:v>12744</c:v>
                </c:pt>
                <c:pt idx="3">
                  <c:v>6426</c:v>
                </c:pt>
                <c:pt idx="4">
                  <c:v>18005</c:v>
                </c:pt>
                <c:pt idx="5">
                  <c:v>1521</c:v>
                </c:pt>
                <c:pt idx="6">
                  <c:v>684</c:v>
                </c:pt>
                <c:pt idx="7">
                  <c:v>49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10-00EF-4036-8714-587FF8B7601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95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pPr>
              <a:defRPr sz="1250" b="0" i="0" u="none" strike="noStrike">
                <a:solidFill>
                  <a:srgbClr val="1E2761"/>
                </a:solidFill>
                <a:latin typeface="Calibri"/>
              </a:defRPr>
            </a:pPr>
            <a:r>
              <a:rPr lang="en-US" sz="1250" b="0" i="0" u="none" strike="noStrike">
                <a:solidFill>
                  <a:srgbClr val="1E2761"/>
                </a:solidFill>
                <a:latin typeface="Calibri"/>
              </a:rPr>
              <a:t>Monthly revenue (฿M)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spPr>
            <a:solidFill>
              <a:srgbClr val="C9D6EE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31309864.370000001</c:v>
                </c:pt>
                <c:pt idx="1">
                  <c:v>33368534.989999998</c:v>
                </c:pt>
                <c:pt idx="2">
                  <c:v>29666255.149999999</c:v>
                </c:pt>
                <c:pt idx="3">
                  <c:v>32611947.120000001</c:v>
                </c:pt>
                <c:pt idx="4">
                  <c:v>26107678.870000001</c:v>
                </c:pt>
                <c:pt idx="5">
                  <c:v>29352910.219999999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43D9-4435-95DF-9F1B1664A373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spPr>
            <a:solidFill>
              <a:srgbClr val="7FA4DC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40587344.039999999</c:v>
                </c:pt>
                <c:pt idx="1">
                  <c:v>32409916.039999999</c:v>
                </c:pt>
                <c:pt idx="2">
                  <c:v>25474783.68</c:v>
                </c:pt>
                <c:pt idx="3">
                  <c:v>27145089.41</c:v>
                </c:pt>
                <c:pt idx="4">
                  <c:v>22399911.440000001</c:v>
                </c:pt>
                <c:pt idx="5">
                  <c:v>19351629.989999998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43D9-4435-95DF-9F1B1664A373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2026</c:v>
                </c:pt>
              </c:strCache>
            </c:strRef>
          </c:tx>
          <c:spPr>
            <a:solidFill>
              <a:srgbClr val="1E2761"/>
            </a:solidFill>
            <a:effectLst/>
          </c:spPr>
          <c:invertIfNegative val="0"/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36745342.880000003</c:v>
                </c:pt>
                <c:pt idx="1">
                  <c:v>32403885.670000002</c:v>
                </c:pt>
                <c:pt idx="2">
                  <c:v>28025998.969999999</c:v>
                </c:pt>
                <c:pt idx="3">
                  <c:v>25796931.440000001</c:v>
                </c:pt>
                <c:pt idx="4">
                  <c:v>22402015.489999998</c:v>
                </c:pt>
                <c:pt idx="5">
                  <c:v>21058802.690000001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43D9-4435-95DF-9F1B1664A37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5E8E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6B72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26292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3708496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+Estimate data in table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th-TH" dirty="0"/>
              <a:t>จีน โต อนเดียโต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 </a:t>
            </a:r>
            <a:r>
              <a:rPr lang="th-TH" dirty="0"/>
              <a:t>มีผลกระทบที่สำคัญ</a:t>
            </a:r>
          </a:p>
          <a:p>
            <a:r>
              <a:rPr lang="th-TH" dirty="0"/>
              <a:t>ตลาดตกจริงเพราะ</a:t>
            </a:r>
            <a:r>
              <a:rPr lang="en-US" dirty="0"/>
              <a:t>xx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3D0B-5609-C509-FBFC-0C3B3A4D7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59CED49-7CBE-236C-21D2-D8B8554681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6F9E2E-C5BF-4883-FEAB-4916269700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35F1EE-A583-AF14-5807-DFBD68248FF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22073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228600" y="1524000"/>
            <a:ext cx="7315200" cy="41148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685800" y="5867400"/>
            <a:ext cx="5486400" cy="4800600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8055055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war</a:t>
            </a:r>
          </a:p>
          <a:p>
            <a:r>
              <a:rPr lang="en-US" dirty="0"/>
              <a:t>Luxury plus ADR</a:t>
            </a:r>
          </a:p>
          <a:p>
            <a:r>
              <a:rPr lang="en-US" dirty="0"/>
              <a:t>Segment </a:t>
            </a:r>
            <a:r>
              <a:rPr lang="th-TH" dirty="0"/>
              <a:t>ที่ต่ำลง ยิ่งแข่ง </a:t>
            </a:r>
            <a:r>
              <a:rPr lang="en-US" dirty="0"/>
              <a:t>Price -&gt; </a:t>
            </a:r>
            <a:r>
              <a:rPr lang="th-TH" dirty="0"/>
              <a:t>ปัญหา</a:t>
            </a:r>
            <a:r>
              <a:rPr lang="en-US" dirty="0"/>
              <a:t> </a:t>
            </a:r>
            <a:r>
              <a:rPr lang="en-US" dirty="0" err="1"/>
              <a:t>Adr</a:t>
            </a:r>
            <a:r>
              <a:rPr lang="en-US" dirty="0"/>
              <a:t> </a:t>
            </a:r>
          </a:p>
          <a:p>
            <a:r>
              <a:rPr lang="en-US" dirty="0"/>
              <a:t>Domestic demand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2AF3A5-7C9C-CE20-48AA-C6CB9E530E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7BEE60-A122-806C-BD0F-6980FC8E17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F3E66D-E7B2-7B96-AA33-B72E56F148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86083C2-1715-F253-70CA-78D0A3B60A79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870487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April </a:t>
            </a:r>
            <a:r>
              <a:rPr lang="th-TH" dirty="0"/>
              <a:t>น้ำมันแพง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Basis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ADR segment &gt;&gt; Trend how the segment shift.</a:t>
            </a:r>
          </a:p>
          <a:p>
            <a:r>
              <a:rPr lang="en-US" dirty="0"/>
              <a:t>Pattern same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</a:t>
            </a:r>
            <a:r>
              <a:rPr lang="en-US" dirty="0" err="1"/>
              <a:t>opex</a:t>
            </a:r>
            <a:r>
              <a:rPr lang="en-US" dirty="0"/>
              <a:t> is good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Soften down lei sure to Corporate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chart" Target="../charts/chart2.xml"/><Relationship Id="rId4" Type="http://schemas.openxmlformats.org/officeDocument/2006/relationships/chart" Target="../charts/chart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chart" Target="../charts/chart7.xml"/><Relationship Id="rId4" Type="http://schemas.openxmlformats.org/officeDocument/2006/relationships/chart" Target="../charts/chart8.xml"/><Relationship Id="rId5" Type="http://schemas.openxmlformats.org/officeDocument/2006/relationships/chart" Target="../charts/chart9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chart" Target="../charts/chart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11.xml"/><Relationship Id="rId4" Type="http://schemas.openxmlformats.org/officeDocument/2006/relationships/chart" Target="../charts/chart12.xml"/><Relationship Id="rId5" Type="http://schemas.openxmlformats.org/officeDocument/2006/relationships/chart" Target="../charts/chart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chart" Target="../charts/chart14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chart" Target="../charts/chart15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chart" Target="../charts/chart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chart" Target="../charts/chart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chart" Target="../charts/chart18.xml"/><Relationship Id="rId4" Type="http://schemas.openxmlformats.org/officeDocument/2006/relationships/chart" Target="../charts/chart19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20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chart" Target="../charts/chart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chart" Target="../charts/chart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3" Type="http://schemas.openxmlformats.org/officeDocument/2006/relationships/chart" Target="../charts/chart23.xml"/><Relationship Id="rId4" Type="http://schemas.openxmlformats.org/officeDocument/2006/relationships/chart" Target="../charts/chart24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chart" Target="../charts/chart2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chart" Target="../charts/chart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chart" Target="../charts/chart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chart" Target="../charts/chart28.xml"/><Relationship Id="rId4" Type="http://schemas.openxmlformats.org/officeDocument/2006/relationships/chart" Target="../charts/chart29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chart" Target="../charts/chart30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chart" Target="../charts/chart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chart" Target="../charts/chart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chart" Target="../charts/chart33.xml"/><Relationship Id="rId4" Type="http://schemas.openxmlformats.org/officeDocument/2006/relationships/chart" Target="../charts/chart34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3" Type="http://schemas.openxmlformats.org/officeDocument/2006/relationships/chart" Target="../charts/chart35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HOTEL PORTFOLIO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548640" y="2331720"/>
            <a:ext cx="111556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 — H1 2026</a:t>
            </a:r>
            <a:endParaRPr lang="en-US" sz="4800" dirty="0"/>
          </a:p>
        </p:txBody>
      </p:sp>
      <p:sp>
        <p:nvSpPr>
          <p:cNvPr id="4" name="Text 2"/>
          <p:cNvSpPr/>
          <p:nvPr/>
        </p:nvSpPr>
        <p:spPr>
          <a:xfrm>
            <a:off x="548640" y="3383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Tourist arrivals · Market (STR) · Portfolio · By property: performance · P&amp;L · segmentation · nationality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58064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(SR9)  ·  Ascott Embassy Sathorn (AES)  ·  lyf Sukhumvit 8 (LYF)  ·  Somerset Pattaya (SP)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6144768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through June 2026 (June arrivals preliminary · STR: Bangkok &amp; Pattaya re-based, Jan–Jun) · Prepared July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Thailand Tourist Arrivals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(MOTS) · Chinese · India · Middle East · Long-haul (EU + USA)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international arrivals (MOTS)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arrivals, all nationalities · H1 summary by year below (2020–22 COVID years omitted)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7498080" cy="2834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Shape 4"/>
          <p:cNvSpPr/>
          <p:nvPr/>
        </p:nvSpPr>
        <p:spPr>
          <a:xfrm>
            <a:off x="8366760" y="1691640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8513064" y="1783080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2026</a:t>
            </a:r>
            <a:endParaRPr lang="en-US" sz="1050" dirty="0"/>
          </a:p>
        </p:txBody>
      </p:sp>
      <p:sp>
        <p:nvSpPr>
          <p:cNvPr id="9" name="Text 6"/>
          <p:cNvSpPr/>
          <p:nvPr/>
        </p:nvSpPr>
        <p:spPr>
          <a:xfrm>
            <a:off x="8513064" y="2002536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16.16M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513064" y="2459736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-3% vs 2025 (16.69M)</a:t>
            </a:r>
            <a:endParaRPr lang="en-US" sz="1050" dirty="0"/>
          </a:p>
        </p:txBody>
      </p:sp>
      <p:sp>
        <p:nvSpPr>
          <p:cNvPr id="11" name="Shape 8"/>
          <p:cNvSpPr/>
          <p:nvPr/>
        </p:nvSpPr>
        <p:spPr>
          <a:xfrm>
            <a:off x="8366760" y="3044952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513064" y="3136392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2025</a:t>
            </a:r>
            <a:endParaRPr lang="en-US" sz="1050" dirty="0"/>
          </a:p>
        </p:txBody>
      </p:sp>
      <p:sp>
        <p:nvSpPr>
          <p:cNvPr id="13" name="Text 10"/>
          <p:cNvSpPr/>
          <p:nvPr/>
        </p:nvSpPr>
        <p:spPr>
          <a:xfrm>
            <a:off x="8513064" y="3355848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16.69M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513064" y="3813048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-4.7% vs 2024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8366760" y="4398264"/>
            <a:ext cx="324612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8513064" y="4489704"/>
            <a:ext cx="2953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PRE-COVID (2019)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8513064" y="4709160"/>
            <a:ext cx="295351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8513064" y="5166360"/>
            <a:ext cx="295351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Jan–Jun 2019 level</a:t>
            </a:r>
            <a:endParaRPr lang="en-US" sz="1050" dirty="0"/>
          </a:p>
        </p:txBody>
      </p:sp>
      <p:sp>
        <p:nvSpPr>
          <p:cNvPr id="19" name="Text 16"/>
          <p:cNvSpPr/>
          <p:nvPr/>
        </p:nvSpPr>
        <p:spPr>
          <a:xfrm>
            <a:off x="548640" y="617220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MOTS. June 2026 lost 4 days to a system error; "+Jun est." adds the pro-rated estimate (June ≈ 2.12M, H1 ≈ 16.16M = −3.2% vs 2025) from the workbook audit sheet.</a:t>
            </a:r>
            <a:endParaRPr lang="en-US" sz="1050" dirty="0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DE0E574B-D851-0770-1155-49CA203A1272}"/>
              </a:ext>
            </a:extLst>
          </p:cNvPr>
          <p:cNvSpPr/>
          <p:nvPr/>
        </p:nvSpPr>
        <p:spPr>
          <a:xfrm>
            <a:off x="4343469" y="2743866"/>
            <a:ext cx="144454" cy="246222"/>
          </a:xfrm>
          <a:prstGeom prst="rect">
            <a:avLst/>
          </a:prstGeom>
          <a:solidFill>
            <a:srgbClr val="1E2761">
              <a:alpha val="30196"/>
            </a:srgbClr>
          </a:solidFill>
          <a:ln>
            <a:solidFill>
              <a:srgbClr val="FF0000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C49297B-A31C-4886-062D-DEB7734F8EFE}"/>
              </a:ext>
            </a:extLst>
          </p:cNvPr>
          <p:cNvSpPr txBox="1"/>
          <p:nvPr/>
        </p:nvSpPr>
        <p:spPr>
          <a:xfrm>
            <a:off x="4082489" y="2436116"/>
            <a:ext cx="139494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**Missing 4 days data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88823B-49F8-4CF8-9266-A59B431BC122}"/>
              </a:ext>
            </a:extLst>
          </p:cNvPr>
          <p:cNvSpPr txBox="1"/>
          <p:nvPr/>
        </p:nvSpPr>
        <p:spPr>
          <a:xfrm>
            <a:off x="1742898" y="4297513"/>
            <a:ext cx="53807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**CNY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8530198-3EC4-CD79-A189-649DBADE152B}"/>
              </a:ext>
            </a:extLst>
          </p:cNvPr>
          <p:cNvSpPr txBox="1"/>
          <p:nvPr/>
        </p:nvSpPr>
        <p:spPr>
          <a:xfrm>
            <a:off x="8464060" y="2361492"/>
            <a:ext cx="1094448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900" b="1" dirty="0">
                <a:solidFill>
                  <a:srgbClr val="26292E"/>
                </a:solidFill>
                <a:latin typeface="Calibri"/>
              </a:rPr>
              <a:t>(Estimate + actual)</a:t>
            </a:r>
            <a:endParaRPr lang="en-US" dirty="0"/>
          </a:p>
        </p:txBody>
      </p:sp>
      <p:graphicFrame>
        <p:nvGraphicFramePr>
          <p:cNvPr id="35" name="Table 34"/>
          <p:cNvGraphicFramePr>
            <a:graphicFrameLocks noGrp="1"/>
          </p:cNvGraphicFramePr>
          <p:nvPr/>
        </p:nvGraphicFramePr>
        <p:xfrm>
          <a:off x="548640" y="4572000"/>
          <a:ext cx="7406640" cy="14401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914400"/>
                <a:gridCol w="914400"/>
                <a:gridCol w="914400"/>
                <a:gridCol w="914400"/>
                <a:gridCol w="914400"/>
                <a:gridCol w="914400"/>
                <a:gridCol w="1234440"/>
              </a:tblGrid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3,713,172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3,600,922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3,478,687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3,216,929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2,736,598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3,056,697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19,803,005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3,035,296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3,352,302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2,982,721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2,757,128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2,633,464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2,740,372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17,501,283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3,709,102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3,119,445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2,720,457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2,547,116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2,266,574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2,322,775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16,685,469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3,277,908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3,263,802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2,775,199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2,368,895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2,346,845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1,841,551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15,874,200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26 +Jun est.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0">
                          <a:solidFill>
                            <a:srgbClr val="595959"/>
                          </a:solidFill>
                          <a:latin typeface="Calibri"/>
                        </a:rPr>
                        <a:t>2,124,867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595959"/>
                          </a:solidFill>
                          <a:latin typeface="Calibri"/>
                        </a:rPr>
                        <a:t>16,157,516 (-3.2%)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05740">
                <a:tc>
                  <a:txBody>
                    <a:bodyPr wrap="none"/>
                    <a:lstStyle/>
                    <a:p>
                      <a:pPr algn="l"/>
                      <a:r>
                        <a:rPr sz="80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-12%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-21%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00" b="1">
                          <a:solidFill>
                            <a:srgbClr val="C62828"/>
                          </a:solidFill>
                          <a:latin typeface="Calibri"/>
                        </a:rPr>
                        <a:t>-4.9%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Chinese &amp; India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by year · China: 2019 shown as pre-COVID reference · India: record highs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China is recovering vs a weak 2025 (still ~46% of pre-COVID); India is the strongest growth market — +24% in Jan and a record H1. June carries the MOTS 4-day data gap.</a:t>
            </a:r>
            <a:endParaRPr lang="en-US" sz="1050" dirty="0"/>
          </a:p>
        </p:txBody>
      </p:sp>
      <p:graphicFrame>
        <p:nvGraphicFramePr>
          <p:cNvPr id="920" name="Chart 0"/>
          <p:cNvGraphicFramePr/>
          <p:nvPr/>
        </p:nvGraphicFramePr>
        <p:xfrm>
          <a:off x="6291072" y="1856231"/>
          <a:ext cx="5349240" cy="26060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21" name="TextBox 920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CHINA</a:t>
            </a:r>
          </a:p>
        </p:txBody>
      </p:sp>
      <p:sp>
        <p:nvSpPr>
          <p:cNvPr id="922" name="TextBox 921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INDIA</a:t>
            </a:r>
          </a:p>
        </p:txBody>
      </p:sp>
      <p:sp>
        <p:nvSpPr>
          <p:cNvPr id="923" name="TextBox 922"/>
          <p:cNvSpPr txBox="1"/>
          <p:nvPr/>
        </p:nvSpPr>
        <p:spPr>
          <a:xfrm>
            <a:off x="548640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>
                <a:solidFill>
                  <a:srgbClr val="26292E"/>
                </a:solidFill>
                <a:latin typeface="Calibri"/>
              </a:rPr>
              <a:t>H1: 2.60M · +14.8% vs 2025 · still 46% of 2019, 76% of 2024</a:t>
            </a:r>
          </a:p>
        </p:txBody>
      </p:sp>
      <p:sp>
        <p:nvSpPr>
          <p:cNvPr id="924" name="TextBox 923"/>
          <p:cNvSpPr txBox="1"/>
          <p:nvPr/>
        </p:nvSpPr>
        <p:spPr>
          <a:xfrm>
            <a:off x="6291072" y="5870448"/>
            <a:ext cx="5349240" cy="27432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100" b="1" dirty="0">
                <a:solidFill>
                  <a:srgbClr val="26292E"/>
                </a:solidFill>
                <a:latin typeface="Calibri"/>
              </a:rPr>
              <a:t>H1: 1.22M · +3.1% vs 2025 — record high, 3rd straight growth year</a:t>
            </a:r>
          </a:p>
        </p:txBody>
      </p:sp>
      <p:graphicFrame>
        <p:nvGraphicFramePr>
          <p:cNvPr id="925" name="Table 924"/>
          <p:cNvGraphicFramePr>
            <a:graphicFrameLocks noGrp="1"/>
          </p:cNvGraphicFramePr>
          <p:nvPr/>
        </p:nvGraphicFramePr>
        <p:xfrm>
          <a:off x="548640" y="4553712"/>
          <a:ext cx="5349240" cy="11292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2019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1,069,787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1,064,806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985,232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898,994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794,913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894,105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5,707,837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508,563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674,558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573,216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595,572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559,461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528,112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3,439,482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662,779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371,542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297,113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317,213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310,292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306,617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2,265,556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400,321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677,768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410,624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418,291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411,308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26292E"/>
                          </a:solidFill>
                          <a:latin typeface="Calibri"/>
                        </a:rPr>
                        <a:t>283,297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2,601,609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+82%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+33%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+14.8%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aphicFrame>
        <p:nvGraphicFramePr>
          <p:cNvPr id="926" name="Table 925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148,992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161,129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170,635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198,993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197,489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1,040,069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185,809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169,988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187,973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206,286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228,544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205,299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1,183,899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231,184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185,930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208,484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206,641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224,490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163,378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1,220,107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+24%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+11%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+3.1%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Right Brace 7">
            <a:extLst>
              <a:ext uri="{FF2B5EF4-FFF2-40B4-BE49-F238E27FC236}">
                <a16:creationId xmlns:a16="http://schemas.microsoft.com/office/drawing/2014/main" id="{D4E25DBC-C75C-A38C-282A-6E36E013E6BD}"/>
              </a:ext>
            </a:extLst>
          </p:cNvPr>
          <p:cNvSpPr/>
          <p:nvPr/>
        </p:nvSpPr>
        <p:spPr>
          <a:xfrm rot="16200000">
            <a:off x="10665671" y="1091532"/>
            <a:ext cx="201573" cy="1529396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38C4911-6CFD-051C-79B0-C66503D77E6B}"/>
              </a:ext>
            </a:extLst>
          </p:cNvPr>
          <p:cNvSpPr txBox="1"/>
          <p:nvPr/>
        </p:nvSpPr>
        <p:spPr>
          <a:xfrm>
            <a:off x="10171692" y="1434722"/>
            <a:ext cx="118953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/>
              <a:t>60 days free</a:t>
            </a:r>
          </a:p>
          <a:p>
            <a:pPr algn="ctr"/>
            <a:r>
              <a:rPr lang="en-US" sz="1100" dirty="0"/>
              <a:t>Visa cancellation</a:t>
            </a:r>
          </a:p>
        </p:txBody>
      </p:sp>
      <p:sp>
        <p:nvSpPr>
          <p:cNvPr id="11" name="Star: 5 Points 10">
            <a:extLst>
              <a:ext uri="{FF2B5EF4-FFF2-40B4-BE49-F238E27FC236}">
                <a16:creationId xmlns:a16="http://schemas.microsoft.com/office/drawing/2014/main" id="{A562E0FA-9704-8132-4444-81CCA9392039}"/>
              </a:ext>
            </a:extLst>
          </p:cNvPr>
          <p:cNvSpPr/>
          <p:nvPr/>
        </p:nvSpPr>
        <p:spPr>
          <a:xfrm>
            <a:off x="2298305" y="2648380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3FC0792-EC48-F0A8-C0CB-13257F1617C5}"/>
              </a:ext>
            </a:extLst>
          </p:cNvPr>
          <p:cNvSpPr txBox="1"/>
          <p:nvPr/>
        </p:nvSpPr>
        <p:spPr>
          <a:xfrm>
            <a:off x="2360519" y="2601468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C7FA66A-63D9-510D-080F-A75BC777C4AA}"/>
              </a:ext>
            </a:extLst>
          </p:cNvPr>
          <p:cNvSpPr/>
          <p:nvPr/>
        </p:nvSpPr>
        <p:spPr>
          <a:xfrm>
            <a:off x="6291072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5043DD46-7609-7956-8D38-36227600EC9E}"/>
              </a:ext>
            </a:extLst>
          </p:cNvPr>
          <p:cNvSpPr/>
          <p:nvPr/>
        </p:nvSpPr>
        <p:spPr>
          <a:xfrm>
            <a:off x="548640" y="5680609"/>
            <a:ext cx="534924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TOURIST ARRIVALS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&amp; Long-haul arrivals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Jan–Jun · Middle East by year (2019 = pre-COVID reference) · Long-haul = Europe + USA combined, monthly by year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854971644"/>
              </p:ext>
            </p:extLst>
          </p:nvPr>
        </p:nvGraphicFramePr>
        <p:xfrm>
          <a:off x="548640" y="1755646"/>
          <a:ext cx="5349240" cy="279806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" name="Text 16"/>
          <p:cNvSpPr/>
          <p:nvPr/>
        </p:nvSpPr>
        <p:spPr>
          <a:xfrm>
            <a:off x="548640" y="638251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Middle East volumes dropped sharply from February — regional war effect. Long-haul held up — strong Jan–Feb offset a softer April; June carries the MOTS 4-day data gap.</a:t>
            </a:r>
            <a:endParaRPr lang="en-US" sz="1050" dirty="0"/>
          </a:p>
        </p:txBody>
      </p:sp>
      <p:sp>
        <p:nvSpPr>
          <p:cNvPr id="939" name="TextBox 938"/>
          <p:cNvSpPr txBox="1"/>
          <p:nvPr/>
        </p:nvSpPr>
        <p:spPr>
          <a:xfrm>
            <a:off x="548640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MIDDLE EAST</a:t>
            </a:r>
          </a:p>
        </p:txBody>
      </p:sp>
      <p:sp>
        <p:nvSpPr>
          <p:cNvPr id="942" name="TextBox 941"/>
          <p:cNvSpPr txBox="1"/>
          <p:nvPr/>
        </p:nvSpPr>
        <p:spPr>
          <a:xfrm>
            <a:off x="548640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202k · −28.5% vs 25 · 36% of 2019 · worst: Apr −57%</a:t>
            </a:r>
          </a:p>
        </p:txBody>
      </p:sp>
      <p:graphicFrame>
        <p:nvGraphicFramePr>
          <p:cNvPr id="943" name="Chart 94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54256271"/>
              </p:ext>
            </p:extLst>
          </p:nvPr>
        </p:nvGraphicFramePr>
        <p:xfrm>
          <a:off x="6291072" y="1755647"/>
          <a:ext cx="5349240" cy="279806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44" name="TextBox 943"/>
          <p:cNvSpPr txBox="1"/>
          <p:nvPr/>
        </p:nvSpPr>
        <p:spPr>
          <a:xfrm>
            <a:off x="6291072" y="1481328"/>
            <a:ext cx="5349240" cy="2560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200" b="1">
                <a:solidFill>
                  <a:srgbClr val="1E2761"/>
                </a:solidFill>
                <a:latin typeface="Calibri"/>
              </a:rPr>
              <a:t>LONG-HAUL (EU + USA)</a:t>
            </a:r>
          </a:p>
        </p:txBody>
      </p:sp>
      <p:sp>
        <p:nvSpPr>
          <p:cNvPr id="945" name="TextBox 944"/>
          <p:cNvSpPr txBox="1"/>
          <p:nvPr/>
        </p:nvSpPr>
        <p:spPr>
          <a:xfrm>
            <a:off x="6291072" y="5870448"/>
            <a:ext cx="5349240" cy="292608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1050" b="1" dirty="0">
                <a:solidFill>
                  <a:srgbClr val="26292E"/>
                </a:solidFill>
                <a:latin typeface="Calibri"/>
              </a:rPr>
              <a:t>H1: 5.05M · −1.2% vs 25 (Europe 4.25M −1.1% · USA 796k −1.6%)</a:t>
            </a:r>
          </a:p>
        </p:txBody>
      </p:sp>
      <p:graphicFrame>
        <p:nvGraphicFramePr>
          <p:cNvPr id="946" name="Table 945"/>
          <p:cNvGraphicFramePr>
            <a:graphicFrameLocks noGrp="1"/>
          </p:cNvGraphicFramePr>
          <p:nvPr/>
        </p:nvGraphicFramePr>
        <p:xfrm>
          <a:off x="548640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44,223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35,346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8,455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45,071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44,106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97,083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274,284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49,839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32,831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18,708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50,561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48,650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82,462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283,051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52,261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15,814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12,201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21,707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47,726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52,702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202,411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-57%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graphicFrame>
        <p:nvGraphicFramePr>
          <p:cNvPr id="947" name="Table 946"/>
          <p:cNvGraphicFramePr>
            <a:graphicFrameLocks noGrp="1"/>
          </p:cNvGraphicFramePr>
          <p:nvPr/>
        </p:nvGraphicFramePr>
        <p:xfrm>
          <a:off x="6291072" y="4553712"/>
          <a:ext cx="5349240" cy="960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5836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4066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9164">
                <a:tc>
                  <a:txBody>
                    <a:bodyPr/>
                    <a:lstStyle/>
                    <a:p>
                      <a:pPr algn="l"/>
                      <a:endParaRPr/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Jan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Feb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Apr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May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Jun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1,026,029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987,508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901,645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631,332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440,983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432,499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4,419,996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0">
                          <a:solidFill>
                            <a:srgbClr val="26292E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1,257,708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1,156,356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1,006,483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771,553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465,502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451,775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0">
                          <a:solidFill>
                            <a:srgbClr val="595959"/>
                          </a:solidFill>
                          <a:latin typeface="Calibri"/>
                        </a:rPr>
                        <a:t>5,109,377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1,366,171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1,202,154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967,437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666,472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467,734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380,136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5,050,104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9164">
                <a:tc>
                  <a:txBody>
                    <a:bodyPr/>
                    <a:lstStyle/>
                    <a:p>
                      <a:pPr algn="l"/>
                      <a:r>
                        <a:rPr sz="750" b="1">
                          <a:solidFill>
                            <a:srgbClr val="26292E"/>
                          </a:solidFill>
                          <a:latin typeface="Calibri"/>
                        </a:rPr>
                        <a:t>26 vs 25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1E7B34"/>
                          </a:solidFill>
                          <a:latin typeface="Calibri"/>
                        </a:rPr>
                        <a:t>+9%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-14%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1E7B34"/>
                          </a:solidFill>
                          <a:latin typeface="Calibri"/>
                        </a:rPr>
                        <a:t>+0%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>
                          <a:solidFill>
                            <a:srgbClr val="C62828"/>
                          </a:solidFill>
                          <a:latin typeface="Calibri"/>
                        </a:rPr>
                        <a:t>-16%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750" b="1" dirty="0">
                          <a:solidFill>
                            <a:srgbClr val="C62828"/>
                          </a:solidFill>
                          <a:latin typeface="Calibri"/>
                        </a:rPr>
                        <a:t>-1.2%</a:t>
                      </a:r>
                    </a:p>
                  </a:txBody>
                  <a:tcPr marL="27432" marR="27432" marT="4572" marB="4572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5844BE5D-A0BA-0358-7619-84635144C752}"/>
              </a:ext>
            </a:extLst>
          </p:cNvPr>
          <p:cNvSpPr txBox="1"/>
          <p:nvPr/>
        </p:nvSpPr>
        <p:spPr>
          <a:xfrm>
            <a:off x="1868506" y="3109627"/>
            <a:ext cx="75411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**ME War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5112495-5200-8E74-A52E-1171004B053A}"/>
              </a:ext>
            </a:extLst>
          </p:cNvPr>
          <p:cNvSpPr txBox="1"/>
          <p:nvPr/>
        </p:nvSpPr>
        <p:spPr>
          <a:xfrm>
            <a:off x="3623129" y="2535244"/>
            <a:ext cx="754113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**Fuel Most effected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86D3D91A-0DB6-6E24-99FE-A520BE05185E}"/>
              </a:ext>
            </a:extLst>
          </p:cNvPr>
          <p:cNvSpPr/>
          <p:nvPr/>
        </p:nvSpPr>
        <p:spPr>
          <a:xfrm rot="16200000">
            <a:off x="4128486" y="553067"/>
            <a:ext cx="292609" cy="290874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E4E22DB-AFAD-6BDF-F76E-FF39AE62E5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6079A81D-15BF-EB2A-A929-89FBC8E2147F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92A079B0-9A0B-3BC6-B93A-2183125E4175}"/>
              </a:ext>
            </a:extLst>
          </p:cNvPr>
          <p:cNvSpPr/>
          <p:nvPr/>
        </p:nvSpPr>
        <p:spPr>
          <a:xfrm>
            <a:off x="2514600" y="1965960"/>
            <a:ext cx="6944360" cy="169244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Hotel Market</a:t>
            </a: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12832558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B068016A-BE69-D249-3422-1A449666B143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Bangkok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 dirty="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7179443"/>
              </p:ext>
            </p:extLst>
          </p:nvPr>
        </p:nvGraphicFramePr>
        <p:xfrm>
          <a:off x="548640" y="1323594"/>
          <a:ext cx="11094720" cy="2552491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4269870"/>
              </p:ext>
            </p:extLst>
          </p:nvPr>
        </p:nvGraphicFramePr>
        <p:xfrm>
          <a:off x="563880" y="3973560"/>
          <a:ext cx="11064240" cy="182098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27.23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28.32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26.98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27.86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>
                          <a:solidFill>
                            <a:srgbClr val="26292E"/>
                          </a:solidFill>
                          <a:latin typeface="Calibri"/>
                        </a:rPr>
                        <a:t>15.62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14.55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strike="noStrike" dirty="0">
                          <a:solidFill>
                            <a:srgbClr val="26292E"/>
                          </a:solidFill>
                          <a:latin typeface="Calibri"/>
                        </a:rPr>
                        <a:t>15.45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11.62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13.49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highlight>
                            <a:srgbClr val="FFFF00"/>
                          </a:highlight>
                          <a:latin typeface="Calibri"/>
                        </a:rPr>
                        <a:t>12.42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-4.7%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-5.1%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+6.2%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0141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-7.9%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-0.1%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638C1245-2B94-E895-1548-4E1A61CE948D}"/>
              </a:ext>
            </a:extLst>
          </p:cNvPr>
          <p:cNvSpPr txBox="1"/>
          <p:nvPr/>
        </p:nvSpPr>
        <p:spPr>
          <a:xfrm>
            <a:off x="545658" y="5867699"/>
            <a:ext cx="1106424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Key takeaway : Even the number arrival total is -3% . Total international arrival </a:t>
            </a:r>
            <a:r>
              <a:rPr lang="en-US" sz="1100" baseline="0" dirty="0"/>
              <a:t>in Bangkok is similar to </a:t>
            </a:r>
            <a:r>
              <a:rPr lang="en-US" sz="1100" dirty="0"/>
              <a:t>LY </a:t>
            </a:r>
            <a:r>
              <a:rPr lang="en-US" sz="1100" baseline="0" dirty="0"/>
              <a:t>(-0.1%)</a:t>
            </a:r>
            <a:endParaRPr lang="en-US" sz="1100" dirty="0"/>
          </a:p>
          <a:p>
            <a:pPr marL="171450" indent="-171450" algn="l">
              <a:buFont typeface="Arial" panose="020B0604020202020204" pitchFamily="34" charset="0"/>
              <a:buChar char="•"/>
            </a:pPr>
            <a:r>
              <a:rPr lang="en-US" sz="1100" dirty="0"/>
              <a:t>BC the drops come from Phuket and Pattaya</a:t>
            </a:r>
          </a:p>
        </p:txBody>
      </p:sp>
    </p:spTree>
    <p:extLst>
      <p:ext uri="{BB962C8B-B14F-4D97-AF65-F5344CB8AC3E}">
        <p14:creationId xmlns:p14="http://schemas.microsoft.com/office/powerpoint/2010/main" val="277155630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Rectangle 24">
            <a:extLst>
              <a:ext uri="{FF2B5EF4-FFF2-40B4-BE49-F238E27FC236}">
                <a16:creationId xmlns:a16="http://schemas.microsoft.com/office/drawing/2014/main" id="{E5541981-8D5B-7750-A24A-85CC7D50BD24}"/>
              </a:ext>
            </a:extLst>
          </p:cNvPr>
          <p:cNvSpPr/>
          <p:nvPr/>
        </p:nvSpPr>
        <p:spPr>
          <a:xfrm>
            <a:off x="548640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Bangkok overall (all classes) · STR monthly reports 2024–2026 · Jan–Jun monthly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951800409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13813365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125956722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3192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(Bangkok overall):   Occ +2.3%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ADR −1.4%   </a:t>
            </a:r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  RevPAR +0.9%</a:t>
            </a:r>
            <a:endParaRPr lang="en-US" sz="1250" dirty="0"/>
          </a:p>
        </p:txBody>
      </p:sp>
      <p:graphicFrame>
        <p:nvGraphicFramePr>
          <p:cNvPr id="11" name="Table 1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83971682"/>
              </p:ext>
            </p:extLst>
          </p:nvPr>
        </p:nvGraphicFramePr>
        <p:xfrm>
          <a:off x="548639" y="4343400"/>
          <a:ext cx="11091672" cy="11887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881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6384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  <a:gridCol w="941746">
                  <a:extLst>
                    <a:ext uri="{9D8B030D-6E8A-4147-A177-3AD203B41FA5}">
                      <a16:colId xmlns:a16="http://schemas.microsoft.com/office/drawing/2014/main" val="20009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 class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Luxury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65.1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+2.6%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7,007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7,082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+1.1%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4,560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4,729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Upper 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68.6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68.9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4,430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4,301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3,039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2,965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71.8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75.4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+5.1%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3,130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2,991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-4.5%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2,247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2,256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pPr algn="l"/>
                      <a:r>
                        <a:rPr sz="850" b="0" dirty="0">
                          <a:solidFill>
                            <a:srgbClr val="26292E"/>
                          </a:solidFill>
                          <a:latin typeface="Calibri"/>
                        </a:rPr>
                        <a:t>Upper Midscale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74.3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76.8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+3.4%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2,834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2,635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-7.0%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2,106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2,024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 dirty="0">
                          <a:solidFill>
                            <a:srgbClr val="C62828"/>
                          </a:solidFill>
                          <a:latin typeface="Calibri"/>
                        </a:rPr>
                        <a:t>-3.9%</a:t>
                      </a:r>
                    </a:p>
                  </a:txBody>
                  <a:tcPr marL="36576" marR="36576" marT="7315" marB="7315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48640" y="5738975"/>
            <a:ext cx="11091672" cy="230832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lang="en-US" sz="1200" dirty="0">
                <a:solidFill>
                  <a:srgbClr val="595959"/>
                </a:solidFill>
                <a:latin typeface="Calibri"/>
              </a:rPr>
              <a:t>Key takeaway : </a:t>
            </a:r>
            <a:r>
              <a:rPr sz="1200" dirty="0">
                <a:solidFill>
                  <a:srgbClr val="595959"/>
                </a:solidFill>
                <a:latin typeface="Calibri"/>
              </a:rPr>
              <a:t>Luxury is the only class holding rate (+1.1%) — every other class cut ADR while occupancy recovered, the market-wide version of the rate-for-volume trade.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66D82F-3185-C779-478F-80FF275E3664}"/>
              </a:ext>
            </a:extLst>
          </p:cNvPr>
          <p:cNvSpPr txBox="1"/>
          <p:nvPr/>
        </p:nvSpPr>
        <p:spPr>
          <a:xfrm>
            <a:off x="7906043" y="984738"/>
            <a:ext cx="19741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April??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1FDBC196-F69E-4BD1-1768-7DEF4F940DBC}"/>
              </a:ext>
            </a:extLst>
          </p:cNvPr>
          <p:cNvSpPr/>
          <p:nvPr/>
        </p:nvSpPr>
        <p:spPr>
          <a:xfrm rot="16200000" flipH="1">
            <a:off x="10873917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A0757AD-A561-E33B-C7BE-DCC2514B2BF7}"/>
              </a:ext>
            </a:extLst>
          </p:cNvPr>
          <p:cNvSpPr txBox="1"/>
          <p:nvPr/>
        </p:nvSpPr>
        <p:spPr>
          <a:xfrm>
            <a:off x="10511839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Right Brace 19">
            <a:extLst>
              <a:ext uri="{FF2B5EF4-FFF2-40B4-BE49-F238E27FC236}">
                <a16:creationId xmlns:a16="http://schemas.microsoft.com/office/drawing/2014/main" id="{3F6D5320-6995-BFC8-23C9-8B0E1FB06C50}"/>
              </a:ext>
            </a:extLst>
          </p:cNvPr>
          <p:cNvSpPr/>
          <p:nvPr/>
        </p:nvSpPr>
        <p:spPr>
          <a:xfrm rot="16200000" flipH="1">
            <a:off x="7086844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02F9CDA-50EF-802D-0A4E-61D3366A8F99}"/>
              </a:ext>
            </a:extLst>
          </p:cNvPr>
          <p:cNvSpPr txBox="1"/>
          <p:nvPr/>
        </p:nvSpPr>
        <p:spPr>
          <a:xfrm>
            <a:off x="6724766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2" name="Right Brace 21">
            <a:extLst>
              <a:ext uri="{FF2B5EF4-FFF2-40B4-BE49-F238E27FC236}">
                <a16:creationId xmlns:a16="http://schemas.microsoft.com/office/drawing/2014/main" id="{9FA69062-879C-BF76-A32C-5DAF0B241F01}"/>
              </a:ext>
            </a:extLst>
          </p:cNvPr>
          <p:cNvSpPr/>
          <p:nvPr/>
        </p:nvSpPr>
        <p:spPr>
          <a:xfrm rot="16200000" flipH="1">
            <a:off x="3178391" y="2865271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FB07932-8C4E-8A97-584D-52A5F0DC674A}"/>
              </a:ext>
            </a:extLst>
          </p:cNvPr>
          <p:cNvSpPr txBox="1"/>
          <p:nvPr/>
        </p:nvSpPr>
        <p:spPr>
          <a:xfrm>
            <a:off x="2816313" y="3619678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0206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1F7DF7B-61AE-4183-3010-CCE5E2AD7E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073B7DB2-D012-32E1-1B91-CDBEEE14DD8D}"/>
              </a:ext>
            </a:extLst>
          </p:cNvPr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1.2</a:t>
            </a:r>
            <a:endParaRPr lang="en-US" sz="9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AB051A42-3A8D-125D-B9B0-7559C561E523}"/>
              </a:ext>
            </a:extLst>
          </p:cNvPr>
          <p:cNvSpPr/>
          <p:nvPr/>
        </p:nvSpPr>
        <p:spPr>
          <a:xfrm>
            <a:off x="2514600" y="1961949"/>
            <a:ext cx="5958840" cy="27151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Tourist Arrivals + Revenue from tourists</a:t>
            </a:r>
          </a:p>
          <a:p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Hotel Market</a:t>
            </a:r>
            <a:endParaRPr lang="en-US" sz="4000" dirty="0"/>
          </a:p>
          <a:p>
            <a:pPr marL="0" indent="0">
              <a:buNone/>
            </a:pPr>
            <a:endParaRPr lang="en-US" sz="40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612A9611-A91A-2CCB-AAD3-DAAB4E3CB4AA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932368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b="1">
                <a:solidFill>
                  <a:srgbClr val="D9A441"/>
                </a:solidFill>
                <a:latin typeface="Calibri"/>
              </a:rPr>
              <a:t>SECTION 1 · TOURIST ARRIVALS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1106424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800" b="1">
                <a:solidFill>
                  <a:srgbClr val="1E2761"/>
                </a:solidFill>
                <a:latin typeface="Calibri"/>
              </a:rPr>
              <a:t>Pattaya (Chonburi) — tourist arrivals &amp; revenue from tourists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60704"/>
            <a:ext cx="1106424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50">
                <a:solidFill>
                  <a:srgbClr val="6B7280"/>
                </a:solidFill>
                <a:latin typeface="Calibri"/>
              </a:rPr>
              <a:t>H1 (Jan–Jun) each year · source: MOTS provincial data (Province arrival / Revenue from tourists sheets)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2281436"/>
              </p:ext>
            </p:extLst>
          </p:nvPr>
        </p:nvGraphicFramePr>
        <p:xfrm>
          <a:off x="548640" y="1600200"/>
          <a:ext cx="11064240" cy="255910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68741768"/>
              </p:ext>
            </p:extLst>
          </p:nvPr>
        </p:nvGraphicFramePr>
        <p:xfrm>
          <a:off x="548640" y="4288536"/>
          <a:ext cx="11064240" cy="17602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2023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2024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2025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2026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Total arrivals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11.82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13.35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13.87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13.51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Domestic (M)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7.57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8.38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>
                          <a:solidFill>
                            <a:srgbClr val="26292E"/>
                          </a:solidFill>
                          <a:latin typeface="Calibri"/>
                        </a:rPr>
                        <a:t>- International (M)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4.70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5.78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5.42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5.13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Total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+12.9%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+4.0%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Dom arrivals vs LY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E7D32"/>
                          </a:solidFill>
                          <a:latin typeface="Calibri"/>
                        </a:rPr>
                        <a:t>+6.3%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+11.6%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8600">
                <a:tc>
                  <a:txBody>
                    <a:bodyPr/>
                    <a:lstStyle/>
                    <a:p>
                      <a:r>
                        <a:rPr sz="1050" b="1" dirty="0">
                          <a:solidFill>
                            <a:srgbClr val="26292E"/>
                          </a:solidFill>
                          <a:latin typeface="Calibri"/>
                        </a:rPr>
                        <a:t>Intl arrivals vs LY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26292E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2E7D32"/>
                          </a:solidFill>
                          <a:latin typeface="Calibri"/>
                        </a:rPr>
                        <a:t>+23.0%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>
                          <a:solidFill>
                            <a:srgbClr val="C0392B"/>
                          </a:solidFill>
                          <a:latin typeface="Calibri"/>
                        </a:rPr>
                        <a:t>-6.2%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 b="0" dirty="0">
                          <a:solidFill>
                            <a:srgbClr val="C0392B"/>
                          </a:solidFill>
                          <a:latin typeface="Calibri"/>
                        </a:rPr>
                        <a:t>-5.4%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4DC70740-E16C-CB88-C339-2F29B5B4940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59431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MARKET (STR)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Pattaya market — Occ / ADR / RevPAR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 market basis (re-based Jun 2026) · Jan–Jun · 2025 derived from reported % change · prior years not comparable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47986545"/>
              </p:ext>
            </p:extLst>
          </p:nvPr>
        </p:nvGraphicFramePr>
        <p:xfrm>
          <a:off x="54864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>
            <p:extLst>
              <p:ext uri="{D42A27DB-BD31-4B8C-83A1-F6EECF244321}">
                <p14:modId xmlns:p14="http://schemas.microsoft.com/office/powerpoint/2010/main" val="3264171204"/>
              </p:ext>
            </p:extLst>
          </p:nvPr>
        </p:nvGraphicFramePr>
        <p:xfrm>
          <a:off x="434340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8" name="Chart 2"/>
          <p:cNvGraphicFramePr/>
          <p:nvPr>
            <p:extLst>
              <p:ext uri="{D42A27DB-BD31-4B8C-83A1-F6EECF244321}">
                <p14:modId xmlns:p14="http://schemas.microsoft.com/office/powerpoint/2010/main" val="357851450"/>
              </p:ext>
            </p:extLst>
          </p:nvPr>
        </p:nvGraphicFramePr>
        <p:xfrm>
          <a:off x="8138160" y="1554480"/>
          <a:ext cx="361188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395020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5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2026 vs 2025 (Compset sheet):   </a:t>
            </a:r>
            <a:r>
              <a:rPr lang="en-US" sz="1250" b="1" dirty="0">
                <a:solidFill>
                  <a:srgbClr val="FF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 -2.0 pts   ·   ADR -0.3%   ·   RevPAR -3.3%</a:t>
            </a:r>
            <a:endParaRPr lang="en-US" sz="1250" dirty="0">
              <a:solidFill>
                <a:srgbClr val="FF0000"/>
              </a:solidFill>
            </a:endParaRPr>
          </a:p>
        </p:txBody>
      </p:sp>
      <p:sp>
        <p:nvSpPr>
          <p:cNvPr id="10" name="Text 5"/>
          <p:cNvSpPr/>
          <p:nvPr/>
        </p:nvSpPr>
        <p:spPr>
          <a:xfrm>
            <a:off x="548640" y="6199632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 per the workbook Compset sheet (updated Jul 2026): Pattaya softened in H1 — occupancy ran below 2025 through Q2 (−2.0 pts) while rate held broadly flat (ADR −0.3%); RevPAR −3.3%.</a:t>
            </a:r>
            <a:endParaRPr lang="en-US" sz="1050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7E8D0-2F35-D50E-D759-648928A5822D}"/>
              </a:ext>
            </a:extLst>
          </p:cNvPr>
          <p:cNvSpPr txBox="1"/>
          <p:nvPr/>
        </p:nvSpPr>
        <p:spPr>
          <a:xfrm>
            <a:off x="2879188" y="2404048"/>
            <a:ext cx="1237957" cy="4314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32BB7564-58AA-2AEE-602C-AC8A26BAEE83}"/>
              </a:ext>
            </a:extLst>
          </p:cNvPr>
          <p:cNvSpPr/>
          <p:nvPr/>
        </p:nvSpPr>
        <p:spPr>
          <a:xfrm rot="16200000" flipH="1">
            <a:off x="3178390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4772CB-664C-618C-9066-3FF8AB1F4658}"/>
              </a:ext>
            </a:extLst>
          </p:cNvPr>
          <p:cNvSpPr txBox="1"/>
          <p:nvPr/>
        </p:nvSpPr>
        <p:spPr>
          <a:xfrm>
            <a:off x="2816312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C4BE4FA5-07FC-E10A-A87A-908FF8C5398C}"/>
              </a:ext>
            </a:extLst>
          </p:cNvPr>
          <p:cNvSpPr/>
          <p:nvPr/>
        </p:nvSpPr>
        <p:spPr>
          <a:xfrm rot="16200000" flipH="1">
            <a:off x="7022107" y="4337546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191952B-2203-9840-CF68-263B417CFA7E}"/>
              </a:ext>
            </a:extLst>
          </p:cNvPr>
          <p:cNvSpPr txBox="1"/>
          <p:nvPr/>
        </p:nvSpPr>
        <p:spPr>
          <a:xfrm>
            <a:off x="6660029" y="5091953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18" name="Right Brace 17">
            <a:extLst>
              <a:ext uri="{FF2B5EF4-FFF2-40B4-BE49-F238E27FC236}">
                <a16:creationId xmlns:a16="http://schemas.microsoft.com/office/drawing/2014/main" id="{B52886D4-588F-DCC0-7649-4AF0656839E6}"/>
              </a:ext>
            </a:extLst>
          </p:cNvPr>
          <p:cNvSpPr/>
          <p:nvPr/>
        </p:nvSpPr>
        <p:spPr>
          <a:xfrm rot="16200000" flipH="1">
            <a:off x="10784905" y="4337547"/>
            <a:ext cx="112722" cy="1420067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87CAE3-5CAF-A1F1-B596-5CDFCACEA8E9}"/>
              </a:ext>
            </a:extLst>
          </p:cNvPr>
          <p:cNvSpPr txBox="1"/>
          <p:nvPr/>
        </p:nvSpPr>
        <p:spPr>
          <a:xfrm>
            <a:off x="10422827" y="5091954"/>
            <a:ext cx="83687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Soft Market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018C65-8546-B68B-1416-691D392361BA}"/>
              </a:ext>
            </a:extLst>
          </p:cNvPr>
          <p:cNvSpPr txBox="1"/>
          <p:nvPr/>
        </p:nvSpPr>
        <p:spPr>
          <a:xfrm>
            <a:off x="548640" y="5797221"/>
            <a:ext cx="399746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Segmentation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1AF5ED99-9453-143A-EAF7-BD5A3F1F5EA6}"/>
              </a:ext>
            </a:extLst>
          </p:cNvPr>
          <p:cNvSpPr/>
          <p:nvPr/>
        </p:nvSpPr>
        <p:spPr>
          <a:xfrm>
            <a:off x="2098536" y="5680609"/>
            <a:ext cx="11094720" cy="57453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4370832"/>
          <a:ext cx="9966960" cy="71323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914400"/>
                <a:gridCol w="914400"/>
                <a:gridCol w="822960"/>
                <a:gridCol w="914400"/>
                <a:gridCol w="914400"/>
                <a:gridCol w="822960"/>
                <a:gridCol w="914400"/>
                <a:gridCol w="914400"/>
                <a:gridCol w="822960"/>
              </a:tblGrid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Market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Occ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ADR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RevPAR 26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Calibri"/>
                        </a:rPr>
                        <a:t>Δ%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1">
                          <a:solidFill>
                            <a:srgbClr val="26292E"/>
                          </a:solidFill>
                          <a:latin typeface="Calibri"/>
                        </a:rPr>
                        <a:t>Pattaya overall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66.0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64.5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3,462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3,464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1E7B34"/>
                          </a:solidFill>
                          <a:latin typeface="Calibri"/>
                        </a:rPr>
                        <a:t>+0.1%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2,285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2,233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none"/>
                    <a:lstStyle/>
                    <a:p>
                      <a:pPr algn="l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Upscale &amp; Upper Midscale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67.4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65.3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-3.0%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2,655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2,601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595959"/>
                          </a:solidFill>
                          <a:latin typeface="Calibri"/>
                        </a:rPr>
                        <a:t>1,789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0">
                          <a:solidFill>
                            <a:srgbClr val="26292E"/>
                          </a:solidFill>
                          <a:latin typeface="Calibri"/>
                        </a:rPr>
                        <a:t>1,700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none"/>
                    <a:lstStyle/>
                    <a:p>
                      <a:pPr algn="r"/>
                      <a:r>
                        <a:rPr sz="850" b="1">
                          <a:solidFill>
                            <a:srgbClr val="C62828"/>
                          </a:solidFill>
                          <a:latin typeface="Calibri"/>
                        </a:rPr>
                        <a:t>-5.0%</a:t>
                      </a:r>
                    </a:p>
                  </a:txBody>
                  <a:tcPr anchor="ctr" marL="36576" marR="36576" marT="7315" marB="7315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5175504"/>
            <a:ext cx="10881360" cy="4114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r>
              <a:rPr sz="950">
                <a:solidFill>
                  <a:srgbClr val="595959"/>
                </a:solidFill>
                <a:latin typeface="Calibri"/>
              </a:rPr>
              <a:t>Pattaya market H1: demand down (arrivals −2.7%) → market gave up occupancy (−2.4%) but held rate (ADR +0.1%; Jan/Feb swing = CNY timing, watch May–Jun ADR −3~4%). The Upscale &amp; Upper Midscale set — closest to SP — lost both (Occ −3.0%, ADR −2.0%, RevPAR −5.0%).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four properties — P&amp;L (EBIT) · performance vs budget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all four properties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Weighted by room inventory (1,406 keys) · YTD = Jan–Jun 2026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4007502558"/>
              </p:ext>
            </p:extLst>
          </p:nvPr>
        </p:nvGraphicFramePr>
        <p:xfrm>
          <a:off x="548640" y="1354637"/>
          <a:ext cx="7223760" cy="22402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02744720"/>
              </p:ext>
            </p:extLst>
          </p:nvPr>
        </p:nvGraphicFramePr>
        <p:xfrm>
          <a:off x="548640" y="3672641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0116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3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4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3,223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7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6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83200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92344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14290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60010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24018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33162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55107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฿3,018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00827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-4.2%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364835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373979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7" name="Text 14"/>
          <p:cNvSpPr/>
          <p:nvPr/>
        </p:nvSpPr>
        <p:spPr>
          <a:xfrm>
            <a:off x="8238744" y="395925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฿2,287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41645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LY</a:t>
            </a:r>
            <a:endParaRPr lang="en-US" sz="1050" dirty="0"/>
          </a:p>
        </p:txBody>
      </p:sp>
      <p:sp>
        <p:nvSpPr>
          <p:cNvPr id="20" name="Text 16"/>
          <p:cNvSpPr/>
          <p:nvPr/>
        </p:nvSpPr>
        <p:spPr>
          <a:xfrm>
            <a:off x="8092441" y="5001668"/>
            <a:ext cx="3633986" cy="126187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RevPAR is ~4% behind budget, driven mainly by rate (ADR −3.4%); occupancy is near plan (−0.7 pts). Vs last year RevPAR is broadly flat. April was the softest month — driven by AES (−16% RevPAR vs budget, ≈half the gap) and LYF (occupancy 50% vs 83% budgeted), not really the market: the re-based Bangkok market actually grew RevPAR in April (+3.0%) and Pattaya was level — the April miss was property-specific.</a:t>
            </a:r>
            <a:endParaRPr lang="en-US" sz="1050" dirty="0"/>
          </a:p>
        </p:txBody>
      </p:sp>
      <p:sp>
        <p:nvSpPr>
          <p:cNvPr id="22" name="Star: 5 Points 21">
            <a:extLst>
              <a:ext uri="{FF2B5EF4-FFF2-40B4-BE49-F238E27FC236}">
                <a16:creationId xmlns:a16="http://schemas.microsoft.com/office/drawing/2014/main" id="{BCA2C0C0-B180-A464-73A7-7ACEBEA2149C}"/>
              </a:ext>
            </a:extLst>
          </p:cNvPr>
          <p:cNvSpPr/>
          <p:nvPr/>
        </p:nvSpPr>
        <p:spPr>
          <a:xfrm>
            <a:off x="2360519" y="1742118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9FF3C47-0C50-2E6D-D1ED-988ECAD046E8}"/>
              </a:ext>
            </a:extLst>
          </p:cNvPr>
          <p:cNvSpPr txBox="1"/>
          <p:nvPr/>
        </p:nvSpPr>
        <p:spPr>
          <a:xfrm>
            <a:off x="2422733" y="1695206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PORTFOLIO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09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409361"/>
              </p:ext>
            </p:extLst>
          </p:nvPr>
        </p:nvGraphicFramePr>
        <p:xfrm>
          <a:off x="6126480" y="1438321"/>
          <a:ext cx="5742432" cy="2309845"/>
        </p:xfrm>
        <a:graphic>
          <a:graphicData uri="http://schemas.openxmlformats.org/drawingml/2006/table">
            <a:tbl>
              <a:tblPr/>
              <a:tblGrid>
                <a:gridCol w="102412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949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5836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1118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฿581.9M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฿663.3M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−฿296.6M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−฿269.4M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−฿285.3M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฿348.1M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฿378.0M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11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−฿173.8M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฿143.2M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฿147.1M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1657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+฿20.6M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฿581.9M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13632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050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24528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฿143.2M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681728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−฿3.8M vs H1 2025 (฿147.1M)</a:t>
            </a:r>
            <a:endParaRPr lang="en-US" sz="10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464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789618102"/>
              </p:ext>
            </p:extLst>
          </p:nvPr>
        </p:nvGraphicFramePr>
        <p:xfrm>
          <a:off x="548640" y="117957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9207181"/>
              </p:ext>
            </p:extLst>
          </p:nvPr>
        </p:nvGraphicFramePr>
        <p:xfrm>
          <a:off x="548640" y="3081528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2,995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1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2,029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31673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40817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2763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8483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+0.7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24912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816352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35808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฿2,891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93008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-2.3%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3308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2452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4398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฿2,336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90118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+1.3%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6745709"/>
              </p:ext>
            </p:extLst>
          </p:nvPr>
        </p:nvGraphicFramePr>
        <p:xfrm>
          <a:off x="548640" y="5459239"/>
          <a:ext cx="7223759" cy="52093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7075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3862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Ratchada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76.6%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2,586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-18.7%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1,985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-17.4%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3" name="Rectangle 22">
            <a:extLst>
              <a:ext uri="{FF2B5EF4-FFF2-40B4-BE49-F238E27FC236}">
                <a16:creationId xmlns:a16="http://schemas.microsoft.com/office/drawing/2014/main" id="{80DD613A-C645-1434-3717-58318C756372}"/>
              </a:ext>
            </a:extLst>
          </p:cNvPr>
          <p:cNvSpPr/>
          <p:nvPr/>
        </p:nvSpPr>
        <p:spPr>
          <a:xfrm>
            <a:off x="8092440" y="5532486"/>
            <a:ext cx="3824905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SR9 runs performance close to budget H1;</a:t>
            </a: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 outperformed strongly (CNY), May–Jun slightly behind on rate.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4" name="Star: 5 Points 23">
            <a:extLst>
              <a:ext uri="{FF2B5EF4-FFF2-40B4-BE49-F238E27FC236}">
                <a16:creationId xmlns:a16="http://schemas.microsoft.com/office/drawing/2014/main" id="{085E149A-219E-048A-BD83-F583723633F8}"/>
              </a:ext>
            </a:extLst>
          </p:cNvPr>
          <p:cNvSpPr/>
          <p:nvPr/>
        </p:nvSpPr>
        <p:spPr>
          <a:xfrm>
            <a:off x="2360519" y="161131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7261BB2-B5CD-CA2C-CAD1-13190E89BC94}"/>
              </a:ext>
            </a:extLst>
          </p:cNvPr>
          <p:cNvSpPr txBox="1"/>
          <p:nvPr/>
        </p:nvSpPr>
        <p:spPr>
          <a:xfrm>
            <a:off x="2422733" y="156440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  <p:sp>
        <p:nvSpPr>
          <p:cNvPr id="27" name="Text 12">
            <a:extLst>
              <a:ext uri="{FF2B5EF4-FFF2-40B4-BE49-F238E27FC236}">
                <a16:creationId xmlns:a16="http://schemas.microsoft.com/office/drawing/2014/main" id="{925914B7-5C3F-3890-0638-4319C6F84451}"/>
              </a:ext>
            </a:extLst>
          </p:cNvPr>
          <p:cNvSpPr/>
          <p:nvPr/>
        </p:nvSpPr>
        <p:spPr>
          <a:xfrm>
            <a:off x="548640" y="6053328"/>
            <a:ext cx="72237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*** Jubilee Hotel is under renovation </a:t>
            </a:r>
            <a:endParaRPr lang="en-US" sz="10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85254806"/>
              </p:ext>
            </p:extLst>
          </p:nvPr>
        </p:nvGraphicFramePr>
        <p:xfrm>
          <a:off x="5623560" y="1828800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7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18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1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19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2,679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2,202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2,467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3,056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53,845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+2,382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314F342E-F1D5-AC9C-26B4-59F392AD6164}"/>
              </a:ext>
            </a:extLst>
          </p:cNvPr>
          <p:cNvSpPr/>
          <p:nvPr/>
        </p:nvSpPr>
        <p:spPr>
          <a:xfrm>
            <a:off x="5623560" y="5038345"/>
            <a:ext cx="6144768" cy="75895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China (+1,792 RN) · biggest decline: Korea (-757 RN). 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India, Thailand, Indonesia, Singapore and China.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Overall ADR from all Nationality is dropped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AE1BFCA4-5141-101A-DA78-E0094FC6A4A0}"/>
              </a:ext>
            </a:extLst>
          </p:cNvPr>
          <p:cNvSpPr/>
          <p:nvPr/>
        </p:nvSpPr>
        <p:spPr>
          <a:xfrm>
            <a:off x="548640" y="5677334"/>
            <a:ext cx="11347704" cy="50982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Around 30% of this property is corporate booking. Additionally, some corporate business is mixed into OTA, since B2B channels now book through the OTA as well.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2324736"/>
              </p:ext>
            </p:extLst>
          </p:nvPr>
        </p:nvGraphicFramePr>
        <p:xfrm>
          <a:off x="548640" y="4142232"/>
          <a:ext cx="11347704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5816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689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62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2377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10,039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9,290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2,735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2,408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9,229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9,623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2,134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-6.6%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21,225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27,501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5,836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3,156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2,889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12,655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9,036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2,946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3,003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-21.7%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161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62,101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65,175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2,987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2,721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SOMERSET RAMA 9 BANGKOK (SR9)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Rama 9 Bangkok (SR9)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3827511013"/>
              </p:ext>
            </p:extLst>
          </p:nvPr>
        </p:nvGraphicFramePr>
        <p:xfrm>
          <a:off x="548640" y="1560576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5767267"/>
              </p:ext>
            </p:extLst>
          </p:nvPr>
        </p:nvGraphicFramePr>
        <p:xfrm>
          <a:off x="338328" y="379476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3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51893664"/>
              </p:ext>
            </p:extLst>
          </p:nvPr>
        </p:nvGraphicFramePr>
        <p:xfrm>
          <a:off x="6094476" y="1560576"/>
          <a:ext cx="5545835" cy="1946205"/>
        </p:xfrm>
        <a:graphic>
          <a:graphicData uri="http://schemas.openxmlformats.org/drawingml/2006/table">
            <a:tbl>
              <a:tblPr/>
              <a:tblGrid>
                <a:gridCol w="98906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1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47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8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49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50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8166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8188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฿196.3M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฿195.2M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฿223.9M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−฿84.3M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฿112.0M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฿111.4M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฿130.8M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−฿61.9M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−฿59.3M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฿71.5M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7955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+฿6.7M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−฿10.4M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฿196.3M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643884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735324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3954780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฿53.0M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411980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−฿1.7M vs H1 2025 (฿54.7M)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654342-99F5-076C-3B36-DFD40188D595}"/>
              </a:ext>
            </a:extLst>
          </p:cNvPr>
          <p:cNvSpPr/>
          <p:nvPr/>
        </p:nvSpPr>
        <p:spPr>
          <a:xfrm>
            <a:off x="6094477" y="4942332"/>
            <a:ext cx="5545836" cy="120700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Key takeaway : On revenue, H1 is better than last year, but OPEX is +0.6% vs LY.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GOP beats LY even with the lower ADR, and the margin is about the same.</a:t>
            </a:r>
          </a:p>
          <a:p>
            <a:pPr algn="ctr"/>
            <a:r>
              <a:rPr lang="en-US" sz="1200" dirty="0">
                <a:solidFill>
                  <a:schemeClr val="tx1"/>
                </a:solidFill>
              </a:rPr>
              <a:t>However, JV expense is higher than LY because </a:t>
            </a:r>
            <a:r>
              <a:rPr lang="en-US" sz="1200" dirty="0">
                <a:solidFill>
                  <a:srgbClr val="FF0000"/>
                </a:solidFill>
              </a:rPr>
              <a:t>[xxx], </a:t>
            </a:r>
            <a:r>
              <a:rPr lang="en-US" sz="1200" dirty="0">
                <a:solidFill>
                  <a:schemeClr val="tx1"/>
                </a:solidFill>
              </a:rPr>
              <a:t>so EBIT comes in below both LY (−฿1.7M) and budget (฿53.0M vs ฿59.7M). NPAT, on the other hand, is better than LY.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  <a:p>
            <a:pPr algn="ctr"/>
            <a:r>
              <a:rPr lang="en-US" sz="1200" dirty="0" err="1">
                <a:solidFill>
                  <a:schemeClr val="tx1"/>
                </a:solidFill>
              </a:rPr>
              <a:t>Buget</a:t>
            </a:r>
            <a:r>
              <a:rPr lang="en-US" sz="1200" dirty="0">
                <a:solidFill>
                  <a:schemeClr val="tx1"/>
                </a:solidFill>
              </a:rPr>
              <a:t> // LY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662619336"/>
              </p:ext>
            </p:extLst>
          </p:nvPr>
        </p:nvGraphicFramePr>
        <p:xfrm>
          <a:off x="548640" y="145040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12079832"/>
              </p:ext>
            </p:extLst>
          </p:nvPr>
        </p:nvGraphicFramePr>
        <p:xfrm>
          <a:off x="548640" y="337979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4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3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4,191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3,938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3,283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2,193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2,097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2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9881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9025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60971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70.4%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6691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+2.6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70699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9843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301788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฿3,484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7508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-4.4%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115166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206606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426062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฿2,454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83262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-6.0%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-2.2%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5904667"/>
              </p:ext>
            </p:extLst>
          </p:nvPr>
        </p:nvGraphicFramePr>
        <p:xfrm>
          <a:off x="548640" y="5722435"/>
          <a:ext cx="7254240" cy="438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092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92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2441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938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425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25970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19456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19456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Sathorn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65.2%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3,328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2,170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3042657A-38F5-05E9-69C0-CC8F0E5684DA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AES February was exceptional (92% occupancy, well above budget); April–May fell behind budget in a softer Bangkok market.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D852618-9757-829B-F4B2-86B28B79343D}"/>
              </a:ext>
            </a:extLst>
          </p:cNvPr>
          <p:cNvSpPr/>
          <p:nvPr/>
        </p:nvSpPr>
        <p:spPr>
          <a:xfrm>
            <a:off x="2360519" y="2326633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ACDB09A-B544-49E2-864F-2528EDEBF468}"/>
              </a:ext>
            </a:extLst>
          </p:cNvPr>
          <p:cNvSpPr txBox="1"/>
          <p:nvPr/>
        </p:nvSpPr>
        <p:spPr>
          <a:xfrm>
            <a:off x="2422733" y="2279721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01500358"/>
              </p:ext>
            </p:extLst>
          </p:nvPr>
        </p:nvGraphicFramePr>
        <p:xfrm>
          <a:off x="5623560" y="1497467"/>
          <a:ext cx="6144768" cy="3094969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29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3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2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31"/>
                    </a:ext>
                  </a:extLst>
                </a:gridCol>
              </a:tblGrid>
              <a:tr h="2786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16,921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18,613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+1,692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3,219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-253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2,751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+2,922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2,403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3,152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3,532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+1,385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3,735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3,691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+1,216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29,259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35,943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+6,684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237B99E0-1A5C-40A8-3BAC-0D81FAEFE87E}"/>
              </a:ext>
            </a:extLst>
          </p:cNvPr>
          <p:cNvSpPr/>
          <p:nvPr/>
        </p:nvSpPr>
        <p:spPr>
          <a:xfrm>
            <a:off x="5623560" y="4752236"/>
            <a:ext cx="6144768" cy="89493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Finland (+2,922 RN) · biggest decline: Korea (-910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Key changes come from Japan, followed by China. New nationalities this year are the UK, Finland and Taiwan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Diversify other nationalities.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06611757"/>
              </p:ext>
            </p:extLst>
          </p:nvPr>
        </p:nvGraphicFramePr>
        <p:xfrm>
          <a:off x="606669" y="4169663"/>
          <a:ext cx="11109959" cy="13578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5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5,187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3,967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9,699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13,096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2,558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2,506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18,378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16,928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3,883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3,034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4,536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+50%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4,379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3,830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-12.5%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12,794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8,131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3,387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3,297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-2.7%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721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2,056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+185%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2,572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-26.2%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3455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48,277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50,123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3,698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-10.1%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5651FEDD-6C98-3066-EAC5-4EFD49D4CA2F}"/>
              </a:ext>
            </a:extLst>
          </p:cNvPr>
          <p:cNvSpPr/>
          <p:nvPr/>
        </p:nvSpPr>
        <p:spPr>
          <a:xfrm>
            <a:off x="606669" y="5600699"/>
            <a:ext cx="11117579" cy="887964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is the largest segment at 36%, followed by online at 34%.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Corporate group has grown almost 30–40% vs H1 last year, and group bookings are +185% vs LY — implying AES is shifting to secure group business, which can pull the rate down.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Finland Group// Whole sale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Boost LS? Group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ASCOTT EMBASSY SATHORN (AES)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Ascott Embassy Sathorn (AES)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-89.0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-99.2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3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5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87997996"/>
              </p:ext>
            </p:extLst>
          </p:nvPr>
        </p:nvGraphicFramePr>
        <p:xfrm>
          <a:off x="6096000" y="1444752"/>
          <a:ext cx="5544314" cy="2293321"/>
        </p:xfrm>
        <a:graphic>
          <a:graphicData uri="http://schemas.openxmlformats.org/drawingml/2006/table">
            <a:tbl>
              <a:tblPr/>
              <a:tblGrid>
                <a:gridCol w="988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096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628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565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5331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03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7997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3199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฿220.7M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−฿83.6M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−฿97.2M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฿95.6M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฿123.5M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+1.3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−฿64.8M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−฿69.5M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highlight>
                            <a:srgbClr val="FFFF00"/>
                          </a:highlight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฿33.5M</a:t>
                      </a:r>
                      <a:endParaRPr lang="en-US" sz="850" dirty="0">
                        <a:highlight>
                          <a:srgbClr val="FFFF00"/>
                        </a:highlight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-38.0%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754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−฿15.4M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฿179.2M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-3.3%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94760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86200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105656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฿33.5M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62856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+฿1.9M vs H1 2025 (฿31.6M)</a:t>
            </a:r>
            <a:endParaRPr lang="en-US" sz="105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17DD75E-562E-9FF2-4E5E-6EA629AC241A}"/>
              </a:ext>
            </a:extLst>
          </p:cNvPr>
          <p:cNvSpPr txBox="1"/>
          <p:nvPr/>
        </p:nvSpPr>
        <p:spPr>
          <a:xfrm>
            <a:off x="11996780" y="1353312"/>
            <a:ext cx="43852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The reason Why rev –</a:t>
            </a:r>
          </a:p>
          <a:p>
            <a:r>
              <a:rPr lang="en-US" dirty="0"/>
              <a:t>EBIT+</a:t>
            </a:r>
          </a:p>
          <a:p>
            <a:r>
              <a:rPr lang="en-US" dirty="0"/>
              <a:t>From last year. Background</a:t>
            </a:r>
          </a:p>
          <a:p>
            <a:r>
              <a:rPr lang="en-US" dirty="0"/>
              <a:t>House and building tax &gt;&gt;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4ADBF112-735C-614B-84E3-1A51FC1B75C3}"/>
              </a:ext>
            </a:extLst>
          </p:cNvPr>
          <p:cNvSpPr/>
          <p:nvPr/>
        </p:nvSpPr>
        <p:spPr>
          <a:xfrm>
            <a:off x="6126479" y="5047487"/>
            <a:ext cx="5513833" cy="1090999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down −3.3% vs LY, but OPEX is managed better: −6.0% (about ฿6M). GOP margin improves +1.3 pts and JV expense is better, so EBIT and NPAT both beat LY. The key reason is AES managing OPEX well — and owner expenses are lower because in house and building tax over </a:t>
            </a:r>
            <a:r>
              <a:rPr lang="en-US" sz="1200" dirty="0" err="1">
                <a:solidFill>
                  <a:schemeClr val="tx1"/>
                </a:solidFill>
              </a:rPr>
              <a:t>accured</a:t>
            </a:r>
            <a:r>
              <a:rPr lang="en-US" sz="1200" dirty="0">
                <a:solidFill>
                  <a:schemeClr val="tx1"/>
                </a:solidFill>
              </a:rPr>
              <a:t>. And in 2026 already paid the House and the building tax in month XXX</a:t>
            </a:r>
          </a:p>
          <a:p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1694412409"/>
              </p:ext>
            </p:extLst>
          </p:nvPr>
        </p:nvGraphicFramePr>
        <p:xfrm>
          <a:off x="548640" y="1509126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8392410"/>
              </p:ext>
            </p:extLst>
          </p:nvPr>
        </p:nvGraphicFramePr>
        <p:xfrm>
          <a:off x="548640" y="3438509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89.4%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6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93.3%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5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1,254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1,188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1,587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1,143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3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1,073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50531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341971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61427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78.1%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2018627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-4.6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-0.9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58707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50147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69603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฿1,374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426803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-5.0%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66883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58323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77779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฿1,073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834979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-12.8%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-6.1% vs LY</a:t>
            </a:r>
            <a:endParaRPr lang="en-US" sz="1050" dirty="0"/>
          </a:p>
        </p:txBody>
      </p:sp>
      <p:sp>
        <p:nvSpPr>
          <p:cNvPr id="21" name="Star: 5 Points 20">
            <a:extLst>
              <a:ext uri="{FF2B5EF4-FFF2-40B4-BE49-F238E27FC236}">
                <a16:creationId xmlns:a16="http://schemas.microsoft.com/office/drawing/2014/main" id="{01171B67-1C65-F02A-1E92-33AFEB4FBF47}"/>
              </a:ext>
            </a:extLst>
          </p:cNvPr>
          <p:cNvSpPr/>
          <p:nvPr/>
        </p:nvSpPr>
        <p:spPr>
          <a:xfrm>
            <a:off x="4650718" y="1881467"/>
            <a:ext cx="196523" cy="187452"/>
          </a:xfrm>
          <a:prstGeom prst="star5">
            <a:avLst/>
          </a:prstGeom>
          <a:solidFill>
            <a:schemeClr val="accent4">
              <a:lumMod val="40000"/>
              <a:lumOff val="6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CF853EF-F8FB-6847-289F-CADF68148AF0}"/>
              </a:ext>
            </a:extLst>
          </p:cNvPr>
          <p:cNvSpPr txBox="1"/>
          <p:nvPr/>
        </p:nvSpPr>
        <p:spPr>
          <a:xfrm>
            <a:off x="4295431" y="2017172"/>
            <a:ext cx="13458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Most drop due to the ADR want to Ramp up</a:t>
            </a:r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12540161"/>
              </p:ext>
            </p:extLst>
          </p:nvPr>
        </p:nvGraphicFramePr>
        <p:xfrm>
          <a:off x="548640" y="5687568"/>
          <a:ext cx="7223761" cy="53949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23833"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5663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Nana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68.8%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+3.7%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2,009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1,383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2E7D32"/>
                          </a:solidFill>
                          <a:latin typeface="Calibri"/>
                        </a:rPr>
                        <a:t>+1.2%</a:t>
                      </a:r>
                    </a:p>
                  </a:txBody>
                  <a:tcPr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2" name="Rectangle 21">
            <a:extLst>
              <a:ext uri="{FF2B5EF4-FFF2-40B4-BE49-F238E27FC236}">
                <a16:creationId xmlns:a16="http://schemas.microsoft.com/office/drawing/2014/main" id="{2009D7BE-0C30-75EF-D95B-DAC73202CC61}"/>
              </a:ext>
            </a:extLst>
          </p:cNvPr>
          <p:cNvSpPr/>
          <p:nvPr/>
        </p:nvSpPr>
        <p:spPr>
          <a:xfrm>
            <a:off x="8092440" y="5416574"/>
            <a:ext cx="3685031" cy="114881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LYF strong Q1 above budget, then April dropped sharply (occupancy −32 pts vs budget) — recovering since May.</a:t>
            </a:r>
          </a:p>
          <a:p>
            <a:endParaRPr lang="en-US" sz="1200" i="1" dirty="0">
              <a:solidFill>
                <a:schemeClr val="tx1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  <a:p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Overall, LS 8 Cannot hit the </a:t>
            </a:r>
            <a:r>
              <a:rPr lang="en-US" sz="1200" i="1" dirty="0" err="1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bg</a:t>
            </a: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perform softer than LY too</a:t>
            </a:r>
            <a:endParaRPr lang="en-US" sz="800" dirty="0">
              <a:solidFill>
                <a:schemeClr val="tx1"/>
              </a:solidFill>
            </a:endParaRPr>
          </a:p>
        </p:txBody>
      </p:sp>
      <p:sp>
        <p:nvSpPr>
          <p:cNvPr id="25" name="Star: 5 Points 24">
            <a:extLst>
              <a:ext uri="{FF2B5EF4-FFF2-40B4-BE49-F238E27FC236}">
                <a16:creationId xmlns:a16="http://schemas.microsoft.com/office/drawing/2014/main" id="{83C81148-CF98-6919-ADF7-17585537339E}"/>
              </a:ext>
            </a:extLst>
          </p:cNvPr>
          <p:cNvSpPr/>
          <p:nvPr/>
        </p:nvSpPr>
        <p:spPr>
          <a:xfrm>
            <a:off x="2360519" y="1953022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6174E54-1F9B-300F-5F5A-F1341EB8E485}"/>
              </a:ext>
            </a:extLst>
          </p:cNvPr>
          <p:cNvSpPr txBox="1"/>
          <p:nvPr/>
        </p:nvSpPr>
        <p:spPr>
          <a:xfrm>
            <a:off x="2422733" y="1906110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4"/>
          <p:cNvSpPr/>
          <p:nvPr/>
        </p:nvSpPr>
        <p:spPr>
          <a:xfrm>
            <a:off x="548640" y="6309360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Biggest H1 gain: Indonesia (+2,017 RN) · biggest decline: USA (-559 RN). ADR cols = H1 ADR per nationality, RN-weighted · '–' = outside that year's top-10.</a:t>
            </a:r>
            <a:endParaRPr lang="en-US" sz="1050" dirty="0"/>
          </a:p>
        </p:txBody>
      </p:sp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27827252"/>
              </p:ext>
            </p:extLst>
          </p:nvPr>
        </p:nvGraphicFramePr>
        <p:xfrm>
          <a:off x="5623560" y="1759549"/>
          <a:ext cx="6144768" cy="3166872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42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3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4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4,642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5,954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+1,312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1,293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Indonesia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+2,017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+198%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Singapore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Malaysia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1,398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1,371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1,333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1,873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1,999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1,038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+112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1,421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1,389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Germany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+741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new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–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17,758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20,459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+2,701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1,417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42B9E0D7-5E76-4453-A155-36E0B95DD358}"/>
              </a:ext>
            </a:extLst>
          </p:cNvPr>
          <p:cNvSpPr/>
          <p:nvPr/>
        </p:nvSpPr>
        <p:spPr>
          <a:xfrm>
            <a:off x="5623560" y="5063581"/>
            <a:ext cx="6144768" cy="110862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Key changes come from Indonesia (+198%), China, Taiwan and Japan; Germany appears for the first time in H1 2026, while the USA and UK dropped. This helps explain the ADR drop: the higher-spending nationalities have faded, pulling the overall ADR down.</a:t>
            </a:r>
          </a:p>
          <a:p>
            <a:pPr algn="ctr"/>
            <a:endParaRPr lang="en-US" sz="1200" dirty="0">
              <a:solidFill>
                <a:sysClr val="windowText" lastClr="000000"/>
              </a:solidFill>
            </a:endParaRP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Mostly we were challenged with ADR ^nationality drop ADR</a:t>
            </a:r>
          </a:p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Drop </a:t>
            </a:r>
            <a:r>
              <a:rPr lang="en-US" sz="1200" dirty="0" err="1">
                <a:solidFill>
                  <a:sysClr val="windowText" lastClr="000000"/>
                </a:solidFill>
              </a:rPr>
              <a:t>Nationlity</a:t>
            </a:r>
            <a:r>
              <a:rPr lang="en-US" sz="1200" dirty="0">
                <a:solidFill>
                  <a:sysClr val="windowText" lastClr="000000"/>
                </a:solidFill>
              </a:rPr>
              <a:t> High ADR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4"/>
          <p:cNvSpPr/>
          <p:nvPr/>
        </p:nvSpPr>
        <p:spPr>
          <a:xfrm>
            <a:off x="548640" y="6419088"/>
            <a:ext cx="1088136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Online (66% of room nights). ADR = segment revenue ÷ room nights · Wholesale incl. Wholesale Group · Group incl. all group types · monthly detail available in the workbook.</a:t>
            </a:r>
            <a:endParaRPr lang="en-US" sz="1050" dirty="0"/>
          </a:p>
        </p:txBody>
      </p:sp>
      <p:graphicFrame>
        <p:nvGraphicFramePr>
          <p:cNvPr id="13" name="Table 1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5614388"/>
              </p:ext>
            </p:extLst>
          </p:nvPr>
        </p:nvGraphicFramePr>
        <p:xfrm>
          <a:off x="548639" y="4120773"/>
          <a:ext cx="11109963" cy="147980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50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475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5976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8133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660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+7.0%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595959"/>
                          </a:solidFill>
                          <a:latin typeface="Calibri"/>
                        </a:rPr>
                        <a:t>50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+262%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-28.5%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17,803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18,270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66%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1,559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1,430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4,269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3,237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1,295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5,017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26292E"/>
                          </a:solidFill>
                          <a:latin typeface="Calibri"/>
                        </a:rPr>
                        <a:t>4,965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1,249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8394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–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1,361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/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5895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28,019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27,714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 dirty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1,451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1,375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-5.2%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1" name="Rectangle 10">
            <a:extLst>
              <a:ext uri="{FF2B5EF4-FFF2-40B4-BE49-F238E27FC236}">
                <a16:creationId xmlns:a16="http://schemas.microsoft.com/office/drawing/2014/main" id="{305E6024-1FFD-E8D1-D9D2-621DDA6573DD}"/>
              </a:ext>
            </a:extLst>
          </p:cNvPr>
          <p:cNvSpPr/>
          <p:nvPr/>
        </p:nvSpPr>
        <p:spPr>
          <a:xfrm>
            <a:off x="548639" y="5645229"/>
            <a:ext cx="11117579" cy="586803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ysClr val="windowText" lastClr="000000"/>
                </a:solidFill>
              </a:rPr>
              <a:t>One key reason for the ADR drop: OTA is +3% while ASR is −24%, so commission expense is certainly higher than last year (OTA commission is higher than ASR). And even as OTA volume grew +3%, the OTA rate itself dropped −8%.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LYF SUKHUMVIT 8 BANGKOK (LYF)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lyf Sukhumvit 8 Bangkok (LYF)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0882543"/>
              </p:ext>
            </p:extLst>
          </p:nvPr>
        </p:nvGraphicFramePr>
        <p:xfrm>
          <a:off x="6126480" y="1508760"/>
          <a:ext cx="5513832" cy="2277571"/>
        </p:xfrm>
        <a:graphic>
          <a:graphicData uri="http://schemas.openxmlformats.org/drawingml/2006/table">
            <a:tbl>
              <a:tblPr/>
              <a:tblGrid>
                <a:gridCol w="98335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3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40417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฿40.0M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฿36.2M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+10.3%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−฿22.6M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฿20.8M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฿17.1M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+7.0%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-1.4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−฿14.0M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+4.9%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−฿12.7M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+9.0%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-35.0%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฿7.7M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฿4.5M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5293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−฿1.1M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−฿9.0M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−฿0.1M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฿40.0M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-5.8%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968858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406029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279754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฿4.5M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736954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−฿3.2M vs H1 2025 (฿7.7M)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D5C6AF7-3646-F2BB-1218-B97791D953AC}"/>
              </a:ext>
            </a:extLst>
          </p:cNvPr>
          <p:cNvSpPr/>
          <p:nvPr/>
        </p:nvSpPr>
        <p:spPr>
          <a:xfrm>
            <a:off x="6126479" y="5251797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Revenue is −5.8% vs LY and OPEX is higher — possibly from the shift toward OTA (commissions). GOP is −12% vs last year and JV expense is also higher (Due to House and building tax for 3 </a:t>
            </a:r>
            <a:r>
              <a:rPr lang="en-US" sz="1200" dirty="0" err="1">
                <a:solidFill>
                  <a:schemeClr val="tx1"/>
                </a:solidFill>
              </a:rPr>
              <a:t>yesra</a:t>
            </a:r>
            <a:r>
              <a:rPr lang="en-US" sz="1200" dirty="0">
                <a:solidFill>
                  <a:schemeClr val="tx1"/>
                </a:solidFill>
              </a:rPr>
              <a:t> passed), so EBIT drops on the weak revenue and NPAT is negative.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965960"/>
            <a:ext cx="20116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600" b="1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600" dirty="0"/>
          </a:p>
        </p:txBody>
      </p:sp>
      <p:sp>
        <p:nvSpPr>
          <p:cNvPr id="3" name="Text 1"/>
          <p:cNvSpPr/>
          <p:nvPr/>
        </p:nvSpPr>
        <p:spPr>
          <a:xfrm>
            <a:off x="2514600" y="2286000"/>
            <a:ext cx="8778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2542032" y="3246120"/>
            <a:ext cx="8412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0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P&amp;L (EBIT) · Performance vs budget · Segmentation · Guest nationality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333 keys · monthly + YTD Jan–Jun · actual vs MF Projection and actual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>
            <p:extLst>
              <p:ext uri="{D42A27DB-BD31-4B8C-83A1-F6EECF244321}">
                <p14:modId xmlns:p14="http://schemas.microsoft.com/office/powerpoint/2010/main" val="2117979996"/>
              </p:ext>
            </p:extLst>
          </p:nvPr>
        </p:nvGraphicFramePr>
        <p:xfrm>
          <a:off x="548640" y="1505427"/>
          <a:ext cx="7223760" cy="1874519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516604"/>
              </p:ext>
            </p:extLst>
          </p:nvPr>
        </p:nvGraphicFramePr>
        <p:xfrm>
          <a:off x="548640" y="3434810"/>
          <a:ext cx="7223760" cy="2286000"/>
        </p:xfrm>
        <a:graphic>
          <a:graphicData uri="http://schemas.openxmlformats.org/drawingml/2006/table">
            <a:tbl>
              <a:tblPr/>
              <a:tblGrid>
                <a:gridCol w="13258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9552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24712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8745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YTD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86.2%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70.0%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8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86.6%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7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Occupancy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88.1%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84.5%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70.7%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62.4%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73.8%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3,901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0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4,104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3,589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3,892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49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4,064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4,150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3,684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3,863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1,909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2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Budget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3,433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3,782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2,637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2,349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2,140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59595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1"/>
                  </a:ext>
                </a:extLst>
              </a:tr>
              <a:tr h="18745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90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RevPAR ’26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3,579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2,721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2,574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2,152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90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2,766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8092440" y="1207008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5"/>
          <p:cNvSpPr/>
          <p:nvPr/>
        </p:nvSpPr>
        <p:spPr>
          <a:xfrm>
            <a:off x="8238744" y="1298448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OCCUPANCY · YTD</a:t>
            </a:r>
            <a:endParaRPr lang="en-US" sz="1050" dirty="0"/>
          </a:p>
        </p:txBody>
      </p:sp>
      <p:sp>
        <p:nvSpPr>
          <p:cNvPr id="10" name="Text 6"/>
          <p:cNvSpPr/>
          <p:nvPr/>
        </p:nvSpPr>
        <p:spPr>
          <a:xfrm>
            <a:off x="8238744" y="1517904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73.8%</a:t>
            </a:r>
            <a:endParaRPr lang="en-US" sz="2400" dirty="0"/>
          </a:p>
        </p:txBody>
      </p:sp>
      <p:sp>
        <p:nvSpPr>
          <p:cNvPr id="11" name="Text 7"/>
          <p:cNvSpPr/>
          <p:nvPr/>
        </p:nvSpPr>
        <p:spPr>
          <a:xfrm>
            <a:off x="8238744" y="1975104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 pts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+3.7 pts vs LY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8092440" y="2615184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9"/>
          <p:cNvSpPr/>
          <p:nvPr/>
        </p:nvSpPr>
        <p:spPr>
          <a:xfrm>
            <a:off x="8238744" y="2706624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 · YTD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38744" y="2926080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฿3,749</a:t>
            </a:r>
            <a:endParaRPr lang="en-US" sz="2400" dirty="0"/>
          </a:p>
        </p:txBody>
      </p:sp>
      <p:sp>
        <p:nvSpPr>
          <p:cNvPr id="15" name="Text 11"/>
          <p:cNvSpPr/>
          <p:nvPr/>
        </p:nvSpPr>
        <p:spPr>
          <a:xfrm>
            <a:off x="8238744" y="3383280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-4.9% vs LY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8092440" y="4023360"/>
            <a:ext cx="3520440" cy="1261872"/>
          </a:xfrm>
          <a:prstGeom prst="roundRect">
            <a:avLst>
              <a:gd name="adj" fmla="val 4348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3"/>
          <p:cNvSpPr/>
          <p:nvPr/>
        </p:nvSpPr>
        <p:spPr>
          <a:xfrm>
            <a:off x="8238744" y="4114800"/>
            <a:ext cx="3227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REVPAR · YTD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8238744" y="4334256"/>
            <a:ext cx="3227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฿2,766</a:t>
            </a:r>
            <a:endParaRPr lang="en-US" sz="2400" dirty="0"/>
          </a:p>
        </p:txBody>
      </p:sp>
      <p:sp>
        <p:nvSpPr>
          <p:cNvPr id="19" name="Text 15"/>
          <p:cNvSpPr/>
          <p:nvPr/>
        </p:nvSpPr>
        <p:spPr>
          <a:xfrm>
            <a:off x="8238744" y="4791456"/>
            <a:ext cx="322783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-3.5% vs budget</a:t>
            </a:r>
            <a:r>
              <a:rPr lang="en-US" sz="10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</a:t>
            </a:r>
            <a:r>
              <a:rPr lang="en-US" sz="105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+0.2% vs LY</a:t>
            </a:r>
            <a:endParaRPr lang="en-US" sz="1050" dirty="0"/>
          </a:p>
        </p:txBody>
      </p:sp>
      <p:graphicFrame>
        <p:nvGraphicFramePr>
          <p:cNvPr id="910" name="Table 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1606235"/>
              </p:ext>
            </p:extLst>
          </p:nvPr>
        </p:nvGraphicFramePr>
        <p:xfrm>
          <a:off x="548639" y="5724144"/>
          <a:ext cx="7223759" cy="4754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474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895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868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2632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94737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4474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237744"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Series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Occ H1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Occ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ADR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>
                          <a:solidFill>
                            <a:srgbClr val="FFFFFF"/>
                          </a:solidFill>
                          <a:latin typeface="Calibri"/>
                        </a:rPr>
                        <a:t>RevPAR H1 (฿)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1" dirty="0">
                          <a:solidFill>
                            <a:srgbClr val="FFFFFF"/>
                          </a:solidFill>
                          <a:latin typeface="Calibri"/>
                        </a:rPr>
                        <a:t>RevPAR vs LY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37744">
                <a:tc>
                  <a:txBody>
                    <a:bodyPr/>
                    <a:lstStyle/>
                    <a:p>
                      <a:r>
                        <a:rPr lang="en-US" sz="800" b="1" dirty="0">
                          <a:solidFill>
                            <a:srgbClr val="26292E"/>
                          </a:solidFill>
                          <a:latin typeface="+mn-lt"/>
                        </a:rPr>
                        <a:t>SP </a:t>
                      </a:r>
                      <a:r>
                        <a:rPr sz="800" b="1" dirty="0">
                          <a:solidFill>
                            <a:srgbClr val="26292E"/>
                          </a:solidFill>
                          <a:latin typeface="Calibri"/>
                        </a:rPr>
                        <a:t>Comp set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71.5%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C0392B"/>
                          </a:solidFill>
                          <a:latin typeface="Calibri"/>
                        </a:rPr>
                        <a:t>-3.3%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6B7280"/>
                          </a:solidFill>
                          <a:latin typeface="Calibri"/>
                        </a:rPr>
                        <a:t>4,214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>
                          <a:solidFill>
                            <a:srgbClr val="6B7280"/>
                          </a:solidFill>
                          <a:latin typeface="Calibri"/>
                        </a:rPr>
                        <a:t>3,011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00" b="0" dirty="0">
                          <a:solidFill>
                            <a:srgbClr val="C0392B"/>
                          </a:solidFill>
                          <a:latin typeface="Calibri"/>
                        </a:rPr>
                        <a:t>-8.9%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21" name="Rectangle 20">
            <a:extLst>
              <a:ext uri="{FF2B5EF4-FFF2-40B4-BE49-F238E27FC236}">
                <a16:creationId xmlns:a16="http://schemas.microsoft.com/office/drawing/2014/main" id="{F57ED365-6DDA-DCF0-69C7-5C3A3B0C0D13}"/>
              </a:ext>
            </a:extLst>
          </p:cNvPr>
          <p:cNvSpPr/>
          <p:nvPr/>
        </p:nvSpPr>
        <p:spPr>
          <a:xfrm>
            <a:off x="8092440" y="5467746"/>
            <a:ext cx="3685031" cy="629032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200" i="1" dirty="0">
                <a:solidFill>
                  <a:sysClr val="windowText" lastClr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takeaway : SP: ahead of budget in Jan–Feb high season; Mar–Jun broadly on plan — the re-based Pattaya STR shows a level market.</a:t>
            </a:r>
            <a:endParaRPr lang="en-US" sz="800" dirty="0">
              <a:solidFill>
                <a:sysClr val="windowText" lastClr="000000"/>
              </a:solidFill>
            </a:endParaRPr>
          </a:p>
        </p:txBody>
      </p:sp>
      <p:sp>
        <p:nvSpPr>
          <p:cNvPr id="23" name="Star: 5 Points 22">
            <a:extLst>
              <a:ext uri="{FF2B5EF4-FFF2-40B4-BE49-F238E27FC236}">
                <a16:creationId xmlns:a16="http://schemas.microsoft.com/office/drawing/2014/main" id="{55E50704-22E1-8877-4752-4E965043C5AE}"/>
              </a:ext>
            </a:extLst>
          </p:cNvPr>
          <p:cNvSpPr/>
          <p:nvPr/>
        </p:nvSpPr>
        <p:spPr>
          <a:xfrm>
            <a:off x="2360519" y="2066004"/>
            <a:ext cx="117761" cy="123258"/>
          </a:xfrm>
          <a:prstGeom prst="star5">
            <a:avLst/>
          </a:prstGeom>
        </p:spPr>
        <p:style>
          <a:lnRef idx="2">
            <a:schemeClr val="accent4">
              <a:shade val="15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2F822C5-D574-4395-6623-DF5CFB1ED427}"/>
              </a:ext>
            </a:extLst>
          </p:cNvPr>
          <p:cNvSpPr txBox="1"/>
          <p:nvPr/>
        </p:nvSpPr>
        <p:spPr>
          <a:xfrm>
            <a:off x="2422733" y="2019092"/>
            <a:ext cx="98276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rgbClr val="FF0000"/>
                </a:solidFill>
              </a:rPr>
              <a:t>CNY</a:t>
            </a:r>
            <a:endParaRPr lang="en-US" dirty="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nationality (H1)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nationalities · H1 room nights 26 vs 25 (chart) · table: room nights + ADR (RN-weighted H1) with change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37360"/>
          <a:ext cx="5029200" cy="44348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90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3468013"/>
              </p:ext>
            </p:extLst>
          </p:nvPr>
        </p:nvGraphicFramePr>
        <p:xfrm>
          <a:off x="5623560" y="1649387"/>
          <a:ext cx="6144768" cy="3072384"/>
        </p:xfrm>
        <a:graphic>
          <a:graphicData uri="http://schemas.openxmlformats.org/drawingml/2006/table">
            <a:tbl>
              <a:tblPr/>
              <a:tblGrid>
                <a:gridCol w="117043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217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754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3"/>
                    </a:ext>
                  </a:extLst>
                </a:gridCol>
                <a:gridCol w="676656">
                  <a:extLst>
                    <a:ext uri="{9D8B030D-6E8A-4147-A177-3AD203B41FA5}">
                      <a16:colId xmlns:a16="http://schemas.microsoft.com/office/drawing/2014/main" val="900054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950004"/>
                    </a:ext>
                  </a:extLst>
                </a:gridCol>
                <a:gridCol w="530352">
                  <a:extLst>
                    <a:ext uri="{9D8B030D-6E8A-4147-A177-3AD203B41FA5}">
                      <a16:colId xmlns:a16="http://schemas.microsoft.com/office/drawing/2014/main" val="900055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Nationality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RN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Chg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ADR 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China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10,445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+805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3,504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3,107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-397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4,218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3,631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3,645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Thailand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3,622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+659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4,447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3,264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-1,183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Israel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3,148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+639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4,034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3,754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United States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3,346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2,381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-29%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4,314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4,370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7AE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Russia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2,030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2,295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+265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Taiwan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2,369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2,175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-501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Republic of Korea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2,040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1,950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3,677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3,182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-495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Australia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1,310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+572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4,362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-178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Japan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1,620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3,929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3,516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-413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Top-10 total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32,088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33,282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+1,194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3,792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3,426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-366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7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</a:tbl>
          </a:graphicData>
        </a:graphic>
      </p:graphicFrame>
      <p:sp>
        <p:nvSpPr>
          <p:cNvPr id="8" name="Rectangle 7">
            <a:extLst>
              <a:ext uri="{FF2B5EF4-FFF2-40B4-BE49-F238E27FC236}">
                <a16:creationId xmlns:a16="http://schemas.microsoft.com/office/drawing/2014/main" id="{C9C7DA9E-C2B9-74A4-27CD-55B766BD75B7}"/>
              </a:ext>
            </a:extLst>
          </p:cNvPr>
          <p:cNvSpPr/>
          <p:nvPr/>
        </p:nvSpPr>
        <p:spPr>
          <a:xfrm>
            <a:off x="5623560" y="4874319"/>
            <a:ext cx="6144768" cy="6685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Biggest H1 gain: China (+805 RN) · biggest decline: United States (-965 RN).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Key %changes come from Australia, Israel and Thailand.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ysClr val="windowText" lastClr="000000"/>
                </a:solidFill>
              </a:rPr>
              <a:t>ADR in Pattaya did not increase vs LY for any nationality.</a:t>
            </a:r>
            <a:endParaRPr lang="en-US" sz="1200" dirty="0">
              <a:solidFill>
                <a:sysClr val="windowText" lastClr="000000"/>
              </a:solidFill>
              <a:latin typeface="Calibri" charset="0"/>
              <a:ea typeface="Calibri" charset="0"/>
              <a:cs typeface="Calibri" charset="0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RN and ADR by segment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mix 2026 (left) · YTD share (right) · table: H1 room nights and ADR, 2026 vs 2025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600200"/>
          <a:ext cx="667512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7" name="Chart 1"/>
          <p:cNvGraphicFramePr/>
          <p:nvPr/>
        </p:nvGraphicFramePr>
        <p:xfrm>
          <a:off x="7635240" y="1600200"/>
          <a:ext cx="4023360" cy="2514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608273"/>
              </p:ext>
            </p:extLst>
          </p:nvPr>
        </p:nvGraphicFramePr>
        <p:xfrm>
          <a:off x="548639" y="4203192"/>
          <a:ext cx="11091671" cy="135940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330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1364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196161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Segment (H1)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RN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Mix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’26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950" b="1">
                          <a:solidFill>
                            <a:srgbClr val="FFFFFF"/>
                          </a:solidFill>
                          <a:latin typeface="Calibri"/>
                        </a:rPr>
                        <a:t>ADR Chg 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SS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1,386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1,879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3,493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+2.2%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Corporate LS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2,270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1,986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2,643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3,155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+19.4%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Online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12,400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12,744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+3%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4,940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4,145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-16.1%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ASR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4,567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6,426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1E7B34"/>
                          </a:solidFill>
                          <a:latin typeface="Calibri"/>
                        </a:rPr>
                        <a:t>+41%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4,640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4,382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-5.5%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Wholesale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19,078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19,526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45%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3,323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2,954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-11.1%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Group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1,221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684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-44%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2%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595959"/>
                          </a:solidFill>
                          <a:latin typeface="Calibri"/>
                        </a:rPr>
                        <a:t>3,671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2,533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C62828"/>
                          </a:solidFill>
                          <a:latin typeface="Calibri"/>
                        </a:rPr>
                        <a:t>-31.0%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164592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40,993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43,294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1E7B34"/>
                          </a:solidFill>
                          <a:latin typeface="Calibri"/>
                        </a:rPr>
                        <a:t>+6%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6292E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595959"/>
                          </a:solidFill>
                          <a:latin typeface="Calibri"/>
                        </a:rPr>
                        <a:t>3,936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26292E"/>
                          </a:solidFill>
                          <a:latin typeface="Calibri"/>
                        </a:rPr>
                        <a:t>3,545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 dirty="0">
                          <a:solidFill>
                            <a:srgbClr val="C62828"/>
                          </a:solidFill>
                          <a:latin typeface="Calibri"/>
                        </a:rPr>
                        <a:t>-9.9%</a:t>
                      </a:r>
                    </a:p>
                  </a:txBody>
                  <a:tcPr marL="45720" marR="45720" marT="9144" marB="9144" anchor="ctr">
                    <a:lnL w="6350">
                      <a:solidFill>
                        <a:srgbClr val="E2E7F2"/>
                      </a:solidFill>
                    </a:lnL>
                    <a:lnR w="6350">
                      <a:solidFill>
                        <a:srgbClr val="E2E7F2"/>
                      </a:solidFill>
                    </a:lnR>
                    <a:lnT w="6350">
                      <a:solidFill>
                        <a:srgbClr val="E2E7F2"/>
                      </a:solidFill>
                    </a:lnT>
                    <a:lnB w="6350">
                      <a:solidFill>
                        <a:srgbClr val="E2E7F2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10" name="Rectangle 9">
            <a:extLst>
              <a:ext uri="{FF2B5EF4-FFF2-40B4-BE49-F238E27FC236}">
                <a16:creationId xmlns:a16="http://schemas.microsoft.com/office/drawing/2014/main" id="{11B85CAA-8BB5-CE77-F0F1-5557DEC5E4DA}"/>
              </a:ext>
            </a:extLst>
          </p:cNvPr>
          <p:cNvSpPr/>
          <p:nvPr/>
        </p:nvSpPr>
        <p:spPr>
          <a:xfrm>
            <a:off x="548639" y="5645229"/>
            <a:ext cx="11117579" cy="709851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i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Largest segment YTD: Wholesale (42% of room nights)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ASR is increasing — Ascott seems to be </a:t>
            </a:r>
            <a:r>
              <a:rPr lang="en-US" sz="1200" dirty="0" err="1">
                <a:solidFill>
                  <a:schemeClr val="tx1"/>
                </a:solidFill>
              </a:rPr>
              <a:t>emphasising</a:t>
            </a:r>
            <a:r>
              <a:rPr lang="en-US" sz="1200" dirty="0">
                <a:solidFill>
                  <a:schemeClr val="tx1"/>
                </a:solidFill>
              </a:rPr>
              <a:t> its leisure brand, promoting leisure properties like SP more. Corporate SS bookings are also +36% with ADR above LY, showing real demand for corporate short-stay.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9260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200" dirty="0">
                <a:solidFill>
                  <a:srgbClr val="D9A4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7 · SOMERSET PATTAYA (SP)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Somerset Pattaya (SP) — P&amp;L, H1 2026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060704"/>
            <a:ext cx="11091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YTD Jan–Jun vs MF budget · monthly P&amp;L: actual 2026 vs Budget (MF) and actual 2025 · ฿M</a:t>
            </a:r>
            <a:endParaRPr lang="en-US" sz="1250" dirty="0"/>
          </a:p>
        </p:txBody>
      </p:sp>
      <p:sp>
        <p:nvSpPr>
          <p:cNvPr id="5" name="Text 3"/>
          <p:cNvSpPr/>
          <p:nvPr/>
        </p:nvSpPr>
        <p:spPr>
          <a:xfrm>
            <a:off x="8165592" y="31089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900" dirty="0"/>
          </a:p>
        </p:txBody>
      </p:sp>
      <p:graphicFrame>
        <p:nvGraphicFramePr>
          <p:cNvPr id="6" name="Chart 0"/>
          <p:cNvGraphicFramePr/>
          <p:nvPr/>
        </p:nvGraphicFramePr>
        <p:xfrm>
          <a:off x="548640" y="1783080"/>
          <a:ext cx="5394960" cy="20116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86200"/>
          <a:ext cx="5394960" cy="2112264"/>
        </p:xfrm>
        <a:graphic>
          <a:graphicData uri="http://schemas.openxmlformats.org/drawingml/2006/table">
            <a:tbl>
              <a:tblPr/>
              <a:tblGrid>
                <a:gridCol w="9326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603504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84124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15087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฿M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6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-14.5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-74.4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0058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Budget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’25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23.8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15087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7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 ’26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4.3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2.9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7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25.7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27432" marR="27432" marT="9144" marB="9144"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</a:tbl>
          </a:graphicData>
        </a:graphic>
      </p:graphicFrame>
      <p:graphicFrame>
        <p:nvGraphicFramePr>
          <p:cNvPr id="8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1494740"/>
              </p:ext>
            </p:extLst>
          </p:nvPr>
        </p:nvGraphicFramePr>
        <p:xfrm>
          <a:off x="6126481" y="1442089"/>
          <a:ext cx="5513832" cy="2224112"/>
        </p:xfrm>
        <a:graphic>
          <a:graphicData uri="http://schemas.openxmlformats.org/drawingml/2006/table">
            <a:tbl>
              <a:tblPr/>
              <a:tblGrid>
                <a:gridCol w="9833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672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0239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632159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64971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59704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614599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30973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2026 (YTD)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MF budget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25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H1 2024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vs H1 24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฿166.4M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฿167.4M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−฿74.4M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−฿82.4M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-9.8%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−฿75.9M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(EBITDA)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฿100.7M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-8.5%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฿92.3M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฿106.6M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-13.6%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GOP margin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55.3%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55.1%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+0.2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-3.1 pts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JV expense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−฿39.9M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−฿41.6M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-4.0%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−฿39.2M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+1.8%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−฿41.0M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฿52.2M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฿59.1M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฿53.1M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-1.7%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฿65.5M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-20.4%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6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6765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850" b="1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NPAT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1E276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฿25.7M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2629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฿23.8M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2E7D3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+฿1.8M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dirty="0">
                          <a:solidFill>
                            <a:srgbClr val="6B72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฿28.2M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r">
                        <a:buNone/>
                      </a:pPr>
                      <a:r>
                        <a:rPr lang="en-US" sz="85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−฿2.5M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F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9" name="Shape 4"/>
          <p:cNvSpPr/>
          <p:nvPr/>
        </p:nvSpPr>
        <p:spPr>
          <a:xfrm>
            <a:off x="6126480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5"/>
          <p:cNvSpPr/>
          <p:nvPr/>
        </p:nvSpPr>
        <p:spPr>
          <a:xfrm>
            <a:off x="6272784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H1 2026</a:t>
            </a:r>
            <a:endParaRPr lang="en-US" sz="1050" dirty="0"/>
          </a:p>
        </p:txBody>
      </p:sp>
      <p:sp>
        <p:nvSpPr>
          <p:cNvPr id="11" name="Text 6"/>
          <p:cNvSpPr/>
          <p:nvPr/>
        </p:nvSpPr>
        <p:spPr>
          <a:xfrm>
            <a:off x="6272784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฿166.4M</a:t>
            </a:r>
            <a:endParaRPr lang="en-US" sz="2400" dirty="0"/>
          </a:p>
        </p:txBody>
      </p:sp>
      <p:sp>
        <p:nvSpPr>
          <p:cNvPr id="12" name="Text 7"/>
          <p:cNvSpPr/>
          <p:nvPr/>
        </p:nvSpPr>
        <p:spPr>
          <a:xfrm>
            <a:off x="6272784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 vs H1 2025</a:t>
            </a:r>
            <a:endParaRPr lang="en-US" sz="1050" dirty="0"/>
          </a:p>
        </p:txBody>
      </p:sp>
      <p:sp>
        <p:nvSpPr>
          <p:cNvPr id="13" name="Shape 8"/>
          <p:cNvSpPr/>
          <p:nvPr/>
        </p:nvSpPr>
        <p:spPr>
          <a:xfrm>
            <a:off x="8988552" y="3785616"/>
            <a:ext cx="2651760" cy="1207008"/>
          </a:xfrm>
          <a:prstGeom prst="roundRect">
            <a:avLst>
              <a:gd name="adj" fmla="val 4545"/>
            </a:avLst>
          </a:prstGeom>
          <a:solidFill>
            <a:srgbClr val="F4F6FB"/>
          </a:solidFill>
          <a:ln w="9525">
            <a:solidFill>
              <a:srgbClr val="E2E7F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9"/>
          <p:cNvSpPr/>
          <p:nvPr/>
        </p:nvSpPr>
        <p:spPr>
          <a:xfrm>
            <a:off x="9134856" y="38770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 H1 2026</a:t>
            </a:r>
            <a:endParaRPr lang="en-US" sz="1050" dirty="0"/>
          </a:p>
        </p:txBody>
      </p:sp>
      <p:sp>
        <p:nvSpPr>
          <p:cNvPr id="15" name="Text 10"/>
          <p:cNvSpPr/>
          <p:nvPr/>
        </p:nvSpPr>
        <p:spPr>
          <a:xfrm>
            <a:off x="9134856" y="4096512"/>
            <a:ext cx="235915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฿52.2M</a:t>
            </a:r>
            <a:endParaRPr lang="en-US" sz="2400" dirty="0"/>
          </a:p>
        </p:txBody>
      </p:sp>
      <p:sp>
        <p:nvSpPr>
          <p:cNvPr id="16" name="Text 11"/>
          <p:cNvSpPr/>
          <p:nvPr/>
        </p:nvSpPr>
        <p:spPr>
          <a:xfrm>
            <a:off x="9134856" y="4553712"/>
            <a:ext cx="2359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−฿0.9M vs H1 2025 (฿53.1M)</a:t>
            </a:r>
            <a:endParaRPr lang="en-US" sz="1050" dirty="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45CC5E7-EBE5-6B3E-61A8-7E1250831288}"/>
              </a:ext>
            </a:extLst>
          </p:cNvPr>
          <p:cNvSpPr/>
          <p:nvPr/>
        </p:nvSpPr>
        <p:spPr>
          <a:xfrm>
            <a:off x="6126479" y="5112039"/>
            <a:ext cx="5513833" cy="89263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Revenue is similar to last year and OPEX is managed slightly better, but JV expense is higher than last year</a:t>
            </a:r>
            <a:r>
              <a:rPr lang="th-TH" sz="1200" dirty="0">
                <a:solidFill>
                  <a:schemeClr val="tx1"/>
                </a:solidFill>
              </a:rPr>
              <a:t> </a:t>
            </a:r>
            <a:r>
              <a:rPr lang="en-US" sz="1200" dirty="0" err="1">
                <a:solidFill>
                  <a:schemeClr val="tx1"/>
                </a:solidFill>
              </a:rPr>
              <a:t>bc</a:t>
            </a:r>
            <a:r>
              <a:rPr lang="en-US" sz="1200" dirty="0">
                <a:solidFill>
                  <a:schemeClr val="tx1"/>
                </a:solidFill>
              </a:rPr>
              <a:t> other expense, which makes EBIT lower.</a:t>
            </a:r>
          </a:p>
          <a:p>
            <a:pPr marL="171450" indent="-171450" algn="ctr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NPAT improves because </a:t>
            </a:r>
            <a:r>
              <a:rPr lang="en-US" sz="1200" dirty="0">
                <a:solidFill>
                  <a:srgbClr val="FF0000"/>
                </a:solidFill>
              </a:rPr>
              <a:t>of no more bank loan ?</a:t>
            </a:r>
            <a:endParaRPr 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1">
            <a:extLst>
              <a:ext uri="{FF2B5EF4-FFF2-40B4-BE49-F238E27FC236}">
                <a16:creationId xmlns:a16="http://schemas.microsoft.com/office/drawing/2014/main" id="{36F3A157-32E6-3939-F000-BD929E7F3C7B}"/>
              </a:ext>
            </a:extLst>
          </p:cNvPr>
          <p:cNvSpPr/>
          <p:nvPr/>
        </p:nvSpPr>
        <p:spPr>
          <a:xfrm>
            <a:off x="548640" y="502920"/>
            <a:ext cx="110916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dirty="0"/>
              <a:t>Conclusion</a:t>
            </a:r>
          </a:p>
        </p:txBody>
      </p:sp>
    </p:spTree>
    <p:extLst>
      <p:ext uri="{BB962C8B-B14F-4D97-AF65-F5344CB8AC3E}">
        <p14:creationId xmlns:p14="http://schemas.microsoft.com/office/powerpoint/2010/main" val="2155285100"/>
      </p:ext>
    </p:extLst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Text 3">
            <a:extLst>
              <a:ext uri="{FF2B5EF4-FFF2-40B4-BE49-F238E27FC236}">
                <a16:creationId xmlns:a16="http://schemas.microsoft.com/office/drawing/2014/main" id="{6DD7B280-FDD1-D9D8-D92B-43DD8A8103BB}"/>
              </a:ext>
            </a:extLst>
          </p:cNvPr>
          <p:cNvSpPr/>
          <p:nvPr/>
        </p:nvSpPr>
        <p:spPr>
          <a:xfrm>
            <a:off x="548640" y="61722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7C8B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Mitsui Thailand Portfolio · H1 2026</a:t>
            </a:r>
            <a:endParaRPr lang="en-US" sz="1000" dirty="0"/>
          </a:p>
        </p:txBody>
      </p:sp>
      <p:sp>
        <p:nvSpPr>
          <p:cNvPr id="6" name="TextBox 5"/>
          <p:cNvSpPr txBox="1"/>
          <p:nvPr/>
        </p:nvSpPr>
        <p:spPr>
          <a:xfrm>
            <a:off x="548640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ARRIVALS — WHAT HAPPENED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Thailand H1 arrivals: 15.87M reported, −4.9% vs 2025 — adding back the MOTS 4-day June data loss, the estimate is 16.16M = −3.2%: soft, but not a collapse.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Middle East fell hardest in %: −28.5% vs LY, collapsing from February onward (the war broke out at the end of January) — Feb −52%, Apr −57%.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Fact check — by volume the biggest losses are short-haul: Malaysia −213k, Cambodia −193k, Korea −172k, Laos −127k; the Middle East itself is −81k. China (+379k) and India (+63k) grew.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April was the weakest full-data month: −7.0% vs April 2025 — high fuel prices a possible driver [TBC — not verifiable from our data].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99632" y="1600200"/>
            <a:ext cx="5440680" cy="320040"/>
          </a:xfrm>
          <a:prstGeom prst="rect">
            <a:avLst/>
          </a:prstGeom>
          <a:noFill/>
        </p:spPr>
        <p:txBody>
          <a:bodyPr wrap="none" lIns="0" tIns="0">
            <a:spAutoFit/>
          </a:bodyPr>
          <a:lstStyle/>
          <a:p>
            <a:r>
              <a:rPr sz="1300" b="1">
                <a:solidFill>
                  <a:srgbClr val="1E2761"/>
                </a:solidFill>
                <a:latin typeface="Calibri"/>
              </a:rPr>
              <a:t>WHAT IT MEANS FOR OUR MARKETS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99632" y="2011680"/>
            <a:ext cx="5440680" cy="4526280"/>
          </a:xfrm>
          <a:prstGeom prst="rect">
            <a:avLst/>
          </a:prstGeom>
          <a:noFill/>
        </p:spPr>
        <p:txBody>
          <a:bodyPr wrap="square" lIns="0" tIns="0">
            <a:spAutoFit/>
          </a:bodyPr>
          <a:lstStyle/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Bangkok defied the national trend: arrivals +3.3% vs LY — but foreigners were flat (−0.1%) while domestic grew +6.2%, and China led the foreign growth: a lower-spending mix.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That is exactly what STR shows for Bangkok: occupancy UP (+2.3%) but ADR DOWN (−1.4%).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By class, only Luxury held rate (+1.1% ADR); every other class traded rate for occupancy — and our portfolio competes in those classes. That is why yielding ADR is this year’s challenge.</a:t>
            </a:r>
          </a:p>
          <a:p>
            <a:pPr>
              <a:spcAft>
                <a:spcPts val="700"/>
              </a:spcAft>
            </a:pPr>
            <a:r>
              <a:rPr sz="1050">
                <a:solidFill>
                  <a:srgbClr val="26292E"/>
                </a:solidFill>
                <a:latin typeface="Calibri"/>
              </a:rPr>
              <a:t>• Pattaya: arrivals below LY (−2.7%) and market RevPAR −2.3% — yet SP outperformed its market (Occ +5.3%, RevPAR +0.2% vs LY).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570ce379-ef9e-488e-8e74-44d887057c06" xsi:nil="true"/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BB95B0B08412A849A5A64508D0AA5F92" ma:contentTypeVersion="9" ma:contentTypeDescription="Create a new document." ma:contentTypeScope="" ma:versionID="4787747963eddd222ebc2112c47bd42e">
  <xsd:schema xmlns:xsd="http://www.w3.org/2001/XMLSchema" xmlns:xs="http://www.w3.org/2001/XMLSchema" xmlns:p="http://schemas.microsoft.com/office/2006/metadata/properties" xmlns:ns3="570ce379-ef9e-488e-8e74-44d887057c06" targetNamespace="http://schemas.microsoft.com/office/2006/metadata/properties" ma:root="true" ma:fieldsID="6f05b7aeef960c0d17e92540f6e08c72" ns3:_="">
    <xsd:import namespace="570ce379-ef9e-488e-8e74-44d887057c06"/>
    <xsd:element name="properties">
      <xsd:complexType>
        <xsd:sequence>
          <xsd:element name="documentManagement">
            <xsd:complexType>
              <xsd:all>
                <xsd:element ref="ns3:MediaServiceDateTaken" minOccurs="0"/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570ce379-ef9e-488e-8e74-44d887057c06" elementFormDefault="qualified">
    <xsd:import namespace="http://schemas.microsoft.com/office/2006/documentManagement/types"/>
    <xsd:import namespace="http://schemas.microsoft.com/office/infopath/2007/PartnerControls"/>
    <xsd:element name="MediaServiceDateTaken" ma:index="8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_activity" ma:index="9" nillable="true" ma:displayName="_activity" ma:hidden="true" ma:internalName="_activity">
      <xsd:simpleType>
        <xsd:restriction base="dms:Note"/>
      </xsd:simpleType>
    </xsd:element>
    <xsd:element name="MediaServiceMetadata" ma:index="10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1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SystemTags" ma:index="13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B789EF4-9820-4A59-9D05-AF608D83E433}">
  <ds:schemaRefs>
    <ds:schemaRef ds:uri="http://purl.org/dc/elements/1.1/"/>
    <ds:schemaRef ds:uri="570ce379-ef9e-488e-8e74-44d887057c06"/>
    <ds:schemaRef ds:uri="http://purl.org/dc/dcmitype/"/>
    <ds:schemaRef ds:uri="http://www.w3.org/XML/1998/namespace"/>
    <ds:schemaRef ds:uri="http://purl.org/dc/terms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DB74C21-A0DA-4EDB-999A-8BD9B5CF786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570ce379-ef9e-488e-8e74-44d887057c06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BF51FCA5-1E74-4B12-B3EA-47FCB2B44557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14106</TotalTime>
  <Words>7360</Words>
  <Application>Microsoft Office PowerPoint</Application>
  <PresentationFormat>Widescreen</PresentationFormat>
  <Paragraphs>2697</Paragraphs>
  <Slides>35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39" baseType="lpstr">
      <vt:lpstr>Aptos Narrow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Ariya Ariyachotima</cp:lastModifiedBy>
  <cp:revision>10</cp:revision>
  <dcterms:created xsi:type="dcterms:W3CDTF">2026-07-24T09:01:49Z</dcterms:created>
  <dcterms:modified xsi:type="dcterms:W3CDTF">2026-08-04T10:16:41Z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0x010100BB95B0B08412A849A5A64508D0AA5F92</vt:lpwstr>
  </property>
</Properties>
</file>