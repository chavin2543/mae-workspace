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5.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6.xml" ContentType="application/vnd.openxmlformats-officedocument.drawingml.chart+xml"/>
  <Override PartName="/ppt/notesSlides/notesSlide8.xml" ContentType="application/vnd.openxmlformats-officedocument.presentationml.notes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0.xml" ContentType="application/vnd.openxmlformats-officedocument.drawingml.chart+xml"/>
  <Override PartName="/ppt/notesSlides/notesSlide11.xml" ContentType="application/vnd.openxmlformats-officedocument.presentationml.notes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4.xml" ContentType="application/vnd.openxmlformats-officedocument.drawingml.chart+xml"/>
  <Override PartName="/ppt/notesSlides/notesSlide14.xml" ContentType="application/vnd.openxmlformats-officedocument.presentationml.notesSlide+xml"/>
  <Override PartName="/ppt/charts/chart15.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6.xml" ContentType="application/vnd.openxmlformats-officedocument.drawingml.chart+xml"/>
  <Override PartName="/ppt/notesSlides/notesSlide17.xml" ContentType="application/vnd.openxmlformats-officedocument.presentationml.notesSlide+xml"/>
  <Override PartName="/ppt/charts/chart17.xml" ContentType="application/vnd.openxmlformats-officedocument.drawingml.chart+xml"/>
  <Override PartName="/ppt/notesSlides/notesSlide18.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19.xml" ContentType="application/vnd.openxmlformats-officedocument.presentationml.notesSlide+xml"/>
  <Override PartName="/ppt/charts/chart20.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21.xml" ContentType="application/vnd.openxmlformats-officedocument.drawingml.chart+xml"/>
  <Override PartName="/ppt/notesSlides/notesSlide22.xml" ContentType="application/vnd.openxmlformats-officedocument.presentationml.notesSlide+xml"/>
  <Override PartName="/ppt/charts/chart22.xml" ContentType="application/vnd.openxmlformats-officedocument.drawingml.chart+xml"/>
  <Override PartName="/ppt/notesSlides/notesSlide23.xml" ContentType="application/vnd.openxmlformats-officedocument.presentationml.notesSlide+xml"/>
  <Override PartName="/ppt/charts/chart23.xml" ContentType="application/vnd.openxmlformats-officedocument.drawingml.chart+xml"/>
  <Override PartName="/ppt/charts/chart24.xml" ContentType="application/vnd.openxmlformats-officedocument.drawingml.chart+xml"/>
  <Override PartName="/ppt/notesSlides/notesSlide24.xml" ContentType="application/vnd.openxmlformats-officedocument.presentationml.notesSlide+xml"/>
  <Override PartName="/ppt/charts/chart25.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6.xml" ContentType="application/vnd.openxmlformats-officedocument.drawingml.chart+xml"/>
  <Override PartName="/ppt/notesSlides/notesSlide27.xml" ContentType="application/vnd.openxmlformats-officedocument.presentationml.notesSlide+xml"/>
  <Override PartName="/ppt/charts/chart27.xml" ContentType="application/vnd.openxmlformats-officedocument.drawingml.chart+xml"/>
  <Override PartName="/ppt/notesSlides/notesSlide28.xml" ContentType="application/vnd.openxmlformats-officedocument.presentationml.notesSlide+xml"/>
  <Override PartName="/ppt/charts/chart28.xml" ContentType="application/vnd.openxmlformats-officedocument.drawingml.chart+xml"/>
  <Override PartName="/ppt/charts/chart29.xml" ContentType="application/vnd.openxmlformats-officedocument.drawingml.chart+xml"/>
  <Override PartName="/ppt/notesSlides/notesSlide29.xml" ContentType="application/vnd.openxmlformats-officedocument.presentationml.notesSlide+xml"/>
  <Override PartName="/ppt/charts/chart30.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31.xml" ContentType="application/vnd.openxmlformats-officedocument.drawingml.chart+xml"/>
  <Override PartName="/ppt/notesSlides/notesSlide32.xml" ContentType="application/vnd.openxmlformats-officedocument.presentationml.notesSlide+xml"/>
  <Override PartName="/ppt/charts/chart32.xml" ContentType="application/vnd.openxmlformats-officedocument.drawingml.chart+xml"/>
  <Override PartName="/ppt/notesSlides/notesSlide33.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34.xml" ContentType="application/vnd.openxmlformats-officedocument.presentationml.notesSlide+xml"/>
  <Override PartName="/ppt/charts/chart35.xml" ContentType="application/vnd.openxmlformats-officedocument.drawingml.chart+xml"/>
  <Override PartName="/ppt/notesSlides/notesSlide3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0"/>
  </p:notesMasterIdLst>
  <p:sldIdLst>
    <p:sldId id="256" r:id="rId5"/>
    <p:sldId id="258" r:id="rId6"/>
    <p:sldId id="259" r:id="rId7"/>
    <p:sldId id="261" r:id="rId8"/>
    <p:sldId id="263" r:id="rId9"/>
    <p:sldId id="302" r:id="rId10"/>
    <p:sldId id="304" r:id="rId11"/>
    <p:sldId id="266" r:id="rId12"/>
    <p:sldId id="303" r:id="rId13"/>
    <p:sldId id="305" r:id="rId14"/>
    <p:sldId id="267" r:id="rId15"/>
    <p:sldId id="270" r:id="rId16"/>
    <p:sldId id="272" r:id="rId17"/>
    <p:sldId id="271" r:id="rId18"/>
    <p:sldId id="273" r:id="rId19"/>
    <p:sldId id="275" r:id="rId20"/>
    <p:sldId id="278" r:id="rId21"/>
    <p:sldId id="276" r:id="rId22"/>
    <p:sldId id="274" r:id="rId23"/>
    <p:sldId id="280" r:id="rId24"/>
    <p:sldId id="282" r:id="rId25"/>
    <p:sldId id="308" r:id="rId26"/>
    <p:sldId id="283" r:id="rId27"/>
    <p:sldId id="281" r:id="rId28"/>
    <p:sldId id="287" r:id="rId29"/>
    <p:sldId id="289" r:id="rId30"/>
    <p:sldId id="292" r:id="rId31"/>
    <p:sldId id="290" r:id="rId32"/>
    <p:sldId id="288" r:id="rId33"/>
    <p:sldId id="294" r:id="rId34"/>
    <p:sldId id="296" r:id="rId35"/>
    <p:sldId id="299" r:id="rId36"/>
    <p:sldId id="297" r:id="rId37"/>
    <p:sldId id="295" r:id="rId38"/>
    <p:sldId id="307"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409C20-A998-4A5C-B625-CA10EEA2B52C}" v="50" dt="2026-08-19T01:55:04.009"/>
  </p1510:revLst>
</p1510:revInfo>
</file>

<file path=ppt/tableStyles.xml><?xml version="1.0" encoding="utf-8"?>
<a:tblStyleLst xmlns:a="http://schemas.openxmlformats.org/drawingml/2006/main" def="{5C22544A-7EE6-4342-B048-85BDC9FD1C3A}">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47" autoAdjust="0"/>
  </p:normalViewPr>
  <p:slideViewPr>
    <p:cSldViewPr snapToGrid="0">
      <p:cViewPr>
        <p:scale>
          <a:sx n="98" d="100"/>
          <a:sy n="98" d="100"/>
        </p:scale>
        <p:origin x="1038"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3035296</c:v>
                </c:pt>
                <c:pt idx="1">
                  <c:v>3352302</c:v>
                </c:pt>
                <c:pt idx="2">
                  <c:v>2982721</c:v>
                </c:pt>
                <c:pt idx="3">
                  <c:v>2757128</c:v>
                </c:pt>
                <c:pt idx="4">
                  <c:v>2633464</c:v>
                </c:pt>
                <c:pt idx="5">
                  <c:v>2740372</c:v>
                </c:pt>
                <c:pt idx="6">
                  <c:v>3103420</c:v>
                </c:pt>
                <c:pt idx="7">
                  <c:v>2963147</c:v>
                </c:pt>
                <c:pt idx="8">
                  <c:v>2521005</c:v>
                </c:pt>
                <c:pt idx="9">
                  <c:v>2679180</c:v>
                </c:pt>
                <c:pt idx="10">
                  <c:v>3150237</c:v>
                </c:pt>
                <c:pt idx="11">
                  <c:v>3627442</c:v>
                </c:pt>
              </c:numCache>
            </c:numRef>
          </c:val>
          <c:extLst>
            <c:ext xmlns:c16="http://schemas.microsoft.com/office/drawing/2014/chart" uri="{C3380CC4-5D6E-409C-BE32-E72D297353CC}">
              <c16:uniqueId val="{00000000-354B-44A5-8F07-E307CA03968B}"/>
            </c:ext>
          </c:extLst>
        </c:ser>
        <c:ser>
          <c:idx val="1"/>
          <c:order val="1"/>
          <c:tx>
            <c:strRef>
              <c:f>Sheet1!$C$1</c:f>
              <c:strCache>
                <c:ptCount val="1"/>
                <c:pt idx="0">
                  <c:v>2025</c:v>
                </c:pt>
              </c:strCache>
            </c:strRef>
          </c:tx>
          <c:spPr>
            <a:solidFill>
              <a:srgbClr val="7FA4DC"/>
            </a:solidFill>
            <a:effectLst/>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3709102</c:v>
                </c:pt>
                <c:pt idx="1">
                  <c:v>3119445</c:v>
                </c:pt>
                <c:pt idx="2">
                  <c:v>2720457</c:v>
                </c:pt>
                <c:pt idx="3">
                  <c:v>2547116</c:v>
                </c:pt>
                <c:pt idx="4">
                  <c:v>2266574</c:v>
                </c:pt>
                <c:pt idx="5">
                  <c:v>2322775</c:v>
                </c:pt>
                <c:pt idx="6">
                  <c:v>2610369</c:v>
                </c:pt>
                <c:pt idx="7">
                  <c:v>2583638</c:v>
                </c:pt>
                <c:pt idx="8">
                  <c:v>2235852</c:v>
                </c:pt>
                <c:pt idx="9">
                  <c:v>2573743</c:v>
                </c:pt>
                <c:pt idx="10">
                  <c:v>2914810</c:v>
                </c:pt>
                <c:pt idx="11">
                  <c:v>3370440</c:v>
                </c:pt>
              </c:numCache>
            </c:numRef>
          </c:val>
          <c:extLst>
            <c:ext xmlns:c16="http://schemas.microsoft.com/office/drawing/2014/chart" uri="{C3380CC4-5D6E-409C-BE32-E72D297353CC}">
              <c16:uniqueId val="{00000001-354B-44A5-8F07-E307CA03968B}"/>
            </c:ext>
          </c:extLst>
        </c:ser>
        <c:ser>
          <c:idx val="2"/>
          <c:order val="2"/>
          <c:tx>
            <c:strRef>
              <c:f>Sheet1!$D$1</c:f>
              <c:strCache>
                <c:ptCount val="1"/>
                <c:pt idx="0">
                  <c:v>2026</c:v>
                </c:pt>
              </c:strCache>
            </c:strRef>
          </c:tx>
          <c:spPr>
            <a:solidFill>
              <a:srgbClr val="1E2761"/>
            </a:solidFill>
            <a:effectLst/>
          </c:spPr>
          <c:invertIfNegative val="0"/>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3277908</c:v>
                </c:pt>
                <c:pt idx="1">
                  <c:v>3263802</c:v>
                </c:pt>
                <c:pt idx="2">
                  <c:v>2775199</c:v>
                </c:pt>
                <c:pt idx="3">
                  <c:v>2368895</c:v>
                </c:pt>
                <c:pt idx="4">
                  <c:v>2346845</c:v>
                </c:pt>
                <c:pt idx="5">
                  <c:v>1841551</c:v>
                </c:pt>
              </c:numCache>
            </c:numRef>
          </c:val>
          <c:extLst>
            <c:ext xmlns:c16="http://schemas.microsoft.com/office/drawing/2014/chart" uri="{C3380CC4-5D6E-409C-BE32-E72D297353CC}">
              <c16:uniqueId val="{00000002-354B-44A5-8F07-E307CA03968B}"/>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2019</c:v>
                </c:pt>
              </c:strCache>
            </c:strRef>
          </c:tx>
          <c:spPr>
            <a:solidFill>
              <a:srgbClr val="AEB6C2"/>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1069787</c:v>
                </c:pt>
                <c:pt idx="1">
                  <c:v>1064806</c:v>
                </c:pt>
                <c:pt idx="2">
                  <c:v>985232</c:v>
                </c:pt>
                <c:pt idx="3">
                  <c:v>898994</c:v>
                </c:pt>
                <c:pt idx="4">
                  <c:v>794913</c:v>
                </c:pt>
                <c:pt idx="5">
                  <c:v>894105</c:v>
                </c:pt>
              </c:numCache>
            </c:numRef>
          </c:val>
          <c:extLst>
            <c:ext xmlns:c16="http://schemas.microsoft.com/office/drawing/2014/chart" uri="{C3380CC4-5D6E-409C-BE32-E72D297353CC}">
              <c16:uniqueId val="{00000000-98AA-439B-923F-F7993838E3F5}"/>
            </c:ext>
          </c:extLst>
        </c:ser>
        <c:ser>
          <c:idx val="1"/>
          <c:order val="1"/>
          <c:tx>
            <c:strRef>
              <c:f>Sheet1!$C$1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508563</c:v>
                </c:pt>
                <c:pt idx="1">
                  <c:v>674558</c:v>
                </c:pt>
                <c:pt idx="2">
                  <c:v>573216</c:v>
                </c:pt>
                <c:pt idx="3">
                  <c:v>595572</c:v>
                </c:pt>
                <c:pt idx="4">
                  <c:v>559461</c:v>
                </c:pt>
                <c:pt idx="5">
                  <c:v>528112</c:v>
                </c:pt>
              </c:numCache>
            </c:numRef>
          </c:val>
          <c:extLst>
            <c:ext xmlns:c16="http://schemas.microsoft.com/office/drawing/2014/chart" uri="{C3380CC4-5D6E-409C-BE32-E72D297353CC}">
              <c16:uniqueId val="{00000001-98AA-439B-923F-F7993838E3F5}"/>
            </c:ext>
          </c:extLst>
        </c:ser>
        <c:ser>
          <c:idx val="2"/>
          <c:order val="2"/>
          <c:tx>
            <c:strRef>
              <c:f>Sheet1!$D$1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662779</c:v>
                </c:pt>
                <c:pt idx="1">
                  <c:v>371542</c:v>
                </c:pt>
                <c:pt idx="2">
                  <c:v>297113</c:v>
                </c:pt>
                <c:pt idx="3">
                  <c:v>317213</c:v>
                </c:pt>
                <c:pt idx="4">
                  <c:v>310292</c:v>
                </c:pt>
                <c:pt idx="5">
                  <c:v>306617</c:v>
                </c:pt>
              </c:numCache>
            </c:numRef>
          </c:val>
          <c:extLst>
            <c:ext xmlns:c16="http://schemas.microsoft.com/office/drawing/2014/chart" uri="{C3380CC4-5D6E-409C-BE32-E72D297353CC}">
              <c16:uniqueId val="{00000002-98AA-439B-923F-F7993838E3F5}"/>
            </c:ext>
          </c:extLst>
        </c:ser>
        <c:ser>
          <c:idx val="3"/>
          <c:order val="3"/>
          <c:tx>
            <c:strRef>
              <c:f>Sheet1!$E$1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400321</c:v>
                </c:pt>
                <c:pt idx="1">
                  <c:v>677768</c:v>
                </c:pt>
                <c:pt idx="2">
                  <c:v>410624</c:v>
                </c:pt>
                <c:pt idx="3">
                  <c:v>418291</c:v>
                </c:pt>
                <c:pt idx="4">
                  <c:v>411308</c:v>
                </c:pt>
                <c:pt idx="5">
                  <c:v>283297</c:v>
                </c:pt>
              </c:numCache>
            </c:numRef>
          </c:val>
          <c:extLst>
            <c:ext xmlns:c16="http://schemas.microsoft.com/office/drawing/2014/chart" uri="{C3380CC4-5D6E-409C-BE32-E72D297353CC}">
              <c16:uniqueId val="{00000003-98AA-439B-923F-F7993838E3F5}"/>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162831</c:v>
                </c:pt>
                <c:pt idx="1">
                  <c:v>148992</c:v>
                </c:pt>
                <c:pt idx="2">
                  <c:v>161129</c:v>
                </c:pt>
                <c:pt idx="3">
                  <c:v>170635</c:v>
                </c:pt>
                <c:pt idx="4">
                  <c:v>198993</c:v>
                </c:pt>
                <c:pt idx="5">
                  <c:v>197489</c:v>
                </c:pt>
              </c:numCache>
            </c:numRef>
          </c:val>
          <c:extLst>
            <c:ext xmlns:c16="http://schemas.microsoft.com/office/drawing/2014/chart" uri="{C3380CC4-5D6E-409C-BE32-E72D297353CC}">
              <c16:uniqueId val="{00000000-8AE1-430E-8329-BF727804A79A}"/>
            </c:ext>
          </c:extLst>
        </c:ser>
        <c:ser>
          <c:idx val="1"/>
          <c:order val="1"/>
          <c:tx>
            <c:strRef>
              <c:f>Sheet1!$C$1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185809</c:v>
                </c:pt>
                <c:pt idx="1">
                  <c:v>169988</c:v>
                </c:pt>
                <c:pt idx="2">
                  <c:v>187973</c:v>
                </c:pt>
                <c:pt idx="3">
                  <c:v>206286</c:v>
                </c:pt>
                <c:pt idx="4">
                  <c:v>228544</c:v>
                </c:pt>
                <c:pt idx="5">
                  <c:v>205299</c:v>
                </c:pt>
              </c:numCache>
            </c:numRef>
          </c:val>
          <c:extLst>
            <c:ext xmlns:c16="http://schemas.microsoft.com/office/drawing/2014/chart" uri="{C3380CC4-5D6E-409C-BE32-E72D297353CC}">
              <c16:uniqueId val="{00000001-8AE1-430E-8329-BF727804A79A}"/>
            </c:ext>
          </c:extLst>
        </c:ser>
        <c:ser>
          <c:idx val="2"/>
          <c:order val="2"/>
          <c:tx>
            <c:strRef>
              <c:f>Sheet1!$D$1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231184</c:v>
                </c:pt>
                <c:pt idx="1">
                  <c:v>185930</c:v>
                </c:pt>
                <c:pt idx="2">
                  <c:v>208484</c:v>
                </c:pt>
                <c:pt idx="3">
                  <c:v>206641</c:v>
                </c:pt>
                <c:pt idx="4">
                  <c:v>224490</c:v>
                </c:pt>
                <c:pt idx="5">
                  <c:v>163378</c:v>
                </c:pt>
              </c:numCache>
            </c:numRef>
          </c:val>
          <c:extLst>
            <c:ext xmlns:c16="http://schemas.microsoft.com/office/drawing/2014/chart" uri="{C3380CC4-5D6E-409C-BE32-E72D297353CC}">
              <c16:uniqueId val="{00000002-8AE1-430E-8329-BF727804A79A}"/>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2019</c:v>
                </c:pt>
              </c:strCache>
            </c:strRef>
          </c:tx>
          <c:spPr>
            <a:solidFill>
              <a:srgbClr val="AEB6C2"/>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94365</c:v>
                </c:pt>
                <c:pt idx="1">
                  <c:v>85613</c:v>
                </c:pt>
                <c:pt idx="2">
                  <c:v>101002</c:v>
                </c:pt>
                <c:pt idx="3">
                  <c:v>91897</c:v>
                </c:pt>
                <c:pt idx="4">
                  <c:v>95246</c:v>
                </c:pt>
                <c:pt idx="5">
                  <c:v>93648</c:v>
                </c:pt>
              </c:numCache>
            </c:numRef>
          </c:val>
          <c:extLst>
            <c:ext xmlns:c16="http://schemas.microsoft.com/office/drawing/2014/chart" uri="{C3380CC4-5D6E-409C-BE32-E72D297353CC}">
              <c16:uniqueId val="{00000000-C485-498E-BD41-AD4A2A527E5F}"/>
            </c:ext>
          </c:extLst>
        </c:ser>
        <c:ser>
          <c:idx val="1"/>
          <c:order val="1"/>
          <c:tx>
            <c:strRef>
              <c:f>Sheet1!$C$1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44223</c:v>
                </c:pt>
                <c:pt idx="1">
                  <c:v>35346</c:v>
                </c:pt>
                <c:pt idx="2">
                  <c:v>8455</c:v>
                </c:pt>
                <c:pt idx="3">
                  <c:v>45071</c:v>
                </c:pt>
                <c:pt idx="4">
                  <c:v>44106</c:v>
                </c:pt>
                <c:pt idx="5">
                  <c:v>97083</c:v>
                </c:pt>
              </c:numCache>
            </c:numRef>
          </c:val>
          <c:extLst>
            <c:ext xmlns:c16="http://schemas.microsoft.com/office/drawing/2014/chart" uri="{C3380CC4-5D6E-409C-BE32-E72D297353CC}">
              <c16:uniqueId val="{00000001-C485-498E-BD41-AD4A2A527E5F}"/>
            </c:ext>
          </c:extLst>
        </c:ser>
        <c:ser>
          <c:idx val="2"/>
          <c:order val="2"/>
          <c:tx>
            <c:strRef>
              <c:f>Sheet1!$D$1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49839</c:v>
                </c:pt>
                <c:pt idx="1">
                  <c:v>32831</c:v>
                </c:pt>
                <c:pt idx="2">
                  <c:v>18708</c:v>
                </c:pt>
                <c:pt idx="3">
                  <c:v>50561</c:v>
                </c:pt>
                <c:pt idx="4">
                  <c:v>48650</c:v>
                </c:pt>
                <c:pt idx="5">
                  <c:v>82462</c:v>
                </c:pt>
              </c:numCache>
            </c:numRef>
          </c:val>
          <c:extLst>
            <c:ext xmlns:c16="http://schemas.microsoft.com/office/drawing/2014/chart" uri="{C3380CC4-5D6E-409C-BE32-E72D297353CC}">
              <c16:uniqueId val="{00000002-C485-498E-BD41-AD4A2A527E5F}"/>
            </c:ext>
          </c:extLst>
        </c:ser>
        <c:ser>
          <c:idx val="3"/>
          <c:order val="3"/>
          <c:tx>
            <c:strRef>
              <c:f>Sheet1!$E$1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52261</c:v>
                </c:pt>
                <c:pt idx="1">
                  <c:v>15814</c:v>
                </c:pt>
                <c:pt idx="2">
                  <c:v>12201</c:v>
                </c:pt>
                <c:pt idx="3">
                  <c:v>21707</c:v>
                </c:pt>
                <c:pt idx="4">
                  <c:v>47726</c:v>
                </c:pt>
                <c:pt idx="5">
                  <c:v>52702</c:v>
                </c:pt>
              </c:numCache>
            </c:numRef>
          </c:val>
          <c:extLst>
            <c:ext xmlns:c16="http://schemas.microsoft.com/office/drawing/2014/chart" uri="{C3380CC4-5D6E-409C-BE32-E72D297353CC}">
              <c16:uniqueId val="{00000003-C485-498E-BD41-AD4A2A527E5F}"/>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2024</c:v>
                </c:pt>
              </c:strCache>
            </c:strRef>
          </c:tx>
          <c:spPr>
            <a:solidFill>
              <a:srgbClr val="C9D6EE"/>
            </a:solidFill>
          </c:spPr>
          <c:invertIfNegative val="1"/>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1026029</c:v>
                </c:pt>
                <c:pt idx="1">
                  <c:v>987508</c:v>
                </c:pt>
                <c:pt idx="2">
                  <c:v>901645</c:v>
                </c:pt>
                <c:pt idx="3">
                  <c:v>631332</c:v>
                </c:pt>
                <c:pt idx="4">
                  <c:v>440983</c:v>
                </c:pt>
                <c:pt idx="5">
                  <c:v>432499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22A-41DB-B165-89D079F54AA1}"/>
            </c:ext>
          </c:extLst>
        </c:ser>
        <c:ser>
          <c:idx val="1"/>
          <c:order val="1"/>
          <c:tx>
            <c:strRef>
              <c:f>Sheet1!$C$1</c:f>
              <c:strCache>
                <c:ptCount val="1"/>
                <c:pt idx="0">
                  <c:v>2025</c:v>
                </c:pt>
              </c:strCache>
            </c:strRef>
          </c:tx>
          <c:spPr>
            <a:solidFill>
              <a:srgbClr val="7FA4DC"/>
            </a:solidFill>
          </c:spPr>
          <c:invertIfNegative val="1"/>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1257708</c:v>
                </c:pt>
                <c:pt idx="1">
                  <c:v>1156356</c:v>
                </c:pt>
                <c:pt idx="2">
                  <c:v>1006483</c:v>
                </c:pt>
                <c:pt idx="3">
                  <c:v>771553</c:v>
                </c:pt>
                <c:pt idx="4">
                  <c:v>465502</c:v>
                </c:pt>
                <c:pt idx="5">
                  <c:v>451775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22A-41DB-B165-89D079F54AA1}"/>
            </c:ext>
          </c:extLst>
        </c:ser>
        <c:ser>
          <c:idx val="2"/>
          <c:order val="2"/>
          <c:tx>
            <c:strRef>
              <c:f>Sheet1!$D$1</c:f>
              <c:strCache>
                <c:ptCount val="1"/>
                <c:pt idx="0">
                  <c:v>2026</c:v>
                </c:pt>
              </c:strCache>
            </c:strRef>
          </c:tx>
          <c:spPr>
            <a:solidFill>
              <a:srgbClr val="1E2761"/>
            </a:solidFill>
          </c:spPr>
          <c:invertIfNegative val="1"/>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1366171</c:v>
                </c:pt>
                <c:pt idx="1">
                  <c:v>1202154</c:v>
                </c:pt>
                <c:pt idx="2">
                  <c:v>967437</c:v>
                </c:pt>
                <c:pt idx="3">
                  <c:v>666472</c:v>
                </c:pt>
                <c:pt idx="4">
                  <c:v>467734</c:v>
                </c:pt>
                <c:pt idx="5">
                  <c:v>380136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C22A-41DB-B165-89D079F54AA1}"/>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9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50" b="1">
                <a:solidFill>
                  <a:srgbClr val="1E2761"/>
                </a:solidFill>
                <a:latin typeface="Calibri"/>
              </a:rPr>
              <a:t>Tourist arrivals H1 (millions)</a:t>
            </a:r>
          </a:p>
        </c:rich>
      </c:tx>
      <c:overlay val="0"/>
    </c:title>
    <c:autoTitleDeleted val="0"/>
    <c:plotArea>
      <c:layout/>
      <c:barChart>
        <c:barDir val="col"/>
        <c:grouping val="clustered"/>
        <c:varyColors val="1"/>
        <c:ser>
          <c:idx val="0"/>
          <c:order val="0"/>
          <c:tx>
            <c:strRef>
              <c:f>Sheet1!$B$1</c:f>
              <c:strCache>
                <c:ptCount val="1"/>
                <c:pt idx="0">
                  <c:v>Domestic</c:v>
                </c:pt>
              </c:strCache>
            </c:strRef>
          </c:tx>
          <c:spPr>
            <a:solidFill>
              <a:srgbClr val="C9D6EE"/>
            </a:solidFill>
          </c:spPr>
          <c:invertIfNegative val="1"/>
          <c:cat>
            <c:strRef>
              <c:f>Sheet1!$A$2:$A$5</c:f>
              <c:strCache>
                <c:ptCount val="4"/>
                <c:pt idx="0">
                  <c:v>2023</c:v>
                </c:pt>
                <c:pt idx="1">
                  <c:v>2024</c:v>
                </c:pt>
                <c:pt idx="2">
                  <c:v>2025</c:v>
                </c:pt>
                <c:pt idx="3">
                  <c:v>2026</c:v>
                </c:pt>
              </c:strCache>
            </c:strRef>
          </c:cat>
          <c:val>
            <c:numRef>
              <c:f>Sheet1!$B$2:$B$5</c:f>
              <c:numCache>
                <c:formatCode>General</c:formatCode>
                <c:ptCount val="4"/>
                <c:pt idx="0">
                  <c:v>15.62</c:v>
                </c:pt>
                <c:pt idx="1">
                  <c:v>14.83</c:v>
                </c:pt>
                <c:pt idx="2">
                  <c:v>14.55</c:v>
                </c:pt>
                <c:pt idx="3">
                  <c:v>15.45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3A2C-471C-BF67-EBD171204F87}"/>
            </c:ext>
          </c:extLst>
        </c:ser>
        <c:ser>
          <c:idx val="1"/>
          <c:order val="1"/>
          <c:tx>
            <c:strRef>
              <c:f>Sheet1!$C$1</c:f>
              <c:strCache>
                <c:ptCount val="1"/>
                <c:pt idx="0">
                  <c:v>International</c:v>
                </c:pt>
              </c:strCache>
            </c:strRef>
          </c:tx>
          <c:spPr>
            <a:solidFill>
              <a:srgbClr val="1E2761"/>
            </a:solidFill>
          </c:spPr>
          <c:invertIfNegative val="1"/>
          <c:cat>
            <c:strRef>
              <c:f>Sheet1!$A$2:$A$5</c:f>
              <c:strCache>
                <c:ptCount val="4"/>
                <c:pt idx="0">
                  <c:v>2023</c:v>
                </c:pt>
                <c:pt idx="1">
                  <c:v>2024</c:v>
                </c:pt>
                <c:pt idx="2">
                  <c:v>2025</c:v>
                </c:pt>
                <c:pt idx="3">
                  <c:v>2026</c:v>
                </c:pt>
              </c:strCache>
            </c:strRef>
          </c:cat>
          <c:val>
            <c:numRef>
              <c:f>Sheet1!$C$2:$C$5</c:f>
              <c:numCache>
                <c:formatCode>General</c:formatCode>
                <c:ptCount val="4"/>
                <c:pt idx="0">
                  <c:v>11.62</c:v>
                </c:pt>
                <c:pt idx="1">
                  <c:v>13.49</c:v>
                </c:pt>
                <c:pt idx="2">
                  <c:v>12.43</c:v>
                </c:pt>
                <c:pt idx="3">
                  <c:v>12.42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3A2C-471C-BF67-EBD171204F87}"/>
            </c:ext>
          </c:extLst>
        </c:ser>
        <c:ser>
          <c:idx val="2"/>
          <c:order val="2"/>
          <c:tx>
            <c:strRef>
              <c:f>Sheet1!$D$1</c:f>
              <c:strCache>
                <c:ptCount val="1"/>
                <c:pt idx="0">
                  <c:v>Total</c:v>
                </c:pt>
              </c:strCache>
            </c:strRef>
          </c:tx>
          <c:spPr>
            <a:solidFill>
              <a:srgbClr val="D9A441"/>
            </a:solidFill>
          </c:spPr>
          <c:invertIfNegative val="1"/>
          <c:cat>
            <c:strRef>
              <c:f>Sheet1!$A$2:$A$5</c:f>
              <c:strCache>
                <c:ptCount val="4"/>
                <c:pt idx="0">
                  <c:v>2023</c:v>
                </c:pt>
                <c:pt idx="1">
                  <c:v>2024</c:v>
                </c:pt>
                <c:pt idx="2">
                  <c:v>2025</c:v>
                </c:pt>
                <c:pt idx="3">
                  <c:v>2026</c:v>
                </c:pt>
              </c:strCache>
            </c:strRef>
          </c:cat>
          <c:val>
            <c:numRef>
              <c:f>Sheet1!$D$2:$D$5</c:f>
              <c:numCache>
                <c:formatCode>General</c:formatCode>
                <c:ptCount val="4"/>
                <c:pt idx="0">
                  <c:v>27.23</c:v>
                </c:pt>
                <c:pt idx="1">
                  <c:v>28.32</c:v>
                </c:pt>
                <c:pt idx="2">
                  <c:v>26.98</c:v>
                </c:pt>
                <c:pt idx="3">
                  <c:v>27.86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3A2C-471C-BF67-EBD171204F87}"/>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200"/>
            </a:pPr>
            <a:endParaRPr lang="en-US"/>
          </a:p>
        </c:txPr>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txPr>
          <a:bodyPr/>
          <a:lstStyle/>
          <a:p>
            <a:pPr>
              <a:defRPr sz="12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Occupancy (%)</a:t>
            </a:r>
          </a:p>
        </c:rich>
      </c:tx>
      <c:overlay val="0"/>
    </c:title>
    <c:autoTitleDeleted val="0"/>
    <c:plotArea>
      <c:layout/>
      <c:barChart>
        <c:barDir val="col"/>
        <c:grouping val="clustered"/>
        <c:varyColors val="0"/>
        <c:ser>
          <c:idx val="0"/>
          <c:order val="0"/>
          <c:tx>
            <c:strRef>
              <c:f>Sheet1!$B$1</c:f>
              <c:strCache>
                <c:ptCount val="1"/>
                <c:pt idx="0">
                  <c:v>2025</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77.52</c:v>
                </c:pt>
                <c:pt idx="1">
                  <c:v>78.64</c:v>
                </c:pt>
                <c:pt idx="2">
                  <c:v>68.819999999999993</c:v>
                </c:pt>
                <c:pt idx="3">
                  <c:v>62.29</c:v>
                </c:pt>
                <c:pt idx="4">
                  <c:v>63.27</c:v>
                </c:pt>
                <c:pt idx="5">
                  <c:v>63.65</c:v>
                </c:pt>
              </c:numCache>
            </c:numRef>
          </c:val>
          <c:extLst>
            <c:ext xmlns:c16="http://schemas.microsoft.com/office/drawing/2014/chart" uri="{C3380CC4-5D6E-409C-BE32-E72D297353CC}">
              <c16:uniqueId val="{00000000-DFA5-4170-BABD-F3C4CFAC4D74}"/>
            </c:ext>
          </c:extLst>
        </c:ser>
        <c:ser>
          <c:idx val="1"/>
          <c:order val="1"/>
          <c:tx>
            <c:strRef>
              <c:f>Sheet1!$C$1</c:f>
              <c:strCache>
                <c:ptCount val="1"/>
                <c:pt idx="0">
                  <c:v>2026</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75.69</c:v>
                </c:pt>
                <c:pt idx="1">
                  <c:v>80.86</c:v>
                </c:pt>
                <c:pt idx="2">
                  <c:v>73.25</c:v>
                </c:pt>
                <c:pt idx="3">
                  <c:v>64.67</c:v>
                </c:pt>
                <c:pt idx="4">
                  <c:v>65.36</c:v>
                </c:pt>
                <c:pt idx="5">
                  <c:v>63.87</c:v>
                </c:pt>
              </c:numCache>
            </c:numRef>
          </c:val>
          <c:extLst>
            <c:ext xmlns:c16="http://schemas.microsoft.com/office/drawing/2014/chart" uri="{C3380CC4-5D6E-409C-BE32-E72D297353CC}">
              <c16:uniqueId val="{00000001-DFA5-4170-BABD-F3C4CFAC4D7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layout>
        <c:manualLayout>
          <c:xMode val="edge"/>
          <c:yMode val="edge"/>
          <c:x val="0.36808227294373014"/>
          <c:y val="0.90150918635170607"/>
          <c:w val="0.26383517724841354"/>
          <c:h val="9.8490813648293957E-2"/>
        </c:manualLayout>
      </c:layout>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ADR (THB)</a:t>
            </a:r>
          </a:p>
        </c:rich>
      </c:tx>
      <c:overlay val="0"/>
    </c:title>
    <c:autoTitleDeleted val="0"/>
    <c:plotArea>
      <c:layout/>
      <c:barChart>
        <c:barDir val="col"/>
        <c:grouping val="clustered"/>
        <c:varyColors val="0"/>
        <c:ser>
          <c:idx val="0"/>
          <c:order val="0"/>
          <c:tx>
            <c:strRef>
              <c:f>Sheet1!$B$1</c:f>
              <c:strCache>
                <c:ptCount val="1"/>
                <c:pt idx="0">
                  <c:v>2025</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4605.45</c:v>
                </c:pt>
                <c:pt idx="1">
                  <c:v>4286.41</c:v>
                </c:pt>
                <c:pt idx="2">
                  <c:v>3890.63</c:v>
                </c:pt>
                <c:pt idx="3">
                  <c:v>3869</c:v>
                </c:pt>
                <c:pt idx="4">
                  <c:v>3638.97</c:v>
                </c:pt>
                <c:pt idx="5">
                  <c:v>3572.01</c:v>
                </c:pt>
              </c:numCache>
            </c:numRef>
          </c:val>
          <c:extLst>
            <c:ext xmlns:c16="http://schemas.microsoft.com/office/drawing/2014/chart" uri="{C3380CC4-5D6E-409C-BE32-E72D297353CC}">
              <c16:uniqueId val="{00000000-39B7-4650-99F9-F81ABD5824E2}"/>
            </c:ext>
          </c:extLst>
        </c:ser>
        <c:ser>
          <c:idx val="1"/>
          <c:order val="1"/>
          <c:tx>
            <c:strRef>
              <c:f>Sheet1!$C$1</c:f>
              <c:strCache>
                <c:ptCount val="1"/>
                <c:pt idx="0">
                  <c:v>2026</c:v>
                </c:pt>
              </c:strCache>
            </c:strRef>
          </c:tx>
          <c:spPr>
            <a:solidFill>
              <a:srgbClr val="1E2761"/>
            </a:solidFill>
            <a:effectLst/>
          </c:spPr>
          <c:invertIfNegative val="0"/>
          <c:dLbls>
            <c:dLbl>
              <c:idx val="3"/>
              <c:layout>
                <c:manualLayout>
                  <c:x val="1.4064697609001406E-2"/>
                  <c:y val="-1.633986928104577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F484-4D39-8ECA-6620D640AD96}"/>
                </c:ext>
              </c:extLst>
            </c:dLbl>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4279.7</c:v>
                </c:pt>
                <c:pt idx="1">
                  <c:v>4348.93</c:v>
                </c:pt>
                <c:pt idx="2">
                  <c:v>3941.53</c:v>
                </c:pt>
                <c:pt idx="3">
                  <c:v>3841.97</c:v>
                </c:pt>
                <c:pt idx="4">
                  <c:v>3617.64</c:v>
                </c:pt>
                <c:pt idx="5">
                  <c:v>3561.51</c:v>
                </c:pt>
              </c:numCache>
            </c:numRef>
          </c:val>
          <c:extLst>
            <c:ext xmlns:c16="http://schemas.microsoft.com/office/drawing/2014/chart" uri="{C3380CC4-5D6E-409C-BE32-E72D297353CC}">
              <c16:uniqueId val="{00000001-39B7-4650-99F9-F81ABD5824E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layout>
        <c:manualLayout>
          <c:xMode val="edge"/>
          <c:yMode val="edge"/>
          <c:x val="0.36808227294373014"/>
          <c:y val="0.90150918635170607"/>
          <c:w val="0.26383517724841354"/>
          <c:h val="9.8490813648293957E-2"/>
        </c:manualLayout>
      </c:layout>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RevPAR (THB)</a:t>
            </a:r>
          </a:p>
        </c:rich>
      </c:tx>
      <c:overlay val="0"/>
    </c:title>
    <c:autoTitleDeleted val="0"/>
    <c:plotArea>
      <c:layout/>
      <c:barChart>
        <c:barDir val="col"/>
        <c:grouping val="clustered"/>
        <c:varyColors val="0"/>
        <c:ser>
          <c:idx val="0"/>
          <c:order val="0"/>
          <c:tx>
            <c:strRef>
              <c:f>Sheet1!$B$1</c:f>
              <c:strCache>
                <c:ptCount val="1"/>
                <c:pt idx="0">
                  <c:v>2025</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3569.98</c:v>
                </c:pt>
                <c:pt idx="1">
                  <c:v>3370.82</c:v>
                </c:pt>
                <c:pt idx="2">
                  <c:v>2677.46</c:v>
                </c:pt>
                <c:pt idx="3">
                  <c:v>2409.86</c:v>
                </c:pt>
                <c:pt idx="4">
                  <c:v>2302.2399999999998</c:v>
                </c:pt>
                <c:pt idx="5">
                  <c:v>2273.5700000000002</c:v>
                </c:pt>
              </c:numCache>
            </c:numRef>
          </c:val>
          <c:extLst>
            <c:ext xmlns:c16="http://schemas.microsoft.com/office/drawing/2014/chart" uri="{C3380CC4-5D6E-409C-BE32-E72D297353CC}">
              <c16:uniqueId val="{00000000-6804-4804-A496-A00E8A928746}"/>
            </c:ext>
          </c:extLst>
        </c:ser>
        <c:ser>
          <c:idx val="1"/>
          <c:order val="1"/>
          <c:tx>
            <c:strRef>
              <c:f>Sheet1!$C$1</c:f>
              <c:strCache>
                <c:ptCount val="1"/>
                <c:pt idx="0">
                  <c:v>2026</c:v>
                </c:pt>
              </c:strCache>
            </c:strRef>
          </c:tx>
          <c:spPr>
            <a:solidFill>
              <a:srgbClr val="1E2761"/>
            </a:solidFill>
            <a:effectLst/>
          </c:spPr>
          <c:invertIfNegative val="0"/>
          <c:dLbls>
            <c:dLbl>
              <c:idx val="2"/>
              <c:layout>
                <c:manualLayout>
                  <c:x val="-6.4462452698835405E-17"/>
                  <c:y val="-1.63398692810457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D49-452B-84B8-37BC5ED0BA6E}"/>
                </c:ext>
              </c:extLst>
            </c:dLbl>
            <c:dLbl>
              <c:idx val="3"/>
              <c:layout>
                <c:manualLayout>
                  <c:x val="0"/>
                  <c:y val="-3.267973856209150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D49-452B-84B8-37BC5ED0BA6E}"/>
                </c:ext>
              </c:extLst>
            </c:dLbl>
            <c:dLbl>
              <c:idx val="4"/>
              <c:layout>
                <c:manualLayout>
                  <c:x val="-1.2892490539767081E-16"/>
                  <c:y val="-1.633986928104580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D49-452B-84B8-37BC5ED0BA6E}"/>
                </c:ext>
              </c:extLst>
            </c:dLbl>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3239.27</c:v>
                </c:pt>
                <c:pt idx="1">
                  <c:v>3516.46</c:v>
                </c:pt>
                <c:pt idx="2">
                  <c:v>2887.33</c:v>
                </c:pt>
                <c:pt idx="3">
                  <c:v>2484.6</c:v>
                </c:pt>
                <c:pt idx="4">
                  <c:v>2364.44</c:v>
                </c:pt>
                <c:pt idx="5">
                  <c:v>2274.62</c:v>
                </c:pt>
              </c:numCache>
            </c:numRef>
          </c:val>
          <c:extLst>
            <c:ext xmlns:c16="http://schemas.microsoft.com/office/drawing/2014/chart" uri="{C3380CC4-5D6E-409C-BE32-E72D297353CC}">
              <c16:uniqueId val="{00000001-6804-4804-A496-A00E8A92874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layout>
        <c:manualLayout>
          <c:xMode val="edge"/>
          <c:yMode val="edge"/>
          <c:x val="0.36808227294373014"/>
          <c:y val="0.90150918635170607"/>
          <c:w val="0.26383517724841354"/>
          <c:h val="9.8490813648293957E-2"/>
        </c:manualLayout>
      </c:layout>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250" b="1">
                <a:solidFill>
                  <a:srgbClr val="1E2761"/>
                </a:solidFill>
                <a:latin typeface="Calibri"/>
              </a:rPr>
              <a:t>Tourist arrivals H1 (millions)</a:t>
            </a:r>
          </a:p>
        </c:rich>
      </c:tx>
      <c:overlay val="0"/>
    </c:title>
    <c:autoTitleDeleted val="0"/>
    <c:plotArea>
      <c:layout/>
      <c:barChart>
        <c:barDir val="col"/>
        <c:grouping val="clustered"/>
        <c:varyColors val="1"/>
        <c:ser>
          <c:idx val="0"/>
          <c:order val="0"/>
          <c:tx>
            <c:strRef>
              <c:f>Sheet1!$B$1</c:f>
              <c:strCache>
                <c:ptCount val="1"/>
                <c:pt idx="0">
                  <c:v>Domestic</c:v>
                </c:pt>
              </c:strCache>
            </c:strRef>
          </c:tx>
          <c:spPr>
            <a:solidFill>
              <a:srgbClr val="C9D6EE"/>
            </a:solidFill>
          </c:spPr>
          <c:invertIfNegative val="1"/>
          <c:cat>
            <c:strRef>
              <c:f>Sheet1!$A$2:$A$5</c:f>
              <c:strCache>
                <c:ptCount val="4"/>
                <c:pt idx="0">
                  <c:v>2023</c:v>
                </c:pt>
                <c:pt idx="1">
                  <c:v>2024</c:v>
                </c:pt>
                <c:pt idx="2">
                  <c:v>2025</c:v>
                </c:pt>
                <c:pt idx="3">
                  <c:v>2026</c:v>
                </c:pt>
              </c:strCache>
            </c:strRef>
          </c:cat>
          <c:val>
            <c:numRef>
              <c:f>Sheet1!$B$2:$B$5</c:f>
              <c:numCache>
                <c:formatCode>General</c:formatCode>
                <c:ptCount val="4"/>
                <c:pt idx="0">
                  <c:v>7.12</c:v>
                </c:pt>
                <c:pt idx="1">
                  <c:v>7.57</c:v>
                </c:pt>
                <c:pt idx="2">
                  <c:v>8.4499999999999993</c:v>
                </c:pt>
                <c:pt idx="3">
                  <c:v>8.3800000000000008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F1D-449F-835B-98E82FD5A416}"/>
            </c:ext>
          </c:extLst>
        </c:ser>
        <c:ser>
          <c:idx val="1"/>
          <c:order val="1"/>
          <c:tx>
            <c:strRef>
              <c:f>Sheet1!$C$1</c:f>
              <c:strCache>
                <c:ptCount val="1"/>
                <c:pt idx="0">
                  <c:v>International</c:v>
                </c:pt>
              </c:strCache>
            </c:strRef>
          </c:tx>
          <c:spPr>
            <a:solidFill>
              <a:srgbClr val="1E2761"/>
            </a:solidFill>
          </c:spPr>
          <c:invertIfNegative val="1"/>
          <c:cat>
            <c:strRef>
              <c:f>Sheet1!$A$2:$A$5</c:f>
              <c:strCache>
                <c:ptCount val="4"/>
                <c:pt idx="0">
                  <c:v>2023</c:v>
                </c:pt>
                <c:pt idx="1">
                  <c:v>2024</c:v>
                </c:pt>
                <c:pt idx="2">
                  <c:v>2025</c:v>
                </c:pt>
                <c:pt idx="3">
                  <c:v>2026</c:v>
                </c:pt>
              </c:strCache>
            </c:strRef>
          </c:cat>
          <c:val>
            <c:numRef>
              <c:f>Sheet1!$C$2:$C$5</c:f>
              <c:numCache>
                <c:formatCode>General</c:formatCode>
                <c:ptCount val="4"/>
                <c:pt idx="0">
                  <c:v>4.7</c:v>
                </c:pt>
                <c:pt idx="1">
                  <c:v>5.78</c:v>
                </c:pt>
                <c:pt idx="2">
                  <c:v>5.42</c:v>
                </c:pt>
                <c:pt idx="3">
                  <c:v>5.13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FF1D-449F-835B-98E82FD5A416}"/>
            </c:ext>
          </c:extLst>
        </c:ser>
        <c:ser>
          <c:idx val="2"/>
          <c:order val="2"/>
          <c:tx>
            <c:strRef>
              <c:f>Sheet1!$D$1</c:f>
              <c:strCache>
                <c:ptCount val="1"/>
                <c:pt idx="0">
                  <c:v>Total</c:v>
                </c:pt>
              </c:strCache>
            </c:strRef>
          </c:tx>
          <c:spPr>
            <a:solidFill>
              <a:srgbClr val="D9A441"/>
            </a:solidFill>
          </c:spPr>
          <c:invertIfNegative val="1"/>
          <c:cat>
            <c:strRef>
              <c:f>Sheet1!$A$2:$A$5</c:f>
              <c:strCache>
                <c:ptCount val="4"/>
                <c:pt idx="0">
                  <c:v>2023</c:v>
                </c:pt>
                <c:pt idx="1">
                  <c:v>2024</c:v>
                </c:pt>
                <c:pt idx="2">
                  <c:v>2025</c:v>
                </c:pt>
                <c:pt idx="3">
                  <c:v>2026</c:v>
                </c:pt>
              </c:strCache>
            </c:strRef>
          </c:cat>
          <c:val>
            <c:numRef>
              <c:f>Sheet1!$D$2:$D$5</c:f>
              <c:numCache>
                <c:formatCode>General</c:formatCode>
                <c:ptCount val="4"/>
                <c:pt idx="0">
                  <c:v>11.82</c:v>
                </c:pt>
                <c:pt idx="1">
                  <c:v>13.35</c:v>
                </c:pt>
                <c:pt idx="2">
                  <c:v>13.87</c:v>
                </c:pt>
                <c:pt idx="3">
                  <c:v>13.51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F1D-449F-835B-98E82FD5A416}"/>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crossAx val="-2068027336"/>
        <c:crosses val="autoZero"/>
        <c:crossBetween val="between"/>
      </c:valAx>
    </c:plotArea>
    <c:legend>
      <c:legendPos val="b"/>
      <c:overlay val="0"/>
    </c:legend>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Occupancy (%)</a:t>
            </a:r>
          </a:p>
        </c:rich>
      </c:tx>
      <c:overlay val="0"/>
    </c:title>
    <c:autoTitleDeleted val="0"/>
    <c:plotArea>
      <c:layout/>
      <c:barChart>
        <c:barDir val="col"/>
        <c:grouping val="clustered"/>
        <c:varyColors val="0"/>
        <c:ser>
          <c:idx val="0"/>
          <c:order val="0"/>
          <c:tx>
            <c:strRef>
              <c:f>Sheet1!$B$1</c:f>
              <c:strCache>
                <c:ptCount val="1"/>
                <c:pt idx="0">
                  <c:v>2025</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79.13</c:v>
                </c:pt>
                <c:pt idx="1">
                  <c:v>73.86</c:v>
                </c:pt>
                <c:pt idx="2">
                  <c:v>68.069999999999993</c:v>
                </c:pt>
                <c:pt idx="3">
                  <c:v>63.24</c:v>
                </c:pt>
                <c:pt idx="4">
                  <c:v>58.23</c:v>
                </c:pt>
                <c:pt idx="5">
                  <c:v>53.87</c:v>
                </c:pt>
              </c:numCache>
            </c:numRef>
          </c:val>
          <c:extLst>
            <c:ext xmlns:c16="http://schemas.microsoft.com/office/drawing/2014/chart" uri="{C3380CC4-5D6E-409C-BE32-E72D297353CC}">
              <c16:uniqueId val="{00000000-1303-418E-A737-F48065E28C6D}"/>
            </c:ext>
          </c:extLst>
        </c:ser>
        <c:ser>
          <c:idx val="1"/>
          <c:order val="1"/>
          <c:tx>
            <c:strRef>
              <c:f>Sheet1!$C$1</c:f>
              <c:strCache>
                <c:ptCount val="1"/>
                <c:pt idx="0">
                  <c:v>2026</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74.349999999999994</c:v>
                </c:pt>
                <c:pt idx="1">
                  <c:v>74.62</c:v>
                </c:pt>
                <c:pt idx="2">
                  <c:v>69.349999999999994</c:v>
                </c:pt>
                <c:pt idx="3">
                  <c:v>63.76</c:v>
                </c:pt>
                <c:pt idx="4">
                  <c:v>53.65</c:v>
                </c:pt>
                <c:pt idx="5">
                  <c:v>51.55</c:v>
                </c:pt>
              </c:numCache>
            </c:numRef>
          </c:val>
          <c:extLst>
            <c:ext xmlns:c16="http://schemas.microsoft.com/office/drawing/2014/chart" uri="{C3380CC4-5D6E-409C-BE32-E72D297353CC}">
              <c16:uniqueId val="{00000001-1303-418E-A737-F48065E28C6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ADR (THB)</a:t>
            </a:r>
          </a:p>
        </c:rich>
      </c:tx>
      <c:overlay val="0"/>
    </c:title>
    <c:autoTitleDeleted val="0"/>
    <c:plotArea>
      <c:layout/>
      <c:barChart>
        <c:barDir val="col"/>
        <c:grouping val="clustered"/>
        <c:varyColors val="0"/>
        <c:ser>
          <c:idx val="0"/>
          <c:order val="0"/>
          <c:tx>
            <c:strRef>
              <c:f>Sheet1!$B$1</c:f>
              <c:strCache>
                <c:ptCount val="1"/>
                <c:pt idx="0">
                  <c:v>2025</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3952.41</c:v>
                </c:pt>
                <c:pt idx="1">
                  <c:v>3536.96</c:v>
                </c:pt>
                <c:pt idx="2">
                  <c:v>3302.88</c:v>
                </c:pt>
                <c:pt idx="3">
                  <c:v>3505.45</c:v>
                </c:pt>
                <c:pt idx="4">
                  <c:v>3251.06</c:v>
                </c:pt>
                <c:pt idx="5">
                  <c:v>3010.59</c:v>
                </c:pt>
              </c:numCache>
            </c:numRef>
          </c:val>
          <c:extLst>
            <c:ext xmlns:c16="http://schemas.microsoft.com/office/drawing/2014/chart" uri="{C3380CC4-5D6E-409C-BE32-E72D297353CC}">
              <c16:uniqueId val="{00000000-CC41-430F-BD89-9F4BEDFC74DD}"/>
            </c:ext>
          </c:extLst>
        </c:ser>
        <c:ser>
          <c:idx val="1"/>
          <c:order val="1"/>
          <c:tx>
            <c:strRef>
              <c:f>Sheet1!$C$1</c:f>
              <c:strCache>
                <c:ptCount val="1"/>
                <c:pt idx="0">
                  <c:v>2026</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3734.91</c:v>
                </c:pt>
                <c:pt idx="1">
                  <c:v>3933.56</c:v>
                </c:pt>
                <c:pt idx="2">
                  <c:v>3342.78</c:v>
                </c:pt>
                <c:pt idx="3">
                  <c:v>3511.78</c:v>
                </c:pt>
                <c:pt idx="4">
                  <c:v>3116.64</c:v>
                </c:pt>
                <c:pt idx="5">
                  <c:v>2908.52</c:v>
                </c:pt>
              </c:numCache>
            </c:numRef>
          </c:val>
          <c:extLst>
            <c:ext xmlns:c16="http://schemas.microsoft.com/office/drawing/2014/chart" uri="{C3380CC4-5D6E-409C-BE32-E72D297353CC}">
              <c16:uniqueId val="{00000001-CC41-430F-BD89-9F4BEDFC74D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RevPAR (THB)</a:t>
            </a:r>
          </a:p>
        </c:rich>
      </c:tx>
      <c:overlay val="0"/>
    </c:title>
    <c:autoTitleDeleted val="0"/>
    <c:plotArea>
      <c:layout/>
      <c:barChart>
        <c:barDir val="col"/>
        <c:grouping val="clustered"/>
        <c:varyColors val="0"/>
        <c:ser>
          <c:idx val="0"/>
          <c:order val="0"/>
          <c:tx>
            <c:strRef>
              <c:f>Sheet1!$B$1</c:f>
              <c:strCache>
                <c:ptCount val="1"/>
                <c:pt idx="0">
                  <c:v>2025</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3127.51</c:v>
                </c:pt>
                <c:pt idx="1">
                  <c:v>2612.2600000000002</c:v>
                </c:pt>
                <c:pt idx="2">
                  <c:v>2248.3200000000002</c:v>
                </c:pt>
                <c:pt idx="3">
                  <c:v>2217</c:v>
                </c:pt>
                <c:pt idx="4">
                  <c:v>1893.05</c:v>
                </c:pt>
                <c:pt idx="5">
                  <c:v>1621.68</c:v>
                </c:pt>
              </c:numCache>
            </c:numRef>
          </c:val>
          <c:extLst>
            <c:ext xmlns:c16="http://schemas.microsoft.com/office/drawing/2014/chart" uri="{C3380CC4-5D6E-409C-BE32-E72D297353CC}">
              <c16:uniqueId val="{00000000-3539-41ED-BD4C-46D14D4EF95D}"/>
            </c:ext>
          </c:extLst>
        </c:ser>
        <c:ser>
          <c:idx val="1"/>
          <c:order val="1"/>
          <c:tx>
            <c:strRef>
              <c:f>Sheet1!$C$1</c:f>
              <c:strCache>
                <c:ptCount val="1"/>
                <c:pt idx="0">
                  <c:v>2026</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2776.79</c:v>
                </c:pt>
                <c:pt idx="1">
                  <c:v>2935.37</c:v>
                </c:pt>
                <c:pt idx="2">
                  <c:v>2318.34</c:v>
                </c:pt>
                <c:pt idx="3">
                  <c:v>2239.14</c:v>
                </c:pt>
                <c:pt idx="4">
                  <c:v>1671.95</c:v>
                </c:pt>
                <c:pt idx="5">
                  <c:v>1499.42</c:v>
                </c:pt>
              </c:numCache>
            </c:numRef>
          </c:val>
          <c:extLst>
            <c:ext xmlns:c16="http://schemas.microsoft.com/office/drawing/2014/chart" uri="{C3380CC4-5D6E-409C-BE32-E72D297353CC}">
              <c16:uniqueId val="{00000001-3539-41ED-BD4C-46D14D4EF95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761"/>
                </a:solidFill>
                <a:latin typeface="Calibri"/>
              </a:defRPr>
            </a:pPr>
            <a:r>
              <a:rPr lang="en-US" sz="1200" b="0" i="0" u="none" strike="noStrike">
                <a:solidFill>
                  <a:srgbClr val="1E2761"/>
                </a:solidFill>
                <a:latin typeface="Calibri"/>
              </a:rPr>
              <a:t>Monthly RevPAR (THB) — actual vs budget vs 2025 vs 2024</a:t>
            </a:r>
          </a:p>
        </c:rich>
      </c:tx>
      <c:overlay val="0"/>
    </c:title>
    <c:autoTitleDeleted val="0"/>
    <c:plotArea>
      <c:layout/>
      <c:barChart>
        <c:barDir val="col"/>
        <c:grouping val="clustered"/>
        <c:varyColors val="0"/>
        <c:ser>
          <c:idx val="0"/>
          <c:order val="0"/>
          <c:tx>
            <c:strRef>
              <c:f>Sheet1!$B$1</c:f>
              <c:strCache>
                <c:ptCount val="1"/>
                <c:pt idx="0">
                  <c:v>RevPAR 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2730.61</c:v>
                </c:pt>
                <c:pt idx="1">
                  <c:v>2981.88</c:v>
                </c:pt>
                <c:pt idx="2">
                  <c:v>2265.4699999999998</c:v>
                </c:pt>
                <c:pt idx="3">
                  <c:v>2090.5500000000002</c:v>
                </c:pt>
                <c:pt idx="4">
                  <c:v>1841.55</c:v>
                </c:pt>
                <c:pt idx="5">
                  <c:v>1856.88</c:v>
                </c:pt>
              </c:numCache>
            </c:numRef>
          </c:val>
          <c:extLst>
            <c:ext xmlns:c16="http://schemas.microsoft.com/office/drawing/2014/chart" uri="{C3380CC4-5D6E-409C-BE32-E72D297353CC}">
              <c16:uniqueId val="{00000000-A938-4BD0-9BC4-1779E1420A41}"/>
            </c:ext>
          </c:extLst>
        </c:ser>
        <c:dLbls>
          <c:showLegendKey val="0"/>
          <c:showVal val="0"/>
          <c:showCatName val="0"/>
          <c:showSerName val="0"/>
          <c:showPercent val="0"/>
          <c:showBubbleSize val="0"/>
        </c:dLbls>
        <c:gapWidth val="80"/>
        <c:axId val="2094734554"/>
        <c:axId val="2094734552"/>
      </c:barChart>
      <c:lineChart>
        <c:grouping val="standard"/>
        <c:varyColors val="0"/>
        <c:ser>
          <c:idx val="1"/>
          <c:order val="1"/>
          <c:tx>
            <c:strRef>
              <c:f>Sheet1!$C$1</c:f>
              <c:strCache>
                <c:ptCount val="1"/>
                <c:pt idx="0">
                  <c:v>Budget</c:v>
                </c:pt>
              </c:strCache>
            </c:strRef>
          </c:tx>
          <c:spPr>
            <a:ln w="31750" cap="flat">
              <a:solidFill>
                <a:srgbClr val="D9A441"/>
              </a:solidFill>
              <a:prstDash val="solid"/>
              <a:round/>
            </a:ln>
            <a:effectLst/>
          </c:spPr>
          <c:marker>
            <c:symbol val="circle"/>
            <c:size val="5"/>
            <c:spPr>
              <a:solidFill>
                <a:srgbClr val="AEB6C2"/>
              </a:solidFill>
              <a:ln w="9525" cap="flat">
                <a:solidFill>
                  <a:srgbClr val="D9A441"/>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2832.89</c:v>
                </c:pt>
                <c:pt idx="1">
                  <c:v>2930.13</c:v>
                </c:pt>
                <c:pt idx="2">
                  <c:v>2196.21</c:v>
                </c:pt>
                <c:pt idx="3">
                  <c:v>2340.37</c:v>
                </c:pt>
                <c:pt idx="4">
                  <c:v>2058</c:v>
                </c:pt>
                <c:pt idx="5">
                  <c:v>2015.7</c:v>
                </c:pt>
              </c:numCache>
            </c:numRef>
          </c:val>
          <c:smooth val="0"/>
          <c:extLst>
            <c:ext xmlns:c16="http://schemas.microsoft.com/office/drawing/2014/chart" uri="{C3380CC4-5D6E-409C-BE32-E72D297353CC}">
              <c16:uniqueId val="{00000001-A938-4BD0-9BC4-1779E1420A41}"/>
            </c:ext>
          </c:extLst>
        </c:ser>
        <c:ser>
          <c:idx val="2"/>
          <c:order val="2"/>
          <c:tx>
            <c:strRef>
              <c:f>Sheet1!$D$1</c:f>
              <c:strCache>
                <c:ptCount val="1"/>
                <c:pt idx="0">
                  <c:v>2025</c:v>
                </c:pt>
              </c:strCache>
            </c:strRef>
          </c:tx>
          <c:spPr>
            <a:ln w="31750" cap="flat">
              <a:solidFill>
                <a:srgbClr val="AEB6C2"/>
              </a:solidFill>
              <a:prstDash val="solid"/>
              <a:round/>
            </a:ln>
            <a:effectLst/>
          </c:spPr>
          <c:marker>
            <c:symbol val="circle"/>
            <c:size val="5"/>
            <c:spPr>
              <a:solidFill>
                <a:srgbClr val="C9D6EE"/>
              </a:solidFill>
              <a:ln w="9525" cap="flat">
                <a:solidFill>
                  <a:srgbClr val="AEB6C2"/>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3058.29</c:v>
                </c:pt>
                <c:pt idx="1">
                  <c:v>2793.16</c:v>
                </c:pt>
                <c:pt idx="2">
                  <c:v>2045.25</c:v>
                </c:pt>
                <c:pt idx="3">
                  <c:v>2130.85</c:v>
                </c:pt>
                <c:pt idx="4">
                  <c:v>1956.25</c:v>
                </c:pt>
                <c:pt idx="5">
                  <c:v>1852.03</c:v>
                </c:pt>
              </c:numCache>
            </c:numRef>
          </c:val>
          <c:smooth val="0"/>
          <c:extLst>
            <c:ext xmlns:c16="http://schemas.microsoft.com/office/drawing/2014/chart" uri="{C3380CC4-5D6E-409C-BE32-E72D297353CC}">
              <c16:uniqueId val="{00000002-A938-4BD0-9BC4-1779E1420A41}"/>
            </c:ext>
          </c:extLst>
        </c:ser>
        <c:ser>
          <c:idx val="3"/>
          <c:order val="3"/>
          <c:tx>
            <c:strRef>
              <c:f>Sheet1!$E$1</c:f>
              <c:strCache>
                <c:ptCount val="1"/>
                <c:pt idx="0">
                  <c:v>2024</c:v>
                </c:pt>
              </c:strCache>
            </c:strRef>
          </c:tx>
          <c:spPr>
            <a:ln w="31750" cap="flat">
              <a:solidFill>
                <a:srgbClr val="C9D6EE"/>
              </a:solidFill>
              <a:prstDash val="solid"/>
              <a:round/>
            </a:ln>
            <a:effectLst/>
          </c:spPr>
          <c:marker>
            <c:symbol val="circle"/>
            <c:size val="5"/>
            <c:spPr>
              <a:solidFill>
                <a:srgbClr val="AEB6C2"/>
              </a:solidFill>
              <a:ln w="9525" cap="flat">
                <a:solidFill>
                  <a:srgbClr val="C9D6EE"/>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2549.8200000000002</c:v>
                </c:pt>
                <c:pt idx="1">
                  <c:v>3094.06</c:v>
                </c:pt>
                <c:pt idx="2">
                  <c:v>2490.73</c:v>
                </c:pt>
                <c:pt idx="3">
                  <c:v>2681.05</c:v>
                </c:pt>
                <c:pt idx="4">
                  <c:v>2184.6999999999998</c:v>
                </c:pt>
                <c:pt idx="5">
                  <c:v>2497.0700000000002</c:v>
                </c:pt>
              </c:numCache>
            </c:numRef>
          </c:val>
          <c:smooth val="0"/>
          <c:extLst>
            <c:ext xmlns:c16="http://schemas.microsoft.com/office/drawing/2014/chart" uri="{C3380CC4-5D6E-409C-BE32-E72D297353CC}">
              <c16:uniqueId val="{00000003-A938-4BD0-9BC4-1779E1420A4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E2761"/>
                </a:solidFill>
                <a:latin typeface="Calibri"/>
              </a:defRPr>
            </a:pPr>
            <a:r>
              <a:rPr lang="en-US" sz="1250" b="0" i="0" u="none" strike="noStrike">
                <a:solidFill>
                  <a:srgbClr val="1E2761"/>
                </a:solidFill>
                <a:latin typeface="Calibri"/>
              </a:rPr>
              <a:t>Monthly revenue (฿M)</a:t>
            </a:r>
          </a:p>
        </c:rich>
      </c:tx>
      <c:overlay val="0"/>
    </c:title>
    <c:autoTitleDeleted val="0"/>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111475897.26000001</c:v>
                </c:pt>
                <c:pt idx="1">
                  <c:v>126112350.23999999</c:v>
                </c:pt>
                <c:pt idx="2">
                  <c:v>109777270.98000002</c:v>
                </c:pt>
                <c:pt idx="3">
                  <c:v>113258166.72999999</c:v>
                </c:pt>
                <c:pt idx="4">
                  <c:v>96284030.989999995</c:v>
                </c:pt>
                <c:pt idx="5">
                  <c:v>106385076.2</c:v>
                </c:pt>
              </c:numCache>
            </c:numRef>
          </c:val>
          <c:extLst>
            <c:ext xmlns:c16="http://schemas.microsoft.com/office/drawing/2014/chart" uri="{C3380CC4-5D6E-409C-BE32-E72D297353CC}">
              <c16:uniqueId val="{00000000-B736-4905-8B7A-7A386F3F9120}"/>
            </c:ext>
          </c:extLst>
        </c:ser>
        <c:ser>
          <c:idx val="1"/>
          <c:order val="1"/>
          <c:tx>
            <c:strRef>
              <c:f>Sheet1!$C$1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133807592.83000001</c:v>
                </c:pt>
                <c:pt idx="1">
                  <c:v>110119287.81999999</c:v>
                </c:pt>
                <c:pt idx="2">
                  <c:v>89952687.949999988</c:v>
                </c:pt>
                <c:pt idx="3">
                  <c:v>91434840.560000002</c:v>
                </c:pt>
                <c:pt idx="4">
                  <c:v>85699029.230000004</c:v>
                </c:pt>
                <c:pt idx="5">
                  <c:v>79340898.109999999</c:v>
                </c:pt>
              </c:numCache>
            </c:numRef>
          </c:val>
          <c:extLst>
            <c:ext xmlns:c16="http://schemas.microsoft.com/office/drawing/2014/chart" uri="{C3380CC4-5D6E-409C-BE32-E72D297353CC}">
              <c16:uniqueId val="{00000001-B736-4905-8B7A-7A386F3F9120}"/>
            </c:ext>
          </c:extLst>
        </c:ser>
        <c:ser>
          <c:idx val="2"/>
          <c:order val="2"/>
          <c:tx>
            <c:strRef>
              <c:f>Sheet1!$D$1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118442088.12</c:v>
                </c:pt>
                <c:pt idx="1">
                  <c:v>116700026.86</c:v>
                </c:pt>
                <c:pt idx="2">
                  <c:v>99275487.290000007</c:v>
                </c:pt>
                <c:pt idx="3">
                  <c:v>88366637.049999997</c:v>
                </c:pt>
                <c:pt idx="4">
                  <c:v>80532064.560000002</c:v>
                </c:pt>
                <c:pt idx="5">
                  <c:v>78588276.849999994</c:v>
                </c:pt>
              </c:numCache>
            </c:numRef>
          </c:val>
          <c:extLst>
            <c:ext xmlns:c16="http://schemas.microsoft.com/office/drawing/2014/chart" uri="{C3380CC4-5D6E-409C-BE32-E72D297353CC}">
              <c16:uniqueId val="{00000002-B736-4905-8B7A-7A386F3F912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761"/>
                </a:solidFill>
                <a:latin typeface="Calibri"/>
              </a:defRPr>
            </a:pPr>
            <a:r>
              <a:rPr lang="en-US" sz="1200" b="0" i="0" u="none" strike="noStrike">
                <a:solidFill>
                  <a:srgbClr val="1E2761"/>
                </a:solidFill>
                <a:latin typeface="Calibri"/>
              </a:rPr>
              <a:t>Monthly RevPAR (THB) — actual vs budget vs 2025 vs 2024</a:t>
            </a:r>
          </a:p>
        </c:rich>
      </c:tx>
      <c:overlay val="0"/>
    </c:title>
    <c:autoTitleDeleted val="0"/>
    <c:plotArea>
      <c:layout/>
      <c:barChart>
        <c:barDir val="col"/>
        <c:grouping val="clustered"/>
        <c:varyColors val="0"/>
        <c:ser>
          <c:idx val="0"/>
          <c:order val="0"/>
          <c:tx>
            <c:strRef>
              <c:f>Sheet1!$B$1</c:f>
              <c:strCache>
                <c:ptCount val="1"/>
                <c:pt idx="0">
                  <c:v>RevPAR 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2584.46</c:v>
                </c:pt>
                <c:pt idx="1">
                  <c:v>2840.81</c:v>
                </c:pt>
                <c:pt idx="2">
                  <c:v>2283.83</c:v>
                </c:pt>
                <c:pt idx="3">
                  <c:v>2267.7399999999998</c:v>
                </c:pt>
                <c:pt idx="4">
                  <c:v>2029.21</c:v>
                </c:pt>
                <c:pt idx="5">
                  <c:v>2045.21</c:v>
                </c:pt>
              </c:numCache>
            </c:numRef>
          </c:val>
          <c:extLst>
            <c:ext xmlns:c16="http://schemas.microsoft.com/office/drawing/2014/chart" uri="{C3380CC4-5D6E-409C-BE32-E72D297353CC}">
              <c16:uniqueId val="{00000000-4863-4432-BC37-0F1FC7451516}"/>
            </c:ext>
          </c:extLst>
        </c:ser>
        <c:dLbls>
          <c:showLegendKey val="0"/>
          <c:showVal val="0"/>
          <c:showCatName val="0"/>
          <c:showSerName val="0"/>
          <c:showPercent val="0"/>
          <c:showBubbleSize val="0"/>
        </c:dLbls>
        <c:gapWidth val="80"/>
        <c:axId val="2094734554"/>
        <c:axId val="2094734552"/>
      </c:barChart>
      <c:lineChart>
        <c:grouping val="standard"/>
        <c:varyColors val="0"/>
        <c:ser>
          <c:idx val="1"/>
          <c:order val="1"/>
          <c:tx>
            <c:strRef>
              <c:f>Sheet1!$C$1</c:f>
              <c:strCache>
                <c:ptCount val="1"/>
                <c:pt idx="0">
                  <c:v>Budget</c:v>
                </c:pt>
              </c:strCache>
            </c:strRef>
          </c:tx>
          <c:spPr>
            <a:ln w="31750" cap="flat">
              <a:solidFill>
                <a:srgbClr val="D9A441"/>
              </a:solidFill>
              <a:prstDash val="solid"/>
              <a:round/>
            </a:ln>
            <a:effectLst/>
          </c:spPr>
          <c:marker>
            <c:symbol val="circle"/>
            <c:size val="5"/>
            <c:spPr>
              <a:solidFill>
                <a:srgbClr val="AEB6C2"/>
              </a:solidFill>
              <a:ln w="9525" cap="flat">
                <a:solidFill>
                  <a:srgbClr val="D9A441"/>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2875.9054000000001</c:v>
                </c:pt>
                <c:pt idx="1">
                  <c:v>2698.8366000000001</c:v>
                </c:pt>
                <c:pt idx="2">
                  <c:v>2275.9744999999998</c:v>
                </c:pt>
                <c:pt idx="3">
                  <c:v>2218.3143</c:v>
                </c:pt>
                <c:pt idx="4">
                  <c:v>2087.6923000000002</c:v>
                </c:pt>
                <c:pt idx="5">
                  <c:v>2076.6554000000001</c:v>
                </c:pt>
              </c:numCache>
            </c:numRef>
          </c:val>
          <c:smooth val="0"/>
          <c:extLst>
            <c:ext xmlns:c16="http://schemas.microsoft.com/office/drawing/2014/chart" uri="{C3380CC4-5D6E-409C-BE32-E72D297353CC}">
              <c16:uniqueId val="{00000001-4863-4432-BC37-0F1FC7451516}"/>
            </c:ext>
          </c:extLst>
        </c:ser>
        <c:ser>
          <c:idx val="2"/>
          <c:order val="2"/>
          <c:tx>
            <c:strRef>
              <c:f>Sheet1!$D$1</c:f>
              <c:strCache>
                <c:ptCount val="1"/>
                <c:pt idx="0">
                  <c:v>2025</c:v>
                </c:pt>
              </c:strCache>
            </c:strRef>
          </c:tx>
          <c:spPr>
            <a:ln w="31750" cap="flat">
              <a:solidFill>
                <a:srgbClr val="AEB6C2"/>
              </a:solidFill>
              <a:prstDash val="solid"/>
              <a:round/>
            </a:ln>
            <a:effectLst/>
          </c:spPr>
          <c:marker>
            <c:symbol val="circle"/>
            <c:size val="5"/>
            <c:spPr>
              <a:solidFill>
                <a:srgbClr val="C9D6EE"/>
              </a:solidFill>
              <a:ln w="9525" cap="flat">
                <a:solidFill>
                  <a:srgbClr val="AEB6C2"/>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2830.4776999999999</c:v>
                </c:pt>
                <c:pt idx="1">
                  <c:v>2684.1437999999998</c:v>
                </c:pt>
                <c:pt idx="2">
                  <c:v>2204.3263000000002</c:v>
                </c:pt>
                <c:pt idx="3">
                  <c:v>2015.123</c:v>
                </c:pt>
                <c:pt idx="4">
                  <c:v>2070.1639</c:v>
                </c:pt>
                <c:pt idx="5">
                  <c:v>2045.5304000000001</c:v>
                </c:pt>
              </c:numCache>
            </c:numRef>
          </c:val>
          <c:smooth val="0"/>
          <c:extLst>
            <c:ext xmlns:c16="http://schemas.microsoft.com/office/drawing/2014/chart" uri="{C3380CC4-5D6E-409C-BE32-E72D297353CC}">
              <c16:uniqueId val="{00000002-4863-4432-BC37-0F1FC7451516}"/>
            </c:ext>
          </c:extLst>
        </c:ser>
        <c:ser>
          <c:idx val="3"/>
          <c:order val="3"/>
          <c:tx>
            <c:strRef>
              <c:f>Sheet1!$E$1</c:f>
              <c:strCache>
                <c:ptCount val="1"/>
                <c:pt idx="0">
                  <c:v>2024</c:v>
                </c:pt>
              </c:strCache>
            </c:strRef>
          </c:tx>
          <c:spPr>
            <a:ln w="31750" cap="flat">
              <a:solidFill>
                <a:srgbClr val="C9D6EE"/>
              </a:solidFill>
              <a:prstDash val="solid"/>
              <a:round/>
            </a:ln>
            <a:effectLst/>
          </c:spPr>
          <c:marker>
            <c:symbol val="circle"/>
            <c:size val="5"/>
            <c:spPr>
              <a:solidFill>
                <a:srgbClr val="D9A441"/>
              </a:solidFill>
              <a:ln w="9525" cap="flat">
                <a:solidFill>
                  <a:srgbClr val="C9D6EE"/>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2531.6268</c:v>
                </c:pt>
                <c:pt idx="1">
                  <c:v>3072.0153</c:v>
                </c:pt>
                <c:pt idx="2">
                  <c:v>2585.7296000000001</c:v>
                </c:pt>
                <c:pt idx="3">
                  <c:v>2663.5610000000001</c:v>
                </c:pt>
                <c:pt idx="4">
                  <c:v>2544.7352999999998</c:v>
                </c:pt>
                <c:pt idx="5">
                  <c:v>2399.04</c:v>
                </c:pt>
              </c:numCache>
            </c:numRef>
          </c:val>
          <c:smooth val="0"/>
          <c:extLst>
            <c:ext xmlns:c16="http://schemas.microsoft.com/office/drawing/2014/chart" uri="{C3380CC4-5D6E-409C-BE32-E72D297353CC}">
              <c16:uniqueId val="{00000003-4863-4432-BC37-0F1FC7451516}"/>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H1 (Jan–Jun)</a:t>
            </a:r>
          </a:p>
        </c:rich>
      </c:tx>
      <c:overlay val="0"/>
    </c:title>
    <c:autoTitleDeleted val="0"/>
    <c:plotArea>
      <c:layout/>
      <c:barChart>
        <c:barDir val="bar"/>
        <c:grouping val="clustered"/>
        <c:varyColors val="0"/>
        <c:ser>
          <c:idx val="0"/>
          <c:order val="0"/>
          <c:tx>
            <c:strRef>
              <c:f>Sheet1!$B$1</c:f>
              <c:strCache>
                <c:ptCount val="1"/>
                <c:pt idx="0">
                  <c:v>2025 H1</c:v>
                </c:pt>
              </c:strCache>
            </c:strRef>
          </c:tx>
          <c:spPr>
            <a:solidFill>
              <a:srgbClr val="7FA4DC"/>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Taiwan</c:v>
                </c:pt>
                <c:pt idx="2">
                  <c:v>Thailand</c:v>
                </c:pt>
                <c:pt idx="3">
                  <c:v>India</c:v>
                </c:pt>
                <c:pt idx="4">
                  <c:v>Japan</c:v>
                </c:pt>
                <c:pt idx="5">
                  <c:v>Malaysia</c:v>
                </c:pt>
                <c:pt idx="6">
                  <c:v>Singapore</c:v>
                </c:pt>
                <c:pt idx="7">
                  <c:v>Korea</c:v>
                </c:pt>
                <c:pt idx="8">
                  <c:v>Indonesia</c:v>
                </c:pt>
                <c:pt idx="9">
                  <c:v>USA</c:v>
                </c:pt>
              </c:strCache>
            </c:strRef>
          </c:cat>
          <c:val>
            <c:numRef>
              <c:f>Sheet1!$B$2:$B$11</c:f>
              <c:numCache>
                <c:formatCode>General</c:formatCode>
                <c:ptCount val="10"/>
                <c:pt idx="0">
                  <c:v>30611</c:v>
                </c:pt>
                <c:pt idx="1">
                  <c:v>6536</c:v>
                </c:pt>
                <c:pt idx="2">
                  <c:v>3044</c:v>
                </c:pt>
                <c:pt idx="3">
                  <c:v>1455</c:v>
                </c:pt>
                <c:pt idx="4">
                  <c:v>2679</c:v>
                </c:pt>
                <c:pt idx="5">
                  <c:v>2486</c:v>
                </c:pt>
                <c:pt idx="6">
                  <c:v>2017</c:v>
                </c:pt>
                <c:pt idx="7">
                  <c:v>2863</c:v>
                </c:pt>
                <c:pt idx="8">
                  <c:v>1120</c:v>
                </c:pt>
                <c:pt idx="9">
                  <c:v>1034</c:v>
                </c:pt>
              </c:numCache>
            </c:numRef>
          </c:val>
          <c:extLst>
            <c:ext xmlns:c16="http://schemas.microsoft.com/office/drawing/2014/chart" uri="{C3380CC4-5D6E-409C-BE32-E72D297353CC}">
              <c16:uniqueId val="{00000000-149D-44A8-8B79-278AE8A3A4DA}"/>
            </c:ext>
          </c:extLst>
        </c:ser>
        <c:ser>
          <c:idx val="1"/>
          <c:order val="1"/>
          <c:tx>
            <c:strRef>
              <c:f>Sheet1!$C$1</c:f>
              <c:strCache>
                <c:ptCount val="1"/>
                <c:pt idx="0">
                  <c:v>2026 H1</c:v>
                </c:pt>
              </c:strCache>
            </c:strRef>
          </c:tx>
          <c:spPr>
            <a:solidFill>
              <a:srgbClr val="1E2761"/>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Taiwan</c:v>
                </c:pt>
                <c:pt idx="2">
                  <c:v>Thailand</c:v>
                </c:pt>
                <c:pt idx="3">
                  <c:v>India</c:v>
                </c:pt>
                <c:pt idx="4">
                  <c:v>Japan</c:v>
                </c:pt>
                <c:pt idx="5">
                  <c:v>Malaysia</c:v>
                </c:pt>
                <c:pt idx="6">
                  <c:v>Singapore</c:v>
                </c:pt>
                <c:pt idx="7">
                  <c:v>Korea</c:v>
                </c:pt>
                <c:pt idx="8">
                  <c:v>Indonesia</c:v>
                </c:pt>
                <c:pt idx="9">
                  <c:v>USA</c:v>
                </c:pt>
              </c:strCache>
            </c:strRef>
          </c:cat>
          <c:val>
            <c:numRef>
              <c:f>Sheet1!$C$2:$C$11</c:f>
              <c:numCache>
                <c:formatCode>General</c:formatCode>
                <c:ptCount val="10"/>
                <c:pt idx="0">
                  <c:v>32403</c:v>
                </c:pt>
                <c:pt idx="1">
                  <c:v>5882</c:v>
                </c:pt>
                <c:pt idx="2">
                  <c:v>3806</c:v>
                </c:pt>
                <c:pt idx="3">
                  <c:v>2674</c:v>
                </c:pt>
                <c:pt idx="4">
                  <c:v>2635</c:v>
                </c:pt>
                <c:pt idx="5">
                  <c:v>2247</c:v>
                </c:pt>
                <c:pt idx="6">
                  <c:v>2169</c:v>
                </c:pt>
                <c:pt idx="7">
                  <c:v>2106</c:v>
                </c:pt>
                <c:pt idx="8">
                  <c:v>1273</c:v>
                </c:pt>
                <c:pt idx="9">
                  <c:v>1032</c:v>
                </c:pt>
              </c:numCache>
            </c:numRef>
          </c:val>
          <c:extLst>
            <c:ext xmlns:c16="http://schemas.microsoft.com/office/drawing/2014/chart" uri="{C3380CC4-5D6E-409C-BE32-E72D297353CC}">
              <c16:uniqueId val="{00000001-149D-44A8-8B79-278AE8A3A4D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5E8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per month (stacked)</a:t>
            </a:r>
          </a:p>
        </c:rich>
      </c:tx>
      <c:overlay val="0"/>
    </c:title>
    <c:autoTitleDeleted val="0"/>
    <c:plotArea>
      <c:layout/>
      <c:barChart>
        <c:barDir val="col"/>
        <c:grouping val="stacked"/>
        <c:varyColors val="0"/>
        <c:ser>
          <c:idx val="0"/>
          <c:order val="0"/>
          <c:tx>
            <c:strRef>
              <c:f>Sheet1!$B$1</c:f>
              <c:strCache>
                <c:ptCount val="1"/>
                <c:pt idx="0">
                  <c:v>Corporate SS</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1270</c:v>
                </c:pt>
                <c:pt idx="1">
                  <c:v>1549</c:v>
                </c:pt>
                <c:pt idx="2">
                  <c:v>1849</c:v>
                </c:pt>
                <c:pt idx="3">
                  <c:v>1541</c:v>
                </c:pt>
                <c:pt idx="4">
                  <c:v>1597</c:v>
                </c:pt>
                <c:pt idx="5">
                  <c:v>1484</c:v>
                </c:pt>
              </c:numCache>
            </c:numRef>
          </c:val>
          <c:extLst>
            <c:ext xmlns:c16="http://schemas.microsoft.com/office/drawing/2014/chart" uri="{C3380CC4-5D6E-409C-BE32-E72D297353CC}">
              <c16:uniqueId val="{00000000-C541-448A-AF96-C51AE27DD689}"/>
            </c:ext>
          </c:extLst>
        </c:ser>
        <c:ser>
          <c:idx val="1"/>
          <c:order val="1"/>
          <c:tx>
            <c:strRef>
              <c:f>Sheet1!$C$1</c:f>
              <c:strCache>
                <c:ptCount val="1"/>
                <c:pt idx="0">
                  <c:v>Corporate LS</c:v>
                </c:pt>
              </c:strCache>
            </c:strRef>
          </c:tx>
          <c:spPr>
            <a:solidFill>
              <a:srgbClr val="4A6FC4"/>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1416</c:v>
                </c:pt>
                <c:pt idx="1">
                  <c:v>1303</c:v>
                </c:pt>
                <c:pt idx="2">
                  <c:v>1323</c:v>
                </c:pt>
                <c:pt idx="3">
                  <c:v>1437</c:v>
                </c:pt>
                <c:pt idx="4">
                  <c:v>1936</c:v>
                </c:pt>
                <c:pt idx="5">
                  <c:v>2208</c:v>
                </c:pt>
              </c:numCache>
            </c:numRef>
          </c:val>
          <c:extLst>
            <c:ext xmlns:c16="http://schemas.microsoft.com/office/drawing/2014/chart" uri="{C3380CC4-5D6E-409C-BE32-E72D297353CC}">
              <c16:uniqueId val="{00000001-C541-448A-AF96-C51AE27DD689}"/>
            </c:ext>
          </c:extLst>
        </c:ser>
        <c:ser>
          <c:idx val="2"/>
          <c:order val="2"/>
          <c:tx>
            <c:strRef>
              <c:f>Sheet1!$D$1</c:f>
              <c:strCache>
                <c:ptCount val="1"/>
                <c:pt idx="0">
                  <c:v>Online</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5457</c:v>
                </c:pt>
                <c:pt idx="1">
                  <c:v>4414</c:v>
                </c:pt>
                <c:pt idx="2">
                  <c:v>4854</c:v>
                </c:pt>
                <c:pt idx="3">
                  <c:v>4174</c:v>
                </c:pt>
                <c:pt idx="4">
                  <c:v>4085</c:v>
                </c:pt>
                <c:pt idx="5">
                  <c:v>4517</c:v>
                </c:pt>
              </c:numCache>
            </c:numRef>
          </c:val>
          <c:extLst>
            <c:ext xmlns:c16="http://schemas.microsoft.com/office/drawing/2014/chart" uri="{C3380CC4-5D6E-409C-BE32-E72D297353CC}">
              <c16:uniqueId val="{00000002-C541-448A-AF96-C51AE27DD689}"/>
            </c:ext>
          </c:extLst>
        </c:ser>
        <c:ser>
          <c:idx val="3"/>
          <c:order val="3"/>
          <c:tx>
            <c:strRef>
              <c:f>Sheet1!$E$1</c:f>
              <c:strCache>
                <c:ptCount val="1"/>
                <c:pt idx="0">
                  <c:v>ASR</c:v>
                </c:pt>
              </c:strCache>
            </c:strRef>
          </c:tx>
          <c:spPr>
            <a:solidFill>
              <a:srgbClr val="AFC6E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837</c:v>
                </c:pt>
                <c:pt idx="1">
                  <c:v>958</c:v>
                </c:pt>
                <c:pt idx="2">
                  <c:v>972</c:v>
                </c:pt>
                <c:pt idx="3">
                  <c:v>1070</c:v>
                </c:pt>
                <c:pt idx="4">
                  <c:v>1123</c:v>
                </c:pt>
                <c:pt idx="5">
                  <c:v>876</c:v>
                </c:pt>
              </c:numCache>
            </c:numRef>
          </c:val>
          <c:extLst>
            <c:ext xmlns:c16="http://schemas.microsoft.com/office/drawing/2014/chart" uri="{C3380CC4-5D6E-409C-BE32-E72D297353CC}">
              <c16:uniqueId val="{00000003-C541-448A-AF96-C51AE27DD689}"/>
            </c:ext>
          </c:extLst>
        </c:ser>
        <c:ser>
          <c:idx val="4"/>
          <c:order val="4"/>
          <c:tx>
            <c:strRef>
              <c:f>Sheet1!$F$1</c:f>
              <c:strCache>
                <c:ptCount val="1"/>
                <c:pt idx="0">
                  <c:v>Wholesale</c:v>
                </c:pt>
              </c:strCache>
            </c:strRef>
          </c:tx>
          <c:spPr>
            <a:solidFill>
              <a:srgbClr val="D9A44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Sheet1!$F$2:$F$7</c:f>
              <c:numCache>
                <c:formatCode>General</c:formatCode>
                <c:ptCount val="6"/>
                <c:pt idx="0">
                  <c:v>1828</c:v>
                </c:pt>
                <c:pt idx="1">
                  <c:v>2664</c:v>
                </c:pt>
                <c:pt idx="2">
                  <c:v>1360</c:v>
                </c:pt>
                <c:pt idx="3">
                  <c:v>1531</c:v>
                </c:pt>
                <c:pt idx="4">
                  <c:v>851</c:v>
                </c:pt>
                <c:pt idx="5">
                  <c:v>802</c:v>
                </c:pt>
              </c:numCache>
            </c:numRef>
          </c:val>
          <c:extLst>
            <c:ext xmlns:c16="http://schemas.microsoft.com/office/drawing/2014/chart" uri="{C3380CC4-5D6E-409C-BE32-E72D297353CC}">
              <c16:uniqueId val="{00000004-C541-448A-AF96-C51AE27DD689}"/>
            </c:ext>
          </c:extLst>
        </c:ser>
        <c:ser>
          <c:idx val="5"/>
          <c:order val="5"/>
          <c:tx>
            <c:strRef>
              <c:f>Sheet1!$G$1</c:f>
              <c:strCache>
                <c:ptCount val="1"/>
                <c:pt idx="0">
                  <c:v>Group Corp</c:v>
                </c:pt>
              </c:strCache>
            </c:strRef>
          </c:tx>
          <c:spPr>
            <a:solidFill>
              <a:srgbClr val="8A5A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Sheet1!$G$2:$G$7</c:f>
              <c:numCache>
                <c:formatCode>General</c:formatCode>
                <c:ptCount val="6"/>
                <c:pt idx="0">
                  <c:v>338</c:v>
                </c:pt>
                <c:pt idx="1">
                  <c:v>69</c:v>
                </c:pt>
                <c:pt idx="2">
                  <c:v>252</c:v>
                </c:pt>
                <c:pt idx="3">
                  <c:v>73</c:v>
                </c:pt>
                <c:pt idx="4">
                  <c:v>41</c:v>
                </c:pt>
                <c:pt idx="5">
                  <c:v>100</c:v>
                </c:pt>
              </c:numCache>
            </c:numRef>
          </c:val>
          <c:extLst>
            <c:ext xmlns:c16="http://schemas.microsoft.com/office/drawing/2014/chart" uri="{C3380CC4-5D6E-409C-BE32-E72D297353CC}">
              <c16:uniqueId val="{00000005-C541-448A-AF96-C51AE27DD689}"/>
            </c:ext>
          </c:extLst>
        </c:ser>
        <c:ser>
          <c:idx val="6"/>
          <c:order val="6"/>
          <c:tx>
            <c:strRef>
              <c:f>Sheet1!$H$1</c:f>
              <c:strCache>
                <c:ptCount val="1"/>
                <c:pt idx="0">
                  <c:v>Group Leisure</c:v>
                </c:pt>
              </c:strCache>
            </c:strRef>
          </c:tx>
          <c:spPr>
            <a:solidFill>
              <a:srgbClr val="2F8F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Sheet1!$H$2:$H$7</c:f>
              <c:numCache>
                <c:formatCode>General</c:formatCode>
                <c:ptCount val="6"/>
                <c:pt idx="0">
                  <c:v>426</c:v>
                </c:pt>
                <c:pt idx="1">
                  <c:v>105</c:v>
                </c:pt>
                <c:pt idx="2">
                  <c:v>188</c:v>
                </c:pt>
                <c:pt idx="3">
                  <c:v>294</c:v>
                </c:pt>
                <c:pt idx="4">
                  <c:v>373</c:v>
                </c:pt>
                <c:pt idx="5">
                  <c:v>133</c:v>
                </c:pt>
              </c:numCache>
            </c:numRef>
          </c:val>
          <c:extLst>
            <c:ext xmlns:c16="http://schemas.microsoft.com/office/drawing/2014/chart" uri="{C3380CC4-5D6E-409C-BE32-E72D297353CC}">
              <c16:uniqueId val="{00000006-C541-448A-AF96-C51AE27DD689}"/>
            </c:ext>
          </c:extLst>
        </c:ser>
        <c:ser>
          <c:idx val="7"/>
          <c:order val="7"/>
          <c:tx>
            <c:strRef>
              <c:f>Sheet1!$I$1</c:f>
              <c:strCache>
                <c:ptCount val="1"/>
                <c:pt idx="0">
                  <c:v>Group Series</c:v>
                </c:pt>
              </c:strCache>
            </c:strRef>
          </c:tx>
          <c:spPr>
            <a:solidFill>
              <a:srgbClr val="C97B4A"/>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Sheet1!$I$2:$I$7</c:f>
              <c:numCache>
                <c:formatCode>General</c:formatCode>
                <c:ptCount val="6"/>
                <c:pt idx="0">
                  <c:v>526</c:v>
                </c:pt>
                <c:pt idx="1">
                  <c:v>213</c:v>
                </c:pt>
                <c:pt idx="2">
                  <c:v>207</c:v>
                </c:pt>
                <c:pt idx="3">
                  <c:v>90</c:v>
                </c:pt>
                <c:pt idx="4">
                  <c:v>332</c:v>
                </c:pt>
                <c:pt idx="5">
                  <c:v>95</c:v>
                </c:pt>
              </c:numCache>
            </c:numRef>
          </c:val>
          <c:extLst>
            <c:ext xmlns:c16="http://schemas.microsoft.com/office/drawing/2014/chart" uri="{C3380CC4-5D6E-409C-BE32-E72D297353CC}">
              <c16:uniqueId val="{00000007-C541-448A-AF96-C51AE27DD689}"/>
            </c:ext>
          </c:extLst>
        </c:ser>
        <c:ser>
          <c:idx val="8"/>
          <c:order val="8"/>
          <c:tx>
            <c:strRef>
              <c:f>Sheet1!$J$1</c:f>
              <c:strCache>
                <c:ptCount val="1"/>
                <c:pt idx="0">
                  <c:v>Employee</c:v>
                </c:pt>
              </c:strCache>
            </c:strRef>
          </c:tx>
          <c:spPr>
            <a:solidFill>
              <a:srgbClr val="8FA35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Sheet1!$J$2:$J$7</c:f>
              <c:numCache>
                <c:formatCode>General</c:formatCode>
                <c:ptCount val="6"/>
                <c:pt idx="0">
                  <c:v>1</c:v>
                </c:pt>
                <c:pt idx="1">
                  <c:v>0</c:v>
                </c:pt>
                <c:pt idx="2">
                  <c:v>25</c:v>
                </c:pt>
                <c:pt idx="3">
                  <c:v>0</c:v>
                </c:pt>
                <c:pt idx="4">
                  <c:v>4</c:v>
                </c:pt>
                <c:pt idx="5">
                  <c:v>4</c:v>
                </c:pt>
              </c:numCache>
            </c:numRef>
          </c:val>
          <c:extLst>
            <c:ext xmlns:c16="http://schemas.microsoft.com/office/drawing/2014/chart" uri="{C3380CC4-5D6E-409C-BE32-E72D297353CC}">
              <c16:uniqueId val="{00000008-C541-448A-AF96-C51AE27DD689}"/>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YTD mix (65,175 RN)</a:t>
            </a:r>
          </a:p>
        </c:rich>
      </c:tx>
      <c:overlay val="0"/>
    </c:title>
    <c:autoTitleDeleted val="0"/>
    <c:plotArea>
      <c:layout/>
      <c:doughnutChart>
        <c:varyColors val="1"/>
        <c:ser>
          <c:idx val="0"/>
          <c:order val="0"/>
          <c:tx>
            <c:strRef>
              <c:f>Sheet1!$B$1</c:f>
              <c:strCache>
                <c:ptCount val="1"/>
                <c:pt idx="0">
                  <c:v>YTD</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E50D-4561-8741-147DBC9FE6C0}"/>
              </c:ext>
            </c:extLst>
          </c:dPt>
          <c:dPt>
            <c:idx val="1"/>
            <c:bubble3D val="0"/>
            <c:spPr>
              <a:solidFill>
                <a:srgbClr val="4A6FC4"/>
              </a:solidFill>
              <a:effectLst/>
            </c:spPr>
            <c:extLst>
              <c:ext xmlns:c16="http://schemas.microsoft.com/office/drawing/2014/chart" uri="{C3380CC4-5D6E-409C-BE32-E72D297353CC}">
                <c16:uniqueId val="{00000003-E50D-4561-8741-147DBC9FE6C0}"/>
              </c:ext>
            </c:extLst>
          </c:dPt>
          <c:dPt>
            <c:idx val="2"/>
            <c:bubble3D val="0"/>
            <c:spPr>
              <a:solidFill>
                <a:srgbClr val="7FA4DC"/>
              </a:solidFill>
              <a:effectLst/>
            </c:spPr>
            <c:extLst>
              <c:ext xmlns:c16="http://schemas.microsoft.com/office/drawing/2014/chart" uri="{C3380CC4-5D6E-409C-BE32-E72D297353CC}">
                <c16:uniqueId val="{00000005-E50D-4561-8741-147DBC9FE6C0}"/>
              </c:ext>
            </c:extLst>
          </c:dPt>
          <c:dPt>
            <c:idx val="3"/>
            <c:bubble3D val="0"/>
            <c:spPr>
              <a:solidFill>
                <a:srgbClr val="AFC6EC"/>
              </a:solidFill>
              <a:effectLst/>
            </c:spPr>
            <c:extLst>
              <c:ext xmlns:c16="http://schemas.microsoft.com/office/drawing/2014/chart" uri="{C3380CC4-5D6E-409C-BE32-E72D297353CC}">
                <c16:uniqueId val="{00000007-E50D-4561-8741-147DBC9FE6C0}"/>
              </c:ext>
            </c:extLst>
          </c:dPt>
          <c:dPt>
            <c:idx val="4"/>
            <c:bubble3D val="0"/>
            <c:spPr>
              <a:solidFill>
                <a:srgbClr val="D9A441"/>
              </a:solidFill>
              <a:effectLst/>
            </c:spPr>
            <c:extLst>
              <c:ext xmlns:c16="http://schemas.microsoft.com/office/drawing/2014/chart" uri="{C3380CC4-5D6E-409C-BE32-E72D297353CC}">
                <c16:uniqueId val="{00000009-E50D-4561-8741-147DBC9FE6C0}"/>
              </c:ext>
            </c:extLst>
          </c:dPt>
          <c:dPt>
            <c:idx val="5"/>
            <c:bubble3D val="0"/>
            <c:spPr>
              <a:solidFill>
                <a:srgbClr val="8A5A83"/>
              </a:solidFill>
              <a:effectLst/>
            </c:spPr>
            <c:extLst>
              <c:ext xmlns:c16="http://schemas.microsoft.com/office/drawing/2014/chart" uri="{C3380CC4-5D6E-409C-BE32-E72D297353CC}">
                <c16:uniqueId val="{0000000B-E50D-4561-8741-147DBC9FE6C0}"/>
              </c:ext>
            </c:extLst>
          </c:dPt>
          <c:dPt>
            <c:idx val="6"/>
            <c:bubble3D val="0"/>
            <c:spPr>
              <a:solidFill>
                <a:srgbClr val="2F8F83"/>
              </a:solidFill>
              <a:effectLst/>
            </c:spPr>
            <c:extLst>
              <c:ext xmlns:c16="http://schemas.microsoft.com/office/drawing/2014/chart" uri="{C3380CC4-5D6E-409C-BE32-E72D297353CC}">
                <c16:uniqueId val="{0000000D-E50D-4561-8741-147DBC9FE6C0}"/>
              </c:ext>
            </c:extLst>
          </c:dPt>
          <c:dPt>
            <c:idx val="7"/>
            <c:bubble3D val="0"/>
            <c:spPr>
              <a:solidFill>
                <a:srgbClr val="C97B4A"/>
              </a:solidFill>
              <a:effectLst/>
            </c:spPr>
            <c:extLst>
              <c:ext xmlns:c16="http://schemas.microsoft.com/office/drawing/2014/chart" uri="{C3380CC4-5D6E-409C-BE32-E72D297353CC}">
                <c16:uniqueId val="{0000000F-E50D-4561-8741-147DBC9FE6C0}"/>
              </c:ext>
            </c:extLst>
          </c:dPt>
          <c:dPt>
            <c:idx val="8"/>
            <c:bubble3D val="0"/>
            <c:spPr>
              <a:solidFill>
                <a:srgbClr val="8FA35C"/>
              </a:solidFill>
              <a:effectLst/>
            </c:spPr>
            <c:extLst>
              <c:ext xmlns:c16="http://schemas.microsoft.com/office/drawing/2014/chart" uri="{C3380CC4-5D6E-409C-BE32-E72D297353CC}">
                <c16:uniqueId val="{00000011-E50D-4561-8741-147DBC9FE6C0}"/>
              </c:ext>
            </c:extLst>
          </c:dPt>
          <c:dLbls>
            <c:dLbl>
              <c:idx val="0"/>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E50D-4561-8741-147DBC9FE6C0}"/>
                </c:ext>
              </c:extLst>
            </c:dLbl>
            <c:dLbl>
              <c:idx val="1"/>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E50D-4561-8741-147DBC9FE6C0}"/>
                </c:ext>
              </c:extLst>
            </c:dLbl>
            <c:dLbl>
              <c:idx val="2"/>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E50D-4561-8741-147DBC9FE6C0}"/>
                </c:ext>
              </c:extLst>
            </c:dLbl>
            <c:dLbl>
              <c:idx val="3"/>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E50D-4561-8741-147DBC9FE6C0}"/>
                </c:ext>
              </c:extLst>
            </c:dLbl>
            <c:dLbl>
              <c:idx val="4"/>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E50D-4561-8741-147DBC9FE6C0}"/>
                </c:ext>
              </c:extLst>
            </c:dLbl>
            <c:dLbl>
              <c:idx val="5"/>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E50D-4561-8741-147DBC9FE6C0}"/>
                </c:ext>
              </c:extLst>
            </c:dLbl>
            <c:dLbl>
              <c:idx val="6"/>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D-E50D-4561-8741-147DBC9FE6C0}"/>
                </c:ext>
              </c:extLst>
            </c:dLbl>
            <c:dLbl>
              <c:idx val="7"/>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F-E50D-4561-8741-147DBC9FE6C0}"/>
                </c:ext>
              </c:extLst>
            </c:dLbl>
            <c:dLbl>
              <c:idx val="8"/>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11-E50D-4561-8741-147DBC9FE6C0}"/>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Sheet1!$A$2:$A$10</c:f>
              <c:strCache>
                <c:ptCount val="9"/>
                <c:pt idx="0">
                  <c:v>Corporate SS</c:v>
                </c:pt>
                <c:pt idx="1">
                  <c:v>Corporate LS</c:v>
                </c:pt>
                <c:pt idx="2">
                  <c:v>Online</c:v>
                </c:pt>
                <c:pt idx="3">
                  <c:v>ASR</c:v>
                </c:pt>
                <c:pt idx="4">
                  <c:v>Wholesale</c:v>
                </c:pt>
                <c:pt idx="5">
                  <c:v>Group Corp</c:v>
                </c:pt>
                <c:pt idx="6">
                  <c:v>Group Leisure</c:v>
                </c:pt>
                <c:pt idx="7">
                  <c:v>Group Series</c:v>
                </c:pt>
                <c:pt idx="8">
                  <c:v>Employee</c:v>
                </c:pt>
              </c:strCache>
            </c:strRef>
          </c:cat>
          <c:val>
            <c:numRef>
              <c:f>Sheet1!$B$2:$B$10</c:f>
              <c:numCache>
                <c:formatCode>General</c:formatCode>
                <c:ptCount val="9"/>
                <c:pt idx="0">
                  <c:v>9290</c:v>
                </c:pt>
                <c:pt idx="1">
                  <c:v>9623</c:v>
                </c:pt>
                <c:pt idx="2">
                  <c:v>27501</c:v>
                </c:pt>
                <c:pt idx="3">
                  <c:v>5836</c:v>
                </c:pt>
                <c:pt idx="4">
                  <c:v>9036</c:v>
                </c:pt>
                <c:pt idx="5">
                  <c:v>873</c:v>
                </c:pt>
                <c:pt idx="6">
                  <c:v>1519</c:v>
                </c:pt>
                <c:pt idx="7">
                  <c:v>1463</c:v>
                </c:pt>
                <c:pt idx="8">
                  <c:v>34</c:v>
                </c:pt>
              </c:numCache>
            </c:numRef>
          </c:val>
          <c:extLst>
            <c:ext xmlns:c16="http://schemas.microsoft.com/office/drawing/2014/chart" uri="{C3380CC4-5D6E-409C-BE32-E72D297353CC}">
              <c16:uniqueId val="{00000012-E50D-4561-8741-147DBC9FE6C0}"/>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r"/>
      <c:overlay val="0"/>
      <c:txPr>
        <a:bodyPr/>
        <a:lstStyle/>
        <a:p>
          <a:pPr>
            <a:defRPr sz="95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E2761"/>
                </a:solidFill>
                <a:latin typeface="Calibri"/>
              </a:defRPr>
            </a:pPr>
            <a:r>
              <a:rPr lang="en-US" sz="1250" b="0" i="0" u="none" strike="noStrike">
                <a:solidFill>
                  <a:srgbClr val="1E2761"/>
                </a:solidFill>
                <a:latin typeface="Calibri"/>
              </a:rPr>
              <a:t>Monthly revenue (฿M)</a:t>
            </a:r>
          </a:p>
        </c:rich>
      </c:tx>
      <c:overlay val="0"/>
    </c:title>
    <c:autoTitleDeleted val="0"/>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36808084.990000002</c:v>
                </c:pt>
                <c:pt idx="1">
                  <c:v>41472163.590000004</c:v>
                </c:pt>
                <c:pt idx="2">
                  <c:v>37684641.259999998</c:v>
                </c:pt>
                <c:pt idx="3">
                  <c:v>37448282.219999999</c:v>
                </c:pt>
                <c:pt idx="4">
                  <c:v>37081120.259999998</c:v>
                </c:pt>
                <c:pt idx="5">
                  <c:v>33416187.350000001</c:v>
                </c:pt>
              </c:numCache>
            </c:numRef>
          </c:val>
          <c:extLst>
            <c:ext xmlns:c16="http://schemas.microsoft.com/office/drawing/2014/chart" uri="{C3380CC4-5D6E-409C-BE32-E72D297353CC}">
              <c16:uniqueId val="{00000000-20AB-4477-975D-449E7DD3F037}"/>
            </c:ext>
          </c:extLst>
        </c:ser>
        <c:ser>
          <c:idx val="1"/>
          <c:order val="1"/>
          <c:tx>
            <c:strRef>
              <c:f>Sheet1!$C$1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40471406.759999998</c:v>
                </c:pt>
                <c:pt idx="1">
                  <c:v>35097386</c:v>
                </c:pt>
                <c:pt idx="2">
                  <c:v>31885906.359999999</c:v>
                </c:pt>
                <c:pt idx="3">
                  <c:v>28944481.789999999</c:v>
                </c:pt>
                <c:pt idx="4">
                  <c:v>29907879.420000002</c:v>
                </c:pt>
                <c:pt idx="5">
                  <c:v>28869835.91</c:v>
                </c:pt>
              </c:numCache>
            </c:numRef>
          </c:val>
          <c:extLst>
            <c:ext xmlns:c16="http://schemas.microsoft.com/office/drawing/2014/chart" uri="{C3380CC4-5D6E-409C-BE32-E72D297353CC}">
              <c16:uniqueId val="{00000001-20AB-4477-975D-449E7DD3F037}"/>
            </c:ext>
          </c:extLst>
        </c:ser>
        <c:ser>
          <c:idx val="2"/>
          <c:order val="2"/>
          <c:tx>
            <c:strRef>
              <c:f>Sheet1!$D$1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36981091.140000001</c:v>
                </c:pt>
                <c:pt idx="1">
                  <c:v>36798669.049999997</c:v>
                </c:pt>
                <c:pt idx="2">
                  <c:v>33026703.75</c:v>
                </c:pt>
                <c:pt idx="3">
                  <c:v>31830715.75</c:v>
                </c:pt>
                <c:pt idx="4">
                  <c:v>29125527.620000001</c:v>
                </c:pt>
                <c:pt idx="5">
                  <c:v>28515831.960000001</c:v>
                </c:pt>
              </c:numCache>
            </c:numRef>
          </c:val>
          <c:extLst>
            <c:ext xmlns:c16="http://schemas.microsoft.com/office/drawing/2014/chart" uri="{C3380CC4-5D6E-409C-BE32-E72D297353CC}">
              <c16:uniqueId val="{00000002-20AB-4477-975D-449E7DD3F03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761"/>
                </a:solidFill>
                <a:latin typeface="Calibri"/>
              </a:defRPr>
            </a:pPr>
            <a:r>
              <a:rPr lang="en-US" sz="1200" b="0" i="0" u="none" strike="noStrike">
                <a:solidFill>
                  <a:srgbClr val="1E2761"/>
                </a:solidFill>
                <a:latin typeface="Calibri"/>
              </a:rPr>
              <a:t>Monthly RevPAR (THB) — actual vs budget vs 2025 vs 2024</a:t>
            </a:r>
          </a:p>
        </c:rich>
      </c:tx>
      <c:overlay val="0"/>
    </c:title>
    <c:autoTitleDeleted val="0"/>
    <c:plotArea>
      <c:layout/>
      <c:barChart>
        <c:barDir val="col"/>
        <c:grouping val="clustered"/>
        <c:varyColors val="0"/>
        <c:ser>
          <c:idx val="0"/>
          <c:order val="0"/>
          <c:tx>
            <c:strRef>
              <c:f>Sheet1!$B$1</c:f>
              <c:strCache>
                <c:ptCount val="1"/>
                <c:pt idx="0">
                  <c:v>RevPAR 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2846.76</c:v>
                </c:pt>
                <c:pt idx="1">
                  <c:v>3468.5</c:v>
                </c:pt>
                <c:pt idx="2">
                  <c:v>2447.06</c:v>
                </c:pt>
                <c:pt idx="3">
                  <c:v>2181.63</c:v>
                </c:pt>
                <c:pt idx="4">
                  <c:v>1861.3</c:v>
                </c:pt>
                <c:pt idx="5">
                  <c:v>1993.88</c:v>
                </c:pt>
              </c:numCache>
            </c:numRef>
          </c:val>
          <c:extLst>
            <c:ext xmlns:c16="http://schemas.microsoft.com/office/drawing/2014/chart" uri="{C3380CC4-5D6E-409C-BE32-E72D297353CC}">
              <c16:uniqueId val="{00000000-8211-4356-9605-8536186A8801}"/>
            </c:ext>
          </c:extLst>
        </c:ser>
        <c:dLbls>
          <c:showLegendKey val="0"/>
          <c:showVal val="0"/>
          <c:showCatName val="0"/>
          <c:showSerName val="0"/>
          <c:showPercent val="0"/>
          <c:showBubbleSize val="0"/>
        </c:dLbls>
        <c:gapWidth val="80"/>
        <c:axId val="2094734554"/>
        <c:axId val="2094734552"/>
      </c:barChart>
      <c:lineChart>
        <c:grouping val="standard"/>
        <c:varyColors val="0"/>
        <c:ser>
          <c:idx val="1"/>
          <c:order val="1"/>
          <c:tx>
            <c:strRef>
              <c:f>Sheet1!$C$1</c:f>
              <c:strCache>
                <c:ptCount val="1"/>
                <c:pt idx="0">
                  <c:v>Budget</c:v>
                </c:pt>
              </c:strCache>
            </c:strRef>
          </c:tx>
          <c:spPr>
            <a:ln w="31750" cap="flat">
              <a:solidFill>
                <a:srgbClr val="D9A441"/>
              </a:solidFill>
              <a:prstDash val="solid"/>
              <a:round/>
            </a:ln>
            <a:effectLst/>
          </c:spPr>
          <c:marker>
            <c:symbol val="circle"/>
            <c:size val="5"/>
            <c:spPr>
              <a:solidFill>
                <a:srgbClr val="AEB6C2"/>
              </a:solidFill>
              <a:ln w="9525" cap="flat">
                <a:solidFill>
                  <a:srgbClr val="D9A441"/>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2955.1113</c:v>
                </c:pt>
                <c:pt idx="1">
                  <c:v>3156.7793999999999</c:v>
                </c:pt>
                <c:pt idx="2">
                  <c:v>2298.422</c:v>
                </c:pt>
                <c:pt idx="3">
                  <c:v>2608.8519999999999</c:v>
                </c:pt>
                <c:pt idx="4">
                  <c:v>2312.0012000000002</c:v>
                </c:pt>
                <c:pt idx="5">
                  <c:v>2374.5527000000002</c:v>
                </c:pt>
              </c:numCache>
            </c:numRef>
          </c:val>
          <c:smooth val="0"/>
          <c:extLst>
            <c:ext xmlns:c16="http://schemas.microsoft.com/office/drawing/2014/chart" uri="{C3380CC4-5D6E-409C-BE32-E72D297353CC}">
              <c16:uniqueId val="{00000001-8211-4356-9605-8536186A8801}"/>
            </c:ext>
          </c:extLst>
        </c:ser>
        <c:ser>
          <c:idx val="2"/>
          <c:order val="2"/>
          <c:tx>
            <c:strRef>
              <c:f>Sheet1!$D$1</c:f>
              <c:strCache>
                <c:ptCount val="1"/>
                <c:pt idx="0">
                  <c:v>2025</c:v>
                </c:pt>
              </c:strCache>
            </c:strRef>
          </c:tx>
          <c:spPr>
            <a:ln w="31750" cap="flat">
              <a:solidFill>
                <a:srgbClr val="AEB6C2"/>
              </a:solidFill>
              <a:prstDash val="solid"/>
              <a:round/>
            </a:ln>
            <a:effectLst/>
          </c:spPr>
          <c:marker>
            <c:symbol val="circle"/>
            <c:size val="5"/>
            <c:spPr>
              <a:solidFill>
                <a:srgbClr val="C9D6EE"/>
              </a:solidFill>
              <a:ln w="9525" cap="flat">
                <a:solidFill>
                  <a:srgbClr val="AEB6C2"/>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3408.1212</c:v>
                </c:pt>
                <c:pt idx="1">
                  <c:v>3007.4331999999999</c:v>
                </c:pt>
                <c:pt idx="2">
                  <c:v>2031.3738000000001</c:v>
                </c:pt>
                <c:pt idx="3">
                  <c:v>2352.3757000000001</c:v>
                </c:pt>
                <c:pt idx="4">
                  <c:v>2192.6749</c:v>
                </c:pt>
                <c:pt idx="5">
                  <c:v>2097.2766000000001</c:v>
                </c:pt>
              </c:numCache>
            </c:numRef>
          </c:val>
          <c:smooth val="0"/>
          <c:extLst>
            <c:ext xmlns:c16="http://schemas.microsoft.com/office/drawing/2014/chart" uri="{C3380CC4-5D6E-409C-BE32-E72D297353CC}">
              <c16:uniqueId val="{00000002-8211-4356-9605-8536186A8801}"/>
            </c:ext>
          </c:extLst>
        </c:ser>
        <c:ser>
          <c:idx val="3"/>
          <c:order val="3"/>
          <c:tx>
            <c:strRef>
              <c:f>Sheet1!$E$1</c:f>
              <c:strCache>
                <c:ptCount val="1"/>
                <c:pt idx="0">
                  <c:v>2024</c:v>
                </c:pt>
              </c:strCache>
            </c:strRef>
          </c:tx>
          <c:spPr>
            <a:ln w="31750" cap="flat">
              <a:solidFill>
                <a:srgbClr val="C9D6EE"/>
              </a:solidFill>
              <a:prstDash val="solid"/>
              <a:round/>
            </a:ln>
            <a:effectLst/>
          </c:spPr>
          <c:marker>
            <c:symbol val="circle"/>
            <c:size val="5"/>
            <c:spPr>
              <a:solidFill>
                <a:srgbClr val="C9D6EE"/>
              </a:solidFill>
              <a:ln w="9525" cap="flat">
                <a:solidFill>
                  <a:srgbClr val="C9D6EE"/>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2950.6957000000002</c:v>
                </c:pt>
                <c:pt idx="1">
                  <c:v>3749.3217</c:v>
                </c:pt>
                <c:pt idx="2">
                  <c:v>2842.5663</c:v>
                </c:pt>
                <c:pt idx="3">
                  <c:v>3095.3478</c:v>
                </c:pt>
                <c:pt idx="4">
                  <c:v>2257.2103000000002</c:v>
                </c:pt>
                <c:pt idx="5">
                  <c:v>3085.8020000000001</c:v>
                </c:pt>
              </c:numCache>
            </c:numRef>
          </c:val>
          <c:smooth val="0"/>
          <c:extLst>
            <c:ext xmlns:c16="http://schemas.microsoft.com/office/drawing/2014/chart" uri="{C3380CC4-5D6E-409C-BE32-E72D297353CC}">
              <c16:uniqueId val="{00000003-8211-4356-9605-8536186A880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H1 (Jan–Jun)</a:t>
            </a:r>
          </a:p>
        </c:rich>
      </c:tx>
      <c:overlay val="0"/>
    </c:title>
    <c:autoTitleDeleted val="0"/>
    <c:plotArea>
      <c:layout/>
      <c:barChart>
        <c:barDir val="bar"/>
        <c:grouping val="clustered"/>
        <c:varyColors val="0"/>
        <c:ser>
          <c:idx val="0"/>
          <c:order val="0"/>
          <c:tx>
            <c:strRef>
              <c:f>Sheet1!$B$1</c:f>
              <c:strCache>
                <c:ptCount val="1"/>
                <c:pt idx="0">
                  <c:v>2025 H1</c:v>
                </c:pt>
              </c:strCache>
            </c:strRef>
          </c:tx>
          <c:spPr>
            <a:solidFill>
              <a:srgbClr val="7FA4DC"/>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Japan</c:v>
                </c:pt>
                <c:pt idx="2">
                  <c:v>Finland</c:v>
                </c:pt>
                <c:pt idx="3">
                  <c:v>Singapore</c:v>
                </c:pt>
                <c:pt idx="4">
                  <c:v>USA</c:v>
                </c:pt>
                <c:pt idx="5">
                  <c:v>Thailand</c:v>
                </c:pt>
                <c:pt idx="6">
                  <c:v>Germany</c:v>
                </c:pt>
                <c:pt idx="7">
                  <c:v>UK</c:v>
                </c:pt>
                <c:pt idx="8">
                  <c:v>Korea</c:v>
                </c:pt>
                <c:pt idx="9">
                  <c:v>Taiwan</c:v>
                </c:pt>
              </c:strCache>
            </c:strRef>
          </c:cat>
          <c:val>
            <c:numRef>
              <c:f>Sheet1!$B$2:$B$11</c:f>
              <c:numCache>
                <c:formatCode>General</c:formatCode>
                <c:ptCount val="10"/>
                <c:pt idx="0">
                  <c:v>16921</c:v>
                </c:pt>
                <c:pt idx="1">
                  <c:v>2723</c:v>
                </c:pt>
                <c:pt idx="2">
                  <c:v>55</c:v>
                </c:pt>
                <c:pt idx="3">
                  <c:v>2263</c:v>
                </c:pt>
                <c:pt idx="4">
                  <c:v>2078</c:v>
                </c:pt>
                <c:pt idx="5">
                  <c:v>1524</c:v>
                </c:pt>
                <c:pt idx="6">
                  <c:v>1536</c:v>
                </c:pt>
                <c:pt idx="7">
                  <c:v>1153</c:v>
                </c:pt>
                <c:pt idx="8">
                  <c:v>2214</c:v>
                </c:pt>
                <c:pt idx="9">
                  <c:v>1426</c:v>
                </c:pt>
              </c:numCache>
            </c:numRef>
          </c:val>
          <c:extLst>
            <c:ext xmlns:c16="http://schemas.microsoft.com/office/drawing/2014/chart" uri="{C3380CC4-5D6E-409C-BE32-E72D297353CC}">
              <c16:uniqueId val="{00000000-F2BB-42D3-8C5E-0E2C8B63539E}"/>
            </c:ext>
          </c:extLst>
        </c:ser>
        <c:ser>
          <c:idx val="1"/>
          <c:order val="1"/>
          <c:tx>
            <c:strRef>
              <c:f>Sheet1!$C$1</c:f>
              <c:strCache>
                <c:ptCount val="1"/>
                <c:pt idx="0">
                  <c:v>2026 H1</c:v>
                </c:pt>
              </c:strCache>
            </c:strRef>
          </c:tx>
          <c:spPr>
            <a:solidFill>
              <a:srgbClr val="1E2761"/>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Japan</c:v>
                </c:pt>
                <c:pt idx="2">
                  <c:v>Finland</c:v>
                </c:pt>
                <c:pt idx="3">
                  <c:v>Singapore</c:v>
                </c:pt>
                <c:pt idx="4">
                  <c:v>USA</c:v>
                </c:pt>
                <c:pt idx="5">
                  <c:v>Thailand</c:v>
                </c:pt>
                <c:pt idx="6">
                  <c:v>Germany</c:v>
                </c:pt>
                <c:pt idx="7">
                  <c:v>UK</c:v>
                </c:pt>
                <c:pt idx="8">
                  <c:v>Korea</c:v>
                </c:pt>
                <c:pt idx="9">
                  <c:v>Taiwan</c:v>
                </c:pt>
              </c:strCache>
            </c:strRef>
          </c:cat>
          <c:val>
            <c:numRef>
              <c:f>Sheet1!$C$2:$C$11</c:f>
              <c:numCache>
                <c:formatCode>General</c:formatCode>
                <c:ptCount val="10"/>
                <c:pt idx="0">
                  <c:v>18613</c:v>
                </c:pt>
                <c:pt idx="1">
                  <c:v>3600</c:v>
                </c:pt>
                <c:pt idx="2">
                  <c:v>2922</c:v>
                </c:pt>
                <c:pt idx="3">
                  <c:v>1934</c:v>
                </c:pt>
                <c:pt idx="4">
                  <c:v>1818</c:v>
                </c:pt>
                <c:pt idx="5">
                  <c:v>1625</c:v>
                </c:pt>
                <c:pt idx="6">
                  <c:v>1526</c:v>
                </c:pt>
                <c:pt idx="7">
                  <c:v>1385</c:v>
                </c:pt>
                <c:pt idx="8">
                  <c:v>1304</c:v>
                </c:pt>
                <c:pt idx="9">
                  <c:v>1216</c:v>
                </c:pt>
              </c:numCache>
            </c:numRef>
          </c:val>
          <c:extLst>
            <c:ext xmlns:c16="http://schemas.microsoft.com/office/drawing/2014/chart" uri="{C3380CC4-5D6E-409C-BE32-E72D297353CC}">
              <c16:uniqueId val="{00000001-F2BB-42D3-8C5E-0E2C8B63539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5E8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per month (stacked)</a:t>
            </a:r>
          </a:p>
        </c:rich>
      </c:tx>
      <c:overlay val="0"/>
    </c:title>
    <c:autoTitleDeleted val="0"/>
    <c:plotArea>
      <c:layout/>
      <c:barChart>
        <c:barDir val="col"/>
        <c:grouping val="stacked"/>
        <c:varyColors val="0"/>
        <c:ser>
          <c:idx val="0"/>
          <c:order val="0"/>
          <c:tx>
            <c:strRef>
              <c:f>Sheet1!$B$1</c:f>
              <c:strCache>
                <c:ptCount val="1"/>
                <c:pt idx="0">
                  <c:v>Corporate SS</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979</c:v>
                </c:pt>
                <c:pt idx="1">
                  <c:v>907</c:v>
                </c:pt>
                <c:pt idx="2">
                  <c:v>1236</c:v>
                </c:pt>
                <c:pt idx="3">
                  <c:v>545</c:v>
                </c:pt>
                <c:pt idx="4">
                  <c:v>768</c:v>
                </c:pt>
                <c:pt idx="5">
                  <c:v>752</c:v>
                </c:pt>
              </c:numCache>
            </c:numRef>
          </c:val>
          <c:extLst>
            <c:ext xmlns:c16="http://schemas.microsoft.com/office/drawing/2014/chart" uri="{C3380CC4-5D6E-409C-BE32-E72D297353CC}">
              <c16:uniqueId val="{00000000-BFAD-4E93-B94C-848C271419B6}"/>
            </c:ext>
          </c:extLst>
        </c:ser>
        <c:ser>
          <c:idx val="1"/>
          <c:order val="1"/>
          <c:tx>
            <c:strRef>
              <c:f>Sheet1!$C$1</c:f>
              <c:strCache>
                <c:ptCount val="1"/>
                <c:pt idx="0">
                  <c:v>Corporate LS</c:v>
                </c:pt>
              </c:strCache>
            </c:strRef>
          </c:tx>
          <c:spPr>
            <a:solidFill>
              <a:srgbClr val="4A6FC4"/>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2388</c:v>
                </c:pt>
                <c:pt idx="1">
                  <c:v>2430</c:v>
                </c:pt>
                <c:pt idx="2">
                  <c:v>2676</c:v>
                </c:pt>
                <c:pt idx="3">
                  <c:v>1683</c:v>
                </c:pt>
                <c:pt idx="4">
                  <c:v>2075</c:v>
                </c:pt>
                <c:pt idx="5">
                  <c:v>1844</c:v>
                </c:pt>
              </c:numCache>
            </c:numRef>
          </c:val>
          <c:extLst>
            <c:ext xmlns:c16="http://schemas.microsoft.com/office/drawing/2014/chart" uri="{C3380CC4-5D6E-409C-BE32-E72D297353CC}">
              <c16:uniqueId val="{00000001-BFAD-4E93-B94C-848C271419B6}"/>
            </c:ext>
          </c:extLst>
        </c:ser>
        <c:ser>
          <c:idx val="2"/>
          <c:order val="2"/>
          <c:tx>
            <c:strRef>
              <c:f>Sheet1!$D$1</c:f>
              <c:strCache>
                <c:ptCount val="1"/>
                <c:pt idx="0">
                  <c:v>Online</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3257</c:v>
                </c:pt>
                <c:pt idx="1">
                  <c:v>3910</c:v>
                </c:pt>
                <c:pt idx="2">
                  <c:v>2690</c:v>
                </c:pt>
                <c:pt idx="3">
                  <c:v>2876</c:v>
                </c:pt>
                <c:pt idx="4">
                  <c:v>2049</c:v>
                </c:pt>
                <c:pt idx="5">
                  <c:v>2146</c:v>
                </c:pt>
              </c:numCache>
            </c:numRef>
          </c:val>
          <c:extLst>
            <c:ext xmlns:c16="http://schemas.microsoft.com/office/drawing/2014/chart" uri="{C3380CC4-5D6E-409C-BE32-E72D297353CC}">
              <c16:uniqueId val="{00000002-BFAD-4E93-B94C-848C271419B6}"/>
            </c:ext>
          </c:extLst>
        </c:ser>
        <c:ser>
          <c:idx val="3"/>
          <c:order val="3"/>
          <c:tx>
            <c:strRef>
              <c:f>Sheet1!$E$1</c:f>
              <c:strCache>
                <c:ptCount val="1"/>
                <c:pt idx="0">
                  <c:v>ASR</c:v>
                </c:pt>
              </c:strCache>
            </c:strRef>
          </c:tx>
          <c:spPr>
            <a:solidFill>
              <a:srgbClr val="AFC6E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756</c:v>
                </c:pt>
                <c:pt idx="1">
                  <c:v>720</c:v>
                </c:pt>
                <c:pt idx="2">
                  <c:v>578</c:v>
                </c:pt>
                <c:pt idx="3">
                  <c:v>769</c:v>
                </c:pt>
                <c:pt idx="4">
                  <c:v>752</c:v>
                </c:pt>
                <c:pt idx="5">
                  <c:v>961</c:v>
                </c:pt>
              </c:numCache>
            </c:numRef>
          </c:val>
          <c:extLst>
            <c:ext xmlns:c16="http://schemas.microsoft.com/office/drawing/2014/chart" uri="{C3380CC4-5D6E-409C-BE32-E72D297353CC}">
              <c16:uniqueId val="{00000003-BFAD-4E93-B94C-848C271419B6}"/>
            </c:ext>
          </c:extLst>
        </c:ser>
        <c:ser>
          <c:idx val="4"/>
          <c:order val="4"/>
          <c:tx>
            <c:strRef>
              <c:f>Sheet1!$F$1</c:f>
              <c:strCache>
                <c:ptCount val="1"/>
                <c:pt idx="0">
                  <c:v>Wholesale</c:v>
                </c:pt>
              </c:strCache>
            </c:strRef>
          </c:tx>
          <c:spPr>
            <a:solidFill>
              <a:srgbClr val="D9A44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Sheet1!$F$2:$F$7</c:f>
              <c:numCache>
                <c:formatCode>General</c:formatCode>
                <c:ptCount val="6"/>
                <c:pt idx="0">
                  <c:v>1479</c:v>
                </c:pt>
                <c:pt idx="1">
                  <c:v>2041</c:v>
                </c:pt>
                <c:pt idx="2">
                  <c:v>1382</c:v>
                </c:pt>
                <c:pt idx="3">
                  <c:v>711</c:v>
                </c:pt>
                <c:pt idx="4">
                  <c:v>1203</c:v>
                </c:pt>
                <c:pt idx="5">
                  <c:v>1315</c:v>
                </c:pt>
              </c:numCache>
            </c:numRef>
          </c:val>
          <c:extLst>
            <c:ext xmlns:c16="http://schemas.microsoft.com/office/drawing/2014/chart" uri="{C3380CC4-5D6E-409C-BE32-E72D297353CC}">
              <c16:uniqueId val="{00000004-BFAD-4E93-B94C-848C271419B6}"/>
            </c:ext>
          </c:extLst>
        </c:ser>
        <c:ser>
          <c:idx val="5"/>
          <c:order val="5"/>
          <c:tx>
            <c:strRef>
              <c:f>Sheet1!$G$1</c:f>
              <c:strCache>
                <c:ptCount val="1"/>
                <c:pt idx="0">
                  <c:v>Corporate Group</c:v>
                </c:pt>
              </c:strCache>
            </c:strRef>
          </c:tx>
          <c:spPr>
            <a:solidFill>
              <a:srgbClr val="8A5A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Sheet1!$G$2:$G$7</c:f>
              <c:numCache>
                <c:formatCode>General</c:formatCode>
                <c:ptCount val="6"/>
                <c:pt idx="0">
                  <c:v>294</c:v>
                </c:pt>
                <c:pt idx="1">
                  <c:v>126</c:v>
                </c:pt>
                <c:pt idx="2">
                  <c:v>502</c:v>
                </c:pt>
                <c:pt idx="3">
                  <c:v>941</c:v>
                </c:pt>
                <c:pt idx="4">
                  <c:v>193</c:v>
                </c:pt>
                <c:pt idx="5">
                  <c:v>0</c:v>
                </c:pt>
              </c:numCache>
            </c:numRef>
          </c:val>
          <c:extLst>
            <c:ext xmlns:c16="http://schemas.microsoft.com/office/drawing/2014/chart" uri="{C3380CC4-5D6E-409C-BE32-E72D297353CC}">
              <c16:uniqueId val="{00000005-BFAD-4E93-B94C-848C271419B6}"/>
            </c:ext>
          </c:extLst>
        </c:ser>
        <c:ser>
          <c:idx val="6"/>
          <c:order val="6"/>
          <c:tx>
            <c:strRef>
              <c:f>Sheet1!$H$1</c:f>
              <c:strCache>
                <c:ptCount val="1"/>
                <c:pt idx="0">
                  <c:v>Employee</c:v>
                </c:pt>
              </c:strCache>
            </c:strRef>
          </c:tx>
          <c:spPr>
            <a:solidFill>
              <a:srgbClr val="2F8F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Sheet1!$H$2:$H$7</c:f>
              <c:numCache>
                <c:formatCode>General</c:formatCode>
                <c:ptCount val="6"/>
                <c:pt idx="0">
                  <c:v>33</c:v>
                </c:pt>
                <c:pt idx="1">
                  <c:v>30</c:v>
                </c:pt>
                <c:pt idx="2">
                  <c:v>17</c:v>
                </c:pt>
                <c:pt idx="3">
                  <c:v>23</c:v>
                </c:pt>
                <c:pt idx="4">
                  <c:v>46</c:v>
                </c:pt>
                <c:pt idx="5">
                  <c:v>40</c:v>
                </c:pt>
              </c:numCache>
            </c:numRef>
          </c:val>
          <c:extLst>
            <c:ext xmlns:c16="http://schemas.microsoft.com/office/drawing/2014/chart" uri="{C3380CC4-5D6E-409C-BE32-E72D297353CC}">
              <c16:uniqueId val="{00000006-BFAD-4E93-B94C-848C271419B6}"/>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YTD mix (50,123 RN)</a:t>
            </a:r>
          </a:p>
        </c:rich>
      </c:tx>
      <c:overlay val="0"/>
    </c:title>
    <c:autoTitleDeleted val="0"/>
    <c:plotArea>
      <c:layout/>
      <c:doughnutChart>
        <c:varyColors val="1"/>
        <c:ser>
          <c:idx val="0"/>
          <c:order val="0"/>
          <c:tx>
            <c:strRef>
              <c:f>Sheet1!$B$1</c:f>
              <c:strCache>
                <c:ptCount val="1"/>
                <c:pt idx="0">
                  <c:v>YTD</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1279-4F19-93D3-ED11D50173E7}"/>
              </c:ext>
            </c:extLst>
          </c:dPt>
          <c:dPt>
            <c:idx val="1"/>
            <c:bubble3D val="0"/>
            <c:spPr>
              <a:solidFill>
                <a:srgbClr val="4A6FC4"/>
              </a:solidFill>
              <a:effectLst/>
            </c:spPr>
            <c:extLst>
              <c:ext xmlns:c16="http://schemas.microsoft.com/office/drawing/2014/chart" uri="{C3380CC4-5D6E-409C-BE32-E72D297353CC}">
                <c16:uniqueId val="{00000003-1279-4F19-93D3-ED11D50173E7}"/>
              </c:ext>
            </c:extLst>
          </c:dPt>
          <c:dPt>
            <c:idx val="2"/>
            <c:bubble3D val="0"/>
            <c:spPr>
              <a:solidFill>
                <a:srgbClr val="7FA4DC"/>
              </a:solidFill>
              <a:effectLst/>
            </c:spPr>
            <c:extLst>
              <c:ext xmlns:c16="http://schemas.microsoft.com/office/drawing/2014/chart" uri="{C3380CC4-5D6E-409C-BE32-E72D297353CC}">
                <c16:uniqueId val="{00000005-1279-4F19-93D3-ED11D50173E7}"/>
              </c:ext>
            </c:extLst>
          </c:dPt>
          <c:dPt>
            <c:idx val="3"/>
            <c:bubble3D val="0"/>
            <c:spPr>
              <a:solidFill>
                <a:srgbClr val="AFC6EC"/>
              </a:solidFill>
              <a:effectLst/>
            </c:spPr>
            <c:extLst>
              <c:ext xmlns:c16="http://schemas.microsoft.com/office/drawing/2014/chart" uri="{C3380CC4-5D6E-409C-BE32-E72D297353CC}">
                <c16:uniqueId val="{00000007-1279-4F19-93D3-ED11D50173E7}"/>
              </c:ext>
            </c:extLst>
          </c:dPt>
          <c:dPt>
            <c:idx val="4"/>
            <c:bubble3D val="0"/>
            <c:spPr>
              <a:solidFill>
                <a:srgbClr val="D9A441"/>
              </a:solidFill>
              <a:effectLst/>
            </c:spPr>
            <c:extLst>
              <c:ext xmlns:c16="http://schemas.microsoft.com/office/drawing/2014/chart" uri="{C3380CC4-5D6E-409C-BE32-E72D297353CC}">
                <c16:uniqueId val="{00000009-1279-4F19-93D3-ED11D50173E7}"/>
              </c:ext>
            </c:extLst>
          </c:dPt>
          <c:dPt>
            <c:idx val="5"/>
            <c:bubble3D val="0"/>
            <c:spPr>
              <a:solidFill>
                <a:srgbClr val="8A5A83"/>
              </a:solidFill>
              <a:effectLst/>
            </c:spPr>
            <c:extLst>
              <c:ext xmlns:c16="http://schemas.microsoft.com/office/drawing/2014/chart" uri="{C3380CC4-5D6E-409C-BE32-E72D297353CC}">
                <c16:uniqueId val="{0000000B-1279-4F19-93D3-ED11D50173E7}"/>
              </c:ext>
            </c:extLst>
          </c:dPt>
          <c:dPt>
            <c:idx val="6"/>
            <c:bubble3D val="0"/>
            <c:spPr>
              <a:solidFill>
                <a:srgbClr val="2F8F83"/>
              </a:solidFill>
              <a:effectLst/>
            </c:spPr>
            <c:extLst>
              <c:ext xmlns:c16="http://schemas.microsoft.com/office/drawing/2014/chart" uri="{C3380CC4-5D6E-409C-BE32-E72D297353CC}">
                <c16:uniqueId val="{0000000D-1279-4F19-93D3-ED11D50173E7}"/>
              </c:ext>
            </c:extLst>
          </c:dPt>
          <c:dLbls>
            <c:dLbl>
              <c:idx val="0"/>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1279-4F19-93D3-ED11D50173E7}"/>
                </c:ext>
              </c:extLst>
            </c:dLbl>
            <c:dLbl>
              <c:idx val="1"/>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1279-4F19-93D3-ED11D50173E7}"/>
                </c:ext>
              </c:extLst>
            </c:dLbl>
            <c:dLbl>
              <c:idx val="2"/>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1279-4F19-93D3-ED11D50173E7}"/>
                </c:ext>
              </c:extLst>
            </c:dLbl>
            <c:dLbl>
              <c:idx val="3"/>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1279-4F19-93D3-ED11D50173E7}"/>
                </c:ext>
              </c:extLst>
            </c:dLbl>
            <c:dLbl>
              <c:idx val="4"/>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1279-4F19-93D3-ED11D50173E7}"/>
                </c:ext>
              </c:extLst>
            </c:dLbl>
            <c:dLbl>
              <c:idx val="5"/>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1279-4F19-93D3-ED11D50173E7}"/>
                </c:ext>
              </c:extLst>
            </c:dLbl>
            <c:dLbl>
              <c:idx val="6"/>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D-1279-4F19-93D3-ED11D50173E7}"/>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Sheet1!$A$2:$A$8</c:f>
              <c:strCache>
                <c:ptCount val="7"/>
                <c:pt idx="0">
                  <c:v>Corporate SS</c:v>
                </c:pt>
                <c:pt idx="1">
                  <c:v>Corporate LS</c:v>
                </c:pt>
                <c:pt idx="2">
                  <c:v>Online</c:v>
                </c:pt>
                <c:pt idx="3">
                  <c:v>ASR</c:v>
                </c:pt>
                <c:pt idx="4">
                  <c:v>Wholesale</c:v>
                </c:pt>
                <c:pt idx="5">
                  <c:v>Corporate Group</c:v>
                </c:pt>
                <c:pt idx="6">
                  <c:v>Employee</c:v>
                </c:pt>
              </c:strCache>
            </c:strRef>
          </c:cat>
          <c:val>
            <c:numRef>
              <c:f>Sheet1!$B$2:$B$8</c:f>
              <c:numCache>
                <c:formatCode>General</c:formatCode>
                <c:ptCount val="7"/>
                <c:pt idx="0">
                  <c:v>5187</c:v>
                </c:pt>
                <c:pt idx="1">
                  <c:v>13096</c:v>
                </c:pt>
                <c:pt idx="2">
                  <c:v>16928</c:v>
                </c:pt>
                <c:pt idx="3">
                  <c:v>4536</c:v>
                </c:pt>
                <c:pt idx="4">
                  <c:v>8131</c:v>
                </c:pt>
                <c:pt idx="5">
                  <c:v>2056</c:v>
                </c:pt>
                <c:pt idx="6">
                  <c:v>189</c:v>
                </c:pt>
              </c:numCache>
            </c:numRef>
          </c:val>
          <c:extLst>
            <c:ext xmlns:c16="http://schemas.microsoft.com/office/drawing/2014/chart" uri="{C3380CC4-5D6E-409C-BE32-E72D297353CC}">
              <c16:uniqueId val="{0000000E-1279-4F19-93D3-ED11D50173E7}"/>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r"/>
      <c:overlay val="0"/>
      <c:txPr>
        <a:bodyPr/>
        <a:lstStyle/>
        <a:p>
          <a:pPr>
            <a:defRPr sz="95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E2761"/>
                </a:solidFill>
                <a:latin typeface="Calibri"/>
              </a:defRPr>
            </a:pPr>
            <a:r>
              <a:rPr lang="en-US" sz="1250" b="0" i="0" u="none" strike="noStrike">
                <a:solidFill>
                  <a:srgbClr val="1E2761"/>
                </a:solidFill>
                <a:latin typeface="Calibri"/>
              </a:rPr>
              <a:t>Monthly revenue (฿M)</a:t>
            </a:r>
          </a:p>
        </c:rich>
      </c:tx>
      <c:overlay val="0"/>
    </c:title>
    <c:autoTitleDeleted val="0"/>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37080363.420000002</c:v>
                </c:pt>
                <c:pt idx="1">
                  <c:v>43940128.82</c:v>
                </c:pt>
                <c:pt idx="2">
                  <c:v>36407936.200000003</c:v>
                </c:pt>
                <c:pt idx="3">
                  <c:v>37521347.82</c:v>
                </c:pt>
                <c:pt idx="4">
                  <c:v>28302837.649999999</c:v>
                </c:pt>
                <c:pt idx="5">
                  <c:v>37484972.880000003</c:v>
                </c:pt>
              </c:numCache>
            </c:numRef>
          </c:val>
          <c:extLst>
            <c:ext xmlns:c16="http://schemas.microsoft.com/office/drawing/2014/chart" uri="{C3380CC4-5D6E-409C-BE32-E72D297353CC}">
              <c16:uniqueId val="{00000000-87B2-4478-A710-453703850968}"/>
            </c:ext>
          </c:extLst>
        </c:ser>
        <c:ser>
          <c:idx val="1"/>
          <c:order val="1"/>
          <c:tx>
            <c:strRef>
              <c:f>Sheet1!$C$1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42691294.950000003</c:v>
                </c:pt>
                <c:pt idx="1">
                  <c:v>34251573.439999998</c:v>
                </c:pt>
                <c:pt idx="2">
                  <c:v>25843470.18</c:v>
                </c:pt>
                <c:pt idx="3">
                  <c:v>29043750.920000002</c:v>
                </c:pt>
                <c:pt idx="4">
                  <c:v>27716956.989999998</c:v>
                </c:pt>
                <c:pt idx="5">
                  <c:v>25848762.559999999</c:v>
                </c:pt>
              </c:numCache>
            </c:numRef>
          </c:val>
          <c:extLst>
            <c:ext xmlns:c16="http://schemas.microsoft.com/office/drawing/2014/chart" uri="{C3380CC4-5D6E-409C-BE32-E72D297353CC}">
              <c16:uniqueId val="{00000001-87B2-4478-A710-453703850968}"/>
            </c:ext>
          </c:extLst>
        </c:ser>
        <c:ser>
          <c:idx val="2"/>
          <c:order val="2"/>
          <c:tx>
            <c:strRef>
              <c:f>Sheet1!$D$1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35431726.369999997</c:v>
                </c:pt>
                <c:pt idx="1">
                  <c:v>38907552.450000003</c:v>
                </c:pt>
                <c:pt idx="2">
                  <c:v>30984315.649999999</c:v>
                </c:pt>
                <c:pt idx="3">
                  <c:v>26245238.559999999</c:v>
                </c:pt>
                <c:pt idx="4">
                  <c:v>23379075.129999999</c:v>
                </c:pt>
                <c:pt idx="5">
                  <c:v>24286103.100000001</c:v>
                </c:pt>
              </c:numCache>
            </c:numRef>
          </c:val>
          <c:extLst>
            <c:ext xmlns:c16="http://schemas.microsoft.com/office/drawing/2014/chart" uri="{C3380CC4-5D6E-409C-BE32-E72D297353CC}">
              <c16:uniqueId val="{00000002-87B2-4478-A710-453703850968}"/>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761"/>
                </a:solidFill>
                <a:latin typeface="Calibri"/>
              </a:defRPr>
            </a:pPr>
            <a:r>
              <a:rPr lang="en-US" sz="1200" b="0" i="0" u="none" strike="noStrike">
                <a:solidFill>
                  <a:srgbClr val="1E2761"/>
                </a:solidFill>
                <a:latin typeface="Calibri"/>
              </a:rPr>
              <a:t>Monthly RevPAR (THB) — actual vs budget vs 2025 vs 2024</a:t>
            </a:r>
          </a:p>
        </c:rich>
      </c:tx>
      <c:overlay val="0"/>
    </c:title>
    <c:autoTitleDeleted val="0"/>
    <c:plotArea>
      <c:layout/>
      <c:barChart>
        <c:barDir val="col"/>
        <c:grouping val="clustered"/>
        <c:varyColors val="0"/>
        <c:ser>
          <c:idx val="0"/>
          <c:order val="0"/>
          <c:tx>
            <c:strRef>
              <c:f>Sheet1!$B$1</c:f>
              <c:strCache>
                <c:ptCount val="1"/>
                <c:pt idx="0">
                  <c:v>RevPAR 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1461.17</c:v>
                </c:pt>
                <c:pt idx="1">
                  <c:v>1500.13</c:v>
                </c:pt>
                <c:pt idx="2">
                  <c:v>1132.05</c:v>
                </c:pt>
                <c:pt idx="3">
                  <c:v>731.09</c:v>
                </c:pt>
                <c:pt idx="4">
                  <c:v>878.94</c:v>
                </c:pt>
                <c:pt idx="5">
                  <c:v>755.55</c:v>
                </c:pt>
              </c:numCache>
            </c:numRef>
          </c:val>
          <c:extLst>
            <c:ext xmlns:c16="http://schemas.microsoft.com/office/drawing/2014/chart" uri="{C3380CC4-5D6E-409C-BE32-E72D297353CC}">
              <c16:uniqueId val="{00000000-FC1A-4E1D-9FCD-0CD06040DE7B}"/>
            </c:ext>
          </c:extLst>
        </c:ser>
        <c:dLbls>
          <c:showLegendKey val="0"/>
          <c:showVal val="0"/>
          <c:showCatName val="0"/>
          <c:showSerName val="0"/>
          <c:showPercent val="0"/>
          <c:showBubbleSize val="0"/>
        </c:dLbls>
        <c:gapWidth val="80"/>
        <c:axId val="2094734554"/>
        <c:axId val="2094734552"/>
      </c:barChart>
      <c:lineChart>
        <c:grouping val="standard"/>
        <c:varyColors val="0"/>
        <c:ser>
          <c:idx val="1"/>
          <c:order val="1"/>
          <c:tx>
            <c:strRef>
              <c:f>Sheet1!$C$1</c:f>
              <c:strCache>
                <c:ptCount val="1"/>
                <c:pt idx="0">
                  <c:v>Budget</c:v>
                </c:pt>
              </c:strCache>
            </c:strRef>
          </c:tx>
          <c:spPr>
            <a:ln w="31750" cap="flat">
              <a:solidFill>
                <a:srgbClr val="D9A441"/>
              </a:solidFill>
              <a:prstDash val="solid"/>
              <a:round/>
            </a:ln>
            <a:effectLst/>
          </c:spPr>
          <c:marker>
            <c:symbol val="circle"/>
            <c:size val="5"/>
            <c:spPr>
              <a:solidFill>
                <a:srgbClr val="AEB6C2"/>
              </a:solidFill>
              <a:ln w="9525" cap="flat">
                <a:solidFill>
                  <a:srgbClr val="D9A441"/>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1526.8151</c:v>
                </c:pt>
                <c:pt idx="1">
                  <c:v>1630.5147999999999</c:v>
                </c:pt>
                <c:pt idx="2">
                  <c:v>1103.7076</c:v>
                </c:pt>
                <c:pt idx="3">
                  <c:v>1152.0808</c:v>
                </c:pt>
                <c:pt idx="4">
                  <c:v>1024.3922</c:v>
                </c:pt>
                <c:pt idx="5">
                  <c:v>975.58159999999998</c:v>
                </c:pt>
              </c:numCache>
            </c:numRef>
          </c:val>
          <c:smooth val="0"/>
          <c:extLst>
            <c:ext xmlns:c16="http://schemas.microsoft.com/office/drawing/2014/chart" uri="{C3380CC4-5D6E-409C-BE32-E72D297353CC}">
              <c16:uniqueId val="{00000001-FC1A-4E1D-9FCD-0CD06040DE7B}"/>
            </c:ext>
          </c:extLst>
        </c:ser>
        <c:ser>
          <c:idx val="2"/>
          <c:order val="2"/>
          <c:tx>
            <c:strRef>
              <c:f>Sheet1!$D$1</c:f>
              <c:strCache>
                <c:ptCount val="1"/>
                <c:pt idx="0">
                  <c:v>2025</c:v>
                </c:pt>
              </c:strCache>
            </c:strRef>
          </c:tx>
          <c:spPr>
            <a:ln w="31750" cap="flat">
              <a:solidFill>
                <a:srgbClr val="AEB6C2"/>
              </a:solidFill>
              <a:prstDash val="solid"/>
              <a:round/>
            </a:ln>
            <a:effectLst/>
          </c:spPr>
          <c:marker>
            <c:symbol val="circle"/>
            <c:size val="5"/>
            <c:spPr>
              <a:solidFill>
                <a:srgbClr val="C9D6EE"/>
              </a:solidFill>
              <a:ln w="9525" cap="flat">
                <a:solidFill>
                  <a:srgbClr val="AEB6C2"/>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1587.0329999999999</c:v>
                </c:pt>
                <c:pt idx="1">
                  <c:v>1457.7360000000001</c:v>
                </c:pt>
                <c:pt idx="2">
                  <c:v>1049.8834999999999</c:v>
                </c:pt>
                <c:pt idx="3">
                  <c:v>1022.25</c:v>
                </c:pt>
                <c:pt idx="4">
                  <c:v>912.91200000000003</c:v>
                </c:pt>
                <c:pt idx="5">
                  <c:v>843.70489999999995</c:v>
                </c:pt>
              </c:numCache>
            </c:numRef>
          </c:val>
          <c:smooth val="0"/>
          <c:extLst>
            <c:ext xmlns:c16="http://schemas.microsoft.com/office/drawing/2014/chart" uri="{C3380CC4-5D6E-409C-BE32-E72D297353CC}">
              <c16:uniqueId val="{00000002-FC1A-4E1D-9FCD-0CD06040DE7B}"/>
            </c:ext>
          </c:extLst>
        </c:ser>
        <c:ser>
          <c:idx val="3"/>
          <c:order val="3"/>
          <c:tx>
            <c:strRef>
              <c:f>Sheet1!$E$1</c:f>
              <c:strCache>
                <c:ptCount val="1"/>
                <c:pt idx="0">
                  <c:v>2024</c:v>
                </c:pt>
              </c:strCache>
            </c:strRef>
          </c:tx>
          <c:spPr>
            <a:ln w="31750" cap="flat">
              <a:solidFill>
                <a:srgbClr val="C9D6EE"/>
              </a:solidFill>
              <a:prstDash val="solid"/>
              <a:round/>
            </a:ln>
            <a:effectLst/>
          </c:spPr>
          <c:marker>
            <c:symbol val="circle"/>
            <c:size val="5"/>
            <c:spPr>
              <a:solidFill>
                <a:srgbClr val="D9A441"/>
              </a:solidFill>
              <a:ln w="9525" cap="flat">
                <a:solidFill>
                  <a:srgbClr val="C9D6EE"/>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1011.4803000000001</c:v>
                </c:pt>
                <c:pt idx="1">
                  <c:v>1267.7425000000001</c:v>
                </c:pt>
                <c:pt idx="2">
                  <c:v>966.12109999999996</c:v>
                </c:pt>
                <c:pt idx="3">
                  <c:v>938.71799999999996</c:v>
                </c:pt>
                <c:pt idx="4">
                  <c:v>762.88589999999999</c:v>
                </c:pt>
                <c:pt idx="5">
                  <c:v>1017.228</c:v>
                </c:pt>
              </c:numCache>
            </c:numRef>
          </c:val>
          <c:smooth val="0"/>
          <c:extLst>
            <c:ext xmlns:c16="http://schemas.microsoft.com/office/drawing/2014/chart" uri="{C3380CC4-5D6E-409C-BE32-E72D297353CC}">
              <c16:uniqueId val="{00000003-FC1A-4E1D-9FCD-0CD06040DE7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H1 (Jan–Jun)</a:t>
            </a:r>
          </a:p>
        </c:rich>
      </c:tx>
      <c:overlay val="0"/>
    </c:title>
    <c:autoTitleDeleted val="0"/>
    <c:plotArea>
      <c:layout/>
      <c:barChart>
        <c:barDir val="bar"/>
        <c:grouping val="clustered"/>
        <c:varyColors val="0"/>
        <c:ser>
          <c:idx val="0"/>
          <c:order val="0"/>
          <c:tx>
            <c:strRef>
              <c:f>Sheet1!$B$1</c:f>
              <c:strCache>
                <c:ptCount val="1"/>
                <c:pt idx="0">
                  <c:v>2025 H1</c:v>
                </c:pt>
              </c:strCache>
            </c:strRef>
          </c:tx>
          <c:spPr>
            <a:solidFill>
              <a:srgbClr val="7FA4DC"/>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Indonesia</c:v>
                </c:pt>
                <c:pt idx="2">
                  <c:v>Singapore</c:v>
                </c:pt>
                <c:pt idx="3">
                  <c:v>Malaysia</c:v>
                </c:pt>
                <c:pt idx="4">
                  <c:v>Taiwan</c:v>
                </c:pt>
                <c:pt idx="5">
                  <c:v>Thailand</c:v>
                </c:pt>
                <c:pt idx="6">
                  <c:v>USA</c:v>
                </c:pt>
                <c:pt idx="7">
                  <c:v>Japan</c:v>
                </c:pt>
                <c:pt idx="8">
                  <c:v>UK</c:v>
                </c:pt>
                <c:pt idx="9">
                  <c:v>Germany</c:v>
                </c:pt>
              </c:strCache>
            </c:strRef>
          </c:cat>
          <c:val>
            <c:numRef>
              <c:f>Sheet1!$B$2:$B$11</c:f>
              <c:numCache>
                <c:formatCode>General</c:formatCode>
                <c:ptCount val="10"/>
                <c:pt idx="0">
                  <c:v>4642</c:v>
                </c:pt>
                <c:pt idx="1">
                  <c:v>1017</c:v>
                </c:pt>
                <c:pt idx="2">
                  <c:v>2762</c:v>
                </c:pt>
                <c:pt idx="3">
                  <c:v>2138</c:v>
                </c:pt>
                <c:pt idx="4">
                  <c:v>1200</c:v>
                </c:pt>
                <c:pt idx="5">
                  <c:v>1873</c:v>
                </c:pt>
                <c:pt idx="6">
                  <c:v>1999</c:v>
                </c:pt>
                <c:pt idx="7">
                  <c:v>926</c:v>
                </c:pt>
                <c:pt idx="8">
                  <c:v>1201</c:v>
                </c:pt>
                <c:pt idx="9">
                  <c:v>740</c:v>
                </c:pt>
              </c:numCache>
            </c:numRef>
          </c:val>
          <c:extLst>
            <c:ext xmlns:c16="http://schemas.microsoft.com/office/drawing/2014/chart" uri="{C3380CC4-5D6E-409C-BE32-E72D297353CC}">
              <c16:uniqueId val="{00000000-4403-4B99-ABE6-54DA220BB51C}"/>
            </c:ext>
          </c:extLst>
        </c:ser>
        <c:ser>
          <c:idx val="1"/>
          <c:order val="1"/>
          <c:tx>
            <c:strRef>
              <c:f>Sheet1!$C$1</c:f>
              <c:strCache>
                <c:ptCount val="1"/>
                <c:pt idx="0">
                  <c:v>2026 H1</c:v>
                </c:pt>
              </c:strCache>
            </c:strRef>
          </c:tx>
          <c:spPr>
            <a:solidFill>
              <a:srgbClr val="1E2761"/>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Indonesia</c:v>
                </c:pt>
                <c:pt idx="2">
                  <c:v>Singapore</c:v>
                </c:pt>
                <c:pt idx="3">
                  <c:v>Malaysia</c:v>
                </c:pt>
                <c:pt idx="4">
                  <c:v>Taiwan</c:v>
                </c:pt>
                <c:pt idx="5">
                  <c:v>Thailand</c:v>
                </c:pt>
                <c:pt idx="6">
                  <c:v>USA</c:v>
                </c:pt>
                <c:pt idx="7">
                  <c:v>Japan</c:v>
                </c:pt>
                <c:pt idx="8">
                  <c:v>UK</c:v>
                </c:pt>
                <c:pt idx="9">
                  <c:v>Germany</c:v>
                </c:pt>
              </c:strCache>
            </c:strRef>
          </c:cat>
          <c:val>
            <c:numRef>
              <c:f>Sheet1!$C$2:$C$11</c:f>
              <c:numCache>
                <c:formatCode>General</c:formatCode>
                <c:ptCount val="10"/>
                <c:pt idx="0">
                  <c:v>5954</c:v>
                </c:pt>
                <c:pt idx="1">
                  <c:v>3034</c:v>
                </c:pt>
                <c:pt idx="2">
                  <c:v>2336</c:v>
                </c:pt>
                <c:pt idx="3">
                  <c:v>2120</c:v>
                </c:pt>
                <c:pt idx="4">
                  <c:v>1524</c:v>
                </c:pt>
                <c:pt idx="5">
                  <c:v>1463</c:v>
                </c:pt>
                <c:pt idx="6">
                  <c:v>1440</c:v>
                </c:pt>
                <c:pt idx="7">
                  <c:v>1038</c:v>
                </c:pt>
                <c:pt idx="8">
                  <c:v>809</c:v>
                </c:pt>
                <c:pt idx="9">
                  <c:v>741</c:v>
                </c:pt>
              </c:numCache>
            </c:numRef>
          </c:val>
          <c:extLst>
            <c:ext xmlns:c16="http://schemas.microsoft.com/office/drawing/2014/chart" uri="{C3380CC4-5D6E-409C-BE32-E72D297353CC}">
              <c16:uniqueId val="{00000001-4403-4B99-ABE6-54DA220BB51C}"/>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5E8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per month (stacked)</a:t>
            </a:r>
          </a:p>
        </c:rich>
      </c:tx>
      <c:overlay val="0"/>
    </c:title>
    <c:autoTitleDeleted val="0"/>
    <c:plotArea>
      <c:layout/>
      <c:barChart>
        <c:barDir val="col"/>
        <c:grouping val="stacked"/>
        <c:varyColors val="0"/>
        <c:ser>
          <c:idx val="0"/>
          <c:order val="0"/>
          <c:tx>
            <c:strRef>
              <c:f>Sheet1!$B$1</c:f>
              <c:strCache>
                <c:ptCount val="1"/>
                <c:pt idx="0">
                  <c:v>Corporate SS</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102</c:v>
                </c:pt>
                <c:pt idx="1">
                  <c:v>158</c:v>
                </c:pt>
                <c:pt idx="2">
                  <c:v>203</c:v>
                </c:pt>
                <c:pt idx="3">
                  <c:v>194</c:v>
                </c:pt>
                <c:pt idx="4">
                  <c:v>176</c:v>
                </c:pt>
                <c:pt idx="5">
                  <c:v>67</c:v>
                </c:pt>
              </c:numCache>
            </c:numRef>
          </c:val>
          <c:extLst>
            <c:ext xmlns:c16="http://schemas.microsoft.com/office/drawing/2014/chart" uri="{C3380CC4-5D6E-409C-BE32-E72D297353CC}">
              <c16:uniqueId val="{00000000-9DE4-4447-8389-11EEF2505625}"/>
            </c:ext>
          </c:extLst>
        </c:ser>
        <c:ser>
          <c:idx val="1"/>
          <c:order val="1"/>
          <c:tx>
            <c:strRef>
              <c:f>Sheet1!$C$1</c:f>
              <c:strCache>
                <c:ptCount val="1"/>
                <c:pt idx="0">
                  <c:v>Corporate LS</c:v>
                </c:pt>
              </c:strCache>
            </c:strRef>
          </c:tx>
          <c:spPr>
            <a:solidFill>
              <a:srgbClr val="4A6FC4"/>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31</c:v>
                </c:pt>
                <c:pt idx="1">
                  <c:v>28</c:v>
                </c:pt>
                <c:pt idx="2">
                  <c:v>31</c:v>
                </c:pt>
                <c:pt idx="3">
                  <c:v>30</c:v>
                </c:pt>
                <c:pt idx="4">
                  <c:v>31</c:v>
                </c:pt>
                <c:pt idx="5">
                  <c:v>30</c:v>
                </c:pt>
              </c:numCache>
            </c:numRef>
          </c:val>
          <c:extLst>
            <c:ext xmlns:c16="http://schemas.microsoft.com/office/drawing/2014/chart" uri="{C3380CC4-5D6E-409C-BE32-E72D297353CC}">
              <c16:uniqueId val="{00000001-9DE4-4447-8389-11EEF2505625}"/>
            </c:ext>
          </c:extLst>
        </c:ser>
        <c:ser>
          <c:idx val="2"/>
          <c:order val="2"/>
          <c:tx>
            <c:strRef>
              <c:f>Sheet1!$D$1</c:f>
              <c:strCache>
                <c:ptCount val="1"/>
                <c:pt idx="0">
                  <c:v>Online</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3853</c:v>
                </c:pt>
                <c:pt idx="1">
                  <c:v>3409</c:v>
                </c:pt>
                <c:pt idx="2">
                  <c:v>4095</c:v>
                </c:pt>
                <c:pt idx="3">
                  <c:v>1641</c:v>
                </c:pt>
                <c:pt idx="4">
                  <c:v>2723</c:v>
                </c:pt>
                <c:pt idx="5">
                  <c:v>2549</c:v>
                </c:pt>
              </c:numCache>
            </c:numRef>
          </c:val>
          <c:extLst>
            <c:ext xmlns:c16="http://schemas.microsoft.com/office/drawing/2014/chart" uri="{C3380CC4-5D6E-409C-BE32-E72D297353CC}">
              <c16:uniqueId val="{00000002-9DE4-4447-8389-11EEF2505625}"/>
            </c:ext>
          </c:extLst>
        </c:ser>
        <c:ser>
          <c:idx val="3"/>
          <c:order val="3"/>
          <c:tx>
            <c:strRef>
              <c:f>Sheet1!$E$1</c:f>
              <c:strCache>
                <c:ptCount val="1"/>
                <c:pt idx="0">
                  <c:v>ASR</c:v>
                </c:pt>
              </c:strCache>
            </c:strRef>
          </c:tx>
          <c:spPr>
            <a:solidFill>
              <a:srgbClr val="AFC6E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610</c:v>
                </c:pt>
                <c:pt idx="1">
                  <c:v>559</c:v>
                </c:pt>
                <c:pt idx="2">
                  <c:v>438</c:v>
                </c:pt>
                <c:pt idx="3">
                  <c:v>394</c:v>
                </c:pt>
                <c:pt idx="4">
                  <c:v>622</c:v>
                </c:pt>
                <c:pt idx="5">
                  <c:v>614</c:v>
                </c:pt>
              </c:numCache>
            </c:numRef>
          </c:val>
          <c:extLst>
            <c:ext xmlns:c16="http://schemas.microsoft.com/office/drawing/2014/chart" uri="{C3380CC4-5D6E-409C-BE32-E72D297353CC}">
              <c16:uniqueId val="{00000003-9DE4-4447-8389-11EEF2505625}"/>
            </c:ext>
          </c:extLst>
        </c:ser>
        <c:ser>
          <c:idx val="4"/>
          <c:order val="4"/>
          <c:tx>
            <c:strRef>
              <c:f>Sheet1!$F$1</c:f>
              <c:strCache>
                <c:ptCount val="1"/>
                <c:pt idx="0">
                  <c:v>Wholesale</c:v>
                </c:pt>
              </c:strCache>
            </c:strRef>
          </c:tx>
          <c:spPr>
            <a:solidFill>
              <a:srgbClr val="D9A44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Sheet1!$F$2:$F$7</c:f>
              <c:numCache>
                <c:formatCode>General</c:formatCode>
                <c:ptCount val="6"/>
                <c:pt idx="0">
                  <c:v>1024</c:v>
                </c:pt>
                <c:pt idx="1">
                  <c:v>1021</c:v>
                </c:pt>
                <c:pt idx="2">
                  <c:v>558</c:v>
                </c:pt>
                <c:pt idx="3">
                  <c:v>689</c:v>
                </c:pt>
                <c:pt idx="4">
                  <c:v>874</c:v>
                </c:pt>
                <c:pt idx="5">
                  <c:v>799</c:v>
                </c:pt>
              </c:numCache>
            </c:numRef>
          </c:val>
          <c:extLst>
            <c:ext xmlns:c16="http://schemas.microsoft.com/office/drawing/2014/chart" uri="{C3380CC4-5D6E-409C-BE32-E72D297353CC}">
              <c16:uniqueId val="{00000004-9DE4-4447-8389-11EEF2505625}"/>
            </c:ext>
          </c:extLst>
        </c:ser>
        <c:ser>
          <c:idx val="5"/>
          <c:order val="5"/>
          <c:tx>
            <c:strRef>
              <c:f>Sheet1!$G$1</c:f>
              <c:strCache>
                <c:ptCount val="1"/>
                <c:pt idx="0">
                  <c:v>Corporate Group</c:v>
                </c:pt>
              </c:strCache>
            </c:strRef>
          </c:tx>
          <c:spPr>
            <a:solidFill>
              <a:srgbClr val="8A5A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Sheet1!$G$2:$G$7</c:f>
              <c:numCache>
                <c:formatCode>General</c:formatCode>
                <c:ptCount val="6"/>
                <c:pt idx="0">
                  <c:v>0</c:v>
                </c:pt>
                <c:pt idx="1">
                  <c:v>0</c:v>
                </c:pt>
                <c:pt idx="2">
                  <c:v>0</c:v>
                </c:pt>
                <c:pt idx="3">
                  <c:v>0</c:v>
                </c:pt>
                <c:pt idx="4">
                  <c:v>43</c:v>
                </c:pt>
                <c:pt idx="5">
                  <c:v>0</c:v>
                </c:pt>
              </c:numCache>
            </c:numRef>
          </c:val>
          <c:extLst>
            <c:ext xmlns:c16="http://schemas.microsoft.com/office/drawing/2014/chart" uri="{C3380CC4-5D6E-409C-BE32-E72D297353CC}">
              <c16:uniqueId val="{00000005-9DE4-4447-8389-11EEF2505625}"/>
            </c:ext>
          </c:extLst>
        </c:ser>
        <c:ser>
          <c:idx val="6"/>
          <c:order val="6"/>
          <c:tx>
            <c:strRef>
              <c:f>Sheet1!$H$1</c:f>
              <c:strCache>
                <c:ptCount val="1"/>
                <c:pt idx="0">
                  <c:v>Employee</c:v>
                </c:pt>
              </c:strCache>
            </c:strRef>
          </c:tx>
          <c:spPr>
            <a:solidFill>
              <a:srgbClr val="2F8F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Sheet1!$H$2:$H$7</c:f>
              <c:numCache>
                <c:formatCode>General</c:formatCode>
                <c:ptCount val="6"/>
                <c:pt idx="0">
                  <c:v>19</c:v>
                </c:pt>
                <c:pt idx="1">
                  <c:v>17</c:v>
                </c:pt>
                <c:pt idx="2">
                  <c:v>11</c:v>
                </c:pt>
                <c:pt idx="3">
                  <c:v>17</c:v>
                </c:pt>
                <c:pt idx="4">
                  <c:v>25</c:v>
                </c:pt>
                <c:pt idx="5">
                  <c:v>29</c:v>
                </c:pt>
              </c:numCache>
            </c:numRef>
          </c:val>
          <c:extLst>
            <c:ext xmlns:c16="http://schemas.microsoft.com/office/drawing/2014/chart" uri="{C3380CC4-5D6E-409C-BE32-E72D297353CC}">
              <c16:uniqueId val="{00000006-9DE4-4447-8389-11EEF2505625}"/>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YTD mix (27,714 RN)</a:t>
            </a:r>
          </a:p>
        </c:rich>
      </c:tx>
      <c:overlay val="0"/>
    </c:title>
    <c:autoTitleDeleted val="0"/>
    <c:plotArea>
      <c:layout/>
      <c:doughnutChart>
        <c:varyColors val="1"/>
        <c:ser>
          <c:idx val="0"/>
          <c:order val="0"/>
          <c:tx>
            <c:strRef>
              <c:f>Sheet1!$B$1</c:f>
              <c:strCache>
                <c:ptCount val="1"/>
                <c:pt idx="0">
                  <c:v>YTD</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7462-47FD-9E01-464BE07F3DBD}"/>
              </c:ext>
            </c:extLst>
          </c:dPt>
          <c:dPt>
            <c:idx val="1"/>
            <c:bubble3D val="0"/>
            <c:spPr>
              <a:solidFill>
                <a:srgbClr val="4A6FC4"/>
              </a:solidFill>
              <a:effectLst/>
            </c:spPr>
            <c:extLst>
              <c:ext xmlns:c16="http://schemas.microsoft.com/office/drawing/2014/chart" uri="{C3380CC4-5D6E-409C-BE32-E72D297353CC}">
                <c16:uniqueId val="{00000003-7462-47FD-9E01-464BE07F3DBD}"/>
              </c:ext>
            </c:extLst>
          </c:dPt>
          <c:dPt>
            <c:idx val="2"/>
            <c:bubble3D val="0"/>
            <c:spPr>
              <a:solidFill>
                <a:srgbClr val="7FA4DC"/>
              </a:solidFill>
              <a:effectLst/>
            </c:spPr>
            <c:extLst>
              <c:ext xmlns:c16="http://schemas.microsoft.com/office/drawing/2014/chart" uri="{C3380CC4-5D6E-409C-BE32-E72D297353CC}">
                <c16:uniqueId val="{00000005-7462-47FD-9E01-464BE07F3DBD}"/>
              </c:ext>
            </c:extLst>
          </c:dPt>
          <c:dPt>
            <c:idx val="3"/>
            <c:bubble3D val="0"/>
            <c:spPr>
              <a:solidFill>
                <a:srgbClr val="AFC6EC"/>
              </a:solidFill>
              <a:effectLst/>
            </c:spPr>
            <c:extLst>
              <c:ext xmlns:c16="http://schemas.microsoft.com/office/drawing/2014/chart" uri="{C3380CC4-5D6E-409C-BE32-E72D297353CC}">
                <c16:uniqueId val="{00000007-7462-47FD-9E01-464BE07F3DBD}"/>
              </c:ext>
            </c:extLst>
          </c:dPt>
          <c:dPt>
            <c:idx val="4"/>
            <c:bubble3D val="0"/>
            <c:spPr>
              <a:solidFill>
                <a:srgbClr val="D9A441"/>
              </a:solidFill>
              <a:effectLst/>
            </c:spPr>
            <c:extLst>
              <c:ext xmlns:c16="http://schemas.microsoft.com/office/drawing/2014/chart" uri="{C3380CC4-5D6E-409C-BE32-E72D297353CC}">
                <c16:uniqueId val="{00000009-7462-47FD-9E01-464BE07F3DBD}"/>
              </c:ext>
            </c:extLst>
          </c:dPt>
          <c:dPt>
            <c:idx val="5"/>
            <c:bubble3D val="0"/>
            <c:spPr>
              <a:solidFill>
                <a:srgbClr val="8A5A83"/>
              </a:solidFill>
              <a:effectLst/>
            </c:spPr>
            <c:extLst>
              <c:ext xmlns:c16="http://schemas.microsoft.com/office/drawing/2014/chart" uri="{C3380CC4-5D6E-409C-BE32-E72D297353CC}">
                <c16:uniqueId val="{0000000B-7462-47FD-9E01-464BE07F3DBD}"/>
              </c:ext>
            </c:extLst>
          </c:dPt>
          <c:dPt>
            <c:idx val="6"/>
            <c:bubble3D val="0"/>
            <c:spPr>
              <a:solidFill>
                <a:srgbClr val="2F8F83"/>
              </a:solidFill>
              <a:effectLst/>
            </c:spPr>
            <c:extLst>
              <c:ext xmlns:c16="http://schemas.microsoft.com/office/drawing/2014/chart" uri="{C3380CC4-5D6E-409C-BE32-E72D297353CC}">
                <c16:uniqueId val="{0000000D-7462-47FD-9E01-464BE07F3DBD}"/>
              </c:ext>
            </c:extLst>
          </c:dPt>
          <c:dLbls>
            <c:dLbl>
              <c:idx val="0"/>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7462-47FD-9E01-464BE07F3DBD}"/>
                </c:ext>
              </c:extLst>
            </c:dLbl>
            <c:dLbl>
              <c:idx val="1"/>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7462-47FD-9E01-464BE07F3DBD}"/>
                </c:ext>
              </c:extLst>
            </c:dLbl>
            <c:dLbl>
              <c:idx val="2"/>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7462-47FD-9E01-464BE07F3DBD}"/>
                </c:ext>
              </c:extLst>
            </c:dLbl>
            <c:dLbl>
              <c:idx val="3"/>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7462-47FD-9E01-464BE07F3DBD}"/>
                </c:ext>
              </c:extLst>
            </c:dLbl>
            <c:dLbl>
              <c:idx val="4"/>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7462-47FD-9E01-464BE07F3DBD}"/>
                </c:ext>
              </c:extLst>
            </c:dLbl>
            <c:dLbl>
              <c:idx val="5"/>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7462-47FD-9E01-464BE07F3DBD}"/>
                </c:ext>
              </c:extLst>
            </c:dLbl>
            <c:dLbl>
              <c:idx val="6"/>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D-7462-47FD-9E01-464BE07F3DBD}"/>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Sheet1!$A$2:$A$8</c:f>
              <c:strCache>
                <c:ptCount val="7"/>
                <c:pt idx="0">
                  <c:v>Corporate SS</c:v>
                </c:pt>
                <c:pt idx="1">
                  <c:v>Corporate LS</c:v>
                </c:pt>
                <c:pt idx="2">
                  <c:v>Online</c:v>
                </c:pt>
                <c:pt idx="3">
                  <c:v>ASR</c:v>
                </c:pt>
                <c:pt idx="4">
                  <c:v>Wholesale</c:v>
                </c:pt>
                <c:pt idx="5">
                  <c:v>Corporate Group</c:v>
                </c:pt>
                <c:pt idx="6">
                  <c:v>Employee</c:v>
                </c:pt>
              </c:strCache>
            </c:strRef>
          </c:cat>
          <c:val>
            <c:numRef>
              <c:f>Sheet1!$B$2:$B$8</c:f>
              <c:numCache>
                <c:formatCode>General</c:formatCode>
                <c:ptCount val="7"/>
                <c:pt idx="0">
                  <c:v>900</c:v>
                </c:pt>
                <c:pt idx="1">
                  <c:v>181</c:v>
                </c:pt>
                <c:pt idx="2">
                  <c:v>18270</c:v>
                </c:pt>
                <c:pt idx="3">
                  <c:v>3237</c:v>
                </c:pt>
                <c:pt idx="4">
                  <c:v>4965</c:v>
                </c:pt>
                <c:pt idx="5">
                  <c:v>43</c:v>
                </c:pt>
                <c:pt idx="6">
                  <c:v>118</c:v>
                </c:pt>
              </c:numCache>
            </c:numRef>
          </c:val>
          <c:extLst>
            <c:ext xmlns:c16="http://schemas.microsoft.com/office/drawing/2014/chart" uri="{C3380CC4-5D6E-409C-BE32-E72D297353CC}">
              <c16:uniqueId val="{0000000E-7462-47FD-9E01-464BE07F3DBD}"/>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r"/>
      <c:overlay val="0"/>
      <c:txPr>
        <a:bodyPr/>
        <a:lstStyle/>
        <a:p>
          <a:pPr>
            <a:defRPr sz="95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E2761"/>
                </a:solidFill>
                <a:latin typeface="Calibri"/>
              </a:defRPr>
            </a:pPr>
            <a:r>
              <a:rPr lang="en-US" sz="1250" b="0" i="0" u="none" strike="noStrike">
                <a:solidFill>
                  <a:srgbClr val="1E2761"/>
                </a:solidFill>
                <a:latin typeface="Calibri"/>
              </a:rPr>
              <a:t>Monthly revenue (฿M)</a:t>
            </a:r>
          </a:p>
        </c:rich>
      </c:tx>
      <c:overlay val="0"/>
    </c:title>
    <c:autoTitleDeleted val="0"/>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6277584.4800000004</c:v>
                </c:pt>
                <c:pt idx="1">
                  <c:v>7331522.8399999999</c:v>
                </c:pt>
                <c:pt idx="2">
                  <c:v>6018438.3700000001</c:v>
                </c:pt>
                <c:pt idx="3">
                  <c:v>5676589.5700000003</c:v>
                </c:pt>
                <c:pt idx="4">
                  <c:v>4792394.21</c:v>
                </c:pt>
                <c:pt idx="5">
                  <c:v>6131005.75</c:v>
                </c:pt>
              </c:numCache>
            </c:numRef>
          </c:val>
          <c:extLst>
            <c:ext xmlns:c16="http://schemas.microsoft.com/office/drawing/2014/chart" uri="{C3380CC4-5D6E-409C-BE32-E72D297353CC}">
              <c16:uniqueId val="{00000000-B8A9-4199-B237-407A0327171C}"/>
            </c:ext>
          </c:extLst>
        </c:ser>
        <c:ser>
          <c:idx val="1"/>
          <c:order val="1"/>
          <c:tx>
            <c:strRef>
              <c:f>Sheet1!$C$1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10057547.08</c:v>
                </c:pt>
                <c:pt idx="1">
                  <c:v>8360412.3399999999</c:v>
                </c:pt>
                <c:pt idx="2">
                  <c:v>6748527.7300000004</c:v>
                </c:pt>
                <c:pt idx="3">
                  <c:v>6301518.4400000004</c:v>
                </c:pt>
                <c:pt idx="4">
                  <c:v>5674281.3799999999</c:v>
                </c:pt>
                <c:pt idx="5">
                  <c:v>5270669.6500000004</c:v>
                </c:pt>
              </c:numCache>
            </c:numRef>
          </c:val>
          <c:extLst>
            <c:ext xmlns:c16="http://schemas.microsoft.com/office/drawing/2014/chart" uri="{C3380CC4-5D6E-409C-BE32-E72D297353CC}">
              <c16:uniqueId val="{00000001-B8A9-4199-B237-407A0327171C}"/>
            </c:ext>
          </c:extLst>
        </c:ser>
        <c:ser>
          <c:idx val="2"/>
          <c:order val="2"/>
          <c:tx>
            <c:strRef>
              <c:f>Sheet1!$D$1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9283927.7299999986</c:v>
                </c:pt>
                <c:pt idx="1">
                  <c:v>8589919.6899999995</c:v>
                </c:pt>
                <c:pt idx="2">
                  <c:v>7238468.9199999999</c:v>
                </c:pt>
                <c:pt idx="3">
                  <c:v>4493751.3</c:v>
                </c:pt>
                <c:pt idx="4">
                  <c:v>5625446.3199999994</c:v>
                </c:pt>
                <c:pt idx="5">
                  <c:v>4727539.0999999996</c:v>
                </c:pt>
              </c:numCache>
            </c:numRef>
          </c:val>
          <c:extLst>
            <c:ext xmlns:c16="http://schemas.microsoft.com/office/drawing/2014/chart" uri="{C3380CC4-5D6E-409C-BE32-E72D297353CC}">
              <c16:uniqueId val="{00000002-B8A9-4199-B237-407A0327171C}"/>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E2761"/>
                </a:solidFill>
                <a:latin typeface="Calibri"/>
              </a:defRPr>
            </a:pPr>
            <a:r>
              <a:rPr lang="en-US" sz="1200" b="0" i="0" u="none" strike="noStrike">
                <a:solidFill>
                  <a:srgbClr val="1E2761"/>
                </a:solidFill>
                <a:latin typeface="Calibri"/>
              </a:rPr>
              <a:t>Monthly RevPAR (THB) — actual vs budget vs 2025 vs 2024</a:t>
            </a:r>
          </a:p>
        </c:rich>
      </c:tx>
      <c:overlay val="0"/>
    </c:title>
    <c:autoTitleDeleted val="0"/>
    <c:plotArea>
      <c:layout/>
      <c:barChart>
        <c:barDir val="col"/>
        <c:grouping val="clustered"/>
        <c:varyColors val="0"/>
        <c:ser>
          <c:idx val="0"/>
          <c:order val="0"/>
          <c:tx>
            <c:strRef>
              <c:f>Sheet1!$B$1</c:f>
              <c:strCache>
                <c:ptCount val="1"/>
                <c:pt idx="0">
                  <c:v>RevPAR 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3578.97</c:v>
                </c:pt>
                <c:pt idx="1">
                  <c:v>3506.15</c:v>
                </c:pt>
                <c:pt idx="2">
                  <c:v>2721.3</c:v>
                </c:pt>
                <c:pt idx="3">
                  <c:v>2574.4</c:v>
                </c:pt>
                <c:pt idx="4">
                  <c:v>2151.66</c:v>
                </c:pt>
                <c:pt idx="5">
                  <c:v>2109.96</c:v>
                </c:pt>
              </c:numCache>
            </c:numRef>
          </c:val>
          <c:extLst>
            <c:ext xmlns:c16="http://schemas.microsoft.com/office/drawing/2014/chart" uri="{C3380CC4-5D6E-409C-BE32-E72D297353CC}">
              <c16:uniqueId val="{00000000-EDC1-4A92-9335-F120C8A9FA80}"/>
            </c:ext>
          </c:extLst>
        </c:ser>
        <c:dLbls>
          <c:showLegendKey val="0"/>
          <c:showVal val="0"/>
          <c:showCatName val="0"/>
          <c:showSerName val="0"/>
          <c:showPercent val="0"/>
          <c:showBubbleSize val="0"/>
        </c:dLbls>
        <c:gapWidth val="80"/>
        <c:axId val="2094734554"/>
        <c:axId val="2094734552"/>
      </c:barChart>
      <c:lineChart>
        <c:grouping val="standard"/>
        <c:varyColors val="0"/>
        <c:ser>
          <c:idx val="1"/>
          <c:order val="1"/>
          <c:tx>
            <c:strRef>
              <c:f>Sheet1!$C$1</c:f>
              <c:strCache>
                <c:ptCount val="1"/>
                <c:pt idx="0">
                  <c:v>Budget</c:v>
                </c:pt>
              </c:strCache>
            </c:strRef>
          </c:tx>
          <c:spPr>
            <a:ln w="31750" cap="flat">
              <a:solidFill>
                <a:srgbClr val="D9A441"/>
              </a:solidFill>
              <a:prstDash val="solid"/>
              <a:round/>
            </a:ln>
            <a:effectLst/>
          </c:spPr>
          <c:marker>
            <c:symbol val="circle"/>
            <c:size val="5"/>
            <c:spPr>
              <a:solidFill>
                <a:srgbClr val="AEB6C2"/>
              </a:solidFill>
              <a:ln w="9525" cap="flat">
                <a:solidFill>
                  <a:srgbClr val="D9A441"/>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3433.4403000000002</c:v>
                </c:pt>
                <c:pt idx="1">
                  <c:v>3782.0533</c:v>
                </c:pt>
                <c:pt idx="2">
                  <c:v>2637.0587</c:v>
                </c:pt>
                <c:pt idx="3">
                  <c:v>2920.6149</c:v>
                </c:pt>
                <c:pt idx="4">
                  <c:v>2348.8998000000001</c:v>
                </c:pt>
                <c:pt idx="5">
                  <c:v>2139.5412000000001</c:v>
                </c:pt>
              </c:numCache>
            </c:numRef>
          </c:val>
          <c:smooth val="0"/>
          <c:extLst>
            <c:ext xmlns:c16="http://schemas.microsoft.com/office/drawing/2014/chart" uri="{C3380CC4-5D6E-409C-BE32-E72D297353CC}">
              <c16:uniqueId val="{00000001-EDC1-4A92-9335-F120C8A9FA80}"/>
            </c:ext>
          </c:extLst>
        </c:ser>
        <c:ser>
          <c:idx val="2"/>
          <c:order val="2"/>
          <c:tx>
            <c:strRef>
              <c:f>Sheet1!$D$1</c:f>
              <c:strCache>
                <c:ptCount val="1"/>
                <c:pt idx="0">
                  <c:v>2025</c:v>
                </c:pt>
              </c:strCache>
            </c:strRef>
          </c:tx>
          <c:spPr>
            <a:ln w="31750" cap="flat">
              <a:solidFill>
                <a:srgbClr val="AEB6C2"/>
              </a:solidFill>
              <a:prstDash val="solid"/>
              <a:round/>
            </a:ln>
            <a:effectLst/>
          </c:spPr>
          <c:marker>
            <c:symbol val="circle"/>
            <c:size val="5"/>
            <c:spPr>
              <a:solidFill>
                <a:srgbClr val="C9D6EE"/>
              </a:solidFill>
              <a:ln w="9525" cap="flat">
                <a:solidFill>
                  <a:srgbClr val="AEB6C2"/>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3862.6219999999998</c:v>
                </c:pt>
                <c:pt idx="1">
                  <c:v>3511.806</c:v>
                </c:pt>
                <c:pt idx="2">
                  <c:v>2456.1851999999999</c:v>
                </c:pt>
                <c:pt idx="3">
                  <c:v>2709.7</c:v>
                </c:pt>
                <c:pt idx="4">
                  <c:v>2156.8049999999998</c:v>
                </c:pt>
                <c:pt idx="5">
                  <c:v>1908.9133999999999</c:v>
                </c:pt>
              </c:numCache>
            </c:numRef>
          </c:val>
          <c:smooth val="0"/>
          <c:extLst>
            <c:ext xmlns:c16="http://schemas.microsoft.com/office/drawing/2014/chart" uri="{C3380CC4-5D6E-409C-BE32-E72D297353CC}">
              <c16:uniqueId val="{00000002-EDC1-4A92-9335-F120C8A9FA80}"/>
            </c:ext>
          </c:extLst>
        </c:ser>
        <c:ser>
          <c:idx val="3"/>
          <c:order val="3"/>
          <c:tx>
            <c:strRef>
              <c:f>Sheet1!$E$1</c:f>
              <c:strCache>
                <c:ptCount val="1"/>
                <c:pt idx="0">
                  <c:v>2024</c:v>
                </c:pt>
              </c:strCache>
            </c:strRef>
          </c:tx>
          <c:spPr>
            <a:ln w="31750" cap="flat">
              <a:solidFill>
                <a:srgbClr val="C9D6EE"/>
              </a:solidFill>
              <a:prstDash val="solid"/>
              <a:round/>
            </a:ln>
            <a:effectLst/>
          </c:spPr>
          <c:marker>
            <c:symbol val="circle"/>
            <c:size val="5"/>
            <c:spPr>
              <a:solidFill>
                <a:srgbClr val="C9D6EE"/>
              </a:solidFill>
              <a:ln w="9525" cap="flat">
                <a:solidFill>
                  <a:srgbClr val="C9D6EE"/>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3041.8440000000001</c:v>
                </c:pt>
                <c:pt idx="1">
                  <c:v>3461.5645</c:v>
                </c:pt>
                <c:pt idx="2">
                  <c:v>2875.8485999999998</c:v>
                </c:pt>
                <c:pt idx="3">
                  <c:v>3281.7613000000001</c:v>
                </c:pt>
                <c:pt idx="4">
                  <c:v>2474.7379999999998</c:v>
                </c:pt>
                <c:pt idx="5">
                  <c:v>2836.62</c:v>
                </c:pt>
              </c:numCache>
            </c:numRef>
          </c:val>
          <c:smooth val="0"/>
          <c:extLst>
            <c:ext xmlns:c16="http://schemas.microsoft.com/office/drawing/2014/chart" uri="{C3380CC4-5D6E-409C-BE32-E72D297353CC}">
              <c16:uniqueId val="{00000003-EDC1-4A92-9335-F120C8A9FA8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H1 (Jan–Jun)</a:t>
            </a:r>
          </a:p>
        </c:rich>
      </c:tx>
      <c:overlay val="0"/>
    </c:title>
    <c:autoTitleDeleted val="0"/>
    <c:plotArea>
      <c:layout/>
      <c:barChart>
        <c:barDir val="bar"/>
        <c:grouping val="clustered"/>
        <c:varyColors val="0"/>
        <c:ser>
          <c:idx val="0"/>
          <c:order val="0"/>
          <c:tx>
            <c:strRef>
              <c:f>Sheet1!$B$1</c:f>
              <c:strCache>
                <c:ptCount val="1"/>
                <c:pt idx="0">
                  <c:v>2025 H1</c:v>
                </c:pt>
              </c:strCache>
            </c:strRef>
          </c:tx>
          <c:spPr>
            <a:solidFill>
              <a:srgbClr val="7FA4DC"/>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India</c:v>
                </c:pt>
                <c:pt idx="2">
                  <c:v>Thailand</c:v>
                </c:pt>
                <c:pt idx="3">
                  <c:v>Israel</c:v>
                </c:pt>
                <c:pt idx="4">
                  <c:v>United States</c:v>
                </c:pt>
                <c:pt idx="5">
                  <c:v>Russia</c:v>
                </c:pt>
                <c:pt idx="6">
                  <c:v>Taiwan</c:v>
                </c:pt>
                <c:pt idx="7">
                  <c:v>Republic of Korea</c:v>
                </c:pt>
                <c:pt idx="8">
                  <c:v>Australia</c:v>
                </c:pt>
                <c:pt idx="9">
                  <c:v>Japan</c:v>
                </c:pt>
              </c:strCache>
            </c:strRef>
          </c:cat>
          <c:val>
            <c:numRef>
              <c:f>Sheet1!$B$2:$B$11</c:f>
              <c:numCache>
                <c:formatCode>General</c:formatCode>
                <c:ptCount val="10"/>
                <c:pt idx="0">
                  <c:v>9640</c:v>
                </c:pt>
                <c:pt idx="1">
                  <c:v>4218</c:v>
                </c:pt>
                <c:pt idx="2">
                  <c:v>2963</c:v>
                </c:pt>
                <c:pt idx="3">
                  <c:v>2509</c:v>
                </c:pt>
                <c:pt idx="4">
                  <c:v>3346</c:v>
                </c:pt>
                <c:pt idx="5">
                  <c:v>2030</c:v>
                </c:pt>
                <c:pt idx="6">
                  <c:v>2369</c:v>
                </c:pt>
                <c:pt idx="7">
                  <c:v>2040</c:v>
                </c:pt>
                <c:pt idx="8">
                  <c:v>1310</c:v>
                </c:pt>
                <c:pt idx="9">
                  <c:v>1663</c:v>
                </c:pt>
              </c:numCache>
            </c:numRef>
          </c:val>
          <c:extLst>
            <c:ext xmlns:c16="http://schemas.microsoft.com/office/drawing/2014/chart" uri="{C3380CC4-5D6E-409C-BE32-E72D297353CC}">
              <c16:uniqueId val="{00000000-5019-4FA6-BB85-72F0C6910C1D}"/>
            </c:ext>
          </c:extLst>
        </c:ser>
        <c:ser>
          <c:idx val="1"/>
          <c:order val="1"/>
          <c:tx>
            <c:strRef>
              <c:f>Sheet1!$C$1</c:f>
              <c:strCache>
                <c:ptCount val="1"/>
                <c:pt idx="0">
                  <c:v>2026 H1</c:v>
                </c:pt>
              </c:strCache>
            </c:strRef>
          </c:tx>
          <c:spPr>
            <a:solidFill>
              <a:srgbClr val="1E2761"/>
            </a:solidFill>
            <a:effectLst/>
          </c:spPr>
          <c:invertIfNegative val="0"/>
          <c:dLbls>
            <c:numFmt formatCode="#,##0;;" sourceLinked="0"/>
            <c:spPr>
              <a:noFill/>
              <a:ln>
                <a:noFill/>
              </a:ln>
              <a:effectLst/>
            </c:spPr>
            <c:txPr>
              <a:bodyPr/>
              <a:lstStyle/>
              <a:p>
                <a:pPr>
                  <a:defRPr sz="800" b="0" i="0" u="none" strike="noStrike">
                    <a:solidFill>
                      <a:srgbClr val="6B728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China</c:v>
                </c:pt>
                <c:pt idx="1">
                  <c:v>India</c:v>
                </c:pt>
                <c:pt idx="2">
                  <c:v>Thailand</c:v>
                </c:pt>
                <c:pt idx="3">
                  <c:v>Israel</c:v>
                </c:pt>
                <c:pt idx="4">
                  <c:v>United States</c:v>
                </c:pt>
                <c:pt idx="5">
                  <c:v>Russia</c:v>
                </c:pt>
                <c:pt idx="6">
                  <c:v>Taiwan</c:v>
                </c:pt>
                <c:pt idx="7">
                  <c:v>Republic of Korea</c:v>
                </c:pt>
                <c:pt idx="8">
                  <c:v>Australia</c:v>
                </c:pt>
                <c:pt idx="9">
                  <c:v>Japan</c:v>
                </c:pt>
              </c:strCache>
            </c:strRef>
          </c:cat>
          <c:val>
            <c:numRef>
              <c:f>Sheet1!$C$2:$C$11</c:f>
              <c:numCache>
                <c:formatCode>General</c:formatCode>
                <c:ptCount val="10"/>
                <c:pt idx="0">
                  <c:v>10445</c:v>
                </c:pt>
                <c:pt idx="1">
                  <c:v>3764</c:v>
                </c:pt>
                <c:pt idx="2">
                  <c:v>3622</c:v>
                </c:pt>
                <c:pt idx="3">
                  <c:v>3148</c:v>
                </c:pt>
                <c:pt idx="4">
                  <c:v>2381</c:v>
                </c:pt>
                <c:pt idx="5">
                  <c:v>2295</c:v>
                </c:pt>
                <c:pt idx="6">
                  <c:v>2175</c:v>
                </c:pt>
                <c:pt idx="7">
                  <c:v>1950</c:v>
                </c:pt>
                <c:pt idx="8">
                  <c:v>1882</c:v>
                </c:pt>
                <c:pt idx="9">
                  <c:v>1620</c:v>
                </c:pt>
              </c:numCache>
            </c:numRef>
          </c:val>
          <c:extLst>
            <c:ext xmlns:c16="http://schemas.microsoft.com/office/drawing/2014/chart" uri="{C3380CC4-5D6E-409C-BE32-E72D297353CC}">
              <c16:uniqueId val="{00000001-5019-4FA6-BB85-72F0C6910C1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5E8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Room nights per month (stacked)</a:t>
            </a:r>
          </a:p>
        </c:rich>
      </c:tx>
      <c:overlay val="0"/>
    </c:title>
    <c:autoTitleDeleted val="0"/>
    <c:plotArea>
      <c:layout/>
      <c:barChart>
        <c:barDir val="col"/>
        <c:grouping val="stacked"/>
        <c:varyColors val="0"/>
        <c:ser>
          <c:idx val="0"/>
          <c:order val="0"/>
          <c:tx>
            <c:strRef>
              <c:f>Sheet1!$B$1</c:f>
              <c:strCache>
                <c:ptCount val="1"/>
                <c:pt idx="0">
                  <c:v>Corporate SS</c:v>
                </c:pt>
              </c:strCache>
            </c:strRef>
          </c:tx>
          <c:spPr>
            <a:solidFill>
              <a:srgbClr val="1E276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312</c:v>
                </c:pt>
                <c:pt idx="1">
                  <c:v>340</c:v>
                </c:pt>
                <c:pt idx="2">
                  <c:v>378</c:v>
                </c:pt>
                <c:pt idx="3">
                  <c:v>238</c:v>
                </c:pt>
                <c:pt idx="4">
                  <c:v>347</c:v>
                </c:pt>
                <c:pt idx="5">
                  <c:v>264</c:v>
                </c:pt>
              </c:numCache>
            </c:numRef>
          </c:val>
          <c:extLst>
            <c:ext xmlns:c16="http://schemas.microsoft.com/office/drawing/2014/chart" uri="{C3380CC4-5D6E-409C-BE32-E72D297353CC}">
              <c16:uniqueId val="{00000000-D0BC-4A7C-A7C2-124556FE8FD2}"/>
            </c:ext>
          </c:extLst>
        </c:ser>
        <c:ser>
          <c:idx val="1"/>
          <c:order val="1"/>
          <c:tx>
            <c:strRef>
              <c:f>Sheet1!$C$1</c:f>
              <c:strCache>
                <c:ptCount val="1"/>
                <c:pt idx="0">
                  <c:v>Corporate LS</c:v>
                </c:pt>
              </c:strCache>
            </c:strRef>
          </c:tx>
          <c:spPr>
            <a:solidFill>
              <a:srgbClr val="4A6FC4"/>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389</c:v>
                </c:pt>
                <c:pt idx="1">
                  <c:v>297</c:v>
                </c:pt>
                <c:pt idx="2">
                  <c:v>422</c:v>
                </c:pt>
                <c:pt idx="3">
                  <c:v>357</c:v>
                </c:pt>
                <c:pt idx="4">
                  <c:v>213</c:v>
                </c:pt>
                <c:pt idx="5">
                  <c:v>308</c:v>
                </c:pt>
              </c:numCache>
            </c:numRef>
          </c:val>
          <c:extLst>
            <c:ext xmlns:c16="http://schemas.microsoft.com/office/drawing/2014/chart" uri="{C3380CC4-5D6E-409C-BE32-E72D297353CC}">
              <c16:uniqueId val="{00000001-D0BC-4A7C-A7C2-124556FE8FD2}"/>
            </c:ext>
          </c:extLst>
        </c:ser>
        <c:ser>
          <c:idx val="2"/>
          <c:order val="2"/>
          <c:tx>
            <c:strRef>
              <c:f>Sheet1!$D$1</c:f>
              <c:strCache>
                <c:ptCount val="1"/>
                <c:pt idx="0">
                  <c:v>Online</c:v>
                </c:pt>
              </c:strCache>
            </c:strRef>
          </c:tx>
          <c:spPr>
            <a:solidFill>
              <a:srgbClr val="7FA4D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2725</c:v>
                </c:pt>
                <c:pt idx="1">
                  <c:v>2119</c:v>
                </c:pt>
                <c:pt idx="2">
                  <c:v>2427</c:v>
                </c:pt>
                <c:pt idx="3">
                  <c:v>1984</c:v>
                </c:pt>
                <c:pt idx="4">
                  <c:v>1791</c:v>
                </c:pt>
                <c:pt idx="5">
                  <c:v>1698</c:v>
                </c:pt>
              </c:numCache>
            </c:numRef>
          </c:val>
          <c:extLst>
            <c:ext xmlns:c16="http://schemas.microsoft.com/office/drawing/2014/chart" uri="{C3380CC4-5D6E-409C-BE32-E72D297353CC}">
              <c16:uniqueId val="{00000002-D0BC-4A7C-A7C2-124556FE8FD2}"/>
            </c:ext>
          </c:extLst>
        </c:ser>
        <c:ser>
          <c:idx val="3"/>
          <c:order val="3"/>
          <c:tx>
            <c:strRef>
              <c:f>Sheet1!$E$1</c:f>
              <c:strCache>
                <c:ptCount val="1"/>
                <c:pt idx="0">
                  <c:v>ASR</c:v>
                </c:pt>
              </c:strCache>
            </c:strRef>
          </c:tx>
          <c:spPr>
            <a:solidFill>
              <a:srgbClr val="AFC6EC"/>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Sheet1!$E$2:$E$7</c:f>
              <c:numCache>
                <c:formatCode>General</c:formatCode>
                <c:ptCount val="6"/>
                <c:pt idx="0">
                  <c:v>1201</c:v>
                </c:pt>
                <c:pt idx="1">
                  <c:v>1116</c:v>
                </c:pt>
                <c:pt idx="2">
                  <c:v>1214</c:v>
                </c:pt>
                <c:pt idx="3">
                  <c:v>1002</c:v>
                </c:pt>
                <c:pt idx="4">
                  <c:v>938</c:v>
                </c:pt>
                <c:pt idx="5">
                  <c:v>955</c:v>
                </c:pt>
              </c:numCache>
            </c:numRef>
          </c:val>
          <c:extLst>
            <c:ext xmlns:c16="http://schemas.microsoft.com/office/drawing/2014/chart" uri="{C3380CC4-5D6E-409C-BE32-E72D297353CC}">
              <c16:uniqueId val="{00000003-D0BC-4A7C-A7C2-124556FE8FD2}"/>
            </c:ext>
          </c:extLst>
        </c:ser>
        <c:ser>
          <c:idx val="4"/>
          <c:order val="4"/>
          <c:tx>
            <c:strRef>
              <c:f>Sheet1!$F$1</c:f>
              <c:strCache>
                <c:ptCount val="1"/>
                <c:pt idx="0">
                  <c:v>Wholesale</c:v>
                </c:pt>
              </c:strCache>
            </c:strRef>
          </c:tx>
          <c:spPr>
            <a:solidFill>
              <a:srgbClr val="D9A441"/>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Sheet1!$F$2:$F$7</c:f>
              <c:numCache>
                <c:formatCode>General</c:formatCode>
                <c:ptCount val="6"/>
                <c:pt idx="0">
                  <c:v>4009</c:v>
                </c:pt>
                <c:pt idx="1">
                  <c:v>3483</c:v>
                </c:pt>
                <c:pt idx="2">
                  <c:v>2429</c:v>
                </c:pt>
                <c:pt idx="3">
                  <c:v>2948</c:v>
                </c:pt>
                <c:pt idx="4">
                  <c:v>2855</c:v>
                </c:pt>
                <c:pt idx="5">
                  <c:v>2281</c:v>
                </c:pt>
              </c:numCache>
            </c:numRef>
          </c:val>
          <c:extLst>
            <c:ext xmlns:c16="http://schemas.microsoft.com/office/drawing/2014/chart" uri="{C3380CC4-5D6E-409C-BE32-E72D297353CC}">
              <c16:uniqueId val="{00000004-D0BC-4A7C-A7C2-124556FE8FD2}"/>
            </c:ext>
          </c:extLst>
        </c:ser>
        <c:ser>
          <c:idx val="5"/>
          <c:order val="5"/>
          <c:tx>
            <c:strRef>
              <c:f>Sheet1!$G$1</c:f>
              <c:strCache>
                <c:ptCount val="1"/>
                <c:pt idx="0">
                  <c:v>Wholesale Grp</c:v>
                </c:pt>
              </c:strCache>
            </c:strRef>
          </c:tx>
          <c:spPr>
            <a:solidFill>
              <a:srgbClr val="8A5A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Sheet1!$G$2:$G$7</c:f>
              <c:numCache>
                <c:formatCode>General</c:formatCode>
                <c:ptCount val="6"/>
                <c:pt idx="0">
                  <c:v>134</c:v>
                </c:pt>
                <c:pt idx="1">
                  <c:v>261</c:v>
                </c:pt>
                <c:pt idx="2">
                  <c:v>453</c:v>
                </c:pt>
                <c:pt idx="3">
                  <c:v>254</c:v>
                </c:pt>
                <c:pt idx="4">
                  <c:v>194</c:v>
                </c:pt>
                <c:pt idx="5">
                  <c:v>225</c:v>
                </c:pt>
              </c:numCache>
            </c:numRef>
          </c:val>
          <c:extLst>
            <c:ext xmlns:c16="http://schemas.microsoft.com/office/drawing/2014/chart" uri="{C3380CC4-5D6E-409C-BE32-E72D297353CC}">
              <c16:uniqueId val="{00000005-D0BC-4A7C-A7C2-124556FE8FD2}"/>
            </c:ext>
          </c:extLst>
        </c:ser>
        <c:ser>
          <c:idx val="6"/>
          <c:order val="6"/>
          <c:tx>
            <c:strRef>
              <c:f>Sheet1!$H$1</c:f>
              <c:strCache>
                <c:ptCount val="1"/>
                <c:pt idx="0">
                  <c:v>Corporate Group</c:v>
                </c:pt>
              </c:strCache>
            </c:strRef>
          </c:tx>
          <c:spPr>
            <a:solidFill>
              <a:srgbClr val="2F8F83"/>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Sheet1!$H$2:$H$7</c:f>
              <c:numCache>
                <c:formatCode>General</c:formatCode>
                <c:ptCount val="6"/>
                <c:pt idx="0">
                  <c:v>93</c:v>
                </c:pt>
                <c:pt idx="1">
                  <c:v>39</c:v>
                </c:pt>
                <c:pt idx="2">
                  <c:v>85</c:v>
                </c:pt>
                <c:pt idx="3">
                  <c:v>80</c:v>
                </c:pt>
                <c:pt idx="4">
                  <c:v>59</c:v>
                </c:pt>
                <c:pt idx="5">
                  <c:v>328</c:v>
                </c:pt>
              </c:numCache>
            </c:numRef>
          </c:val>
          <c:extLst>
            <c:ext xmlns:c16="http://schemas.microsoft.com/office/drawing/2014/chart" uri="{C3380CC4-5D6E-409C-BE32-E72D297353CC}">
              <c16:uniqueId val="{00000006-D0BC-4A7C-A7C2-124556FE8FD2}"/>
            </c:ext>
          </c:extLst>
        </c:ser>
        <c:ser>
          <c:idx val="7"/>
          <c:order val="7"/>
          <c:tx>
            <c:strRef>
              <c:f>Sheet1!$I$1</c:f>
              <c:strCache>
                <c:ptCount val="1"/>
                <c:pt idx="0">
                  <c:v>Employee</c:v>
                </c:pt>
              </c:strCache>
            </c:strRef>
          </c:tx>
          <c:spPr>
            <a:solidFill>
              <a:srgbClr val="C97B4A"/>
            </a:solidFill>
            <a:effectLst/>
          </c:spPr>
          <c:invertIfNegative val="0"/>
          <c:dLbls>
            <c:numFmt formatCode="#,##0;;" sourceLinked="0"/>
            <c:spPr>
              <a:noFill/>
              <a:ln>
                <a:noFill/>
              </a:ln>
              <a:effectLst/>
            </c:spPr>
            <c:txPr>
              <a:bodyPr/>
              <a:lstStyle/>
              <a:p>
                <a:pPr>
                  <a:defRPr sz="75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Jan</c:v>
                </c:pt>
                <c:pt idx="1">
                  <c:v>Feb</c:v>
                </c:pt>
                <c:pt idx="2">
                  <c:v>Mar</c:v>
                </c:pt>
                <c:pt idx="3">
                  <c:v>Apr</c:v>
                </c:pt>
                <c:pt idx="4">
                  <c:v>May</c:v>
                </c:pt>
                <c:pt idx="5">
                  <c:v>Jun</c:v>
                </c:pt>
              </c:strCache>
            </c:strRef>
          </c:cat>
          <c:val>
            <c:numRef>
              <c:f>Sheet1!$I$2:$I$7</c:f>
              <c:numCache>
                <c:formatCode>General</c:formatCode>
                <c:ptCount val="6"/>
                <c:pt idx="0">
                  <c:v>4</c:v>
                </c:pt>
                <c:pt idx="1">
                  <c:v>10</c:v>
                </c:pt>
                <c:pt idx="2">
                  <c:v>12</c:v>
                </c:pt>
                <c:pt idx="3">
                  <c:v>9</c:v>
                </c:pt>
                <c:pt idx="4">
                  <c:v>8</c:v>
                </c:pt>
                <c:pt idx="5">
                  <c:v>6</c:v>
                </c:pt>
              </c:numCache>
            </c:numRef>
          </c:val>
          <c:extLst>
            <c:ext xmlns:c16="http://schemas.microsoft.com/office/drawing/2014/chart" uri="{C3380CC4-5D6E-409C-BE32-E72D297353CC}">
              <c16:uniqueId val="{00000007-D0BC-4A7C-A7C2-124556FE8FD2}"/>
            </c:ext>
          </c:extLst>
        </c:ser>
        <c:dLbls>
          <c:dLblPos val="ctr"/>
          <c:showLegendKey val="0"/>
          <c:showVal val="1"/>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E2761"/>
                </a:solidFill>
                <a:latin typeface="Calibri"/>
              </a:defRPr>
            </a:pPr>
            <a:r>
              <a:rPr lang="en-US" sz="1300" b="0" i="0" u="none" strike="noStrike">
                <a:solidFill>
                  <a:srgbClr val="1E2761"/>
                </a:solidFill>
                <a:latin typeface="Calibri"/>
              </a:rPr>
              <a:t>YTD mix (43,294 RN)</a:t>
            </a:r>
          </a:p>
        </c:rich>
      </c:tx>
      <c:overlay val="0"/>
    </c:title>
    <c:autoTitleDeleted val="0"/>
    <c:plotArea>
      <c:layout/>
      <c:doughnutChart>
        <c:varyColors val="1"/>
        <c:ser>
          <c:idx val="0"/>
          <c:order val="0"/>
          <c:tx>
            <c:strRef>
              <c:f>Sheet1!$B$1</c:f>
              <c:strCache>
                <c:ptCount val="1"/>
                <c:pt idx="0">
                  <c:v>YTD</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00EF-4036-8714-587FF8B76019}"/>
              </c:ext>
            </c:extLst>
          </c:dPt>
          <c:dPt>
            <c:idx val="1"/>
            <c:bubble3D val="0"/>
            <c:spPr>
              <a:solidFill>
                <a:srgbClr val="4A6FC4"/>
              </a:solidFill>
              <a:effectLst/>
            </c:spPr>
            <c:extLst>
              <c:ext xmlns:c16="http://schemas.microsoft.com/office/drawing/2014/chart" uri="{C3380CC4-5D6E-409C-BE32-E72D297353CC}">
                <c16:uniqueId val="{00000003-00EF-4036-8714-587FF8B76019}"/>
              </c:ext>
            </c:extLst>
          </c:dPt>
          <c:dPt>
            <c:idx val="2"/>
            <c:bubble3D val="0"/>
            <c:spPr>
              <a:solidFill>
                <a:srgbClr val="7FA4DC"/>
              </a:solidFill>
              <a:effectLst/>
            </c:spPr>
            <c:extLst>
              <c:ext xmlns:c16="http://schemas.microsoft.com/office/drawing/2014/chart" uri="{C3380CC4-5D6E-409C-BE32-E72D297353CC}">
                <c16:uniqueId val="{00000005-00EF-4036-8714-587FF8B76019}"/>
              </c:ext>
            </c:extLst>
          </c:dPt>
          <c:dPt>
            <c:idx val="3"/>
            <c:bubble3D val="0"/>
            <c:spPr>
              <a:solidFill>
                <a:srgbClr val="AFC6EC"/>
              </a:solidFill>
              <a:effectLst/>
            </c:spPr>
            <c:extLst>
              <c:ext xmlns:c16="http://schemas.microsoft.com/office/drawing/2014/chart" uri="{C3380CC4-5D6E-409C-BE32-E72D297353CC}">
                <c16:uniqueId val="{00000007-00EF-4036-8714-587FF8B76019}"/>
              </c:ext>
            </c:extLst>
          </c:dPt>
          <c:dPt>
            <c:idx val="4"/>
            <c:bubble3D val="0"/>
            <c:spPr>
              <a:solidFill>
                <a:srgbClr val="D9A441"/>
              </a:solidFill>
              <a:effectLst/>
            </c:spPr>
            <c:extLst>
              <c:ext xmlns:c16="http://schemas.microsoft.com/office/drawing/2014/chart" uri="{C3380CC4-5D6E-409C-BE32-E72D297353CC}">
                <c16:uniqueId val="{00000009-00EF-4036-8714-587FF8B76019}"/>
              </c:ext>
            </c:extLst>
          </c:dPt>
          <c:dPt>
            <c:idx val="5"/>
            <c:bubble3D val="0"/>
            <c:spPr>
              <a:solidFill>
                <a:srgbClr val="8A5A83"/>
              </a:solidFill>
              <a:effectLst/>
            </c:spPr>
            <c:extLst>
              <c:ext xmlns:c16="http://schemas.microsoft.com/office/drawing/2014/chart" uri="{C3380CC4-5D6E-409C-BE32-E72D297353CC}">
                <c16:uniqueId val="{0000000B-00EF-4036-8714-587FF8B76019}"/>
              </c:ext>
            </c:extLst>
          </c:dPt>
          <c:dPt>
            <c:idx val="6"/>
            <c:bubble3D val="0"/>
            <c:spPr>
              <a:solidFill>
                <a:srgbClr val="2F8F83"/>
              </a:solidFill>
              <a:effectLst/>
            </c:spPr>
            <c:extLst>
              <c:ext xmlns:c16="http://schemas.microsoft.com/office/drawing/2014/chart" uri="{C3380CC4-5D6E-409C-BE32-E72D297353CC}">
                <c16:uniqueId val="{0000000D-00EF-4036-8714-587FF8B76019}"/>
              </c:ext>
            </c:extLst>
          </c:dPt>
          <c:dPt>
            <c:idx val="7"/>
            <c:bubble3D val="0"/>
            <c:spPr>
              <a:solidFill>
                <a:srgbClr val="C97B4A"/>
              </a:solidFill>
              <a:effectLst/>
            </c:spPr>
            <c:extLst>
              <c:ext xmlns:c16="http://schemas.microsoft.com/office/drawing/2014/chart" uri="{C3380CC4-5D6E-409C-BE32-E72D297353CC}">
                <c16:uniqueId val="{0000000F-00EF-4036-8714-587FF8B76019}"/>
              </c:ext>
            </c:extLst>
          </c:dPt>
          <c:dLbls>
            <c:dLbl>
              <c:idx val="0"/>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00EF-4036-8714-587FF8B76019}"/>
                </c:ext>
              </c:extLst>
            </c:dLbl>
            <c:dLbl>
              <c:idx val="1"/>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00EF-4036-8714-587FF8B76019}"/>
                </c:ext>
              </c:extLst>
            </c:dLbl>
            <c:dLbl>
              <c:idx val="2"/>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00EF-4036-8714-587FF8B76019}"/>
                </c:ext>
              </c:extLst>
            </c:dLbl>
            <c:dLbl>
              <c:idx val="3"/>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00EF-4036-8714-587FF8B76019}"/>
                </c:ext>
              </c:extLst>
            </c:dLbl>
            <c:dLbl>
              <c:idx val="4"/>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00EF-4036-8714-587FF8B76019}"/>
                </c:ext>
              </c:extLst>
            </c:dLbl>
            <c:dLbl>
              <c:idx val="5"/>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00EF-4036-8714-587FF8B76019}"/>
                </c:ext>
              </c:extLst>
            </c:dLbl>
            <c:dLbl>
              <c:idx val="6"/>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D-00EF-4036-8714-587FF8B76019}"/>
                </c:ext>
              </c:extLst>
            </c:dLbl>
            <c:dLbl>
              <c:idx val="7"/>
              <c:numFmt formatCode="0%" sourceLinked="0"/>
              <c:spPr/>
              <c:txPr>
                <a:bodyPr/>
                <a:lstStyle/>
                <a:p>
                  <a:pPr>
                    <a:defRPr sz="900" b="0" i="0" u="none" strike="noStrike">
                      <a:solidFill>
                        <a:srgbClr val="FFFFFF"/>
                      </a:solidFill>
                      <a:latin typeface="Calibri"/>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F-00EF-4036-8714-587FF8B76019}"/>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Sheet1!$A$2:$A$9</c:f>
              <c:strCache>
                <c:ptCount val="8"/>
                <c:pt idx="0">
                  <c:v>Corporate SS</c:v>
                </c:pt>
                <c:pt idx="1">
                  <c:v>Corporate LS</c:v>
                </c:pt>
                <c:pt idx="2">
                  <c:v>Online</c:v>
                </c:pt>
                <c:pt idx="3">
                  <c:v>ASR</c:v>
                </c:pt>
                <c:pt idx="4">
                  <c:v>Wholesale</c:v>
                </c:pt>
                <c:pt idx="5">
                  <c:v>Wholesale Grp</c:v>
                </c:pt>
                <c:pt idx="6">
                  <c:v>Corporate Group</c:v>
                </c:pt>
                <c:pt idx="7">
                  <c:v>Employee</c:v>
                </c:pt>
              </c:strCache>
            </c:strRef>
          </c:cat>
          <c:val>
            <c:numRef>
              <c:f>Sheet1!$B$2:$B$9</c:f>
              <c:numCache>
                <c:formatCode>General</c:formatCode>
                <c:ptCount val="8"/>
                <c:pt idx="0">
                  <c:v>1879</c:v>
                </c:pt>
                <c:pt idx="1">
                  <c:v>1986</c:v>
                </c:pt>
                <c:pt idx="2">
                  <c:v>12744</c:v>
                </c:pt>
                <c:pt idx="3">
                  <c:v>6426</c:v>
                </c:pt>
                <c:pt idx="4">
                  <c:v>18005</c:v>
                </c:pt>
                <c:pt idx="5">
                  <c:v>1521</c:v>
                </c:pt>
                <c:pt idx="6">
                  <c:v>684</c:v>
                </c:pt>
                <c:pt idx="7">
                  <c:v>49</c:v>
                </c:pt>
              </c:numCache>
            </c:numRef>
          </c:val>
          <c:extLst>
            <c:ext xmlns:c16="http://schemas.microsoft.com/office/drawing/2014/chart" uri="{C3380CC4-5D6E-409C-BE32-E72D297353CC}">
              <c16:uniqueId val="{00000010-00EF-4036-8714-587FF8B76019}"/>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r"/>
      <c:overlay val="0"/>
      <c:txPr>
        <a:bodyPr/>
        <a:lstStyle/>
        <a:p>
          <a:pPr>
            <a:defRPr sz="95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E2761"/>
                </a:solidFill>
                <a:latin typeface="Calibri"/>
              </a:defRPr>
            </a:pPr>
            <a:r>
              <a:rPr lang="en-US" sz="1250" b="0" i="0" u="none" strike="noStrike">
                <a:solidFill>
                  <a:srgbClr val="1E2761"/>
                </a:solidFill>
                <a:latin typeface="Calibri"/>
              </a:rPr>
              <a:t>Monthly revenue (฿M)</a:t>
            </a:r>
          </a:p>
        </c:rich>
      </c:tx>
      <c:overlay val="0"/>
    </c:title>
    <c:autoTitleDeleted val="0"/>
    <c:plotArea>
      <c:layout/>
      <c:barChart>
        <c:barDir val="col"/>
        <c:grouping val="clustered"/>
        <c:varyColors val="0"/>
        <c:ser>
          <c:idx val="0"/>
          <c:order val="0"/>
          <c:tx>
            <c:strRef>
              <c:f>Sheet1!$B$1</c:f>
              <c:strCache>
                <c:ptCount val="1"/>
                <c:pt idx="0">
                  <c:v>2024</c:v>
                </c:pt>
              </c:strCache>
            </c:strRef>
          </c:tx>
          <c:spPr>
            <a:solidFill>
              <a:srgbClr val="C9D6EE"/>
            </a:solidFill>
            <a:effectLst/>
          </c:spPr>
          <c:invertIfNegative val="0"/>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31309864.370000001</c:v>
                </c:pt>
                <c:pt idx="1">
                  <c:v>33368534.989999998</c:v>
                </c:pt>
                <c:pt idx="2">
                  <c:v>29666255.149999999</c:v>
                </c:pt>
                <c:pt idx="3">
                  <c:v>32611947.120000001</c:v>
                </c:pt>
                <c:pt idx="4">
                  <c:v>26107678.870000001</c:v>
                </c:pt>
                <c:pt idx="5">
                  <c:v>29352910.219999999</c:v>
                </c:pt>
              </c:numCache>
            </c:numRef>
          </c:val>
          <c:extLst>
            <c:ext xmlns:c16="http://schemas.microsoft.com/office/drawing/2014/chart" uri="{C3380CC4-5D6E-409C-BE32-E72D297353CC}">
              <c16:uniqueId val="{00000000-43D9-4435-95DF-9F1B1664A373}"/>
            </c:ext>
          </c:extLst>
        </c:ser>
        <c:ser>
          <c:idx val="1"/>
          <c:order val="1"/>
          <c:tx>
            <c:strRef>
              <c:f>Sheet1!$C$1</c:f>
              <c:strCache>
                <c:ptCount val="1"/>
                <c:pt idx="0">
                  <c:v>2025</c:v>
                </c:pt>
              </c:strCache>
            </c:strRef>
          </c:tx>
          <c:spPr>
            <a:solidFill>
              <a:srgbClr val="7FA4DC"/>
            </a:solidFill>
            <a:effectLst/>
          </c:spPr>
          <c:invertIfNegative val="0"/>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40587344.039999999</c:v>
                </c:pt>
                <c:pt idx="1">
                  <c:v>32409916.039999999</c:v>
                </c:pt>
                <c:pt idx="2">
                  <c:v>25474783.68</c:v>
                </c:pt>
                <c:pt idx="3">
                  <c:v>27145089.41</c:v>
                </c:pt>
                <c:pt idx="4">
                  <c:v>22399911.440000001</c:v>
                </c:pt>
                <c:pt idx="5">
                  <c:v>19351629.989999998</c:v>
                </c:pt>
              </c:numCache>
            </c:numRef>
          </c:val>
          <c:extLst>
            <c:ext xmlns:c16="http://schemas.microsoft.com/office/drawing/2014/chart" uri="{C3380CC4-5D6E-409C-BE32-E72D297353CC}">
              <c16:uniqueId val="{00000001-43D9-4435-95DF-9F1B1664A373}"/>
            </c:ext>
          </c:extLst>
        </c:ser>
        <c:ser>
          <c:idx val="2"/>
          <c:order val="2"/>
          <c:tx>
            <c:strRef>
              <c:f>Sheet1!$D$1</c:f>
              <c:strCache>
                <c:ptCount val="1"/>
                <c:pt idx="0">
                  <c:v>2026</c:v>
                </c:pt>
              </c:strCache>
            </c:strRef>
          </c:tx>
          <c:spPr>
            <a:solidFill>
              <a:srgbClr val="1E2761"/>
            </a:solidFill>
            <a:effectLst/>
          </c:spPr>
          <c:invertIfNegative val="0"/>
          <c:cat>
            <c:strRef>
              <c:f>Sheet1!$A$2:$A$7</c:f>
              <c:strCache>
                <c:ptCount val="6"/>
                <c:pt idx="0">
                  <c:v>Jan</c:v>
                </c:pt>
                <c:pt idx="1">
                  <c:v>Feb</c:v>
                </c:pt>
                <c:pt idx="2">
                  <c:v>Mar</c:v>
                </c:pt>
                <c:pt idx="3">
                  <c:v>Apr</c:v>
                </c:pt>
                <c:pt idx="4">
                  <c:v>May</c:v>
                </c:pt>
                <c:pt idx="5">
                  <c:v>Jun</c:v>
                </c:pt>
              </c:strCache>
            </c:strRef>
          </c:cat>
          <c:val>
            <c:numRef>
              <c:f>Sheet1!$D$2:$D$7</c:f>
              <c:numCache>
                <c:formatCode>General</c:formatCode>
                <c:ptCount val="6"/>
                <c:pt idx="0">
                  <c:v>36745342.880000003</c:v>
                </c:pt>
                <c:pt idx="1">
                  <c:v>32403885.670000002</c:v>
                </c:pt>
                <c:pt idx="2">
                  <c:v>28025998.969999999</c:v>
                </c:pt>
                <c:pt idx="3">
                  <c:v>25796931.440000001</c:v>
                </c:pt>
                <c:pt idx="4">
                  <c:v>22402015.489999998</c:v>
                </c:pt>
                <c:pt idx="5">
                  <c:v>21058802.690000001</c:v>
                </c:pt>
              </c:numCache>
            </c:numRef>
          </c:val>
          <c:extLst>
            <c:ext xmlns:c16="http://schemas.microsoft.com/office/drawing/2014/chart" uri="{C3380CC4-5D6E-409C-BE32-E72D297353CC}">
              <c16:uniqueId val="{00000002-43D9-4435-95DF-9F1B1664A373}"/>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6292E"/>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08496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In this year, Number of arrival drop around -3.2% with the estimation data or around -500k ppl in first h1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down in the </a:t>
            </a:r>
            <a:r>
              <a:rPr lang="en-US" dirty="0" err="1"/>
              <a:t>nationaliy</a:t>
            </a:r>
            <a:endParaRPr lang="en-US" dirty="0"/>
          </a:p>
          <a:p>
            <a:pPr marL="171450" indent="-171450">
              <a:buFontTx/>
              <a:buChar char="-"/>
            </a:pPr>
            <a:r>
              <a:rPr lang="en-US" dirty="0"/>
              <a:t>We can see the recover from </a:t>
            </a:r>
            <a:r>
              <a:rPr lang="en-US" dirty="0" err="1"/>
              <a:t>china</a:t>
            </a:r>
            <a:r>
              <a:rPr lang="en-US" dirty="0"/>
              <a:t> around +14.8% compare to last year.</a:t>
            </a:r>
          </a:p>
          <a:p>
            <a:pPr marL="171450" indent="-171450">
              <a:buFontTx/>
              <a:buChar char="-"/>
            </a:pPr>
            <a:r>
              <a:rPr lang="en-US" dirty="0"/>
              <a:t>For </a:t>
            </a:r>
            <a:r>
              <a:rPr lang="en-US" dirty="0" err="1"/>
              <a:t>india</a:t>
            </a:r>
            <a:r>
              <a:rPr lang="en-US" dirty="0"/>
              <a:t>, which may not a really our major group of guest but it is quite interesting growth. We can see the continue growth in India</a:t>
            </a:r>
            <a:r>
              <a:rPr lang="th-TH" dirty="0"/>
              <a:t> </a:t>
            </a:r>
            <a:r>
              <a:rPr lang="en-US" dirty="0"/>
              <a:t>in past 3 years.</a:t>
            </a:r>
          </a:p>
          <a:p>
            <a:pPr marL="171450" indent="-171450">
              <a:buFontTx/>
              <a:buChar char="-"/>
            </a:pPr>
            <a:endParaRPr lang="th-TH"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Middle east may not the major top nationality in </a:t>
            </a:r>
            <a:r>
              <a:rPr lang="en-US" dirty="0" err="1"/>
              <a:t>arraivel</a:t>
            </a:r>
            <a:r>
              <a:rPr lang="en-US" dirty="0"/>
              <a:t> of Thailand but this arrival can effected our ADR spending power</a:t>
            </a:r>
          </a:p>
          <a:p>
            <a:pPr marL="171450" indent="-171450">
              <a:buFont typeface="Arial" panose="020B0604020202020204" pitchFamily="34" charset="0"/>
              <a:buChar char="•"/>
            </a:pPr>
            <a:r>
              <a:rPr lang="en-US" dirty="0"/>
              <a:t>After middle east religion war, the number of middle east got lower </a:t>
            </a:r>
            <a:r>
              <a:rPr lang="en-US" dirty="0" err="1"/>
              <a:t>accumtilate</a:t>
            </a:r>
            <a:r>
              <a:rPr lang="en-US" dirty="0"/>
              <a:t> -30% from Feb. Even in June that we may can see the coming back of ME, but it cannot reach the same as </a:t>
            </a:r>
            <a:r>
              <a:rPr lang="en-US" dirty="0" err="1"/>
              <a:t>ly</a:t>
            </a:r>
            <a:endParaRPr lang="en-US" dirty="0"/>
          </a:p>
          <a:p>
            <a:pPr marL="171450" indent="-171450">
              <a:buFont typeface="Arial" panose="020B0604020202020204" pitchFamily="34" charset="0"/>
              <a:buChar char="•"/>
            </a:pPr>
            <a:r>
              <a:rPr lang="en-US" dirty="0"/>
              <a:t>For the long </a:t>
            </a:r>
            <a:r>
              <a:rPr lang="en-US" dirty="0" err="1"/>
              <a:t>hual</a:t>
            </a:r>
            <a:r>
              <a:rPr lang="en-US" dirty="0"/>
              <a:t> and EU that tensing to have more </a:t>
            </a:r>
            <a:r>
              <a:rPr lang="en-US" dirty="0" err="1"/>
              <a:t>spendn</a:t>
            </a:r>
            <a:r>
              <a:rPr lang="en-US" dirty="0"/>
              <a:t> </a:t>
            </a:r>
            <a:r>
              <a:rPr lang="en-US" dirty="0" err="1"/>
              <a:t>pwer</a:t>
            </a:r>
            <a:r>
              <a:rPr lang="en-US" dirty="0"/>
              <a:t>, also arrival decrease -1.2% </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C3D0B-5609-C509-FBFC-0C3B3A4D70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9CED49-7CBE-236C-21D2-D8B855468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6F9E2E-C5BF-4883-FEAB-4916269700D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735F1EE-A583-AF14-5807-DFBD68248FFB}"/>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563220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Moving to Bangkok area.</a:t>
            </a:r>
          </a:p>
          <a:p>
            <a:r>
              <a:rPr lang="en-US" dirty="0"/>
              <a:t>Even the number Thailand arrival is decrease but in term of Bangkok tourist arrival. The number of total arrival is increase by 3.3% which domestic +6.2% but foreigner quite similar to last year.</a:t>
            </a:r>
          </a:p>
          <a:p>
            <a:r>
              <a:rPr lang="en-US" dirty="0"/>
              <a:t>The number of </a:t>
            </a:r>
            <a:r>
              <a:rPr lang="en-US" dirty="0" err="1"/>
              <a:t>thai</a:t>
            </a:r>
            <a:r>
              <a:rPr lang="en-US" dirty="0"/>
              <a:t> ppl visitor is more than foreigner can be another factor that the price on hotel could be sensitive to our domestic </a:t>
            </a:r>
            <a:r>
              <a:rPr lang="en-US" dirty="0" err="1"/>
              <a:t>travaler</a:t>
            </a:r>
            <a:r>
              <a:rPr lang="en-US" dirty="0"/>
              <a:t>.</a:t>
            </a:r>
          </a:p>
        </p:txBody>
      </p:sp>
    </p:spTree>
    <p:extLst>
      <p:ext uri="{BB962C8B-B14F-4D97-AF65-F5344CB8AC3E}">
        <p14:creationId xmlns:p14="http://schemas.microsoft.com/office/powerpoint/2010/main" val="1880550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Moving to Bangkok hotel STR</a:t>
            </a:r>
          </a:p>
          <a:p>
            <a:pPr marL="171450" indent="-171450">
              <a:buFont typeface="Arial" panose="020B0604020202020204" pitchFamily="34" charset="0"/>
              <a:buChar char="•"/>
            </a:pPr>
            <a:r>
              <a:rPr lang="en-US" dirty="0"/>
              <a:t>Compare to last year due to growth on the arrival, so we can see the Occ that got higher this H1</a:t>
            </a:r>
          </a:p>
          <a:p>
            <a:pPr marL="171450" indent="-171450">
              <a:buFont typeface="Arial" panose="020B0604020202020204" pitchFamily="34" charset="0"/>
              <a:buChar char="•"/>
            </a:pPr>
            <a:r>
              <a:rPr lang="en-US" dirty="0"/>
              <a:t>Compare to Class segment</a:t>
            </a:r>
          </a:p>
          <a:p>
            <a:pPr marL="171450" indent="-171450">
              <a:buFont typeface="Arial" panose="020B0604020202020204" pitchFamily="34" charset="0"/>
              <a:buChar char="•"/>
            </a:pPr>
            <a:r>
              <a:rPr lang="en-US" dirty="0"/>
              <a:t>Price war</a:t>
            </a:r>
          </a:p>
          <a:p>
            <a:r>
              <a:rPr lang="en-US" dirty="0"/>
              <a:t>Luxury plus ADR</a:t>
            </a:r>
          </a:p>
          <a:p>
            <a:r>
              <a:rPr lang="en-US" dirty="0"/>
              <a:t>Segment </a:t>
            </a:r>
            <a:r>
              <a:rPr lang="th-TH" dirty="0"/>
              <a:t>ที่ต่ำลง ยิ่งแข่ง </a:t>
            </a:r>
            <a:r>
              <a:rPr lang="en-US" dirty="0"/>
              <a:t>Price -&gt; </a:t>
            </a:r>
            <a:r>
              <a:rPr lang="th-TH" dirty="0"/>
              <a:t>ปัญหา</a:t>
            </a:r>
            <a:r>
              <a:rPr lang="en-US" dirty="0"/>
              <a:t> </a:t>
            </a:r>
            <a:r>
              <a:rPr lang="en-US" dirty="0" err="1"/>
              <a:t>Adr</a:t>
            </a:r>
            <a:r>
              <a:rPr lang="en-US" dirty="0"/>
              <a:t> </a:t>
            </a:r>
          </a:p>
          <a:p>
            <a:r>
              <a:rPr lang="en-US" dirty="0"/>
              <a:t>Due to we may rely on the Domestic demand as priority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AF3A5-7C9C-CE20-48AA-C6CB9E530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7BEE60-A122-806C-BD0F-6980FC8E17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F3E66D-E7B2-7B96-AA33-B72E56F148A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86083C2-1715-F253-70CA-78D0A3B60A7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7870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Moving to Pattaya area.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The arrival is lower</a:t>
            </a:r>
            <a:r>
              <a:rPr lang="th-TH" dirty="0"/>
              <a:t> </a:t>
            </a:r>
            <a:r>
              <a:rPr lang="en-US" dirty="0"/>
              <a:t>-2.7% mostly come from international arrival -5.4%</a:t>
            </a:r>
          </a:p>
        </p:txBody>
      </p:sp>
    </p:spTree>
    <p:extLst>
      <p:ext uri="{BB962C8B-B14F-4D97-AF65-F5344CB8AC3E}">
        <p14:creationId xmlns:p14="http://schemas.microsoft.com/office/powerpoint/2010/main" val="6973069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the demand </a:t>
            </a:r>
            <a:r>
              <a:rPr lang="en-US" sz="1200" i="1" dirty="0">
                <a:solidFill>
                  <a:sysClr val="windowText" lastClr="000000"/>
                </a:solidFill>
                <a:latin typeface="Calibri" pitchFamily="34" charset="0"/>
                <a:ea typeface="Calibri" pitchFamily="34" charset="-122"/>
                <a:cs typeface="Calibri" pitchFamily="34" charset="-120"/>
              </a:rPr>
              <a:t>down (arrivals −2.7%) → market gave up occupancy (−2.6%) but held rate</a:t>
            </a:r>
          </a:p>
          <a:p>
            <a:r>
              <a:rPr lang="en-US" dirty="0"/>
              <a:t>Look at the segment </a:t>
            </a:r>
            <a:r>
              <a:rPr lang="en-US" sz="1200" i="1" dirty="0">
                <a:solidFill>
                  <a:sysClr val="windowText" lastClr="000000"/>
                </a:solidFill>
                <a:latin typeface="Calibri" pitchFamily="34" charset="0"/>
                <a:ea typeface="Calibri" pitchFamily="34" charset="-122"/>
                <a:cs typeface="Calibri" pitchFamily="34" charset="-120"/>
              </a:rPr>
              <a:t>Upscale &amp; Upper Midscale which is very near to SP</a:t>
            </a:r>
            <a:endParaRPr lang="en-US" dirty="0"/>
          </a:p>
          <a:p>
            <a:r>
              <a:rPr lang="en-US" dirty="0"/>
              <a:t>We can see that the ADR drop -2% in first half year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i="1" dirty="0">
              <a:solidFill>
                <a:schemeClr val="tx1"/>
              </a:solidFill>
              <a:latin typeface="Calibri" pitchFamily="34" charset="0"/>
              <a:ea typeface="Calibri" pitchFamily="34" charset="-122"/>
              <a:cs typeface="Calibri" pitchFamily="34" charset="-120"/>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MOTS Korea H12026−22.7%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dirty="0"/>
              <a:t>DTA write off will reflect Q2 and Q4</a:t>
            </a:r>
          </a:p>
          <a:p>
            <a:pPr marL="171450" indent="-171450">
              <a:buFont typeface="Arial"/>
              <a:buChar char="•"/>
            </a:pPr>
            <a:r>
              <a:rPr lang="en-US" dirty="0" err="1"/>
              <a:t>Npat</a:t>
            </a:r>
            <a:r>
              <a:rPr lang="en-US" dirty="0"/>
              <a:t> will effect next q</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232925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chart" Target="../charts/char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chart" Target="../charts/chart9.xml"/><Relationship Id="rId4" Type="http://schemas.openxmlformats.org/officeDocument/2006/relationships/chart" Target="../charts/char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chart" Target="../charts/chart13.xml"/><Relationship Id="rId4" Type="http://schemas.openxmlformats.org/officeDocument/2006/relationships/chart" Target="../charts/char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chart" Target="../charts/chart19.xml"/></Relationships>
</file>

<file path=ppt/slides/_rels/slide19.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23.xm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chart" Target="../charts/chart24.xml"/></Relationships>
</file>

<file path=ppt/slides/_rels/slide24.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26.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chart" Target="../charts/chart29.xml"/></Relationships>
</file>

<file path=ppt/slides/_rels/slide29.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chart" Target="../charts/chart31.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33.xml"/><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chart" Target="../charts/chart34.xml"/></Relationships>
</file>

<file path=ppt/slides/_rels/slide34.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10972800" cy="365760"/>
          </a:xfrm>
          <a:prstGeom prst="rect">
            <a:avLst/>
          </a:prstGeom>
          <a:noFill/>
          <a:ln/>
        </p:spPr>
        <p:txBody>
          <a:bodyPr wrap="square" lIns="0" tIns="0" rIns="0" bIns="0" rtlCol="0" anchor="ctr"/>
          <a:lstStyle/>
          <a:p>
            <a:pPr marL="0" indent="0">
              <a:buNone/>
            </a:pPr>
            <a:r>
              <a:rPr lang="en-US" sz="1500" b="1" kern="0" spc="300">
                <a:solidFill>
                  <a:srgbClr val="D9A441"/>
                </a:solidFill>
                <a:latin typeface="Calibri" pitchFamily="34" charset="0"/>
                <a:ea typeface="Calibri" pitchFamily="34" charset="-122"/>
                <a:cs typeface="Calibri" pitchFamily="34" charset="-120"/>
              </a:rPr>
              <a:t>MITSUI THAILAND HOTEL PORTFOLIO</a:t>
            </a:r>
            <a:endParaRPr lang="en-US" sz="1500"/>
          </a:p>
        </p:txBody>
      </p:sp>
      <p:sp>
        <p:nvSpPr>
          <p:cNvPr id="3" name="Text 1"/>
          <p:cNvSpPr/>
          <p:nvPr/>
        </p:nvSpPr>
        <p:spPr>
          <a:xfrm>
            <a:off x="548640" y="2331720"/>
            <a:ext cx="11155680" cy="960120"/>
          </a:xfrm>
          <a:prstGeom prst="rect">
            <a:avLst/>
          </a:prstGeom>
          <a:noFill/>
          <a:ln/>
        </p:spPr>
        <p:txBody>
          <a:bodyPr wrap="square" lIns="0" tIns="0" rIns="0" bIns="0" rtlCol="0" anchor="ctr"/>
          <a:lstStyle/>
          <a:p>
            <a:pPr marL="0" indent="0">
              <a:buNone/>
            </a:pPr>
            <a:r>
              <a:rPr lang="en-US" sz="4800" b="1">
                <a:solidFill>
                  <a:srgbClr val="FFFFFF"/>
                </a:solidFill>
                <a:latin typeface="Calibri" pitchFamily="34" charset="0"/>
                <a:ea typeface="Calibri" pitchFamily="34" charset="-122"/>
                <a:cs typeface="Calibri" pitchFamily="34" charset="-120"/>
              </a:rPr>
              <a:t>Performance Report — H1 2026</a:t>
            </a:r>
            <a:endParaRPr lang="en-US" sz="4800"/>
          </a:p>
        </p:txBody>
      </p:sp>
      <p:sp>
        <p:nvSpPr>
          <p:cNvPr id="4" name="Text 2"/>
          <p:cNvSpPr/>
          <p:nvPr/>
        </p:nvSpPr>
        <p:spPr>
          <a:xfrm>
            <a:off x="548640" y="3383280"/>
            <a:ext cx="10515600" cy="365760"/>
          </a:xfrm>
          <a:prstGeom prst="rect">
            <a:avLst/>
          </a:prstGeom>
          <a:noFill/>
          <a:ln/>
        </p:spPr>
        <p:txBody>
          <a:bodyPr wrap="square" lIns="0" tIns="0" rIns="0" bIns="0" rtlCol="0" anchor="ctr"/>
          <a:lstStyle/>
          <a:p>
            <a:pPr marL="0" indent="0">
              <a:buNone/>
            </a:pPr>
            <a:r>
              <a:rPr lang="en-US" sz="1500">
                <a:solidFill>
                  <a:srgbClr val="AFC0E8"/>
                </a:solidFill>
                <a:latin typeface="Calibri" pitchFamily="34" charset="0"/>
                <a:ea typeface="Calibri" pitchFamily="34" charset="-122"/>
                <a:cs typeface="Calibri" pitchFamily="34" charset="-120"/>
              </a:rPr>
              <a:t>Tourist arrivals · Market (STR) · Portfolio · By property: performance · P&amp;L · segmentation · nationality</a:t>
            </a:r>
            <a:endParaRPr lang="en-US" sz="1500"/>
          </a:p>
        </p:txBody>
      </p:sp>
      <p:sp>
        <p:nvSpPr>
          <p:cNvPr id="5" name="Text 3"/>
          <p:cNvSpPr/>
          <p:nvPr/>
        </p:nvSpPr>
        <p:spPr>
          <a:xfrm>
            <a:off x="548640" y="5806440"/>
            <a:ext cx="10515600" cy="320040"/>
          </a:xfrm>
          <a:prstGeom prst="rect">
            <a:avLst/>
          </a:prstGeom>
          <a:noFill/>
          <a:ln/>
        </p:spPr>
        <p:txBody>
          <a:bodyPr wrap="square" lIns="0" tIns="0" rIns="0" bIns="0" rtlCol="0" anchor="ctr"/>
          <a:lstStyle/>
          <a:p>
            <a:pPr marL="0" indent="0">
              <a:buNone/>
            </a:pPr>
            <a:r>
              <a:rPr lang="en-US" sz="1200">
                <a:solidFill>
                  <a:srgbClr val="7C8BC0"/>
                </a:solidFill>
                <a:latin typeface="Calibri" pitchFamily="34" charset="0"/>
                <a:ea typeface="Calibri" pitchFamily="34" charset="-122"/>
                <a:cs typeface="Calibri" pitchFamily="34" charset="-120"/>
              </a:rPr>
              <a:t>Somerset Rama 9 (SR9)  ·  Ascott Embassy Sathorn (AES)  ·  lyf Sukhumvit 8 (LYF)  ·  Somerset Pattaya (SP)</a:t>
            </a:r>
            <a:endParaRPr lang="en-US" sz="1200"/>
          </a:p>
        </p:txBody>
      </p:sp>
      <p:sp>
        <p:nvSpPr>
          <p:cNvPr id="6" name="Text 4"/>
          <p:cNvSpPr/>
          <p:nvPr/>
        </p:nvSpPr>
        <p:spPr>
          <a:xfrm>
            <a:off x="548640" y="6144768"/>
            <a:ext cx="10515600" cy="320040"/>
          </a:xfrm>
          <a:prstGeom prst="rect">
            <a:avLst/>
          </a:prstGeom>
          <a:noFill/>
          <a:ln/>
        </p:spPr>
        <p:txBody>
          <a:bodyPr wrap="square" lIns="0" tIns="0" rIns="0" bIns="0" rtlCol="0" anchor="ctr"/>
          <a:lstStyle/>
          <a:p>
            <a:pPr marL="0" indent="0">
              <a:buNone/>
            </a:pPr>
            <a:r>
              <a:rPr lang="en-US" sz="1100">
                <a:solidFill>
                  <a:srgbClr val="7C8BC0"/>
                </a:solidFill>
                <a:latin typeface="Calibri" pitchFamily="34" charset="0"/>
                <a:ea typeface="Calibri" pitchFamily="34" charset="-122"/>
                <a:cs typeface="Calibri" pitchFamily="34" charset="-120"/>
              </a:rPr>
              <a:t>Data through June 2026 (June arrivals preliminary · STR: Bangkok &amp; Pattaya re-based, Jan–Jun) · Prepared July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1</a:t>
            </a:r>
            <a:endParaRPr lang="en-US" sz="9600"/>
          </a:p>
        </p:txBody>
      </p:sp>
      <p:sp>
        <p:nvSpPr>
          <p:cNvPr id="3" name="Text 1"/>
          <p:cNvSpPr/>
          <p:nvPr/>
        </p:nvSpPr>
        <p:spPr>
          <a:xfrm>
            <a:off x="2514600" y="2286000"/>
            <a:ext cx="8778240" cy="914400"/>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Thailand Tourist Arrivals</a:t>
            </a:r>
            <a:endParaRPr lang="en-US" sz="4000"/>
          </a:p>
        </p:txBody>
      </p:sp>
      <p:sp>
        <p:nvSpPr>
          <p:cNvPr id="4" name="Text 2"/>
          <p:cNvSpPr/>
          <p:nvPr/>
        </p:nvSpPr>
        <p:spPr>
          <a:xfrm>
            <a:off x="2542032" y="3246120"/>
            <a:ext cx="8412480" cy="822960"/>
          </a:xfrm>
          <a:prstGeom prst="rect">
            <a:avLst/>
          </a:prstGeom>
          <a:noFill/>
          <a:ln/>
        </p:spPr>
        <p:txBody>
          <a:bodyPr wrap="square" lIns="0" tIns="0" rIns="0" bIns="0" rtlCol="0" anchor="ctr"/>
          <a:lstStyle/>
          <a:p>
            <a:pPr marL="0" indent="0">
              <a:buNone/>
            </a:pPr>
            <a:r>
              <a:rPr lang="en-US" sz="1400">
                <a:solidFill>
                  <a:srgbClr val="AFC0E8"/>
                </a:solidFill>
                <a:latin typeface="Calibri" pitchFamily="34" charset="0"/>
                <a:ea typeface="Calibri" pitchFamily="34" charset="-122"/>
                <a:cs typeface="Calibri" pitchFamily="34" charset="-120"/>
              </a:rPr>
              <a:t>Total (MOTS) · Chinese · India · Middle East · Long-haul (EU + USA)</a:t>
            </a:r>
            <a:endParaRPr lang="en-US" sz="1400"/>
          </a:p>
        </p:txBody>
      </p:sp>
      <p:sp>
        <p:nvSpPr>
          <p:cNvPr id="5" name="Text 3"/>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1 · TOURIST ARRIVALS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Total international arrivals (MOTS)</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Monthly arrivals, all nationalities · H1 summary by year below (2020–22 COVID years omitted)</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600200"/>
          <a:ext cx="749808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8366760" y="1691640"/>
            <a:ext cx="324612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8" name="Text 5"/>
          <p:cNvSpPr/>
          <p:nvPr/>
        </p:nvSpPr>
        <p:spPr>
          <a:xfrm>
            <a:off x="8513064" y="1783080"/>
            <a:ext cx="295351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YTD JAN–JUN 2026</a:t>
            </a:r>
            <a:endParaRPr lang="en-US" sz="1050"/>
          </a:p>
        </p:txBody>
      </p:sp>
      <p:sp>
        <p:nvSpPr>
          <p:cNvPr id="9" name="Text 6"/>
          <p:cNvSpPr/>
          <p:nvPr/>
        </p:nvSpPr>
        <p:spPr>
          <a:xfrm>
            <a:off x="8513064" y="2002536"/>
            <a:ext cx="295351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16.16M</a:t>
            </a:r>
            <a:endParaRPr lang="en-US" sz="2400"/>
          </a:p>
        </p:txBody>
      </p:sp>
      <p:sp>
        <p:nvSpPr>
          <p:cNvPr id="10" name="Text 7"/>
          <p:cNvSpPr/>
          <p:nvPr/>
        </p:nvSpPr>
        <p:spPr>
          <a:xfrm>
            <a:off x="8513064" y="2459736"/>
            <a:ext cx="295351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-3% vs 2025 (16.69M)</a:t>
            </a:r>
            <a:endParaRPr lang="en-US" sz="1050"/>
          </a:p>
        </p:txBody>
      </p:sp>
      <p:sp>
        <p:nvSpPr>
          <p:cNvPr id="11" name="Shape 8"/>
          <p:cNvSpPr/>
          <p:nvPr/>
        </p:nvSpPr>
        <p:spPr>
          <a:xfrm>
            <a:off x="8366760" y="3044952"/>
            <a:ext cx="324612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2" name="Text 9"/>
          <p:cNvSpPr/>
          <p:nvPr/>
        </p:nvSpPr>
        <p:spPr>
          <a:xfrm>
            <a:off x="8513064" y="3136392"/>
            <a:ext cx="295351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YTD JAN–JUN 2025</a:t>
            </a:r>
            <a:endParaRPr lang="en-US" sz="1050"/>
          </a:p>
        </p:txBody>
      </p:sp>
      <p:sp>
        <p:nvSpPr>
          <p:cNvPr id="13" name="Text 10"/>
          <p:cNvSpPr/>
          <p:nvPr/>
        </p:nvSpPr>
        <p:spPr>
          <a:xfrm>
            <a:off x="8513064" y="3355848"/>
            <a:ext cx="295351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16.69M</a:t>
            </a:r>
            <a:endParaRPr lang="en-US" sz="2400"/>
          </a:p>
        </p:txBody>
      </p:sp>
      <p:sp>
        <p:nvSpPr>
          <p:cNvPr id="14" name="Text 11"/>
          <p:cNvSpPr/>
          <p:nvPr/>
        </p:nvSpPr>
        <p:spPr>
          <a:xfrm>
            <a:off x="8513064" y="3813048"/>
            <a:ext cx="295351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-4.7% vs 2024</a:t>
            </a:r>
            <a:endParaRPr lang="en-US" sz="1050"/>
          </a:p>
        </p:txBody>
      </p:sp>
      <p:sp>
        <p:nvSpPr>
          <p:cNvPr id="15" name="Shape 12"/>
          <p:cNvSpPr/>
          <p:nvPr/>
        </p:nvSpPr>
        <p:spPr>
          <a:xfrm>
            <a:off x="8366760" y="4398264"/>
            <a:ext cx="324612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6" name="Text 13"/>
          <p:cNvSpPr/>
          <p:nvPr/>
        </p:nvSpPr>
        <p:spPr>
          <a:xfrm>
            <a:off x="8513064" y="4489704"/>
            <a:ext cx="295351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VS PRE-COVID (2019)</a:t>
            </a:r>
            <a:endParaRPr lang="en-US" sz="1050"/>
          </a:p>
        </p:txBody>
      </p:sp>
      <p:sp>
        <p:nvSpPr>
          <p:cNvPr id="17" name="Text 14"/>
          <p:cNvSpPr/>
          <p:nvPr/>
        </p:nvSpPr>
        <p:spPr>
          <a:xfrm>
            <a:off x="8513064" y="4709160"/>
            <a:ext cx="295351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80%</a:t>
            </a:r>
            <a:endParaRPr lang="en-US" sz="2400"/>
          </a:p>
        </p:txBody>
      </p:sp>
      <p:sp>
        <p:nvSpPr>
          <p:cNvPr id="18" name="Text 15"/>
          <p:cNvSpPr/>
          <p:nvPr/>
        </p:nvSpPr>
        <p:spPr>
          <a:xfrm>
            <a:off x="8513064" y="5166360"/>
            <a:ext cx="2953512" cy="384048"/>
          </a:xfrm>
          <a:prstGeom prst="rect">
            <a:avLst/>
          </a:prstGeom>
          <a:noFill/>
          <a:ln/>
        </p:spPr>
        <p:txBody>
          <a:bodyPr wrap="square" lIns="0" tIns="0" rIns="0" bIns="0" rtlCol="0" anchor="ctr"/>
          <a:lstStyle/>
          <a:p>
            <a:pPr marL="0" indent="0">
              <a:buNone/>
            </a:pPr>
            <a:r>
              <a:rPr lang="en-US" sz="1050">
                <a:solidFill>
                  <a:srgbClr val="6B7280"/>
                </a:solidFill>
                <a:latin typeface="Calibri" pitchFamily="34" charset="0"/>
                <a:ea typeface="Calibri" pitchFamily="34" charset="-122"/>
                <a:cs typeface="Calibri" pitchFamily="34" charset="-120"/>
              </a:rPr>
              <a:t>of Jan–Jun 2019 level</a:t>
            </a:r>
            <a:endParaRPr lang="en-US" sz="1050"/>
          </a:p>
        </p:txBody>
      </p:sp>
      <p:sp>
        <p:nvSpPr>
          <p:cNvPr id="19" name="Text 16"/>
          <p:cNvSpPr/>
          <p:nvPr/>
        </p:nvSpPr>
        <p:spPr>
          <a:xfrm>
            <a:off x="548640" y="6172200"/>
            <a:ext cx="10881360" cy="438912"/>
          </a:xfrm>
          <a:prstGeom prst="rect">
            <a:avLst/>
          </a:prstGeom>
          <a:noFill/>
          <a:ln/>
        </p:spPr>
        <p:txBody>
          <a:bodyPr wrap="square" lIns="0" tIns="0" rIns="0" bIns="0" rtlCol="0" anchor="ctr"/>
          <a:lstStyle/>
          <a:p>
            <a:pPr marL="0" indent="0">
              <a:buNone/>
            </a:pPr>
            <a:r>
              <a:rPr lang="en-US" sz="1050" i="1">
                <a:solidFill>
                  <a:srgbClr val="6B7280"/>
                </a:solidFill>
                <a:latin typeface="Calibri" pitchFamily="34" charset="0"/>
                <a:ea typeface="Calibri" pitchFamily="34" charset="-122"/>
                <a:cs typeface="Calibri" pitchFamily="34" charset="-120"/>
              </a:rPr>
              <a:t>Source: MOTS. June 2026 lost 4 days to a system error; "+Jun est." adds the pro-rated estimate (June ≈ 2.12M, H1 ≈ 16.16M = −3.2% vs 2025) from the workbook audit sheet.</a:t>
            </a:r>
            <a:endParaRPr lang="en-US" sz="1050"/>
          </a:p>
        </p:txBody>
      </p:sp>
      <p:sp>
        <p:nvSpPr>
          <p:cNvPr id="22" name="Rectangle 21">
            <a:extLst>
              <a:ext uri="{FF2B5EF4-FFF2-40B4-BE49-F238E27FC236}">
                <a16:creationId xmlns:a16="http://schemas.microsoft.com/office/drawing/2014/main" id="{DE0E574B-D851-0770-1155-49CA203A1272}"/>
              </a:ext>
            </a:extLst>
          </p:cNvPr>
          <p:cNvSpPr/>
          <p:nvPr/>
        </p:nvSpPr>
        <p:spPr>
          <a:xfrm>
            <a:off x="4326505" y="2601108"/>
            <a:ext cx="144454" cy="246222"/>
          </a:xfrm>
          <a:prstGeom prst="rect">
            <a:avLst/>
          </a:prstGeom>
          <a:solidFill>
            <a:srgbClr val="1E2761">
              <a:alpha val="30196"/>
            </a:srgbClr>
          </a:solidFill>
          <a:ln>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C49297B-A31C-4886-062D-DEB7734F8EFE}"/>
              </a:ext>
            </a:extLst>
          </p:cNvPr>
          <p:cNvSpPr txBox="1"/>
          <p:nvPr/>
        </p:nvSpPr>
        <p:spPr>
          <a:xfrm>
            <a:off x="4082489" y="2436116"/>
            <a:ext cx="1394946" cy="246221"/>
          </a:xfrm>
          <a:prstGeom prst="rect">
            <a:avLst/>
          </a:prstGeom>
          <a:noFill/>
        </p:spPr>
        <p:txBody>
          <a:bodyPr wrap="square" rtlCol="0">
            <a:spAutoFit/>
          </a:bodyPr>
          <a:lstStyle/>
          <a:p>
            <a:r>
              <a:rPr lang="en-US" sz="1000"/>
              <a:t>**Missing 4 days data</a:t>
            </a:r>
          </a:p>
        </p:txBody>
      </p:sp>
      <p:sp>
        <p:nvSpPr>
          <p:cNvPr id="30" name="TextBox 29">
            <a:extLst>
              <a:ext uri="{FF2B5EF4-FFF2-40B4-BE49-F238E27FC236}">
                <a16:creationId xmlns:a16="http://schemas.microsoft.com/office/drawing/2014/main" id="{6A88823B-49F8-4CF8-9266-A59B431BC122}"/>
              </a:ext>
            </a:extLst>
          </p:cNvPr>
          <p:cNvSpPr txBox="1"/>
          <p:nvPr/>
        </p:nvSpPr>
        <p:spPr>
          <a:xfrm>
            <a:off x="1742898" y="4297513"/>
            <a:ext cx="538078" cy="246221"/>
          </a:xfrm>
          <a:prstGeom prst="rect">
            <a:avLst/>
          </a:prstGeom>
          <a:noFill/>
        </p:spPr>
        <p:txBody>
          <a:bodyPr wrap="square" rtlCol="0">
            <a:spAutoFit/>
          </a:bodyPr>
          <a:lstStyle/>
          <a:p>
            <a:r>
              <a:rPr lang="en-US" sz="1000"/>
              <a:t>**CNY</a:t>
            </a:r>
          </a:p>
        </p:txBody>
      </p:sp>
      <p:sp>
        <p:nvSpPr>
          <p:cNvPr id="34" name="TextBox 33">
            <a:extLst>
              <a:ext uri="{FF2B5EF4-FFF2-40B4-BE49-F238E27FC236}">
                <a16:creationId xmlns:a16="http://schemas.microsoft.com/office/drawing/2014/main" id="{68530198-3EC4-CD79-A189-649DBADE152B}"/>
              </a:ext>
            </a:extLst>
          </p:cNvPr>
          <p:cNvSpPr txBox="1"/>
          <p:nvPr/>
        </p:nvSpPr>
        <p:spPr>
          <a:xfrm>
            <a:off x="8464060" y="2361492"/>
            <a:ext cx="1094448" cy="230832"/>
          </a:xfrm>
          <a:prstGeom prst="rect">
            <a:avLst/>
          </a:prstGeom>
          <a:noFill/>
        </p:spPr>
        <p:txBody>
          <a:bodyPr wrap="square">
            <a:spAutoFit/>
          </a:bodyPr>
          <a:lstStyle/>
          <a:p>
            <a:r>
              <a:rPr lang="en-US" sz="900" b="1">
                <a:solidFill>
                  <a:srgbClr val="26292E"/>
                </a:solidFill>
                <a:latin typeface="Calibri"/>
              </a:rPr>
              <a:t>(Estimate + actual)</a:t>
            </a:r>
            <a:endParaRPr lang="en-US"/>
          </a:p>
        </p:txBody>
      </p:sp>
      <p:graphicFrame>
        <p:nvGraphicFramePr>
          <p:cNvPr id="35" name="Table 34"/>
          <p:cNvGraphicFramePr>
            <a:graphicFrameLocks noGrp="1"/>
          </p:cNvGraphicFramePr>
          <p:nvPr/>
        </p:nvGraphicFramePr>
        <p:xfrm>
          <a:off x="548640" y="4572000"/>
          <a:ext cx="7406640" cy="1523390"/>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gridCol w="1234440">
                  <a:extLst>
                    <a:ext uri="{9D8B030D-6E8A-4147-A177-3AD203B41FA5}">
                      <a16:colId xmlns:a16="http://schemas.microsoft.com/office/drawing/2014/main" val="20007"/>
                    </a:ext>
                  </a:extLst>
                </a:gridCol>
              </a:tblGrid>
              <a:tr h="205740">
                <a:tc>
                  <a:txBody>
                    <a:bodyPr/>
                    <a:lstStyle/>
                    <a:p>
                      <a:pPr algn="l"/>
                      <a:endParaRP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Jan</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Feb</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Mar</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Apr</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May</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Jun</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00" b="1">
                          <a:solidFill>
                            <a:srgbClr val="FFFFFF"/>
                          </a:solidFill>
                          <a:latin typeface="Calibri"/>
                        </a:rPr>
                        <a:t>H1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205740">
                <a:tc>
                  <a:txBody>
                    <a:bodyPr/>
                    <a:lstStyle/>
                    <a:p>
                      <a:pPr algn="l"/>
                      <a:r>
                        <a:rPr sz="800" b="0">
                          <a:solidFill>
                            <a:srgbClr val="26292E"/>
                          </a:solidFill>
                          <a:latin typeface="Calibri"/>
                        </a:rPr>
                        <a:t>2019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3,713,172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3,600,922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3,478,687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3,216,929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2,736,598</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3,056,697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19,803,005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205740">
                <a:tc>
                  <a:txBody>
                    <a:bodyPr/>
                    <a:lstStyle/>
                    <a:p>
                      <a:pPr algn="l"/>
                      <a:r>
                        <a:rPr sz="800" b="0">
                          <a:solidFill>
                            <a:srgbClr val="26292E"/>
                          </a:solidFill>
                          <a:latin typeface="Calibri"/>
                        </a:rPr>
                        <a:t>2024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3,035,296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3,352,302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2,982,721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2,757,128</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2,633,464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2,740,372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17,501,283</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205740">
                <a:tc>
                  <a:txBody>
                    <a:bodyPr/>
                    <a:lstStyle/>
                    <a:p>
                      <a:pPr algn="l"/>
                      <a:r>
                        <a:rPr sz="800" b="0">
                          <a:solidFill>
                            <a:srgbClr val="26292E"/>
                          </a:solidFill>
                          <a:latin typeface="Calibri"/>
                        </a:rPr>
                        <a:t>2025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3,709,102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3,119,445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2,720,457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2,547,116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2,266,574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2,322,775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16,685,469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205740">
                <a:tc>
                  <a:txBody>
                    <a:bodyPr/>
                    <a:lstStyle/>
                    <a:p>
                      <a:pPr algn="l"/>
                      <a:r>
                        <a:rPr sz="800" b="1">
                          <a:solidFill>
                            <a:srgbClr val="26292E"/>
                          </a:solidFill>
                          <a:latin typeface="Calibri"/>
                        </a:rPr>
                        <a:t>2026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3,277,908</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3,263,802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2,775,199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2,368,895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2,346,845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1,841,551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26292E"/>
                          </a:solidFill>
                          <a:latin typeface="Calibri"/>
                        </a:rPr>
                        <a:t>15,874,200</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r h="205740">
                <a:tc>
                  <a:txBody>
                    <a:bodyPr/>
                    <a:lstStyle/>
                    <a:p>
                      <a:pPr algn="l"/>
                      <a:r>
                        <a:rPr sz="800" b="1">
                          <a:solidFill>
                            <a:srgbClr val="595959"/>
                          </a:solidFill>
                          <a:latin typeface="Calibri"/>
                        </a:rPr>
                        <a:t>26 +Jun est.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0">
                          <a:solidFill>
                            <a:srgbClr val="595959"/>
                          </a:solidFill>
                          <a:latin typeface="Calibri"/>
                        </a:rPr>
                        <a:t>2,124,867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595959"/>
                          </a:solidFill>
                          <a:latin typeface="Calibri"/>
                        </a:rPr>
                        <a:t>16,157,516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5"/>
                  </a:ext>
                </a:extLst>
              </a:tr>
              <a:tr h="205740">
                <a:tc>
                  <a:txBody>
                    <a:bodyPr/>
                    <a:lstStyle/>
                    <a:p>
                      <a:pPr algn="l"/>
                      <a:r>
                        <a:rPr sz="800" b="1">
                          <a:solidFill>
                            <a:srgbClr val="26292E"/>
                          </a:solidFill>
                          <a:latin typeface="Calibri"/>
                        </a:rPr>
                        <a:t>26 (Est.) vs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C62828"/>
                          </a:solidFill>
                          <a:latin typeface="Calibri"/>
                        </a:rPr>
                        <a:t>-12%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1E7B34"/>
                          </a:solidFill>
                          <a:latin typeface="Calibri"/>
                        </a:rPr>
                        <a:t>+5%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1E7B34"/>
                          </a:solidFill>
                          <a:latin typeface="Calibri"/>
                        </a:rPr>
                        <a:t>+2%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C62828"/>
                          </a:solidFill>
                          <a:latin typeface="Calibri"/>
                        </a:rPr>
                        <a:t>-7%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1E7B34"/>
                          </a:solidFill>
                          <a:latin typeface="Calibri"/>
                        </a:rPr>
                        <a:t>+4%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C62828"/>
                          </a:solidFill>
                          <a:latin typeface="Calibri"/>
                        </a:rPr>
                        <a:t>-9%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00" b="1">
                          <a:solidFill>
                            <a:srgbClr val="C62828"/>
                          </a:solidFill>
                          <a:latin typeface="Calibri"/>
                        </a:rPr>
                        <a:t>-3.2%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1 · TOURIST ARRIVALS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Chinese &amp; India arrivals</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Jan–Jun by year · China: 2019 shown as pre-COVID reference · India: record highs</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856231"/>
          <a:ext cx="5349240" cy="26060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20" name="Chart 0"/>
          <p:cNvGraphicFramePr/>
          <p:nvPr/>
        </p:nvGraphicFramePr>
        <p:xfrm>
          <a:off x="6291072" y="1856231"/>
          <a:ext cx="534924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21" name="TextBox 920"/>
          <p:cNvSpPr txBox="1"/>
          <p:nvPr/>
        </p:nvSpPr>
        <p:spPr>
          <a:xfrm>
            <a:off x="548640" y="1481328"/>
            <a:ext cx="5349240" cy="256032"/>
          </a:xfrm>
          <a:prstGeom prst="rect">
            <a:avLst/>
          </a:prstGeom>
          <a:noFill/>
        </p:spPr>
        <p:txBody>
          <a:bodyPr wrap="square" lIns="0" tIns="0">
            <a:spAutoFit/>
          </a:bodyPr>
          <a:lstStyle/>
          <a:p>
            <a:r>
              <a:rPr sz="1200" b="1">
                <a:solidFill>
                  <a:srgbClr val="1E2761"/>
                </a:solidFill>
                <a:latin typeface="Calibri"/>
              </a:rPr>
              <a:t>CHINA</a:t>
            </a:r>
          </a:p>
        </p:txBody>
      </p:sp>
      <p:sp>
        <p:nvSpPr>
          <p:cNvPr id="922" name="TextBox 921"/>
          <p:cNvSpPr txBox="1"/>
          <p:nvPr/>
        </p:nvSpPr>
        <p:spPr>
          <a:xfrm>
            <a:off x="6291072" y="1481328"/>
            <a:ext cx="5349240" cy="256032"/>
          </a:xfrm>
          <a:prstGeom prst="rect">
            <a:avLst/>
          </a:prstGeom>
          <a:noFill/>
        </p:spPr>
        <p:txBody>
          <a:bodyPr wrap="square" lIns="0" tIns="0">
            <a:spAutoFit/>
          </a:bodyPr>
          <a:lstStyle/>
          <a:p>
            <a:r>
              <a:rPr sz="1200" b="1">
                <a:solidFill>
                  <a:srgbClr val="1E2761"/>
                </a:solidFill>
                <a:latin typeface="Calibri"/>
              </a:rPr>
              <a:t>INDIA</a:t>
            </a:r>
          </a:p>
        </p:txBody>
      </p:sp>
      <p:sp>
        <p:nvSpPr>
          <p:cNvPr id="923" name="TextBox 922"/>
          <p:cNvSpPr txBox="1"/>
          <p:nvPr/>
        </p:nvSpPr>
        <p:spPr>
          <a:xfrm>
            <a:off x="548640" y="5760597"/>
            <a:ext cx="5349240" cy="274320"/>
          </a:xfrm>
          <a:prstGeom prst="rect">
            <a:avLst/>
          </a:prstGeom>
          <a:noFill/>
        </p:spPr>
        <p:txBody>
          <a:bodyPr wrap="square" lIns="0" tIns="0">
            <a:spAutoFit/>
          </a:bodyPr>
          <a:lstStyle/>
          <a:p>
            <a:r>
              <a:rPr sz="1100" b="1">
                <a:solidFill>
                  <a:srgbClr val="26292E"/>
                </a:solidFill>
                <a:latin typeface="Calibri"/>
              </a:rPr>
              <a:t>H1: 2.60M · +14.8% vs 2025 · still 46% of 2019, 76% of 2024</a:t>
            </a:r>
          </a:p>
        </p:txBody>
      </p:sp>
      <p:sp>
        <p:nvSpPr>
          <p:cNvPr id="924" name="TextBox 923"/>
          <p:cNvSpPr txBox="1"/>
          <p:nvPr/>
        </p:nvSpPr>
        <p:spPr>
          <a:xfrm>
            <a:off x="6291072" y="5760597"/>
            <a:ext cx="5349240" cy="274320"/>
          </a:xfrm>
          <a:prstGeom prst="rect">
            <a:avLst/>
          </a:prstGeom>
          <a:noFill/>
        </p:spPr>
        <p:txBody>
          <a:bodyPr wrap="square" lIns="0" tIns="0">
            <a:spAutoFit/>
          </a:bodyPr>
          <a:lstStyle/>
          <a:p>
            <a:r>
              <a:rPr sz="1100" b="1">
                <a:solidFill>
                  <a:srgbClr val="26292E"/>
                </a:solidFill>
                <a:latin typeface="Calibri"/>
              </a:rPr>
              <a:t>H1: 1.22M · +3.1% vs 2025 — record high, 3rd straight growth year</a:t>
            </a:r>
          </a:p>
        </p:txBody>
      </p:sp>
      <p:graphicFrame>
        <p:nvGraphicFramePr>
          <p:cNvPr id="925" name="Table 924"/>
          <p:cNvGraphicFramePr>
            <a:graphicFrameLocks noGrp="1"/>
          </p:cNvGraphicFramePr>
          <p:nvPr/>
        </p:nvGraphicFramePr>
        <p:xfrm>
          <a:off x="548640" y="4553712"/>
          <a:ext cx="5349240" cy="1129284"/>
        </p:xfrm>
        <a:graphic>
          <a:graphicData uri="http://schemas.openxmlformats.org/drawingml/2006/table">
            <a:tbl>
              <a:tblPr>
                <a:tableStyleId>{5C22544A-7EE6-4342-B048-85BDC9FD1C3A}</a:tableStyleId>
              </a:tblPr>
              <a:tblGrid>
                <a:gridCol w="658368">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5836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40664">
                  <a:extLst>
                    <a:ext uri="{9D8B030D-6E8A-4147-A177-3AD203B41FA5}">
                      <a16:colId xmlns:a16="http://schemas.microsoft.com/office/drawing/2014/main" val="20007"/>
                    </a:ext>
                  </a:extLst>
                </a:gridCol>
              </a:tblGrid>
              <a:tr h="169164">
                <a:tc>
                  <a:txBody>
                    <a:bodyPr/>
                    <a:lstStyle/>
                    <a:p>
                      <a:pPr algn="l"/>
                      <a:endParaRP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Jan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Feb</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Apr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May</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Jun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H1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69164">
                <a:tc>
                  <a:txBody>
                    <a:bodyPr/>
                    <a:lstStyle/>
                    <a:p>
                      <a:pPr algn="l"/>
                      <a:r>
                        <a:rPr sz="750" b="0">
                          <a:solidFill>
                            <a:srgbClr val="26292E"/>
                          </a:solidFill>
                          <a:latin typeface="Calibri"/>
                        </a:rPr>
                        <a:t>2019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1,069,787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1,064,806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985,232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898,994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794,913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894,105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5,707,837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69164">
                <a:tc>
                  <a:txBody>
                    <a:bodyPr/>
                    <a:lstStyle/>
                    <a:p>
                      <a:pPr algn="l"/>
                      <a:r>
                        <a:rPr sz="750" b="0">
                          <a:solidFill>
                            <a:srgbClr val="26292E"/>
                          </a:solidFill>
                          <a:latin typeface="Calibri"/>
                        </a:rPr>
                        <a:t>2024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508,563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674,558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573,216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595,572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559,461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528,112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3,439,482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69164">
                <a:tc>
                  <a:txBody>
                    <a:bodyPr/>
                    <a:lstStyle/>
                    <a:p>
                      <a:pPr algn="l"/>
                      <a:r>
                        <a:rPr sz="750" b="0">
                          <a:solidFill>
                            <a:srgbClr val="26292E"/>
                          </a:solidFill>
                          <a:latin typeface="Calibri"/>
                        </a:rPr>
                        <a:t>2025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662,779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371,542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297,113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317,213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310,292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306,617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2,265,556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69164">
                <a:tc>
                  <a:txBody>
                    <a:bodyPr/>
                    <a:lstStyle/>
                    <a:p>
                      <a:pPr algn="l"/>
                      <a:r>
                        <a:rPr sz="750" b="1">
                          <a:solidFill>
                            <a:srgbClr val="26292E"/>
                          </a:solidFill>
                          <a:latin typeface="Calibri"/>
                        </a:rPr>
                        <a:t>2026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400,321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677,768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410,624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418,291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411,308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283,297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2,601,609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r h="169164">
                <a:tc>
                  <a:txBody>
                    <a:bodyPr/>
                    <a:lstStyle/>
                    <a:p>
                      <a:pPr algn="l"/>
                      <a:r>
                        <a:rPr sz="750" b="1">
                          <a:solidFill>
                            <a:srgbClr val="26292E"/>
                          </a:solidFill>
                          <a:latin typeface="Calibri"/>
                        </a:rPr>
                        <a:t>26 vs 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-40%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+82%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+38%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+32%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+33%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+14.8%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5"/>
                  </a:ext>
                </a:extLst>
              </a:tr>
            </a:tbl>
          </a:graphicData>
        </a:graphic>
      </p:graphicFrame>
      <p:graphicFrame>
        <p:nvGraphicFramePr>
          <p:cNvPr id="926" name="Table 925"/>
          <p:cNvGraphicFramePr>
            <a:graphicFrameLocks noGrp="1"/>
          </p:cNvGraphicFramePr>
          <p:nvPr/>
        </p:nvGraphicFramePr>
        <p:xfrm>
          <a:off x="6291072" y="4553712"/>
          <a:ext cx="5349240" cy="960120"/>
        </p:xfrm>
        <a:graphic>
          <a:graphicData uri="http://schemas.openxmlformats.org/drawingml/2006/table">
            <a:tbl>
              <a:tblPr>
                <a:tableStyleId>{5C22544A-7EE6-4342-B048-85BDC9FD1C3A}</a:tableStyleId>
              </a:tblPr>
              <a:tblGrid>
                <a:gridCol w="658368">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5836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40664">
                  <a:extLst>
                    <a:ext uri="{9D8B030D-6E8A-4147-A177-3AD203B41FA5}">
                      <a16:colId xmlns:a16="http://schemas.microsoft.com/office/drawing/2014/main" val="20007"/>
                    </a:ext>
                  </a:extLst>
                </a:gridCol>
              </a:tblGrid>
              <a:tr h="169164">
                <a:tc>
                  <a:txBody>
                    <a:bodyPr/>
                    <a:lstStyle/>
                    <a:p>
                      <a:pPr algn="l"/>
                      <a:endParaRP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Jan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Feb</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Apr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May</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Jun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H1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69164">
                <a:tc>
                  <a:txBody>
                    <a:bodyPr/>
                    <a:lstStyle/>
                    <a:p>
                      <a:pPr algn="l"/>
                      <a:r>
                        <a:rPr sz="750" b="0">
                          <a:solidFill>
                            <a:srgbClr val="26292E"/>
                          </a:solidFill>
                          <a:latin typeface="Calibri"/>
                        </a:rPr>
                        <a:t>2024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162,831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148,992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161,129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170,635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198,993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197,489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1,040,069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69164">
                <a:tc>
                  <a:txBody>
                    <a:bodyPr/>
                    <a:lstStyle/>
                    <a:p>
                      <a:pPr algn="l"/>
                      <a:r>
                        <a:rPr sz="750" b="0">
                          <a:solidFill>
                            <a:srgbClr val="26292E"/>
                          </a:solidFill>
                          <a:latin typeface="Calibri"/>
                        </a:rPr>
                        <a:t>2025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185,809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169,988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187,973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206,286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228,544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205,299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1,183,899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69164">
                <a:tc>
                  <a:txBody>
                    <a:bodyPr/>
                    <a:lstStyle/>
                    <a:p>
                      <a:pPr algn="l"/>
                      <a:r>
                        <a:rPr sz="750" b="1">
                          <a:solidFill>
                            <a:srgbClr val="26292E"/>
                          </a:solidFill>
                          <a:latin typeface="Calibri"/>
                        </a:rPr>
                        <a:t>2026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231,184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185,930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208,484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206,641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224,490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163,378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1,220,107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69164">
                <a:tc>
                  <a:txBody>
                    <a:bodyPr/>
                    <a:lstStyle/>
                    <a:p>
                      <a:pPr algn="l"/>
                      <a:r>
                        <a:rPr sz="750" b="1">
                          <a:solidFill>
                            <a:srgbClr val="26292E"/>
                          </a:solidFill>
                          <a:latin typeface="Calibri"/>
                        </a:rPr>
                        <a:t>26 vs 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+24%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+11%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-20%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+3.1%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bl>
          </a:graphicData>
        </a:graphic>
      </p:graphicFrame>
      <p:sp>
        <p:nvSpPr>
          <p:cNvPr id="8" name="Right Brace 7">
            <a:extLst>
              <a:ext uri="{FF2B5EF4-FFF2-40B4-BE49-F238E27FC236}">
                <a16:creationId xmlns:a16="http://schemas.microsoft.com/office/drawing/2014/main" id="{D4E25DBC-C75C-A38C-282A-6E36E013E6BD}"/>
              </a:ext>
            </a:extLst>
          </p:cNvPr>
          <p:cNvSpPr/>
          <p:nvPr/>
        </p:nvSpPr>
        <p:spPr>
          <a:xfrm rot="16200000">
            <a:off x="10665671" y="1091532"/>
            <a:ext cx="201573" cy="15293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B38C4911-6CFD-051C-79B0-C66503D77E6B}"/>
              </a:ext>
            </a:extLst>
          </p:cNvPr>
          <p:cNvSpPr txBox="1"/>
          <p:nvPr/>
        </p:nvSpPr>
        <p:spPr>
          <a:xfrm>
            <a:off x="10171692" y="1434722"/>
            <a:ext cx="1189530" cy="430887"/>
          </a:xfrm>
          <a:prstGeom prst="rect">
            <a:avLst/>
          </a:prstGeom>
          <a:noFill/>
        </p:spPr>
        <p:txBody>
          <a:bodyPr wrap="square" rtlCol="0">
            <a:spAutoFit/>
          </a:bodyPr>
          <a:lstStyle/>
          <a:p>
            <a:pPr algn="ctr"/>
            <a:r>
              <a:rPr lang="en-US" sz="1100"/>
              <a:t>60 days free</a:t>
            </a:r>
          </a:p>
          <a:p>
            <a:pPr algn="ctr"/>
            <a:r>
              <a:rPr lang="en-US" sz="1100"/>
              <a:t>Visa cancellation</a:t>
            </a:r>
          </a:p>
        </p:txBody>
      </p:sp>
      <p:sp>
        <p:nvSpPr>
          <p:cNvPr id="11" name="Star: 5 Points 10">
            <a:extLst>
              <a:ext uri="{FF2B5EF4-FFF2-40B4-BE49-F238E27FC236}">
                <a16:creationId xmlns:a16="http://schemas.microsoft.com/office/drawing/2014/main" id="{A562E0FA-9704-8132-4444-81CCA9392039}"/>
              </a:ext>
            </a:extLst>
          </p:cNvPr>
          <p:cNvSpPr/>
          <p:nvPr/>
        </p:nvSpPr>
        <p:spPr>
          <a:xfrm>
            <a:off x="2298305" y="2648380"/>
            <a:ext cx="117761" cy="123258"/>
          </a:xfrm>
          <a:prstGeom prst="star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3FC0792-EC48-F0A8-C0CB-13257F1617C5}"/>
              </a:ext>
            </a:extLst>
          </p:cNvPr>
          <p:cNvSpPr txBox="1"/>
          <p:nvPr/>
        </p:nvSpPr>
        <p:spPr>
          <a:xfrm>
            <a:off x="2360519" y="2601468"/>
            <a:ext cx="982766" cy="261610"/>
          </a:xfrm>
          <a:prstGeom prst="rect">
            <a:avLst/>
          </a:prstGeom>
          <a:noFill/>
        </p:spPr>
        <p:txBody>
          <a:bodyPr wrap="square" rtlCol="0">
            <a:spAutoFit/>
          </a:bodyPr>
          <a:lstStyle/>
          <a:p>
            <a:r>
              <a:rPr lang="en-US" sz="1100">
                <a:solidFill>
                  <a:srgbClr val="FF0000"/>
                </a:solidFill>
              </a:rPr>
              <a:t>CNY</a:t>
            </a:r>
            <a:endParaRPr lang="en-US">
              <a:solidFill>
                <a:srgbClr val="FF0000"/>
              </a:solidFill>
            </a:endParaRPr>
          </a:p>
        </p:txBody>
      </p:sp>
      <p:sp>
        <p:nvSpPr>
          <p:cNvPr id="10" name="Rectangle 9">
            <a:extLst>
              <a:ext uri="{FF2B5EF4-FFF2-40B4-BE49-F238E27FC236}">
                <a16:creationId xmlns:a16="http://schemas.microsoft.com/office/drawing/2014/main" id="{BA065445-756C-C8A8-A2BF-4AEA75A407AB}"/>
              </a:ext>
            </a:extLst>
          </p:cNvPr>
          <p:cNvSpPr/>
          <p:nvPr/>
        </p:nvSpPr>
        <p:spPr>
          <a:xfrm>
            <a:off x="548639" y="5998901"/>
            <a:ext cx="11198601" cy="71235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a:solidFill>
                  <a:sysClr val="windowText" lastClr="000000"/>
                </a:solidFill>
                <a:latin typeface="Calibri" pitchFamily="34" charset="0"/>
                <a:ea typeface="Calibri" pitchFamily="34" charset="-122"/>
                <a:cs typeface="Calibri" pitchFamily="34" charset="-120"/>
              </a:rPr>
              <a:t>Key takeaway: China is recovering vs 2025 (+14.8%), but is still only ~46% of pre-COVID.</a:t>
            </a:r>
          </a:p>
          <a:p>
            <a:r>
              <a:rPr sz="1200">
                <a:solidFill>
                  <a:schemeClr val="tx1"/>
                </a:solidFill>
                <a:latin typeface="Calibri"/>
              </a:rPr>
              <a:t>India is the strongest growth market — +24% in January and a record H1.</a:t>
            </a:r>
          </a:p>
          <a:p>
            <a:r>
              <a:rPr sz="1200">
                <a:latin typeface="Calibri"/>
              </a:rPr>
              <a:t>***June carries the MOTS 4-day data-loss gap.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1 · TOURIST ARRIVALS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Middle East &amp; Long-haul arrivals</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Jan–Jun · Middle East by year (2019 = pre-COVID reference) · Long-haul = Europe + USA combined, monthly by year</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2854971644"/>
              </p:ext>
            </p:extLst>
          </p:nvPr>
        </p:nvGraphicFramePr>
        <p:xfrm>
          <a:off x="548640" y="1755646"/>
          <a:ext cx="5349240" cy="2798065"/>
        </p:xfrm>
        <a:graphic>
          <a:graphicData uri="http://schemas.openxmlformats.org/drawingml/2006/chart">
            <c:chart xmlns:c="http://schemas.openxmlformats.org/drawingml/2006/chart" xmlns:r="http://schemas.openxmlformats.org/officeDocument/2006/relationships" r:id="rId3"/>
          </a:graphicData>
        </a:graphic>
      </p:graphicFrame>
      <p:sp>
        <p:nvSpPr>
          <p:cNvPr id="939" name="TextBox 938"/>
          <p:cNvSpPr txBox="1"/>
          <p:nvPr/>
        </p:nvSpPr>
        <p:spPr>
          <a:xfrm>
            <a:off x="548640" y="1481328"/>
            <a:ext cx="5349240" cy="256032"/>
          </a:xfrm>
          <a:prstGeom prst="rect">
            <a:avLst/>
          </a:prstGeom>
          <a:noFill/>
        </p:spPr>
        <p:txBody>
          <a:bodyPr wrap="square" lIns="0" tIns="0">
            <a:spAutoFit/>
          </a:bodyPr>
          <a:lstStyle/>
          <a:p>
            <a:r>
              <a:rPr sz="1200" b="1">
                <a:solidFill>
                  <a:srgbClr val="1E2761"/>
                </a:solidFill>
                <a:latin typeface="Calibri"/>
              </a:rPr>
              <a:t>MIDDLE EAST</a:t>
            </a:r>
          </a:p>
        </p:txBody>
      </p:sp>
      <p:sp>
        <p:nvSpPr>
          <p:cNvPr id="942" name="TextBox 941"/>
          <p:cNvSpPr txBox="1"/>
          <p:nvPr/>
        </p:nvSpPr>
        <p:spPr>
          <a:xfrm>
            <a:off x="548640" y="5614853"/>
            <a:ext cx="5349240" cy="292608"/>
          </a:xfrm>
          <a:prstGeom prst="rect">
            <a:avLst/>
          </a:prstGeom>
          <a:noFill/>
        </p:spPr>
        <p:txBody>
          <a:bodyPr wrap="square" lIns="0" tIns="0">
            <a:spAutoFit/>
          </a:bodyPr>
          <a:lstStyle/>
          <a:p>
            <a:r>
              <a:rPr sz="1050" b="1">
                <a:solidFill>
                  <a:srgbClr val="26292E"/>
                </a:solidFill>
                <a:latin typeface="Calibri"/>
              </a:rPr>
              <a:t>H1: 202k · −28.5% vs 25 · 36% of 2019 · worst: Apr −57%</a:t>
            </a:r>
          </a:p>
        </p:txBody>
      </p:sp>
      <p:graphicFrame>
        <p:nvGraphicFramePr>
          <p:cNvPr id="943" name="Chart 942"/>
          <p:cNvGraphicFramePr>
            <a:graphicFrameLocks noGrp="1"/>
          </p:cNvGraphicFramePr>
          <p:nvPr>
            <p:extLst>
              <p:ext uri="{D42A27DB-BD31-4B8C-83A1-F6EECF244321}">
                <p14:modId xmlns:p14="http://schemas.microsoft.com/office/powerpoint/2010/main" val="1654256271"/>
              </p:ext>
            </p:extLst>
          </p:nvPr>
        </p:nvGraphicFramePr>
        <p:xfrm>
          <a:off x="6291072" y="1755647"/>
          <a:ext cx="5349240" cy="2798064"/>
        </p:xfrm>
        <a:graphic>
          <a:graphicData uri="http://schemas.openxmlformats.org/drawingml/2006/chart">
            <c:chart xmlns:c="http://schemas.openxmlformats.org/drawingml/2006/chart" xmlns:r="http://schemas.openxmlformats.org/officeDocument/2006/relationships" r:id="rId4"/>
          </a:graphicData>
        </a:graphic>
      </p:graphicFrame>
      <p:sp>
        <p:nvSpPr>
          <p:cNvPr id="944" name="TextBox 943"/>
          <p:cNvSpPr txBox="1"/>
          <p:nvPr/>
        </p:nvSpPr>
        <p:spPr>
          <a:xfrm>
            <a:off x="6291072" y="1481328"/>
            <a:ext cx="5349240" cy="256032"/>
          </a:xfrm>
          <a:prstGeom prst="rect">
            <a:avLst/>
          </a:prstGeom>
          <a:noFill/>
        </p:spPr>
        <p:txBody>
          <a:bodyPr wrap="square" lIns="0" tIns="0">
            <a:spAutoFit/>
          </a:bodyPr>
          <a:lstStyle/>
          <a:p>
            <a:r>
              <a:rPr sz="1200" b="1">
                <a:solidFill>
                  <a:srgbClr val="1E2761"/>
                </a:solidFill>
                <a:latin typeface="Calibri"/>
              </a:rPr>
              <a:t>LONG-HAUL (EU + USA)</a:t>
            </a:r>
          </a:p>
        </p:txBody>
      </p:sp>
      <p:sp>
        <p:nvSpPr>
          <p:cNvPr id="945" name="TextBox 944"/>
          <p:cNvSpPr txBox="1"/>
          <p:nvPr/>
        </p:nvSpPr>
        <p:spPr>
          <a:xfrm>
            <a:off x="6291072" y="5614853"/>
            <a:ext cx="5349240" cy="292608"/>
          </a:xfrm>
          <a:prstGeom prst="rect">
            <a:avLst/>
          </a:prstGeom>
          <a:noFill/>
        </p:spPr>
        <p:txBody>
          <a:bodyPr wrap="square" lIns="0" tIns="0">
            <a:spAutoFit/>
          </a:bodyPr>
          <a:lstStyle/>
          <a:p>
            <a:r>
              <a:rPr sz="1050" b="1">
                <a:solidFill>
                  <a:srgbClr val="26292E"/>
                </a:solidFill>
                <a:latin typeface="Calibri"/>
              </a:rPr>
              <a:t>H1: 5.05M · −1.2% vs 25 (Europe 4.25M −1.1% · USA 796k −1.6%)</a:t>
            </a:r>
          </a:p>
        </p:txBody>
      </p:sp>
      <p:graphicFrame>
        <p:nvGraphicFramePr>
          <p:cNvPr id="946" name="Table 945"/>
          <p:cNvGraphicFramePr>
            <a:graphicFrameLocks noGrp="1"/>
          </p:cNvGraphicFramePr>
          <p:nvPr/>
        </p:nvGraphicFramePr>
        <p:xfrm>
          <a:off x="548640" y="4553712"/>
          <a:ext cx="5349240" cy="960120"/>
        </p:xfrm>
        <a:graphic>
          <a:graphicData uri="http://schemas.openxmlformats.org/drawingml/2006/table">
            <a:tbl>
              <a:tblPr>
                <a:tableStyleId>{5C22544A-7EE6-4342-B048-85BDC9FD1C3A}</a:tableStyleId>
              </a:tblPr>
              <a:tblGrid>
                <a:gridCol w="658368">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5836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40664">
                  <a:extLst>
                    <a:ext uri="{9D8B030D-6E8A-4147-A177-3AD203B41FA5}">
                      <a16:colId xmlns:a16="http://schemas.microsoft.com/office/drawing/2014/main" val="20007"/>
                    </a:ext>
                  </a:extLst>
                </a:gridCol>
              </a:tblGrid>
              <a:tr h="169164">
                <a:tc>
                  <a:txBody>
                    <a:bodyPr/>
                    <a:lstStyle/>
                    <a:p>
                      <a:pPr algn="l"/>
                      <a:endParaRP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Jan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Feb</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Apr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May</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Jun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H1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69164">
                <a:tc>
                  <a:txBody>
                    <a:bodyPr/>
                    <a:lstStyle/>
                    <a:p>
                      <a:pPr algn="l"/>
                      <a:r>
                        <a:rPr sz="750" b="0">
                          <a:solidFill>
                            <a:srgbClr val="26292E"/>
                          </a:solidFill>
                          <a:latin typeface="Calibri"/>
                        </a:rPr>
                        <a:t>2024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44,223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35,346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8,455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45,071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44,106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97,083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274,284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69164">
                <a:tc>
                  <a:txBody>
                    <a:bodyPr/>
                    <a:lstStyle/>
                    <a:p>
                      <a:pPr algn="l"/>
                      <a:r>
                        <a:rPr sz="750" b="0">
                          <a:solidFill>
                            <a:srgbClr val="26292E"/>
                          </a:solidFill>
                          <a:latin typeface="Calibri"/>
                        </a:rPr>
                        <a:t>2025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49,839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32,831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18,708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50,561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48,650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82,462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283,051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69164">
                <a:tc>
                  <a:txBody>
                    <a:bodyPr/>
                    <a:lstStyle/>
                    <a:p>
                      <a:pPr algn="l"/>
                      <a:r>
                        <a:rPr sz="750" b="1">
                          <a:solidFill>
                            <a:srgbClr val="26292E"/>
                          </a:solidFill>
                          <a:latin typeface="Calibri"/>
                        </a:rPr>
                        <a:t>2026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52,261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15,814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12,201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21,707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47,726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52,702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202,411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69164">
                <a:tc>
                  <a:txBody>
                    <a:bodyPr/>
                    <a:lstStyle/>
                    <a:p>
                      <a:pPr algn="l"/>
                      <a:r>
                        <a:rPr sz="750" b="1">
                          <a:solidFill>
                            <a:srgbClr val="26292E"/>
                          </a:solidFill>
                          <a:latin typeface="Calibri"/>
                        </a:rPr>
                        <a:t>26 vs 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-52%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-35%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-57%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-36%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-28.5%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bl>
          </a:graphicData>
        </a:graphic>
      </p:graphicFrame>
      <p:graphicFrame>
        <p:nvGraphicFramePr>
          <p:cNvPr id="947" name="Table 946"/>
          <p:cNvGraphicFramePr>
            <a:graphicFrameLocks noGrp="1"/>
          </p:cNvGraphicFramePr>
          <p:nvPr/>
        </p:nvGraphicFramePr>
        <p:xfrm>
          <a:off x="6291072" y="4553712"/>
          <a:ext cx="5349240" cy="960120"/>
        </p:xfrm>
        <a:graphic>
          <a:graphicData uri="http://schemas.openxmlformats.org/drawingml/2006/table">
            <a:tbl>
              <a:tblPr>
                <a:tableStyleId>{5C22544A-7EE6-4342-B048-85BDC9FD1C3A}</a:tableStyleId>
              </a:tblPr>
              <a:tblGrid>
                <a:gridCol w="658368">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65836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58368">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40664">
                  <a:extLst>
                    <a:ext uri="{9D8B030D-6E8A-4147-A177-3AD203B41FA5}">
                      <a16:colId xmlns:a16="http://schemas.microsoft.com/office/drawing/2014/main" val="20007"/>
                    </a:ext>
                  </a:extLst>
                </a:gridCol>
              </a:tblGrid>
              <a:tr h="169164">
                <a:tc>
                  <a:txBody>
                    <a:bodyPr/>
                    <a:lstStyle/>
                    <a:p>
                      <a:pPr algn="l"/>
                      <a:endParaRP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Jan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Feb</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Apr</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May</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Jun</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750" b="1">
                          <a:solidFill>
                            <a:srgbClr val="FFFFFF"/>
                          </a:solidFill>
                          <a:latin typeface="Calibri"/>
                        </a:rPr>
                        <a:t>H1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69164">
                <a:tc>
                  <a:txBody>
                    <a:bodyPr/>
                    <a:lstStyle/>
                    <a:p>
                      <a:pPr algn="l"/>
                      <a:r>
                        <a:rPr sz="750" b="0">
                          <a:solidFill>
                            <a:srgbClr val="26292E"/>
                          </a:solidFill>
                          <a:latin typeface="Calibri"/>
                        </a:rPr>
                        <a:t>2024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1,026,029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987,508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901,645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631,332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440,983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432,499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4,419,996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69164">
                <a:tc>
                  <a:txBody>
                    <a:bodyPr/>
                    <a:lstStyle/>
                    <a:p>
                      <a:pPr algn="l"/>
                      <a:r>
                        <a:rPr sz="750" b="0">
                          <a:solidFill>
                            <a:srgbClr val="26292E"/>
                          </a:solidFill>
                          <a:latin typeface="Calibri"/>
                        </a:rPr>
                        <a:t>2025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1,257,708</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1,156,356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1,006,483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771,553</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465,502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451,775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0">
                          <a:solidFill>
                            <a:srgbClr val="595959"/>
                          </a:solidFill>
                          <a:latin typeface="Calibri"/>
                        </a:rPr>
                        <a:t>5,109,377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69164">
                <a:tc>
                  <a:txBody>
                    <a:bodyPr/>
                    <a:lstStyle/>
                    <a:p>
                      <a:pPr algn="l"/>
                      <a:r>
                        <a:rPr sz="750" b="1">
                          <a:solidFill>
                            <a:srgbClr val="26292E"/>
                          </a:solidFill>
                          <a:latin typeface="Calibri"/>
                        </a:rPr>
                        <a:t>2026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1,366,171</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1,202,154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967,437</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666,472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467,734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380,136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26292E"/>
                          </a:solidFill>
                          <a:latin typeface="Calibri"/>
                        </a:rPr>
                        <a:t>5,050,104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69164">
                <a:tc>
                  <a:txBody>
                    <a:bodyPr/>
                    <a:lstStyle/>
                    <a:p>
                      <a:pPr algn="l"/>
                      <a:r>
                        <a:rPr sz="750" b="1">
                          <a:solidFill>
                            <a:srgbClr val="26292E"/>
                          </a:solidFill>
                          <a:latin typeface="Calibri"/>
                        </a:rPr>
                        <a:t>26 vs 25</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+9%</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-14%</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1E7B34"/>
                          </a:solidFill>
                          <a:latin typeface="Calibri"/>
                        </a:rPr>
                        <a:t>+0%</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-16%</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750" b="1">
                          <a:solidFill>
                            <a:srgbClr val="C62828"/>
                          </a:solidFill>
                          <a:latin typeface="Calibri"/>
                        </a:rPr>
                        <a:t>-1.2%</a:t>
                      </a:r>
                    </a:p>
                  </a:txBody>
                  <a:tcPr marL="27432" marR="27432" marT="4572" marB="4572"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bl>
          </a:graphicData>
        </a:graphic>
      </p:graphicFrame>
      <p:sp>
        <p:nvSpPr>
          <p:cNvPr id="8" name="TextBox 7">
            <a:extLst>
              <a:ext uri="{FF2B5EF4-FFF2-40B4-BE49-F238E27FC236}">
                <a16:creationId xmlns:a16="http://schemas.microsoft.com/office/drawing/2014/main" id="{5844BE5D-A0BA-0358-7619-84635144C752}"/>
              </a:ext>
            </a:extLst>
          </p:cNvPr>
          <p:cNvSpPr txBox="1"/>
          <p:nvPr/>
        </p:nvSpPr>
        <p:spPr>
          <a:xfrm>
            <a:off x="2744270" y="3223812"/>
            <a:ext cx="754113" cy="246221"/>
          </a:xfrm>
          <a:prstGeom prst="rect">
            <a:avLst/>
          </a:prstGeom>
          <a:noFill/>
        </p:spPr>
        <p:txBody>
          <a:bodyPr wrap="square" rtlCol="0">
            <a:spAutoFit/>
          </a:bodyPr>
          <a:lstStyle/>
          <a:p>
            <a:r>
              <a:rPr lang="en-US" sz="1000"/>
              <a:t>**ME War</a:t>
            </a:r>
          </a:p>
        </p:txBody>
      </p:sp>
      <p:sp>
        <p:nvSpPr>
          <p:cNvPr id="12" name="TextBox 11">
            <a:extLst>
              <a:ext uri="{FF2B5EF4-FFF2-40B4-BE49-F238E27FC236}">
                <a16:creationId xmlns:a16="http://schemas.microsoft.com/office/drawing/2014/main" id="{15112495-5200-8E74-A52E-1171004B053A}"/>
              </a:ext>
            </a:extLst>
          </p:cNvPr>
          <p:cNvSpPr txBox="1"/>
          <p:nvPr/>
        </p:nvSpPr>
        <p:spPr>
          <a:xfrm>
            <a:off x="3623129" y="2535244"/>
            <a:ext cx="754113" cy="553998"/>
          </a:xfrm>
          <a:prstGeom prst="rect">
            <a:avLst/>
          </a:prstGeom>
          <a:noFill/>
        </p:spPr>
        <p:txBody>
          <a:bodyPr wrap="square" rtlCol="0">
            <a:spAutoFit/>
          </a:bodyPr>
          <a:lstStyle/>
          <a:p>
            <a:r>
              <a:rPr lang="en-US" sz="1000"/>
              <a:t>**Fuel Most effected</a:t>
            </a:r>
          </a:p>
        </p:txBody>
      </p:sp>
      <p:sp>
        <p:nvSpPr>
          <p:cNvPr id="13" name="Right Brace 12">
            <a:extLst>
              <a:ext uri="{FF2B5EF4-FFF2-40B4-BE49-F238E27FC236}">
                <a16:creationId xmlns:a16="http://schemas.microsoft.com/office/drawing/2014/main" id="{86D3D91A-0DB6-6E24-99FE-A520BE05185E}"/>
              </a:ext>
            </a:extLst>
          </p:cNvPr>
          <p:cNvSpPr/>
          <p:nvPr/>
        </p:nvSpPr>
        <p:spPr>
          <a:xfrm rot="16200000">
            <a:off x="4158251" y="582832"/>
            <a:ext cx="233078" cy="290874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tangle 8">
            <a:extLst>
              <a:ext uri="{FF2B5EF4-FFF2-40B4-BE49-F238E27FC236}">
                <a16:creationId xmlns:a16="http://schemas.microsoft.com/office/drawing/2014/main" id="{2F7237A0-6123-FB7D-6AC5-4DB03ACBE352}"/>
              </a:ext>
            </a:extLst>
          </p:cNvPr>
          <p:cNvSpPr/>
          <p:nvPr/>
        </p:nvSpPr>
        <p:spPr>
          <a:xfrm>
            <a:off x="548639" y="5907461"/>
            <a:ext cx="11198601" cy="71235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ysClr val="windowText" lastClr="000000"/>
                </a:solidFill>
                <a:latin typeface="Calibri" pitchFamily="34" charset="0"/>
                <a:ea typeface="Calibri" pitchFamily="34" charset="-122"/>
                <a:cs typeface="Calibri" pitchFamily="34" charset="-120"/>
              </a:rPr>
              <a:t>Key takeaway: Middle East volumes dropped sharply from February — the regional war effect.</a:t>
            </a:r>
          </a:p>
          <a:p>
            <a:r>
              <a:rPr sz="1200" dirty="0">
                <a:solidFill>
                  <a:schemeClr val="tx1"/>
                </a:solidFill>
                <a:latin typeface="Calibri"/>
              </a:rPr>
              <a:t>Long-haul held up</a:t>
            </a:r>
            <a:r>
              <a:rPr lang="en-US" sz="1200" dirty="0">
                <a:solidFill>
                  <a:schemeClr val="tx1"/>
                </a:solidFill>
                <a:latin typeface="Calibri"/>
              </a:rPr>
              <a:t> (No growth from 2025)</a:t>
            </a:r>
            <a:r>
              <a:rPr sz="1200" dirty="0">
                <a:solidFill>
                  <a:schemeClr val="tx1"/>
                </a:solidFill>
                <a:latin typeface="Calibri"/>
              </a:rPr>
              <a:t>: a strong Jan–Feb offset a softer April</a:t>
            </a:r>
            <a:r>
              <a:rPr lang="en-US" sz="1200" dirty="0">
                <a:solidFill>
                  <a:schemeClr val="tx1"/>
                </a:solidFill>
                <a:latin typeface="Calibri"/>
              </a:rPr>
              <a:t> higher airfares from rerouting</a:t>
            </a:r>
            <a:endParaRPr sz="1200" dirty="0">
              <a:solidFill>
                <a:schemeClr val="tx1"/>
              </a:solidFill>
              <a:latin typeface="Calibri"/>
            </a:endParaRPr>
          </a:p>
          <a:p>
            <a:r>
              <a:rPr sz="1200" dirty="0">
                <a:latin typeface="Calibri"/>
              </a:rPr>
              <a:t>***June carries the MOTS 4-day data-loss gap.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5E4E22DB-AFAD-6BDF-F76E-FF39AE62E5D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079A81D-15BF-EB2A-A929-89FBC8E2147F}"/>
              </a:ext>
            </a:extLst>
          </p:cNvPr>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1.1</a:t>
            </a:r>
            <a:endParaRPr lang="en-US" sz="9600"/>
          </a:p>
        </p:txBody>
      </p:sp>
      <p:sp>
        <p:nvSpPr>
          <p:cNvPr id="3" name="Text 1">
            <a:extLst>
              <a:ext uri="{FF2B5EF4-FFF2-40B4-BE49-F238E27FC236}">
                <a16:creationId xmlns:a16="http://schemas.microsoft.com/office/drawing/2014/main" id="{92A079B0-9A0B-3BC6-B93A-2183125E4175}"/>
              </a:ext>
            </a:extLst>
          </p:cNvPr>
          <p:cNvSpPr/>
          <p:nvPr/>
        </p:nvSpPr>
        <p:spPr>
          <a:xfrm>
            <a:off x="2514600" y="1965960"/>
            <a:ext cx="6944360" cy="1692442"/>
          </a:xfrm>
          <a:prstGeom prst="rect">
            <a:avLst/>
          </a:prstGeom>
          <a:noFill/>
          <a:ln/>
        </p:spPr>
        <p:txBody>
          <a:bodyPr wrap="square" lIns="0" tIns="0" rIns="0" bIns="0" rtlCol="0" anchor="ctr"/>
          <a:lstStyle/>
          <a:p>
            <a:r>
              <a:rPr lang="en-US" sz="4000" b="1">
                <a:solidFill>
                  <a:srgbClr val="FFFFFF"/>
                </a:solidFill>
                <a:latin typeface="Calibri" pitchFamily="34" charset="0"/>
                <a:ea typeface="Calibri" pitchFamily="34" charset="-122"/>
                <a:cs typeface="Calibri" pitchFamily="34" charset="-120"/>
              </a:rPr>
              <a:t>Bangkok Tourist Arrivals + Revenue from tourists</a:t>
            </a:r>
          </a:p>
          <a:p>
            <a:r>
              <a:rPr lang="en-US" sz="4000" b="1">
                <a:solidFill>
                  <a:srgbClr val="FFFFFF"/>
                </a:solidFill>
                <a:latin typeface="Calibri" pitchFamily="34" charset="0"/>
                <a:ea typeface="Calibri" pitchFamily="34" charset="-122"/>
                <a:cs typeface="Calibri" pitchFamily="34" charset="-120"/>
              </a:rPr>
              <a:t>Bangkok Hotel Market</a:t>
            </a:r>
            <a:endParaRPr lang="en-US" sz="4000"/>
          </a:p>
        </p:txBody>
      </p:sp>
      <p:sp>
        <p:nvSpPr>
          <p:cNvPr id="5" name="Text 3">
            <a:extLst>
              <a:ext uri="{FF2B5EF4-FFF2-40B4-BE49-F238E27FC236}">
                <a16:creationId xmlns:a16="http://schemas.microsoft.com/office/drawing/2014/main" id="{6DD7B280-FDD1-D9D8-D92B-43DD8A8103BB}"/>
              </a:ext>
            </a:extLst>
          </p:cNvPr>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extLst>
      <p:ext uri="{BB962C8B-B14F-4D97-AF65-F5344CB8AC3E}">
        <p14:creationId xmlns:p14="http://schemas.microsoft.com/office/powerpoint/2010/main" val="1283255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none">
            <a:spAutoFit/>
          </a:bodyPr>
          <a:lstStyle/>
          <a:p>
            <a:r>
              <a:rPr sz="1100" b="1">
                <a:solidFill>
                  <a:srgbClr val="D9A441"/>
                </a:solidFill>
                <a:latin typeface="Calibri"/>
              </a:rPr>
              <a:t>SECTION 1 · TOURIST ARRIVALS</a:t>
            </a:r>
          </a:p>
        </p:txBody>
      </p:sp>
      <p:sp>
        <p:nvSpPr>
          <p:cNvPr id="3" name="TextBox 2"/>
          <p:cNvSpPr txBox="1"/>
          <p:nvPr/>
        </p:nvSpPr>
        <p:spPr>
          <a:xfrm>
            <a:off x="548640" y="502920"/>
            <a:ext cx="11064240" cy="566928"/>
          </a:xfrm>
          <a:prstGeom prst="rect">
            <a:avLst/>
          </a:prstGeom>
          <a:noFill/>
        </p:spPr>
        <p:txBody>
          <a:bodyPr wrap="none">
            <a:spAutoFit/>
          </a:bodyPr>
          <a:lstStyle/>
          <a:p>
            <a:r>
              <a:rPr sz="2800" b="1">
                <a:solidFill>
                  <a:srgbClr val="1E2761"/>
                </a:solidFill>
                <a:latin typeface="Calibri"/>
              </a:rPr>
              <a:t>Bangkok — tourist arrivals &amp; revenue from tourists</a:t>
            </a:r>
          </a:p>
        </p:txBody>
      </p:sp>
      <p:sp>
        <p:nvSpPr>
          <p:cNvPr id="4" name="TextBox 3"/>
          <p:cNvSpPr txBox="1"/>
          <p:nvPr/>
        </p:nvSpPr>
        <p:spPr>
          <a:xfrm>
            <a:off x="548640" y="1060704"/>
            <a:ext cx="11064240" cy="274320"/>
          </a:xfrm>
          <a:prstGeom prst="rect">
            <a:avLst/>
          </a:prstGeom>
          <a:noFill/>
        </p:spPr>
        <p:txBody>
          <a:bodyPr wrap="none">
            <a:spAutoFit/>
          </a:bodyPr>
          <a:lstStyle/>
          <a:p>
            <a:r>
              <a:rPr sz="1250">
                <a:solidFill>
                  <a:srgbClr val="6B7280"/>
                </a:solidFill>
                <a:latin typeface="Calibri"/>
              </a:rPr>
              <a:t>H1 (Jan–Jun) each year · source: MOTS provincial data (Province arrival / Revenue from tourists sheets)</a:t>
            </a:r>
          </a:p>
        </p:txBody>
      </p:sp>
      <p:graphicFrame>
        <p:nvGraphicFramePr>
          <p:cNvPr id="5" name="Chart 4"/>
          <p:cNvGraphicFramePr>
            <a:graphicFrameLocks noGrp="1"/>
          </p:cNvGraphicFramePr>
          <p:nvPr>
            <p:extLst>
              <p:ext uri="{D42A27DB-BD31-4B8C-83A1-F6EECF244321}">
                <p14:modId xmlns:p14="http://schemas.microsoft.com/office/powerpoint/2010/main" val="1697179443"/>
              </p:ext>
            </p:extLst>
          </p:nvPr>
        </p:nvGraphicFramePr>
        <p:xfrm>
          <a:off x="548640" y="1323594"/>
          <a:ext cx="11094720" cy="255249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Table 6"/>
          <p:cNvGraphicFramePr>
            <a:graphicFrameLocks noGrp="1"/>
          </p:cNvGraphicFramePr>
          <p:nvPr>
            <p:extLst>
              <p:ext uri="{D42A27DB-BD31-4B8C-83A1-F6EECF244321}">
                <p14:modId xmlns:p14="http://schemas.microsoft.com/office/powerpoint/2010/main" val="1638840180"/>
              </p:ext>
            </p:extLst>
          </p:nvPr>
        </p:nvGraphicFramePr>
        <p:xfrm>
          <a:off x="563880" y="3973560"/>
          <a:ext cx="11064240" cy="1820987"/>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260141">
                <a:tc>
                  <a:txBody>
                    <a:bodyPr/>
                    <a:lstStyle/>
                    <a:p>
                      <a:r>
                        <a:rPr sz="1050" b="1">
                          <a:solidFill>
                            <a:srgbClr val="FFFFFF"/>
                          </a:solidFill>
                          <a:latin typeface="Calibri"/>
                        </a:rPr>
                        <a:t>H1</a:t>
                      </a:r>
                    </a:p>
                  </a:txBody>
                  <a:tcPr>
                    <a:solidFill>
                      <a:srgbClr val="1E2761"/>
                    </a:solidFill>
                  </a:tcPr>
                </a:tc>
                <a:tc>
                  <a:txBody>
                    <a:bodyPr/>
                    <a:lstStyle/>
                    <a:p>
                      <a:r>
                        <a:rPr sz="1050" b="1">
                          <a:solidFill>
                            <a:srgbClr val="FFFFFF"/>
                          </a:solidFill>
                          <a:latin typeface="Calibri"/>
                        </a:rPr>
                        <a:t>2023</a:t>
                      </a:r>
                    </a:p>
                  </a:txBody>
                  <a:tcPr>
                    <a:solidFill>
                      <a:srgbClr val="1E2761"/>
                    </a:solidFill>
                  </a:tcPr>
                </a:tc>
                <a:tc>
                  <a:txBody>
                    <a:bodyPr/>
                    <a:lstStyle/>
                    <a:p>
                      <a:r>
                        <a:rPr sz="1050" b="1">
                          <a:solidFill>
                            <a:srgbClr val="FFFFFF"/>
                          </a:solidFill>
                          <a:latin typeface="Calibri"/>
                        </a:rPr>
                        <a:t>2024</a:t>
                      </a:r>
                    </a:p>
                  </a:txBody>
                  <a:tcPr>
                    <a:solidFill>
                      <a:srgbClr val="1E2761"/>
                    </a:solidFill>
                  </a:tcPr>
                </a:tc>
                <a:tc>
                  <a:txBody>
                    <a:bodyPr/>
                    <a:lstStyle/>
                    <a:p>
                      <a:r>
                        <a:rPr sz="1050" b="1">
                          <a:solidFill>
                            <a:srgbClr val="FFFFFF"/>
                          </a:solidFill>
                          <a:latin typeface="Calibri"/>
                        </a:rPr>
                        <a:t>2025</a:t>
                      </a:r>
                    </a:p>
                  </a:txBody>
                  <a:tcPr>
                    <a:solidFill>
                      <a:srgbClr val="1E2761"/>
                    </a:solidFill>
                  </a:tcPr>
                </a:tc>
                <a:tc>
                  <a:txBody>
                    <a:bodyPr/>
                    <a:lstStyle/>
                    <a:p>
                      <a:r>
                        <a:rPr sz="1050" b="1">
                          <a:solidFill>
                            <a:srgbClr val="FFFFFF"/>
                          </a:solidFill>
                          <a:latin typeface="Calibri"/>
                        </a:rPr>
                        <a:t>2026</a:t>
                      </a:r>
                    </a:p>
                  </a:txBody>
                  <a:tcPr>
                    <a:solidFill>
                      <a:srgbClr val="1E2761"/>
                    </a:solidFill>
                  </a:tcPr>
                </a:tc>
                <a:extLst>
                  <a:ext uri="{0D108BD9-81ED-4DB2-BD59-A6C34878D82A}">
                    <a16:rowId xmlns:a16="http://schemas.microsoft.com/office/drawing/2014/main" val="10000"/>
                  </a:ext>
                </a:extLst>
              </a:tr>
              <a:tr h="260141">
                <a:tc>
                  <a:txBody>
                    <a:bodyPr/>
                    <a:lstStyle/>
                    <a:p>
                      <a:r>
                        <a:rPr sz="1050" b="1" strike="noStrike">
                          <a:solidFill>
                            <a:srgbClr val="26292E"/>
                          </a:solidFill>
                          <a:latin typeface="Calibri"/>
                        </a:rPr>
                        <a:t>Total arrivals (M)</a:t>
                      </a:r>
                    </a:p>
                  </a:txBody>
                  <a:tcPr>
                    <a:solidFill>
                      <a:srgbClr val="F4F6FB"/>
                    </a:solidFill>
                  </a:tcPr>
                </a:tc>
                <a:tc>
                  <a:txBody>
                    <a:bodyPr/>
                    <a:lstStyle/>
                    <a:p>
                      <a:r>
                        <a:rPr sz="1050" b="0" strike="noStrike">
                          <a:solidFill>
                            <a:srgbClr val="26292E"/>
                          </a:solidFill>
                          <a:latin typeface="Calibri"/>
                        </a:rPr>
                        <a:t>27.23</a:t>
                      </a:r>
                    </a:p>
                  </a:txBody>
                  <a:tcPr>
                    <a:solidFill>
                      <a:srgbClr val="F4F6FB"/>
                    </a:solidFill>
                  </a:tcPr>
                </a:tc>
                <a:tc>
                  <a:txBody>
                    <a:bodyPr/>
                    <a:lstStyle/>
                    <a:p>
                      <a:r>
                        <a:rPr sz="1050" b="0" strike="noStrike">
                          <a:solidFill>
                            <a:srgbClr val="26292E"/>
                          </a:solidFill>
                          <a:latin typeface="Calibri"/>
                        </a:rPr>
                        <a:t>28.32</a:t>
                      </a:r>
                    </a:p>
                  </a:txBody>
                  <a:tcPr>
                    <a:solidFill>
                      <a:srgbClr val="F4F6FB"/>
                    </a:solidFill>
                  </a:tcPr>
                </a:tc>
                <a:tc>
                  <a:txBody>
                    <a:bodyPr/>
                    <a:lstStyle/>
                    <a:p>
                      <a:r>
                        <a:rPr sz="1050" b="0" strike="noStrike">
                          <a:solidFill>
                            <a:srgbClr val="26292E"/>
                          </a:solidFill>
                          <a:latin typeface="Calibri"/>
                        </a:rPr>
                        <a:t>26.98</a:t>
                      </a:r>
                    </a:p>
                  </a:txBody>
                  <a:tcPr>
                    <a:solidFill>
                      <a:srgbClr val="F4F6FB"/>
                    </a:solidFill>
                  </a:tcPr>
                </a:tc>
                <a:tc>
                  <a:txBody>
                    <a:bodyPr/>
                    <a:lstStyle/>
                    <a:p>
                      <a:r>
                        <a:rPr sz="1050" b="0" strike="noStrike">
                          <a:solidFill>
                            <a:srgbClr val="26292E"/>
                          </a:solidFill>
                          <a:latin typeface="Calibri"/>
                        </a:rPr>
                        <a:t>27.86</a:t>
                      </a:r>
                    </a:p>
                  </a:txBody>
                  <a:tcPr>
                    <a:solidFill>
                      <a:srgbClr val="F4F6FB"/>
                    </a:solidFill>
                  </a:tcPr>
                </a:tc>
                <a:extLst>
                  <a:ext uri="{0D108BD9-81ED-4DB2-BD59-A6C34878D82A}">
                    <a16:rowId xmlns:a16="http://schemas.microsoft.com/office/drawing/2014/main" val="10001"/>
                  </a:ext>
                </a:extLst>
              </a:tr>
              <a:tr h="260141">
                <a:tc>
                  <a:txBody>
                    <a:bodyPr/>
                    <a:lstStyle/>
                    <a:p>
                      <a:r>
                        <a:rPr sz="1050" b="1" strike="noStrike">
                          <a:solidFill>
                            <a:srgbClr val="26292E"/>
                          </a:solidFill>
                          <a:latin typeface="Calibri"/>
                        </a:rPr>
                        <a:t>- Domestic (M)</a:t>
                      </a:r>
                    </a:p>
                  </a:txBody>
                  <a:tcPr>
                    <a:solidFill>
                      <a:srgbClr val="FFFFFF"/>
                    </a:solidFill>
                  </a:tcPr>
                </a:tc>
                <a:tc>
                  <a:txBody>
                    <a:bodyPr/>
                    <a:lstStyle/>
                    <a:p>
                      <a:r>
                        <a:rPr sz="1050" b="0" strike="noStrike">
                          <a:solidFill>
                            <a:srgbClr val="26292E"/>
                          </a:solidFill>
                          <a:latin typeface="Calibri"/>
                        </a:rPr>
                        <a:t>15.62</a:t>
                      </a:r>
                    </a:p>
                  </a:txBody>
                  <a:tcPr>
                    <a:solidFill>
                      <a:srgbClr val="FFFFFF"/>
                    </a:solidFill>
                  </a:tcPr>
                </a:tc>
                <a:tc>
                  <a:txBody>
                    <a:bodyPr/>
                    <a:lstStyle/>
                    <a:p>
                      <a:r>
                        <a:rPr sz="1050" b="0" strike="noStrike">
                          <a:solidFill>
                            <a:srgbClr val="26292E"/>
                          </a:solidFill>
                          <a:latin typeface="Calibri"/>
                        </a:rPr>
                        <a:t>14.83</a:t>
                      </a:r>
                    </a:p>
                  </a:txBody>
                  <a:tcPr>
                    <a:solidFill>
                      <a:srgbClr val="FFFFFF"/>
                    </a:solidFill>
                  </a:tcPr>
                </a:tc>
                <a:tc>
                  <a:txBody>
                    <a:bodyPr/>
                    <a:lstStyle/>
                    <a:p>
                      <a:r>
                        <a:rPr sz="1050" b="0" strike="noStrike">
                          <a:solidFill>
                            <a:srgbClr val="26292E"/>
                          </a:solidFill>
                          <a:latin typeface="Calibri"/>
                        </a:rPr>
                        <a:t>14.55</a:t>
                      </a:r>
                    </a:p>
                  </a:txBody>
                  <a:tcPr>
                    <a:solidFill>
                      <a:srgbClr val="FFFFFF"/>
                    </a:solidFill>
                  </a:tcPr>
                </a:tc>
                <a:tc>
                  <a:txBody>
                    <a:bodyPr/>
                    <a:lstStyle/>
                    <a:p>
                      <a:r>
                        <a:rPr sz="1050" b="0" strike="noStrike">
                          <a:solidFill>
                            <a:srgbClr val="26292E"/>
                          </a:solidFill>
                          <a:latin typeface="Calibri"/>
                        </a:rPr>
                        <a:t>15.45</a:t>
                      </a:r>
                    </a:p>
                  </a:txBody>
                  <a:tcPr>
                    <a:solidFill>
                      <a:srgbClr val="FFFFFF"/>
                    </a:solidFill>
                  </a:tcPr>
                </a:tc>
                <a:extLst>
                  <a:ext uri="{0D108BD9-81ED-4DB2-BD59-A6C34878D82A}">
                    <a16:rowId xmlns:a16="http://schemas.microsoft.com/office/drawing/2014/main" val="10002"/>
                  </a:ext>
                </a:extLst>
              </a:tr>
              <a:tr h="260141">
                <a:tc>
                  <a:txBody>
                    <a:bodyPr/>
                    <a:lstStyle/>
                    <a:p>
                      <a:r>
                        <a:rPr sz="1050" b="1">
                          <a:solidFill>
                            <a:srgbClr val="26292E"/>
                          </a:solidFill>
                          <a:latin typeface="Calibri"/>
                        </a:rPr>
                        <a:t>- International (M)</a:t>
                      </a:r>
                    </a:p>
                  </a:txBody>
                  <a:tcPr>
                    <a:solidFill>
                      <a:srgbClr val="F4F6FB"/>
                    </a:solidFill>
                  </a:tcPr>
                </a:tc>
                <a:tc>
                  <a:txBody>
                    <a:bodyPr/>
                    <a:lstStyle/>
                    <a:p>
                      <a:r>
                        <a:rPr sz="1050" b="0">
                          <a:solidFill>
                            <a:srgbClr val="26292E"/>
                          </a:solidFill>
                          <a:latin typeface="Calibri"/>
                        </a:rPr>
                        <a:t>11.62</a:t>
                      </a:r>
                    </a:p>
                  </a:txBody>
                  <a:tcPr>
                    <a:solidFill>
                      <a:srgbClr val="F4F6FB"/>
                    </a:solidFill>
                  </a:tcPr>
                </a:tc>
                <a:tc>
                  <a:txBody>
                    <a:bodyPr/>
                    <a:lstStyle/>
                    <a:p>
                      <a:r>
                        <a:rPr sz="1050" b="0">
                          <a:solidFill>
                            <a:srgbClr val="26292E"/>
                          </a:solidFill>
                          <a:latin typeface="Calibri"/>
                        </a:rPr>
                        <a:t>13.49</a:t>
                      </a:r>
                    </a:p>
                  </a:txBody>
                  <a:tcPr>
                    <a:solidFill>
                      <a:srgbClr val="F4F6FB"/>
                    </a:solidFill>
                  </a:tcPr>
                </a:tc>
                <a:tc>
                  <a:txBody>
                    <a:bodyPr/>
                    <a:lstStyle/>
                    <a:p>
                      <a:r>
                        <a:rPr sz="1050" b="0">
                          <a:solidFill>
                            <a:srgbClr val="26292E"/>
                          </a:solidFill>
                          <a:highlight>
                            <a:srgbClr val="FFFF00"/>
                          </a:highlight>
                          <a:latin typeface="Calibri"/>
                        </a:rPr>
                        <a:t>12.43</a:t>
                      </a:r>
                    </a:p>
                  </a:txBody>
                  <a:tcPr>
                    <a:solidFill>
                      <a:srgbClr val="F4F6FB"/>
                    </a:solidFill>
                  </a:tcPr>
                </a:tc>
                <a:tc>
                  <a:txBody>
                    <a:bodyPr/>
                    <a:lstStyle/>
                    <a:p>
                      <a:r>
                        <a:rPr sz="1050" b="0">
                          <a:solidFill>
                            <a:srgbClr val="26292E"/>
                          </a:solidFill>
                          <a:highlight>
                            <a:srgbClr val="FFFF00"/>
                          </a:highlight>
                          <a:latin typeface="Calibri"/>
                        </a:rPr>
                        <a:t>12.42</a:t>
                      </a:r>
                    </a:p>
                  </a:txBody>
                  <a:tcPr>
                    <a:solidFill>
                      <a:srgbClr val="F4F6FB"/>
                    </a:solidFill>
                  </a:tcPr>
                </a:tc>
                <a:extLst>
                  <a:ext uri="{0D108BD9-81ED-4DB2-BD59-A6C34878D82A}">
                    <a16:rowId xmlns:a16="http://schemas.microsoft.com/office/drawing/2014/main" val="10003"/>
                  </a:ext>
                </a:extLst>
              </a:tr>
              <a:tr h="260141">
                <a:tc>
                  <a:txBody>
                    <a:bodyPr/>
                    <a:lstStyle/>
                    <a:p>
                      <a:r>
                        <a:rPr sz="1050" b="1">
                          <a:solidFill>
                            <a:srgbClr val="26292E"/>
                          </a:solidFill>
                          <a:latin typeface="Calibri"/>
                        </a:rPr>
                        <a:t>Total arrivals vs LY</a:t>
                      </a:r>
                    </a:p>
                  </a:txBody>
                  <a:tcPr>
                    <a:solidFill>
                      <a:srgbClr val="FFFFFF"/>
                    </a:solidFill>
                  </a:tcPr>
                </a:tc>
                <a:tc>
                  <a:txBody>
                    <a:bodyPr/>
                    <a:lstStyle/>
                    <a:p>
                      <a:r>
                        <a:rPr sz="1050" b="0">
                          <a:solidFill>
                            <a:srgbClr val="26292E"/>
                          </a:solidFill>
                          <a:latin typeface="Calibri"/>
                        </a:rPr>
                        <a:t>—</a:t>
                      </a:r>
                    </a:p>
                  </a:txBody>
                  <a:tcPr>
                    <a:solidFill>
                      <a:srgbClr val="FFFFFF"/>
                    </a:solidFill>
                  </a:tcPr>
                </a:tc>
                <a:tc>
                  <a:txBody>
                    <a:bodyPr/>
                    <a:lstStyle/>
                    <a:p>
                      <a:r>
                        <a:rPr sz="1050" b="0">
                          <a:solidFill>
                            <a:srgbClr val="2E7D32"/>
                          </a:solidFill>
                          <a:latin typeface="Calibri"/>
                        </a:rPr>
                        <a:t>+4.0%</a:t>
                      </a:r>
                    </a:p>
                  </a:txBody>
                  <a:tcPr>
                    <a:solidFill>
                      <a:srgbClr val="FFFFFF"/>
                    </a:solidFill>
                  </a:tcPr>
                </a:tc>
                <a:tc>
                  <a:txBody>
                    <a:bodyPr/>
                    <a:lstStyle/>
                    <a:p>
                      <a:r>
                        <a:rPr sz="1050" b="0">
                          <a:solidFill>
                            <a:srgbClr val="C0392B"/>
                          </a:solidFill>
                          <a:latin typeface="Calibri"/>
                        </a:rPr>
                        <a:t>-4.7%</a:t>
                      </a:r>
                    </a:p>
                  </a:txBody>
                  <a:tcPr>
                    <a:solidFill>
                      <a:srgbClr val="FFFFFF"/>
                    </a:solidFill>
                  </a:tcPr>
                </a:tc>
                <a:tc>
                  <a:txBody>
                    <a:bodyPr/>
                    <a:lstStyle/>
                    <a:p>
                      <a:r>
                        <a:rPr sz="1050" b="0">
                          <a:solidFill>
                            <a:srgbClr val="2E7D32"/>
                          </a:solidFill>
                          <a:latin typeface="Calibri"/>
                        </a:rPr>
                        <a:t>+3.3%</a:t>
                      </a:r>
                    </a:p>
                  </a:txBody>
                  <a:tcPr>
                    <a:solidFill>
                      <a:srgbClr val="FFFFFF"/>
                    </a:solidFill>
                  </a:tcPr>
                </a:tc>
                <a:extLst>
                  <a:ext uri="{0D108BD9-81ED-4DB2-BD59-A6C34878D82A}">
                    <a16:rowId xmlns:a16="http://schemas.microsoft.com/office/drawing/2014/main" val="10004"/>
                  </a:ext>
                </a:extLst>
              </a:tr>
              <a:tr h="260141">
                <a:tc>
                  <a:txBody>
                    <a:bodyPr/>
                    <a:lstStyle/>
                    <a:p>
                      <a:r>
                        <a:rPr lang="en-US" sz="1050" b="1">
                          <a:solidFill>
                            <a:srgbClr val="26292E"/>
                          </a:solidFill>
                          <a:latin typeface="Calibri"/>
                        </a:rPr>
                        <a:t>- </a:t>
                      </a:r>
                      <a:r>
                        <a:rPr sz="1050" b="1">
                          <a:solidFill>
                            <a:srgbClr val="26292E"/>
                          </a:solidFill>
                          <a:latin typeface="Calibri"/>
                        </a:rPr>
                        <a:t>Dom arrivals vs LY</a:t>
                      </a:r>
                    </a:p>
                  </a:txBody>
                  <a:tcPr>
                    <a:solidFill>
                      <a:srgbClr val="FFFFFF"/>
                    </a:solidFill>
                  </a:tcPr>
                </a:tc>
                <a:tc>
                  <a:txBody>
                    <a:bodyPr/>
                    <a:lstStyle/>
                    <a:p>
                      <a:r>
                        <a:rPr sz="1050" b="0">
                          <a:solidFill>
                            <a:srgbClr val="26292E"/>
                          </a:solidFill>
                          <a:latin typeface="Calibri"/>
                        </a:rPr>
                        <a:t>—</a:t>
                      </a:r>
                    </a:p>
                  </a:txBody>
                  <a:tcPr>
                    <a:solidFill>
                      <a:srgbClr val="FFFFFF"/>
                    </a:solidFill>
                  </a:tcPr>
                </a:tc>
                <a:tc>
                  <a:txBody>
                    <a:bodyPr/>
                    <a:lstStyle/>
                    <a:p>
                      <a:r>
                        <a:rPr sz="1050" b="0">
                          <a:solidFill>
                            <a:srgbClr val="2E7D32"/>
                          </a:solidFill>
                          <a:latin typeface="Calibri"/>
                        </a:rPr>
                        <a:t>-5.1%</a:t>
                      </a:r>
                    </a:p>
                  </a:txBody>
                  <a:tcPr>
                    <a:solidFill>
                      <a:srgbClr val="FFFFFF"/>
                    </a:solidFill>
                  </a:tcPr>
                </a:tc>
                <a:tc>
                  <a:txBody>
                    <a:bodyPr/>
                    <a:lstStyle/>
                    <a:p>
                      <a:r>
                        <a:rPr sz="1050" b="0">
                          <a:solidFill>
                            <a:srgbClr val="C0392B"/>
                          </a:solidFill>
                          <a:latin typeface="Calibri"/>
                        </a:rPr>
                        <a:t>-1.9%</a:t>
                      </a:r>
                    </a:p>
                  </a:txBody>
                  <a:tcPr>
                    <a:solidFill>
                      <a:srgbClr val="FFFFFF"/>
                    </a:solidFill>
                  </a:tcPr>
                </a:tc>
                <a:tc>
                  <a:txBody>
                    <a:bodyPr/>
                    <a:lstStyle/>
                    <a:p>
                      <a:r>
                        <a:rPr sz="1050" b="0">
                          <a:solidFill>
                            <a:srgbClr val="2E7D32"/>
                          </a:solidFill>
                          <a:latin typeface="Calibri"/>
                        </a:rPr>
                        <a:t>+6.2%</a:t>
                      </a:r>
                    </a:p>
                  </a:txBody>
                  <a:tcPr>
                    <a:solidFill>
                      <a:srgbClr val="FFFFFF"/>
                    </a:solidFill>
                  </a:tcPr>
                </a:tc>
                <a:extLst>
                  <a:ext uri="{0D108BD9-81ED-4DB2-BD59-A6C34878D82A}">
                    <a16:rowId xmlns:a16="http://schemas.microsoft.com/office/drawing/2014/main" val="3700446077"/>
                  </a:ext>
                </a:extLst>
              </a:tr>
              <a:tr h="260141">
                <a:tc>
                  <a:txBody>
                    <a:bodyPr/>
                    <a:lstStyle/>
                    <a:p>
                      <a:r>
                        <a:rPr lang="en-US" sz="1050" b="1">
                          <a:solidFill>
                            <a:srgbClr val="26292E"/>
                          </a:solidFill>
                          <a:latin typeface="Calibri"/>
                        </a:rPr>
                        <a:t>- </a:t>
                      </a:r>
                      <a:r>
                        <a:rPr sz="1050" b="1">
                          <a:solidFill>
                            <a:srgbClr val="26292E"/>
                          </a:solidFill>
                          <a:latin typeface="Calibri"/>
                        </a:rPr>
                        <a:t>Intl arrivals vs LY</a:t>
                      </a:r>
                    </a:p>
                  </a:txBody>
                  <a:tcPr>
                    <a:solidFill>
                      <a:srgbClr val="F4F6FB"/>
                    </a:solidFill>
                  </a:tcPr>
                </a:tc>
                <a:tc>
                  <a:txBody>
                    <a:bodyPr/>
                    <a:lstStyle/>
                    <a:p>
                      <a:r>
                        <a:rPr sz="1050" b="0">
                          <a:solidFill>
                            <a:srgbClr val="26292E"/>
                          </a:solidFill>
                          <a:latin typeface="Calibri"/>
                        </a:rPr>
                        <a:t>—</a:t>
                      </a:r>
                    </a:p>
                  </a:txBody>
                  <a:tcPr>
                    <a:solidFill>
                      <a:srgbClr val="F4F6FB"/>
                    </a:solidFill>
                  </a:tcPr>
                </a:tc>
                <a:tc>
                  <a:txBody>
                    <a:bodyPr/>
                    <a:lstStyle/>
                    <a:p>
                      <a:r>
                        <a:rPr sz="1050" b="0">
                          <a:solidFill>
                            <a:srgbClr val="2E7D32"/>
                          </a:solidFill>
                          <a:latin typeface="Calibri"/>
                        </a:rPr>
                        <a:t>+16.2%</a:t>
                      </a:r>
                    </a:p>
                  </a:txBody>
                  <a:tcPr>
                    <a:solidFill>
                      <a:srgbClr val="F4F6FB"/>
                    </a:solidFill>
                  </a:tcPr>
                </a:tc>
                <a:tc>
                  <a:txBody>
                    <a:bodyPr/>
                    <a:lstStyle/>
                    <a:p>
                      <a:r>
                        <a:rPr sz="1050" b="0">
                          <a:solidFill>
                            <a:srgbClr val="C0392B"/>
                          </a:solidFill>
                          <a:latin typeface="Calibri"/>
                        </a:rPr>
                        <a:t>-7.9%</a:t>
                      </a:r>
                    </a:p>
                  </a:txBody>
                  <a:tcPr>
                    <a:solidFill>
                      <a:srgbClr val="F4F6FB"/>
                    </a:solidFill>
                  </a:tcPr>
                </a:tc>
                <a:tc>
                  <a:txBody>
                    <a:bodyPr/>
                    <a:lstStyle/>
                    <a:p>
                      <a:r>
                        <a:rPr sz="1050" b="0">
                          <a:solidFill>
                            <a:srgbClr val="C0392B"/>
                          </a:solidFill>
                          <a:latin typeface="Calibri"/>
                        </a:rPr>
                        <a:t>-0.1%</a:t>
                      </a:r>
                    </a:p>
                  </a:txBody>
                  <a:tcPr>
                    <a:solidFill>
                      <a:srgbClr val="F4F6FB"/>
                    </a:solidFill>
                  </a:tcPr>
                </a:tc>
                <a:extLst>
                  <a:ext uri="{0D108BD9-81ED-4DB2-BD59-A6C34878D82A}">
                    <a16:rowId xmlns:a16="http://schemas.microsoft.com/office/drawing/2014/main" val="10005"/>
                  </a:ext>
                </a:extLst>
              </a:tr>
            </a:tbl>
          </a:graphicData>
        </a:graphic>
      </p:graphicFrame>
      <p:sp>
        <p:nvSpPr>
          <p:cNvPr id="8" name="Rectangle 7">
            <a:extLst>
              <a:ext uri="{FF2B5EF4-FFF2-40B4-BE49-F238E27FC236}">
                <a16:creationId xmlns:a16="http://schemas.microsoft.com/office/drawing/2014/main" id="{16B4C631-256A-E482-091B-E208689D6F7D}"/>
              </a:ext>
            </a:extLst>
          </p:cNvPr>
          <p:cNvSpPr/>
          <p:nvPr/>
        </p:nvSpPr>
        <p:spPr>
          <a:xfrm>
            <a:off x="563880" y="5907461"/>
            <a:ext cx="11198601" cy="71235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ysClr val="windowText" lastClr="000000"/>
                </a:solidFill>
                <a:latin typeface="Calibri" pitchFamily="34" charset="0"/>
                <a:ea typeface="Calibri" pitchFamily="34" charset="-122"/>
                <a:cs typeface="Calibri" pitchFamily="34" charset="-120"/>
              </a:rPr>
              <a:t>Key takeaway: Even though total arrivals are −3%, international arrivals in Bangkok are similar to LY (−0.1%) — the overall drop came from Phuket and Pattaya, not Bangkok.</a:t>
            </a:r>
          </a:p>
          <a:p>
            <a:r>
              <a:rPr lang="en-US" sz="1200" dirty="0"/>
              <a:t>***June carries the MOTS 4-day data-loss gap.</a:t>
            </a:r>
          </a:p>
        </p:txBody>
      </p:sp>
    </p:spTree>
    <p:extLst>
      <p:ext uri="{BB962C8B-B14F-4D97-AF65-F5344CB8AC3E}">
        <p14:creationId xmlns:p14="http://schemas.microsoft.com/office/powerpoint/2010/main" val="27715563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2 · MARKET (STR)</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Bangkok market — Occ / ADR / RevPAR</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Bangkok overall (all classes) · STR monthly reports 2024–2026 · Jan–Jun monthly</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1951800409"/>
              </p:ext>
            </p:extLst>
          </p:nvPr>
        </p:nvGraphicFramePr>
        <p:xfrm>
          <a:off x="548640" y="1554480"/>
          <a:ext cx="3611880" cy="2331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extLst>
              <p:ext uri="{D42A27DB-BD31-4B8C-83A1-F6EECF244321}">
                <p14:modId xmlns:p14="http://schemas.microsoft.com/office/powerpoint/2010/main" val="13813365"/>
              </p:ext>
            </p:extLst>
          </p:nvPr>
        </p:nvGraphicFramePr>
        <p:xfrm>
          <a:off x="4343400" y="1554480"/>
          <a:ext cx="3611880" cy="23317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2"/>
          <p:cNvGraphicFramePr/>
          <p:nvPr>
            <p:extLst>
              <p:ext uri="{D42A27DB-BD31-4B8C-83A1-F6EECF244321}">
                <p14:modId xmlns:p14="http://schemas.microsoft.com/office/powerpoint/2010/main" val="1259567220"/>
              </p:ext>
            </p:extLst>
          </p:nvPr>
        </p:nvGraphicFramePr>
        <p:xfrm>
          <a:off x="8138160" y="1554480"/>
          <a:ext cx="3611880" cy="2331720"/>
        </p:xfrm>
        <a:graphic>
          <a:graphicData uri="http://schemas.openxmlformats.org/drawingml/2006/chart">
            <c:chart xmlns:c="http://schemas.openxmlformats.org/drawingml/2006/chart" xmlns:r="http://schemas.openxmlformats.org/officeDocument/2006/relationships" r:id="rId5"/>
          </a:graphicData>
        </a:graphic>
      </p:graphicFrame>
      <p:sp>
        <p:nvSpPr>
          <p:cNvPr id="9" name="Text 4"/>
          <p:cNvSpPr/>
          <p:nvPr/>
        </p:nvSpPr>
        <p:spPr>
          <a:xfrm>
            <a:off x="548640" y="3931920"/>
            <a:ext cx="10881360" cy="274320"/>
          </a:xfrm>
          <a:prstGeom prst="rect">
            <a:avLst/>
          </a:prstGeom>
          <a:noFill/>
          <a:ln/>
        </p:spPr>
        <p:txBody>
          <a:bodyPr wrap="square" lIns="0" tIns="0" rIns="0" bIns="0" rtlCol="0" anchor="ctr"/>
          <a:lstStyle/>
          <a:p>
            <a:pPr marL="0" indent="0">
              <a:buNone/>
            </a:pPr>
            <a:r>
              <a:rPr lang="en-US" sz="1250" b="1">
                <a:solidFill>
                  <a:srgbClr val="2E7D32"/>
                </a:solidFill>
                <a:latin typeface="Calibri" pitchFamily="34" charset="0"/>
                <a:ea typeface="Calibri" pitchFamily="34" charset="-122"/>
                <a:cs typeface="Calibri" pitchFamily="34" charset="-120"/>
              </a:rPr>
              <a:t>H1 2026 vs 2025 (Bangkok overall):   Occ +2.3%   </a:t>
            </a:r>
            <a:r>
              <a:rPr lang="en-US" sz="1250" b="1">
                <a:solidFill>
                  <a:srgbClr val="FF0000"/>
                </a:solidFill>
                <a:latin typeface="Calibri" pitchFamily="34" charset="0"/>
                <a:ea typeface="Calibri" pitchFamily="34" charset="-122"/>
                <a:cs typeface="Calibri" pitchFamily="34" charset="-120"/>
              </a:rPr>
              <a:t>·   ADR −1.4%   </a:t>
            </a:r>
            <a:r>
              <a:rPr lang="en-US" sz="1250" b="1">
                <a:solidFill>
                  <a:srgbClr val="2E7D32"/>
                </a:solidFill>
                <a:latin typeface="Calibri" pitchFamily="34" charset="0"/>
                <a:ea typeface="Calibri" pitchFamily="34" charset="-122"/>
                <a:cs typeface="Calibri" pitchFamily="34" charset="-120"/>
              </a:rPr>
              <a:t>·   RevPAR +0.9%</a:t>
            </a:r>
            <a:endParaRPr lang="en-US" sz="1250"/>
          </a:p>
        </p:txBody>
      </p:sp>
      <p:graphicFrame>
        <p:nvGraphicFramePr>
          <p:cNvPr id="11" name="Table 10"/>
          <p:cNvGraphicFramePr>
            <a:graphicFrameLocks noGrp="1"/>
          </p:cNvGraphicFramePr>
          <p:nvPr>
            <p:extLst>
              <p:ext uri="{D42A27DB-BD31-4B8C-83A1-F6EECF244321}">
                <p14:modId xmlns:p14="http://schemas.microsoft.com/office/powerpoint/2010/main" val="1283971682"/>
              </p:ext>
            </p:extLst>
          </p:nvPr>
        </p:nvGraphicFramePr>
        <p:xfrm>
          <a:off x="548639" y="4343400"/>
          <a:ext cx="11091672" cy="1188720"/>
        </p:xfrm>
        <a:graphic>
          <a:graphicData uri="http://schemas.openxmlformats.org/drawingml/2006/table">
            <a:tbl>
              <a:tblPr>
                <a:tableStyleId>{5C22544A-7EE6-4342-B048-85BDC9FD1C3A}</a:tableStyleId>
              </a:tblPr>
              <a:tblGrid>
                <a:gridCol w="1988130">
                  <a:extLst>
                    <a:ext uri="{9D8B030D-6E8A-4147-A177-3AD203B41FA5}">
                      <a16:colId xmlns:a16="http://schemas.microsoft.com/office/drawing/2014/main" val="20000"/>
                    </a:ext>
                  </a:extLst>
                </a:gridCol>
                <a:gridCol w="1046384">
                  <a:extLst>
                    <a:ext uri="{9D8B030D-6E8A-4147-A177-3AD203B41FA5}">
                      <a16:colId xmlns:a16="http://schemas.microsoft.com/office/drawing/2014/main" val="20001"/>
                    </a:ext>
                  </a:extLst>
                </a:gridCol>
                <a:gridCol w="1046384">
                  <a:extLst>
                    <a:ext uri="{9D8B030D-6E8A-4147-A177-3AD203B41FA5}">
                      <a16:colId xmlns:a16="http://schemas.microsoft.com/office/drawing/2014/main" val="20002"/>
                    </a:ext>
                  </a:extLst>
                </a:gridCol>
                <a:gridCol w="941746">
                  <a:extLst>
                    <a:ext uri="{9D8B030D-6E8A-4147-A177-3AD203B41FA5}">
                      <a16:colId xmlns:a16="http://schemas.microsoft.com/office/drawing/2014/main" val="20003"/>
                    </a:ext>
                  </a:extLst>
                </a:gridCol>
                <a:gridCol w="1046384">
                  <a:extLst>
                    <a:ext uri="{9D8B030D-6E8A-4147-A177-3AD203B41FA5}">
                      <a16:colId xmlns:a16="http://schemas.microsoft.com/office/drawing/2014/main" val="20004"/>
                    </a:ext>
                  </a:extLst>
                </a:gridCol>
                <a:gridCol w="1046384">
                  <a:extLst>
                    <a:ext uri="{9D8B030D-6E8A-4147-A177-3AD203B41FA5}">
                      <a16:colId xmlns:a16="http://schemas.microsoft.com/office/drawing/2014/main" val="20005"/>
                    </a:ext>
                  </a:extLst>
                </a:gridCol>
                <a:gridCol w="941746">
                  <a:extLst>
                    <a:ext uri="{9D8B030D-6E8A-4147-A177-3AD203B41FA5}">
                      <a16:colId xmlns:a16="http://schemas.microsoft.com/office/drawing/2014/main" val="20006"/>
                    </a:ext>
                  </a:extLst>
                </a:gridCol>
                <a:gridCol w="1046384">
                  <a:extLst>
                    <a:ext uri="{9D8B030D-6E8A-4147-A177-3AD203B41FA5}">
                      <a16:colId xmlns:a16="http://schemas.microsoft.com/office/drawing/2014/main" val="20007"/>
                    </a:ext>
                  </a:extLst>
                </a:gridCol>
                <a:gridCol w="1046384">
                  <a:extLst>
                    <a:ext uri="{9D8B030D-6E8A-4147-A177-3AD203B41FA5}">
                      <a16:colId xmlns:a16="http://schemas.microsoft.com/office/drawing/2014/main" val="20008"/>
                    </a:ext>
                  </a:extLst>
                </a:gridCol>
                <a:gridCol w="941746">
                  <a:extLst>
                    <a:ext uri="{9D8B030D-6E8A-4147-A177-3AD203B41FA5}">
                      <a16:colId xmlns:a16="http://schemas.microsoft.com/office/drawing/2014/main" val="20009"/>
                    </a:ext>
                  </a:extLst>
                </a:gridCol>
              </a:tblGrid>
              <a:tr h="237744">
                <a:tc>
                  <a:txBody>
                    <a:bodyPr/>
                    <a:lstStyle/>
                    <a:p>
                      <a:pPr algn="l"/>
                      <a:r>
                        <a:rPr sz="850" b="1">
                          <a:solidFill>
                            <a:srgbClr val="FFFFFF"/>
                          </a:solidFill>
                          <a:latin typeface="Calibri"/>
                        </a:rPr>
                        <a:t>Market class</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Occ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Occ 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Δ%</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ADR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ADR 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Δ%</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RevPAR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RevPAR 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Δ%</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237744">
                <a:tc>
                  <a:txBody>
                    <a:bodyPr/>
                    <a:lstStyle/>
                    <a:p>
                      <a:pPr algn="l"/>
                      <a:r>
                        <a:rPr sz="850" b="0">
                          <a:solidFill>
                            <a:srgbClr val="26292E"/>
                          </a:solidFill>
                          <a:latin typeface="Calibri"/>
                        </a:rPr>
                        <a:t>Luxury</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65.1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66.8</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7,007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7,082</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+1.1%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4,560</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4,729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+3.7%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237744">
                <a:tc>
                  <a:txBody>
                    <a:bodyPr/>
                    <a:lstStyle/>
                    <a:p>
                      <a:pPr algn="l"/>
                      <a:r>
                        <a:rPr sz="850" b="0">
                          <a:solidFill>
                            <a:srgbClr val="26292E"/>
                          </a:solidFill>
                          <a:latin typeface="Calibri"/>
                        </a:rPr>
                        <a:t>Upper Upscale</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68.6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68.9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+0.5%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4,430</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4,301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C62828"/>
                          </a:solidFill>
                          <a:latin typeface="Calibri"/>
                        </a:rPr>
                        <a:t>-2.9%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3,039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2,965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C62828"/>
                          </a:solidFill>
                          <a:latin typeface="Calibri"/>
                        </a:rPr>
                        <a:t>-2.4%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237744">
                <a:tc>
                  <a:txBody>
                    <a:bodyPr/>
                    <a:lstStyle/>
                    <a:p>
                      <a:pPr algn="l"/>
                      <a:r>
                        <a:rPr sz="850" b="0">
                          <a:solidFill>
                            <a:srgbClr val="26292E"/>
                          </a:solidFill>
                          <a:latin typeface="Calibri"/>
                        </a:rPr>
                        <a:t>Upscale</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71.8</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75.4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+5.1%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3,130</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2,991</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C62828"/>
                          </a:solidFill>
                          <a:latin typeface="Calibri"/>
                        </a:rPr>
                        <a:t>-4.5%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2,247</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2,256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+0.4%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237744">
                <a:tc>
                  <a:txBody>
                    <a:bodyPr/>
                    <a:lstStyle/>
                    <a:p>
                      <a:pPr algn="l"/>
                      <a:r>
                        <a:rPr sz="850" b="0">
                          <a:solidFill>
                            <a:srgbClr val="26292E"/>
                          </a:solidFill>
                          <a:latin typeface="Calibri"/>
                        </a:rPr>
                        <a:t>Upper Midscale</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74.3</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76.8</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1E7B34"/>
                          </a:solidFill>
                          <a:latin typeface="Calibri"/>
                        </a:rPr>
                        <a:t>+3.4%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2,834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2,635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C62828"/>
                          </a:solidFill>
                          <a:latin typeface="Calibri"/>
                        </a:rPr>
                        <a:t>-7.0%</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595959"/>
                          </a:solidFill>
                          <a:latin typeface="Calibri"/>
                        </a:rPr>
                        <a:t>2,106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0">
                          <a:solidFill>
                            <a:srgbClr val="26292E"/>
                          </a:solidFill>
                          <a:latin typeface="Calibri"/>
                        </a:rPr>
                        <a:t>2,024</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850" b="1">
                          <a:solidFill>
                            <a:srgbClr val="C62828"/>
                          </a:solidFill>
                          <a:latin typeface="Calibri"/>
                        </a:rPr>
                        <a:t>-3.9%</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bl>
          </a:graphicData>
        </a:graphic>
      </p:graphicFrame>
      <p:sp>
        <p:nvSpPr>
          <p:cNvPr id="18" name="Right Brace 17">
            <a:extLst>
              <a:ext uri="{FF2B5EF4-FFF2-40B4-BE49-F238E27FC236}">
                <a16:creationId xmlns:a16="http://schemas.microsoft.com/office/drawing/2014/main" id="{1FDBC196-F69E-4BD1-1768-7DEF4F940DBC}"/>
              </a:ext>
            </a:extLst>
          </p:cNvPr>
          <p:cNvSpPr/>
          <p:nvPr/>
        </p:nvSpPr>
        <p:spPr>
          <a:xfrm rot="16200000" flipH="1">
            <a:off x="10873917" y="2865271"/>
            <a:ext cx="112722" cy="14200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7A0757AD-A561-E33B-C7BE-DCC2514B2BF7}"/>
              </a:ext>
            </a:extLst>
          </p:cNvPr>
          <p:cNvSpPr txBox="1"/>
          <p:nvPr/>
        </p:nvSpPr>
        <p:spPr>
          <a:xfrm>
            <a:off x="10511839" y="3619678"/>
            <a:ext cx="836878" cy="369332"/>
          </a:xfrm>
          <a:prstGeom prst="rect">
            <a:avLst/>
          </a:prstGeom>
          <a:noFill/>
        </p:spPr>
        <p:txBody>
          <a:bodyPr wrap="square" lIns="91440" tIns="45720" rIns="91440" bIns="45720" rtlCol="0" anchor="t">
            <a:spAutoFit/>
          </a:bodyPr>
          <a:lstStyle/>
          <a:p>
            <a:pPr algn="ctr"/>
            <a:r>
              <a:rPr lang="en-US" sz="900"/>
              <a:t>Q2 Soft Market</a:t>
            </a:r>
          </a:p>
        </p:txBody>
      </p:sp>
      <p:sp>
        <p:nvSpPr>
          <p:cNvPr id="20" name="Right Brace 19">
            <a:extLst>
              <a:ext uri="{FF2B5EF4-FFF2-40B4-BE49-F238E27FC236}">
                <a16:creationId xmlns:a16="http://schemas.microsoft.com/office/drawing/2014/main" id="{3F6D5320-6995-BFC8-23C9-8B0E1FB06C50}"/>
              </a:ext>
            </a:extLst>
          </p:cNvPr>
          <p:cNvSpPr/>
          <p:nvPr/>
        </p:nvSpPr>
        <p:spPr>
          <a:xfrm rot="16200000" flipH="1">
            <a:off x="7086844" y="2865271"/>
            <a:ext cx="112722" cy="14200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02F9CDA-50EF-802D-0A4E-61D3366A8F99}"/>
              </a:ext>
            </a:extLst>
          </p:cNvPr>
          <p:cNvSpPr txBox="1"/>
          <p:nvPr/>
        </p:nvSpPr>
        <p:spPr>
          <a:xfrm>
            <a:off x="6724766" y="3619678"/>
            <a:ext cx="836878" cy="369332"/>
          </a:xfrm>
          <a:prstGeom prst="rect">
            <a:avLst/>
          </a:prstGeom>
          <a:noFill/>
        </p:spPr>
        <p:txBody>
          <a:bodyPr wrap="square" lIns="91440" tIns="45720" rIns="91440" bIns="45720" rtlCol="0" anchor="t">
            <a:spAutoFit/>
          </a:bodyPr>
          <a:lstStyle/>
          <a:p>
            <a:pPr algn="ctr"/>
            <a:r>
              <a:rPr lang="en-US" sz="900"/>
              <a:t>Q2 Soft Market</a:t>
            </a:r>
          </a:p>
        </p:txBody>
      </p:sp>
      <p:sp>
        <p:nvSpPr>
          <p:cNvPr id="22" name="Right Brace 21">
            <a:extLst>
              <a:ext uri="{FF2B5EF4-FFF2-40B4-BE49-F238E27FC236}">
                <a16:creationId xmlns:a16="http://schemas.microsoft.com/office/drawing/2014/main" id="{9FA69062-879C-BF76-A32C-5DAF0B241F01}"/>
              </a:ext>
            </a:extLst>
          </p:cNvPr>
          <p:cNvSpPr/>
          <p:nvPr/>
        </p:nvSpPr>
        <p:spPr>
          <a:xfrm rot="16200000" flipH="1">
            <a:off x="3178391" y="2865271"/>
            <a:ext cx="112722" cy="14200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9FB07932-8C4E-8A97-584D-52A5F0DC674A}"/>
              </a:ext>
            </a:extLst>
          </p:cNvPr>
          <p:cNvSpPr txBox="1"/>
          <p:nvPr/>
        </p:nvSpPr>
        <p:spPr>
          <a:xfrm>
            <a:off x="2816313" y="3631584"/>
            <a:ext cx="1122627" cy="230832"/>
          </a:xfrm>
          <a:prstGeom prst="rect">
            <a:avLst/>
          </a:prstGeom>
          <a:noFill/>
        </p:spPr>
        <p:txBody>
          <a:bodyPr wrap="square" lIns="91440" tIns="45720" rIns="91440" bIns="45720" rtlCol="0" anchor="t">
            <a:spAutoFit/>
          </a:bodyPr>
          <a:lstStyle/>
          <a:p>
            <a:pPr algn="ctr"/>
            <a:r>
              <a:rPr lang="en-US" sz="900"/>
              <a:t>Q2 Soft Market</a:t>
            </a:r>
          </a:p>
        </p:txBody>
      </p:sp>
      <p:sp>
        <p:nvSpPr>
          <p:cNvPr id="13" name="Rectangle 12">
            <a:extLst>
              <a:ext uri="{FF2B5EF4-FFF2-40B4-BE49-F238E27FC236}">
                <a16:creationId xmlns:a16="http://schemas.microsoft.com/office/drawing/2014/main" id="{A9815B0B-BC00-C025-DD96-B1438FFEF390}"/>
              </a:ext>
            </a:extLst>
          </p:cNvPr>
          <p:cNvSpPr/>
          <p:nvPr/>
        </p:nvSpPr>
        <p:spPr>
          <a:xfrm>
            <a:off x="548639" y="5699282"/>
            <a:ext cx="11198601" cy="71235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a:solidFill>
                  <a:schemeClr val="tx1"/>
                </a:solidFill>
                <a:latin typeface="Calibri" pitchFamily="34" charset="0"/>
                <a:ea typeface="Calibri" pitchFamily="34" charset="-122"/>
                <a:cs typeface="Calibri" pitchFamily="34" charset="-120"/>
              </a:rPr>
              <a:t>Key takeaway: The Bangkok hotel market runs Occ +2.3%, ADR −1.3% → RevPAR +0.9%; the rise in visitors explains the higher occupancy.</a:t>
            </a:r>
          </a:p>
          <a:p>
            <a:r>
              <a:rPr sz="1200">
                <a:solidFill>
                  <a:schemeClr val="tx1"/>
                </a:solidFill>
                <a:latin typeface="Calibri"/>
              </a:rPr>
              <a:t>By class, Luxury is the only one holding rate (+1.1%)</a:t>
            </a:r>
            <a:endParaRPr lang="en-US" sz="1200">
              <a:solidFill>
                <a:schemeClr val="tx1"/>
              </a:solidFill>
              <a:latin typeface="Calibri"/>
            </a:endParaRPr>
          </a:p>
          <a:p>
            <a:r>
              <a:rPr sz="1200">
                <a:solidFill>
                  <a:schemeClr val="tx1"/>
                </a:solidFill>
                <a:latin typeface="Calibri"/>
              </a:rPr>
              <a:t>Every class below it cut price — and the lower the tier, the deeper the ADR cut.</a:t>
            </a:r>
            <a:endParaRPr lang="en-US" sz="1200">
              <a:solidFill>
                <a:schemeClr val="tx1"/>
              </a:solidFill>
              <a:latin typeface="Calibri"/>
            </a:endParaRPr>
          </a:p>
        </p:txBody>
      </p:sp>
      <p:cxnSp>
        <p:nvCxnSpPr>
          <p:cNvPr id="12" name="Straight Arrow Connector 11">
            <a:extLst>
              <a:ext uri="{FF2B5EF4-FFF2-40B4-BE49-F238E27FC236}">
                <a16:creationId xmlns:a16="http://schemas.microsoft.com/office/drawing/2014/main" id="{0407F377-B864-8A75-9010-6B3D75EB0330}"/>
              </a:ext>
            </a:extLst>
          </p:cNvPr>
          <p:cNvCxnSpPr/>
          <p:nvPr/>
        </p:nvCxnSpPr>
        <p:spPr>
          <a:xfrm>
            <a:off x="441789" y="4849402"/>
            <a:ext cx="0" cy="6827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50CA16F-327B-15B2-0F7D-EDD0D9EF3335}"/>
              </a:ext>
            </a:extLst>
          </p:cNvPr>
          <p:cNvSpPr txBox="1"/>
          <p:nvPr/>
        </p:nvSpPr>
        <p:spPr>
          <a:xfrm rot="16200000">
            <a:off x="-234940" y="5075345"/>
            <a:ext cx="1122627" cy="230832"/>
          </a:xfrm>
          <a:prstGeom prst="rect">
            <a:avLst/>
          </a:prstGeom>
          <a:noFill/>
        </p:spPr>
        <p:txBody>
          <a:bodyPr wrap="square" lIns="91440" tIns="45720" rIns="91440" bIns="45720" rtlCol="0" anchor="t">
            <a:spAutoFit/>
          </a:bodyPr>
          <a:lstStyle/>
          <a:p>
            <a:pPr algn="ctr"/>
            <a:r>
              <a:rPr lang="en-US" sz="900"/>
              <a:t>Our portfolio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C1F7DF7B-61AE-4183-3010-CCE5E2AD7E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73B7DB2-D012-32E1-1B91-CDBEEE14DD8D}"/>
              </a:ext>
            </a:extLst>
          </p:cNvPr>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1.2</a:t>
            </a:r>
            <a:endParaRPr lang="en-US" sz="9600"/>
          </a:p>
        </p:txBody>
      </p:sp>
      <p:sp>
        <p:nvSpPr>
          <p:cNvPr id="3" name="Text 1">
            <a:extLst>
              <a:ext uri="{FF2B5EF4-FFF2-40B4-BE49-F238E27FC236}">
                <a16:creationId xmlns:a16="http://schemas.microsoft.com/office/drawing/2014/main" id="{AB051A42-3A8D-125D-B9B0-7559C561E523}"/>
              </a:ext>
            </a:extLst>
          </p:cNvPr>
          <p:cNvSpPr/>
          <p:nvPr/>
        </p:nvSpPr>
        <p:spPr>
          <a:xfrm>
            <a:off x="2514600" y="1961949"/>
            <a:ext cx="5958840" cy="2715126"/>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Pattaya Tourist Arrivals + Revenue from tourists</a:t>
            </a:r>
          </a:p>
          <a:p>
            <a:r>
              <a:rPr lang="en-US" sz="4000" b="1">
                <a:solidFill>
                  <a:srgbClr val="FFFFFF"/>
                </a:solidFill>
                <a:latin typeface="Calibri" pitchFamily="34" charset="0"/>
                <a:ea typeface="Calibri" pitchFamily="34" charset="-122"/>
                <a:cs typeface="Calibri" pitchFamily="34" charset="-120"/>
              </a:rPr>
              <a:t>Pattaya Hotel Market</a:t>
            </a:r>
            <a:endParaRPr lang="en-US" sz="4000"/>
          </a:p>
          <a:p>
            <a:pPr marL="0" indent="0">
              <a:buNone/>
            </a:pPr>
            <a:endParaRPr lang="en-US" sz="4000"/>
          </a:p>
        </p:txBody>
      </p:sp>
      <p:sp>
        <p:nvSpPr>
          <p:cNvPr id="5" name="Text 3">
            <a:extLst>
              <a:ext uri="{FF2B5EF4-FFF2-40B4-BE49-F238E27FC236}">
                <a16:creationId xmlns:a16="http://schemas.microsoft.com/office/drawing/2014/main" id="{612A9611-A91A-2CCB-AAD3-DAAB4E3CB4AA}"/>
              </a:ext>
            </a:extLst>
          </p:cNvPr>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extLst>
      <p:ext uri="{BB962C8B-B14F-4D97-AF65-F5344CB8AC3E}">
        <p14:creationId xmlns:p14="http://schemas.microsoft.com/office/powerpoint/2010/main" val="493236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none">
            <a:spAutoFit/>
          </a:bodyPr>
          <a:lstStyle/>
          <a:p>
            <a:r>
              <a:rPr sz="1100" b="1">
                <a:solidFill>
                  <a:srgbClr val="D9A441"/>
                </a:solidFill>
                <a:latin typeface="Calibri"/>
              </a:rPr>
              <a:t>SECTION 1 · TOURIST ARRIVALS</a:t>
            </a:r>
          </a:p>
        </p:txBody>
      </p:sp>
      <p:sp>
        <p:nvSpPr>
          <p:cNvPr id="3" name="TextBox 2"/>
          <p:cNvSpPr txBox="1"/>
          <p:nvPr/>
        </p:nvSpPr>
        <p:spPr>
          <a:xfrm>
            <a:off x="548640" y="502920"/>
            <a:ext cx="11064240" cy="566928"/>
          </a:xfrm>
          <a:prstGeom prst="rect">
            <a:avLst/>
          </a:prstGeom>
          <a:noFill/>
        </p:spPr>
        <p:txBody>
          <a:bodyPr wrap="none">
            <a:spAutoFit/>
          </a:bodyPr>
          <a:lstStyle/>
          <a:p>
            <a:r>
              <a:rPr sz="2800" b="1">
                <a:solidFill>
                  <a:srgbClr val="1E2761"/>
                </a:solidFill>
                <a:latin typeface="Calibri"/>
              </a:rPr>
              <a:t>Pattaya (Chonburi) — tourist arrivals &amp; revenue from tourists</a:t>
            </a:r>
          </a:p>
        </p:txBody>
      </p:sp>
      <p:sp>
        <p:nvSpPr>
          <p:cNvPr id="4" name="TextBox 3"/>
          <p:cNvSpPr txBox="1"/>
          <p:nvPr/>
        </p:nvSpPr>
        <p:spPr>
          <a:xfrm>
            <a:off x="548640" y="1060704"/>
            <a:ext cx="11064240" cy="274320"/>
          </a:xfrm>
          <a:prstGeom prst="rect">
            <a:avLst/>
          </a:prstGeom>
          <a:noFill/>
        </p:spPr>
        <p:txBody>
          <a:bodyPr wrap="none">
            <a:spAutoFit/>
          </a:bodyPr>
          <a:lstStyle/>
          <a:p>
            <a:r>
              <a:rPr sz="1250">
                <a:solidFill>
                  <a:srgbClr val="6B7280"/>
                </a:solidFill>
                <a:latin typeface="Calibri"/>
              </a:rPr>
              <a:t>H1 (Jan–Jun) each year · source: MOTS provincial data (Province arrival / Revenue from tourists sheets)</a:t>
            </a:r>
          </a:p>
        </p:txBody>
      </p:sp>
      <p:graphicFrame>
        <p:nvGraphicFramePr>
          <p:cNvPr id="5" name="Chart 4"/>
          <p:cNvGraphicFramePr>
            <a:graphicFrameLocks noGrp="1"/>
          </p:cNvGraphicFramePr>
          <p:nvPr>
            <p:extLst>
              <p:ext uri="{D42A27DB-BD31-4B8C-83A1-F6EECF244321}">
                <p14:modId xmlns:p14="http://schemas.microsoft.com/office/powerpoint/2010/main" val="3011364258"/>
              </p:ext>
            </p:extLst>
          </p:nvPr>
        </p:nvGraphicFramePr>
        <p:xfrm>
          <a:off x="548640" y="1600200"/>
          <a:ext cx="11064240" cy="222535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Table 6"/>
          <p:cNvGraphicFramePr>
            <a:graphicFrameLocks noGrp="1"/>
          </p:cNvGraphicFramePr>
          <p:nvPr>
            <p:extLst>
              <p:ext uri="{D42A27DB-BD31-4B8C-83A1-F6EECF244321}">
                <p14:modId xmlns:p14="http://schemas.microsoft.com/office/powerpoint/2010/main" val="1384459513"/>
              </p:ext>
            </p:extLst>
          </p:nvPr>
        </p:nvGraphicFramePr>
        <p:xfrm>
          <a:off x="548640" y="3895639"/>
          <a:ext cx="11064240" cy="176022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213793">
                <a:tc>
                  <a:txBody>
                    <a:bodyPr/>
                    <a:lstStyle/>
                    <a:p>
                      <a:r>
                        <a:rPr sz="1050" b="1">
                          <a:solidFill>
                            <a:srgbClr val="FFFFFF"/>
                          </a:solidFill>
                          <a:latin typeface="Calibri"/>
                        </a:rPr>
                        <a:t>H1</a:t>
                      </a:r>
                    </a:p>
                  </a:txBody>
                  <a:tcPr>
                    <a:solidFill>
                      <a:srgbClr val="1E2761"/>
                    </a:solidFill>
                  </a:tcPr>
                </a:tc>
                <a:tc>
                  <a:txBody>
                    <a:bodyPr/>
                    <a:lstStyle/>
                    <a:p>
                      <a:r>
                        <a:rPr sz="1050" b="1">
                          <a:solidFill>
                            <a:srgbClr val="FFFFFF"/>
                          </a:solidFill>
                          <a:latin typeface="Calibri"/>
                        </a:rPr>
                        <a:t>2023</a:t>
                      </a:r>
                    </a:p>
                  </a:txBody>
                  <a:tcPr>
                    <a:solidFill>
                      <a:srgbClr val="1E2761"/>
                    </a:solidFill>
                  </a:tcPr>
                </a:tc>
                <a:tc>
                  <a:txBody>
                    <a:bodyPr/>
                    <a:lstStyle/>
                    <a:p>
                      <a:r>
                        <a:rPr sz="1050" b="1">
                          <a:solidFill>
                            <a:srgbClr val="FFFFFF"/>
                          </a:solidFill>
                          <a:latin typeface="Calibri"/>
                        </a:rPr>
                        <a:t>2024</a:t>
                      </a:r>
                    </a:p>
                  </a:txBody>
                  <a:tcPr>
                    <a:solidFill>
                      <a:srgbClr val="1E2761"/>
                    </a:solidFill>
                  </a:tcPr>
                </a:tc>
                <a:tc>
                  <a:txBody>
                    <a:bodyPr/>
                    <a:lstStyle/>
                    <a:p>
                      <a:r>
                        <a:rPr sz="1050" b="1">
                          <a:solidFill>
                            <a:srgbClr val="FFFFFF"/>
                          </a:solidFill>
                          <a:latin typeface="Calibri"/>
                        </a:rPr>
                        <a:t>2025</a:t>
                      </a:r>
                    </a:p>
                  </a:txBody>
                  <a:tcPr>
                    <a:solidFill>
                      <a:srgbClr val="1E2761"/>
                    </a:solidFill>
                  </a:tcPr>
                </a:tc>
                <a:tc>
                  <a:txBody>
                    <a:bodyPr/>
                    <a:lstStyle/>
                    <a:p>
                      <a:r>
                        <a:rPr sz="1050" b="1">
                          <a:solidFill>
                            <a:srgbClr val="FFFFFF"/>
                          </a:solidFill>
                          <a:latin typeface="Calibri"/>
                        </a:rPr>
                        <a:t>2026</a:t>
                      </a:r>
                    </a:p>
                  </a:txBody>
                  <a:tcPr>
                    <a:solidFill>
                      <a:srgbClr val="1E2761"/>
                    </a:solidFill>
                  </a:tcPr>
                </a:tc>
                <a:extLst>
                  <a:ext uri="{0D108BD9-81ED-4DB2-BD59-A6C34878D82A}">
                    <a16:rowId xmlns:a16="http://schemas.microsoft.com/office/drawing/2014/main" val="10000"/>
                  </a:ext>
                </a:extLst>
              </a:tr>
              <a:tr h="213793">
                <a:tc>
                  <a:txBody>
                    <a:bodyPr/>
                    <a:lstStyle/>
                    <a:p>
                      <a:r>
                        <a:rPr sz="1050" b="1">
                          <a:solidFill>
                            <a:srgbClr val="26292E"/>
                          </a:solidFill>
                          <a:latin typeface="Calibri"/>
                        </a:rPr>
                        <a:t>Total arrivals (M)</a:t>
                      </a:r>
                    </a:p>
                  </a:txBody>
                  <a:tcPr>
                    <a:solidFill>
                      <a:srgbClr val="F4F6FB"/>
                    </a:solidFill>
                  </a:tcPr>
                </a:tc>
                <a:tc>
                  <a:txBody>
                    <a:bodyPr/>
                    <a:lstStyle/>
                    <a:p>
                      <a:r>
                        <a:rPr sz="1050" b="0">
                          <a:solidFill>
                            <a:srgbClr val="26292E"/>
                          </a:solidFill>
                          <a:latin typeface="Calibri"/>
                        </a:rPr>
                        <a:t>11.82</a:t>
                      </a:r>
                    </a:p>
                  </a:txBody>
                  <a:tcPr>
                    <a:solidFill>
                      <a:srgbClr val="F4F6FB"/>
                    </a:solidFill>
                  </a:tcPr>
                </a:tc>
                <a:tc>
                  <a:txBody>
                    <a:bodyPr/>
                    <a:lstStyle/>
                    <a:p>
                      <a:r>
                        <a:rPr sz="1050" b="0">
                          <a:solidFill>
                            <a:srgbClr val="26292E"/>
                          </a:solidFill>
                          <a:latin typeface="Calibri"/>
                        </a:rPr>
                        <a:t>13.35</a:t>
                      </a:r>
                    </a:p>
                  </a:txBody>
                  <a:tcPr>
                    <a:solidFill>
                      <a:srgbClr val="F4F6FB"/>
                    </a:solidFill>
                  </a:tcPr>
                </a:tc>
                <a:tc>
                  <a:txBody>
                    <a:bodyPr/>
                    <a:lstStyle/>
                    <a:p>
                      <a:r>
                        <a:rPr sz="1050" b="0">
                          <a:solidFill>
                            <a:srgbClr val="26292E"/>
                          </a:solidFill>
                          <a:latin typeface="Calibri"/>
                        </a:rPr>
                        <a:t>13.87</a:t>
                      </a:r>
                    </a:p>
                  </a:txBody>
                  <a:tcPr>
                    <a:solidFill>
                      <a:srgbClr val="F4F6FB"/>
                    </a:solidFill>
                  </a:tcPr>
                </a:tc>
                <a:tc>
                  <a:txBody>
                    <a:bodyPr/>
                    <a:lstStyle/>
                    <a:p>
                      <a:r>
                        <a:rPr sz="1050" b="0">
                          <a:solidFill>
                            <a:srgbClr val="26292E"/>
                          </a:solidFill>
                          <a:latin typeface="Calibri"/>
                        </a:rPr>
                        <a:t>13.51</a:t>
                      </a:r>
                    </a:p>
                  </a:txBody>
                  <a:tcPr>
                    <a:solidFill>
                      <a:srgbClr val="F4F6FB"/>
                    </a:solidFill>
                  </a:tcPr>
                </a:tc>
                <a:extLst>
                  <a:ext uri="{0D108BD9-81ED-4DB2-BD59-A6C34878D82A}">
                    <a16:rowId xmlns:a16="http://schemas.microsoft.com/office/drawing/2014/main" val="10001"/>
                  </a:ext>
                </a:extLst>
              </a:tr>
              <a:tr h="213793">
                <a:tc>
                  <a:txBody>
                    <a:bodyPr/>
                    <a:lstStyle/>
                    <a:p>
                      <a:r>
                        <a:rPr sz="1050" b="1">
                          <a:solidFill>
                            <a:srgbClr val="26292E"/>
                          </a:solidFill>
                          <a:latin typeface="Calibri"/>
                        </a:rPr>
                        <a:t>- Domestic (M)</a:t>
                      </a:r>
                    </a:p>
                  </a:txBody>
                  <a:tcPr>
                    <a:solidFill>
                      <a:srgbClr val="FFFFFF"/>
                    </a:solidFill>
                  </a:tcPr>
                </a:tc>
                <a:tc>
                  <a:txBody>
                    <a:bodyPr/>
                    <a:lstStyle/>
                    <a:p>
                      <a:r>
                        <a:rPr sz="1050" b="0">
                          <a:solidFill>
                            <a:srgbClr val="26292E"/>
                          </a:solidFill>
                          <a:latin typeface="Calibri"/>
                        </a:rPr>
                        <a:t>7.12</a:t>
                      </a:r>
                    </a:p>
                  </a:txBody>
                  <a:tcPr>
                    <a:solidFill>
                      <a:srgbClr val="FFFFFF"/>
                    </a:solidFill>
                  </a:tcPr>
                </a:tc>
                <a:tc>
                  <a:txBody>
                    <a:bodyPr/>
                    <a:lstStyle/>
                    <a:p>
                      <a:r>
                        <a:rPr sz="1050" b="0">
                          <a:solidFill>
                            <a:srgbClr val="26292E"/>
                          </a:solidFill>
                          <a:latin typeface="Calibri"/>
                        </a:rPr>
                        <a:t>7.57</a:t>
                      </a:r>
                    </a:p>
                  </a:txBody>
                  <a:tcPr>
                    <a:solidFill>
                      <a:srgbClr val="FFFFFF"/>
                    </a:solidFill>
                  </a:tcPr>
                </a:tc>
                <a:tc>
                  <a:txBody>
                    <a:bodyPr/>
                    <a:lstStyle/>
                    <a:p>
                      <a:r>
                        <a:rPr sz="1050" b="0">
                          <a:solidFill>
                            <a:srgbClr val="26292E"/>
                          </a:solidFill>
                          <a:latin typeface="Calibri"/>
                        </a:rPr>
                        <a:t>8.45</a:t>
                      </a:r>
                    </a:p>
                  </a:txBody>
                  <a:tcPr>
                    <a:solidFill>
                      <a:srgbClr val="FFFFFF"/>
                    </a:solidFill>
                  </a:tcPr>
                </a:tc>
                <a:tc>
                  <a:txBody>
                    <a:bodyPr/>
                    <a:lstStyle/>
                    <a:p>
                      <a:r>
                        <a:rPr sz="1050" b="0">
                          <a:solidFill>
                            <a:srgbClr val="26292E"/>
                          </a:solidFill>
                          <a:latin typeface="Calibri"/>
                        </a:rPr>
                        <a:t>8.38</a:t>
                      </a:r>
                    </a:p>
                  </a:txBody>
                  <a:tcPr>
                    <a:solidFill>
                      <a:srgbClr val="FFFFFF"/>
                    </a:solidFill>
                  </a:tcPr>
                </a:tc>
                <a:extLst>
                  <a:ext uri="{0D108BD9-81ED-4DB2-BD59-A6C34878D82A}">
                    <a16:rowId xmlns:a16="http://schemas.microsoft.com/office/drawing/2014/main" val="10002"/>
                  </a:ext>
                </a:extLst>
              </a:tr>
              <a:tr h="213793">
                <a:tc>
                  <a:txBody>
                    <a:bodyPr/>
                    <a:lstStyle/>
                    <a:p>
                      <a:r>
                        <a:rPr sz="1050" b="1">
                          <a:solidFill>
                            <a:srgbClr val="26292E"/>
                          </a:solidFill>
                          <a:latin typeface="Calibri"/>
                        </a:rPr>
                        <a:t>- International (M)</a:t>
                      </a:r>
                    </a:p>
                  </a:txBody>
                  <a:tcPr>
                    <a:solidFill>
                      <a:srgbClr val="F4F6FB"/>
                    </a:solidFill>
                  </a:tcPr>
                </a:tc>
                <a:tc>
                  <a:txBody>
                    <a:bodyPr/>
                    <a:lstStyle/>
                    <a:p>
                      <a:r>
                        <a:rPr sz="1050" b="0">
                          <a:solidFill>
                            <a:srgbClr val="26292E"/>
                          </a:solidFill>
                          <a:latin typeface="Calibri"/>
                        </a:rPr>
                        <a:t>4.70</a:t>
                      </a:r>
                    </a:p>
                  </a:txBody>
                  <a:tcPr>
                    <a:solidFill>
                      <a:srgbClr val="F4F6FB"/>
                    </a:solidFill>
                  </a:tcPr>
                </a:tc>
                <a:tc>
                  <a:txBody>
                    <a:bodyPr/>
                    <a:lstStyle/>
                    <a:p>
                      <a:r>
                        <a:rPr sz="1050" b="0">
                          <a:solidFill>
                            <a:srgbClr val="26292E"/>
                          </a:solidFill>
                          <a:latin typeface="Calibri"/>
                        </a:rPr>
                        <a:t>5.78</a:t>
                      </a:r>
                    </a:p>
                  </a:txBody>
                  <a:tcPr>
                    <a:solidFill>
                      <a:srgbClr val="F4F6FB"/>
                    </a:solidFill>
                  </a:tcPr>
                </a:tc>
                <a:tc>
                  <a:txBody>
                    <a:bodyPr/>
                    <a:lstStyle/>
                    <a:p>
                      <a:r>
                        <a:rPr sz="1050" b="0">
                          <a:solidFill>
                            <a:srgbClr val="26292E"/>
                          </a:solidFill>
                          <a:latin typeface="Calibri"/>
                        </a:rPr>
                        <a:t>5.42</a:t>
                      </a:r>
                    </a:p>
                  </a:txBody>
                  <a:tcPr>
                    <a:solidFill>
                      <a:srgbClr val="F4F6FB"/>
                    </a:solidFill>
                  </a:tcPr>
                </a:tc>
                <a:tc>
                  <a:txBody>
                    <a:bodyPr/>
                    <a:lstStyle/>
                    <a:p>
                      <a:r>
                        <a:rPr sz="1050" b="0">
                          <a:solidFill>
                            <a:srgbClr val="26292E"/>
                          </a:solidFill>
                          <a:latin typeface="Calibri"/>
                        </a:rPr>
                        <a:t>5.13</a:t>
                      </a:r>
                    </a:p>
                  </a:txBody>
                  <a:tcPr>
                    <a:solidFill>
                      <a:srgbClr val="F4F6FB"/>
                    </a:solidFill>
                  </a:tcPr>
                </a:tc>
                <a:extLst>
                  <a:ext uri="{0D108BD9-81ED-4DB2-BD59-A6C34878D82A}">
                    <a16:rowId xmlns:a16="http://schemas.microsoft.com/office/drawing/2014/main" val="10003"/>
                  </a:ext>
                </a:extLst>
              </a:tr>
              <a:tr h="213793">
                <a:tc>
                  <a:txBody>
                    <a:bodyPr/>
                    <a:lstStyle/>
                    <a:p>
                      <a:r>
                        <a:rPr sz="1050" b="1">
                          <a:solidFill>
                            <a:srgbClr val="26292E"/>
                          </a:solidFill>
                          <a:latin typeface="Calibri"/>
                        </a:rPr>
                        <a:t>Total arrivals vs LY</a:t>
                      </a:r>
                    </a:p>
                  </a:txBody>
                  <a:tcPr>
                    <a:solidFill>
                      <a:srgbClr val="FFFFFF"/>
                    </a:solidFill>
                  </a:tcPr>
                </a:tc>
                <a:tc>
                  <a:txBody>
                    <a:bodyPr/>
                    <a:lstStyle/>
                    <a:p>
                      <a:r>
                        <a:rPr sz="1050" b="0">
                          <a:solidFill>
                            <a:srgbClr val="26292E"/>
                          </a:solidFill>
                          <a:latin typeface="Calibri"/>
                        </a:rPr>
                        <a:t>—</a:t>
                      </a:r>
                    </a:p>
                  </a:txBody>
                  <a:tcPr>
                    <a:solidFill>
                      <a:srgbClr val="FFFFFF"/>
                    </a:solidFill>
                  </a:tcPr>
                </a:tc>
                <a:tc>
                  <a:txBody>
                    <a:bodyPr/>
                    <a:lstStyle/>
                    <a:p>
                      <a:r>
                        <a:rPr sz="1050" b="0">
                          <a:solidFill>
                            <a:srgbClr val="2E7D32"/>
                          </a:solidFill>
                          <a:latin typeface="Calibri"/>
                        </a:rPr>
                        <a:t>+12.9%</a:t>
                      </a:r>
                    </a:p>
                  </a:txBody>
                  <a:tcPr>
                    <a:solidFill>
                      <a:srgbClr val="FFFFFF"/>
                    </a:solidFill>
                  </a:tcPr>
                </a:tc>
                <a:tc>
                  <a:txBody>
                    <a:bodyPr/>
                    <a:lstStyle/>
                    <a:p>
                      <a:r>
                        <a:rPr sz="1050" b="0">
                          <a:solidFill>
                            <a:srgbClr val="2E7D32"/>
                          </a:solidFill>
                          <a:latin typeface="Calibri"/>
                        </a:rPr>
                        <a:t>+4.0%</a:t>
                      </a:r>
                    </a:p>
                  </a:txBody>
                  <a:tcPr>
                    <a:solidFill>
                      <a:srgbClr val="FFFFFF"/>
                    </a:solidFill>
                  </a:tcPr>
                </a:tc>
                <a:tc>
                  <a:txBody>
                    <a:bodyPr/>
                    <a:lstStyle/>
                    <a:p>
                      <a:r>
                        <a:rPr sz="1050" b="0">
                          <a:solidFill>
                            <a:srgbClr val="C0392B"/>
                          </a:solidFill>
                          <a:latin typeface="Calibri"/>
                        </a:rPr>
                        <a:t>-2.7%</a:t>
                      </a:r>
                    </a:p>
                  </a:txBody>
                  <a:tcPr>
                    <a:solidFill>
                      <a:srgbClr val="FFFFFF"/>
                    </a:solidFill>
                  </a:tcPr>
                </a:tc>
                <a:extLst>
                  <a:ext uri="{0D108BD9-81ED-4DB2-BD59-A6C34878D82A}">
                    <a16:rowId xmlns:a16="http://schemas.microsoft.com/office/drawing/2014/main" val="10004"/>
                  </a:ext>
                </a:extLst>
              </a:tr>
              <a:tr h="228600">
                <a:tc>
                  <a:txBody>
                    <a:bodyPr/>
                    <a:lstStyle/>
                    <a:p>
                      <a:r>
                        <a:rPr lang="en-US" sz="1050" b="1">
                          <a:solidFill>
                            <a:srgbClr val="26292E"/>
                          </a:solidFill>
                          <a:latin typeface="Calibri"/>
                        </a:rPr>
                        <a:t>- </a:t>
                      </a:r>
                      <a:r>
                        <a:rPr sz="1050" b="1">
                          <a:solidFill>
                            <a:srgbClr val="26292E"/>
                          </a:solidFill>
                          <a:latin typeface="Calibri"/>
                        </a:rPr>
                        <a:t>Dom arrivals vs LY</a:t>
                      </a:r>
                    </a:p>
                  </a:txBody>
                  <a:tcPr>
                    <a:solidFill>
                      <a:srgbClr val="FFFFFF"/>
                    </a:solidFill>
                  </a:tcPr>
                </a:tc>
                <a:tc>
                  <a:txBody>
                    <a:bodyPr/>
                    <a:lstStyle/>
                    <a:p>
                      <a:r>
                        <a:rPr sz="1050" b="0">
                          <a:solidFill>
                            <a:srgbClr val="26292E"/>
                          </a:solidFill>
                          <a:latin typeface="Calibri"/>
                        </a:rPr>
                        <a:t>—</a:t>
                      </a:r>
                    </a:p>
                  </a:txBody>
                  <a:tcPr>
                    <a:solidFill>
                      <a:srgbClr val="FFFFFF"/>
                    </a:solidFill>
                  </a:tcPr>
                </a:tc>
                <a:tc>
                  <a:txBody>
                    <a:bodyPr/>
                    <a:lstStyle/>
                    <a:p>
                      <a:r>
                        <a:rPr sz="1050" b="0">
                          <a:solidFill>
                            <a:srgbClr val="2E7D32"/>
                          </a:solidFill>
                          <a:latin typeface="Calibri"/>
                        </a:rPr>
                        <a:t>+6.3%</a:t>
                      </a:r>
                    </a:p>
                  </a:txBody>
                  <a:tcPr>
                    <a:solidFill>
                      <a:srgbClr val="FFFFFF"/>
                    </a:solidFill>
                  </a:tcPr>
                </a:tc>
                <a:tc>
                  <a:txBody>
                    <a:bodyPr/>
                    <a:lstStyle/>
                    <a:p>
                      <a:r>
                        <a:rPr sz="1050" b="0">
                          <a:solidFill>
                            <a:srgbClr val="2E7D32"/>
                          </a:solidFill>
                          <a:latin typeface="Calibri"/>
                        </a:rPr>
                        <a:t>+11.6%</a:t>
                      </a:r>
                    </a:p>
                  </a:txBody>
                  <a:tcPr>
                    <a:solidFill>
                      <a:srgbClr val="FFFFFF"/>
                    </a:solidFill>
                  </a:tcPr>
                </a:tc>
                <a:tc>
                  <a:txBody>
                    <a:bodyPr/>
                    <a:lstStyle/>
                    <a:p>
                      <a:r>
                        <a:rPr sz="1050" b="0">
                          <a:solidFill>
                            <a:srgbClr val="C0392B"/>
                          </a:solidFill>
                          <a:latin typeface="Calibri"/>
                        </a:rPr>
                        <a:t>-0.8%</a:t>
                      </a:r>
                    </a:p>
                  </a:txBody>
                  <a:tcPr>
                    <a:solidFill>
                      <a:srgbClr val="FFFFFF"/>
                    </a:solidFill>
                  </a:tcPr>
                </a:tc>
                <a:extLst>
                  <a:ext uri="{0D108BD9-81ED-4DB2-BD59-A6C34878D82A}">
                    <a16:rowId xmlns:a16="http://schemas.microsoft.com/office/drawing/2014/main" val="257995997"/>
                  </a:ext>
                </a:extLst>
              </a:tr>
              <a:tr h="213793">
                <a:tc>
                  <a:txBody>
                    <a:bodyPr/>
                    <a:lstStyle/>
                    <a:p>
                      <a:r>
                        <a:rPr lang="en-US" sz="1050" b="1">
                          <a:solidFill>
                            <a:srgbClr val="26292E"/>
                          </a:solidFill>
                          <a:latin typeface="Calibri"/>
                        </a:rPr>
                        <a:t>- </a:t>
                      </a:r>
                      <a:r>
                        <a:rPr sz="1050" b="1">
                          <a:solidFill>
                            <a:srgbClr val="26292E"/>
                          </a:solidFill>
                          <a:latin typeface="Calibri"/>
                        </a:rPr>
                        <a:t>Intl arrivals vs LY</a:t>
                      </a:r>
                    </a:p>
                  </a:txBody>
                  <a:tcPr>
                    <a:solidFill>
                      <a:srgbClr val="F4F6FB"/>
                    </a:solidFill>
                  </a:tcPr>
                </a:tc>
                <a:tc>
                  <a:txBody>
                    <a:bodyPr/>
                    <a:lstStyle/>
                    <a:p>
                      <a:r>
                        <a:rPr sz="1050" b="0">
                          <a:solidFill>
                            <a:srgbClr val="26292E"/>
                          </a:solidFill>
                          <a:latin typeface="Calibri"/>
                        </a:rPr>
                        <a:t>—</a:t>
                      </a:r>
                    </a:p>
                  </a:txBody>
                  <a:tcPr>
                    <a:solidFill>
                      <a:srgbClr val="F4F6FB"/>
                    </a:solidFill>
                  </a:tcPr>
                </a:tc>
                <a:tc>
                  <a:txBody>
                    <a:bodyPr/>
                    <a:lstStyle/>
                    <a:p>
                      <a:r>
                        <a:rPr sz="1050" b="0">
                          <a:solidFill>
                            <a:srgbClr val="2E7D32"/>
                          </a:solidFill>
                          <a:latin typeface="Calibri"/>
                        </a:rPr>
                        <a:t>+23.0%</a:t>
                      </a:r>
                    </a:p>
                  </a:txBody>
                  <a:tcPr>
                    <a:solidFill>
                      <a:srgbClr val="F4F6FB"/>
                    </a:solidFill>
                  </a:tcPr>
                </a:tc>
                <a:tc>
                  <a:txBody>
                    <a:bodyPr/>
                    <a:lstStyle/>
                    <a:p>
                      <a:r>
                        <a:rPr sz="1050" b="0">
                          <a:solidFill>
                            <a:srgbClr val="C0392B"/>
                          </a:solidFill>
                          <a:latin typeface="Calibri"/>
                        </a:rPr>
                        <a:t>-6.2%</a:t>
                      </a:r>
                    </a:p>
                  </a:txBody>
                  <a:tcPr>
                    <a:solidFill>
                      <a:srgbClr val="F4F6FB"/>
                    </a:solidFill>
                  </a:tcPr>
                </a:tc>
                <a:tc>
                  <a:txBody>
                    <a:bodyPr/>
                    <a:lstStyle/>
                    <a:p>
                      <a:r>
                        <a:rPr sz="1050" b="0">
                          <a:solidFill>
                            <a:srgbClr val="C0392B"/>
                          </a:solidFill>
                          <a:latin typeface="Calibri"/>
                        </a:rPr>
                        <a:t>-5.4%</a:t>
                      </a:r>
                    </a:p>
                  </a:txBody>
                  <a:tcPr>
                    <a:solidFill>
                      <a:srgbClr val="F4F6FB"/>
                    </a:solidFill>
                  </a:tcPr>
                </a:tc>
                <a:extLst>
                  <a:ext uri="{0D108BD9-81ED-4DB2-BD59-A6C34878D82A}">
                    <a16:rowId xmlns:a16="http://schemas.microsoft.com/office/drawing/2014/main" val="10005"/>
                  </a:ext>
                </a:extLst>
              </a:tr>
            </a:tbl>
          </a:graphicData>
        </a:graphic>
      </p:graphicFrame>
      <p:sp>
        <p:nvSpPr>
          <p:cNvPr id="8" name="Rectangle 7">
            <a:extLst>
              <a:ext uri="{FF2B5EF4-FFF2-40B4-BE49-F238E27FC236}">
                <a16:creationId xmlns:a16="http://schemas.microsoft.com/office/drawing/2014/main" id="{B82EA17F-8A49-A763-07C3-906307D99AB6}"/>
              </a:ext>
            </a:extLst>
          </p:cNvPr>
          <p:cNvSpPr/>
          <p:nvPr/>
        </p:nvSpPr>
        <p:spPr>
          <a:xfrm>
            <a:off x="548639" y="5797296"/>
            <a:ext cx="11198601" cy="71235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a:solidFill>
                  <a:sysClr val="windowText" lastClr="000000"/>
                </a:solidFill>
                <a:latin typeface="Calibri" pitchFamily="34" charset="0"/>
                <a:ea typeface="Calibri" pitchFamily="34" charset="-122"/>
                <a:cs typeface="Calibri" pitchFamily="34" charset="-120"/>
              </a:rPr>
              <a:t>Key takeaway: In the Pattaya area, arrivals are −2.7% vs LY — mostly from foreigners (−5.4% vs LY).</a:t>
            </a:r>
          </a:p>
          <a:p>
            <a:r>
              <a:rPr lang="en-US" sz="1200"/>
              <a:t>***June carries the MOTS 4-day data-loss gap.</a:t>
            </a:r>
          </a:p>
        </p:txBody>
      </p:sp>
    </p:spTree>
    <p:extLst>
      <p:ext uri="{BB962C8B-B14F-4D97-AF65-F5344CB8AC3E}">
        <p14:creationId xmlns:p14="http://schemas.microsoft.com/office/powerpoint/2010/main" val="41459431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2 · MARKET (STR)</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Pattaya market — Occ / ADR / RevPAR</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Pattaya submarket (CoStar Standard Monthly, YTD Jun 2026 report) · Jan–Jun monthly, 2026 vs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1647986545"/>
              </p:ext>
            </p:extLst>
          </p:nvPr>
        </p:nvGraphicFramePr>
        <p:xfrm>
          <a:off x="548640" y="1554480"/>
          <a:ext cx="3611880" cy="2331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extLst>
              <p:ext uri="{D42A27DB-BD31-4B8C-83A1-F6EECF244321}">
                <p14:modId xmlns:p14="http://schemas.microsoft.com/office/powerpoint/2010/main" val="3264171204"/>
              </p:ext>
            </p:extLst>
          </p:nvPr>
        </p:nvGraphicFramePr>
        <p:xfrm>
          <a:off x="4343400" y="1554480"/>
          <a:ext cx="3611880" cy="23317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2"/>
          <p:cNvGraphicFramePr/>
          <p:nvPr>
            <p:extLst>
              <p:ext uri="{D42A27DB-BD31-4B8C-83A1-F6EECF244321}">
                <p14:modId xmlns:p14="http://schemas.microsoft.com/office/powerpoint/2010/main" val="357851450"/>
              </p:ext>
            </p:extLst>
          </p:nvPr>
        </p:nvGraphicFramePr>
        <p:xfrm>
          <a:off x="8138160" y="1554480"/>
          <a:ext cx="3611880" cy="2331720"/>
        </p:xfrm>
        <a:graphic>
          <a:graphicData uri="http://schemas.openxmlformats.org/drawingml/2006/chart">
            <c:chart xmlns:c="http://schemas.openxmlformats.org/drawingml/2006/chart" xmlns:r="http://schemas.openxmlformats.org/officeDocument/2006/relationships" r:id="rId5"/>
          </a:graphicData>
        </a:graphic>
      </p:graphicFrame>
      <p:sp>
        <p:nvSpPr>
          <p:cNvPr id="9" name="Text 4"/>
          <p:cNvSpPr/>
          <p:nvPr/>
        </p:nvSpPr>
        <p:spPr>
          <a:xfrm>
            <a:off x="548640" y="3950208"/>
            <a:ext cx="10881360" cy="274320"/>
          </a:xfrm>
          <a:prstGeom prst="rect">
            <a:avLst/>
          </a:prstGeom>
          <a:noFill/>
          <a:ln/>
        </p:spPr>
        <p:txBody>
          <a:bodyPr wrap="square" lIns="0" tIns="0" rIns="0" bIns="0" rtlCol="0" anchor="ctr"/>
          <a:lstStyle/>
          <a:p>
            <a:r>
              <a:rPr lang="en-US" sz="1250" b="1">
                <a:solidFill>
                  <a:srgbClr val="2E7D32"/>
                </a:solidFill>
                <a:latin typeface="Calibri" pitchFamily="34" charset="0"/>
                <a:ea typeface="Calibri" pitchFamily="34" charset="-122"/>
                <a:cs typeface="Calibri" pitchFamily="34" charset="-120"/>
              </a:rPr>
              <a:t>H1 2026 vs 2025 (CoStar Pattaya submarket):   </a:t>
            </a:r>
            <a:r>
              <a:rPr lang="en-US" sz="1250" b="1">
                <a:solidFill>
                  <a:srgbClr val="FF0000"/>
                </a:solidFill>
                <a:latin typeface="Calibri" pitchFamily="34" charset="0"/>
                <a:ea typeface="Calibri" pitchFamily="34" charset="-122"/>
                <a:cs typeface="Calibri" pitchFamily="34" charset="-120"/>
              </a:rPr>
              <a:t>Occ −2.6%   ·   ADR −0.1%   ·   RevPAR −2.6%</a:t>
            </a:r>
            <a:endParaRPr lang="en-US" sz="1250">
              <a:solidFill>
                <a:srgbClr val="FF0000"/>
              </a:solidFill>
            </a:endParaRPr>
          </a:p>
        </p:txBody>
      </p:sp>
      <p:sp>
        <p:nvSpPr>
          <p:cNvPr id="11" name="TextBox 10">
            <a:extLst>
              <a:ext uri="{FF2B5EF4-FFF2-40B4-BE49-F238E27FC236}">
                <a16:creationId xmlns:a16="http://schemas.microsoft.com/office/drawing/2014/main" id="{5357E8D0-2F35-D50E-D759-648928A5822D}"/>
              </a:ext>
            </a:extLst>
          </p:cNvPr>
          <p:cNvSpPr txBox="1"/>
          <p:nvPr/>
        </p:nvSpPr>
        <p:spPr>
          <a:xfrm>
            <a:off x="2879188" y="2404048"/>
            <a:ext cx="1237957" cy="431410"/>
          </a:xfrm>
          <a:prstGeom prst="rect">
            <a:avLst/>
          </a:prstGeom>
          <a:noFill/>
        </p:spPr>
        <p:txBody>
          <a:bodyPr wrap="square" rtlCol="0">
            <a:spAutoFit/>
          </a:bodyPr>
          <a:lstStyle/>
          <a:p>
            <a:endParaRPr lang="en-US"/>
          </a:p>
        </p:txBody>
      </p:sp>
      <p:graphicFrame>
        <p:nvGraphicFramePr>
          <p:cNvPr id="23" name="Table 22"/>
          <p:cNvGraphicFramePr>
            <a:graphicFrameLocks noGrp="1"/>
          </p:cNvGraphicFramePr>
          <p:nvPr>
            <p:extLst>
              <p:ext uri="{D42A27DB-BD31-4B8C-83A1-F6EECF244321}">
                <p14:modId xmlns:p14="http://schemas.microsoft.com/office/powerpoint/2010/main" val="1384240872"/>
              </p:ext>
            </p:extLst>
          </p:nvPr>
        </p:nvGraphicFramePr>
        <p:xfrm>
          <a:off x="564330" y="4423054"/>
          <a:ext cx="11075982" cy="475488"/>
        </p:xfrm>
        <a:graphic>
          <a:graphicData uri="http://schemas.openxmlformats.org/drawingml/2006/table">
            <a:tbl>
              <a:tblPr>
                <a:tableStyleId>{5C22544A-7EE6-4342-B048-85BDC9FD1C3A}</a:tableStyleId>
              </a:tblPr>
              <a:tblGrid>
                <a:gridCol w="2235519">
                  <a:extLst>
                    <a:ext uri="{9D8B030D-6E8A-4147-A177-3AD203B41FA5}">
                      <a16:colId xmlns:a16="http://schemas.microsoft.com/office/drawing/2014/main" val="20000"/>
                    </a:ext>
                  </a:extLst>
                </a:gridCol>
                <a:gridCol w="1016145">
                  <a:extLst>
                    <a:ext uri="{9D8B030D-6E8A-4147-A177-3AD203B41FA5}">
                      <a16:colId xmlns:a16="http://schemas.microsoft.com/office/drawing/2014/main" val="20001"/>
                    </a:ext>
                  </a:extLst>
                </a:gridCol>
                <a:gridCol w="1016145">
                  <a:extLst>
                    <a:ext uri="{9D8B030D-6E8A-4147-A177-3AD203B41FA5}">
                      <a16:colId xmlns:a16="http://schemas.microsoft.com/office/drawing/2014/main" val="20002"/>
                    </a:ext>
                  </a:extLst>
                </a:gridCol>
                <a:gridCol w="914531">
                  <a:extLst>
                    <a:ext uri="{9D8B030D-6E8A-4147-A177-3AD203B41FA5}">
                      <a16:colId xmlns:a16="http://schemas.microsoft.com/office/drawing/2014/main" val="20003"/>
                    </a:ext>
                  </a:extLst>
                </a:gridCol>
                <a:gridCol w="1016145">
                  <a:extLst>
                    <a:ext uri="{9D8B030D-6E8A-4147-A177-3AD203B41FA5}">
                      <a16:colId xmlns:a16="http://schemas.microsoft.com/office/drawing/2014/main" val="20004"/>
                    </a:ext>
                  </a:extLst>
                </a:gridCol>
                <a:gridCol w="1016145">
                  <a:extLst>
                    <a:ext uri="{9D8B030D-6E8A-4147-A177-3AD203B41FA5}">
                      <a16:colId xmlns:a16="http://schemas.microsoft.com/office/drawing/2014/main" val="20005"/>
                    </a:ext>
                  </a:extLst>
                </a:gridCol>
                <a:gridCol w="914531">
                  <a:extLst>
                    <a:ext uri="{9D8B030D-6E8A-4147-A177-3AD203B41FA5}">
                      <a16:colId xmlns:a16="http://schemas.microsoft.com/office/drawing/2014/main" val="20006"/>
                    </a:ext>
                  </a:extLst>
                </a:gridCol>
                <a:gridCol w="1016145">
                  <a:extLst>
                    <a:ext uri="{9D8B030D-6E8A-4147-A177-3AD203B41FA5}">
                      <a16:colId xmlns:a16="http://schemas.microsoft.com/office/drawing/2014/main" val="20007"/>
                    </a:ext>
                  </a:extLst>
                </a:gridCol>
                <a:gridCol w="1016145">
                  <a:extLst>
                    <a:ext uri="{9D8B030D-6E8A-4147-A177-3AD203B41FA5}">
                      <a16:colId xmlns:a16="http://schemas.microsoft.com/office/drawing/2014/main" val="20008"/>
                    </a:ext>
                  </a:extLst>
                </a:gridCol>
                <a:gridCol w="914531">
                  <a:extLst>
                    <a:ext uri="{9D8B030D-6E8A-4147-A177-3AD203B41FA5}">
                      <a16:colId xmlns:a16="http://schemas.microsoft.com/office/drawing/2014/main" val="20009"/>
                    </a:ext>
                  </a:extLst>
                </a:gridCol>
              </a:tblGrid>
              <a:tr h="237744">
                <a:tc>
                  <a:txBody>
                    <a:bodyPr/>
                    <a:lstStyle/>
                    <a:p>
                      <a:pPr algn="l"/>
                      <a:r>
                        <a:rPr sz="850" b="1">
                          <a:solidFill>
                            <a:srgbClr val="FFFFFF"/>
                          </a:solidFill>
                          <a:latin typeface="Calibri"/>
                        </a:rPr>
                        <a:t>Market</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Occ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Occ 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Δ%</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ADR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ADR 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Δ%</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RevPAR 25</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RevPAR 26</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850" b="1">
                          <a:solidFill>
                            <a:srgbClr val="FFFFFF"/>
                          </a:solidFill>
                          <a:latin typeface="Calibri"/>
                        </a:rPr>
                        <a:t>Δ%</a:t>
                      </a:r>
                    </a:p>
                  </a:txBody>
                  <a:tcPr marL="36576" marR="36576" marT="7315" marB="7315"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237744">
                <a:tc>
                  <a:txBody>
                    <a:bodyPr/>
                    <a:lstStyle/>
                    <a:p>
                      <a:pPr algn="l"/>
                      <a:r>
                        <a:rPr sz="850" b="0">
                          <a:solidFill>
                            <a:srgbClr val="26292E"/>
                          </a:solidFill>
                          <a:latin typeface="Calibri"/>
                        </a:rPr>
                        <a:t>Upscale &amp; Upper Midscale</a:t>
                      </a:r>
                    </a:p>
                  </a:txBody>
                  <a:tcPr marL="36576" marR="36576" marT="7315" marB="7315" anchor="ctr">
                    <a:lnL w="6350">
                      <a:solidFill>
                        <a:srgbClr val="E2E7F2"/>
                      </a:solidFill>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0">
                          <a:solidFill>
                            <a:srgbClr val="595959"/>
                          </a:solidFill>
                          <a:latin typeface="Calibri"/>
                        </a:rPr>
                        <a:t>67.4</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0">
                          <a:solidFill>
                            <a:srgbClr val="26292E"/>
                          </a:solidFill>
                          <a:latin typeface="Calibri"/>
                        </a:rPr>
                        <a:t>65.3</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1">
                          <a:solidFill>
                            <a:srgbClr val="C62828"/>
                          </a:solidFill>
                          <a:latin typeface="Calibri"/>
                        </a:rPr>
                        <a:t>-3.0%</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0">
                          <a:solidFill>
                            <a:srgbClr val="595959"/>
                          </a:solidFill>
                          <a:latin typeface="Calibri"/>
                        </a:rPr>
                        <a:t>2,655</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0">
                          <a:solidFill>
                            <a:srgbClr val="26292E"/>
                          </a:solidFill>
                          <a:latin typeface="Calibri"/>
                        </a:rPr>
                        <a:t>2,601</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1">
                          <a:solidFill>
                            <a:srgbClr val="C62828"/>
                          </a:solidFill>
                          <a:latin typeface="Calibri"/>
                        </a:rPr>
                        <a:t>-2.0%</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0">
                          <a:solidFill>
                            <a:srgbClr val="595959"/>
                          </a:solidFill>
                          <a:latin typeface="Calibri"/>
                        </a:rPr>
                        <a:t>1,789</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0">
                          <a:solidFill>
                            <a:srgbClr val="26292E"/>
                          </a:solidFill>
                          <a:latin typeface="Calibri"/>
                        </a:rPr>
                        <a:t>1,700</a:t>
                      </a:r>
                    </a:p>
                  </a:txBody>
                  <a:tcPr marL="36576" marR="36576" marT="7315" marB="7315"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850" b="1">
                          <a:solidFill>
                            <a:srgbClr val="C62828"/>
                          </a:solidFill>
                          <a:latin typeface="Calibri"/>
                        </a:rPr>
                        <a:t>-5.0%</a:t>
                      </a:r>
                    </a:p>
                  </a:txBody>
                  <a:tcPr marL="36576" marR="36576" marT="7315" marB="7315"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extLst>
                  <a:ext uri="{0D108BD9-81ED-4DB2-BD59-A6C34878D82A}">
                    <a16:rowId xmlns:a16="http://schemas.microsoft.com/office/drawing/2014/main" val="10002"/>
                  </a:ext>
                </a:extLst>
              </a:tr>
            </a:tbl>
          </a:graphicData>
        </a:graphic>
      </p:graphicFrame>
      <p:sp>
        <p:nvSpPr>
          <p:cNvPr id="14" name="Rectangle 13">
            <a:extLst>
              <a:ext uri="{FF2B5EF4-FFF2-40B4-BE49-F238E27FC236}">
                <a16:creationId xmlns:a16="http://schemas.microsoft.com/office/drawing/2014/main" id="{90D37C43-8759-22CB-9FD5-32DB5D8AB134}"/>
              </a:ext>
            </a:extLst>
          </p:cNvPr>
          <p:cNvSpPr/>
          <p:nvPr/>
        </p:nvSpPr>
        <p:spPr>
          <a:xfrm>
            <a:off x="546774" y="5084938"/>
            <a:ext cx="11130970" cy="71235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ysClr val="windowText" lastClr="000000"/>
                </a:solidFill>
                <a:latin typeface="Calibri" pitchFamily="34" charset="0"/>
                <a:ea typeface="Calibri" pitchFamily="34" charset="-122"/>
                <a:cs typeface="Calibri" pitchFamily="34" charset="-120"/>
              </a:rPr>
              <a:t>Key takeaway : demand down (arrivals −2.7%) → market gave up occupancy (−2.6%) but held rate (ADR −0.1% = flat; Jan/Feb swing = CNY timing, May–Jun ADR −3~4%).</a:t>
            </a:r>
          </a:p>
          <a:p>
            <a:endParaRPr lang="en-US" sz="1200" i="1" dirty="0">
              <a:solidFill>
                <a:sysClr val="windowText" lastClr="000000"/>
              </a:solidFill>
              <a:latin typeface="Calibri" pitchFamily="34" charset="0"/>
              <a:ea typeface="Calibri" pitchFamily="34" charset="-122"/>
              <a:cs typeface="Calibri" pitchFamily="34" charset="-120"/>
            </a:endParaRPr>
          </a:p>
          <a:p>
            <a:r>
              <a:rPr lang="en-US" sz="1200" i="1" dirty="0">
                <a:solidFill>
                  <a:sysClr val="windowText" lastClr="000000"/>
                </a:solidFill>
                <a:latin typeface="Calibri" pitchFamily="34" charset="0"/>
                <a:ea typeface="Calibri" pitchFamily="34" charset="-122"/>
                <a:cs typeface="Calibri" pitchFamily="34" charset="-120"/>
              </a:rPr>
              <a:t>The Upscale &amp; Upper Midscale set — closest to SP — lost both (Occ −3.0%, ADR −2.0%, RevPAR −5.0%)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3</a:t>
            </a:r>
            <a:endParaRPr lang="en-US" sz="9600"/>
          </a:p>
        </p:txBody>
      </p:sp>
      <p:sp>
        <p:nvSpPr>
          <p:cNvPr id="3" name="Text 1"/>
          <p:cNvSpPr/>
          <p:nvPr/>
        </p:nvSpPr>
        <p:spPr>
          <a:xfrm>
            <a:off x="2514600" y="2286000"/>
            <a:ext cx="8778240" cy="914400"/>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Portfolio</a:t>
            </a:r>
            <a:endParaRPr lang="en-US" sz="4000"/>
          </a:p>
        </p:txBody>
      </p:sp>
      <p:sp>
        <p:nvSpPr>
          <p:cNvPr id="4" name="Text 2"/>
          <p:cNvSpPr/>
          <p:nvPr/>
        </p:nvSpPr>
        <p:spPr>
          <a:xfrm>
            <a:off x="2542032" y="3246120"/>
            <a:ext cx="8412480" cy="822960"/>
          </a:xfrm>
          <a:prstGeom prst="rect">
            <a:avLst/>
          </a:prstGeom>
          <a:noFill/>
          <a:ln/>
        </p:spPr>
        <p:txBody>
          <a:bodyPr wrap="square" lIns="0" tIns="0" rIns="0" bIns="0" rtlCol="0" anchor="ctr"/>
          <a:lstStyle/>
          <a:p>
            <a:pPr marL="0" indent="0">
              <a:buNone/>
            </a:pPr>
            <a:r>
              <a:rPr lang="en-US" sz="1400">
                <a:solidFill>
                  <a:srgbClr val="AFC0E8"/>
                </a:solidFill>
                <a:latin typeface="Calibri" pitchFamily="34" charset="0"/>
                <a:ea typeface="Calibri" pitchFamily="34" charset="-122"/>
                <a:cs typeface="Calibri" pitchFamily="34" charset="-120"/>
              </a:rPr>
              <a:t>All four properties — P&amp;L (EBIT) · performance vs budget</a:t>
            </a:r>
            <a:endParaRPr lang="en-US" sz="1400"/>
          </a:p>
        </p:txBody>
      </p:sp>
      <p:sp>
        <p:nvSpPr>
          <p:cNvPr id="5" name="Text 3"/>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3 · PORTFOLIO</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Portfolio — all four properties</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Weighted by room inventory (1,406 keys) · YTD = Jan–Jun 2026</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4007502558"/>
              </p:ext>
            </p:extLst>
          </p:nvPr>
        </p:nvGraphicFramePr>
        <p:xfrm>
          <a:off x="548640" y="1354637"/>
          <a:ext cx="7223760" cy="22402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4102744720"/>
              </p:ext>
            </p:extLst>
          </p:nvPr>
        </p:nvGraphicFramePr>
        <p:xfrm>
          <a:off x="548640" y="3672641"/>
          <a:ext cx="7223760" cy="2286000"/>
        </p:xfrm>
        <a:graphic>
          <a:graphicData uri="http://schemas.openxmlformats.org/drawingml/2006/table">
            <a:tbl>
              <a:tblPr/>
              <a:tblGrid>
                <a:gridCol w="1325880">
                  <a:extLst>
                    <a:ext uri="{9D8B030D-6E8A-4147-A177-3AD203B41FA5}">
                      <a16:colId xmlns:a16="http://schemas.microsoft.com/office/drawing/2014/main" val="20000"/>
                    </a:ext>
                  </a:extLst>
                </a:gridCol>
                <a:gridCol w="795528">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795528">
                  <a:extLst>
                    <a:ext uri="{9D8B030D-6E8A-4147-A177-3AD203B41FA5}">
                      <a16:colId xmlns:a16="http://schemas.microsoft.com/office/drawing/2014/main" val="20004"/>
                    </a:ext>
                  </a:extLst>
                </a:gridCol>
                <a:gridCol w="795528">
                  <a:extLst>
                    <a:ext uri="{9D8B030D-6E8A-4147-A177-3AD203B41FA5}">
                      <a16:colId xmlns:a16="http://schemas.microsoft.com/office/drawing/2014/main" val="20005"/>
                    </a:ext>
                  </a:extLst>
                </a:gridCol>
                <a:gridCol w="795528">
                  <a:extLst>
                    <a:ext uri="{9D8B030D-6E8A-4147-A177-3AD203B41FA5}">
                      <a16:colId xmlns:a16="http://schemas.microsoft.com/office/drawing/2014/main" val="20006"/>
                    </a:ext>
                  </a:extLst>
                </a:gridCol>
                <a:gridCol w="1124712">
                  <a:extLst>
                    <a:ext uri="{9D8B030D-6E8A-4147-A177-3AD203B41FA5}">
                      <a16:colId xmlns:a16="http://schemas.microsoft.com/office/drawing/2014/main" val="20007"/>
                    </a:ext>
                  </a:extLst>
                </a:gridCol>
              </a:tblGrid>
              <a:tr h="201168">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H1 2026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Jan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Feb</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Apr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May</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Jun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YTD</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01168">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85.3%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83.6%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67.0%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68.0%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69.0%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66.0%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03"/>
                  </a:ext>
                </a:extLst>
              </a:tr>
              <a:tr h="201168">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83.3%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87.0%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72.0%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74.6%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72.1%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70.9%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02"/>
                  </a:ext>
                </a:extLst>
              </a:tr>
              <a:tr h="201168">
                <a:tc>
                  <a:txBody>
                    <a:bodyPr/>
                    <a:lstStyle/>
                    <a:p>
                      <a:pPr marL="0" indent="0">
                        <a:buNone/>
                      </a:pPr>
                      <a:r>
                        <a:rPr lang="en-US" sz="900" b="1">
                          <a:solidFill>
                            <a:srgbClr val="26292E"/>
                          </a:solidFill>
                          <a:latin typeface="Calibri" pitchFamily="34" charset="0"/>
                          <a:ea typeface="Calibri" pitchFamily="34" charset="-122"/>
                          <a:cs typeface="Calibri" pitchFamily="34" charset="-120"/>
                        </a:rPr>
                        <a:t>Occupancy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84.7%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90.2%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67.7%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75.8%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3,584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3,340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3,053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3,134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2,835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2,805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3,150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05"/>
                  </a:ext>
                </a:extLst>
              </a:tr>
              <a:tr h="201168">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3,402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3,369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3,050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3,138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2,856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2,843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3,123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04"/>
                  </a:ext>
                </a:extLst>
              </a:tr>
              <a:tr h="201168">
                <a:tc>
                  <a:txBody>
                    <a:bodyPr/>
                    <a:lstStyle/>
                    <a:p>
                      <a:pPr marL="0" indent="0">
                        <a:buNone/>
                      </a:pPr>
                      <a:r>
                        <a:rPr lang="en-US" sz="900" b="1">
                          <a:solidFill>
                            <a:srgbClr val="26292E"/>
                          </a:solidFill>
                          <a:latin typeface="Calibri" pitchFamily="34" charset="0"/>
                          <a:ea typeface="Calibri" pitchFamily="34" charset="-122"/>
                          <a:cs typeface="Calibri" pitchFamily="34" charset="-120"/>
                        </a:rPr>
                        <a:t>ADR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3,223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3,305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2,900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3,087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2,734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2,756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3,018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01168">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3,058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2,793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2,045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2,131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1,956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1,852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2,301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07"/>
                  </a:ext>
                </a:extLst>
              </a:tr>
              <a:tr h="201168">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2,833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2,930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2,196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2,340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2,058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2,016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2,389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06"/>
                  </a:ext>
                </a:extLst>
              </a:tr>
              <a:tr h="201168">
                <a:tc>
                  <a:txBody>
                    <a:bodyPr/>
                    <a:lstStyle/>
                    <a:p>
                      <a:pPr marL="0" indent="0">
                        <a:buNone/>
                      </a:pPr>
                      <a:r>
                        <a:rPr lang="en-US" sz="900" b="1">
                          <a:solidFill>
                            <a:srgbClr val="26292E"/>
                          </a:solidFill>
                          <a:latin typeface="Calibri" pitchFamily="34" charset="0"/>
                          <a:ea typeface="Calibri" pitchFamily="34" charset="-122"/>
                          <a:cs typeface="Calibri" pitchFamily="34" charset="-120"/>
                        </a:rPr>
                        <a:t>RevPAR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2,731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2,982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2,265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2,091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1,842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1,857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2,287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4"/>
          <p:cNvSpPr/>
          <p:nvPr/>
        </p:nvSpPr>
        <p:spPr>
          <a:xfrm>
            <a:off x="8092440" y="832004"/>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9" name="Text 5"/>
          <p:cNvSpPr/>
          <p:nvPr/>
        </p:nvSpPr>
        <p:spPr>
          <a:xfrm>
            <a:off x="8238744" y="923444"/>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OCCUPANCY · YTD</a:t>
            </a:r>
            <a:endParaRPr lang="en-US" sz="1050"/>
          </a:p>
        </p:txBody>
      </p:sp>
      <p:sp>
        <p:nvSpPr>
          <p:cNvPr id="10" name="Text 6"/>
          <p:cNvSpPr/>
          <p:nvPr/>
        </p:nvSpPr>
        <p:spPr>
          <a:xfrm>
            <a:off x="8238744" y="1142900"/>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75.8%</a:t>
            </a:r>
            <a:endParaRPr lang="en-US" sz="2400"/>
          </a:p>
        </p:txBody>
      </p:sp>
      <p:sp>
        <p:nvSpPr>
          <p:cNvPr id="11" name="Text 7"/>
          <p:cNvSpPr/>
          <p:nvPr/>
        </p:nvSpPr>
        <p:spPr>
          <a:xfrm>
            <a:off x="8238744" y="1600100"/>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-5.5%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-1.1% vs LY</a:t>
            </a:r>
            <a:endParaRPr lang="en-US" sz="1050"/>
          </a:p>
        </p:txBody>
      </p:sp>
      <p:sp>
        <p:nvSpPr>
          <p:cNvPr id="12" name="Shape 8"/>
          <p:cNvSpPr/>
          <p:nvPr/>
        </p:nvSpPr>
        <p:spPr>
          <a:xfrm>
            <a:off x="8092440" y="2240180"/>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3" name="Text 9"/>
          <p:cNvSpPr/>
          <p:nvPr/>
        </p:nvSpPr>
        <p:spPr>
          <a:xfrm>
            <a:off x="8238744" y="2331620"/>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ADR · YTD</a:t>
            </a:r>
            <a:endParaRPr lang="en-US" sz="1050"/>
          </a:p>
        </p:txBody>
      </p:sp>
      <p:sp>
        <p:nvSpPr>
          <p:cNvPr id="14" name="Text 10"/>
          <p:cNvSpPr/>
          <p:nvPr/>
        </p:nvSpPr>
        <p:spPr>
          <a:xfrm>
            <a:off x="8238744" y="2551076"/>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฿3,018</a:t>
            </a:r>
            <a:endParaRPr lang="en-US" sz="2400"/>
          </a:p>
        </p:txBody>
      </p:sp>
      <p:sp>
        <p:nvSpPr>
          <p:cNvPr id="15" name="Text 11"/>
          <p:cNvSpPr/>
          <p:nvPr/>
        </p:nvSpPr>
        <p:spPr>
          <a:xfrm>
            <a:off x="8238744" y="3008276"/>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-3.4%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-4.2% vs LY</a:t>
            </a:r>
            <a:endParaRPr lang="en-US" sz="1050"/>
          </a:p>
        </p:txBody>
      </p:sp>
      <p:sp>
        <p:nvSpPr>
          <p:cNvPr id="16" name="Shape 12"/>
          <p:cNvSpPr/>
          <p:nvPr/>
        </p:nvSpPr>
        <p:spPr>
          <a:xfrm>
            <a:off x="8092440" y="3648356"/>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7" name="Text 13"/>
          <p:cNvSpPr/>
          <p:nvPr/>
        </p:nvSpPr>
        <p:spPr>
          <a:xfrm>
            <a:off x="8238744" y="3739796"/>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REVPAR · YTD</a:t>
            </a:r>
            <a:endParaRPr lang="en-US" sz="1050"/>
          </a:p>
        </p:txBody>
      </p:sp>
      <p:sp>
        <p:nvSpPr>
          <p:cNvPr id="7" name="Text 14"/>
          <p:cNvSpPr/>
          <p:nvPr/>
        </p:nvSpPr>
        <p:spPr>
          <a:xfrm>
            <a:off x="8238744" y="3959252"/>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฿2,287</a:t>
            </a:r>
            <a:endParaRPr lang="en-US" sz="2400"/>
          </a:p>
        </p:txBody>
      </p:sp>
      <p:sp>
        <p:nvSpPr>
          <p:cNvPr id="19" name="Text 15"/>
          <p:cNvSpPr/>
          <p:nvPr/>
        </p:nvSpPr>
        <p:spPr>
          <a:xfrm>
            <a:off x="8238744" y="4416452"/>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-4.3%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-0.6% vs LY</a:t>
            </a:r>
            <a:endParaRPr lang="en-US" sz="1050"/>
          </a:p>
        </p:txBody>
      </p:sp>
      <p:sp>
        <p:nvSpPr>
          <p:cNvPr id="22" name="Star: 5 Points 21">
            <a:extLst>
              <a:ext uri="{FF2B5EF4-FFF2-40B4-BE49-F238E27FC236}">
                <a16:creationId xmlns:a16="http://schemas.microsoft.com/office/drawing/2014/main" id="{BCA2C0C0-B180-A464-73A7-7ACEBEA2149C}"/>
              </a:ext>
            </a:extLst>
          </p:cNvPr>
          <p:cNvSpPr/>
          <p:nvPr/>
        </p:nvSpPr>
        <p:spPr>
          <a:xfrm>
            <a:off x="2360519" y="1742118"/>
            <a:ext cx="117761" cy="123258"/>
          </a:xfrm>
          <a:prstGeom prst="star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9FF3C47-0C50-2E6D-D1ED-988ECAD046E8}"/>
              </a:ext>
            </a:extLst>
          </p:cNvPr>
          <p:cNvSpPr txBox="1"/>
          <p:nvPr/>
        </p:nvSpPr>
        <p:spPr>
          <a:xfrm>
            <a:off x="2422733" y="1695206"/>
            <a:ext cx="982766" cy="261610"/>
          </a:xfrm>
          <a:prstGeom prst="rect">
            <a:avLst/>
          </a:prstGeom>
          <a:noFill/>
        </p:spPr>
        <p:txBody>
          <a:bodyPr wrap="square" rtlCol="0">
            <a:spAutoFit/>
          </a:bodyPr>
          <a:lstStyle/>
          <a:p>
            <a:r>
              <a:rPr lang="en-US" sz="1100">
                <a:solidFill>
                  <a:srgbClr val="FF0000"/>
                </a:solidFill>
              </a:rPr>
              <a:t>CNY</a:t>
            </a:r>
            <a:endParaRPr lang="en-US">
              <a:solidFill>
                <a:srgbClr val="FF0000"/>
              </a:solidFill>
            </a:endParaRPr>
          </a:p>
        </p:txBody>
      </p:sp>
      <p:sp>
        <p:nvSpPr>
          <p:cNvPr id="23" name="Rectangle 22">
            <a:extLst>
              <a:ext uri="{FF2B5EF4-FFF2-40B4-BE49-F238E27FC236}">
                <a16:creationId xmlns:a16="http://schemas.microsoft.com/office/drawing/2014/main" id="{CB4AF44B-EB10-22B1-7043-DDD0D6353B66}"/>
              </a:ext>
            </a:extLst>
          </p:cNvPr>
          <p:cNvSpPr/>
          <p:nvPr/>
        </p:nvSpPr>
        <p:spPr>
          <a:xfrm>
            <a:off x="8000809" y="5001668"/>
            <a:ext cx="3804285" cy="1660175"/>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50" i="1" dirty="0">
                <a:solidFill>
                  <a:sysClr val="windowText" lastClr="000000"/>
                </a:solidFill>
                <a:latin typeface="Calibri" pitchFamily="34" charset="0"/>
                <a:ea typeface="Calibri" pitchFamily="34" charset="-122"/>
                <a:cs typeface="Calibri" pitchFamily="34" charset="-120"/>
              </a:rPr>
              <a:t>Key takeaway: Portfolio RevPAR is ~4% behind budget, driven mainly by rate (ADR −3.4%); occupancy is near plan (−1.0%). Vs last year RevPAR is broadly flat.</a:t>
            </a:r>
          </a:p>
          <a:p>
            <a:endParaRPr lang="en-US" sz="1050" i="1" dirty="0">
              <a:solidFill>
                <a:sysClr val="windowText" lastClr="000000"/>
              </a:solidFill>
              <a:latin typeface="Calibri" pitchFamily="34" charset="0"/>
              <a:ea typeface="Calibri" pitchFamily="34" charset="-122"/>
              <a:cs typeface="Calibri" pitchFamily="34" charset="-120"/>
            </a:endParaRPr>
          </a:p>
          <a:p>
            <a:r>
              <a:rPr lang="en-US" sz="1050" i="1" dirty="0">
                <a:solidFill>
                  <a:sysClr val="windowText" lastClr="000000"/>
                </a:solidFill>
                <a:latin typeface="Calibri" pitchFamily="34" charset="0"/>
                <a:ea typeface="Calibri" pitchFamily="34" charset="-122"/>
                <a:cs typeface="Calibri" pitchFamily="34" charset="-120"/>
              </a:rPr>
              <a:t>April was the softest month for our </a:t>
            </a:r>
            <a:r>
              <a:rPr lang="en-US" sz="1050" i="1" dirty="0" err="1">
                <a:solidFill>
                  <a:sysClr val="windowText" lastClr="000000"/>
                </a:solidFill>
                <a:latin typeface="Calibri" pitchFamily="34" charset="0"/>
                <a:ea typeface="Calibri" pitchFamily="34" charset="-122"/>
                <a:cs typeface="Calibri" pitchFamily="34" charset="-120"/>
              </a:rPr>
              <a:t>potfolio</a:t>
            </a:r>
            <a:r>
              <a:rPr lang="en-US" sz="1050" i="1" dirty="0">
                <a:solidFill>
                  <a:sysClr val="windowText" lastClr="000000"/>
                </a:solidFill>
                <a:latin typeface="Calibri" pitchFamily="34" charset="0"/>
                <a:ea typeface="Calibri" pitchFamily="34" charset="-122"/>
                <a:cs typeface="Calibri" pitchFamily="34" charset="-120"/>
              </a:rPr>
              <a:t>— driven by AES (−16% RevPAR vs budget, due to move out of Dubai group) and LYF (occupancy 50% vs the 83% budgeted)</a:t>
            </a:r>
            <a:endParaRPr lang="en-US" sz="1050" dirty="0">
              <a:solidFill>
                <a:sysClr val="windowText" lastClr="00000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3 · PORTFOLIO</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Portfolio — P&amp;L, H1 2026</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YTD Jan–Jun vs MF budget · monthly P&amp;L: actual 2026 vs Budget (MF) and actual 2025 · ฿M</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83080"/>
          <a:ext cx="539496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886200"/>
          <a:ext cx="5394960" cy="2112264"/>
        </p:xfrm>
        <a:graphic>
          <a:graphicData uri="http://schemas.openxmlformats.org/drawingml/2006/table">
            <a:tbl>
              <a:tblPr/>
              <a:tblGrid>
                <a:gridCol w="932688">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841248">
                  <a:extLst>
                    <a:ext uri="{9D8B030D-6E8A-4147-A177-3AD203B41FA5}">
                      <a16:colId xmlns:a16="http://schemas.microsoft.com/office/drawing/2014/main" val="20007"/>
                    </a:ext>
                  </a:extLst>
                </a:gridCol>
              </a:tblGrid>
              <a:tr h="150876">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Jan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Feb</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Apr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May</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Jun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H1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Revenue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110.1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90.0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91.4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85.7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79.3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590.4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Revenue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118.4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116.7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99.3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88.4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80.5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78.6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581.9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-47.9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-40.9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-269.4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08"/>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-50.7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-48.6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-48.9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-48.4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-47.4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-296.6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5"/>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OPEX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-48.1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-46.5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-44.2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-42.7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-263.9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80.4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62.2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48.8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47.9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38.4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320.9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09"/>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77.7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70.9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47.6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43.9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348.1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GOP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70.4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70.2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55.1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39.4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37.4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318.0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48.6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33.7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19.7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19.6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147.1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1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38.7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24.0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160.9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1"/>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EBIT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39.3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38.7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17.3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10.8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143.2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NPAT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NPAT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7.9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628409361"/>
              </p:ext>
            </p:extLst>
          </p:nvPr>
        </p:nvGraphicFramePr>
        <p:xfrm>
          <a:off x="6126480" y="1438321"/>
          <a:ext cx="5742432" cy="2309845"/>
        </p:xfrm>
        <a:graphic>
          <a:graphicData uri="http://schemas.openxmlformats.org/drawingml/2006/table">
            <a:tbl>
              <a:tblPr/>
              <a:tblGrid>
                <a:gridCol w="1024128">
                  <a:extLst>
                    <a:ext uri="{9D8B030D-6E8A-4147-A177-3AD203B41FA5}">
                      <a16:colId xmlns:a16="http://schemas.microsoft.com/office/drawing/2014/main" val="20000"/>
                    </a:ext>
                  </a:extLst>
                </a:gridCol>
                <a:gridCol w="694944">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676656">
                  <a:extLst>
                    <a:ext uri="{9D8B030D-6E8A-4147-A177-3AD203B41FA5}">
                      <a16:colId xmlns:a16="http://schemas.microsoft.com/office/drawing/2014/main" val="20005"/>
                    </a:ext>
                  </a:extLst>
                </a:gridCol>
                <a:gridCol w="621792">
                  <a:extLst>
                    <a:ext uri="{9D8B030D-6E8A-4147-A177-3AD203B41FA5}">
                      <a16:colId xmlns:a16="http://schemas.microsoft.com/office/drawing/2014/main" val="20006"/>
                    </a:ext>
                  </a:extLst>
                </a:gridCol>
                <a:gridCol w="640080">
                  <a:extLst>
                    <a:ext uri="{9D8B030D-6E8A-4147-A177-3AD203B41FA5}">
                      <a16:colId xmlns:a16="http://schemas.microsoft.com/office/drawing/2014/main" val="20007"/>
                    </a:ext>
                  </a:extLst>
                </a:gridCol>
              </a:tblGrid>
              <a:tr h="311188">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2026 (YTD)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Actual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51657">
                <a:tc>
                  <a:txBody>
                    <a:bodyPr/>
                    <a:lstStyle/>
                    <a:p>
                      <a:pPr marL="0" indent="0">
                        <a:buNone/>
                      </a:pPr>
                      <a:r>
                        <a:rPr lang="en-US" sz="850" b="1">
                          <a:solidFill>
                            <a:srgbClr val="26292E"/>
                          </a:solidFill>
                          <a:latin typeface="Calibri" pitchFamily="34" charset="0"/>
                          <a:ea typeface="Calibri" pitchFamily="34" charset="-122"/>
                          <a:cs typeface="Calibri" pitchFamily="34" charset="-120"/>
                        </a:rPr>
                        <a:t>Revenue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฿581.9M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฿644.7M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-9.7%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฿590.4M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฿663.3M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-12.3%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1188">
                <a:tc>
                  <a:txBody>
                    <a:bodyPr/>
                    <a:lstStyle/>
                    <a:p>
                      <a:pPr marL="0" indent="0">
                        <a:buNone/>
                      </a:pPr>
                      <a:r>
                        <a:rPr lang="en-US" sz="850" b="1">
                          <a:solidFill>
                            <a:srgbClr val="26292E"/>
                          </a:solidFill>
                          <a:latin typeface="Calibri" pitchFamily="34" charset="0"/>
                          <a:ea typeface="Calibri" pitchFamily="34" charset="-122"/>
                          <a:cs typeface="Calibri" pitchFamily="34" charset="-120"/>
                        </a:rPr>
                        <a:t>OPEX</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−฿263.9M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−฿296.6M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−฿269.4M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-2.1%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−฿285.3M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-7.5%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51657">
                <a:tc>
                  <a:txBody>
                    <a:bodyPr/>
                    <a:lstStyle/>
                    <a:p>
                      <a:pPr marL="0" indent="0">
                        <a:buNone/>
                      </a:pPr>
                      <a:r>
                        <a:rPr lang="en-US" sz="850" b="1">
                          <a:solidFill>
                            <a:srgbClr val="26292E"/>
                          </a:solidFill>
                          <a:latin typeface="Calibri" pitchFamily="34" charset="0"/>
                          <a:ea typeface="Calibri" pitchFamily="34" charset="-122"/>
                          <a:cs typeface="Calibri" pitchFamily="34" charset="-120"/>
                        </a:rPr>
                        <a:t>GOP</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฿318.0M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฿348.1M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-8.6%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฿320.9M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฿378.0M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1657">
                <a:tc>
                  <a:txBody>
                    <a:bodyPr/>
                    <a:lstStyle/>
                    <a:p>
                      <a:pPr marL="0" indent="0">
                        <a:buNone/>
                      </a:pPr>
                      <a:r>
                        <a:rPr lang="en-US" sz="850" b="1">
                          <a:solidFill>
                            <a:srgbClr val="26292E"/>
                          </a:solidFill>
                          <a:latin typeface="Calibri" pitchFamily="34" charset="0"/>
                          <a:ea typeface="Calibri" pitchFamily="34" charset="-122"/>
                          <a:cs typeface="Calibri" pitchFamily="34" charset="-120"/>
                        </a:rPr>
                        <a:t>GOP margin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54.7%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54.4%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+0.6%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57.0%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311188">
                <a:tc>
                  <a:txBody>
                    <a:bodyPr/>
                    <a:lstStyle/>
                    <a:p>
                      <a:pPr marL="0" indent="0">
                        <a:buNone/>
                      </a:pPr>
                      <a:r>
                        <a:rPr lang="en-US" sz="850" b="1">
                          <a:solidFill>
                            <a:srgbClr val="26292E"/>
                          </a:solidFill>
                          <a:latin typeface="Calibri" pitchFamily="34" charset="0"/>
                          <a:ea typeface="Calibri" pitchFamily="34" charset="-122"/>
                          <a:cs typeface="Calibri" pitchFamily="34" charset="-120"/>
                        </a:rPr>
                        <a:t>JV expense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−฿174.8M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−฿187.1M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-6.6%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−฿173.8M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+0.5%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−฿182.4M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1657">
                <a:tc>
                  <a:txBody>
                    <a:bodyPr/>
                    <a:lstStyle/>
                    <a:p>
                      <a:pPr marL="0" indent="0">
                        <a:buNone/>
                      </a:pPr>
                      <a:r>
                        <a:rPr lang="en-US" sz="850" b="1">
                          <a:solidFill>
                            <a:srgbClr val="26292E"/>
                          </a:solidFill>
                          <a:latin typeface="Calibri" pitchFamily="34" charset="0"/>
                          <a:ea typeface="Calibri" pitchFamily="34" charset="-122"/>
                          <a:cs typeface="Calibri" pitchFamily="34" charset="-120"/>
                        </a:rPr>
                        <a:t>EBIT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฿143.2M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฿160.9M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฿147.1M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฿195.6M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-26.7%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51657">
                <a:tc>
                  <a:txBody>
                    <a:bodyPr/>
                    <a:lstStyle/>
                    <a:p>
                      <a:pPr marL="0" indent="0">
                        <a:buNone/>
                      </a:pPr>
                      <a:r>
                        <a:rPr lang="en-US" sz="850" b="1">
                          <a:solidFill>
                            <a:srgbClr val="26292E"/>
                          </a:solidFill>
                          <a:latin typeface="Calibri" pitchFamily="34" charset="0"/>
                          <a:ea typeface="Calibri" pitchFamily="34" charset="-122"/>
                          <a:cs typeface="Calibri" pitchFamily="34" charset="-120"/>
                        </a:rPr>
                        <a:t>NPAT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฿7.9M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฿7.7M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฿20.9M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-62%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4"/>
          <p:cNvSpPr/>
          <p:nvPr/>
        </p:nvSpPr>
        <p:spPr>
          <a:xfrm>
            <a:off x="6126480" y="3913632"/>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0" name="Text 5"/>
          <p:cNvSpPr/>
          <p:nvPr/>
        </p:nvSpPr>
        <p:spPr>
          <a:xfrm>
            <a:off x="6272784" y="4005072"/>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REVENUE H1 2026</a:t>
            </a:r>
            <a:endParaRPr lang="en-US" sz="1050"/>
          </a:p>
        </p:txBody>
      </p:sp>
      <p:sp>
        <p:nvSpPr>
          <p:cNvPr id="11" name="Text 6"/>
          <p:cNvSpPr/>
          <p:nvPr/>
        </p:nvSpPr>
        <p:spPr>
          <a:xfrm>
            <a:off x="6272784" y="4224528"/>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฿581.9M</a:t>
            </a:r>
            <a:endParaRPr lang="en-US" sz="2400"/>
          </a:p>
        </p:txBody>
      </p:sp>
      <p:sp>
        <p:nvSpPr>
          <p:cNvPr id="12" name="Text 7"/>
          <p:cNvSpPr/>
          <p:nvPr/>
        </p:nvSpPr>
        <p:spPr>
          <a:xfrm>
            <a:off x="6272784" y="4681728"/>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-1.4% vs H1 2025</a:t>
            </a:r>
            <a:endParaRPr lang="en-US" sz="1050"/>
          </a:p>
        </p:txBody>
      </p:sp>
      <p:sp>
        <p:nvSpPr>
          <p:cNvPr id="13" name="Shape 8"/>
          <p:cNvSpPr/>
          <p:nvPr/>
        </p:nvSpPr>
        <p:spPr>
          <a:xfrm>
            <a:off x="8988552" y="3913632"/>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4" name="Text 9"/>
          <p:cNvSpPr/>
          <p:nvPr/>
        </p:nvSpPr>
        <p:spPr>
          <a:xfrm>
            <a:off x="9134856" y="4005072"/>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EBIT H1 2026</a:t>
            </a:r>
            <a:endParaRPr lang="en-US" sz="1050"/>
          </a:p>
        </p:txBody>
      </p:sp>
      <p:sp>
        <p:nvSpPr>
          <p:cNvPr id="15" name="Text 10"/>
          <p:cNvSpPr/>
          <p:nvPr/>
        </p:nvSpPr>
        <p:spPr>
          <a:xfrm>
            <a:off x="9134856" y="4224528"/>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฿143.2M</a:t>
            </a:r>
            <a:endParaRPr lang="en-US" sz="2400"/>
          </a:p>
        </p:txBody>
      </p:sp>
      <p:sp>
        <p:nvSpPr>
          <p:cNvPr id="16" name="Text 11"/>
          <p:cNvSpPr/>
          <p:nvPr/>
        </p:nvSpPr>
        <p:spPr>
          <a:xfrm>
            <a:off x="9134856" y="4681728"/>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−฿3.8M vs H1 2025 (฿147.1M)</a:t>
            </a:r>
            <a:endParaRPr lang="en-US" sz="1050"/>
          </a:p>
        </p:txBody>
      </p:sp>
      <p:sp>
        <p:nvSpPr>
          <p:cNvPr id="8" name="Rectangle 7">
            <a:extLst>
              <a:ext uri="{FF2B5EF4-FFF2-40B4-BE49-F238E27FC236}">
                <a16:creationId xmlns:a16="http://schemas.microsoft.com/office/drawing/2014/main" id="{2F620FEF-C0EB-9128-141C-3B45B3343636}"/>
              </a:ext>
            </a:extLst>
          </p:cNvPr>
          <p:cNvSpPr/>
          <p:nvPr/>
        </p:nvSpPr>
        <p:spPr>
          <a:xfrm>
            <a:off x="6126480" y="5212079"/>
            <a:ext cx="5742431" cy="890769"/>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a:solidFill>
                  <a:schemeClr val="tx1"/>
                </a:solidFill>
                <a:latin typeface="Calibri" pitchFamily="34" charset="0"/>
                <a:ea typeface="Calibri" pitchFamily="34" charset="-122"/>
                <a:cs typeface="Calibri" pitchFamily="34" charset="-120"/>
              </a:rPr>
              <a:t>Key takeaway: Portfolio revenue is −9.7% vs MF budget, but NPAT is on plan (+฿0.3M) —</a:t>
            </a:r>
          </a:p>
          <a:p>
            <a:endParaRPr lang="en-US" sz="1200" i="1">
              <a:solidFill>
                <a:schemeClr val="tx1"/>
              </a:solidFill>
              <a:latin typeface="Calibri" pitchFamily="34" charset="0"/>
              <a:ea typeface="Calibri" pitchFamily="34" charset="-122"/>
              <a:cs typeface="Calibri" pitchFamily="34" charset="-120"/>
            </a:endParaRPr>
          </a:p>
          <a:p>
            <a:r>
              <a:rPr lang="en-US" sz="1200" i="1">
                <a:solidFill>
                  <a:schemeClr val="tx1"/>
                </a:solidFill>
                <a:latin typeface="Calibri" pitchFamily="34" charset="0"/>
                <a:ea typeface="Calibri" pitchFamily="34" charset="-122"/>
                <a:cs typeface="Calibri" pitchFamily="34" charset="-120"/>
              </a:rPr>
              <a:t>cost control offset the rate shortfall (Lower interest expense due to loan repayment). EBIT is −11.0% vs budget.</a:t>
            </a:r>
            <a:endParaRPr lang="en-US" sz="800">
              <a:solidFill>
                <a:schemeClr val="tx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4</a:t>
            </a:r>
            <a:endParaRPr lang="en-US" sz="9600"/>
          </a:p>
        </p:txBody>
      </p:sp>
      <p:sp>
        <p:nvSpPr>
          <p:cNvPr id="3" name="Text 1"/>
          <p:cNvSpPr/>
          <p:nvPr/>
        </p:nvSpPr>
        <p:spPr>
          <a:xfrm>
            <a:off x="2514600" y="2286000"/>
            <a:ext cx="8778240" cy="914400"/>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Somerset Rama 9 Bangkok (SR9)</a:t>
            </a:r>
            <a:endParaRPr lang="en-US" sz="4000"/>
          </a:p>
        </p:txBody>
      </p:sp>
      <p:sp>
        <p:nvSpPr>
          <p:cNvPr id="4" name="Text 2"/>
          <p:cNvSpPr/>
          <p:nvPr/>
        </p:nvSpPr>
        <p:spPr>
          <a:xfrm>
            <a:off x="2542032" y="3246120"/>
            <a:ext cx="8412480" cy="822960"/>
          </a:xfrm>
          <a:prstGeom prst="rect">
            <a:avLst/>
          </a:prstGeom>
          <a:noFill/>
          <a:ln/>
        </p:spPr>
        <p:txBody>
          <a:bodyPr wrap="square" lIns="0" tIns="0" rIns="0" bIns="0" rtlCol="0" anchor="ctr"/>
          <a:lstStyle/>
          <a:p>
            <a:pPr marL="0" indent="0">
              <a:buNone/>
            </a:pPr>
            <a:r>
              <a:rPr lang="en-US" sz="1400">
                <a:solidFill>
                  <a:srgbClr val="AFC0E8"/>
                </a:solidFill>
                <a:latin typeface="Calibri" pitchFamily="34" charset="0"/>
                <a:ea typeface="Calibri" pitchFamily="34" charset="-122"/>
                <a:cs typeface="Calibri" pitchFamily="34" charset="-120"/>
              </a:rPr>
              <a:t>P&amp;L (EBIT) · Performance vs budget · Segmentation · Guest nationality</a:t>
            </a:r>
            <a:endParaRPr lang="en-US" sz="1400"/>
          </a:p>
        </p:txBody>
      </p:sp>
      <p:sp>
        <p:nvSpPr>
          <p:cNvPr id="5" name="Text 3"/>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4 · SOMERSET RAMA 9 BANGKOK (SR9)</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Rama 9 Bangkok (SR9)</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464 keys · monthly + YTD Jan–Jun · actual vs MF Projection and actual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1789618102"/>
              </p:ext>
            </p:extLst>
          </p:nvPr>
        </p:nvGraphicFramePr>
        <p:xfrm>
          <a:off x="548640" y="1179576"/>
          <a:ext cx="7223760" cy="187451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826322424"/>
              </p:ext>
            </p:extLst>
          </p:nvPr>
        </p:nvGraphicFramePr>
        <p:xfrm>
          <a:off x="548640" y="3081528"/>
          <a:ext cx="7223760" cy="2286000"/>
        </p:xfrm>
        <a:graphic>
          <a:graphicData uri="http://schemas.openxmlformats.org/drawingml/2006/table">
            <a:tbl>
              <a:tblPr/>
              <a:tblGrid>
                <a:gridCol w="1325880">
                  <a:extLst>
                    <a:ext uri="{9D8B030D-6E8A-4147-A177-3AD203B41FA5}">
                      <a16:colId xmlns:a16="http://schemas.microsoft.com/office/drawing/2014/main" val="20000"/>
                    </a:ext>
                  </a:extLst>
                </a:gridCol>
                <a:gridCol w="795528">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795528">
                  <a:extLst>
                    <a:ext uri="{9D8B030D-6E8A-4147-A177-3AD203B41FA5}">
                      <a16:colId xmlns:a16="http://schemas.microsoft.com/office/drawing/2014/main" val="20004"/>
                    </a:ext>
                  </a:extLst>
                </a:gridCol>
                <a:gridCol w="795528">
                  <a:extLst>
                    <a:ext uri="{9D8B030D-6E8A-4147-A177-3AD203B41FA5}">
                      <a16:colId xmlns:a16="http://schemas.microsoft.com/office/drawing/2014/main" val="20005"/>
                    </a:ext>
                  </a:extLst>
                </a:gridCol>
                <a:gridCol w="795528">
                  <a:extLst>
                    <a:ext uri="{9D8B030D-6E8A-4147-A177-3AD203B41FA5}">
                      <a16:colId xmlns:a16="http://schemas.microsoft.com/office/drawing/2014/main" val="20006"/>
                    </a:ext>
                  </a:extLst>
                </a:gridCol>
                <a:gridCol w="1124712">
                  <a:extLst>
                    <a:ext uri="{9D8B030D-6E8A-4147-A177-3AD203B41FA5}">
                      <a16:colId xmlns:a16="http://schemas.microsoft.com/office/drawing/2014/main" val="20007"/>
                    </a:ext>
                  </a:extLst>
                </a:gridCol>
              </a:tblGrid>
              <a:tr h="187452">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H1 2026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Jan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Feb</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Apr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May</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Jun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YTD</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84.7%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87.7%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75.2%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67.1%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74.9%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73.6%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77.1%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12"/>
                  </a:ext>
                </a:extLst>
              </a:tr>
              <a:tr h="187452">
                <a:tc>
                  <a:txBody>
                    <a:bodyPr/>
                    <a:lstStyle/>
                    <a:p>
                      <a:pPr marL="0" indent="0">
                        <a:buNone/>
                      </a:pPr>
                      <a:r>
                        <a:rPr lang="en-US" sz="900" b="0" dirty="0">
                          <a:solidFill>
                            <a:srgbClr val="595959"/>
                          </a:solidFill>
                          <a:latin typeface="Calibri" pitchFamily="34" charset="0"/>
                          <a:ea typeface="Calibri" pitchFamily="34" charset="-122"/>
                          <a:cs typeface="Calibri" pitchFamily="34" charset="-120"/>
                        </a:rPr>
                        <a:t>Occupancy Budget</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86.7%</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89.7%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78.2%</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74.1%</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76.9%</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75.6%</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dirty="0">
                          <a:solidFill>
                            <a:srgbClr val="595959"/>
                          </a:solidFill>
                          <a:latin typeface="Calibri" pitchFamily="34" charset="0"/>
                          <a:ea typeface="Calibri" pitchFamily="34" charset="-122"/>
                          <a:cs typeface="Calibri" pitchFamily="34" charset="-120"/>
                        </a:rPr>
                        <a:t>80.1%</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11"/>
                  </a:ext>
                </a:extLst>
              </a:tr>
              <a:tr h="187452">
                <a:tc>
                  <a:txBody>
                    <a:bodyPr/>
                    <a:lstStyle/>
                    <a:p>
                      <a:pPr marL="0" indent="0">
                        <a:buNone/>
                      </a:pPr>
                      <a:r>
                        <a:rPr lang="en-US" sz="900" b="1" dirty="0">
                          <a:solidFill>
                            <a:srgbClr val="26292E"/>
                          </a:solidFill>
                          <a:latin typeface="Calibri" pitchFamily="34" charset="0"/>
                          <a:ea typeface="Calibri" pitchFamily="34" charset="-122"/>
                          <a:cs typeface="Calibri" pitchFamily="34" charset="-120"/>
                        </a:rPr>
                        <a:t>Occupancy ’26</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26292E"/>
                          </a:solidFill>
                          <a:latin typeface="Calibri" pitchFamily="34" charset="0"/>
                          <a:ea typeface="Calibri" pitchFamily="34" charset="-122"/>
                          <a:cs typeface="Calibri" pitchFamily="34" charset="-120"/>
                        </a:rPr>
                        <a:t>87.0%</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26292E"/>
                          </a:solidFill>
                          <a:latin typeface="Calibri" pitchFamily="34" charset="0"/>
                          <a:ea typeface="Calibri" pitchFamily="34" charset="-122"/>
                          <a:cs typeface="Calibri" pitchFamily="34" charset="-120"/>
                        </a:rPr>
                        <a:t>90.5%</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26292E"/>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26292E"/>
                          </a:solidFill>
                          <a:latin typeface="Calibri" pitchFamily="34" charset="0"/>
                          <a:ea typeface="Calibri" pitchFamily="34" charset="-122"/>
                          <a:cs typeface="Calibri" pitchFamily="34" charset="-120"/>
                        </a:rPr>
                        <a:t>75.0%</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dirty="0">
                          <a:solidFill>
                            <a:srgbClr val="1E2761"/>
                          </a:solidFill>
                          <a:latin typeface="Calibri" pitchFamily="34" charset="0"/>
                          <a:ea typeface="Calibri" pitchFamily="34" charset="-122"/>
                          <a:cs typeface="Calibri" pitchFamily="34" charset="-120"/>
                        </a:rPr>
                        <a:t>80.8%</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3,342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3,059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2,931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3,005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2,764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2,778</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dirty="0">
                          <a:solidFill>
                            <a:srgbClr val="595959"/>
                          </a:solidFill>
                          <a:latin typeface="Calibri" pitchFamily="34" charset="0"/>
                          <a:ea typeface="Calibri" pitchFamily="34" charset="-122"/>
                          <a:cs typeface="Calibri" pitchFamily="34" charset="-120"/>
                        </a:rPr>
                        <a:t>2,990</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14"/>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3,318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3,008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2,910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2,995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2,715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2,746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dirty="0">
                          <a:solidFill>
                            <a:srgbClr val="595959"/>
                          </a:solidFill>
                          <a:latin typeface="Calibri" pitchFamily="34" charset="0"/>
                          <a:ea typeface="Calibri" pitchFamily="34" charset="-122"/>
                          <a:cs typeface="Calibri" pitchFamily="34" charset="-120"/>
                        </a:rPr>
                        <a:t>2,958</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13"/>
                  </a:ext>
                </a:extLst>
              </a:tr>
              <a:tr h="187452">
                <a:tc>
                  <a:txBody>
                    <a:bodyPr/>
                    <a:lstStyle/>
                    <a:p>
                      <a:pPr marL="0" indent="0">
                        <a:buNone/>
                      </a:pPr>
                      <a:r>
                        <a:rPr lang="en-US" sz="900" b="1" dirty="0">
                          <a:solidFill>
                            <a:srgbClr val="26292E"/>
                          </a:solidFill>
                          <a:latin typeface="Calibri" pitchFamily="34" charset="0"/>
                          <a:ea typeface="Calibri" pitchFamily="34" charset="-122"/>
                          <a:cs typeface="Calibri" pitchFamily="34" charset="-120"/>
                        </a:rPr>
                        <a:t>ADR ’26</a:t>
                      </a:r>
                      <a:r>
                        <a:rPr lang="th-TH" sz="900" b="1" dirty="0">
                          <a:solidFill>
                            <a:srgbClr val="26292E"/>
                          </a:solidFill>
                          <a:latin typeface="Calibri" pitchFamily="34" charset="0"/>
                          <a:ea typeface="Calibri" pitchFamily="34" charset="-122"/>
                          <a:cs typeface="Calibri" pitchFamily="34" charset="-120"/>
                        </a:rPr>
                        <a:t> </a:t>
                      </a:r>
                      <a:r>
                        <a:rPr lang="en-US" sz="900" b="1" dirty="0">
                          <a:solidFill>
                            <a:srgbClr val="26292E"/>
                          </a:solidFill>
                          <a:latin typeface="Calibri" pitchFamily="34" charset="0"/>
                          <a:ea typeface="Calibri" pitchFamily="34" charset="-122"/>
                          <a:cs typeface="Calibri" pitchFamily="34" charset="-120"/>
                        </a:rPr>
                        <a:t>(Inc. BF)</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2,970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3,139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2,856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2,965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2,707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2,672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2,891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2,830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2,684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2,204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2,015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2,070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2,046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2,305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16"/>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2,876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2,699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2,276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2,218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2,088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2,077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2,369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15"/>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RevPAR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2,585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2,841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2,284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2,268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2,029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2,045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dirty="0">
                          <a:solidFill>
                            <a:srgbClr val="1E2761"/>
                          </a:solidFill>
                          <a:latin typeface="Calibri" pitchFamily="34" charset="0"/>
                          <a:ea typeface="Calibri" pitchFamily="34" charset="-122"/>
                          <a:cs typeface="Calibri" pitchFamily="34" charset="-120"/>
                        </a:rPr>
                        <a:t>2,336</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4"/>
          <p:cNvSpPr/>
          <p:nvPr/>
        </p:nvSpPr>
        <p:spPr>
          <a:xfrm>
            <a:off x="8092440" y="797387"/>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9" name="Text 5"/>
          <p:cNvSpPr/>
          <p:nvPr/>
        </p:nvSpPr>
        <p:spPr>
          <a:xfrm>
            <a:off x="8238744" y="888827"/>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OCCUPANCY · YTD</a:t>
            </a:r>
            <a:endParaRPr lang="en-US" sz="1050"/>
          </a:p>
        </p:txBody>
      </p:sp>
      <p:sp>
        <p:nvSpPr>
          <p:cNvPr id="10" name="Text 6"/>
          <p:cNvSpPr/>
          <p:nvPr/>
        </p:nvSpPr>
        <p:spPr>
          <a:xfrm>
            <a:off x="8238744" y="1108283"/>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80.8%</a:t>
            </a:r>
            <a:endParaRPr lang="en-US" sz="2400"/>
          </a:p>
        </p:txBody>
      </p:sp>
      <p:sp>
        <p:nvSpPr>
          <p:cNvPr id="11" name="Text 7"/>
          <p:cNvSpPr/>
          <p:nvPr/>
        </p:nvSpPr>
        <p:spPr>
          <a:xfrm>
            <a:off x="8238744" y="1565483"/>
            <a:ext cx="3227832" cy="438912"/>
          </a:xfrm>
          <a:prstGeom prst="rect">
            <a:avLst/>
          </a:prstGeom>
          <a:noFill/>
          <a:ln/>
        </p:spPr>
        <p:txBody>
          <a:bodyPr wrap="square" lIns="0" tIns="0" rIns="0" bIns="0" rtlCol="0" anchor="ctr"/>
          <a:lstStyle/>
          <a:p>
            <a:pPr marL="0" indent="0">
              <a:buNone/>
            </a:pPr>
            <a:r>
              <a:rPr lang="en-US" sz="1050" dirty="0">
                <a:solidFill>
                  <a:srgbClr val="2E7D32"/>
                </a:solidFill>
                <a:latin typeface="Calibri" pitchFamily="34" charset="0"/>
                <a:ea typeface="Calibri" pitchFamily="34" charset="-122"/>
                <a:cs typeface="Calibri" pitchFamily="34" charset="-120"/>
              </a:rPr>
              <a:t>+0.9% vs budget</a:t>
            </a:r>
            <a:r>
              <a:rPr lang="en-US" sz="1050" dirty="0">
                <a:solidFill>
                  <a:srgbClr val="6B7280"/>
                </a:solidFill>
                <a:latin typeface="Calibri" pitchFamily="34" charset="0"/>
                <a:ea typeface="Calibri" pitchFamily="34" charset="-122"/>
                <a:cs typeface="Calibri" pitchFamily="34" charset="-120"/>
              </a:rPr>
              <a:t> · </a:t>
            </a:r>
            <a:r>
              <a:rPr lang="en-US" sz="1050" dirty="0">
                <a:solidFill>
                  <a:srgbClr val="2E7D32"/>
                </a:solidFill>
                <a:latin typeface="Calibri" pitchFamily="34" charset="0"/>
                <a:ea typeface="Calibri" pitchFamily="34" charset="-122"/>
                <a:cs typeface="Calibri" pitchFamily="34" charset="-120"/>
              </a:rPr>
              <a:t>+4.8% vs LY </a:t>
            </a:r>
            <a:endParaRPr lang="en-US" sz="1050" dirty="0"/>
          </a:p>
        </p:txBody>
      </p:sp>
      <p:sp>
        <p:nvSpPr>
          <p:cNvPr id="12" name="Shape 8"/>
          <p:cNvSpPr/>
          <p:nvPr/>
        </p:nvSpPr>
        <p:spPr>
          <a:xfrm>
            <a:off x="8092440" y="2205563"/>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3" name="Text 9"/>
          <p:cNvSpPr/>
          <p:nvPr/>
        </p:nvSpPr>
        <p:spPr>
          <a:xfrm>
            <a:off x="8238744" y="2297003"/>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ADR · YTD</a:t>
            </a:r>
            <a:endParaRPr lang="en-US" sz="1050"/>
          </a:p>
        </p:txBody>
      </p:sp>
      <p:sp>
        <p:nvSpPr>
          <p:cNvPr id="14" name="Text 10"/>
          <p:cNvSpPr/>
          <p:nvPr/>
        </p:nvSpPr>
        <p:spPr>
          <a:xfrm>
            <a:off x="8238744" y="2516459"/>
            <a:ext cx="3227832" cy="475488"/>
          </a:xfrm>
          <a:prstGeom prst="rect">
            <a:avLst/>
          </a:prstGeom>
          <a:noFill/>
          <a:ln/>
        </p:spPr>
        <p:txBody>
          <a:bodyPr wrap="square" lIns="0" tIns="0" rIns="0" bIns="0" rtlCol="0" anchor="ctr"/>
          <a:lstStyle/>
          <a:p>
            <a:pPr marL="0" indent="0">
              <a:buNone/>
            </a:pPr>
            <a:r>
              <a:rPr lang="en-US" sz="2400" b="1" dirty="0">
                <a:solidFill>
                  <a:srgbClr val="1E2761"/>
                </a:solidFill>
                <a:latin typeface="Calibri" pitchFamily="34" charset="0"/>
                <a:ea typeface="Calibri" pitchFamily="34" charset="-122"/>
                <a:cs typeface="Calibri" pitchFamily="34" charset="-120"/>
              </a:rPr>
              <a:t>฿2,891</a:t>
            </a:r>
            <a:endParaRPr lang="en-US" sz="2400" dirty="0"/>
          </a:p>
        </p:txBody>
      </p:sp>
      <p:sp>
        <p:nvSpPr>
          <p:cNvPr id="15" name="Text 11"/>
          <p:cNvSpPr/>
          <p:nvPr/>
        </p:nvSpPr>
        <p:spPr>
          <a:xfrm>
            <a:off x="8238744" y="2973659"/>
            <a:ext cx="3227832" cy="438912"/>
          </a:xfrm>
          <a:prstGeom prst="rect">
            <a:avLst/>
          </a:prstGeom>
          <a:noFill/>
          <a:ln/>
        </p:spPr>
        <p:txBody>
          <a:bodyPr wrap="square" lIns="0" tIns="0" rIns="0" bIns="0" rtlCol="0" anchor="ctr"/>
          <a:lstStyle/>
          <a:p>
            <a:pPr marL="0" indent="0">
              <a:buNone/>
            </a:pPr>
            <a:r>
              <a:rPr lang="en-US" sz="1050" dirty="0">
                <a:solidFill>
                  <a:srgbClr val="C0392B"/>
                </a:solidFill>
                <a:latin typeface="Calibri" pitchFamily="34" charset="0"/>
                <a:ea typeface="Calibri" pitchFamily="34" charset="-122"/>
                <a:cs typeface="Calibri" pitchFamily="34" charset="-120"/>
              </a:rPr>
              <a:t>-2.3% vs budget</a:t>
            </a:r>
            <a:r>
              <a:rPr lang="en-US" sz="1050" dirty="0">
                <a:solidFill>
                  <a:srgbClr val="6B7280"/>
                </a:solidFill>
                <a:latin typeface="Calibri" pitchFamily="34" charset="0"/>
                <a:ea typeface="Calibri" pitchFamily="34" charset="-122"/>
                <a:cs typeface="Calibri" pitchFamily="34" charset="-120"/>
              </a:rPr>
              <a:t> · </a:t>
            </a:r>
            <a:r>
              <a:rPr lang="en-US" sz="1050" dirty="0">
                <a:solidFill>
                  <a:srgbClr val="C0392B"/>
                </a:solidFill>
                <a:latin typeface="Calibri" pitchFamily="34" charset="0"/>
                <a:ea typeface="Calibri" pitchFamily="34" charset="-122"/>
                <a:cs typeface="Calibri" pitchFamily="34" charset="-120"/>
              </a:rPr>
              <a:t>-3.3% vs LY</a:t>
            </a:r>
            <a:endParaRPr lang="en-US" sz="1050" dirty="0"/>
          </a:p>
        </p:txBody>
      </p:sp>
      <p:sp>
        <p:nvSpPr>
          <p:cNvPr id="16" name="Shape 12"/>
          <p:cNvSpPr/>
          <p:nvPr/>
        </p:nvSpPr>
        <p:spPr>
          <a:xfrm>
            <a:off x="8092440" y="3613739"/>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7" name="Text 13"/>
          <p:cNvSpPr/>
          <p:nvPr/>
        </p:nvSpPr>
        <p:spPr>
          <a:xfrm>
            <a:off x="8238744" y="3705179"/>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REVPAR · YTD</a:t>
            </a:r>
            <a:endParaRPr lang="en-US" sz="1050"/>
          </a:p>
        </p:txBody>
      </p:sp>
      <p:sp>
        <p:nvSpPr>
          <p:cNvPr id="18" name="Text 14"/>
          <p:cNvSpPr/>
          <p:nvPr/>
        </p:nvSpPr>
        <p:spPr>
          <a:xfrm>
            <a:off x="8238744" y="3924635"/>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฿2,336</a:t>
            </a:r>
            <a:endParaRPr lang="en-US" sz="2400"/>
          </a:p>
        </p:txBody>
      </p:sp>
      <p:sp>
        <p:nvSpPr>
          <p:cNvPr id="19" name="Text 15"/>
          <p:cNvSpPr/>
          <p:nvPr/>
        </p:nvSpPr>
        <p:spPr>
          <a:xfrm>
            <a:off x="8238744" y="4381835"/>
            <a:ext cx="3227832" cy="438912"/>
          </a:xfrm>
          <a:prstGeom prst="rect">
            <a:avLst/>
          </a:prstGeom>
          <a:noFill/>
          <a:ln/>
        </p:spPr>
        <p:txBody>
          <a:bodyPr wrap="square" lIns="0" tIns="0" rIns="0" bIns="0" rtlCol="0" anchor="ctr"/>
          <a:lstStyle/>
          <a:p>
            <a:pPr marL="0" indent="0">
              <a:buNone/>
            </a:pPr>
            <a:r>
              <a:rPr lang="en-US" sz="1050" dirty="0">
                <a:solidFill>
                  <a:srgbClr val="C0392B"/>
                </a:solidFill>
                <a:latin typeface="Calibri" pitchFamily="34" charset="0"/>
                <a:ea typeface="Calibri" pitchFamily="34" charset="-122"/>
                <a:cs typeface="Calibri" pitchFamily="34" charset="-120"/>
              </a:rPr>
              <a:t>-1.4% vs budget</a:t>
            </a:r>
            <a:r>
              <a:rPr lang="en-US" sz="1050" dirty="0">
                <a:solidFill>
                  <a:srgbClr val="6B7280"/>
                </a:solidFill>
                <a:latin typeface="Calibri" pitchFamily="34" charset="0"/>
                <a:ea typeface="Calibri" pitchFamily="34" charset="-122"/>
                <a:cs typeface="Calibri" pitchFamily="34" charset="-120"/>
              </a:rPr>
              <a:t> · </a:t>
            </a:r>
            <a:r>
              <a:rPr lang="en-US" sz="1050" dirty="0">
                <a:solidFill>
                  <a:srgbClr val="2E7D32"/>
                </a:solidFill>
                <a:latin typeface="Calibri" pitchFamily="34" charset="0"/>
                <a:ea typeface="Calibri" pitchFamily="34" charset="-122"/>
                <a:cs typeface="Calibri" pitchFamily="34" charset="-120"/>
              </a:rPr>
              <a:t>+1.3% vs LY</a:t>
            </a:r>
            <a:endParaRPr lang="en-US" sz="1050" dirty="0"/>
          </a:p>
        </p:txBody>
      </p:sp>
      <p:graphicFrame>
        <p:nvGraphicFramePr>
          <p:cNvPr id="910" name="Table 8"/>
          <p:cNvGraphicFramePr>
            <a:graphicFrameLocks noGrp="1"/>
          </p:cNvGraphicFramePr>
          <p:nvPr>
            <p:extLst>
              <p:ext uri="{D42A27DB-BD31-4B8C-83A1-F6EECF244321}">
                <p14:modId xmlns:p14="http://schemas.microsoft.com/office/powerpoint/2010/main" val="4246745709"/>
              </p:ext>
            </p:extLst>
          </p:nvPr>
        </p:nvGraphicFramePr>
        <p:xfrm>
          <a:off x="548640" y="5459239"/>
          <a:ext cx="7223759" cy="520937"/>
        </p:xfrm>
        <a:graphic>
          <a:graphicData uri="http://schemas.openxmlformats.org/drawingml/2006/table">
            <a:tbl>
              <a:tblPr firstRow="1" bandRow="1">
                <a:tableStyleId>{5C22544A-7EE6-4342-B048-85BDC9FD1C3A}</a:tableStyleId>
              </a:tblPr>
              <a:tblGrid>
                <a:gridCol w="1144749">
                  <a:extLst>
                    <a:ext uri="{9D8B030D-6E8A-4147-A177-3AD203B41FA5}">
                      <a16:colId xmlns:a16="http://schemas.microsoft.com/office/drawing/2014/main" val="20001"/>
                    </a:ext>
                  </a:extLst>
                </a:gridCol>
                <a:gridCol w="828956">
                  <a:extLst>
                    <a:ext uri="{9D8B030D-6E8A-4147-A177-3AD203B41FA5}">
                      <a16:colId xmlns:a16="http://schemas.microsoft.com/office/drawing/2014/main" val="20002"/>
                    </a:ext>
                  </a:extLst>
                </a:gridCol>
                <a:gridCol w="986851">
                  <a:extLst>
                    <a:ext uri="{9D8B030D-6E8A-4147-A177-3AD203B41FA5}">
                      <a16:colId xmlns:a16="http://schemas.microsoft.com/office/drawing/2014/main" val="20003"/>
                    </a:ext>
                  </a:extLst>
                </a:gridCol>
                <a:gridCol w="1026326">
                  <a:extLst>
                    <a:ext uri="{9D8B030D-6E8A-4147-A177-3AD203B41FA5}">
                      <a16:colId xmlns:a16="http://schemas.microsoft.com/office/drawing/2014/main" val="20004"/>
                    </a:ext>
                  </a:extLst>
                </a:gridCol>
                <a:gridCol w="947379">
                  <a:extLst>
                    <a:ext uri="{9D8B030D-6E8A-4147-A177-3AD203B41FA5}">
                      <a16:colId xmlns:a16="http://schemas.microsoft.com/office/drawing/2014/main" val="20005"/>
                    </a:ext>
                  </a:extLst>
                </a:gridCol>
                <a:gridCol w="1144749">
                  <a:extLst>
                    <a:ext uri="{9D8B030D-6E8A-4147-A177-3AD203B41FA5}">
                      <a16:colId xmlns:a16="http://schemas.microsoft.com/office/drawing/2014/main" val="20006"/>
                    </a:ext>
                  </a:extLst>
                </a:gridCol>
                <a:gridCol w="1144749">
                  <a:extLst>
                    <a:ext uri="{9D8B030D-6E8A-4147-A177-3AD203B41FA5}">
                      <a16:colId xmlns:a16="http://schemas.microsoft.com/office/drawing/2014/main" val="20007"/>
                    </a:ext>
                  </a:extLst>
                </a:gridCol>
              </a:tblGrid>
              <a:tr h="227075">
                <a:tc>
                  <a:txBody>
                    <a:bodyPr/>
                    <a:lstStyle/>
                    <a:p>
                      <a:r>
                        <a:rPr sz="800" b="1">
                          <a:solidFill>
                            <a:srgbClr val="FFFFFF"/>
                          </a:solidFill>
                          <a:latin typeface="Calibri"/>
                        </a:rPr>
                        <a:t>Series</a:t>
                      </a:r>
                    </a:p>
                  </a:txBody>
                  <a:tcPr>
                    <a:solidFill>
                      <a:srgbClr val="1E2761"/>
                    </a:solidFill>
                  </a:tcPr>
                </a:tc>
                <a:tc>
                  <a:txBody>
                    <a:bodyPr/>
                    <a:lstStyle/>
                    <a:p>
                      <a:r>
                        <a:rPr sz="800" b="1">
                          <a:solidFill>
                            <a:srgbClr val="FFFFFF"/>
                          </a:solidFill>
                          <a:latin typeface="Calibri"/>
                        </a:rPr>
                        <a:t>Occ H1</a:t>
                      </a:r>
                    </a:p>
                  </a:txBody>
                  <a:tcPr>
                    <a:solidFill>
                      <a:srgbClr val="1E2761"/>
                    </a:solidFill>
                  </a:tcPr>
                </a:tc>
                <a:tc>
                  <a:txBody>
                    <a:bodyPr/>
                    <a:lstStyle/>
                    <a:p>
                      <a:r>
                        <a:rPr sz="800" b="1">
                          <a:solidFill>
                            <a:srgbClr val="FFFFFF"/>
                          </a:solidFill>
                          <a:latin typeface="Calibri"/>
                        </a:rPr>
                        <a:t>Occ vs LY</a:t>
                      </a:r>
                    </a:p>
                  </a:txBody>
                  <a:tcPr>
                    <a:solidFill>
                      <a:srgbClr val="1E2761"/>
                    </a:solidFill>
                  </a:tcPr>
                </a:tc>
                <a:tc>
                  <a:txBody>
                    <a:bodyPr/>
                    <a:lstStyle/>
                    <a:p>
                      <a:r>
                        <a:rPr sz="800" b="1">
                          <a:solidFill>
                            <a:srgbClr val="FFFFFF"/>
                          </a:solidFill>
                          <a:latin typeface="Calibri"/>
                        </a:rPr>
                        <a:t>ADR H1 (฿)</a:t>
                      </a:r>
                    </a:p>
                  </a:txBody>
                  <a:tcPr>
                    <a:solidFill>
                      <a:srgbClr val="1E2761"/>
                    </a:solidFill>
                  </a:tcPr>
                </a:tc>
                <a:tc>
                  <a:txBody>
                    <a:bodyPr/>
                    <a:lstStyle/>
                    <a:p>
                      <a:r>
                        <a:rPr sz="800" b="1">
                          <a:solidFill>
                            <a:srgbClr val="FFFFFF"/>
                          </a:solidFill>
                          <a:latin typeface="Calibri"/>
                        </a:rPr>
                        <a:t>ADR vs LY</a:t>
                      </a:r>
                    </a:p>
                  </a:txBody>
                  <a:tcPr>
                    <a:solidFill>
                      <a:srgbClr val="1E2761"/>
                    </a:solidFill>
                  </a:tcPr>
                </a:tc>
                <a:tc>
                  <a:txBody>
                    <a:bodyPr/>
                    <a:lstStyle/>
                    <a:p>
                      <a:r>
                        <a:rPr sz="800" b="1">
                          <a:solidFill>
                            <a:srgbClr val="FFFFFF"/>
                          </a:solidFill>
                          <a:latin typeface="Calibri"/>
                        </a:rPr>
                        <a:t>RevPAR H1 (฿)</a:t>
                      </a:r>
                    </a:p>
                  </a:txBody>
                  <a:tcPr>
                    <a:solidFill>
                      <a:srgbClr val="1E2761"/>
                    </a:solidFill>
                  </a:tcPr>
                </a:tc>
                <a:tc>
                  <a:txBody>
                    <a:bodyPr/>
                    <a:lstStyle/>
                    <a:p>
                      <a:r>
                        <a:rPr sz="800" b="1">
                          <a:solidFill>
                            <a:srgbClr val="FFFFFF"/>
                          </a:solidFill>
                          <a:latin typeface="Calibri"/>
                        </a:rPr>
                        <a:t>RevPAR vs LY</a:t>
                      </a:r>
                    </a:p>
                  </a:txBody>
                  <a:tcPr>
                    <a:solidFill>
                      <a:srgbClr val="1E2761"/>
                    </a:solidFill>
                  </a:tcPr>
                </a:tc>
                <a:extLst>
                  <a:ext uri="{0D108BD9-81ED-4DB2-BD59-A6C34878D82A}">
                    <a16:rowId xmlns:a16="http://schemas.microsoft.com/office/drawing/2014/main" val="10000"/>
                  </a:ext>
                </a:extLst>
              </a:tr>
              <a:tr h="2938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a:solidFill>
                            <a:srgbClr val="26292E"/>
                          </a:solidFill>
                          <a:latin typeface="+mn-lt"/>
                        </a:rPr>
                        <a:t>Ratchada </a:t>
                      </a:r>
                      <a:r>
                        <a:rPr sz="800" b="1">
                          <a:solidFill>
                            <a:srgbClr val="26292E"/>
                          </a:solidFill>
                          <a:latin typeface="Calibri"/>
                        </a:rPr>
                        <a:t>Comp set</a:t>
                      </a:r>
                    </a:p>
                  </a:txBody>
                  <a:tcPr>
                    <a:solidFill>
                      <a:srgbClr val="F4F6FB"/>
                    </a:solidFill>
                  </a:tcPr>
                </a:tc>
                <a:tc>
                  <a:txBody>
                    <a:bodyPr/>
                    <a:lstStyle/>
                    <a:p>
                      <a:r>
                        <a:rPr sz="800" b="0">
                          <a:solidFill>
                            <a:srgbClr val="6B7280"/>
                          </a:solidFill>
                          <a:latin typeface="Calibri"/>
                        </a:rPr>
                        <a:t>76.6%</a:t>
                      </a:r>
                    </a:p>
                  </a:txBody>
                  <a:tcPr>
                    <a:solidFill>
                      <a:srgbClr val="F4F6FB"/>
                    </a:solidFill>
                  </a:tcPr>
                </a:tc>
                <a:tc>
                  <a:txBody>
                    <a:bodyPr/>
                    <a:lstStyle/>
                    <a:p>
                      <a:r>
                        <a:rPr sz="800" b="0">
                          <a:solidFill>
                            <a:srgbClr val="2E7D32"/>
                          </a:solidFill>
                          <a:latin typeface="Calibri"/>
                        </a:rPr>
                        <a:t>+1.4%</a:t>
                      </a:r>
                    </a:p>
                  </a:txBody>
                  <a:tcPr>
                    <a:solidFill>
                      <a:srgbClr val="F4F6FB"/>
                    </a:solidFill>
                  </a:tcPr>
                </a:tc>
                <a:tc>
                  <a:txBody>
                    <a:bodyPr/>
                    <a:lstStyle/>
                    <a:p>
                      <a:r>
                        <a:rPr sz="800" b="0">
                          <a:solidFill>
                            <a:srgbClr val="6B7280"/>
                          </a:solidFill>
                          <a:latin typeface="Calibri"/>
                        </a:rPr>
                        <a:t>2,586</a:t>
                      </a:r>
                    </a:p>
                  </a:txBody>
                  <a:tcPr>
                    <a:solidFill>
                      <a:srgbClr val="F4F6FB"/>
                    </a:solidFill>
                  </a:tcPr>
                </a:tc>
                <a:tc>
                  <a:txBody>
                    <a:bodyPr/>
                    <a:lstStyle/>
                    <a:p>
                      <a:r>
                        <a:rPr sz="800" b="0">
                          <a:solidFill>
                            <a:srgbClr val="C0392B"/>
                          </a:solidFill>
                          <a:latin typeface="Calibri"/>
                        </a:rPr>
                        <a:t>-18.7%</a:t>
                      </a:r>
                    </a:p>
                  </a:txBody>
                  <a:tcPr>
                    <a:solidFill>
                      <a:srgbClr val="F4F6FB"/>
                    </a:solidFill>
                  </a:tcPr>
                </a:tc>
                <a:tc>
                  <a:txBody>
                    <a:bodyPr/>
                    <a:lstStyle/>
                    <a:p>
                      <a:r>
                        <a:rPr sz="800" b="0">
                          <a:solidFill>
                            <a:srgbClr val="6B7280"/>
                          </a:solidFill>
                          <a:latin typeface="Calibri"/>
                        </a:rPr>
                        <a:t>1,985</a:t>
                      </a:r>
                    </a:p>
                  </a:txBody>
                  <a:tcPr>
                    <a:solidFill>
                      <a:srgbClr val="F4F6FB"/>
                    </a:solidFill>
                  </a:tcPr>
                </a:tc>
                <a:tc>
                  <a:txBody>
                    <a:bodyPr/>
                    <a:lstStyle/>
                    <a:p>
                      <a:r>
                        <a:rPr sz="800" b="0" dirty="0">
                          <a:solidFill>
                            <a:srgbClr val="C0392B"/>
                          </a:solidFill>
                          <a:latin typeface="Calibri"/>
                        </a:rPr>
                        <a:t>-17.4%</a:t>
                      </a:r>
                    </a:p>
                  </a:txBody>
                  <a:tcPr>
                    <a:solidFill>
                      <a:srgbClr val="F4F6FB"/>
                    </a:solidFill>
                  </a:tcPr>
                </a:tc>
                <a:extLst>
                  <a:ext uri="{0D108BD9-81ED-4DB2-BD59-A6C34878D82A}">
                    <a16:rowId xmlns:a16="http://schemas.microsoft.com/office/drawing/2014/main" val="10002"/>
                  </a:ext>
                </a:extLst>
              </a:tr>
            </a:tbl>
          </a:graphicData>
        </a:graphic>
      </p:graphicFrame>
      <p:sp>
        <p:nvSpPr>
          <p:cNvPr id="23" name="Rectangle 22">
            <a:extLst>
              <a:ext uri="{FF2B5EF4-FFF2-40B4-BE49-F238E27FC236}">
                <a16:creationId xmlns:a16="http://schemas.microsoft.com/office/drawing/2014/main" id="{80DD613A-C645-1434-3717-58318C756372}"/>
              </a:ext>
            </a:extLst>
          </p:cNvPr>
          <p:cNvSpPr/>
          <p:nvPr/>
        </p:nvSpPr>
        <p:spPr>
          <a:xfrm>
            <a:off x="8092441" y="5009397"/>
            <a:ext cx="3547872" cy="116489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chemeClr val="tx1"/>
                </a:solidFill>
                <a:latin typeface="Calibri" pitchFamily="34" charset="0"/>
                <a:ea typeface="Calibri" pitchFamily="34" charset="-122"/>
                <a:cs typeface="Calibri" pitchFamily="34" charset="-120"/>
              </a:rPr>
              <a:t>Key takeaway: SR9 runs close to budget for H1 — February outperformed strongly (CNY), May–Jun slightly behind on ADR.</a:t>
            </a:r>
          </a:p>
          <a:p>
            <a:r>
              <a:rPr sz="1200" dirty="0">
                <a:latin typeface="Calibri"/>
              </a:rPr>
              <a:t>Vs last year, occupancy is +4.8% better, turning RevPAR +1.3% above LY.</a:t>
            </a:r>
          </a:p>
        </p:txBody>
      </p:sp>
      <p:sp>
        <p:nvSpPr>
          <p:cNvPr id="24" name="Star: 5 Points 23">
            <a:extLst>
              <a:ext uri="{FF2B5EF4-FFF2-40B4-BE49-F238E27FC236}">
                <a16:creationId xmlns:a16="http://schemas.microsoft.com/office/drawing/2014/main" id="{085E149A-219E-048A-BD83-F583723633F8}"/>
              </a:ext>
            </a:extLst>
          </p:cNvPr>
          <p:cNvSpPr/>
          <p:nvPr/>
        </p:nvSpPr>
        <p:spPr>
          <a:xfrm>
            <a:off x="2360519" y="1611313"/>
            <a:ext cx="117761" cy="123258"/>
          </a:xfrm>
          <a:prstGeom prst="star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261BB2-B5CD-CA2C-CAD1-13190E89BC94}"/>
              </a:ext>
            </a:extLst>
          </p:cNvPr>
          <p:cNvSpPr txBox="1"/>
          <p:nvPr/>
        </p:nvSpPr>
        <p:spPr>
          <a:xfrm>
            <a:off x="2422733" y="1564401"/>
            <a:ext cx="982766" cy="261610"/>
          </a:xfrm>
          <a:prstGeom prst="rect">
            <a:avLst/>
          </a:prstGeom>
          <a:noFill/>
        </p:spPr>
        <p:txBody>
          <a:bodyPr wrap="square" rtlCol="0">
            <a:spAutoFit/>
          </a:bodyPr>
          <a:lstStyle/>
          <a:p>
            <a:r>
              <a:rPr lang="en-US" sz="1100">
                <a:solidFill>
                  <a:srgbClr val="FF0000"/>
                </a:solidFill>
              </a:rPr>
              <a:t>CNY</a:t>
            </a:r>
            <a:endParaRPr lang="en-US">
              <a:solidFill>
                <a:srgbClr val="FF0000"/>
              </a:solidFill>
            </a:endParaRPr>
          </a:p>
        </p:txBody>
      </p:sp>
      <p:sp>
        <p:nvSpPr>
          <p:cNvPr id="27" name="Text 12">
            <a:extLst>
              <a:ext uri="{FF2B5EF4-FFF2-40B4-BE49-F238E27FC236}">
                <a16:creationId xmlns:a16="http://schemas.microsoft.com/office/drawing/2014/main" id="{925914B7-5C3F-3890-0638-4319C6F84451}"/>
              </a:ext>
            </a:extLst>
          </p:cNvPr>
          <p:cNvSpPr/>
          <p:nvPr/>
        </p:nvSpPr>
        <p:spPr>
          <a:xfrm>
            <a:off x="548640" y="6053328"/>
            <a:ext cx="7223760" cy="438912"/>
          </a:xfrm>
          <a:prstGeom prst="rect">
            <a:avLst/>
          </a:prstGeom>
          <a:noFill/>
          <a:ln/>
        </p:spPr>
        <p:txBody>
          <a:bodyPr wrap="square" lIns="0" tIns="0" rIns="0" bIns="0" rtlCol="0" anchor="ctr"/>
          <a:lstStyle/>
          <a:p>
            <a:pPr marL="0" indent="0">
              <a:buNone/>
            </a:pPr>
            <a:r>
              <a:rPr lang="en-US" sz="1050" i="1" dirty="0">
                <a:solidFill>
                  <a:srgbClr val="6B7280"/>
                </a:solidFill>
                <a:latin typeface="Calibri" pitchFamily="34" charset="0"/>
                <a:ea typeface="Calibri" pitchFamily="34" charset="-122"/>
                <a:cs typeface="Calibri" pitchFamily="34" charset="-120"/>
              </a:rPr>
              <a:t>*** Jubilee Hotel is under renovation </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4 · SOMERSET RAMA 9 BANGKOK (SR9)</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Rama 9 Bangkok (SR9) — RN and ADR by nationality (H1)</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Top 10 nationalities · H1 room nights 26 vs 25 (chart) · table: room nights + ADR (RN-weighted H1) with change</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37360"/>
          <a:ext cx="5029200" cy="44348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00" name="Table 0"/>
          <p:cNvGraphicFramePr>
            <a:graphicFrameLocks noGrp="1"/>
          </p:cNvGraphicFramePr>
          <p:nvPr>
            <p:extLst>
              <p:ext uri="{D42A27DB-BD31-4B8C-83A1-F6EECF244321}">
                <p14:modId xmlns:p14="http://schemas.microsoft.com/office/powerpoint/2010/main" val="1629730325"/>
              </p:ext>
            </p:extLst>
          </p:nvPr>
        </p:nvGraphicFramePr>
        <p:xfrm>
          <a:off x="5623560" y="1828800"/>
          <a:ext cx="6144768" cy="3072384"/>
        </p:xfrm>
        <a:graphic>
          <a:graphicData uri="http://schemas.openxmlformats.org/drawingml/2006/table">
            <a:tbl>
              <a:tblPr/>
              <a:tblGrid>
                <a:gridCol w="1170432">
                  <a:extLst>
                    <a:ext uri="{9D8B030D-6E8A-4147-A177-3AD203B41FA5}">
                      <a16:colId xmlns:a16="http://schemas.microsoft.com/office/drawing/2014/main" val="20000"/>
                    </a:ext>
                  </a:extLst>
                </a:gridCol>
                <a:gridCol w="676656">
                  <a:extLst>
                    <a:ext uri="{9D8B030D-6E8A-4147-A177-3AD203B41FA5}">
                      <a16:colId xmlns:a16="http://schemas.microsoft.com/office/drawing/2014/main" val="20001"/>
                    </a:ext>
                  </a:extLst>
                </a:gridCol>
                <a:gridCol w="676656">
                  <a:extLst>
                    <a:ext uri="{9D8B030D-6E8A-4147-A177-3AD203B41FA5}">
                      <a16:colId xmlns:a16="http://schemas.microsoft.com/office/drawing/2014/main" val="20002"/>
                    </a:ext>
                  </a:extLst>
                </a:gridCol>
                <a:gridCol w="621792">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676656">
                  <a:extLst>
                    <a:ext uri="{9D8B030D-6E8A-4147-A177-3AD203B41FA5}">
                      <a16:colId xmlns:a16="http://schemas.microsoft.com/office/drawing/2014/main" val="900017"/>
                    </a:ext>
                  </a:extLst>
                </a:gridCol>
                <a:gridCol w="676656">
                  <a:extLst>
                    <a:ext uri="{9D8B030D-6E8A-4147-A177-3AD203B41FA5}">
                      <a16:colId xmlns:a16="http://schemas.microsoft.com/office/drawing/2014/main" val="900018"/>
                    </a:ext>
                  </a:extLst>
                </a:gridCol>
                <a:gridCol w="640080">
                  <a:extLst>
                    <a:ext uri="{9D8B030D-6E8A-4147-A177-3AD203B41FA5}">
                      <a16:colId xmlns:a16="http://schemas.microsoft.com/office/drawing/2014/main" val="950001"/>
                    </a:ext>
                  </a:extLst>
                </a:gridCol>
                <a:gridCol w="530352">
                  <a:extLst>
                    <a:ext uri="{9D8B030D-6E8A-4147-A177-3AD203B41FA5}">
                      <a16:colId xmlns:a16="http://schemas.microsoft.com/office/drawing/2014/main" val="900019"/>
                    </a:ext>
                  </a:extLst>
                </a:gridCol>
              </a:tblGrid>
              <a:tr h="256032">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Nationality</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China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30,611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32,403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E7D32"/>
                          </a:solidFill>
                          <a:highlight>
                            <a:srgbClr val="FFFF00"/>
                          </a:highlight>
                          <a:latin typeface="Calibri" pitchFamily="34" charset="0"/>
                          <a:ea typeface="Calibri" pitchFamily="34" charset="-122"/>
                          <a:cs typeface="Calibri" pitchFamily="34" charset="-120"/>
                        </a:rPr>
                        <a:t>+1,792</a:t>
                      </a:r>
                      <a:endParaRPr lang="en-US" sz="850" dirty="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2,931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2,713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-219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Taiwan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6,536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5,882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-654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3,046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2,783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-262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Thailand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3,044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3,806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E7D32"/>
                          </a:solidFill>
                          <a:highlight>
                            <a:srgbClr val="FFFF00"/>
                          </a:highlight>
                          <a:latin typeface="Calibri" pitchFamily="34" charset="0"/>
                          <a:ea typeface="Calibri" pitchFamily="34" charset="-122"/>
                          <a:cs typeface="Calibri" pitchFamily="34" charset="-120"/>
                        </a:rPr>
                        <a:t>+762</a:t>
                      </a:r>
                      <a:endParaRPr lang="en-US" sz="850" dirty="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3,521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3,059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C0392B"/>
                          </a:solidFill>
                          <a:latin typeface="Calibri" pitchFamily="34" charset="0"/>
                          <a:ea typeface="Calibri" pitchFamily="34" charset="-122"/>
                          <a:cs typeface="Calibri" pitchFamily="34" charset="-120"/>
                        </a:rPr>
                        <a:t>-462</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India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1,455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2,674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2E7D32"/>
                          </a:solidFill>
                          <a:highlight>
                            <a:srgbClr val="FFFF00"/>
                          </a:highlight>
                          <a:latin typeface="Calibri" pitchFamily="34" charset="0"/>
                          <a:ea typeface="Calibri" pitchFamily="34" charset="-122"/>
                          <a:cs typeface="Calibri" pitchFamily="34" charset="-120"/>
                        </a:rPr>
                        <a:t>+1,219</a:t>
                      </a:r>
                      <a:endParaRPr lang="en-US" sz="850" dirty="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+84%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2,864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2,443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-421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Japan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2,679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2,635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6B7280"/>
                          </a:solidFill>
                          <a:latin typeface="Calibri" pitchFamily="34" charset="0"/>
                          <a:ea typeface="Calibri" pitchFamily="34" charset="-122"/>
                          <a:cs typeface="Calibri" pitchFamily="34" charset="-120"/>
                        </a:rPr>
                        <a:t>2,330</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2,202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Malaysia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2,486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2,247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-239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2,863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2,467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-396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Singapore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2,017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2,169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E7D32"/>
                          </a:solidFill>
                          <a:latin typeface="Calibri" pitchFamily="34" charset="0"/>
                          <a:ea typeface="Calibri" pitchFamily="34" charset="-122"/>
                          <a:cs typeface="Calibri" pitchFamily="34" charset="-120"/>
                        </a:rPr>
                        <a:t>+152</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3,056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2,846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Korea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2,863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2,106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-757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C0392B"/>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3,027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2,817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8"/>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Indonesia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1,120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1,273</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E7D32"/>
                          </a:solidFill>
                          <a:latin typeface="Calibri" pitchFamily="34" charset="0"/>
                          <a:ea typeface="Calibri" pitchFamily="34" charset="-122"/>
                          <a:cs typeface="Calibri" pitchFamily="34" charset="-120"/>
                        </a:rPr>
                        <a:t>+153</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2,854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2,611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-243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USA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1,034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1,032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6B7280"/>
                          </a:solidFill>
                          <a:latin typeface="Calibri" pitchFamily="34" charset="0"/>
                          <a:ea typeface="Calibri" pitchFamily="34" charset="-122"/>
                          <a:cs typeface="Calibri" pitchFamily="34" charset="-120"/>
                        </a:rPr>
                        <a:t>3,244</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2,945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-299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256032">
                <a:tc>
                  <a:txBody>
                    <a:bodyPr/>
                    <a:lstStyle/>
                    <a:p>
                      <a:pPr marL="0" indent="0">
                        <a:buNone/>
                      </a:pPr>
                      <a:r>
                        <a:rPr lang="en-US" sz="850" b="1">
                          <a:solidFill>
                            <a:srgbClr val="1E2761"/>
                          </a:solidFill>
                          <a:latin typeface="Calibri" pitchFamily="34" charset="0"/>
                          <a:ea typeface="Calibri" pitchFamily="34" charset="-122"/>
                          <a:cs typeface="Calibri" pitchFamily="34" charset="-120"/>
                        </a:rPr>
                        <a:t>Top-10 total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53,845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56,227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+2,382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6B7280"/>
                          </a:solidFill>
                          <a:latin typeface="Calibri" pitchFamily="34" charset="0"/>
                          <a:ea typeface="Calibri" pitchFamily="34" charset="-122"/>
                          <a:cs typeface="Calibri" pitchFamily="34" charset="-120"/>
                        </a:rPr>
                        <a:t>2,958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2,708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-250</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extLst>
                  <a:ext uri="{0D108BD9-81ED-4DB2-BD59-A6C34878D82A}">
                    <a16:rowId xmlns:a16="http://schemas.microsoft.com/office/drawing/2014/main" val="10011"/>
                  </a:ext>
                </a:extLst>
              </a:tr>
            </a:tbl>
          </a:graphicData>
        </a:graphic>
      </p:graphicFrame>
      <p:sp>
        <p:nvSpPr>
          <p:cNvPr id="8" name="Rectangle 7">
            <a:extLst>
              <a:ext uri="{FF2B5EF4-FFF2-40B4-BE49-F238E27FC236}">
                <a16:creationId xmlns:a16="http://schemas.microsoft.com/office/drawing/2014/main" id="{314F342E-F1D5-AC9C-26B4-59F392AD6164}"/>
              </a:ext>
            </a:extLst>
          </p:cNvPr>
          <p:cNvSpPr/>
          <p:nvPr/>
        </p:nvSpPr>
        <p:spPr>
          <a:xfrm>
            <a:off x="5623560" y="5271364"/>
            <a:ext cx="6144768" cy="900836"/>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Top three : Asian</a:t>
            </a:r>
          </a:p>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Biggest H1 gain: China (+1,792 RN) India (+1,219) Thailand (+762) </a:t>
            </a:r>
          </a:p>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Biggest decline: Korea (-757 RN). </a:t>
            </a:r>
          </a:p>
          <a:p>
            <a:pPr marL="171450" indent="-171450">
              <a:buFont typeface="Arial" panose="020B0604020202020204" pitchFamily="34" charset="0"/>
              <a:buChar char="•"/>
            </a:pPr>
            <a:r>
              <a:rPr lang="en-US" sz="1200" dirty="0">
                <a:solidFill>
                  <a:schemeClr val="tx1"/>
                </a:solidFill>
              </a:rPr>
              <a:t>Corresponding to the arrival tourist market.</a:t>
            </a:r>
          </a:p>
        </p:txBody>
      </p:sp>
      <p:sp>
        <p:nvSpPr>
          <p:cNvPr id="7" name="TextBox 6">
            <a:extLst>
              <a:ext uri="{FF2B5EF4-FFF2-40B4-BE49-F238E27FC236}">
                <a16:creationId xmlns:a16="http://schemas.microsoft.com/office/drawing/2014/main" id="{91E0F99A-07E6-9F3C-B60A-8D2F5720F178}"/>
              </a:ext>
            </a:extLst>
          </p:cNvPr>
          <p:cNvSpPr txBox="1"/>
          <p:nvPr/>
        </p:nvSpPr>
        <p:spPr>
          <a:xfrm>
            <a:off x="9902953" y="4902032"/>
            <a:ext cx="784098" cy="369332"/>
          </a:xfrm>
          <a:prstGeom prst="rect">
            <a:avLst/>
          </a:prstGeom>
          <a:noFill/>
        </p:spPr>
        <p:txBody>
          <a:bodyPr wrap="square" rtlCol="0">
            <a:spAutoFit/>
          </a:bodyPr>
          <a:lstStyle/>
          <a:p>
            <a:r>
              <a:rPr lang="en-US" sz="900" dirty="0">
                <a:solidFill>
                  <a:srgbClr val="FF0000"/>
                </a:solidFill>
              </a:rPr>
              <a:t>*Not included BF</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4 · SOMERSET RAMA 9 BANGKOK (SR9)</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Rama 9 Bangkok (SR9) — RN and ADR by segment</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Monthly mix 2026 (left) · YTD share (right) · table: H1 room nights and ADR, 2026 vs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600200"/>
          <a:ext cx="6675120" cy="2514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nvGraphicFramePr>
        <p:xfrm>
          <a:off x="7635240" y="1600200"/>
          <a:ext cx="4023360" cy="2514600"/>
        </p:xfrm>
        <a:graphic>
          <a:graphicData uri="http://schemas.openxmlformats.org/drawingml/2006/chart">
            <c:chart xmlns:c="http://schemas.openxmlformats.org/drawingml/2006/chart" xmlns:r="http://schemas.openxmlformats.org/officeDocument/2006/relationships" r:id="rId4"/>
          </a:graphicData>
        </a:graphic>
      </p:graphicFrame>
      <p:sp>
        <p:nvSpPr>
          <p:cNvPr id="11" name="Rectangle 10">
            <a:extLst>
              <a:ext uri="{FF2B5EF4-FFF2-40B4-BE49-F238E27FC236}">
                <a16:creationId xmlns:a16="http://schemas.microsoft.com/office/drawing/2014/main" id="{AE1BFCA4-5141-101A-DA78-E0094FC6A4A0}"/>
              </a:ext>
            </a:extLst>
          </p:cNvPr>
          <p:cNvSpPr/>
          <p:nvPr/>
        </p:nvSpPr>
        <p:spPr>
          <a:xfrm>
            <a:off x="949071" y="5668280"/>
            <a:ext cx="10290810" cy="1060511"/>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chemeClr val="tx1"/>
                </a:solidFill>
              </a:rPr>
              <a:t>Around 30% mix of this property is corporate booking.</a:t>
            </a:r>
          </a:p>
          <a:p>
            <a:pPr marL="171450" indent="-171450">
              <a:buFont typeface="Arial" panose="020B0604020202020204" pitchFamily="34" charset="0"/>
              <a:buChar char="•"/>
            </a:pPr>
            <a:r>
              <a:rPr lang="en-US" sz="1200" dirty="0">
                <a:solidFill>
                  <a:schemeClr val="tx1"/>
                </a:solidFill>
              </a:rPr>
              <a:t>We can see the growth on the online booking also this year, </a:t>
            </a:r>
            <a:r>
              <a:rPr lang="en-US" sz="1200" dirty="0" err="1">
                <a:solidFill>
                  <a:schemeClr val="tx1"/>
                </a:solidFill>
              </a:rPr>
              <a:t>nowaday</a:t>
            </a:r>
            <a:r>
              <a:rPr lang="en-US" sz="1200" dirty="0">
                <a:solidFill>
                  <a:schemeClr val="tx1"/>
                </a:solidFill>
              </a:rPr>
              <a:t> there is some corporate business is mixed into OTA,</a:t>
            </a:r>
          </a:p>
          <a:p>
            <a:pPr marL="171450" indent="-171450">
              <a:buFont typeface="Arial" panose="020B0604020202020204" pitchFamily="34" charset="0"/>
              <a:buChar char="•"/>
            </a:pPr>
            <a:r>
              <a:rPr lang="en-US" sz="1200" dirty="0">
                <a:solidFill>
                  <a:schemeClr val="tx1"/>
                </a:solidFill>
              </a:rPr>
              <a:t>since B2B channels now book through the OTA as well.</a:t>
            </a:r>
          </a:p>
          <a:p>
            <a:pPr marL="171450" indent="-171450">
              <a:buFont typeface="Arial" panose="020B0604020202020204" pitchFamily="34" charset="0"/>
              <a:buChar char="•"/>
            </a:pPr>
            <a:endParaRPr lang="en-US" sz="1200" dirty="0">
              <a:solidFill>
                <a:schemeClr val="tx1"/>
              </a:solidFill>
            </a:endParaRPr>
          </a:p>
          <a:p>
            <a:pPr marL="171450" indent="-171450">
              <a:buFont typeface="Arial" panose="020B0604020202020204" pitchFamily="34" charset="0"/>
              <a:buChar char="•"/>
            </a:pPr>
            <a:r>
              <a:rPr lang="en-US" sz="1200" dirty="0">
                <a:solidFill>
                  <a:schemeClr val="tx1"/>
                </a:solidFill>
              </a:rPr>
              <a:t>We can see the growth of ASR booking as well </a:t>
            </a:r>
            <a:r>
              <a:rPr lang="en-US" sz="1200" dirty="0" err="1">
                <a:solidFill>
                  <a:schemeClr val="tx1"/>
                </a:solidFill>
              </a:rPr>
              <a:t>bu</a:t>
            </a:r>
            <a:r>
              <a:rPr lang="en-US" sz="1200" dirty="0">
                <a:solidFill>
                  <a:schemeClr val="tx1"/>
                </a:solidFill>
              </a:rPr>
              <a:t> cannot see the growth on ADR</a:t>
            </a:r>
          </a:p>
        </p:txBody>
      </p:sp>
      <p:graphicFrame>
        <p:nvGraphicFramePr>
          <p:cNvPr id="12" name="Table 11"/>
          <p:cNvGraphicFramePr>
            <a:graphicFrameLocks noGrp="1"/>
          </p:cNvGraphicFramePr>
          <p:nvPr>
            <p:extLst>
              <p:ext uri="{D42A27DB-BD31-4B8C-83A1-F6EECF244321}">
                <p14:modId xmlns:p14="http://schemas.microsoft.com/office/powerpoint/2010/main" val="3710255576"/>
              </p:ext>
            </p:extLst>
          </p:nvPr>
        </p:nvGraphicFramePr>
        <p:xfrm>
          <a:off x="548640" y="4142232"/>
          <a:ext cx="10290810" cy="1357884"/>
        </p:xfrm>
        <a:graphic>
          <a:graphicData uri="http://schemas.openxmlformats.org/drawingml/2006/table">
            <a:tbl>
              <a:tblPr>
                <a:tableStyleId>{5C22544A-7EE6-4342-B048-85BDC9FD1C3A}</a:tableStyleId>
              </a:tblPr>
              <a:tblGrid>
                <a:gridCol w="2058162">
                  <a:extLst>
                    <a:ext uri="{9D8B030D-6E8A-4147-A177-3AD203B41FA5}">
                      <a16:colId xmlns:a16="http://schemas.microsoft.com/office/drawing/2014/main" val="20000"/>
                    </a:ext>
                  </a:extLst>
                </a:gridCol>
                <a:gridCol w="1446276">
                  <a:extLst>
                    <a:ext uri="{9D8B030D-6E8A-4147-A177-3AD203B41FA5}">
                      <a16:colId xmlns:a16="http://schemas.microsoft.com/office/drawing/2014/main" val="20001"/>
                    </a:ext>
                  </a:extLst>
                </a:gridCol>
                <a:gridCol w="1446276">
                  <a:extLst>
                    <a:ext uri="{9D8B030D-6E8A-4147-A177-3AD203B41FA5}">
                      <a16:colId xmlns:a16="http://schemas.microsoft.com/office/drawing/2014/main" val="20002"/>
                    </a:ext>
                  </a:extLst>
                </a:gridCol>
                <a:gridCol w="1223772">
                  <a:extLst>
                    <a:ext uri="{9D8B030D-6E8A-4147-A177-3AD203B41FA5}">
                      <a16:colId xmlns:a16="http://schemas.microsoft.com/office/drawing/2014/main" val="20003"/>
                    </a:ext>
                  </a:extLst>
                </a:gridCol>
                <a:gridCol w="1446276">
                  <a:extLst>
                    <a:ext uri="{9D8B030D-6E8A-4147-A177-3AD203B41FA5}">
                      <a16:colId xmlns:a16="http://schemas.microsoft.com/office/drawing/2014/main" val="20005"/>
                    </a:ext>
                  </a:extLst>
                </a:gridCol>
                <a:gridCol w="1446276">
                  <a:extLst>
                    <a:ext uri="{9D8B030D-6E8A-4147-A177-3AD203B41FA5}">
                      <a16:colId xmlns:a16="http://schemas.microsoft.com/office/drawing/2014/main" val="20006"/>
                    </a:ext>
                  </a:extLst>
                </a:gridCol>
                <a:gridCol w="1223772">
                  <a:extLst>
                    <a:ext uri="{9D8B030D-6E8A-4147-A177-3AD203B41FA5}">
                      <a16:colId xmlns:a16="http://schemas.microsoft.com/office/drawing/2014/main" val="20007"/>
                    </a:ext>
                  </a:extLst>
                </a:gridCol>
              </a:tblGrid>
              <a:tr h="161612">
                <a:tc>
                  <a:txBody>
                    <a:bodyPr/>
                    <a:lstStyle/>
                    <a:p>
                      <a:pPr algn="l"/>
                      <a:r>
                        <a:rPr sz="950" b="1">
                          <a:solidFill>
                            <a:srgbClr val="FFFFFF"/>
                          </a:solidFill>
                          <a:latin typeface="Calibri"/>
                        </a:rPr>
                        <a:t>Segment (H1)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’25</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a:solidFill>
                        <a:srgbClr val="E2E7F2"/>
                      </a:solidFill>
                    </a:lnT>
                    <a:lnB w="6350" cap="flat" cmpd="sng" algn="ctr">
                      <a:solidFill>
                        <a:srgbClr val="E2E7F2"/>
                      </a:solidFill>
                      <a:prstDash val="solid"/>
                      <a:round/>
                      <a:headEnd type="none" w="med" len="med"/>
                      <a:tailEnd type="none" w="med" len="med"/>
                    </a:lnB>
                    <a:solidFill>
                      <a:srgbClr val="1E2761"/>
                    </a:solidFill>
                  </a:tcPr>
                </a:tc>
                <a:tc>
                  <a:txBody>
                    <a:bodyPr/>
                    <a:lstStyle/>
                    <a:p>
                      <a:pPr algn="r"/>
                      <a:r>
                        <a:rPr sz="950" b="1">
                          <a:solidFill>
                            <a:srgbClr val="FFFFFF"/>
                          </a:solidFill>
                          <a:latin typeface="Calibri"/>
                        </a:rPr>
                        <a:t>ADR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61612">
                <a:tc>
                  <a:txBody>
                    <a:bodyPr/>
                    <a:lstStyle/>
                    <a:p>
                      <a:pPr algn="l"/>
                      <a:r>
                        <a:rPr sz="1000" b="0">
                          <a:solidFill>
                            <a:srgbClr val="26292E"/>
                          </a:solidFill>
                          <a:latin typeface="Calibri"/>
                        </a:rPr>
                        <a:t>Corporate SS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10,039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9,290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2,735</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2,408</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-11.9%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61612">
                <a:tc>
                  <a:txBody>
                    <a:bodyPr/>
                    <a:lstStyle/>
                    <a:p>
                      <a:pPr algn="l"/>
                      <a:r>
                        <a:rPr sz="1000" b="0">
                          <a:solidFill>
                            <a:srgbClr val="26292E"/>
                          </a:solidFill>
                          <a:latin typeface="Calibri"/>
                        </a:rPr>
                        <a:t>Corporate LS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9,229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9,623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2,134</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1,994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-6.6%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61612">
                <a:tc>
                  <a:txBody>
                    <a:bodyPr/>
                    <a:lstStyle/>
                    <a:p>
                      <a:pPr algn="l"/>
                      <a:r>
                        <a:rPr sz="1000" b="1">
                          <a:solidFill>
                            <a:srgbClr val="26292E"/>
                          </a:solidFill>
                          <a:latin typeface="Calibri"/>
                        </a:rPr>
                        <a:t>Online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21,225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26292E"/>
                          </a:solidFill>
                          <a:latin typeface="Calibri"/>
                        </a:rPr>
                        <a:t>27,501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highlight>
                            <a:srgbClr val="FFFF00"/>
                          </a:highlight>
                          <a:latin typeface="Calibri"/>
                        </a:rPr>
                        <a:t>+30%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3,536</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dirty="0">
                          <a:solidFill>
                            <a:srgbClr val="26292E"/>
                          </a:solidFill>
                          <a:latin typeface="Calibri"/>
                        </a:rPr>
                        <a:t>3,043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-13.9%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61612">
                <a:tc>
                  <a:txBody>
                    <a:bodyPr/>
                    <a:lstStyle/>
                    <a:p>
                      <a:pPr algn="l"/>
                      <a:r>
                        <a:rPr sz="1000" b="0">
                          <a:solidFill>
                            <a:srgbClr val="26292E"/>
                          </a:solidFill>
                          <a:latin typeface="Calibri"/>
                        </a:rPr>
                        <a:t>ASR</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4,614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5,836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highlight>
                            <a:srgbClr val="FFFF00"/>
                          </a:highlight>
                          <a:latin typeface="Calibri"/>
                        </a:rPr>
                        <a:t>+26%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3,156</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dirty="0">
                          <a:solidFill>
                            <a:srgbClr val="26292E"/>
                          </a:solidFill>
                          <a:latin typeface="Calibri"/>
                        </a:rPr>
                        <a:t>2,889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-8.5%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r h="161612">
                <a:tc>
                  <a:txBody>
                    <a:bodyPr/>
                    <a:lstStyle/>
                    <a:p>
                      <a:pPr algn="l"/>
                      <a:r>
                        <a:rPr sz="1000" b="0">
                          <a:solidFill>
                            <a:srgbClr val="26292E"/>
                          </a:solidFill>
                          <a:latin typeface="Calibri"/>
                        </a:rPr>
                        <a:t>Wholesale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12,655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9,036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-29%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2,946</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3,003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+1.9%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5"/>
                  </a:ext>
                </a:extLst>
              </a:tr>
              <a:tr h="161612">
                <a:tc>
                  <a:txBody>
                    <a:bodyPr/>
                    <a:lstStyle/>
                    <a:p>
                      <a:pPr algn="l"/>
                      <a:r>
                        <a:rPr sz="1000" b="0">
                          <a:solidFill>
                            <a:srgbClr val="26292E"/>
                          </a:solidFill>
                          <a:latin typeface="Calibri"/>
                        </a:rPr>
                        <a:t>Group</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4,303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3,855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2,642</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2,069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-21.7%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6"/>
                  </a:ext>
                </a:extLst>
              </a:tr>
              <a:tr h="161612">
                <a:tc>
                  <a:txBody>
                    <a:bodyPr/>
                    <a:lstStyle/>
                    <a:p>
                      <a:pPr algn="l"/>
                      <a:r>
                        <a:rPr sz="1000" b="1">
                          <a:solidFill>
                            <a:srgbClr val="26292E"/>
                          </a:solidFill>
                          <a:latin typeface="Calibri"/>
                        </a:rPr>
                        <a:t>Total</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595959"/>
                          </a:solidFill>
                          <a:latin typeface="Calibri"/>
                        </a:rPr>
                        <a:t>62,101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65,175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latin typeface="Calibri"/>
                        </a:rPr>
                        <a:t>+5%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595959"/>
                          </a:solidFill>
                          <a:latin typeface="Calibri"/>
                        </a:rPr>
                        <a:t>2,987</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1000" b="1" dirty="0">
                          <a:solidFill>
                            <a:srgbClr val="26292E"/>
                          </a:solidFill>
                          <a:latin typeface="Calibri"/>
                        </a:rPr>
                        <a:t>2,721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-8.9%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4 · SOMERSET RAMA 9 BANGKOK (SR9)</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Rama 9 Bangkok (SR9) — P&amp;L, H1 2026</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YTD Jan–Jun vs MF budget · monthly P&amp;L: actual 2026 vs Budget (MF) and actual 2025 · ฿M</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3827511013"/>
              </p:ext>
            </p:extLst>
          </p:nvPr>
        </p:nvGraphicFramePr>
        <p:xfrm>
          <a:off x="548640" y="1560576"/>
          <a:ext cx="539496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3348928554"/>
              </p:ext>
            </p:extLst>
          </p:nvPr>
        </p:nvGraphicFramePr>
        <p:xfrm>
          <a:off x="338328" y="3794760"/>
          <a:ext cx="5394960" cy="2460244"/>
        </p:xfrm>
        <a:graphic>
          <a:graphicData uri="http://schemas.openxmlformats.org/drawingml/2006/table">
            <a:tbl>
              <a:tblPr/>
              <a:tblGrid>
                <a:gridCol w="932688">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841248">
                  <a:extLst>
                    <a:ext uri="{9D8B030D-6E8A-4147-A177-3AD203B41FA5}">
                      <a16:colId xmlns:a16="http://schemas.microsoft.com/office/drawing/2014/main" val="20007"/>
                    </a:ext>
                  </a:extLst>
                </a:gridCol>
              </a:tblGrid>
              <a:tr h="150876">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Jan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Feb</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Apr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May</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Jun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H1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Revenue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40.5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31.9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28.9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29.9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28.9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195.2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dirty="0">
                          <a:solidFill>
                            <a:srgbClr val="6B7280"/>
                          </a:solidFill>
                          <a:latin typeface="Calibri" pitchFamily="34" charset="0"/>
                          <a:ea typeface="Calibri" pitchFamily="34" charset="-122"/>
                          <a:cs typeface="Calibri" pitchFamily="34" charset="-120"/>
                        </a:rPr>
                        <a:t>Revenue </a:t>
                      </a:r>
                      <a:r>
                        <a:rPr lang="en-US" sz="750" b="0" dirty="0">
                          <a:solidFill>
                            <a:srgbClr val="6B7280"/>
                          </a:solidFill>
                          <a:latin typeface="Calibri" pitchFamily="34" charset="0"/>
                          <a:ea typeface="Calibri" pitchFamily="34" charset="-122"/>
                          <a:cs typeface="Calibri" pitchFamily="34" charset="-120"/>
                        </a:rPr>
                        <a:t>Budget</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44.3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37.8</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35.2</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32.7</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32.6</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31.4</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214.0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2633382220"/>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Revenue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37.0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36.8</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31.8</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29.1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28.5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196.3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-83.8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2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-92.3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5"/>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OPEX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-14.6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-14.1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-14.0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-84.3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24.2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20.2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18.1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111.4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21"/>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27.9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19.9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121.6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GOP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18.7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17.8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112.0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14.4</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6.6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54.7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22"/>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11.8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6.3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59.7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1"/>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EBIT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5.9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53.0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NPAT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-6.3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b="0" dirty="0">
                          <a:solidFill>
                            <a:srgbClr val="26292E"/>
                          </a:solidFill>
                          <a:latin typeface="Calibri" pitchFamily="34" charset="0"/>
                          <a:ea typeface="Calibri" pitchFamily="34" charset="-122"/>
                          <a:cs typeface="Calibri" pitchFamily="34" charset="-120"/>
                        </a:rPr>
                        <a:t>NPAT </a:t>
                      </a:r>
                      <a:r>
                        <a:rPr lang="en-US" sz="750" b="0" dirty="0">
                          <a:solidFill>
                            <a:srgbClr val="6B7280"/>
                          </a:solidFill>
                          <a:latin typeface="Calibri" pitchFamily="34" charset="0"/>
                          <a:ea typeface="Calibri" pitchFamily="34" charset="-122"/>
                          <a:cs typeface="Calibri" pitchFamily="34" charset="-120"/>
                        </a:rPr>
                        <a:t>Budget</a:t>
                      </a:r>
                      <a:endParaRPr lang="en-US" sz="750" b="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3.4</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-0.3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-2.5</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-3.9</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-4.3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-4.9</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-12.6</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3366140226"/>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NPAT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-1.3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-1.7</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-3.8</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-3.2</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-6.4</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755298128"/>
              </p:ext>
            </p:extLst>
          </p:nvPr>
        </p:nvGraphicFramePr>
        <p:xfrm>
          <a:off x="6094476" y="1441279"/>
          <a:ext cx="5545835" cy="2011680"/>
        </p:xfrm>
        <a:graphic>
          <a:graphicData uri="http://schemas.openxmlformats.org/drawingml/2006/table">
            <a:tbl>
              <a:tblPr/>
              <a:tblGrid>
                <a:gridCol w="989066">
                  <a:extLst>
                    <a:ext uri="{9D8B030D-6E8A-4147-A177-3AD203B41FA5}">
                      <a16:colId xmlns:a16="http://schemas.microsoft.com/office/drawing/2014/main" val="20000"/>
                    </a:ext>
                  </a:extLst>
                </a:gridCol>
                <a:gridCol w="671152">
                  <a:extLst>
                    <a:ext uri="{9D8B030D-6E8A-4147-A177-3AD203B41FA5}">
                      <a16:colId xmlns:a16="http://schemas.microsoft.com/office/drawing/2014/main" val="20001"/>
                    </a:ext>
                  </a:extLst>
                </a:gridCol>
                <a:gridCol w="671152">
                  <a:extLst>
                    <a:ext uri="{9D8B030D-6E8A-4147-A177-3AD203B41FA5}">
                      <a16:colId xmlns:a16="http://schemas.microsoft.com/office/drawing/2014/main" val="20002"/>
                    </a:ext>
                  </a:extLst>
                </a:gridCol>
                <a:gridCol w="706476">
                  <a:extLst>
                    <a:ext uri="{9D8B030D-6E8A-4147-A177-3AD203B41FA5}">
                      <a16:colId xmlns:a16="http://schemas.microsoft.com/office/drawing/2014/main" val="20003"/>
                    </a:ext>
                  </a:extLst>
                </a:gridCol>
                <a:gridCol w="635828">
                  <a:extLst>
                    <a:ext uri="{9D8B030D-6E8A-4147-A177-3AD203B41FA5}">
                      <a16:colId xmlns:a16="http://schemas.microsoft.com/office/drawing/2014/main" val="20004"/>
                    </a:ext>
                  </a:extLst>
                </a:gridCol>
                <a:gridCol w="653490">
                  <a:extLst>
                    <a:ext uri="{9D8B030D-6E8A-4147-A177-3AD203B41FA5}">
                      <a16:colId xmlns:a16="http://schemas.microsoft.com/office/drawing/2014/main" val="20005"/>
                    </a:ext>
                  </a:extLst>
                </a:gridCol>
                <a:gridCol w="600505">
                  <a:extLst>
                    <a:ext uri="{9D8B030D-6E8A-4147-A177-3AD203B41FA5}">
                      <a16:colId xmlns:a16="http://schemas.microsoft.com/office/drawing/2014/main" val="20006"/>
                    </a:ext>
                  </a:extLst>
                </a:gridCol>
                <a:gridCol w="618166">
                  <a:extLst>
                    <a:ext uri="{9D8B030D-6E8A-4147-A177-3AD203B41FA5}">
                      <a16:colId xmlns:a16="http://schemas.microsoft.com/office/drawing/2014/main" val="20007"/>
                    </a:ext>
                  </a:extLst>
                </a:gridCol>
              </a:tblGrid>
              <a:tr h="362312">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2026 (YTD)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Actual</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vs MF budget</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H1 2025</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vs H1 25</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vs H1 24</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Revenue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฿196.3M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฿214.0M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-8.3%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฿195.2M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E7D32"/>
                          </a:solidFill>
                          <a:latin typeface="Calibri" pitchFamily="34" charset="0"/>
                          <a:ea typeface="Calibri" pitchFamily="34" charset="-122"/>
                          <a:cs typeface="Calibri" pitchFamily="34" charset="-120"/>
                        </a:rPr>
                        <a:t>+0.6%</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฿223.9M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-12.3%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OPEX</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−฿84.3M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−฿92.3M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2E7D32"/>
                          </a:solidFill>
                          <a:latin typeface="Calibri" pitchFamily="34" charset="0"/>
                          <a:ea typeface="Calibri" pitchFamily="34" charset="-122"/>
                          <a:cs typeface="Calibri" pitchFamily="34" charset="-120"/>
                        </a:rPr>
                        <a:t>-8.7%</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−฿83.8M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+0.6%</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−฿93.1M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-9.5%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GOP</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฿112.0M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฿121.6M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-7.9%</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฿111.4M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+0.5%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6B7280"/>
                          </a:solidFill>
                          <a:latin typeface="Calibri" pitchFamily="34" charset="0"/>
                          <a:ea typeface="Calibri" pitchFamily="34" charset="-122"/>
                          <a:cs typeface="Calibri" pitchFamily="34" charset="-120"/>
                        </a:rPr>
                        <a:t>฿130.8M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-14.4%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GOP margin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57.1%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56.9%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27AE60"/>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57.1%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+0.0%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58.4%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JV expense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−฿59.0M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−฿61.9M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−฿56.7M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−฿59.3M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-0.5%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EBIT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1E2761"/>
                          </a:solidFill>
                          <a:latin typeface="Calibri" pitchFamily="34" charset="0"/>
                          <a:ea typeface="Calibri" pitchFamily="34" charset="-122"/>
                          <a:cs typeface="Calibri" pitchFamily="34" charset="-120"/>
                        </a:rPr>
                        <a:t>฿53.0M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฿59.7M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฿54.7M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฿71.5M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35624">
                <a:tc>
                  <a:txBody>
                    <a:bodyPr/>
                    <a:lstStyle/>
                    <a:p>
                      <a:pPr marL="0" indent="0">
                        <a:buNone/>
                      </a:pPr>
                      <a:r>
                        <a:rPr lang="en-US" sz="850" b="1">
                          <a:solidFill>
                            <a:srgbClr val="26292E"/>
                          </a:solidFill>
                          <a:latin typeface="Calibri" pitchFamily="34" charset="0"/>
                          <a:ea typeface="Calibri" pitchFamily="34" charset="-122"/>
                          <a:cs typeface="Calibri" pitchFamily="34" charset="-120"/>
                        </a:rPr>
                        <a:t>NPAT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1E2761"/>
                          </a:solidFill>
                          <a:latin typeface="Calibri" pitchFamily="34" charset="0"/>
                          <a:ea typeface="Calibri" pitchFamily="34" charset="-122"/>
                          <a:cs typeface="Calibri" pitchFamily="34" charset="-120"/>
                        </a:rPr>
                        <a:t>−฿6.4M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−฿12.6M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+49%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−฿13.1M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+51%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-260%</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4"/>
          <p:cNvSpPr/>
          <p:nvPr/>
        </p:nvSpPr>
        <p:spPr>
          <a:xfrm>
            <a:off x="6126480" y="3643884"/>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0" name="Text 5"/>
          <p:cNvSpPr/>
          <p:nvPr/>
        </p:nvSpPr>
        <p:spPr>
          <a:xfrm>
            <a:off x="6272784" y="3735324"/>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REVENUE H1 2026</a:t>
            </a:r>
            <a:endParaRPr lang="en-US" sz="1050"/>
          </a:p>
        </p:txBody>
      </p:sp>
      <p:sp>
        <p:nvSpPr>
          <p:cNvPr id="11" name="Text 6"/>
          <p:cNvSpPr/>
          <p:nvPr/>
        </p:nvSpPr>
        <p:spPr>
          <a:xfrm>
            <a:off x="6272784" y="3954780"/>
            <a:ext cx="2359152" cy="475488"/>
          </a:xfrm>
          <a:prstGeom prst="rect">
            <a:avLst/>
          </a:prstGeom>
          <a:noFill/>
          <a:ln/>
        </p:spPr>
        <p:txBody>
          <a:bodyPr wrap="square" lIns="0" tIns="0" rIns="0" bIns="0" rtlCol="0" anchor="ctr"/>
          <a:lstStyle/>
          <a:p>
            <a:pPr marL="0" indent="0">
              <a:buNone/>
            </a:pPr>
            <a:r>
              <a:rPr lang="en-US" sz="2400" b="1" dirty="0">
                <a:solidFill>
                  <a:srgbClr val="1E2761"/>
                </a:solidFill>
                <a:latin typeface="Calibri" pitchFamily="34" charset="0"/>
                <a:ea typeface="Calibri" pitchFamily="34" charset="-122"/>
                <a:cs typeface="Calibri" pitchFamily="34" charset="-120"/>
              </a:rPr>
              <a:t>฿196.3M</a:t>
            </a:r>
            <a:endParaRPr lang="en-US" sz="2400" dirty="0"/>
          </a:p>
        </p:txBody>
      </p:sp>
      <p:sp>
        <p:nvSpPr>
          <p:cNvPr id="12" name="Text 7"/>
          <p:cNvSpPr/>
          <p:nvPr/>
        </p:nvSpPr>
        <p:spPr>
          <a:xfrm>
            <a:off x="6272784" y="4411980"/>
            <a:ext cx="2359152" cy="384048"/>
          </a:xfrm>
          <a:prstGeom prst="rect">
            <a:avLst/>
          </a:prstGeom>
          <a:noFill/>
          <a:ln/>
        </p:spPr>
        <p:txBody>
          <a:bodyPr wrap="square" lIns="0" tIns="0" rIns="0" bIns="0" rtlCol="0" anchor="ctr"/>
          <a:lstStyle/>
          <a:p>
            <a:pPr marL="0" indent="0">
              <a:buNone/>
            </a:pPr>
            <a:r>
              <a:rPr lang="en-US" sz="1050">
                <a:solidFill>
                  <a:srgbClr val="2E7D32"/>
                </a:solidFill>
                <a:latin typeface="Calibri" pitchFamily="34" charset="0"/>
                <a:ea typeface="Calibri" pitchFamily="34" charset="-122"/>
                <a:cs typeface="Calibri" pitchFamily="34" charset="-120"/>
              </a:rPr>
              <a:t>+0.6% vs H1 2025</a:t>
            </a:r>
            <a:endParaRPr lang="en-US" sz="1050"/>
          </a:p>
        </p:txBody>
      </p:sp>
      <p:sp>
        <p:nvSpPr>
          <p:cNvPr id="13" name="Shape 8"/>
          <p:cNvSpPr/>
          <p:nvPr/>
        </p:nvSpPr>
        <p:spPr>
          <a:xfrm>
            <a:off x="8988552" y="3643884"/>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4" name="Text 9"/>
          <p:cNvSpPr/>
          <p:nvPr/>
        </p:nvSpPr>
        <p:spPr>
          <a:xfrm>
            <a:off x="9134856" y="3735324"/>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EBIT H1 2026</a:t>
            </a:r>
            <a:endParaRPr lang="en-US" sz="1050"/>
          </a:p>
        </p:txBody>
      </p:sp>
      <p:sp>
        <p:nvSpPr>
          <p:cNvPr id="15" name="Text 10"/>
          <p:cNvSpPr/>
          <p:nvPr/>
        </p:nvSpPr>
        <p:spPr>
          <a:xfrm>
            <a:off x="9134856" y="3954780"/>
            <a:ext cx="2359152" cy="475488"/>
          </a:xfrm>
          <a:prstGeom prst="rect">
            <a:avLst/>
          </a:prstGeom>
          <a:noFill/>
          <a:ln/>
        </p:spPr>
        <p:txBody>
          <a:bodyPr wrap="square" lIns="0" tIns="0" rIns="0" bIns="0" rtlCol="0" anchor="ctr"/>
          <a:lstStyle/>
          <a:p>
            <a:pPr marL="0" indent="0">
              <a:buNone/>
            </a:pPr>
            <a:r>
              <a:rPr lang="en-US" sz="2400" b="1" dirty="0">
                <a:solidFill>
                  <a:srgbClr val="1E2761"/>
                </a:solidFill>
                <a:latin typeface="Calibri" pitchFamily="34" charset="0"/>
                <a:ea typeface="Calibri" pitchFamily="34" charset="-122"/>
                <a:cs typeface="Calibri" pitchFamily="34" charset="-120"/>
              </a:rPr>
              <a:t>฿53.0M</a:t>
            </a:r>
            <a:endParaRPr lang="en-US" sz="2400" dirty="0"/>
          </a:p>
        </p:txBody>
      </p:sp>
      <p:sp>
        <p:nvSpPr>
          <p:cNvPr id="16" name="Text 11"/>
          <p:cNvSpPr/>
          <p:nvPr/>
        </p:nvSpPr>
        <p:spPr>
          <a:xfrm>
            <a:off x="9134856" y="4411980"/>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−฿1.7M vs H1 2025 (฿54.7M)</a:t>
            </a:r>
            <a:endParaRPr lang="en-US" sz="1050"/>
          </a:p>
        </p:txBody>
      </p:sp>
      <p:sp>
        <p:nvSpPr>
          <p:cNvPr id="8" name="Rectangle 7">
            <a:extLst>
              <a:ext uri="{FF2B5EF4-FFF2-40B4-BE49-F238E27FC236}">
                <a16:creationId xmlns:a16="http://schemas.microsoft.com/office/drawing/2014/main" id="{57654342-99F5-076C-3B36-DFD40188D595}"/>
              </a:ext>
            </a:extLst>
          </p:cNvPr>
          <p:cNvSpPr/>
          <p:nvPr/>
        </p:nvSpPr>
        <p:spPr>
          <a:xfrm>
            <a:off x="6126481" y="4993265"/>
            <a:ext cx="5545836" cy="1739125"/>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Key takeaway : On revenue, H1 is better than last year +0.6%, but OPEX use more than LY  +0.6% resulting Gop is similar to LY</a:t>
            </a:r>
          </a:p>
          <a:p>
            <a:pPr algn="ctr"/>
            <a:r>
              <a:rPr lang="en-US" sz="1200" dirty="0">
                <a:solidFill>
                  <a:schemeClr val="tx1"/>
                </a:solidFill>
              </a:rPr>
              <a:t>EBIT comes in below LY (−฿1.7M,-3.2%). on the other hand,</a:t>
            </a:r>
          </a:p>
          <a:p>
            <a:pPr algn="ctr"/>
            <a:r>
              <a:rPr lang="en-US" sz="1200" dirty="0">
                <a:solidFill>
                  <a:schemeClr val="tx1"/>
                </a:solidFill>
              </a:rPr>
              <a:t>NPAT is better than LY (Due to last year H1 write off)</a:t>
            </a:r>
          </a:p>
          <a:p>
            <a:pPr algn="ctr"/>
            <a:endParaRPr lang="en-US" sz="1200" dirty="0">
              <a:solidFill>
                <a:schemeClr val="tx1"/>
              </a:solidFill>
            </a:endParaRPr>
          </a:p>
          <a:p>
            <a:pPr algn="ctr"/>
            <a:r>
              <a:rPr lang="en-US" sz="1200" dirty="0">
                <a:solidFill>
                  <a:schemeClr val="bg1"/>
                </a:solidFill>
              </a:rPr>
              <a:t>Compare to BG Revenue side shortfall to BG.</a:t>
            </a:r>
            <a:r>
              <a:rPr lang="th-TH" sz="1200" dirty="0">
                <a:solidFill>
                  <a:schemeClr val="bg1"/>
                </a:solidFill>
              </a:rPr>
              <a:t> </a:t>
            </a:r>
            <a:r>
              <a:rPr lang="en-US" sz="1200" dirty="0">
                <a:solidFill>
                  <a:schemeClr val="bg1"/>
                </a:solidFill>
              </a:rPr>
              <a:t>Manage OPEX better -8.7%</a:t>
            </a:r>
          </a:p>
          <a:p>
            <a:pPr algn="ctr"/>
            <a:r>
              <a:rPr lang="en-US" sz="1200" dirty="0">
                <a:solidFill>
                  <a:schemeClr val="bg1"/>
                </a:solidFill>
              </a:rPr>
              <a:t>However Gop cannot reach the </a:t>
            </a:r>
            <a:r>
              <a:rPr lang="en-US" sz="1200" dirty="0" err="1">
                <a:solidFill>
                  <a:schemeClr val="bg1"/>
                </a:solidFill>
              </a:rPr>
              <a:t>bg</a:t>
            </a:r>
            <a:r>
              <a:rPr lang="en-US" sz="1200" dirty="0">
                <a:solidFill>
                  <a:schemeClr val="bg1"/>
                </a:solidFill>
              </a:rPr>
              <a:t> due to the revenue shortfall.</a:t>
            </a:r>
            <a:endParaRPr lang="en-US" sz="1200" dirty="0">
              <a:solidFill>
                <a:schemeClr val="bg1"/>
              </a:solidFill>
              <a:ea typeface="Calibri"/>
              <a:cs typeface="Calibri"/>
            </a:endParaRPr>
          </a:p>
          <a:p>
            <a:pPr algn="ctr"/>
            <a:r>
              <a:rPr lang="en-US" sz="1200" dirty="0">
                <a:solidFill>
                  <a:schemeClr val="bg1"/>
                </a:solidFill>
              </a:rPr>
              <a:t>EBIT is shortfall -11.3% But NPAT can +6.2 M</a:t>
            </a:r>
          </a:p>
          <a:p>
            <a:pPr algn="ctr"/>
            <a:r>
              <a:rPr lang="en-US" sz="1050" dirty="0">
                <a:solidFill>
                  <a:schemeClr val="bg1"/>
                </a:solidFill>
              </a:rPr>
              <a:t>(Due to in the MF projection we assume that we will DAT writ off in Q1-Q2 but </a:t>
            </a:r>
            <a:r>
              <a:rPr lang="en-US" sz="1050" dirty="0" err="1">
                <a:solidFill>
                  <a:schemeClr val="bg1"/>
                </a:solidFill>
              </a:rPr>
              <a:t>did’t</a:t>
            </a:r>
            <a:r>
              <a:rPr lang="en-US" sz="1050" dirty="0">
                <a:solidFill>
                  <a:schemeClr val="bg1"/>
                </a:solidFill>
              </a:rPr>
              <a:t> do it yet.)</a:t>
            </a:r>
            <a:endParaRPr lang="en-US" sz="1050" dirty="0">
              <a:solidFill>
                <a:schemeClr val="bg1"/>
              </a:solidFill>
              <a:ea typeface="Calibri"/>
              <a:cs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5</a:t>
            </a:r>
            <a:endParaRPr lang="en-US" sz="9600"/>
          </a:p>
        </p:txBody>
      </p:sp>
      <p:sp>
        <p:nvSpPr>
          <p:cNvPr id="3" name="Text 1"/>
          <p:cNvSpPr/>
          <p:nvPr/>
        </p:nvSpPr>
        <p:spPr>
          <a:xfrm>
            <a:off x="2514600" y="2286000"/>
            <a:ext cx="8778240" cy="914400"/>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Ascott Embassy Sathorn (AES)</a:t>
            </a:r>
            <a:endParaRPr lang="en-US" sz="4000"/>
          </a:p>
        </p:txBody>
      </p:sp>
      <p:sp>
        <p:nvSpPr>
          <p:cNvPr id="4" name="Text 2"/>
          <p:cNvSpPr/>
          <p:nvPr/>
        </p:nvSpPr>
        <p:spPr>
          <a:xfrm>
            <a:off x="2542032" y="3246120"/>
            <a:ext cx="8412480" cy="822960"/>
          </a:xfrm>
          <a:prstGeom prst="rect">
            <a:avLst/>
          </a:prstGeom>
          <a:noFill/>
          <a:ln/>
        </p:spPr>
        <p:txBody>
          <a:bodyPr wrap="square" lIns="0" tIns="0" rIns="0" bIns="0" rtlCol="0" anchor="ctr"/>
          <a:lstStyle/>
          <a:p>
            <a:pPr marL="0" indent="0">
              <a:buNone/>
            </a:pPr>
            <a:r>
              <a:rPr lang="en-US" sz="1400">
                <a:solidFill>
                  <a:srgbClr val="AFC0E8"/>
                </a:solidFill>
                <a:latin typeface="Calibri" pitchFamily="34" charset="0"/>
                <a:ea typeface="Calibri" pitchFamily="34" charset="-122"/>
                <a:cs typeface="Calibri" pitchFamily="34" charset="-120"/>
              </a:rPr>
              <a:t>P&amp;L (EBIT) · Performance vs budget · Segmentation · Guest nationality</a:t>
            </a:r>
            <a:endParaRPr lang="en-US" sz="1400"/>
          </a:p>
        </p:txBody>
      </p:sp>
      <p:sp>
        <p:nvSpPr>
          <p:cNvPr id="5" name="Text 3"/>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5 · ASCOTT EMBASSY SATHORN (AES)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Ascott Embassy Sathorn (AES)</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403 keys · monthly + YTD Jan–Jun · actual vs MF Projection and actual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662619336"/>
              </p:ext>
            </p:extLst>
          </p:nvPr>
        </p:nvGraphicFramePr>
        <p:xfrm>
          <a:off x="548640" y="1450407"/>
          <a:ext cx="7223760" cy="187451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912079832"/>
              </p:ext>
            </p:extLst>
          </p:nvPr>
        </p:nvGraphicFramePr>
        <p:xfrm>
          <a:off x="548640" y="3379790"/>
          <a:ext cx="7223760" cy="2286000"/>
        </p:xfrm>
        <a:graphic>
          <a:graphicData uri="http://schemas.openxmlformats.org/drawingml/2006/table">
            <a:tbl>
              <a:tblPr/>
              <a:tblGrid>
                <a:gridCol w="1325880">
                  <a:extLst>
                    <a:ext uri="{9D8B030D-6E8A-4147-A177-3AD203B41FA5}">
                      <a16:colId xmlns:a16="http://schemas.microsoft.com/office/drawing/2014/main" val="20000"/>
                    </a:ext>
                  </a:extLst>
                </a:gridCol>
                <a:gridCol w="795528">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795528">
                  <a:extLst>
                    <a:ext uri="{9D8B030D-6E8A-4147-A177-3AD203B41FA5}">
                      <a16:colId xmlns:a16="http://schemas.microsoft.com/office/drawing/2014/main" val="20004"/>
                    </a:ext>
                  </a:extLst>
                </a:gridCol>
                <a:gridCol w="795528">
                  <a:extLst>
                    <a:ext uri="{9D8B030D-6E8A-4147-A177-3AD203B41FA5}">
                      <a16:colId xmlns:a16="http://schemas.microsoft.com/office/drawing/2014/main" val="20005"/>
                    </a:ext>
                  </a:extLst>
                </a:gridCol>
                <a:gridCol w="795528">
                  <a:extLst>
                    <a:ext uri="{9D8B030D-6E8A-4147-A177-3AD203B41FA5}">
                      <a16:colId xmlns:a16="http://schemas.microsoft.com/office/drawing/2014/main" val="20006"/>
                    </a:ext>
                  </a:extLst>
                </a:gridCol>
                <a:gridCol w="1124712">
                  <a:extLst>
                    <a:ext uri="{9D8B030D-6E8A-4147-A177-3AD203B41FA5}">
                      <a16:colId xmlns:a16="http://schemas.microsoft.com/office/drawing/2014/main" val="20007"/>
                    </a:ext>
                  </a:extLst>
                </a:gridCol>
              </a:tblGrid>
              <a:tr h="187452">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H1 2026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Jan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Feb</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Apr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May</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Jun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YTD</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81.3%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76.4%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57.4%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63.9%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62.3%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67.9%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24"/>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76.6%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80.9%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70.0%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68.9%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69.0%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71.6%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23"/>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Occupancy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75.3%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92.4%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74.5%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64.0%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58.2%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59.9%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70.4%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4,191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3,938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3,539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3,684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3,299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3,366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3,698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26"/>
                  </a:ext>
                </a:extLst>
              </a:tr>
              <a:tr h="187452">
                <a:tc>
                  <a:txBody>
                    <a:bodyPr/>
                    <a:lstStyle/>
                    <a:p>
                      <a:pPr marL="0" indent="0">
                        <a:buNone/>
                      </a:pPr>
                      <a:r>
                        <a:rPr lang="en-US" sz="900" b="0" dirty="0">
                          <a:solidFill>
                            <a:srgbClr val="595959"/>
                          </a:solidFill>
                          <a:latin typeface="Calibri" pitchFamily="34" charset="0"/>
                          <a:ea typeface="Calibri" pitchFamily="34" charset="-122"/>
                          <a:cs typeface="Calibri" pitchFamily="34" charset="-120"/>
                        </a:rPr>
                        <a:t>ADR Budget</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3,857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3,903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3,536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3,727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3,357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3,441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3,645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25"/>
                  </a:ext>
                </a:extLst>
              </a:tr>
              <a:tr h="187452">
                <a:tc>
                  <a:txBody>
                    <a:bodyPr/>
                    <a:lstStyle/>
                    <a:p>
                      <a:pPr marL="0" indent="0">
                        <a:buNone/>
                      </a:pPr>
                      <a:r>
                        <a:rPr lang="en-US" sz="900" b="1" dirty="0">
                          <a:solidFill>
                            <a:srgbClr val="26292E"/>
                          </a:solidFill>
                          <a:latin typeface="Calibri" pitchFamily="34" charset="0"/>
                          <a:ea typeface="Calibri" pitchFamily="34" charset="-122"/>
                          <a:cs typeface="Calibri" pitchFamily="34" charset="-120"/>
                        </a:rPr>
                        <a:t>ADR ’26</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3,781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3,755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3,283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3,408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3,200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3,331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3,484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3,408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dirty="0">
                          <a:solidFill>
                            <a:srgbClr val="595959"/>
                          </a:solidFill>
                          <a:latin typeface="Calibri" pitchFamily="34" charset="0"/>
                          <a:ea typeface="Calibri" pitchFamily="34" charset="-122"/>
                          <a:cs typeface="Calibri" pitchFamily="34" charset="-120"/>
                        </a:rPr>
                        <a:t>3,007</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2,352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2,193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2,097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2,510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28"/>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2,955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3,157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2,298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2,609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2,312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2,375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2,610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27"/>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RevPAR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2,847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3,468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2,447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2,182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1,861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1,994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dirty="0">
                          <a:solidFill>
                            <a:srgbClr val="1E2761"/>
                          </a:solidFill>
                          <a:latin typeface="Calibri" pitchFamily="34" charset="0"/>
                          <a:ea typeface="Calibri" pitchFamily="34" charset="-122"/>
                          <a:cs typeface="Calibri" pitchFamily="34" charset="-120"/>
                        </a:rPr>
                        <a:t>2,454</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4"/>
          <p:cNvSpPr/>
          <p:nvPr/>
        </p:nvSpPr>
        <p:spPr>
          <a:xfrm>
            <a:off x="8092440" y="1298814"/>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9" name="Text 5"/>
          <p:cNvSpPr/>
          <p:nvPr/>
        </p:nvSpPr>
        <p:spPr>
          <a:xfrm>
            <a:off x="8238744" y="1390254"/>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OCCUPANCY · YTD</a:t>
            </a:r>
            <a:endParaRPr lang="en-US" sz="1050"/>
          </a:p>
        </p:txBody>
      </p:sp>
      <p:sp>
        <p:nvSpPr>
          <p:cNvPr id="10" name="Text 6"/>
          <p:cNvSpPr/>
          <p:nvPr/>
        </p:nvSpPr>
        <p:spPr>
          <a:xfrm>
            <a:off x="8238744" y="1609710"/>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70.4%</a:t>
            </a:r>
            <a:endParaRPr lang="en-US" sz="2400"/>
          </a:p>
        </p:txBody>
      </p:sp>
      <p:sp>
        <p:nvSpPr>
          <p:cNvPr id="11" name="Text 7"/>
          <p:cNvSpPr/>
          <p:nvPr/>
        </p:nvSpPr>
        <p:spPr>
          <a:xfrm>
            <a:off x="8238744" y="2066910"/>
            <a:ext cx="3227832" cy="438912"/>
          </a:xfrm>
          <a:prstGeom prst="rect">
            <a:avLst/>
          </a:prstGeom>
          <a:noFill/>
          <a:ln/>
        </p:spPr>
        <p:txBody>
          <a:bodyPr wrap="square" lIns="0" tIns="0" rIns="0" bIns="0" rtlCol="0" anchor="ctr"/>
          <a:lstStyle/>
          <a:p>
            <a:pPr marL="0" indent="0">
              <a:buNone/>
            </a:pPr>
            <a:r>
              <a:rPr lang="en-US" sz="1050" dirty="0">
                <a:solidFill>
                  <a:srgbClr val="C0392B"/>
                </a:solidFill>
                <a:latin typeface="Calibri" pitchFamily="34" charset="0"/>
                <a:ea typeface="Calibri" pitchFamily="34" charset="-122"/>
                <a:cs typeface="Calibri" pitchFamily="34" charset="-120"/>
              </a:rPr>
              <a:t>-1.7% vs budget</a:t>
            </a:r>
            <a:r>
              <a:rPr lang="en-US" sz="1050" dirty="0">
                <a:solidFill>
                  <a:srgbClr val="6B7280"/>
                </a:solidFill>
                <a:latin typeface="Calibri" pitchFamily="34" charset="0"/>
                <a:ea typeface="Calibri" pitchFamily="34" charset="-122"/>
                <a:cs typeface="Calibri" pitchFamily="34" charset="-120"/>
              </a:rPr>
              <a:t> · </a:t>
            </a:r>
            <a:r>
              <a:rPr lang="en-US" sz="1050" dirty="0">
                <a:solidFill>
                  <a:srgbClr val="2E7D32"/>
                </a:solidFill>
                <a:latin typeface="Calibri" pitchFamily="34" charset="0"/>
                <a:ea typeface="Calibri" pitchFamily="34" charset="-122"/>
                <a:cs typeface="Calibri" pitchFamily="34" charset="-120"/>
              </a:rPr>
              <a:t> +3.8% vs LY</a:t>
            </a:r>
            <a:endParaRPr lang="en-US" sz="1050" dirty="0"/>
          </a:p>
        </p:txBody>
      </p:sp>
      <p:sp>
        <p:nvSpPr>
          <p:cNvPr id="12" name="Shape 8"/>
          <p:cNvSpPr/>
          <p:nvPr/>
        </p:nvSpPr>
        <p:spPr>
          <a:xfrm>
            <a:off x="8092440" y="2706990"/>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3" name="Text 9"/>
          <p:cNvSpPr/>
          <p:nvPr/>
        </p:nvSpPr>
        <p:spPr>
          <a:xfrm>
            <a:off x="8238744" y="2798430"/>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ADR · YTD</a:t>
            </a:r>
            <a:endParaRPr lang="en-US" sz="1050"/>
          </a:p>
        </p:txBody>
      </p:sp>
      <p:sp>
        <p:nvSpPr>
          <p:cNvPr id="14" name="Text 10"/>
          <p:cNvSpPr/>
          <p:nvPr/>
        </p:nvSpPr>
        <p:spPr>
          <a:xfrm>
            <a:off x="8238744" y="3017886"/>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฿3,484</a:t>
            </a:r>
            <a:endParaRPr lang="en-US" sz="2400"/>
          </a:p>
        </p:txBody>
      </p:sp>
      <p:sp>
        <p:nvSpPr>
          <p:cNvPr id="15" name="Text 11"/>
          <p:cNvSpPr/>
          <p:nvPr/>
        </p:nvSpPr>
        <p:spPr>
          <a:xfrm>
            <a:off x="8238744" y="3475086"/>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-4.4%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-5.8% vs LY</a:t>
            </a:r>
            <a:endParaRPr lang="en-US" sz="1050"/>
          </a:p>
        </p:txBody>
      </p:sp>
      <p:sp>
        <p:nvSpPr>
          <p:cNvPr id="16" name="Shape 12"/>
          <p:cNvSpPr/>
          <p:nvPr/>
        </p:nvSpPr>
        <p:spPr>
          <a:xfrm>
            <a:off x="8092440" y="4115166"/>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7" name="Text 13"/>
          <p:cNvSpPr/>
          <p:nvPr/>
        </p:nvSpPr>
        <p:spPr>
          <a:xfrm>
            <a:off x="8238744" y="4206606"/>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REVPAR · YTD</a:t>
            </a:r>
            <a:endParaRPr lang="en-US" sz="1050"/>
          </a:p>
        </p:txBody>
      </p:sp>
      <p:sp>
        <p:nvSpPr>
          <p:cNvPr id="18" name="Text 14"/>
          <p:cNvSpPr/>
          <p:nvPr/>
        </p:nvSpPr>
        <p:spPr>
          <a:xfrm>
            <a:off x="8238744" y="4426062"/>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฿2,454</a:t>
            </a:r>
            <a:endParaRPr lang="en-US" sz="2400"/>
          </a:p>
        </p:txBody>
      </p:sp>
      <p:sp>
        <p:nvSpPr>
          <p:cNvPr id="19" name="Text 15"/>
          <p:cNvSpPr/>
          <p:nvPr/>
        </p:nvSpPr>
        <p:spPr>
          <a:xfrm>
            <a:off x="8238744" y="4883262"/>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-6.0%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-2.2% vs LY</a:t>
            </a:r>
            <a:endParaRPr lang="en-US" sz="1050"/>
          </a:p>
        </p:txBody>
      </p:sp>
      <p:graphicFrame>
        <p:nvGraphicFramePr>
          <p:cNvPr id="910" name="Table 8"/>
          <p:cNvGraphicFramePr>
            <a:graphicFrameLocks noGrp="1"/>
          </p:cNvGraphicFramePr>
          <p:nvPr>
            <p:extLst>
              <p:ext uri="{D42A27DB-BD31-4B8C-83A1-F6EECF244321}">
                <p14:modId xmlns:p14="http://schemas.microsoft.com/office/powerpoint/2010/main" val="1695904667"/>
              </p:ext>
            </p:extLst>
          </p:nvPr>
        </p:nvGraphicFramePr>
        <p:xfrm>
          <a:off x="548640" y="5722435"/>
          <a:ext cx="7254240" cy="438912"/>
        </p:xfrm>
        <a:graphic>
          <a:graphicData uri="http://schemas.openxmlformats.org/drawingml/2006/table">
            <a:tbl>
              <a:tblPr firstRow="1" bandRow="1">
                <a:tableStyleId>{5C22544A-7EE6-4342-B048-85BDC9FD1C3A}</a:tableStyleId>
              </a:tblPr>
              <a:tblGrid>
                <a:gridCol w="1109244">
                  <a:extLst>
                    <a:ext uri="{9D8B030D-6E8A-4147-A177-3AD203B41FA5}">
                      <a16:colId xmlns:a16="http://schemas.microsoft.com/office/drawing/2014/main" val="20001"/>
                    </a:ext>
                  </a:extLst>
                </a:gridCol>
                <a:gridCol w="729275">
                  <a:extLst>
                    <a:ext uri="{9D8B030D-6E8A-4147-A177-3AD203B41FA5}">
                      <a16:colId xmlns:a16="http://schemas.microsoft.com/office/drawing/2014/main" val="20002"/>
                    </a:ext>
                  </a:extLst>
                </a:gridCol>
                <a:gridCol w="724419">
                  <a:extLst>
                    <a:ext uri="{9D8B030D-6E8A-4147-A177-3AD203B41FA5}">
                      <a16:colId xmlns:a16="http://schemas.microsoft.com/office/drawing/2014/main" val="20003"/>
                    </a:ext>
                  </a:extLst>
                </a:gridCol>
                <a:gridCol w="1129387">
                  <a:extLst>
                    <a:ext uri="{9D8B030D-6E8A-4147-A177-3AD203B41FA5}">
                      <a16:colId xmlns:a16="http://schemas.microsoft.com/office/drawing/2014/main" val="20004"/>
                    </a:ext>
                  </a:extLst>
                </a:gridCol>
                <a:gridCol w="1042511">
                  <a:extLst>
                    <a:ext uri="{9D8B030D-6E8A-4147-A177-3AD203B41FA5}">
                      <a16:colId xmlns:a16="http://schemas.microsoft.com/office/drawing/2014/main" val="20005"/>
                    </a:ext>
                  </a:extLst>
                </a:gridCol>
                <a:gridCol w="1259702">
                  <a:extLst>
                    <a:ext uri="{9D8B030D-6E8A-4147-A177-3AD203B41FA5}">
                      <a16:colId xmlns:a16="http://schemas.microsoft.com/office/drawing/2014/main" val="20006"/>
                    </a:ext>
                  </a:extLst>
                </a:gridCol>
                <a:gridCol w="1259702">
                  <a:extLst>
                    <a:ext uri="{9D8B030D-6E8A-4147-A177-3AD203B41FA5}">
                      <a16:colId xmlns:a16="http://schemas.microsoft.com/office/drawing/2014/main" val="20007"/>
                    </a:ext>
                  </a:extLst>
                </a:gridCol>
              </a:tblGrid>
              <a:tr h="219456">
                <a:tc>
                  <a:txBody>
                    <a:bodyPr/>
                    <a:lstStyle/>
                    <a:p>
                      <a:r>
                        <a:rPr sz="800" b="1">
                          <a:solidFill>
                            <a:srgbClr val="FFFFFF"/>
                          </a:solidFill>
                          <a:latin typeface="Calibri"/>
                        </a:rPr>
                        <a:t>Series</a:t>
                      </a:r>
                    </a:p>
                  </a:txBody>
                  <a:tcPr>
                    <a:solidFill>
                      <a:srgbClr val="1E2761"/>
                    </a:solidFill>
                  </a:tcPr>
                </a:tc>
                <a:tc>
                  <a:txBody>
                    <a:bodyPr/>
                    <a:lstStyle/>
                    <a:p>
                      <a:r>
                        <a:rPr sz="800" b="1">
                          <a:solidFill>
                            <a:srgbClr val="FFFFFF"/>
                          </a:solidFill>
                          <a:latin typeface="Calibri"/>
                        </a:rPr>
                        <a:t>Occ H1</a:t>
                      </a:r>
                    </a:p>
                  </a:txBody>
                  <a:tcPr>
                    <a:solidFill>
                      <a:srgbClr val="1E2761"/>
                    </a:solidFill>
                  </a:tcPr>
                </a:tc>
                <a:tc>
                  <a:txBody>
                    <a:bodyPr/>
                    <a:lstStyle/>
                    <a:p>
                      <a:r>
                        <a:rPr sz="800" b="1">
                          <a:solidFill>
                            <a:srgbClr val="FFFFFF"/>
                          </a:solidFill>
                          <a:latin typeface="Calibri"/>
                        </a:rPr>
                        <a:t>Occ vs LY</a:t>
                      </a:r>
                    </a:p>
                  </a:txBody>
                  <a:tcPr>
                    <a:solidFill>
                      <a:srgbClr val="1E2761"/>
                    </a:solidFill>
                  </a:tcPr>
                </a:tc>
                <a:tc>
                  <a:txBody>
                    <a:bodyPr/>
                    <a:lstStyle/>
                    <a:p>
                      <a:r>
                        <a:rPr sz="800" b="1">
                          <a:solidFill>
                            <a:srgbClr val="FFFFFF"/>
                          </a:solidFill>
                          <a:latin typeface="Calibri"/>
                        </a:rPr>
                        <a:t>ADR H1 (฿)</a:t>
                      </a:r>
                    </a:p>
                  </a:txBody>
                  <a:tcPr>
                    <a:solidFill>
                      <a:srgbClr val="1E2761"/>
                    </a:solidFill>
                  </a:tcPr>
                </a:tc>
                <a:tc>
                  <a:txBody>
                    <a:bodyPr/>
                    <a:lstStyle/>
                    <a:p>
                      <a:r>
                        <a:rPr sz="800" b="1">
                          <a:solidFill>
                            <a:srgbClr val="FFFFFF"/>
                          </a:solidFill>
                          <a:latin typeface="Calibri"/>
                        </a:rPr>
                        <a:t>ADR vs LY</a:t>
                      </a:r>
                    </a:p>
                  </a:txBody>
                  <a:tcPr>
                    <a:solidFill>
                      <a:srgbClr val="1E2761"/>
                    </a:solidFill>
                  </a:tcPr>
                </a:tc>
                <a:tc>
                  <a:txBody>
                    <a:bodyPr/>
                    <a:lstStyle/>
                    <a:p>
                      <a:r>
                        <a:rPr sz="800" b="1">
                          <a:solidFill>
                            <a:srgbClr val="FFFFFF"/>
                          </a:solidFill>
                          <a:latin typeface="Calibri"/>
                        </a:rPr>
                        <a:t>RevPAR H1 (฿)</a:t>
                      </a:r>
                    </a:p>
                  </a:txBody>
                  <a:tcPr>
                    <a:solidFill>
                      <a:srgbClr val="1E2761"/>
                    </a:solidFill>
                  </a:tcPr>
                </a:tc>
                <a:tc>
                  <a:txBody>
                    <a:bodyPr/>
                    <a:lstStyle/>
                    <a:p>
                      <a:r>
                        <a:rPr sz="800" b="1">
                          <a:solidFill>
                            <a:srgbClr val="FFFFFF"/>
                          </a:solidFill>
                          <a:latin typeface="Calibri"/>
                        </a:rPr>
                        <a:t>RevPAR vs LY</a:t>
                      </a:r>
                    </a:p>
                  </a:txBody>
                  <a:tcPr>
                    <a:solidFill>
                      <a:srgbClr val="1E2761"/>
                    </a:solidFill>
                  </a:tcPr>
                </a:tc>
                <a:extLst>
                  <a:ext uri="{0D108BD9-81ED-4DB2-BD59-A6C34878D82A}">
                    <a16:rowId xmlns:a16="http://schemas.microsoft.com/office/drawing/2014/main" val="10000"/>
                  </a:ext>
                </a:extLst>
              </a:tr>
              <a:tr h="219456">
                <a:tc>
                  <a:txBody>
                    <a:bodyPr/>
                    <a:lstStyle/>
                    <a:p>
                      <a:r>
                        <a:rPr lang="en-US" sz="800" b="1">
                          <a:solidFill>
                            <a:srgbClr val="26292E"/>
                          </a:solidFill>
                          <a:latin typeface="+mn-lt"/>
                        </a:rPr>
                        <a:t>Sathorn </a:t>
                      </a:r>
                      <a:r>
                        <a:rPr sz="800" b="1">
                          <a:solidFill>
                            <a:srgbClr val="26292E"/>
                          </a:solidFill>
                          <a:latin typeface="Calibri"/>
                        </a:rPr>
                        <a:t>Comp set</a:t>
                      </a:r>
                    </a:p>
                  </a:txBody>
                  <a:tcPr>
                    <a:solidFill>
                      <a:srgbClr val="FFFFFF"/>
                    </a:solidFill>
                  </a:tcPr>
                </a:tc>
                <a:tc>
                  <a:txBody>
                    <a:bodyPr/>
                    <a:lstStyle/>
                    <a:p>
                      <a:r>
                        <a:rPr sz="800" b="0">
                          <a:solidFill>
                            <a:srgbClr val="6B7280"/>
                          </a:solidFill>
                          <a:latin typeface="Calibri"/>
                        </a:rPr>
                        <a:t>65.2%</a:t>
                      </a:r>
                    </a:p>
                  </a:txBody>
                  <a:tcPr>
                    <a:solidFill>
                      <a:srgbClr val="FFFFFF"/>
                    </a:solidFill>
                  </a:tcPr>
                </a:tc>
                <a:tc>
                  <a:txBody>
                    <a:bodyPr/>
                    <a:lstStyle/>
                    <a:p>
                      <a:r>
                        <a:rPr sz="800" b="0">
                          <a:solidFill>
                            <a:srgbClr val="C0392B"/>
                          </a:solidFill>
                          <a:latin typeface="Calibri"/>
                        </a:rPr>
                        <a:t>-5.3%</a:t>
                      </a:r>
                    </a:p>
                  </a:txBody>
                  <a:tcPr>
                    <a:solidFill>
                      <a:srgbClr val="FFFFFF"/>
                    </a:solidFill>
                  </a:tcPr>
                </a:tc>
                <a:tc>
                  <a:txBody>
                    <a:bodyPr/>
                    <a:lstStyle/>
                    <a:p>
                      <a:r>
                        <a:rPr sz="800" b="0">
                          <a:solidFill>
                            <a:srgbClr val="6B7280"/>
                          </a:solidFill>
                          <a:latin typeface="Calibri"/>
                        </a:rPr>
                        <a:t>3,328</a:t>
                      </a:r>
                    </a:p>
                  </a:txBody>
                  <a:tcPr>
                    <a:solidFill>
                      <a:srgbClr val="FFFFFF"/>
                    </a:solidFill>
                  </a:tcPr>
                </a:tc>
                <a:tc>
                  <a:txBody>
                    <a:bodyPr/>
                    <a:lstStyle/>
                    <a:p>
                      <a:r>
                        <a:rPr sz="800" b="0">
                          <a:solidFill>
                            <a:srgbClr val="C0392B"/>
                          </a:solidFill>
                          <a:latin typeface="Calibri"/>
                        </a:rPr>
                        <a:t>-2.4%</a:t>
                      </a:r>
                    </a:p>
                  </a:txBody>
                  <a:tcPr>
                    <a:solidFill>
                      <a:srgbClr val="FFFFFF"/>
                    </a:solidFill>
                  </a:tcPr>
                </a:tc>
                <a:tc>
                  <a:txBody>
                    <a:bodyPr/>
                    <a:lstStyle/>
                    <a:p>
                      <a:r>
                        <a:rPr sz="800" b="0" dirty="0">
                          <a:solidFill>
                            <a:srgbClr val="6B7280"/>
                          </a:solidFill>
                          <a:latin typeface="Calibri"/>
                        </a:rPr>
                        <a:t>2,170</a:t>
                      </a:r>
                    </a:p>
                  </a:txBody>
                  <a:tcPr>
                    <a:solidFill>
                      <a:srgbClr val="FFFFFF"/>
                    </a:solidFill>
                  </a:tcPr>
                </a:tc>
                <a:tc>
                  <a:txBody>
                    <a:bodyPr/>
                    <a:lstStyle/>
                    <a:p>
                      <a:r>
                        <a:rPr sz="800" b="0" dirty="0">
                          <a:solidFill>
                            <a:srgbClr val="C0392B"/>
                          </a:solidFill>
                          <a:latin typeface="Calibri"/>
                        </a:rPr>
                        <a:t>-7.6%</a:t>
                      </a:r>
                    </a:p>
                  </a:txBody>
                  <a:tcPr>
                    <a:solidFill>
                      <a:srgbClr val="FFFFFF"/>
                    </a:solidFill>
                  </a:tcPr>
                </a:tc>
                <a:extLst>
                  <a:ext uri="{0D108BD9-81ED-4DB2-BD59-A6C34878D82A}">
                    <a16:rowId xmlns:a16="http://schemas.microsoft.com/office/drawing/2014/main" val="10004"/>
                  </a:ext>
                </a:extLst>
              </a:tr>
            </a:tbl>
          </a:graphicData>
        </a:graphic>
      </p:graphicFrame>
      <p:sp>
        <p:nvSpPr>
          <p:cNvPr id="21" name="Rectangle 20">
            <a:extLst>
              <a:ext uri="{FF2B5EF4-FFF2-40B4-BE49-F238E27FC236}">
                <a16:creationId xmlns:a16="http://schemas.microsoft.com/office/drawing/2014/main" id="{3042657A-38F5-05E9-69C0-CC8F0E5684DA}"/>
              </a:ext>
            </a:extLst>
          </p:cNvPr>
          <p:cNvSpPr/>
          <p:nvPr/>
        </p:nvSpPr>
        <p:spPr>
          <a:xfrm>
            <a:off x="8060437" y="5467746"/>
            <a:ext cx="3520440" cy="1182620"/>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chemeClr val="tx1"/>
                </a:solidFill>
                <a:latin typeface="Calibri" pitchFamily="34" charset="0"/>
                <a:ea typeface="Calibri" pitchFamily="34" charset="-122"/>
                <a:cs typeface="Calibri" pitchFamily="34" charset="-120"/>
              </a:rPr>
              <a:t>Key takeaway: Vs last year, AES did well on occupancy (+3.8%) but could not yield ADR, turning RevPAR −2.2% below LY.</a:t>
            </a:r>
          </a:p>
          <a:p>
            <a:r>
              <a:rPr sz="1200" dirty="0">
                <a:latin typeface="Calibri"/>
              </a:rPr>
              <a:t>Vs the MF budget: occupancy fell −1.7% short and ADR −4.4%, so RevPAR lands −6.0% below budget.</a:t>
            </a:r>
          </a:p>
        </p:txBody>
      </p:sp>
      <p:sp>
        <p:nvSpPr>
          <p:cNvPr id="23" name="Star: 5 Points 22">
            <a:extLst>
              <a:ext uri="{FF2B5EF4-FFF2-40B4-BE49-F238E27FC236}">
                <a16:creationId xmlns:a16="http://schemas.microsoft.com/office/drawing/2014/main" id="{5D852618-9757-829B-F4B2-86B28B79343D}"/>
              </a:ext>
            </a:extLst>
          </p:cNvPr>
          <p:cNvSpPr/>
          <p:nvPr/>
        </p:nvSpPr>
        <p:spPr>
          <a:xfrm>
            <a:off x="2360519" y="2326633"/>
            <a:ext cx="117761" cy="123258"/>
          </a:xfrm>
          <a:prstGeom prst="star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ACDB09A-B544-49E2-864F-2528EDEBF468}"/>
              </a:ext>
            </a:extLst>
          </p:cNvPr>
          <p:cNvSpPr txBox="1"/>
          <p:nvPr/>
        </p:nvSpPr>
        <p:spPr>
          <a:xfrm>
            <a:off x="2422733" y="2279721"/>
            <a:ext cx="982766" cy="261610"/>
          </a:xfrm>
          <a:prstGeom prst="rect">
            <a:avLst/>
          </a:prstGeom>
          <a:noFill/>
        </p:spPr>
        <p:txBody>
          <a:bodyPr wrap="square" rtlCol="0">
            <a:spAutoFit/>
          </a:bodyPr>
          <a:lstStyle/>
          <a:p>
            <a:r>
              <a:rPr lang="en-US" sz="1100">
                <a:solidFill>
                  <a:srgbClr val="FF0000"/>
                </a:solidFill>
              </a:rPr>
              <a:t>CNY</a:t>
            </a:r>
            <a:endParaRPr lang="en-US">
              <a:solidFill>
                <a:srgbClr val="FF000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5 · ASCOTT EMBASSY SATHORN (AES)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Ascott Embassy Sathorn (AES) — RN and ADR by nationality (H1)</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Top 10 nationalities · H1 room nights 26 vs 25 (chart) · table: room nights + ADR (RN-weighted H1) with change</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37360"/>
          <a:ext cx="5029200" cy="44348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00" name="Table 0"/>
          <p:cNvGraphicFramePr>
            <a:graphicFrameLocks noGrp="1"/>
          </p:cNvGraphicFramePr>
          <p:nvPr>
            <p:extLst>
              <p:ext uri="{D42A27DB-BD31-4B8C-83A1-F6EECF244321}">
                <p14:modId xmlns:p14="http://schemas.microsoft.com/office/powerpoint/2010/main" val="2001449107"/>
              </p:ext>
            </p:extLst>
          </p:nvPr>
        </p:nvGraphicFramePr>
        <p:xfrm>
          <a:off x="5623560" y="1497467"/>
          <a:ext cx="6144768" cy="3094969"/>
        </p:xfrm>
        <a:graphic>
          <a:graphicData uri="http://schemas.openxmlformats.org/drawingml/2006/table">
            <a:tbl>
              <a:tblPr/>
              <a:tblGrid>
                <a:gridCol w="1170432">
                  <a:extLst>
                    <a:ext uri="{9D8B030D-6E8A-4147-A177-3AD203B41FA5}">
                      <a16:colId xmlns:a16="http://schemas.microsoft.com/office/drawing/2014/main" val="20000"/>
                    </a:ext>
                  </a:extLst>
                </a:gridCol>
                <a:gridCol w="539869">
                  <a:extLst>
                    <a:ext uri="{9D8B030D-6E8A-4147-A177-3AD203B41FA5}">
                      <a16:colId xmlns:a16="http://schemas.microsoft.com/office/drawing/2014/main" val="20001"/>
                    </a:ext>
                  </a:extLst>
                </a:gridCol>
                <a:gridCol w="662474">
                  <a:extLst>
                    <a:ext uri="{9D8B030D-6E8A-4147-A177-3AD203B41FA5}">
                      <a16:colId xmlns:a16="http://schemas.microsoft.com/office/drawing/2014/main" val="20002"/>
                    </a:ext>
                  </a:extLst>
                </a:gridCol>
                <a:gridCol w="615820">
                  <a:extLst>
                    <a:ext uri="{9D8B030D-6E8A-4147-A177-3AD203B41FA5}">
                      <a16:colId xmlns:a16="http://schemas.microsoft.com/office/drawing/2014/main" val="20003"/>
                    </a:ext>
                  </a:extLst>
                </a:gridCol>
                <a:gridCol w="632429">
                  <a:extLst>
                    <a:ext uri="{9D8B030D-6E8A-4147-A177-3AD203B41FA5}">
                      <a16:colId xmlns:a16="http://schemas.microsoft.com/office/drawing/2014/main" val="20004"/>
                    </a:ext>
                  </a:extLst>
                </a:gridCol>
                <a:gridCol w="676656">
                  <a:extLst>
                    <a:ext uri="{9D8B030D-6E8A-4147-A177-3AD203B41FA5}">
                      <a16:colId xmlns:a16="http://schemas.microsoft.com/office/drawing/2014/main" val="900029"/>
                    </a:ext>
                  </a:extLst>
                </a:gridCol>
                <a:gridCol w="676656">
                  <a:extLst>
                    <a:ext uri="{9D8B030D-6E8A-4147-A177-3AD203B41FA5}">
                      <a16:colId xmlns:a16="http://schemas.microsoft.com/office/drawing/2014/main" val="900030"/>
                    </a:ext>
                  </a:extLst>
                </a:gridCol>
                <a:gridCol w="640080">
                  <a:extLst>
                    <a:ext uri="{9D8B030D-6E8A-4147-A177-3AD203B41FA5}">
                      <a16:colId xmlns:a16="http://schemas.microsoft.com/office/drawing/2014/main" val="950002"/>
                    </a:ext>
                  </a:extLst>
                </a:gridCol>
                <a:gridCol w="530352">
                  <a:extLst>
                    <a:ext uri="{9D8B030D-6E8A-4147-A177-3AD203B41FA5}">
                      <a16:colId xmlns:a16="http://schemas.microsoft.com/office/drawing/2014/main" val="900031"/>
                    </a:ext>
                  </a:extLst>
                </a:gridCol>
              </a:tblGrid>
              <a:tr h="278617">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Nationality</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China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16,921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18,613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7AE60"/>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3,472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3,219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-253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Japan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2,723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3,600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27AE60"/>
                          </a:solidFill>
                          <a:latin typeface="Calibri" pitchFamily="34" charset="0"/>
                          <a:ea typeface="Calibri" pitchFamily="34" charset="-122"/>
                          <a:cs typeface="Calibri" pitchFamily="34" charset="-120"/>
                        </a:rPr>
                        <a:t>+877</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+32%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6B7280"/>
                          </a:solidFill>
                          <a:latin typeface="Calibri" pitchFamily="34" charset="0"/>
                          <a:ea typeface="Calibri" pitchFamily="34" charset="-122"/>
                          <a:cs typeface="Calibri" pitchFamily="34" charset="-120"/>
                        </a:rPr>
                        <a:t>3,092</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2,751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Finland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highlight>
                            <a:srgbClr val="FFFF00"/>
                          </a:highlight>
                          <a:latin typeface="Calibri" pitchFamily="34" charset="0"/>
                          <a:ea typeface="Calibri" pitchFamily="34" charset="-122"/>
                          <a:cs typeface="Calibri" pitchFamily="34" charset="-120"/>
                        </a:rPr>
                        <a:t>55</a:t>
                      </a:r>
                      <a:endParaRPr lang="en-US" sz="85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highlight>
                            <a:srgbClr val="FFFF00"/>
                          </a:highlight>
                          <a:latin typeface="Calibri" pitchFamily="34" charset="0"/>
                          <a:ea typeface="Calibri" pitchFamily="34" charset="-122"/>
                          <a:cs typeface="Calibri" pitchFamily="34" charset="-120"/>
                        </a:rPr>
                        <a:t>2,922</a:t>
                      </a:r>
                      <a:endParaRPr lang="en-US" sz="85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7AE60"/>
                          </a:solidFill>
                          <a:highlight>
                            <a:srgbClr val="FFFF00"/>
                          </a:highlight>
                          <a:latin typeface="Calibri" pitchFamily="34" charset="0"/>
                          <a:ea typeface="Calibri" pitchFamily="34" charset="-122"/>
                          <a:cs typeface="Calibri" pitchFamily="34" charset="-120"/>
                        </a:rPr>
                        <a:t>+2,867</a:t>
                      </a:r>
                      <a:endParaRPr lang="en-US" sz="850" dirty="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7AE60"/>
                          </a:solidFill>
                          <a:highlight>
                            <a:srgbClr val="FFFF00"/>
                          </a:highlight>
                          <a:latin typeface="Calibri" pitchFamily="34" charset="0"/>
                          <a:ea typeface="Calibri" pitchFamily="34" charset="-122"/>
                          <a:cs typeface="Calibri" pitchFamily="34" charset="-120"/>
                        </a:rPr>
                        <a:t>+5213%</a:t>
                      </a:r>
                      <a:endParaRPr lang="en-US" sz="850" dirty="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highlight>
                            <a:srgbClr val="FFFF00"/>
                          </a:highlight>
                          <a:latin typeface="Calibri" pitchFamily="34" charset="0"/>
                          <a:ea typeface="Calibri" pitchFamily="34" charset="-122"/>
                          <a:cs typeface="Calibri" pitchFamily="34" charset="-120"/>
                        </a:rPr>
                        <a:t>4,730</a:t>
                      </a:r>
                      <a:endParaRPr lang="en-US" sz="85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highlight>
                            <a:srgbClr val="FFFF00"/>
                          </a:highlight>
                          <a:latin typeface="Calibri" pitchFamily="34" charset="0"/>
                          <a:ea typeface="Calibri" pitchFamily="34" charset="-122"/>
                          <a:cs typeface="Calibri" pitchFamily="34" charset="-120"/>
                        </a:rPr>
                        <a:t>2,403</a:t>
                      </a:r>
                      <a:endParaRPr lang="en-US" sz="85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highlight>
                            <a:srgbClr val="FFFF00"/>
                          </a:highlight>
                          <a:latin typeface="Calibri" pitchFamily="34" charset="0"/>
                          <a:ea typeface="Calibri" pitchFamily="34" charset="-122"/>
                          <a:cs typeface="Calibri" pitchFamily="34" charset="-120"/>
                        </a:rPr>
                        <a:t>-2,326</a:t>
                      </a:r>
                      <a:endParaRPr lang="en-US" sz="85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highlight>
                            <a:srgbClr val="FFFF00"/>
                          </a:highlight>
                          <a:latin typeface="Calibri" pitchFamily="34" charset="0"/>
                          <a:ea typeface="Calibri" pitchFamily="34" charset="-122"/>
                          <a:cs typeface="Calibri" pitchFamily="34" charset="-120"/>
                        </a:rPr>
                        <a:t>-49%</a:t>
                      </a:r>
                      <a:endParaRPr lang="en-US" sz="850">
                        <a:highlight>
                          <a:srgbClr val="FFFF00"/>
                        </a:highlight>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Singapore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2,263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1,934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-329</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3,081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3,152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+71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USA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2,078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1,818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-260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C0392B"/>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3,639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3,648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Thailand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1,524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1,625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+101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3,532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3,463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-69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Germany</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1,536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1,526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C0392B"/>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3,858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3,297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-562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UK</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1,153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1,385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27AE60"/>
                          </a:solidFill>
                          <a:latin typeface="Calibri" pitchFamily="34" charset="0"/>
                          <a:ea typeface="Calibri" pitchFamily="34" charset="-122"/>
                          <a:cs typeface="Calibri" pitchFamily="34" charset="-120"/>
                        </a:rPr>
                        <a:t>+232</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27AE60"/>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4,387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3,370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-1,016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8"/>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Korea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2,214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1,304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-910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C0392B"/>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3,735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3,691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-44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Taiwan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1,426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1,216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4,407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3,364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-1,043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256032">
                <a:tc>
                  <a:txBody>
                    <a:bodyPr/>
                    <a:lstStyle/>
                    <a:p>
                      <a:pPr marL="0" indent="0">
                        <a:buNone/>
                      </a:pPr>
                      <a:r>
                        <a:rPr lang="en-US" sz="850" b="1">
                          <a:solidFill>
                            <a:srgbClr val="1E2761"/>
                          </a:solidFill>
                          <a:latin typeface="Calibri" pitchFamily="34" charset="0"/>
                          <a:ea typeface="Calibri" pitchFamily="34" charset="-122"/>
                          <a:cs typeface="Calibri" pitchFamily="34" charset="-120"/>
                        </a:rPr>
                        <a:t>Top-10 total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31,893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35,943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+4,050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6B7280"/>
                          </a:solidFill>
                          <a:latin typeface="Calibri" pitchFamily="34" charset="0"/>
                          <a:ea typeface="Calibri" pitchFamily="34" charset="-122"/>
                          <a:cs typeface="Calibri" pitchFamily="34" charset="-120"/>
                        </a:rPr>
                        <a:t>3,539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3,166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-373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extLst>
                  <a:ext uri="{0D108BD9-81ED-4DB2-BD59-A6C34878D82A}">
                    <a16:rowId xmlns:a16="http://schemas.microsoft.com/office/drawing/2014/main" val="10011"/>
                  </a:ext>
                </a:extLst>
              </a:tr>
            </a:tbl>
          </a:graphicData>
        </a:graphic>
      </p:graphicFrame>
      <p:sp>
        <p:nvSpPr>
          <p:cNvPr id="10" name="Rectangle 9">
            <a:extLst>
              <a:ext uri="{FF2B5EF4-FFF2-40B4-BE49-F238E27FC236}">
                <a16:creationId xmlns:a16="http://schemas.microsoft.com/office/drawing/2014/main" id="{237B99E0-1A5C-40A8-3BAC-0D81FAEFE87E}"/>
              </a:ext>
            </a:extLst>
          </p:cNvPr>
          <p:cNvSpPr/>
          <p:nvPr/>
        </p:nvSpPr>
        <p:spPr>
          <a:xfrm>
            <a:off x="5623560" y="4839513"/>
            <a:ext cx="6144768" cy="957783"/>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Top three : China Japan and Finland</a:t>
            </a:r>
          </a:p>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Guest mix in AES try to </a:t>
            </a:r>
            <a:r>
              <a:rPr lang="en-US" sz="1200" dirty="0">
                <a:solidFill>
                  <a:schemeClr val="tx1"/>
                </a:solidFill>
              </a:rPr>
              <a:t>diversify other nationalities.</a:t>
            </a:r>
            <a:endParaRPr lang="en-US" sz="1200" i="1" dirty="0">
              <a:solidFill>
                <a:schemeClr val="tx1"/>
              </a:solidFill>
              <a:latin typeface="Calibri" pitchFamily="34" charset="0"/>
              <a:ea typeface="Calibri" pitchFamily="34" charset="-122"/>
              <a:cs typeface="Calibri" pitchFamily="34" charset="-120"/>
            </a:endParaRPr>
          </a:p>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Biggest H1 gain: Finland (+2,867 RN, from just 55 last year) </a:t>
            </a:r>
          </a:p>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biggest decline: Korea (−910 RN).</a:t>
            </a:r>
            <a:endParaRPr lang="en-US" sz="1200" dirty="0">
              <a:solidFill>
                <a:schemeClr val="tx1"/>
              </a:solidFill>
            </a:endParaRPr>
          </a:p>
        </p:txBody>
      </p:sp>
      <p:sp>
        <p:nvSpPr>
          <p:cNvPr id="8" name="TextBox 7">
            <a:extLst>
              <a:ext uri="{FF2B5EF4-FFF2-40B4-BE49-F238E27FC236}">
                <a16:creationId xmlns:a16="http://schemas.microsoft.com/office/drawing/2014/main" id="{1A3BDAA7-0CA8-D415-B5EB-F239636C9D48}"/>
              </a:ext>
            </a:extLst>
          </p:cNvPr>
          <p:cNvSpPr txBox="1"/>
          <p:nvPr/>
        </p:nvSpPr>
        <p:spPr>
          <a:xfrm>
            <a:off x="9800316" y="1128135"/>
            <a:ext cx="784098" cy="369332"/>
          </a:xfrm>
          <a:prstGeom prst="rect">
            <a:avLst/>
          </a:prstGeom>
          <a:noFill/>
        </p:spPr>
        <p:txBody>
          <a:bodyPr wrap="square" rtlCol="0">
            <a:spAutoFit/>
          </a:bodyPr>
          <a:lstStyle/>
          <a:p>
            <a:r>
              <a:rPr lang="en-US" sz="900">
                <a:solidFill>
                  <a:srgbClr val="FF0000"/>
                </a:solidFill>
              </a:rPr>
              <a:t>*Not included BF</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5 · ASCOTT EMBASSY SATHORN (AES)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Ascott Embassy Sathorn (AES) — RN and ADR by segment</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Monthly mix 2026 (left) · YTD share (right) · table: H1 room nights and ADR, 2026 vs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600200"/>
          <a:ext cx="6675120" cy="2514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nvGraphicFramePr>
        <p:xfrm>
          <a:off x="7635240" y="1600200"/>
          <a:ext cx="4023360" cy="25146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558183636"/>
              </p:ext>
            </p:extLst>
          </p:nvPr>
        </p:nvGraphicFramePr>
        <p:xfrm>
          <a:off x="606668" y="4169663"/>
          <a:ext cx="11033643" cy="1357884"/>
        </p:xfrm>
        <a:graphic>
          <a:graphicData uri="http://schemas.openxmlformats.org/drawingml/2006/table">
            <a:tbl>
              <a:tblPr>
                <a:tableStyleId>{5C22544A-7EE6-4342-B048-85BDC9FD1C3A}</a:tableStyleId>
              </a:tblPr>
              <a:tblGrid>
                <a:gridCol w="2206729">
                  <a:extLst>
                    <a:ext uri="{9D8B030D-6E8A-4147-A177-3AD203B41FA5}">
                      <a16:colId xmlns:a16="http://schemas.microsoft.com/office/drawing/2014/main" val="20000"/>
                    </a:ext>
                  </a:extLst>
                </a:gridCol>
                <a:gridCol w="1550674">
                  <a:extLst>
                    <a:ext uri="{9D8B030D-6E8A-4147-A177-3AD203B41FA5}">
                      <a16:colId xmlns:a16="http://schemas.microsoft.com/office/drawing/2014/main" val="20001"/>
                    </a:ext>
                  </a:extLst>
                </a:gridCol>
                <a:gridCol w="1550674">
                  <a:extLst>
                    <a:ext uri="{9D8B030D-6E8A-4147-A177-3AD203B41FA5}">
                      <a16:colId xmlns:a16="http://schemas.microsoft.com/office/drawing/2014/main" val="20002"/>
                    </a:ext>
                  </a:extLst>
                </a:gridCol>
                <a:gridCol w="1312109">
                  <a:extLst>
                    <a:ext uri="{9D8B030D-6E8A-4147-A177-3AD203B41FA5}">
                      <a16:colId xmlns:a16="http://schemas.microsoft.com/office/drawing/2014/main" val="20003"/>
                    </a:ext>
                  </a:extLst>
                </a:gridCol>
                <a:gridCol w="1550674">
                  <a:extLst>
                    <a:ext uri="{9D8B030D-6E8A-4147-A177-3AD203B41FA5}">
                      <a16:colId xmlns:a16="http://schemas.microsoft.com/office/drawing/2014/main" val="20005"/>
                    </a:ext>
                  </a:extLst>
                </a:gridCol>
                <a:gridCol w="1550674">
                  <a:extLst>
                    <a:ext uri="{9D8B030D-6E8A-4147-A177-3AD203B41FA5}">
                      <a16:colId xmlns:a16="http://schemas.microsoft.com/office/drawing/2014/main" val="20006"/>
                    </a:ext>
                  </a:extLst>
                </a:gridCol>
                <a:gridCol w="1312109">
                  <a:extLst>
                    <a:ext uri="{9D8B030D-6E8A-4147-A177-3AD203B41FA5}">
                      <a16:colId xmlns:a16="http://schemas.microsoft.com/office/drawing/2014/main" val="20007"/>
                    </a:ext>
                  </a:extLst>
                </a:gridCol>
              </a:tblGrid>
              <a:tr h="134554">
                <a:tc>
                  <a:txBody>
                    <a:bodyPr/>
                    <a:lstStyle/>
                    <a:p>
                      <a:pPr algn="l"/>
                      <a:r>
                        <a:rPr sz="950" b="1">
                          <a:solidFill>
                            <a:srgbClr val="FFFFFF"/>
                          </a:solidFill>
                          <a:latin typeface="Calibri"/>
                        </a:rPr>
                        <a:t>Segment (H1)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’25</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a:solidFill>
                        <a:srgbClr val="E2E7F2"/>
                      </a:solidFill>
                    </a:lnT>
                    <a:lnB w="6350" cap="flat" cmpd="sng" algn="ctr">
                      <a:solidFill>
                        <a:srgbClr val="E2E7F2"/>
                      </a:solidFill>
                      <a:prstDash val="solid"/>
                      <a:round/>
                      <a:headEnd type="none" w="med" len="med"/>
                      <a:tailEnd type="none" w="med" len="med"/>
                    </a:lnB>
                    <a:solidFill>
                      <a:srgbClr val="1E2761"/>
                    </a:solidFill>
                  </a:tcPr>
                </a:tc>
                <a:tc>
                  <a:txBody>
                    <a:bodyPr/>
                    <a:lstStyle/>
                    <a:p>
                      <a:pPr algn="r"/>
                      <a:r>
                        <a:rPr sz="950" b="1">
                          <a:solidFill>
                            <a:srgbClr val="FFFFFF"/>
                          </a:solidFill>
                          <a:latin typeface="Calibri"/>
                        </a:rPr>
                        <a:t>ADR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34554">
                <a:tc>
                  <a:txBody>
                    <a:bodyPr/>
                    <a:lstStyle/>
                    <a:p>
                      <a:pPr algn="l"/>
                      <a:r>
                        <a:rPr sz="1000" b="0">
                          <a:solidFill>
                            <a:srgbClr val="26292E"/>
                          </a:solidFill>
                          <a:latin typeface="Calibri"/>
                        </a:rPr>
                        <a:t>Corporate SS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3,545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5,187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+46%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3,967</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3,486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-12.1%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34554">
                <a:tc>
                  <a:txBody>
                    <a:bodyPr/>
                    <a:lstStyle/>
                    <a:p>
                      <a:pPr algn="l"/>
                      <a:r>
                        <a:rPr sz="1000" b="0">
                          <a:solidFill>
                            <a:srgbClr val="26292E"/>
                          </a:solidFill>
                          <a:latin typeface="Calibri"/>
                        </a:rPr>
                        <a:t>Corporate LS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9,699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13,096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+35%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2,558</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highlight>
                            <a:srgbClr val="FFFF00"/>
                          </a:highlight>
                          <a:latin typeface="Calibri"/>
                        </a:rPr>
                        <a:t>2,506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highlight>
                            <a:srgbClr val="FFFF00"/>
                          </a:highlight>
                          <a:latin typeface="Calibri"/>
                        </a:rPr>
                        <a:t>-2.0%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34554">
                <a:tc>
                  <a:txBody>
                    <a:bodyPr/>
                    <a:lstStyle/>
                    <a:p>
                      <a:pPr algn="l"/>
                      <a:r>
                        <a:rPr sz="1000" b="1">
                          <a:solidFill>
                            <a:srgbClr val="26292E"/>
                          </a:solidFill>
                          <a:latin typeface="Calibri"/>
                        </a:rPr>
                        <a:t>Online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18,378</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16,928</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-8%</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4,365</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3,883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-11.0%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34554">
                <a:tc>
                  <a:txBody>
                    <a:bodyPr/>
                    <a:lstStyle/>
                    <a:p>
                      <a:pPr algn="l"/>
                      <a:r>
                        <a:rPr sz="1000" b="0" dirty="0">
                          <a:solidFill>
                            <a:srgbClr val="26292E"/>
                          </a:solidFill>
                          <a:latin typeface="Calibri"/>
                        </a:rPr>
                        <a:t>ASR</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3,034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26292E"/>
                          </a:solidFill>
                          <a:latin typeface="Calibri"/>
                        </a:rPr>
                        <a:t>4,536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latin typeface="Calibri"/>
                        </a:rPr>
                        <a:t>+50%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4,379</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dirty="0">
                          <a:solidFill>
                            <a:srgbClr val="26292E"/>
                          </a:solidFill>
                          <a:latin typeface="Calibri"/>
                        </a:rPr>
                        <a:t>3,830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-12.5%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r h="134554">
                <a:tc>
                  <a:txBody>
                    <a:bodyPr/>
                    <a:lstStyle/>
                    <a:p>
                      <a:pPr algn="l"/>
                      <a:r>
                        <a:rPr sz="1000" b="0">
                          <a:solidFill>
                            <a:srgbClr val="26292E"/>
                          </a:solidFill>
                          <a:latin typeface="Calibri"/>
                        </a:rPr>
                        <a:t>Wholesale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12,794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8,131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3,387</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dirty="0">
                          <a:solidFill>
                            <a:srgbClr val="26292E"/>
                          </a:solidFill>
                          <a:latin typeface="Calibri"/>
                        </a:rPr>
                        <a:t>3,297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-2.7%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5"/>
                  </a:ext>
                </a:extLst>
              </a:tr>
              <a:tr h="134554">
                <a:tc>
                  <a:txBody>
                    <a:bodyPr/>
                    <a:lstStyle/>
                    <a:p>
                      <a:pPr algn="l"/>
                      <a:r>
                        <a:rPr sz="1000" b="0">
                          <a:solidFill>
                            <a:srgbClr val="26292E"/>
                          </a:solidFill>
                          <a:latin typeface="Calibri"/>
                        </a:rPr>
                        <a:t>Group</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721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2,056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latin typeface="Calibri"/>
                        </a:rPr>
                        <a:t>+185%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3,486</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highlight>
                            <a:srgbClr val="FFFF00"/>
                          </a:highlight>
                          <a:latin typeface="Calibri"/>
                        </a:rPr>
                        <a:t>2,572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highlight>
                            <a:srgbClr val="FFFF00"/>
                          </a:highlight>
                          <a:latin typeface="Calibri"/>
                        </a:rPr>
                        <a:t>-26.2%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6"/>
                  </a:ext>
                </a:extLst>
              </a:tr>
              <a:tr h="113285">
                <a:tc>
                  <a:txBody>
                    <a:bodyPr/>
                    <a:lstStyle/>
                    <a:p>
                      <a:pPr algn="l"/>
                      <a:r>
                        <a:rPr sz="1000" b="1">
                          <a:solidFill>
                            <a:srgbClr val="26292E"/>
                          </a:solidFill>
                          <a:latin typeface="Calibri"/>
                        </a:rPr>
                        <a:t>Total</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595959"/>
                          </a:solidFill>
                          <a:latin typeface="Calibri"/>
                        </a:rPr>
                        <a:t>48,277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50,123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595959"/>
                          </a:solidFill>
                          <a:latin typeface="Calibri"/>
                        </a:rPr>
                        <a:t>3,698</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1000" b="1">
                          <a:solidFill>
                            <a:srgbClr val="26292E"/>
                          </a:solidFill>
                          <a:latin typeface="Calibri"/>
                        </a:rPr>
                        <a:t>3,325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-10.1%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7"/>
                  </a:ext>
                </a:extLst>
              </a:tr>
            </a:tbl>
          </a:graphicData>
        </a:graphic>
      </p:graphicFrame>
      <p:sp>
        <p:nvSpPr>
          <p:cNvPr id="10" name="Rectangle 9">
            <a:extLst>
              <a:ext uri="{FF2B5EF4-FFF2-40B4-BE49-F238E27FC236}">
                <a16:creationId xmlns:a16="http://schemas.microsoft.com/office/drawing/2014/main" id="{5651FEDD-6C98-3066-EAC5-4EFD49D4CA2F}"/>
              </a:ext>
            </a:extLst>
          </p:cNvPr>
          <p:cNvSpPr/>
          <p:nvPr/>
        </p:nvSpPr>
        <p:spPr>
          <a:xfrm>
            <a:off x="599049" y="5695292"/>
            <a:ext cx="11117579" cy="946405"/>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chemeClr val="tx1"/>
                </a:solidFill>
              </a:rPr>
              <a:t>Corporate is the largest segment at 36%, followed by online at 34%.</a:t>
            </a:r>
          </a:p>
          <a:p>
            <a:pPr marL="171450" indent="-171450">
              <a:buFont typeface="Arial" panose="020B0604020202020204" pitchFamily="34" charset="0"/>
              <a:buChar char="•"/>
            </a:pPr>
            <a:r>
              <a:rPr lang="en-US" sz="1200" dirty="0">
                <a:solidFill>
                  <a:schemeClr val="tx1"/>
                </a:solidFill>
              </a:rPr>
              <a:t>Corporate LS SS has grown almost 30–40% vs H1 last year, and group bookings are +185% vs LY — implying AES is shifting to secure group business, which can pull the rate down.</a:t>
            </a:r>
          </a:p>
          <a:p>
            <a:pPr marL="171450" indent="-171450">
              <a:buFont typeface="Arial" panose="020B0604020202020204" pitchFamily="34" charset="0"/>
              <a:buChar char="•"/>
            </a:pPr>
            <a:r>
              <a:rPr lang="en-US" sz="1200" dirty="0">
                <a:solidFill>
                  <a:schemeClr val="tx1"/>
                </a:solidFill>
              </a:rPr>
              <a:t>ASR has growth booking +50% in this year. Ascott try to boost up ASR booking but still short fall on rate</a:t>
            </a:r>
          </a:p>
          <a:p>
            <a:pPr marL="171450" indent="-171450">
              <a:buFont typeface="Arial" panose="020B0604020202020204" pitchFamily="34" charset="0"/>
              <a:buChar char="•"/>
            </a:pPr>
            <a:r>
              <a:rPr lang="en-US" sz="1200" dirty="0">
                <a:solidFill>
                  <a:schemeClr val="tx1"/>
                </a:solidFill>
              </a:rPr>
              <a:t>Cannot boost the wholesale, due to the low rate in leisure retail price. High rate cut competition in this area.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5 · ASCOTT EMBASSY SATHORN (AES)</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Ascott Embassy Sathorn (AES) — P&amp;L, H1 2026</a:t>
            </a:r>
            <a:endParaRPr lang="en-US" sz="2800"/>
          </a:p>
        </p:txBody>
      </p:sp>
      <p:sp>
        <p:nvSpPr>
          <p:cNvPr id="4" name="Text 2"/>
          <p:cNvSpPr/>
          <p:nvPr/>
        </p:nvSpPr>
        <p:spPr>
          <a:xfrm>
            <a:off x="548640" y="922159"/>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YTD Jan–Jun vs MF budget · monthly P&amp;L: actual 2026 vs Budget (MF) and actual 2025 · ฿M</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83080"/>
          <a:ext cx="539496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7" name="Table 0"/>
          <p:cNvGraphicFramePr>
            <a:graphicFrameLocks noGrp="1"/>
          </p:cNvGraphicFramePr>
          <p:nvPr>
            <p:extLst>
              <p:ext uri="{D42A27DB-BD31-4B8C-83A1-F6EECF244321}">
                <p14:modId xmlns:p14="http://schemas.microsoft.com/office/powerpoint/2010/main" val="3363087451"/>
              </p:ext>
            </p:extLst>
          </p:nvPr>
        </p:nvGraphicFramePr>
        <p:xfrm>
          <a:off x="548640" y="3886200"/>
          <a:ext cx="5394960" cy="2460244"/>
        </p:xfrm>
        <a:graphic>
          <a:graphicData uri="http://schemas.openxmlformats.org/drawingml/2006/table">
            <a:tbl>
              <a:tblPr/>
              <a:tblGrid>
                <a:gridCol w="932688">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841248">
                  <a:extLst>
                    <a:ext uri="{9D8B030D-6E8A-4147-A177-3AD203B41FA5}">
                      <a16:colId xmlns:a16="http://schemas.microsoft.com/office/drawing/2014/main" val="20007"/>
                    </a:ext>
                  </a:extLst>
                </a:gridCol>
              </a:tblGrid>
              <a:tr h="150876">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Jan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Feb</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Apr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May</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Jun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H1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50876">
                <a:tc>
                  <a:txBody>
                    <a:bodyPr/>
                    <a:lstStyle/>
                    <a:p>
                      <a:pPr marL="0" indent="0">
                        <a:buNone/>
                      </a:pPr>
                      <a:r>
                        <a:rPr lang="en-US" sz="750" dirty="0">
                          <a:solidFill>
                            <a:srgbClr val="6B7280"/>
                          </a:solidFill>
                          <a:latin typeface="Calibri" pitchFamily="34" charset="0"/>
                          <a:ea typeface="Calibri" pitchFamily="34" charset="-122"/>
                          <a:cs typeface="Calibri" pitchFamily="34" charset="-120"/>
                        </a:rPr>
                        <a:t>Revenue ’25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42.7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25.8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29.0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27.7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25.8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185.4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dirty="0">
                          <a:solidFill>
                            <a:srgbClr val="6B7280"/>
                          </a:solidFill>
                          <a:latin typeface="Calibri" pitchFamily="34" charset="0"/>
                          <a:ea typeface="Calibri" pitchFamily="34" charset="-122"/>
                          <a:cs typeface="Calibri" pitchFamily="34" charset="-120"/>
                        </a:rPr>
                        <a:t>Revenue </a:t>
                      </a:r>
                      <a:r>
                        <a:rPr lang="en-US" sz="750" b="0" dirty="0">
                          <a:solidFill>
                            <a:srgbClr val="6B7280"/>
                          </a:solidFill>
                          <a:latin typeface="Calibri" pitchFamily="34" charset="0"/>
                          <a:ea typeface="Calibri" pitchFamily="34" charset="-122"/>
                          <a:cs typeface="Calibri" pitchFamily="34" charset="-120"/>
                        </a:rPr>
                        <a:t>Budget</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39.3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37.8</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30.9</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33.7</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31.2</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31.1</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204.0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127556939"/>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Revenue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35.4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38.9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31.0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26.2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23.4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179.2</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-89.0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32"/>
                  </a:ext>
                </a:extLst>
              </a:tr>
              <a:tr h="150876">
                <a:tc>
                  <a:txBody>
                    <a:bodyPr/>
                    <a:lstStyle/>
                    <a:p>
                      <a:pPr marL="0" indent="0">
                        <a:buNone/>
                      </a:pPr>
                      <a:r>
                        <a:rPr lang="en-US" sz="750" dirty="0">
                          <a:solidFill>
                            <a:srgbClr val="6B7280"/>
                          </a:solidFill>
                          <a:latin typeface="Calibri" pitchFamily="34" charset="0"/>
                          <a:ea typeface="Calibri" pitchFamily="34" charset="-122"/>
                          <a:cs typeface="Calibri" pitchFamily="34" charset="-120"/>
                        </a:rPr>
                        <a:t>OPEX Budget</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-99.2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5"/>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OPEX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-83.6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25.4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18.9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96.4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33"/>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22.0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21.0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104.8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GOP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20.1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17.1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10.8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95.6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31.6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34"/>
                  </a:ext>
                </a:extLst>
              </a:tr>
              <a:tr h="150876">
                <a:tc>
                  <a:txBody>
                    <a:bodyPr/>
                    <a:lstStyle/>
                    <a:p>
                      <a:pPr marL="0" indent="0">
                        <a:buNone/>
                      </a:pPr>
                      <a:r>
                        <a:rPr lang="en-US" sz="750" dirty="0">
                          <a:solidFill>
                            <a:srgbClr val="6B7280"/>
                          </a:solidFill>
                          <a:latin typeface="Calibri" pitchFamily="34" charset="0"/>
                          <a:ea typeface="Calibri" pitchFamily="34" charset="-122"/>
                          <a:cs typeface="Calibri" pitchFamily="34" charset="-120"/>
                        </a:rPr>
                        <a:t>EBIT Budget</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35.1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1"/>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EBIT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9.3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6.6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0.2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33.5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150876">
                <a:tc>
                  <a:txBody>
                    <a:bodyPr/>
                    <a:lstStyle/>
                    <a:p>
                      <a:pPr marL="0" indent="0">
                        <a:buNone/>
                      </a:pPr>
                      <a:r>
                        <a:rPr lang="en-US" sz="750" dirty="0">
                          <a:solidFill>
                            <a:srgbClr val="6B7280"/>
                          </a:solidFill>
                          <a:latin typeface="Calibri" pitchFamily="34" charset="0"/>
                          <a:ea typeface="Calibri" pitchFamily="34" charset="-122"/>
                          <a:cs typeface="Calibri" pitchFamily="34" charset="-120"/>
                        </a:rPr>
                        <a:t>NPAT ’25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0.5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-3.9</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-4.9</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6B7280"/>
                          </a:solidFill>
                          <a:latin typeface="Calibri" pitchFamily="34" charset="0"/>
                          <a:ea typeface="Calibri" pitchFamily="34" charset="-122"/>
                          <a:cs typeface="Calibri" pitchFamily="34" charset="-120"/>
                        </a:rPr>
                        <a:t>-15.4</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b="0" dirty="0">
                          <a:solidFill>
                            <a:srgbClr val="26292E"/>
                          </a:solidFill>
                          <a:latin typeface="Calibri" pitchFamily="34" charset="0"/>
                          <a:ea typeface="Calibri" pitchFamily="34" charset="-122"/>
                          <a:cs typeface="Calibri" pitchFamily="34" charset="-120"/>
                        </a:rPr>
                        <a:t>NPAT </a:t>
                      </a:r>
                      <a:r>
                        <a:rPr lang="en-US" sz="750" b="0" dirty="0">
                          <a:solidFill>
                            <a:srgbClr val="6B7280"/>
                          </a:solidFill>
                          <a:latin typeface="Calibri" pitchFamily="34" charset="0"/>
                          <a:ea typeface="Calibri" pitchFamily="34" charset="-122"/>
                          <a:cs typeface="Calibri" pitchFamily="34" charset="-120"/>
                        </a:rPr>
                        <a:t>Budget</a:t>
                      </a:r>
                      <a:endParaRPr lang="en-US" sz="750" b="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2.9</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2.5</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-2.2</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-0.4</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-2.4</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-2.2</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-1.7</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2444534270"/>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NPAT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1.1</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5.4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0.3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-2.4</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-4.8</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-2.3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784827674"/>
              </p:ext>
            </p:extLst>
          </p:nvPr>
        </p:nvGraphicFramePr>
        <p:xfrm>
          <a:off x="6096000" y="1444752"/>
          <a:ext cx="5544314" cy="2293321"/>
        </p:xfrm>
        <a:graphic>
          <a:graphicData uri="http://schemas.openxmlformats.org/drawingml/2006/table">
            <a:tbl>
              <a:tblPr/>
              <a:tblGrid>
                <a:gridCol w="988794">
                  <a:extLst>
                    <a:ext uri="{9D8B030D-6E8A-4147-A177-3AD203B41FA5}">
                      <a16:colId xmlns:a16="http://schemas.microsoft.com/office/drawing/2014/main" val="20000"/>
                    </a:ext>
                  </a:extLst>
                </a:gridCol>
                <a:gridCol w="670968">
                  <a:extLst>
                    <a:ext uri="{9D8B030D-6E8A-4147-A177-3AD203B41FA5}">
                      <a16:colId xmlns:a16="http://schemas.microsoft.com/office/drawing/2014/main" val="20001"/>
                    </a:ext>
                  </a:extLst>
                </a:gridCol>
                <a:gridCol w="670968">
                  <a:extLst>
                    <a:ext uri="{9D8B030D-6E8A-4147-A177-3AD203B41FA5}">
                      <a16:colId xmlns:a16="http://schemas.microsoft.com/office/drawing/2014/main" val="20002"/>
                    </a:ext>
                  </a:extLst>
                </a:gridCol>
                <a:gridCol w="706282">
                  <a:extLst>
                    <a:ext uri="{9D8B030D-6E8A-4147-A177-3AD203B41FA5}">
                      <a16:colId xmlns:a16="http://schemas.microsoft.com/office/drawing/2014/main" val="20003"/>
                    </a:ext>
                  </a:extLst>
                </a:gridCol>
                <a:gridCol w="635654">
                  <a:extLst>
                    <a:ext uri="{9D8B030D-6E8A-4147-A177-3AD203B41FA5}">
                      <a16:colId xmlns:a16="http://schemas.microsoft.com/office/drawing/2014/main" val="20004"/>
                    </a:ext>
                  </a:extLst>
                </a:gridCol>
                <a:gridCol w="653311">
                  <a:extLst>
                    <a:ext uri="{9D8B030D-6E8A-4147-A177-3AD203B41FA5}">
                      <a16:colId xmlns:a16="http://schemas.microsoft.com/office/drawing/2014/main" val="20005"/>
                    </a:ext>
                  </a:extLst>
                </a:gridCol>
                <a:gridCol w="600340">
                  <a:extLst>
                    <a:ext uri="{9D8B030D-6E8A-4147-A177-3AD203B41FA5}">
                      <a16:colId xmlns:a16="http://schemas.microsoft.com/office/drawing/2014/main" val="20006"/>
                    </a:ext>
                  </a:extLst>
                </a:gridCol>
                <a:gridCol w="617997">
                  <a:extLst>
                    <a:ext uri="{9D8B030D-6E8A-4147-A177-3AD203B41FA5}">
                      <a16:colId xmlns:a16="http://schemas.microsoft.com/office/drawing/2014/main" val="20007"/>
                    </a:ext>
                  </a:extLst>
                </a:gridCol>
              </a:tblGrid>
              <a:tr h="343199">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2026 (YTD)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Actual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Revenue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฿179.2M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฿204.0M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-12.1%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฿185.4M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฿220.7M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-18.8%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OPEX</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−฿83.6M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−฿99.2M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-15.7%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−฿89.0M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-6.0%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−฿97.2M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GOP</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฿95.6M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฿104.8M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-8.8%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฿96.4M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-0.8%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฿123.5M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GOP margin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53.3%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+3.7%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52.0%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55.9%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JV expense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−฿62.1M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−฿69.7M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−฿64.8M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−฿69.5M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-10.6%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EBIT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1E2761"/>
                          </a:solidFill>
                          <a:latin typeface="Calibri" pitchFamily="34" charset="0"/>
                          <a:ea typeface="Calibri" pitchFamily="34" charset="-122"/>
                          <a:cs typeface="Calibri" pitchFamily="34" charset="-120"/>
                        </a:rPr>
                        <a:t>฿33.5M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฿35.1M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฿31.6M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+6.1%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฿54.0M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-38.0%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77543">
                <a:tc>
                  <a:txBody>
                    <a:bodyPr/>
                    <a:lstStyle/>
                    <a:p>
                      <a:pPr marL="0" indent="0">
                        <a:buNone/>
                      </a:pPr>
                      <a:r>
                        <a:rPr lang="en-US" sz="850" b="1">
                          <a:solidFill>
                            <a:srgbClr val="26292E"/>
                          </a:solidFill>
                          <a:latin typeface="Calibri" pitchFamily="34" charset="0"/>
                          <a:ea typeface="Calibri" pitchFamily="34" charset="-122"/>
                          <a:cs typeface="Calibri" pitchFamily="34" charset="-120"/>
                        </a:rPr>
                        <a:t>NPAT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−฿2.3M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−฿15.4M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+85%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27AE60"/>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4"/>
          <p:cNvSpPr/>
          <p:nvPr/>
        </p:nvSpPr>
        <p:spPr>
          <a:xfrm>
            <a:off x="6126480" y="3794760"/>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0" name="Text 5"/>
          <p:cNvSpPr/>
          <p:nvPr/>
        </p:nvSpPr>
        <p:spPr>
          <a:xfrm>
            <a:off x="6272784" y="3886200"/>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REVENUE H1 2026</a:t>
            </a:r>
            <a:endParaRPr lang="en-US" sz="1050"/>
          </a:p>
        </p:txBody>
      </p:sp>
      <p:sp>
        <p:nvSpPr>
          <p:cNvPr id="11" name="Text 6"/>
          <p:cNvSpPr/>
          <p:nvPr/>
        </p:nvSpPr>
        <p:spPr>
          <a:xfrm>
            <a:off x="6272784" y="4105656"/>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฿179.2M</a:t>
            </a:r>
            <a:endParaRPr lang="en-US" sz="2400"/>
          </a:p>
        </p:txBody>
      </p:sp>
      <p:sp>
        <p:nvSpPr>
          <p:cNvPr id="12" name="Text 7"/>
          <p:cNvSpPr/>
          <p:nvPr/>
        </p:nvSpPr>
        <p:spPr>
          <a:xfrm>
            <a:off x="6272784" y="4562856"/>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-3.3% vs H1 2025</a:t>
            </a:r>
            <a:endParaRPr lang="en-US" sz="1050"/>
          </a:p>
        </p:txBody>
      </p:sp>
      <p:sp>
        <p:nvSpPr>
          <p:cNvPr id="13" name="Shape 8"/>
          <p:cNvSpPr/>
          <p:nvPr/>
        </p:nvSpPr>
        <p:spPr>
          <a:xfrm>
            <a:off x="8988552" y="3794760"/>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4" name="Text 9"/>
          <p:cNvSpPr/>
          <p:nvPr/>
        </p:nvSpPr>
        <p:spPr>
          <a:xfrm>
            <a:off x="9134856" y="3886200"/>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EBIT H1 2026</a:t>
            </a:r>
            <a:endParaRPr lang="en-US" sz="1050"/>
          </a:p>
        </p:txBody>
      </p:sp>
      <p:sp>
        <p:nvSpPr>
          <p:cNvPr id="15" name="Text 10"/>
          <p:cNvSpPr/>
          <p:nvPr/>
        </p:nvSpPr>
        <p:spPr>
          <a:xfrm>
            <a:off x="9134856" y="4105656"/>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฿33.5M</a:t>
            </a:r>
            <a:endParaRPr lang="en-US" sz="2400"/>
          </a:p>
        </p:txBody>
      </p:sp>
      <p:sp>
        <p:nvSpPr>
          <p:cNvPr id="16" name="Text 11"/>
          <p:cNvSpPr/>
          <p:nvPr/>
        </p:nvSpPr>
        <p:spPr>
          <a:xfrm>
            <a:off x="9134856" y="4562856"/>
            <a:ext cx="2359152" cy="384048"/>
          </a:xfrm>
          <a:prstGeom prst="rect">
            <a:avLst/>
          </a:prstGeom>
          <a:noFill/>
          <a:ln/>
        </p:spPr>
        <p:txBody>
          <a:bodyPr wrap="square" lIns="0" tIns="0" rIns="0" bIns="0" rtlCol="0" anchor="ctr"/>
          <a:lstStyle/>
          <a:p>
            <a:pPr marL="0" indent="0">
              <a:buNone/>
            </a:pPr>
            <a:r>
              <a:rPr lang="en-US" sz="1050">
                <a:solidFill>
                  <a:srgbClr val="2E7D32"/>
                </a:solidFill>
                <a:latin typeface="Calibri" pitchFamily="34" charset="0"/>
                <a:ea typeface="Calibri" pitchFamily="34" charset="-122"/>
                <a:cs typeface="Calibri" pitchFamily="34" charset="-120"/>
              </a:rPr>
              <a:t>+฿1.9M vs H1 2025 (฿31.6M)</a:t>
            </a:r>
            <a:endParaRPr lang="en-US" sz="1050"/>
          </a:p>
        </p:txBody>
      </p:sp>
      <p:sp>
        <p:nvSpPr>
          <p:cNvPr id="19" name="Rectangle 18">
            <a:extLst>
              <a:ext uri="{FF2B5EF4-FFF2-40B4-BE49-F238E27FC236}">
                <a16:creationId xmlns:a16="http://schemas.microsoft.com/office/drawing/2014/main" id="{4ADBF112-735C-614B-84E3-1A51FC1B75C3}"/>
              </a:ext>
            </a:extLst>
          </p:cNvPr>
          <p:cNvSpPr/>
          <p:nvPr/>
        </p:nvSpPr>
        <p:spPr>
          <a:xfrm>
            <a:off x="6126480" y="5058455"/>
            <a:ext cx="5513833" cy="1710665"/>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chemeClr val="tx1"/>
                </a:solidFill>
              </a:rPr>
              <a:t>Revenue is down −3.3% vs LY, but OPEX is managed better: −6.0% (about ฿6M). GOP margin improves +2.5% and JV expense better, so EBIT and NPAT both beat LY. The key reason is AES managing OPEX well</a:t>
            </a:r>
            <a:r>
              <a:rPr lang="th-TH" sz="1200" dirty="0">
                <a:solidFill>
                  <a:schemeClr val="tx1"/>
                </a:solidFill>
              </a:rPr>
              <a:t> </a:t>
            </a:r>
            <a:r>
              <a:rPr lang="en-US" sz="1200" dirty="0">
                <a:solidFill>
                  <a:schemeClr val="tx1"/>
                </a:solidFill>
              </a:rPr>
              <a:t>From leasing </a:t>
            </a:r>
            <a:r>
              <a:rPr lang="en-US" sz="1200" dirty="0" err="1">
                <a:solidFill>
                  <a:schemeClr val="tx1"/>
                </a:solidFill>
              </a:rPr>
              <a:t>commmisiion</a:t>
            </a:r>
            <a:r>
              <a:rPr lang="en-US" sz="1200" dirty="0">
                <a:solidFill>
                  <a:schemeClr val="tx1"/>
                </a:solidFill>
              </a:rPr>
              <a:t> (around ฿6.56M ) — and owner expenses are lower because in house and building tax over </a:t>
            </a:r>
            <a:r>
              <a:rPr lang="en-US" sz="1200" dirty="0" err="1">
                <a:solidFill>
                  <a:schemeClr val="tx1"/>
                </a:solidFill>
              </a:rPr>
              <a:t>accured</a:t>
            </a:r>
            <a:r>
              <a:rPr lang="en-US" sz="1200" dirty="0">
                <a:solidFill>
                  <a:schemeClr val="tx1"/>
                </a:solidFill>
              </a:rPr>
              <a:t>. And in 2026 already paid the House and the building tax.</a:t>
            </a:r>
          </a:p>
          <a:p>
            <a:pPr marL="171450" indent="-171450">
              <a:buFont typeface="Arial" panose="020B0604020202020204" pitchFamily="34" charset="0"/>
              <a:buChar char="•"/>
            </a:pPr>
            <a:r>
              <a:rPr lang="en-US" sz="1200" dirty="0">
                <a:solidFill>
                  <a:schemeClr val="tx1"/>
                </a:solidFill>
              </a:rPr>
              <a:t>From budget, The high gap rev shortfall about -12%. But in term of GOP margin they can do better than the budget (Manage OPEX). Also improve in JV expense (House and bd tax) so EBIT and NPAT shortfall a smaller gap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6</a:t>
            </a:r>
            <a:endParaRPr lang="en-US" sz="9600"/>
          </a:p>
        </p:txBody>
      </p:sp>
      <p:sp>
        <p:nvSpPr>
          <p:cNvPr id="3" name="Text 1"/>
          <p:cNvSpPr/>
          <p:nvPr/>
        </p:nvSpPr>
        <p:spPr>
          <a:xfrm>
            <a:off x="2514600" y="2286000"/>
            <a:ext cx="8778240" cy="914400"/>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lyf Sukhumvit 8 Bangkok (LYF)</a:t>
            </a:r>
            <a:endParaRPr lang="en-US" sz="4000"/>
          </a:p>
        </p:txBody>
      </p:sp>
      <p:sp>
        <p:nvSpPr>
          <p:cNvPr id="4" name="Text 2"/>
          <p:cNvSpPr/>
          <p:nvPr/>
        </p:nvSpPr>
        <p:spPr>
          <a:xfrm>
            <a:off x="2542032" y="3246120"/>
            <a:ext cx="8412480" cy="822960"/>
          </a:xfrm>
          <a:prstGeom prst="rect">
            <a:avLst/>
          </a:prstGeom>
          <a:noFill/>
          <a:ln/>
        </p:spPr>
        <p:txBody>
          <a:bodyPr wrap="square" lIns="0" tIns="0" rIns="0" bIns="0" rtlCol="0" anchor="ctr"/>
          <a:lstStyle/>
          <a:p>
            <a:pPr marL="0" indent="0">
              <a:buNone/>
            </a:pPr>
            <a:r>
              <a:rPr lang="en-US" sz="1400">
                <a:solidFill>
                  <a:srgbClr val="AFC0E8"/>
                </a:solidFill>
                <a:latin typeface="Calibri" pitchFamily="34" charset="0"/>
                <a:ea typeface="Calibri" pitchFamily="34" charset="-122"/>
                <a:cs typeface="Calibri" pitchFamily="34" charset="-120"/>
              </a:rPr>
              <a:t>P&amp;L (EBIT) · Performance vs budget · Segmentation · Guest nationality</a:t>
            </a:r>
            <a:endParaRPr lang="en-US" sz="1400"/>
          </a:p>
        </p:txBody>
      </p:sp>
      <p:sp>
        <p:nvSpPr>
          <p:cNvPr id="5" name="Text 3"/>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6 · LYF SUKHUMVIT 8 BANGKOK (LYF)</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lyf Sukhumvit 8 Bangkok (LYF)</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206 keys · monthly + YTD Jan–Jun · actual vs MF Projection and actual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1694412409"/>
              </p:ext>
            </p:extLst>
          </p:nvPr>
        </p:nvGraphicFramePr>
        <p:xfrm>
          <a:off x="548640" y="1509126"/>
          <a:ext cx="7223760" cy="187451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3878392410"/>
              </p:ext>
            </p:extLst>
          </p:nvPr>
        </p:nvGraphicFramePr>
        <p:xfrm>
          <a:off x="548640" y="3438509"/>
          <a:ext cx="7223760" cy="2286000"/>
        </p:xfrm>
        <a:graphic>
          <a:graphicData uri="http://schemas.openxmlformats.org/drawingml/2006/table">
            <a:tbl>
              <a:tblPr/>
              <a:tblGrid>
                <a:gridCol w="1325880">
                  <a:extLst>
                    <a:ext uri="{9D8B030D-6E8A-4147-A177-3AD203B41FA5}">
                      <a16:colId xmlns:a16="http://schemas.microsoft.com/office/drawing/2014/main" val="20000"/>
                    </a:ext>
                  </a:extLst>
                </a:gridCol>
                <a:gridCol w="795528">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795528">
                  <a:extLst>
                    <a:ext uri="{9D8B030D-6E8A-4147-A177-3AD203B41FA5}">
                      <a16:colId xmlns:a16="http://schemas.microsoft.com/office/drawing/2014/main" val="20004"/>
                    </a:ext>
                  </a:extLst>
                </a:gridCol>
                <a:gridCol w="795528">
                  <a:extLst>
                    <a:ext uri="{9D8B030D-6E8A-4147-A177-3AD203B41FA5}">
                      <a16:colId xmlns:a16="http://schemas.microsoft.com/office/drawing/2014/main" val="20005"/>
                    </a:ext>
                  </a:extLst>
                </a:gridCol>
                <a:gridCol w="795528">
                  <a:extLst>
                    <a:ext uri="{9D8B030D-6E8A-4147-A177-3AD203B41FA5}">
                      <a16:colId xmlns:a16="http://schemas.microsoft.com/office/drawing/2014/main" val="20006"/>
                    </a:ext>
                  </a:extLst>
                </a:gridCol>
                <a:gridCol w="1124712">
                  <a:extLst>
                    <a:ext uri="{9D8B030D-6E8A-4147-A177-3AD203B41FA5}">
                      <a16:colId xmlns:a16="http://schemas.microsoft.com/office/drawing/2014/main" val="20007"/>
                    </a:ext>
                  </a:extLst>
                </a:gridCol>
              </a:tblGrid>
              <a:tr h="187452">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H1 2026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Jan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Feb</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Apr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May</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Jun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YTD</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93.3%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89.4%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73.8%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72.8%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70.0%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79.0%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36"/>
                  </a:ext>
                </a:extLst>
              </a:tr>
              <a:tr h="187452">
                <a:tc>
                  <a:txBody>
                    <a:bodyPr/>
                    <a:lstStyle/>
                    <a:p>
                      <a:pPr marL="0" indent="0">
                        <a:buNone/>
                      </a:pPr>
                      <a:r>
                        <a:rPr lang="en-US" sz="900" b="0" dirty="0">
                          <a:solidFill>
                            <a:srgbClr val="595959"/>
                          </a:solidFill>
                          <a:latin typeface="Calibri" pitchFamily="34" charset="0"/>
                          <a:ea typeface="Calibri" pitchFamily="34" charset="-122"/>
                          <a:cs typeface="Calibri" pitchFamily="34" charset="-120"/>
                        </a:rPr>
                        <a:t>Occupancy Budget</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93.3%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77.5%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78.2%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77.1%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82.6%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35"/>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Occupancy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92.6%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94.6%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87.8%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50.4%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74.0%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69.5%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78.1%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1,701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1,631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1,422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1,363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1,254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1,205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1,447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38"/>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1,734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1,748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1,424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1,394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1,311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1,265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1,489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37"/>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ADR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1,578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1,586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1,289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1,450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1,188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1,087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1,374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1,587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1,458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1,050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1,022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913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844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1,143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40"/>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1,527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1,631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1,104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1,152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1,024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976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1,231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39"/>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RevPAR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1,461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1,500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1,132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879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756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dirty="0">
                          <a:solidFill>
                            <a:srgbClr val="1E2761"/>
                          </a:solidFill>
                          <a:latin typeface="Calibri" pitchFamily="34" charset="0"/>
                          <a:ea typeface="Calibri" pitchFamily="34" charset="-122"/>
                          <a:cs typeface="Calibri" pitchFamily="34" charset="-120"/>
                        </a:rPr>
                        <a:t>1,073</a:t>
                      </a:r>
                      <a:endParaRPr lang="en-US" sz="90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4"/>
          <p:cNvSpPr/>
          <p:nvPr/>
        </p:nvSpPr>
        <p:spPr>
          <a:xfrm>
            <a:off x="8092440" y="1250531"/>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9" name="Text 5"/>
          <p:cNvSpPr/>
          <p:nvPr/>
        </p:nvSpPr>
        <p:spPr>
          <a:xfrm>
            <a:off x="8238744" y="1341971"/>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OCCUPANCY · YTD</a:t>
            </a:r>
            <a:endParaRPr lang="en-US" sz="1050"/>
          </a:p>
        </p:txBody>
      </p:sp>
      <p:sp>
        <p:nvSpPr>
          <p:cNvPr id="10" name="Text 6"/>
          <p:cNvSpPr/>
          <p:nvPr/>
        </p:nvSpPr>
        <p:spPr>
          <a:xfrm>
            <a:off x="8238744" y="1561427"/>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78.1%</a:t>
            </a:r>
            <a:endParaRPr lang="en-US" sz="2400"/>
          </a:p>
        </p:txBody>
      </p:sp>
      <p:sp>
        <p:nvSpPr>
          <p:cNvPr id="11" name="Text 7"/>
          <p:cNvSpPr/>
          <p:nvPr/>
        </p:nvSpPr>
        <p:spPr>
          <a:xfrm>
            <a:off x="8238744" y="2018627"/>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-5.5%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-1.1% vs LY</a:t>
            </a:r>
            <a:endParaRPr lang="en-US" sz="1050"/>
          </a:p>
        </p:txBody>
      </p:sp>
      <p:sp>
        <p:nvSpPr>
          <p:cNvPr id="12" name="Shape 8"/>
          <p:cNvSpPr/>
          <p:nvPr/>
        </p:nvSpPr>
        <p:spPr>
          <a:xfrm>
            <a:off x="8092440" y="2658707"/>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3" name="Text 9"/>
          <p:cNvSpPr/>
          <p:nvPr/>
        </p:nvSpPr>
        <p:spPr>
          <a:xfrm>
            <a:off x="8238744" y="2750147"/>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ADR · YTD</a:t>
            </a:r>
            <a:endParaRPr lang="en-US" sz="1050"/>
          </a:p>
        </p:txBody>
      </p:sp>
      <p:sp>
        <p:nvSpPr>
          <p:cNvPr id="14" name="Text 10"/>
          <p:cNvSpPr/>
          <p:nvPr/>
        </p:nvSpPr>
        <p:spPr>
          <a:xfrm>
            <a:off x="8238744" y="2969603"/>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฿1,374</a:t>
            </a:r>
            <a:endParaRPr lang="en-US" sz="2400"/>
          </a:p>
        </p:txBody>
      </p:sp>
      <p:sp>
        <p:nvSpPr>
          <p:cNvPr id="15" name="Text 11"/>
          <p:cNvSpPr/>
          <p:nvPr/>
        </p:nvSpPr>
        <p:spPr>
          <a:xfrm>
            <a:off x="8238744" y="3426803"/>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-7.7% vs budget</a:t>
            </a:r>
            <a:r>
              <a:rPr lang="en-US" sz="1050">
                <a:solidFill>
                  <a:srgbClr val="6B7280"/>
                </a:solidFill>
                <a:latin typeface="Calibri" pitchFamily="34" charset="0"/>
                <a:ea typeface="Calibri" pitchFamily="34" charset="-122"/>
                <a:cs typeface="Calibri" pitchFamily="34" charset="-120"/>
              </a:rPr>
              <a:t> · </a:t>
            </a:r>
            <a:r>
              <a:rPr lang="en-US" sz="1050">
                <a:solidFill>
                  <a:srgbClr val="C0392B"/>
                </a:solidFill>
                <a:latin typeface="Calibri" pitchFamily="34" charset="0"/>
                <a:ea typeface="Calibri" pitchFamily="34" charset="-122"/>
                <a:cs typeface="Calibri" pitchFamily="34" charset="-120"/>
              </a:rPr>
              <a:t>-5.0% vs LY</a:t>
            </a:r>
            <a:endParaRPr lang="en-US" sz="1050"/>
          </a:p>
        </p:txBody>
      </p:sp>
      <p:sp>
        <p:nvSpPr>
          <p:cNvPr id="16" name="Shape 12"/>
          <p:cNvSpPr/>
          <p:nvPr/>
        </p:nvSpPr>
        <p:spPr>
          <a:xfrm>
            <a:off x="8092440" y="4066883"/>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7" name="Text 13"/>
          <p:cNvSpPr/>
          <p:nvPr/>
        </p:nvSpPr>
        <p:spPr>
          <a:xfrm>
            <a:off x="8238744" y="4158323"/>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REVPAR · YTD</a:t>
            </a:r>
            <a:endParaRPr lang="en-US" sz="1050"/>
          </a:p>
        </p:txBody>
      </p:sp>
      <p:sp>
        <p:nvSpPr>
          <p:cNvPr id="18" name="Text 14"/>
          <p:cNvSpPr/>
          <p:nvPr/>
        </p:nvSpPr>
        <p:spPr>
          <a:xfrm>
            <a:off x="8238744" y="4377779"/>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฿1,073</a:t>
            </a:r>
            <a:endParaRPr lang="en-US" sz="2400"/>
          </a:p>
        </p:txBody>
      </p:sp>
      <p:sp>
        <p:nvSpPr>
          <p:cNvPr id="19" name="Text 15"/>
          <p:cNvSpPr/>
          <p:nvPr/>
        </p:nvSpPr>
        <p:spPr>
          <a:xfrm>
            <a:off x="8238744" y="4834979"/>
            <a:ext cx="3227832" cy="438912"/>
          </a:xfrm>
          <a:prstGeom prst="rect">
            <a:avLst/>
          </a:prstGeom>
          <a:noFill/>
          <a:ln/>
        </p:spPr>
        <p:txBody>
          <a:bodyPr wrap="square" lIns="0" tIns="0" rIns="0" bIns="0" rtlCol="0" anchor="ctr"/>
          <a:lstStyle/>
          <a:p>
            <a:pPr marL="0" indent="0">
              <a:buNone/>
            </a:pPr>
            <a:r>
              <a:rPr lang="en-US" sz="1050" dirty="0">
                <a:solidFill>
                  <a:srgbClr val="C0392B"/>
                </a:solidFill>
                <a:latin typeface="Calibri" pitchFamily="34" charset="0"/>
                <a:ea typeface="Calibri" pitchFamily="34" charset="-122"/>
                <a:cs typeface="Calibri" pitchFamily="34" charset="-120"/>
              </a:rPr>
              <a:t>-12.8% vs budget</a:t>
            </a:r>
            <a:r>
              <a:rPr lang="en-US" sz="1050" dirty="0">
                <a:solidFill>
                  <a:srgbClr val="6B7280"/>
                </a:solidFill>
                <a:latin typeface="Calibri" pitchFamily="34" charset="0"/>
                <a:ea typeface="Calibri" pitchFamily="34" charset="-122"/>
                <a:cs typeface="Calibri" pitchFamily="34" charset="-120"/>
              </a:rPr>
              <a:t> · </a:t>
            </a:r>
            <a:r>
              <a:rPr lang="en-US" sz="1050" dirty="0">
                <a:solidFill>
                  <a:srgbClr val="C0392B"/>
                </a:solidFill>
                <a:latin typeface="Calibri" pitchFamily="34" charset="0"/>
                <a:ea typeface="Calibri" pitchFamily="34" charset="-122"/>
                <a:cs typeface="Calibri" pitchFamily="34" charset="-120"/>
              </a:rPr>
              <a:t>-6.1% vs LY</a:t>
            </a:r>
            <a:endParaRPr lang="en-US" sz="1050" dirty="0"/>
          </a:p>
        </p:txBody>
      </p:sp>
      <p:sp>
        <p:nvSpPr>
          <p:cNvPr id="21" name="Star: 5 Points 20">
            <a:extLst>
              <a:ext uri="{FF2B5EF4-FFF2-40B4-BE49-F238E27FC236}">
                <a16:creationId xmlns:a16="http://schemas.microsoft.com/office/drawing/2014/main" id="{01171B67-1C65-F02A-1E92-33AFEB4FBF47}"/>
              </a:ext>
            </a:extLst>
          </p:cNvPr>
          <p:cNvSpPr/>
          <p:nvPr/>
        </p:nvSpPr>
        <p:spPr>
          <a:xfrm>
            <a:off x="4650718" y="1881467"/>
            <a:ext cx="196523" cy="187452"/>
          </a:xfrm>
          <a:prstGeom prst="star5">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7CF853EF-F8FB-6847-289F-CADF68148AF0}"/>
              </a:ext>
            </a:extLst>
          </p:cNvPr>
          <p:cNvSpPr txBox="1"/>
          <p:nvPr/>
        </p:nvSpPr>
        <p:spPr>
          <a:xfrm>
            <a:off x="4295431" y="2017172"/>
            <a:ext cx="1345827" cy="369332"/>
          </a:xfrm>
          <a:prstGeom prst="rect">
            <a:avLst/>
          </a:prstGeom>
          <a:noFill/>
        </p:spPr>
        <p:txBody>
          <a:bodyPr wrap="square" rtlCol="0">
            <a:spAutoFit/>
          </a:bodyPr>
          <a:lstStyle/>
          <a:p>
            <a:r>
              <a:rPr lang="en-US" sz="900"/>
              <a:t>Most drop due to the ADR want to Ramp up</a:t>
            </a:r>
          </a:p>
        </p:txBody>
      </p:sp>
      <p:graphicFrame>
        <p:nvGraphicFramePr>
          <p:cNvPr id="910" name="Table 8"/>
          <p:cNvGraphicFramePr>
            <a:graphicFrameLocks noGrp="1"/>
          </p:cNvGraphicFramePr>
          <p:nvPr>
            <p:extLst>
              <p:ext uri="{D42A27DB-BD31-4B8C-83A1-F6EECF244321}">
                <p14:modId xmlns:p14="http://schemas.microsoft.com/office/powerpoint/2010/main" val="3538817825"/>
              </p:ext>
            </p:extLst>
          </p:nvPr>
        </p:nvGraphicFramePr>
        <p:xfrm>
          <a:off x="548639" y="5815584"/>
          <a:ext cx="7223761" cy="539496"/>
        </p:xfrm>
        <a:graphic>
          <a:graphicData uri="http://schemas.openxmlformats.org/drawingml/2006/table">
            <a:tbl>
              <a:tblPr firstRow="1" bandRow="1">
                <a:tableStyleId>{5C22544A-7EE6-4342-B048-85BDC9FD1C3A}</a:tableStyleId>
              </a:tblPr>
              <a:tblGrid>
                <a:gridCol w="1144749">
                  <a:extLst>
                    <a:ext uri="{9D8B030D-6E8A-4147-A177-3AD203B41FA5}">
                      <a16:colId xmlns:a16="http://schemas.microsoft.com/office/drawing/2014/main" val="20001"/>
                    </a:ext>
                  </a:extLst>
                </a:gridCol>
                <a:gridCol w="828957">
                  <a:extLst>
                    <a:ext uri="{9D8B030D-6E8A-4147-A177-3AD203B41FA5}">
                      <a16:colId xmlns:a16="http://schemas.microsoft.com/office/drawing/2014/main" val="20002"/>
                    </a:ext>
                  </a:extLst>
                </a:gridCol>
                <a:gridCol w="986852">
                  <a:extLst>
                    <a:ext uri="{9D8B030D-6E8A-4147-A177-3AD203B41FA5}">
                      <a16:colId xmlns:a16="http://schemas.microsoft.com/office/drawing/2014/main" val="20003"/>
                    </a:ext>
                  </a:extLst>
                </a:gridCol>
                <a:gridCol w="1026326">
                  <a:extLst>
                    <a:ext uri="{9D8B030D-6E8A-4147-A177-3AD203B41FA5}">
                      <a16:colId xmlns:a16="http://schemas.microsoft.com/office/drawing/2014/main" val="20004"/>
                    </a:ext>
                  </a:extLst>
                </a:gridCol>
                <a:gridCol w="947379">
                  <a:extLst>
                    <a:ext uri="{9D8B030D-6E8A-4147-A177-3AD203B41FA5}">
                      <a16:colId xmlns:a16="http://schemas.microsoft.com/office/drawing/2014/main" val="20005"/>
                    </a:ext>
                  </a:extLst>
                </a:gridCol>
                <a:gridCol w="1144749">
                  <a:extLst>
                    <a:ext uri="{9D8B030D-6E8A-4147-A177-3AD203B41FA5}">
                      <a16:colId xmlns:a16="http://schemas.microsoft.com/office/drawing/2014/main" val="20006"/>
                    </a:ext>
                  </a:extLst>
                </a:gridCol>
                <a:gridCol w="1144749">
                  <a:extLst>
                    <a:ext uri="{9D8B030D-6E8A-4147-A177-3AD203B41FA5}">
                      <a16:colId xmlns:a16="http://schemas.microsoft.com/office/drawing/2014/main" val="20007"/>
                    </a:ext>
                  </a:extLst>
                </a:gridCol>
              </a:tblGrid>
              <a:tr h="223833">
                <a:tc>
                  <a:txBody>
                    <a:bodyPr/>
                    <a:lstStyle/>
                    <a:p>
                      <a:r>
                        <a:rPr sz="800" b="1">
                          <a:solidFill>
                            <a:srgbClr val="FFFFFF"/>
                          </a:solidFill>
                          <a:latin typeface="Calibri"/>
                        </a:rPr>
                        <a:t>Series</a:t>
                      </a:r>
                    </a:p>
                  </a:txBody>
                  <a:tcPr>
                    <a:solidFill>
                      <a:srgbClr val="1E2761"/>
                    </a:solidFill>
                  </a:tcPr>
                </a:tc>
                <a:tc>
                  <a:txBody>
                    <a:bodyPr/>
                    <a:lstStyle/>
                    <a:p>
                      <a:r>
                        <a:rPr sz="800" b="1">
                          <a:solidFill>
                            <a:srgbClr val="FFFFFF"/>
                          </a:solidFill>
                          <a:latin typeface="Calibri"/>
                        </a:rPr>
                        <a:t>Occ H1</a:t>
                      </a:r>
                    </a:p>
                  </a:txBody>
                  <a:tcPr>
                    <a:solidFill>
                      <a:srgbClr val="1E2761"/>
                    </a:solidFill>
                  </a:tcPr>
                </a:tc>
                <a:tc>
                  <a:txBody>
                    <a:bodyPr/>
                    <a:lstStyle/>
                    <a:p>
                      <a:r>
                        <a:rPr sz="800" b="1">
                          <a:solidFill>
                            <a:srgbClr val="FFFFFF"/>
                          </a:solidFill>
                          <a:latin typeface="Calibri"/>
                        </a:rPr>
                        <a:t>Occ vs LY</a:t>
                      </a:r>
                    </a:p>
                  </a:txBody>
                  <a:tcPr>
                    <a:solidFill>
                      <a:srgbClr val="1E2761"/>
                    </a:solidFill>
                  </a:tcPr>
                </a:tc>
                <a:tc>
                  <a:txBody>
                    <a:bodyPr/>
                    <a:lstStyle/>
                    <a:p>
                      <a:r>
                        <a:rPr sz="800" b="1">
                          <a:solidFill>
                            <a:srgbClr val="FFFFFF"/>
                          </a:solidFill>
                          <a:latin typeface="Calibri"/>
                        </a:rPr>
                        <a:t>ADR H1 (฿)</a:t>
                      </a:r>
                    </a:p>
                  </a:txBody>
                  <a:tcPr>
                    <a:solidFill>
                      <a:srgbClr val="1E2761"/>
                    </a:solidFill>
                  </a:tcPr>
                </a:tc>
                <a:tc>
                  <a:txBody>
                    <a:bodyPr/>
                    <a:lstStyle/>
                    <a:p>
                      <a:r>
                        <a:rPr sz="800" b="1">
                          <a:solidFill>
                            <a:srgbClr val="FFFFFF"/>
                          </a:solidFill>
                          <a:latin typeface="Calibri"/>
                        </a:rPr>
                        <a:t>ADR vs LY</a:t>
                      </a:r>
                    </a:p>
                  </a:txBody>
                  <a:tcPr>
                    <a:solidFill>
                      <a:srgbClr val="1E2761"/>
                    </a:solidFill>
                  </a:tcPr>
                </a:tc>
                <a:tc>
                  <a:txBody>
                    <a:bodyPr/>
                    <a:lstStyle/>
                    <a:p>
                      <a:r>
                        <a:rPr sz="800" b="1">
                          <a:solidFill>
                            <a:srgbClr val="FFFFFF"/>
                          </a:solidFill>
                          <a:latin typeface="Calibri"/>
                        </a:rPr>
                        <a:t>RevPAR H1 (฿)</a:t>
                      </a:r>
                    </a:p>
                  </a:txBody>
                  <a:tcPr>
                    <a:solidFill>
                      <a:srgbClr val="1E2761"/>
                    </a:solidFill>
                  </a:tcPr>
                </a:tc>
                <a:tc>
                  <a:txBody>
                    <a:bodyPr/>
                    <a:lstStyle/>
                    <a:p>
                      <a:r>
                        <a:rPr sz="800" b="1">
                          <a:solidFill>
                            <a:srgbClr val="FFFFFF"/>
                          </a:solidFill>
                          <a:latin typeface="Calibri"/>
                        </a:rPr>
                        <a:t>RevPAR vs LY</a:t>
                      </a:r>
                    </a:p>
                  </a:txBody>
                  <a:tcPr>
                    <a:solidFill>
                      <a:srgbClr val="1E2761"/>
                    </a:solidFill>
                  </a:tcPr>
                </a:tc>
                <a:extLst>
                  <a:ext uri="{0D108BD9-81ED-4DB2-BD59-A6C34878D82A}">
                    <a16:rowId xmlns:a16="http://schemas.microsoft.com/office/drawing/2014/main" val="10000"/>
                  </a:ext>
                </a:extLst>
              </a:tr>
              <a:tr h="3156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a:solidFill>
                            <a:srgbClr val="26292E"/>
                          </a:solidFill>
                          <a:latin typeface="+mn-lt"/>
                        </a:rPr>
                        <a:t>Nana </a:t>
                      </a:r>
                      <a:r>
                        <a:rPr sz="800" b="1">
                          <a:solidFill>
                            <a:srgbClr val="26292E"/>
                          </a:solidFill>
                          <a:latin typeface="Calibri"/>
                        </a:rPr>
                        <a:t>Comp set</a:t>
                      </a:r>
                    </a:p>
                  </a:txBody>
                  <a:tcPr>
                    <a:solidFill>
                      <a:srgbClr val="F4F6FB"/>
                    </a:solidFill>
                  </a:tcPr>
                </a:tc>
                <a:tc>
                  <a:txBody>
                    <a:bodyPr/>
                    <a:lstStyle/>
                    <a:p>
                      <a:r>
                        <a:rPr sz="800" b="0">
                          <a:solidFill>
                            <a:srgbClr val="6B7280"/>
                          </a:solidFill>
                          <a:latin typeface="Calibri"/>
                        </a:rPr>
                        <a:t>68.8%</a:t>
                      </a:r>
                    </a:p>
                  </a:txBody>
                  <a:tcPr>
                    <a:solidFill>
                      <a:srgbClr val="F4F6FB"/>
                    </a:solidFill>
                  </a:tcPr>
                </a:tc>
                <a:tc>
                  <a:txBody>
                    <a:bodyPr/>
                    <a:lstStyle/>
                    <a:p>
                      <a:r>
                        <a:rPr sz="800" b="0">
                          <a:solidFill>
                            <a:srgbClr val="2E7D32"/>
                          </a:solidFill>
                          <a:latin typeface="Calibri"/>
                        </a:rPr>
                        <a:t>+3.7%</a:t>
                      </a:r>
                    </a:p>
                  </a:txBody>
                  <a:tcPr>
                    <a:solidFill>
                      <a:srgbClr val="F4F6FB"/>
                    </a:solidFill>
                  </a:tcPr>
                </a:tc>
                <a:tc>
                  <a:txBody>
                    <a:bodyPr/>
                    <a:lstStyle/>
                    <a:p>
                      <a:r>
                        <a:rPr sz="800" b="0">
                          <a:solidFill>
                            <a:srgbClr val="6B7280"/>
                          </a:solidFill>
                          <a:latin typeface="Calibri"/>
                        </a:rPr>
                        <a:t>2,009</a:t>
                      </a:r>
                    </a:p>
                  </a:txBody>
                  <a:tcPr>
                    <a:solidFill>
                      <a:srgbClr val="F4F6FB"/>
                    </a:solidFill>
                  </a:tcPr>
                </a:tc>
                <a:tc>
                  <a:txBody>
                    <a:bodyPr/>
                    <a:lstStyle/>
                    <a:p>
                      <a:r>
                        <a:rPr sz="800" b="0">
                          <a:solidFill>
                            <a:srgbClr val="C0392B"/>
                          </a:solidFill>
                          <a:latin typeface="Calibri"/>
                        </a:rPr>
                        <a:t>-2.3%</a:t>
                      </a:r>
                    </a:p>
                  </a:txBody>
                  <a:tcPr>
                    <a:solidFill>
                      <a:srgbClr val="F4F6FB"/>
                    </a:solidFill>
                  </a:tcPr>
                </a:tc>
                <a:tc>
                  <a:txBody>
                    <a:bodyPr/>
                    <a:lstStyle/>
                    <a:p>
                      <a:r>
                        <a:rPr sz="800" b="0">
                          <a:solidFill>
                            <a:srgbClr val="6B7280"/>
                          </a:solidFill>
                          <a:latin typeface="Calibri"/>
                        </a:rPr>
                        <a:t>1,383</a:t>
                      </a:r>
                    </a:p>
                  </a:txBody>
                  <a:tcPr>
                    <a:solidFill>
                      <a:srgbClr val="F4F6FB"/>
                    </a:solidFill>
                  </a:tcPr>
                </a:tc>
                <a:tc>
                  <a:txBody>
                    <a:bodyPr/>
                    <a:lstStyle/>
                    <a:p>
                      <a:r>
                        <a:rPr sz="800" b="0" dirty="0">
                          <a:solidFill>
                            <a:srgbClr val="2E7D32"/>
                          </a:solidFill>
                          <a:latin typeface="Calibri"/>
                        </a:rPr>
                        <a:t>+1.2%</a:t>
                      </a:r>
                    </a:p>
                  </a:txBody>
                  <a:tcPr>
                    <a:solidFill>
                      <a:srgbClr val="F4F6FB"/>
                    </a:solidFill>
                  </a:tcPr>
                </a:tc>
                <a:extLst>
                  <a:ext uri="{0D108BD9-81ED-4DB2-BD59-A6C34878D82A}">
                    <a16:rowId xmlns:a16="http://schemas.microsoft.com/office/drawing/2014/main" val="10006"/>
                  </a:ext>
                </a:extLst>
              </a:tr>
            </a:tbl>
          </a:graphicData>
        </a:graphic>
      </p:graphicFrame>
      <p:sp>
        <p:nvSpPr>
          <p:cNvPr id="22" name="Rectangle 21">
            <a:extLst>
              <a:ext uri="{FF2B5EF4-FFF2-40B4-BE49-F238E27FC236}">
                <a16:creationId xmlns:a16="http://schemas.microsoft.com/office/drawing/2014/main" id="{2009D7BE-0C30-75EF-D95B-DAC73202CC61}"/>
              </a:ext>
            </a:extLst>
          </p:cNvPr>
          <p:cNvSpPr/>
          <p:nvPr/>
        </p:nvSpPr>
        <p:spPr>
          <a:xfrm>
            <a:off x="8092440" y="5416574"/>
            <a:ext cx="3685031" cy="1261872"/>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chemeClr val="tx1"/>
                </a:solidFill>
                <a:latin typeface="Calibri" pitchFamily="34" charset="0"/>
                <a:ea typeface="Calibri" pitchFamily="34" charset="-122"/>
                <a:cs typeface="Calibri" pitchFamily="34" charset="-120"/>
              </a:rPr>
              <a:t>Key takeaway: LYF ran a strong Q1 above budget, then April dropped sharply (occupancy 50% vs the 83% budgeted, −39%) — recovering since May.</a:t>
            </a:r>
          </a:p>
          <a:p>
            <a:r>
              <a:rPr sz="1200" dirty="0">
                <a:latin typeface="Calibri"/>
              </a:rPr>
              <a:t>Overall, LYF cannot hit budget and is performing softer than last year as well</a:t>
            </a:r>
            <a:r>
              <a:rPr lang="en-US" sz="1200" dirty="0">
                <a:latin typeface="Calibri"/>
              </a:rPr>
              <a:t>.</a:t>
            </a:r>
          </a:p>
          <a:p>
            <a:r>
              <a:rPr lang="en-US" sz="1200" dirty="0">
                <a:latin typeface="Calibri"/>
              </a:rPr>
              <a:t>Mostly come from ADR dropped</a:t>
            </a:r>
            <a:endParaRPr sz="1200" dirty="0">
              <a:latin typeface="Calibri"/>
            </a:endParaRPr>
          </a:p>
        </p:txBody>
      </p:sp>
      <p:sp>
        <p:nvSpPr>
          <p:cNvPr id="25" name="Star: 5 Points 24">
            <a:extLst>
              <a:ext uri="{FF2B5EF4-FFF2-40B4-BE49-F238E27FC236}">
                <a16:creationId xmlns:a16="http://schemas.microsoft.com/office/drawing/2014/main" id="{83C81148-CF98-6919-ADF7-17585537339E}"/>
              </a:ext>
            </a:extLst>
          </p:cNvPr>
          <p:cNvSpPr/>
          <p:nvPr/>
        </p:nvSpPr>
        <p:spPr>
          <a:xfrm>
            <a:off x="2360519" y="1953022"/>
            <a:ext cx="117761" cy="123258"/>
          </a:xfrm>
          <a:prstGeom prst="star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6174E54-1F9B-300F-5F5A-F1341EB8E485}"/>
              </a:ext>
            </a:extLst>
          </p:cNvPr>
          <p:cNvSpPr txBox="1"/>
          <p:nvPr/>
        </p:nvSpPr>
        <p:spPr>
          <a:xfrm>
            <a:off x="2422733" y="1906110"/>
            <a:ext cx="982766" cy="261610"/>
          </a:xfrm>
          <a:prstGeom prst="rect">
            <a:avLst/>
          </a:prstGeom>
          <a:noFill/>
        </p:spPr>
        <p:txBody>
          <a:bodyPr wrap="square" rtlCol="0">
            <a:spAutoFit/>
          </a:bodyPr>
          <a:lstStyle/>
          <a:p>
            <a:r>
              <a:rPr lang="en-US" sz="1100">
                <a:solidFill>
                  <a:srgbClr val="FF0000"/>
                </a:solidFill>
              </a:rPr>
              <a:t>CNY</a:t>
            </a:r>
            <a:endParaRPr lang="en-US">
              <a:solidFill>
                <a:srgbClr val="FF000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6 · LYF SUKHUMVIT 8 BANGKOK (LYF)</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lyf Sukhumvit 8 Bangkok (LYF) — RN and ADR by nationality (H1)</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Top 10 nationalities · H1 room nights 26 vs 25 (chart) · table: room nights + ADR (RN-weighted H1) with change</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sp>
        <p:nvSpPr>
          <p:cNvPr id="9" name="Text 4"/>
          <p:cNvSpPr/>
          <p:nvPr/>
        </p:nvSpPr>
        <p:spPr>
          <a:xfrm>
            <a:off x="548640" y="6309360"/>
            <a:ext cx="10881360" cy="438912"/>
          </a:xfrm>
          <a:prstGeom prst="rect">
            <a:avLst/>
          </a:prstGeom>
          <a:noFill/>
          <a:ln/>
        </p:spPr>
        <p:txBody>
          <a:bodyPr wrap="square" lIns="0" tIns="0" rIns="0" bIns="0" rtlCol="0" anchor="ctr"/>
          <a:lstStyle/>
          <a:p>
            <a:pPr marL="0" indent="0">
              <a:buNone/>
            </a:pPr>
            <a:r>
              <a:rPr lang="en-US" sz="1050" i="1">
                <a:solidFill>
                  <a:srgbClr val="6B7280"/>
                </a:solidFill>
                <a:latin typeface="Calibri" pitchFamily="34" charset="0"/>
                <a:ea typeface="Calibri" pitchFamily="34" charset="-122"/>
                <a:cs typeface="Calibri" pitchFamily="34" charset="-120"/>
              </a:rPr>
              <a:t>Biggest H1 gain: Indonesia (+2,017 RN) · biggest decline: USA (-559 RN). ADR cols = H1 ADR per nationality, RN-weighted · '–' = outside that year's top-10.</a:t>
            </a:r>
            <a:endParaRPr lang="en-US" sz="1050"/>
          </a:p>
        </p:txBody>
      </p:sp>
      <p:sp>
        <p:nvSpPr>
          <p:cNvPr id="11" name="Rectangle 10">
            <a:extLst>
              <a:ext uri="{FF2B5EF4-FFF2-40B4-BE49-F238E27FC236}">
                <a16:creationId xmlns:a16="http://schemas.microsoft.com/office/drawing/2014/main" id="{42B9E0D7-5E76-4453-A155-36E0B95DD358}"/>
              </a:ext>
            </a:extLst>
          </p:cNvPr>
          <p:cNvSpPr/>
          <p:nvPr/>
        </p:nvSpPr>
        <p:spPr>
          <a:xfrm>
            <a:off x="5623560" y="5104943"/>
            <a:ext cx="6144768" cy="964084"/>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ysClr val="windowText" lastClr="000000"/>
                </a:solidFill>
              </a:rPr>
              <a:t>Top nationality : China Indo, Malay and SG</a:t>
            </a:r>
          </a:p>
          <a:p>
            <a:pPr marL="171450" indent="-171450">
              <a:buFont typeface="Arial" panose="020B0604020202020204" pitchFamily="34" charset="0"/>
              <a:buChar char="•"/>
            </a:pPr>
            <a:r>
              <a:rPr lang="en-US" sz="1200" dirty="0">
                <a:solidFill>
                  <a:sysClr val="windowText" lastClr="000000"/>
                </a:solidFill>
              </a:rPr>
              <a:t>Key changes come from Indonesia (2017 RN +198%), China ( 1312 RN+28%)</a:t>
            </a:r>
          </a:p>
          <a:p>
            <a:pPr marL="171450" indent="-171450">
              <a:buFont typeface="Arial" panose="020B0604020202020204" pitchFamily="34" charset="0"/>
              <a:buChar char="•"/>
            </a:pPr>
            <a:r>
              <a:rPr lang="en-US" sz="1200" dirty="0">
                <a:solidFill>
                  <a:sysClr val="windowText" lastClr="000000"/>
                </a:solidFill>
              </a:rPr>
              <a:t>the USA and UK dropped. This helps explain the ADR drop: the higher-spending nationalities have faded, pulling the overall ADR down.</a:t>
            </a:r>
          </a:p>
        </p:txBody>
      </p:sp>
      <p:graphicFrame>
        <p:nvGraphicFramePr>
          <p:cNvPr id="8" name="Chart 0">
            <a:extLst>
              <a:ext uri="{FF2B5EF4-FFF2-40B4-BE49-F238E27FC236}">
                <a16:creationId xmlns:a16="http://schemas.microsoft.com/office/drawing/2014/main" id="{ECB97440-7C84-E1C3-821B-4672A7CE1D25}"/>
              </a:ext>
            </a:extLst>
          </p:cNvPr>
          <p:cNvGraphicFramePr/>
          <p:nvPr/>
        </p:nvGraphicFramePr>
        <p:xfrm>
          <a:off x="548640" y="1737360"/>
          <a:ext cx="5029200" cy="44348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Table 0">
            <a:extLst>
              <a:ext uri="{FF2B5EF4-FFF2-40B4-BE49-F238E27FC236}">
                <a16:creationId xmlns:a16="http://schemas.microsoft.com/office/drawing/2014/main" id="{222B76A0-8DD3-2542-EC9A-D9FAE5428B0C}"/>
              </a:ext>
            </a:extLst>
          </p:cNvPr>
          <p:cNvGraphicFramePr>
            <a:graphicFrameLocks noGrp="1"/>
          </p:cNvGraphicFramePr>
          <p:nvPr>
            <p:extLst>
              <p:ext uri="{D42A27DB-BD31-4B8C-83A1-F6EECF244321}">
                <p14:modId xmlns:p14="http://schemas.microsoft.com/office/powerpoint/2010/main" val="3248280981"/>
              </p:ext>
            </p:extLst>
          </p:nvPr>
        </p:nvGraphicFramePr>
        <p:xfrm>
          <a:off x="5623560" y="1759549"/>
          <a:ext cx="6144768" cy="3166872"/>
        </p:xfrm>
        <a:graphic>
          <a:graphicData uri="http://schemas.openxmlformats.org/drawingml/2006/table">
            <a:tbl>
              <a:tblPr/>
              <a:tblGrid>
                <a:gridCol w="1170432">
                  <a:extLst>
                    <a:ext uri="{9D8B030D-6E8A-4147-A177-3AD203B41FA5}">
                      <a16:colId xmlns:a16="http://schemas.microsoft.com/office/drawing/2014/main" val="20000"/>
                    </a:ext>
                  </a:extLst>
                </a:gridCol>
                <a:gridCol w="676656">
                  <a:extLst>
                    <a:ext uri="{9D8B030D-6E8A-4147-A177-3AD203B41FA5}">
                      <a16:colId xmlns:a16="http://schemas.microsoft.com/office/drawing/2014/main" val="20001"/>
                    </a:ext>
                  </a:extLst>
                </a:gridCol>
                <a:gridCol w="676656">
                  <a:extLst>
                    <a:ext uri="{9D8B030D-6E8A-4147-A177-3AD203B41FA5}">
                      <a16:colId xmlns:a16="http://schemas.microsoft.com/office/drawing/2014/main" val="20002"/>
                    </a:ext>
                  </a:extLst>
                </a:gridCol>
                <a:gridCol w="621792">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676656">
                  <a:extLst>
                    <a:ext uri="{9D8B030D-6E8A-4147-A177-3AD203B41FA5}">
                      <a16:colId xmlns:a16="http://schemas.microsoft.com/office/drawing/2014/main" val="900041"/>
                    </a:ext>
                  </a:extLst>
                </a:gridCol>
                <a:gridCol w="676656">
                  <a:extLst>
                    <a:ext uri="{9D8B030D-6E8A-4147-A177-3AD203B41FA5}">
                      <a16:colId xmlns:a16="http://schemas.microsoft.com/office/drawing/2014/main" val="900042"/>
                    </a:ext>
                  </a:extLst>
                </a:gridCol>
                <a:gridCol w="640080">
                  <a:extLst>
                    <a:ext uri="{9D8B030D-6E8A-4147-A177-3AD203B41FA5}">
                      <a16:colId xmlns:a16="http://schemas.microsoft.com/office/drawing/2014/main" val="950003"/>
                    </a:ext>
                  </a:extLst>
                </a:gridCol>
                <a:gridCol w="530352">
                  <a:extLst>
                    <a:ext uri="{9D8B030D-6E8A-4147-A177-3AD203B41FA5}">
                      <a16:colId xmlns:a16="http://schemas.microsoft.com/office/drawing/2014/main" val="900043"/>
                    </a:ext>
                  </a:extLst>
                </a:gridCol>
              </a:tblGrid>
              <a:tr h="256032">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Nationality</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China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4,642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5,954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+1,312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+28%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1,363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1,293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-70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Indonesia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3,034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+2,017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+198%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1,437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Singapore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2,762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2,336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1,368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1,331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Malaysia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2,138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2,120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1,398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1,331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-68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Taiwan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1,200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1,524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+324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1,371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1,333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Thailand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1,873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1,463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1,494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1,530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+36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USA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1,999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1,440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-559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1,559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1,606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+46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Japan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926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1,038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+112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+12%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1,421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1,389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8"/>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UK</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1,201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809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-392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1,455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1,509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Germany</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740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741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1,517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1,480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256032">
                <a:tc>
                  <a:txBody>
                    <a:bodyPr/>
                    <a:lstStyle/>
                    <a:p>
                      <a:pPr marL="0" indent="0">
                        <a:buNone/>
                      </a:pPr>
                      <a:r>
                        <a:rPr lang="en-US" sz="850" b="1">
                          <a:solidFill>
                            <a:srgbClr val="1E2761"/>
                          </a:solidFill>
                          <a:latin typeface="Calibri" pitchFamily="34" charset="0"/>
                          <a:ea typeface="Calibri" pitchFamily="34" charset="-122"/>
                          <a:cs typeface="Calibri" pitchFamily="34" charset="-120"/>
                        </a:rPr>
                        <a:t>Top-10 total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18,498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20,459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+1,961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6B7280"/>
                          </a:solidFill>
                          <a:latin typeface="Calibri" pitchFamily="34" charset="0"/>
                          <a:ea typeface="Calibri" pitchFamily="34" charset="-122"/>
                          <a:cs typeface="Calibri" pitchFamily="34" charset="-120"/>
                        </a:rPr>
                        <a:t>1,422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1,354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-68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6 · LYF SUKHUMVIT 8 BANGKOK (LYF)</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lyf Sukhumvit 8 Bangkok (LYF) — RN and ADR by segment</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Monthly mix 2026 (left) · YTD share (right) · table: H1 room nights and ADR, 2026 vs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600200"/>
          <a:ext cx="6675120" cy="2514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nvGraphicFramePr>
        <p:xfrm>
          <a:off x="7635240" y="1600200"/>
          <a:ext cx="4023360" cy="25146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1078934294"/>
              </p:ext>
            </p:extLst>
          </p:nvPr>
        </p:nvGraphicFramePr>
        <p:xfrm>
          <a:off x="548639" y="4120773"/>
          <a:ext cx="10075212" cy="1480566"/>
        </p:xfrm>
        <a:graphic>
          <a:graphicData uri="http://schemas.openxmlformats.org/drawingml/2006/table">
            <a:tbl>
              <a:tblPr>
                <a:tableStyleId>{5C22544A-7EE6-4342-B048-85BDC9FD1C3A}</a:tableStyleId>
              </a:tblPr>
              <a:tblGrid>
                <a:gridCol w="2015042">
                  <a:extLst>
                    <a:ext uri="{9D8B030D-6E8A-4147-A177-3AD203B41FA5}">
                      <a16:colId xmlns:a16="http://schemas.microsoft.com/office/drawing/2014/main" val="20000"/>
                    </a:ext>
                  </a:extLst>
                </a:gridCol>
                <a:gridCol w="1415976">
                  <a:extLst>
                    <a:ext uri="{9D8B030D-6E8A-4147-A177-3AD203B41FA5}">
                      <a16:colId xmlns:a16="http://schemas.microsoft.com/office/drawing/2014/main" val="20001"/>
                    </a:ext>
                  </a:extLst>
                </a:gridCol>
                <a:gridCol w="1415976">
                  <a:extLst>
                    <a:ext uri="{9D8B030D-6E8A-4147-A177-3AD203B41FA5}">
                      <a16:colId xmlns:a16="http://schemas.microsoft.com/office/drawing/2014/main" val="20002"/>
                    </a:ext>
                  </a:extLst>
                </a:gridCol>
                <a:gridCol w="1198133">
                  <a:extLst>
                    <a:ext uri="{9D8B030D-6E8A-4147-A177-3AD203B41FA5}">
                      <a16:colId xmlns:a16="http://schemas.microsoft.com/office/drawing/2014/main" val="20003"/>
                    </a:ext>
                  </a:extLst>
                </a:gridCol>
                <a:gridCol w="1415976">
                  <a:extLst>
                    <a:ext uri="{9D8B030D-6E8A-4147-A177-3AD203B41FA5}">
                      <a16:colId xmlns:a16="http://schemas.microsoft.com/office/drawing/2014/main" val="20005"/>
                    </a:ext>
                  </a:extLst>
                </a:gridCol>
                <a:gridCol w="1415976">
                  <a:extLst>
                    <a:ext uri="{9D8B030D-6E8A-4147-A177-3AD203B41FA5}">
                      <a16:colId xmlns:a16="http://schemas.microsoft.com/office/drawing/2014/main" val="20006"/>
                    </a:ext>
                  </a:extLst>
                </a:gridCol>
                <a:gridCol w="1198133">
                  <a:extLst>
                    <a:ext uri="{9D8B030D-6E8A-4147-A177-3AD203B41FA5}">
                      <a16:colId xmlns:a16="http://schemas.microsoft.com/office/drawing/2014/main" val="20007"/>
                    </a:ext>
                  </a:extLst>
                </a:gridCol>
              </a:tblGrid>
              <a:tr h="158958">
                <a:tc>
                  <a:txBody>
                    <a:bodyPr/>
                    <a:lstStyle/>
                    <a:p>
                      <a:pPr algn="l"/>
                      <a:r>
                        <a:rPr sz="950" b="1">
                          <a:solidFill>
                            <a:srgbClr val="FFFFFF"/>
                          </a:solidFill>
                          <a:latin typeface="Calibri"/>
                        </a:rPr>
                        <a:t>Segment (H1)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lang="en-US" sz="950" b="1">
                          <a:solidFill>
                            <a:srgbClr val="FFFFFF"/>
                          </a:solidFill>
                          <a:latin typeface="Calibri"/>
                        </a:rPr>
                        <a:t>RN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’25</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a:solidFill>
                        <a:srgbClr val="E2E7F2"/>
                      </a:solidFill>
                    </a:lnT>
                    <a:lnB w="6350" cap="flat" cmpd="sng" algn="ctr">
                      <a:solidFill>
                        <a:srgbClr val="E2E7F2"/>
                      </a:solidFill>
                      <a:prstDash val="solid"/>
                      <a:round/>
                      <a:headEnd type="none" w="med" len="med"/>
                      <a:tailEnd type="none" w="med" len="med"/>
                    </a:lnB>
                    <a:solidFill>
                      <a:srgbClr val="1E2761"/>
                    </a:solidFill>
                  </a:tcPr>
                </a:tc>
                <a:tc>
                  <a:txBody>
                    <a:bodyPr/>
                    <a:lstStyle/>
                    <a:p>
                      <a:pPr algn="r"/>
                      <a:r>
                        <a:rPr sz="950" b="1">
                          <a:solidFill>
                            <a:srgbClr val="FFFFFF"/>
                          </a:solidFill>
                          <a:latin typeface="Calibri"/>
                        </a:rPr>
                        <a:t>ADR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lang="en-US" sz="950" b="1">
                          <a:solidFill>
                            <a:srgbClr val="FFFFFF"/>
                          </a:solidFill>
                          <a:latin typeface="Calibri"/>
                        </a:rPr>
                        <a:t>ADR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58958">
                <a:tc>
                  <a:txBody>
                    <a:bodyPr/>
                    <a:lstStyle/>
                    <a:p>
                      <a:pPr algn="l"/>
                      <a:r>
                        <a:rPr sz="1000" b="0">
                          <a:solidFill>
                            <a:srgbClr val="26292E"/>
                          </a:solidFill>
                          <a:latin typeface="Calibri"/>
                        </a:rPr>
                        <a:t>Corporate SS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660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900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1,279</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1,369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+7.0%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58958">
                <a:tc>
                  <a:txBody>
                    <a:bodyPr/>
                    <a:lstStyle/>
                    <a:p>
                      <a:pPr algn="l"/>
                      <a:r>
                        <a:rPr sz="1000" b="0">
                          <a:solidFill>
                            <a:srgbClr val="26292E"/>
                          </a:solidFill>
                          <a:latin typeface="Calibri"/>
                        </a:rPr>
                        <a:t>Corporate LS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50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181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latin typeface="Calibri"/>
                        </a:rPr>
                        <a:t>+262%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1,314</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940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-28.5%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58958">
                <a:tc>
                  <a:txBody>
                    <a:bodyPr/>
                    <a:lstStyle/>
                    <a:p>
                      <a:pPr algn="l"/>
                      <a:r>
                        <a:rPr sz="1000" b="1">
                          <a:solidFill>
                            <a:srgbClr val="26292E"/>
                          </a:solidFill>
                          <a:latin typeface="Calibri"/>
                        </a:rPr>
                        <a:t>Online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17,803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26292E"/>
                          </a:solidFill>
                          <a:latin typeface="Calibri"/>
                        </a:rPr>
                        <a:t>18,270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latin typeface="Calibri"/>
                        </a:rPr>
                        <a:t>+3%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1,559</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dirty="0">
                          <a:solidFill>
                            <a:srgbClr val="26292E"/>
                          </a:solidFill>
                          <a:latin typeface="Calibri"/>
                        </a:rPr>
                        <a:t>1,430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-8.2%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71450">
                <a:tc>
                  <a:txBody>
                    <a:bodyPr/>
                    <a:lstStyle/>
                    <a:p>
                      <a:pPr algn="l"/>
                      <a:r>
                        <a:rPr sz="1000" b="0">
                          <a:solidFill>
                            <a:srgbClr val="26292E"/>
                          </a:solidFill>
                          <a:latin typeface="Calibri"/>
                        </a:rPr>
                        <a:t>ASR</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4,269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3,237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-24%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1,325</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dirty="0">
                          <a:solidFill>
                            <a:srgbClr val="26292E"/>
                          </a:solidFill>
                          <a:latin typeface="Calibri"/>
                        </a:rPr>
                        <a:t>1,295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-2.3%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r h="158958">
                <a:tc>
                  <a:txBody>
                    <a:bodyPr/>
                    <a:lstStyle/>
                    <a:p>
                      <a:pPr algn="l"/>
                      <a:r>
                        <a:rPr sz="1000" b="0" dirty="0">
                          <a:solidFill>
                            <a:srgbClr val="26292E"/>
                          </a:solidFill>
                          <a:latin typeface="Calibri"/>
                        </a:rPr>
                        <a:t>Wholesale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5,017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4,965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1,221</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1,249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1E7B34"/>
                          </a:solidFill>
                          <a:latin typeface="Calibri"/>
                        </a:rPr>
                        <a:t>+2.3%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5"/>
                  </a:ext>
                </a:extLst>
              </a:tr>
              <a:tr h="0">
                <a:tc>
                  <a:txBody>
                    <a:bodyPr/>
                    <a:lstStyle/>
                    <a:p>
                      <a:pPr algn="l"/>
                      <a:r>
                        <a:rPr sz="1000" b="0">
                          <a:solidFill>
                            <a:srgbClr val="26292E"/>
                          </a:solidFill>
                          <a:latin typeface="Calibri"/>
                        </a:rPr>
                        <a:t>Group</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26292E"/>
                          </a:solidFill>
                          <a:latin typeface="Calibri"/>
                        </a:rPr>
                        <a:t>43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endParaRPr dirty="0"/>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dirty="0">
                          <a:solidFill>
                            <a:srgbClr val="595959"/>
                          </a:solidFill>
                          <a:latin typeface="Calibri"/>
                        </a:rPr>
                        <a:t>–</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a:r>
                        <a:rPr sz="1000" b="1">
                          <a:solidFill>
                            <a:srgbClr val="26292E"/>
                          </a:solidFill>
                          <a:latin typeface="Calibri"/>
                        </a:rPr>
                        <a:t>1,361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endParaRPr dirty="0"/>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6"/>
                  </a:ext>
                </a:extLst>
              </a:tr>
              <a:tr h="158958">
                <a:tc>
                  <a:txBody>
                    <a:bodyPr/>
                    <a:lstStyle/>
                    <a:p>
                      <a:pPr algn="l"/>
                      <a:r>
                        <a:rPr sz="1000" b="1">
                          <a:solidFill>
                            <a:srgbClr val="26292E"/>
                          </a:solidFill>
                          <a:latin typeface="Calibri"/>
                        </a:rPr>
                        <a:t>Total</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595959"/>
                          </a:solidFill>
                          <a:latin typeface="Calibri"/>
                        </a:rPr>
                        <a:t>28,019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27,714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595959"/>
                          </a:solidFill>
                          <a:latin typeface="Calibri"/>
                        </a:rPr>
                        <a:t>1,451</a:t>
                      </a:r>
                    </a:p>
                  </a:txBody>
                  <a:tcPr marL="45720" marR="45720" marT="9144" marB="9144" anchor="ctr">
                    <a:lnL w="6350" cap="flat" cmpd="sng" algn="ctr">
                      <a:solidFill>
                        <a:srgbClr val="E2E7F2"/>
                      </a:solidFill>
                      <a:prstDash val="solid"/>
                      <a:round/>
                      <a:headEnd type="none" w="med" len="med"/>
                      <a:tailEnd type="none" w="med" len="med"/>
                    </a:lnL>
                    <a:lnR w="6350">
                      <a:solidFill>
                        <a:srgbClr val="E2E7F2"/>
                      </a:solidFill>
                    </a:lnR>
                    <a:lnT w="6350" cap="flat" cmpd="sng" algn="ctr">
                      <a:solidFill>
                        <a:srgbClr val="E2E7F2"/>
                      </a:solidFill>
                      <a:prstDash val="solid"/>
                      <a:round/>
                      <a:headEnd type="none" w="med" len="med"/>
                      <a:tailEnd type="none" w="med" len="med"/>
                    </a:lnT>
                    <a:lnB w="6350">
                      <a:solidFill>
                        <a:srgbClr val="E2E7F2"/>
                      </a:solidFill>
                    </a:lnB>
                    <a:solidFill>
                      <a:srgbClr val="FFFFFF"/>
                    </a:solidFill>
                  </a:tcPr>
                </a:tc>
                <a:tc>
                  <a:txBody>
                    <a:bodyPr/>
                    <a:lstStyle/>
                    <a:p>
                      <a:pPr algn="r"/>
                      <a:r>
                        <a:rPr sz="1000" b="1">
                          <a:solidFill>
                            <a:srgbClr val="26292E"/>
                          </a:solidFill>
                          <a:latin typeface="Calibri"/>
                        </a:rPr>
                        <a:t>1,375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dirty="0">
                          <a:solidFill>
                            <a:srgbClr val="C62828"/>
                          </a:solidFill>
                          <a:latin typeface="Calibri"/>
                        </a:rPr>
                        <a:t>-5.2%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7"/>
                  </a:ext>
                </a:extLst>
              </a:tr>
            </a:tbl>
          </a:graphicData>
        </a:graphic>
      </p:graphicFrame>
      <p:sp>
        <p:nvSpPr>
          <p:cNvPr id="11" name="Rectangle 10">
            <a:extLst>
              <a:ext uri="{FF2B5EF4-FFF2-40B4-BE49-F238E27FC236}">
                <a16:creationId xmlns:a16="http://schemas.microsoft.com/office/drawing/2014/main" id="{305E6024-1FFD-E8D1-D9D2-621DDA6573DD}"/>
              </a:ext>
            </a:extLst>
          </p:cNvPr>
          <p:cNvSpPr/>
          <p:nvPr/>
        </p:nvSpPr>
        <p:spPr>
          <a:xfrm>
            <a:off x="548640" y="5735503"/>
            <a:ext cx="10075212" cy="749808"/>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ysClr val="windowText" lastClr="000000"/>
                </a:solidFill>
              </a:rPr>
              <a:t>Largest segment YTD: Online (66% of room nights). </a:t>
            </a:r>
          </a:p>
          <a:p>
            <a:pPr marL="171450" indent="-171450">
              <a:buFont typeface="Arial" panose="020B0604020202020204" pitchFamily="34" charset="0"/>
              <a:buChar char="•"/>
            </a:pPr>
            <a:r>
              <a:rPr lang="en-US" sz="1200" dirty="0">
                <a:solidFill>
                  <a:sysClr val="windowText" lastClr="000000"/>
                </a:solidFill>
              </a:rPr>
              <a:t>And even as OTA volume grew +3%, the OTA rate itself dropped −8%.</a:t>
            </a:r>
          </a:p>
          <a:p>
            <a:pPr marL="171450" indent="-171450">
              <a:buFont typeface="Arial" panose="020B0604020202020204" pitchFamily="34" charset="0"/>
              <a:buChar char="•"/>
            </a:pPr>
            <a:r>
              <a:rPr lang="th-TH" sz="1200" dirty="0">
                <a:solidFill>
                  <a:sysClr val="windowText" lastClr="000000"/>
                </a:solidFill>
              </a:rPr>
              <a:t>แอบคิดว่าที่ทำให้</a:t>
            </a:r>
            <a:r>
              <a:rPr lang="en-US" sz="1200" dirty="0">
                <a:solidFill>
                  <a:sysClr val="windowText" lastClr="000000"/>
                </a:solidFill>
              </a:rPr>
              <a:t> ADR </a:t>
            </a:r>
            <a:r>
              <a:rPr lang="th-TH" sz="1200" dirty="0">
                <a:solidFill>
                  <a:sysClr val="windowText" lastClr="000000"/>
                </a:solidFill>
              </a:rPr>
              <a:t>ต่ำเพราะเอาไปขาย </a:t>
            </a:r>
            <a:r>
              <a:rPr lang="en-US" sz="1200" dirty="0">
                <a:solidFill>
                  <a:sysClr val="windowText" lastClr="000000"/>
                </a:solidFill>
              </a:rPr>
              <a:t>Corporate LS</a:t>
            </a:r>
            <a:r>
              <a:rPr lang="th-TH" sz="1200" dirty="0">
                <a:solidFill>
                  <a:sysClr val="windowText" lastClr="000000"/>
                </a:solidFill>
              </a:rPr>
              <a:t> หรือเปล่า</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6 · LYF SUKHUMVIT 8 BANGKOK (LYF)</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lyf Sukhumvit 8 Bangkok (LYF) — P&amp;L, H1 2026</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YTD Jan–Jun vs MF budget · monthly P&amp;L: actual 2026 vs Budget (MF) and actual 2025 · ฿M</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83080"/>
          <a:ext cx="539496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554248437"/>
              </p:ext>
            </p:extLst>
          </p:nvPr>
        </p:nvGraphicFramePr>
        <p:xfrm>
          <a:off x="548640" y="3886200"/>
          <a:ext cx="5394956" cy="2460244"/>
        </p:xfrm>
        <a:graphic>
          <a:graphicData uri="http://schemas.openxmlformats.org/drawingml/2006/table">
            <a:tbl>
              <a:tblPr/>
              <a:tblGrid>
                <a:gridCol w="932688">
                  <a:extLst>
                    <a:ext uri="{9D8B030D-6E8A-4147-A177-3AD203B41FA5}">
                      <a16:colId xmlns:a16="http://schemas.microsoft.com/office/drawing/2014/main" val="20000"/>
                    </a:ext>
                  </a:extLst>
                </a:gridCol>
                <a:gridCol w="603503">
                  <a:extLst>
                    <a:ext uri="{9D8B030D-6E8A-4147-A177-3AD203B41FA5}">
                      <a16:colId xmlns:a16="http://schemas.microsoft.com/office/drawing/2014/main" val="20001"/>
                    </a:ext>
                  </a:extLst>
                </a:gridCol>
                <a:gridCol w="603503">
                  <a:extLst>
                    <a:ext uri="{9D8B030D-6E8A-4147-A177-3AD203B41FA5}">
                      <a16:colId xmlns:a16="http://schemas.microsoft.com/office/drawing/2014/main" val="20002"/>
                    </a:ext>
                  </a:extLst>
                </a:gridCol>
                <a:gridCol w="603503">
                  <a:extLst>
                    <a:ext uri="{9D8B030D-6E8A-4147-A177-3AD203B41FA5}">
                      <a16:colId xmlns:a16="http://schemas.microsoft.com/office/drawing/2014/main" val="20003"/>
                    </a:ext>
                  </a:extLst>
                </a:gridCol>
                <a:gridCol w="603503">
                  <a:extLst>
                    <a:ext uri="{9D8B030D-6E8A-4147-A177-3AD203B41FA5}">
                      <a16:colId xmlns:a16="http://schemas.microsoft.com/office/drawing/2014/main" val="20004"/>
                    </a:ext>
                  </a:extLst>
                </a:gridCol>
                <a:gridCol w="603503">
                  <a:extLst>
                    <a:ext uri="{9D8B030D-6E8A-4147-A177-3AD203B41FA5}">
                      <a16:colId xmlns:a16="http://schemas.microsoft.com/office/drawing/2014/main" val="20005"/>
                    </a:ext>
                  </a:extLst>
                </a:gridCol>
                <a:gridCol w="603503">
                  <a:extLst>
                    <a:ext uri="{9D8B030D-6E8A-4147-A177-3AD203B41FA5}">
                      <a16:colId xmlns:a16="http://schemas.microsoft.com/office/drawing/2014/main" val="20006"/>
                    </a:ext>
                  </a:extLst>
                </a:gridCol>
                <a:gridCol w="841250">
                  <a:extLst>
                    <a:ext uri="{9D8B030D-6E8A-4147-A177-3AD203B41FA5}">
                      <a16:colId xmlns:a16="http://schemas.microsoft.com/office/drawing/2014/main" val="20007"/>
                    </a:ext>
                  </a:extLst>
                </a:gridCol>
              </a:tblGrid>
              <a:tr h="150876">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Jan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Feb</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Apr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May</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Jun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H1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Revenue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6.7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6.3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42.4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dirty="0">
                          <a:solidFill>
                            <a:srgbClr val="6B7280"/>
                          </a:solidFill>
                          <a:latin typeface="Calibri" pitchFamily="34" charset="0"/>
                          <a:ea typeface="Calibri" pitchFamily="34" charset="-122"/>
                          <a:cs typeface="Calibri" pitchFamily="34" charset="-120"/>
                        </a:rPr>
                        <a:t>Revenue </a:t>
                      </a:r>
                      <a:r>
                        <a:rPr lang="en-US" sz="750" b="0" dirty="0">
                          <a:solidFill>
                            <a:srgbClr val="6B7280"/>
                          </a:solidFill>
                          <a:latin typeface="Calibri" pitchFamily="34" charset="0"/>
                          <a:ea typeface="Calibri" pitchFamily="34" charset="-122"/>
                          <a:cs typeface="Calibri" pitchFamily="34" charset="-120"/>
                        </a:rPr>
                        <a:t>Budget</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9.3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8.9</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6.7</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6.8</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6.2</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5.7</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43.6</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3888518330"/>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Revenue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9.3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7.2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-21.6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44"/>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5"/>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OPEX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-21.6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20.8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45"/>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21.0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GOP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18.3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7.7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46"/>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7.0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1"/>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EBIT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-0.5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0.1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4.5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150876">
                <a:tc>
                  <a:txBody>
                    <a:bodyPr/>
                    <a:lstStyle/>
                    <a:p>
                      <a:pPr marL="0" indent="0">
                        <a:buNone/>
                      </a:pPr>
                      <a:r>
                        <a:rPr lang="en-US" sz="750" dirty="0">
                          <a:solidFill>
                            <a:srgbClr val="6B7280"/>
                          </a:solidFill>
                          <a:latin typeface="Calibri" pitchFamily="34" charset="0"/>
                          <a:ea typeface="Calibri" pitchFamily="34" charset="-122"/>
                          <a:cs typeface="Calibri" pitchFamily="34" charset="-120"/>
                        </a:rPr>
                        <a:t>NPAT ’25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-8.0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b="0" dirty="0">
                          <a:solidFill>
                            <a:srgbClr val="26292E"/>
                          </a:solidFill>
                          <a:latin typeface="Calibri" pitchFamily="34" charset="0"/>
                          <a:ea typeface="Calibri" pitchFamily="34" charset="-122"/>
                          <a:cs typeface="Calibri" pitchFamily="34" charset="-120"/>
                        </a:rPr>
                        <a:t>NPAT </a:t>
                      </a:r>
                      <a:r>
                        <a:rPr lang="en-US" sz="750" b="0" dirty="0">
                          <a:solidFill>
                            <a:srgbClr val="6B7280"/>
                          </a:solidFill>
                          <a:latin typeface="Calibri" pitchFamily="34" charset="0"/>
                          <a:ea typeface="Calibri" pitchFamily="34" charset="-122"/>
                          <a:cs typeface="Calibri" pitchFamily="34" charset="-120"/>
                        </a:rPr>
                        <a:t>Budget</a:t>
                      </a:r>
                      <a:endParaRPr lang="en-US" sz="750" b="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0.1</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0.1</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-2.5</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-2.8</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-9.2</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918252863"/>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NPAT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-0.1</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-0.2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-2.7</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-9.1</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2220882543"/>
              </p:ext>
            </p:extLst>
          </p:nvPr>
        </p:nvGraphicFramePr>
        <p:xfrm>
          <a:off x="6126480" y="1508760"/>
          <a:ext cx="5513832" cy="2277571"/>
        </p:xfrm>
        <a:graphic>
          <a:graphicData uri="http://schemas.openxmlformats.org/drawingml/2006/table">
            <a:tbl>
              <a:tblPr/>
              <a:tblGrid>
                <a:gridCol w="983359">
                  <a:extLst>
                    <a:ext uri="{9D8B030D-6E8A-4147-A177-3AD203B41FA5}">
                      <a16:colId xmlns:a16="http://schemas.microsoft.com/office/drawing/2014/main" val="20000"/>
                    </a:ext>
                  </a:extLst>
                </a:gridCol>
                <a:gridCol w="667279">
                  <a:extLst>
                    <a:ext uri="{9D8B030D-6E8A-4147-A177-3AD203B41FA5}">
                      <a16:colId xmlns:a16="http://schemas.microsoft.com/office/drawing/2014/main" val="20001"/>
                    </a:ext>
                  </a:extLst>
                </a:gridCol>
                <a:gridCol w="667279">
                  <a:extLst>
                    <a:ext uri="{9D8B030D-6E8A-4147-A177-3AD203B41FA5}">
                      <a16:colId xmlns:a16="http://schemas.microsoft.com/office/drawing/2014/main" val="20002"/>
                    </a:ext>
                  </a:extLst>
                </a:gridCol>
                <a:gridCol w="702399">
                  <a:extLst>
                    <a:ext uri="{9D8B030D-6E8A-4147-A177-3AD203B41FA5}">
                      <a16:colId xmlns:a16="http://schemas.microsoft.com/office/drawing/2014/main" val="20003"/>
                    </a:ext>
                  </a:extLst>
                </a:gridCol>
                <a:gridCol w="632159">
                  <a:extLst>
                    <a:ext uri="{9D8B030D-6E8A-4147-A177-3AD203B41FA5}">
                      <a16:colId xmlns:a16="http://schemas.microsoft.com/office/drawing/2014/main" val="20004"/>
                    </a:ext>
                  </a:extLst>
                </a:gridCol>
                <a:gridCol w="649719">
                  <a:extLst>
                    <a:ext uri="{9D8B030D-6E8A-4147-A177-3AD203B41FA5}">
                      <a16:colId xmlns:a16="http://schemas.microsoft.com/office/drawing/2014/main" val="20005"/>
                    </a:ext>
                  </a:extLst>
                </a:gridCol>
                <a:gridCol w="597039">
                  <a:extLst>
                    <a:ext uri="{9D8B030D-6E8A-4147-A177-3AD203B41FA5}">
                      <a16:colId xmlns:a16="http://schemas.microsoft.com/office/drawing/2014/main" val="20006"/>
                    </a:ext>
                  </a:extLst>
                </a:gridCol>
                <a:gridCol w="614599">
                  <a:extLst>
                    <a:ext uri="{9D8B030D-6E8A-4147-A177-3AD203B41FA5}">
                      <a16:colId xmlns:a16="http://schemas.microsoft.com/office/drawing/2014/main" val="20007"/>
                    </a:ext>
                  </a:extLst>
                </a:gridCol>
              </a:tblGrid>
              <a:tr h="340417">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2026 (YTD)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Actual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Revenue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฿40.0M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฿43.6M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-8.4%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฿42.4M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-5.8%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฿36.2M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+10.3%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OPEX</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−฿21.6M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−฿22.6M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+0.2%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−฿19.1M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+13.3%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GOP</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฿18.3M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฿20.8M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-12.0%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฿17.1M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+7.0%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GOP margin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45.9%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48.1%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49.1%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-6.5%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47.3%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JV expense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−฿13.8M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−฿14.0M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−฿12.7M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+9.0%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EBIT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1E2761"/>
                          </a:solidFill>
                          <a:latin typeface="Calibri" pitchFamily="34" charset="0"/>
                          <a:ea typeface="Calibri" pitchFamily="34" charset="-122"/>
                          <a:cs typeface="Calibri" pitchFamily="34" charset="-120"/>
                        </a:rPr>
                        <a:t>฿4.5M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฿7.0M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฿7.7M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฿4.5M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75293">
                <a:tc>
                  <a:txBody>
                    <a:bodyPr/>
                    <a:lstStyle/>
                    <a:p>
                      <a:pPr marL="0" indent="0">
                        <a:buNone/>
                      </a:pPr>
                      <a:r>
                        <a:rPr lang="en-US" sz="850" b="1">
                          <a:solidFill>
                            <a:srgbClr val="26292E"/>
                          </a:solidFill>
                          <a:latin typeface="Calibri" pitchFamily="34" charset="0"/>
                          <a:ea typeface="Calibri" pitchFamily="34" charset="-122"/>
                          <a:cs typeface="Calibri" pitchFamily="34" charset="-120"/>
                        </a:rPr>
                        <a:t>NPAT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1E2761"/>
                          </a:solidFill>
                          <a:latin typeface="Calibri" pitchFamily="34" charset="0"/>
                          <a:ea typeface="Calibri" pitchFamily="34" charset="-122"/>
                          <a:cs typeface="Calibri" pitchFamily="34" charset="-120"/>
                        </a:rPr>
                        <a:t>−฿9.1M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−฿9.2M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−฿8.0M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−฿9.0M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4"/>
          <p:cNvSpPr/>
          <p:nvPr/>
        </p:nvSpPr>
        <p:spPr>
          <a:xfrm>
            <a:off x="6126480" y="3968858"/>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0" name="Text 5"/>
          <p:cNvSpPr/>
          <p:nvPr/>
        </p:nvSpPr>
        <p:spPr>
          <a:xfrm>
            <a:off x="6272784" y="4060298"/>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REVENUE H1 2026</a:t>
            </a:r>
            <a:endParaRPr lang="en-US" sz="1050"/>
          </a:p>
        </p:txBody>
      </p:sp>
      <p:sp>
        <p:nvSpPr>
          <p:cNvPr id="11" name="Text 6"/>
          <p:cNvSpPr/>
          <p:nvPr/>
        </p:nvSpPr>
        <p:spPr>
          <a:xfrm>
            <a:off x="6272784" y="4279754"/>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฿40.0M</a:t>
            </a:r>
            <a:endParaRPr lang="en-US" sz="2400"/>
          </a:p>
        </p:txBody>
      </p:sp>
      <p:sp>
        <p:nvSpPr>
          <p:cNvPr id="12" name="Text 7"/>
          <p:cNvSpPr/>
          <p:nvPr/>
        </p:nvSpPr>
        <p:spPr>
          <a:xfrm>
            <a:off x="6272784" y="4736954"/>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-5.8% vs H1 2025</a:t>
            </a:r>
            <a:endParaRPr lang="en-US" sz="1050"/>
          </a:p>
        </p:txBody>
      </p:sp>
      <p:sp>
        <p:nvSpPr>
          <p:cNvPr id="13" name="Shape 8"/>
          <p:cNvSpPr/>
          <p:nvPr/>
        </p:nvSpPr>
        <p:spPr>
          <a:xfrm>
            <a:off x="8988552" y="3968858"/>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4" name="Text 9"/>
          <p:cNvSpPr/>
          <p:nvPr/>
        </p:nvSpPr>
        <p:spPr>
          <a:xfrm>
            <a:off x="9134856" y="4060298"/>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EBIT H1 2026</a:t>
            </a:r>
            <a:endParaRPr lang="en-US" sz="1050"/>
          </a:p>
        </p:txBody>
      </p:sp>
      <p:sp>
        <p:nvSpPr>
          <p:cNvPr id="15" name="Text 10"/>
          <p:cNvSpPr/>
          <p:nvPr/>
        </p:nvSpPr>
        <p:spPr>
          <a:xfrm>
            <a:off x="9134856" y="4279754"/>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฿4.5M</a:t>
            </a:r>
            <a:endParaRPr lang="en-US" sz="2400"/>
          </a:p>
        </p:txBody>
      </p:sp>
      <p:sp>
        <p:nvSpPr>
          <p:cNvPr id="16" name="Text 11"/>
          <p:cNvSpPr/>
          <p:nvPr/>
        </p:nvSpPr>
        <p:spPr>
          <a:xfrm>
            <a:off x="9134856" y="4736954"/>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−฿3.2M vs H1 2025 (฿7.7M)</a:t>
            </a:r>
            <a:endParaRPr lang="en-US" sz="1050"/>
          </a:p>
        </p:txBody>
      </p:sp>
      <p:sp>
        <p:nvSpPr>
          <p:cNvPr id="8" name="Rectangle 7">
            <a:extLst>
              <a:ext uri="{FF2B5EF4-FFF2-40B4-BE49-F238E27FC236}">
                <a16:creationId xmlns:a16="http://schemas.microsoft.com/office/drawing/2014/main" id="{9D5C6AF7-3646-F2BB-1218-B97791D953AC}"/>
              </a:ext>
            </a:extLst>
          </p:cNvPr>
          <p:cNvSpPr/>
          <p:nvPr/>
        </p:nvSpPr>
        <p:spPr>
          <a:xfrm>
            <a:off x="6126480" y="5317888"/>
            <a:ext cx="5513833" cy="1313595"/>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chemeClr val="tx1"/>
                </a:solidFill>
              </a:rPr>
              <a:t>Revenue is −5.8% vs LY and OPEX is higher from marketing cost (Online PR and Website expense) GOP is −12% vs last year and JV expense is also higher (Due to House and building tax for 3 years passed), so EBIT drops on the weak revenue and NPAT is negative.</a:t>
            </a:r>
          </a:p>
          <a:p>
            <a:pPr marL="171450" indent="-171450">
              <a:buFont typeface="Arial" panose="020B0604020202020204" pitchFamily="34" charset="0"/>
              <a:buChar char="•"/>
            </a:pPr>
            <a:r>
              <a:rPr lang="en-US" sz="1200" dirty="0">
                <a:solidFill>
                  <a:schemeClr val="tx1"/>
                </a:solidFill>
              </a:rPr>
              <a:t>Compare to BG&gt;&gt; Shortfall from the revenue -8.4% GOP margin -4.6% from the bg. EBIT -35% from bg. NPAT align with BG (in MF projection we projected interest and tax buffer 2 MB)</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9">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1965960"/>
            <a:ext cx="2011680" cy="1554480"/>
          </a:xfrm>
          <a:prstGeom prst="rect">
            <a:avLst/>
          </a:prstGeom>
          <a:noFill/>
          <a:ln/>
        </p:spPr>
        <p:txBody>
          <a:bodyPr wrap="square" lIns="0" tIns="0" rIns="0" bIns="0" rtlCol="0" anchor="ctr"/>
          <a:lstStyle/>
          <a:p>
            <a:pPr marL="0" indent="0">
              <a:buNone/>
            </a:pPr>
            <a:r>
              <a:rPr lang="en-US" sz="9600" b="1">
                <a:solidFill>
                  <a:srgbClr val="D9A441"/>
                </a:solidFill>
                <a:latin typeface="Calibri" pitchFamily="34" charset="0"/>
                <a:ea typeface="Calibri" pitchFamily="34" charset="-122"/>
                <a:cs typeface="Calibri" pitchFamily="34" charset="-120"/>
              </a:rPr>
              <a:t>7</a:t>
            </a:r>
            <a:endParaRPr lang="en-US" sz="9600"/>
          </a:p>
        </p:txBody>
      </p:sp>
      <p:sp>
        <p:nvSpPr>
          <p:cNvPr id="3" name="Text 1"/>
          <p:cNvSpPr/>
          <p:nvPr/>
        </p:nvSpPr>
        <p:spPr>
          <a:xfrm>
            <a:off x="2514600" y="2286000"/>
            <a:ext cx="8778240" cy="914400"/>
          </a:xfrm>
          <a:prstGeom prst="rect">
            <a:avLst/>
          </a:prstGeom>
          <a:noFill/>
          <a:ln/>
        </p:spPr>
        <p:txBody>
          <a:bodyPr wrap="square" lIns="0" tIns="0" rIns="0" bIns="0" rtlCol="0" anchor="ctr"/>
          <a:lstStyle/>
          <a:p>
            <a:pPr marL="0" indent="0">
              <a:buNone/>
            </a:pPr>
            <a:r>
              <a:rPr lang="en-US" sz="4000" b="1">
                <a:solidFill>
                  <a:srgbClr val="FFFFFF"/>
                </a:solidFill>
                <a:latin typeface="Calibri" pitchFamily="34" charset="0"/>
                <a:ea typeface="Calibri" pitchFamily="34" charset="-122"/>
                <a:cs typeface="Calibri" pitchFamily="34" charset="-120"/>
              </a:rPr>
              <a:t>Somerset Pattaya (SP)</a:t>
            </a:r>
            <a:endParaRPr lang="en-US" sz="4000"/>
          </a:p>
        </p:txBody>
      </p:sp>
      <p:sp>
        <p:nvSpPr>
          <p:cNvPr id="4" name="Text 2"/>
          <p:cNvSpPr/>
          <p:nvPr/>
        </p:nvSpPr>
        <p:spPr>
          <a:xfrm>
            <a:off x="2542032" y="3246120"/>
            <a:ext cx="8412480" cy="822960"/>
          </a:xfrm>
          <a:prstGeom prst="rect">
            <a:avLst/>
          </a:prstGeom>
          <a:noFill/>
          <a:ln/>
        </p:spPr>
        <p:txBody>
          <a:bodyPr wrap="square" lIns="0" tIns="0" rIns="0" bIns="0" rtlCol="0" anchor="ctr"/>
          <a:lstStyle/>
          <a:p>
            <a:pPr marL="0" indent="0">
              <a:buNone/>
            </a:pPr>
            <a:r>
              <a:rPr lang="en-US" sz="1400">
                <a:solidFill>
                  <a:srgbClr val="AFC0E8"/>
                </a:solidFill>
                <a:latin typeface="Calibri" pitchFamily="34" charset="0"/>
                <a:ea typeface="Calibri" pitchFamily="34" charset="-122"/>
                <a:cs typeface="Calibri" pitchFamily="34" charset="-120"/>
              </a:rPr>
              <a:t>P&amp;L (EBIT) · Performance vs budget · Segmentation · Guest nationality</a:t>
            </a:r>
            <a:endParaRPr lang="en-US" sz="1400"/>
          </a:p>
        </p:txBody>
      </p:sp>
      <p:sp>
        <p:nvSpPr>
          <p:cNvPr id="5" name="Text 3"/>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7 · SOMERSET PATTAYA (SP)</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Pattaya (SP)</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333 keys · monthly + YTD Jan–Jun · actual vs MF Projection and actual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extLst>
              <p:ext uri="{D42A27DB-BD31-4B8C-83A1-F6EECF244321}">
                <p14:modId xmlns:p14="http://schemas.microsoft.com/office/powerpoint/2010/main" val="2117979996"/>
              </p:ext>
            </p:extLst>
          </p:nvPr>
        </p:nvGraphicFramePr>
        <p:xfrm>
          <a:off x="548640" y="1505427"/>
          <a:ext cx="7223760" cy="187451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2" name="Table 0"/>
          <p:cNvGraphicFramePr>
            <a:graphicFrameLocks noGrp="1"/>
          </p:cNvGraphicFramePr>
          <p:nvPr>
            <p:extLst>
              <p:ext uri="{D42A27DB-BD31-4B8C-83A1-F6EECF244321}">
                <p14:modId xmlns:p14="http://schemas.microsoft.com/office/powerpoint/2010/main" val="2536516604"/>
              </p:ext>
            </p:extLst>
          </p:nvPr>
        </p:nvGraphicFramePr>
        <p:xfrm>
          <a:off x="548640" y="3434810"/>
          <a:ext cx="7223760" cy="2286000"/>
        </p:xfrm>
        <a:graphic>
          <a:graphicData uri="http://schemas.openxmlformats.org/drawingml/2006/table">
            <a:tbl>
              <a:tblPr/>
              <a:tblGrid>
                <a:gridCol w="1325880">
                  <a:extLst>
                    <a:ext uri="{9D8B030D-6E8A-4147-A177-3AD203B41FA5}">
                      <a16:colId xmlns:a16="http://schemas.microsoft.com/office/drawing/2014/main" val="20000"/>
                    </a:ext>
                  </a:extLst>
                </a:gridCol>
                <a:gridCol w="795528">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795528">
                  <a:extLst>
                    <a:ext uri="{9D8B030D-6E8A-4147-A177-3AD203B41FA5}">
                      <a16:colId xmlns:a16="http://schemas.microsoft.com/office/drawing/2014/main" val="20004"/>
                    </a:ext>
                  </a:extLst>
                </a:gridCol>
                <a:gridCol w="795528">
                  <a:extLst>
                    <a:ext uri="{9D8B030D-6E8A-4147-A177-3AD203B41FA5}">
                      <a16:colId xmlns:a16="http://schemas.microsoft.com/office/drawing/2014/main" val="20005"/>
                    </a:ext>
                  </a:extLst>
                </a:gridCol>
                <a:gridCol w="795528">
                  <a:extLst>
                    <a:ext uri="{9D8B030D-6E8A-4147-A177-3AD203B41FA5}">
                      <a16:colId xmlns:a16="http://schemas.microsoft.com/office/drawing/2014/main" val="20006"/>
                    </a:ext>
                  </a:extLst>
                </a:gridCol>
                <a:gridCol w="1124712">
                  <a:extLst>
                    <a:ext uri="{9D8B030D-6E8A-4147-A177-3AD203B41FA5}">
                      <a16:colId xmlns:a16="http://schemas.microsoft.com/office/drawing/2014/main" val="20007"/>
                    </a:ext>
                  </a:extLst>
                </a:gridCol>
              </a:tblGrid>
              <a:tr h="187452">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H1 2026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Jan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Feb</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Apr</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May</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Jun</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900" b="1">
                          <a:solidFill>
                            <a:srgbClr val="FFFFFF"/>
                          </a:solidFill>
                          <a:latin typeface="Calibri" pitchFamily="34" charset="0"/>
                          <a:ea typeface="Calibri" pitchFamily="34" charset="-122"/>
                          <a:cs typeface="Calibri" pitchFamily="34" charset="-120"/>
                        </a:rPr>
                        <a:t>YTD</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86.2%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83.1%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63.0%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70.0%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61.5%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57.4%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70.1%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48"/>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Occupancy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83.7%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86.6%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68.5%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75.9%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65.5%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62.8%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73.6%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47"/>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Occupancy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88.1%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84.5%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73.9%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70.7%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63.8%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62.4%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73.8%</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4,481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4,226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3,901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3,871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3,507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3,326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3,941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50"/>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ADR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4,104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4,369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3,850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3,850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3,589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3,409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3,892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49"/>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ADR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4,064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4,150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3,684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3,641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3,374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3,381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3,749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’25</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3,863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3,512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2,456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2,710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2,157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1,909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2,760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52"/>
                  </a:ext>
                </a:extLst>
              </a:tr>
              <a:tr h="187452">
                <a:tc>
                  <a:txBody>
                    <a:bodyPr/>
                    <a:lstStyle/>
                    <a:p>
                      <a:pPr marL="0" indent="0">
                        <a:buNone/>
                      </a:pPr>
                      <a:r>
                        <a:rPr lang="en-US" sz="900" b="0">
                          <a:solidFill>
                            <a:srgbClr val="595959"/>
                          </a:solidFill>
                          <a:latin typeface="Calibri" pitchFamily="34" charset="0"/>
                          <a:ea typeface="Calibri" pitchFamily="34" charset="-122"/>
                          <a:cs typeface="Calibri" pitchFamily="34" charset="-120"/>
                        </a:rPr>
                        <a:t>RevPAR Budget</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3,433</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3,782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2,637</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2,921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2,349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595959"/>
                          </a:solidFill>
                          <a:latin typeface="Calibri" pitchFamily="34" charset="0"/>
                          <a:ea typeface="Calibri" pitchFamily="34" charset="-122"/>
                          <a:cs typeface="Calibri" pitchFamily="34" charset="-120"/>
                        </a:rPr>
                        <a:t>2,140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595959"/>
                          </a:solidFill>
                          <a:latin typeface="Calibri" pitchFamily="34" charset="0"/>
                          <a:ea typeface="Calibri" pitchFamily="34" charset="-122"/>
                          <a:cs typeface="Calibri" pitchFamily="34" charset="-120"/>
                        </a:rPr>
                        <a:t>2,866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51"/>
                  </a:ext>
                </a:extLst>
              </a:tr>
              <a:tr h="187452">
                <a:tc>
                  <a:txBody>
                    <a:bodyPr/>
                    <a:lstStyle/>
                    <a:p>
                      <a:pPr marL="0" indent="0">
                        <a:buNone/>
                      </a:pPr>
                      <a:r>
                        <a:rPr lang="en-US" sz="900" b="1">
                          <a:solidFill>
                            <a:srgbClr val="26292E"/>
                          </a:solidFill>
                          <a:latin typeface="Calibri" pitchFamily="34" charset="0"/>
                          <a:ea typeface="Calibri" pitchFamily="34" charset="-122"/>
                          <a:cs typeface="Calibri" pitchFamily="34" charset="-120"/>
                        </a:rPr>
                        <a:t>RevPAR ’26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3,579</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3,506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2,721</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2,574</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2,152</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a:solidFill>
                            <a:srgbClr val="26292E"/>
                          </a:solidFill>
                          <a:latin typeface="Calibri" pitchFamily="34" charset="0"/>
                          <a:ea typeface="Calibri" pitchFamily="34" charset="-122"/>
                          <a:cs typeface="Calibri" pitchFamily="34" charset="-120"/>
                        </a:rPr>
                        <a:t>2,110</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900" b="1">
                          <a:solidFill>
                            <a:srgbClr val="1E2761"/>
                          </a:solidFill>
                          <a:latin typeface="Calibri" pitchFamily="34" charset="0"/>
                          <a:ea typeface="Calibri" pitchFamily="34" charset="-122"/>
                          <a:cs typeface="Calibri" pitchFamily="34" charset="-120"/>
                        </a:rPr>
                        <a:t>2,766</a:t>
                      </a:r>
                      <a:endParaRPr lang="en-US" sz="90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4"/>
          <p:cNvSpPr/>
          <p:nvPr/>
        </p:nvSpPr>
        <p:spPr>
          <a:xfrm>
            <a:off x="8092440" y="1207008"/>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9" name="Text 5"/>
          <p:cNvSpPr/>
          <p:nvPr/>
        </p:nvSpPr>
        <p:spPr>
          <a:xfrm>
            <a:off x="8238744" y="1298448"/>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OCCUPANCY · YTD</a:t>
            </a:r>
            <a:endParaRPr lang="en-US" sz="1050"/>
          </a:p>
        </p:txBody>
      </p:sp>
      <p:sp>
        <p:nvSpPr>
          <p:cNvPr id="10" name="Text 6"/>
          <p:cNvSpPr/>
          <p:nvPr/>
        </p:nvSpPr>
        <p:spPr>
          <a:xfrm>
            <a:off x="8238744" y="1517904"/>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73.8%</a:t>
            </a:r>
            <a:endParaRPr lang="en-US" sz="2400"/>
          </a:p>
        </p:txBody>
      </p:sp>
      <p:sp>
        <p:nvSpPr>
          <p:cNvPr id="11" name="Text 7"/>
          <p:cNvSpPr/>
          <p:nvPr/>
        </p:nvSpPr>
        <p:spPr>
          <a:xfrm>
            <a:off x="8238744" y="1975104"/>
            <a:ext cx="3227832" cy="438912"/>
          </a:xfrm>
          <a:prstGeom prst="rect">
            <a:avLst/>
          </a:prstGeom>
          <a:noFill/>
          <a:ln/>
        </p:spPr>
        <p:txBody>
          <a:bodyPr wrap="square" lIns="0" tIns="0" rIns="0" bIns="0" rtlCol="0" anchor="ctr"/>
          <a:lstStyle/>
          <a:p>
            <a:pPr marL="0" indent="0">
              <a:buNone/>
            </a:pPr>
            <a:r>
              <a:rPr lang="en-US" sz="1050">
                <a:solidFill>
                  <a:srgbClr val="27AE60"/>
                </a:solidFill>
                <a:latin typeface="Calibri" pitchFamily="34" charset="0"/>
                <a:ea typeface="Calibri" pitchFamily="34" charset="-122"/>
                <a:cs typeface="Calibri" pitchFamily="34" charset="-120"/>
              </a:rPr>
              <a:t>+0.2% vs budget</a:t>
            </a:r>
            <a:r>
              <a:rPr lang="en-US" sz="1050">
                <a:solidFill>
                  <a:srgbClr val="6B7280"/>
                </a:solidFill>
                <a:latin typeface="Calibri" pitchFamily="34" charset="0"/>
                <a:ea typeface="Calibri" pitchFamily="34" charset="-122"/>
                <a:cs typeface="Calibri" pitchFamily="34" charset="-120"/>
              </a:rPr>
              <a:t> · </a:t>
            </a:r>
            <a:r>
              <a:rPr lang="en-US" sz="1050">
                <a:solidFill>
                  <a:srgbClr val="27AE60"/>
                </a:solidFill>
                <a:latin typeface="Calibri" pitchFamily="34" charset="0"/>
                <a:ea typeface="Calibri" pitchFamily="34" charset="-122"/>
                <a:cs typeface="Calibri" pitchFamily="34" charset="-120"/>
              </a:rPr>
              <a:t>+5.3% vs LY</a:t>
            </a:r>
            <a:endParaRPr lang="en-US" sz="1050"/>
          </a:p>
        </p:txBody>
      </p:sp>
      <p:sp>
        <p:nvSpPr>
          <p:cNvPr id="12" name="Shape 8"/>
          <p:cNvSpPr/>
          <p:nvPr/>
        </p:nvSpPr>
        <p:spPr>
          <a:xfrm>
            <a:off x="8092440" y="2615184"/>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3" name="Text 9"/>
          <p:cNvSpPr/>
          <p:nvPr/>
        </p:nvSpPr>
        <p:spPr>
          <a:xfrm>
            <a:off x="8238744" y="2706624"/>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ADR · YTD</a:t>
            </a:r>
            <a:endParaRPr lang="en-US" sz="1050"/>
          </a:p>
        </p:txBody>
      </p:sp>
      <p:sp>
        <p:nvSpPr>
          <p:cNvPr id="14" name="Text 10"/>
          <p:cNvSpPr/>
          <p:nvPr/>
        </p:nvSpPr>
        <p:spPr>
          <a:xfrm>
            <a:off x="8238744" y="2926080"/>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฿3,749</a:t>
            </a:r>
            <a:endParaRPr lang="en-US" sz="2400"/>
          </a:p>
        </p:txBody>
      </p:sp>
      <p:sp>
        <p:nvSpPr>
          <p:cNvPr id="15" name="Text 11"/>
          <p:cNvSpPr/>
          <p:nvPr/>
        </p:nvSpPr>
        <p:spPr>
          <a:xfrm>
            <a:off x="8238744" y="3383280"/>
            <a:ext cx="3227832" cy="438912"/>
          </a:xfrm>
          <a:prstGeom prst="rect">
            <a:avLst/>
          </a:prstGeom>
          <a:noFill/>
          <a:ln/>
        </p:spPr>
        <p:txBody>
          <a:bodyPr wrap="square" lIns="0" tIns="0" rIns="0" bIns="0" rtlCol="0" anchor="ctr"/>
          <a:lstStyle/>
          <a:p>
            <a:pPr marL="0" indent="0">
              <a:buNone/>
            </a:pPr>
            <a:r>
              <a:rPr lang="en-US" sz="1050" dirty="0">
                <a:solidFill>
                  <a:srgbClr val="C0392B"/>
                </a:solidFill>
                <a:latin typeface="Calibri" pitchFamily="34" charset="0"/>
                <a:ea typeface="Calibri" pitchFamily="34" charset="-122"/>
                <a:cs typeface="Calibri" pitchFamily="34" charset="-120"/>
              </a:rPr>
              <a:t>-3.7% vs budget</a:t>
            </a:r>
            <a:r>
              <a:rPr lang="en-US" sz="1050" dirty="0">
                <a:solidFill>
                  <a:srgbClr val="6B7280"/>
                </a:solidFill>
                <a:latin typeface="Calibri" pitchFamily="34" charset="0"/>
                <a:ea typeface="Calibri" pitchFamily="34" charset="-122"/>
                <a:cs typeface="Calibri" pitchFamily="34" charset="-120"/>
              </a:rPr>
              <a:t> · </a:t>
            </a:r>
            <a:r>
              <a:rPr lang="en-US" sz="1050" dirty="0">
                <a:solidFill>
                  <a:srgbClr val="C0392B"/>
                </a:solidFill>
                <a:latin typeface="Calibri" pitchFamily="34" charset="0"/>
                <a:ea typeface="Calibri" pitchFamily="34" charset="-122"/>
                <a:cs typeface="Calibri" pitchFamily="34" charset="-120"/>
              </a:rPr>
              <a:t>-4.9% vs LY</a:t>
            </a:r>
            <a:endParaRPr lang="en-US" sz="1050" dirty="0"/>
          </a:p>
        </p:txBody>
      </p:sp>
      <p:sp>
        <p:nvSpPr>
          <p:cNvPr id="16" name="Shape 12"/>
          <p:cNvSpPr/>
          <p:nvPr/>
        </p:nvSpPr>
        <p:spPr>
          <a:xfrm>
            <a:off x="8092440" y="4023360"/>
            <a:ext cx="3520440" cy="1261872"/>
          </a:xfrm>
          <a:prstGeom prst="roundRect">
            <a:avLst>
              <a:gd name="adj" fmla="val 4348"/>
            </a:avLst>
          </a:prstGeom>
          <a:solidFill>
            <a:srgbClr val="F4F6FB"/>
          </a:solidFill>
          <a:ln w="9525">
            <a:solidFill>
              <a:srgbClr val="E2E7F2"/>
            </a:solidFill>
            <a:prstDash val="solid"/>
          </a:ln>
        </p:spPr>
        <p:txBody>
          <a:bodyPr/>
          <a:lstStyle/>
          <a:p>
            <a:endParaRPr lang="en-US"/>
          </a:p>
        </p:txBody>
      </p:sp>
      <p:sp>
        <p:nvSpPr>
          <p:cNvPr id="17" name="Text 13"/>
          <p:cNvSpPr/>
          <p:nvPr/>
        </p:nvSpPr>
        <p:spPr>
          <a:xfrm>
            <a:off x="8238744" y="4114800"/>
            <a:ext cx="322783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REVPAR · YTD</a:t>
            </a:r>
            <a:endParaRPr lang="en-US" sz="1050"/>
          </a:p>
        </p:txBody>
      </p:sp>
      <p:sp>
        <p:nvSpPr>
          <p:cNvPr id="18" name="Text 14"/>
          <p:cNvSpPr/>
          <p:nvPr/>
        </p:nvSpPr>
        <p:spPr>
          <a:xfrm>
            <a:off x="8238744" y="4334256"/>
            <a:ext cx="322783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฿2,766</a:t>
            </a:r>
            <a:endParaRPr lang="en-US" sz="2400"/>
          </a:p>
        </p:txBody>
      </p:sp>
      <p:sp>
        <p:nvSpPr>
          <p:cNvPr id="19" name="Text 15"/>
          <p:cNvSpPr/>
          <p:nvPr/>
        </p:nvSpPr>
        <p:spPr>
          <a:xfrm>
            <a:off x="8238744" y="4791456"/>
            <a:ext cx="3227832" cy="438912"/>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-3.5% vs budget</a:t>
            </a:r>
            <a:r>
              <a:rPr lang="en-US" sz="1050">
                <a:solidFill>
                  <a:srgbClr val="6B7280"/>
                </a:solidFill>
                <a:latin typeface="Calibri" pitchFamily="34" charset="0"/>
                <a:ea typeface="Calibri" pitchFamily="34" charset="-122"/>
                <a:cs typeface="Calibri" pitchFamily="34" charset="-120"/>
              </a:rPr>
              <a:t> · </a:t>
            </a:r>
            <a:r>
              <a:rPr lang="en-US" sz="1050">
                <a:solidFill>
                  <a:srgbClr val="2E7D32"/>
                </a:solidFill>
                <a:latin typeface="Calibri" pitchFamily="34" charset="0"/>
                <a:ea typeface="Calibri" pitchFamily="34" charset="-122"/>
                <a:cs typeface="Calibri" pitchFamily="34" charset="-120"/>
              </a:rPr>
              <a:t>+0.2% vs LY</a:t>
            </a:r>
            <a:endParaRPr lang="en-US" sz="1050"/>
          </a:p>
        </p:txBody>
      </p:sp>
      <p:graphicFrame>
        <p:nvGraphicFramePr>
          <p:cNvPr id="910" name="Table 8"/>
          <p:cNvGraphicFramePr>
            <a:graphicFrameLocks noGrp="1"/>
          </p:cNvGraphicFramePr>
          <p:nvPr>
            <p:extLst>
              <p:ext uri="{D42A27DB-BD31-4B8C-83A1-F6EECF244321}">
                <p14:modId xmlns:p14="http://schemas.microsoft.com/office/powerpoint/2010/main" val="2101187895"/>
              </p:ext>
            </p:extLst>
          </p:nvPr>
        </p:nvGraphicFramePr>
        <p:xfrm>
          <a:off x="548639" y="5879592"/>
          <a:ext cx="7223759" cy="475488"/>
        </p:xfrm>
        <a:graphic>
          <a:graphicData uri="http://schemas.openxmlformats.org/drawingml/2006/table">
            <a:tbl>
              <a:tblPr firstRow="1" bandRow="1">
                <a:tableStyleId>{5C22544A-7EE6-4342-B048-85BDC9FD1C3A}</a:tableStyleId>
              </a:tblPr>
              <a:tblGrid>
                <a:gridCol w="1144749">
                  <a:extLst>
                    <a:ext uri="{9D8B030D-6E8A-4147-A177-3AD203B41FA5}">
                      <a16:colId xmlns:a16="http://schemas.microsoft.com/office/drawing/2014/main" val="20001"/>
                    </a:ext>
                  </a:extLst>
                </a:gridCol>
                <a:gridCol w="828955">
                  <a:extLst>
                    <a:ext uri="{9D8B030D-6E8A-4147-A177-3AD203B41FA5}">
                      <a16:colId xmlns:a16="http://schemas.microsoft.com/office/drawing/2014/main" val="20002"/>
                    </a:ext>
                  </a:extLst>
                </a:gridCol>
                <a:gridCol w="986852">
                  <a:extLst>
                    <a:ext uri="{9D8B030D-6E8A-4147-A177-3AD203B41FA5}">
                      <a16:colId xmlns:a16="http://schemas.microsoft.com/office/drawing/2014/main" val="20003"/>
                    </a:ext>
                  </a:extLst>
                </a:gridCol>
                <a:gridCol w="1026326">
                  <a:extLst>
                    <a:ext uri="{9D8B030D-6E8A-4147-A177-3AD203B41FA5}">
                      <a16:colId xmlns:a16="http://schemas.microsoft.com/office/drawing/2014/main" val="20004"/>
                    </a:ext>
                  </a:extLst>
                </a:gridCol>
                <a:gridCol w="947379">
                  <a:extLst>
                    <a:ext uri="{9D8B030D-6E8A-4147-A177-3AD203B41FA5}">
                      <a16:colId xmlns:a16="http://schemas.microsoft.com/office/drawing/2014/main" val="20005"/>
                    </a:ext>
                  </a:extLst>
                </a:gridCol>
                <a:gridCol w="1144749">
                  <a:extLst>
                    <a:ext uri="{9D8B030D-6E8A-4147-A177-3AD203B41FA5}">
                      <a16:colId xmlns:a16="http://schemas.microsoft.com/office/drawing/2014/main" val="20006"/>
                    </a:ext>
                  </a:extLst>
                </a:gridCol>
                <a:gridCol w="1144749">
                  <a:extLst>
                    <a:ext uri="{9D8B030D-6E8A-4147-A177-3AD203B41FA5}">
                      <a16:colId xmlns:a16="http://schemas.microsoft.com/office/drawing/2014/main" val="20007"/>
                    </a:ext>
                  </a:extLst>
                </a:gridCol>
              </a:tblGrid>
              <a:tr h="237744">
                <a:tc>
                  <a:txBody>
                    <a:bodyPr/>
                    <a:lstStyle/>
                    <a:p>
                      <a:r>
                        <a:rPr sz="800" b="1">
                          <a:solidFill>
                            <a:srgbClr val="FFFFFF"/>
                          </a:solidFill>
                          <a:latin typeface="Calibri"/>
                        </a:rPr>
                        <a:t>Series</a:t>
                      </a:r>
                    </a:p>
                  </a:txBody>
                  <a:tcPr>
                    <a:solidFill>
                      <a:srgbClr val="1E2761"/>
                    </a:solidFill>
                  </a:tcPr>
                </a:tc>
                <a:tc>
                  <a:txBody>
                    <a:bodyPr/>
                    <a:lstStyle/>
                    <a:p>
                      <a:r>
                        <a:rPr sz="800" b="1" dirty="0">
                          <a:solidFill>
                            <a:srgbClr val="FFFFFF"/>
                          </a:solidFill>
                          <a:latin typeface="Calibri"/>
                        </a:rPr>
                        <a:t>Occ H1</a:t>
                      </a:r>
                    </a:p>
                  </a:txBody>
                  <a:tcPr>
                    <a:solidFill>
                      <a:srgbClr val="1E2761"/>
                    </a:solidFill>
                  </a:tcPr>
                </a:tc>
                <a:tc>
                  <a:txBody>
                    <a:bodyPr/>
                    <a:lstStyle/>
                    <a:p>
                      <a:r>
                        <a:rPr sz="800" b="1">
                          <a:solidFill>
                            <a:srgbClr val="FFFFFF"/>
                          </a:solidFill>
                          <a:latin typeface="Calibri"/>
                        </a:rPr>
                        <a:t>Occ vs LY</a:t>
                      </a:r>
                    </a:p>
                  </a:txBody>
                  <a:tcPr>
                    <a:solidFill>
                      <a:srgbClr val="1E2761"/>
                    </a:solidFill>
                  </a:tcPr>
                </a:tc>
                <a:tc>
                  <a:txBody>
                    <a:bodyPr/>
                    <a:lstStyle/>
                    <a:p>
                      <a:r>
                        <a:rPr sz="800" b="1">
                          <a:solidFill>
                            <a:srgbClr val="FFFFFF"/>
                          </a:solidFill>
                          <a:latin typeface="Calibri"/>
                        </a:rPr>
                        <a:t>ADR H1 (฿)</a:t>
                      </a:r>
                    </a:p>
                  </a:txBody>
                  <a:tcPr>
                    <a:solidFill>
                      <a:srgbClr val="1E2761"/>
                    </a:solidFill>
                  </a:tcPr>
                </a:tc>
                <a:tc>
                  <a:txBody>
                    <a:bodyPr/>
                    <a:lstStyle/>
                    <a:p>
                      <a:r>
                        <a:rPr sz="800" b="1">
                          <a:solidFill>
                            <a:srgbClr val="FFFFFF"/>
                          </a:solidFill>
                          <a:latin typeface="Calibri"/>
                        </a:rPr>
                        <a:t>ADR vs LY</a:t>
                      </a:r>
                    </a:p>
                  </a:txBody>
                  <a:tcPr>
                    <a:solidFill>
                      <a:srgbClr val="1E2761"/>
                    </a:solidFill>
                  </a:tcPr>
                </a:tc>
                <a:tc>
                  <a:txBody>
                    <a:bodyPr/>
                    <a:lstStyle/>
                    <a:p>
                      <a:r>
                        <a:rPr sz="800" b="1">
                          <a:solidFill>
                            <a:srgbClr val="FFFFFF"/>
                          </a:solidFill>
                          <a:latin typeface="Calibri"/>
                        </a:rPr>
                        <a:t>RevPAR H1 (฿)</a:t>
                      </a:r>
                    </a:p>
                  </a:txBody>
                  <a:tcPr>
                    <a:solidFill>
                      <a:srgbClr val="1E2761"/>
                    </a:solidFill>
                  </a:tcPr>
                </a:tc>
                <a:tc>
                  <a:txBody>
                    <a:bodyPr/>
                    <a:lstStyle/>
                    <a:p>
                      <a:r>
                        <a:rPr sz="800" b="1">
                          <a:solidFill>
                            <a:srgbClr val="FFFFFF"/>
                          </a:solidFill>
                          <a:latin typeface="Calibri"/>
                        </a:rPr>
                        <a:t>RevPAR vs LY</a:t>
                      </a:r>
                    </a:p>
                  </a:txBody>
                  <a:tcPr>
                    <a:solidFill>
                      <a:srgbClr val="1E2761"/>
                    </a:solidFill>
                  </a:tcPr>
                </a:tc>
                <a:extLst>
                  <a:ext uri="{0D108BD9-81ED-4DB2-BD59-A6C34878D82A}">
                    <a16:rowId xmlns:a16="http://schemas.microsoft.com/office/drawing/2014/main" val="10000"/>
                  </a:ext>
                </a:extLst>
              </a:tr>
              <a:tr h="237744">
                <a:tc>
                  <a:txBody>
                    <a:bodyPr/>
                    <a:lstStyle/>
                    <a:p>
                      <a:r>
                        <a:rPr lang="en-US" sz="800" b="1">
                          <a:solidFill>
                            <a:srgbClr val="26292E"/>
                          </a:solidFill>
                          <a:latin typeface="+mn-lt"/>
                        </a:rPr>
                        <a:t>SP </a:t>
                      </a:r>
                      <a:r>
                        <a:rPr sz="800" b="1">
                          <a:solidFill>
                            <a:srgbClr val="26292E"/>
                          </a:solidFill>
                          <a:latin typeface="Calibri"/>
                        </a:rPr>
                        <a:t>Comp set</a:t>
                      </a:r>
                    </a:p>
                  </a:txBody>
                  <a:tcPr>
                    <a:solidFill>
                      <a:srgbClr val="FFFFFF"/>
                    </a:solidFill>
                  </a:tcPr>
                </a:tc>
                <a:tc>
                  <a:txBody>
                    <a:bodyPr/>
                    <a:lstStyle/>
                    <a:p>
                      <a:r>
                        <a:rPr sz="800" b="0">
                          <a:solidFill>
                            <a:srgbClr val="6B7280"/>
                          </a:solidFill>
                          <a:latin typeface="Calibri"/>
                        </a:rPr>
                        <a:t>71.5%</a:t>
                      </a:r>
                    </a:p>
                  </a:txBody>
                  <a:tcPr>
                    <a:solidFill>
                      <a:srgbClr val="FFFFFF"/>
                    </a:solidFill>
                  </a:tcPr>
                </a:tc>
                <a:tc>
                  <a:txBody>
                    <a:bodyPr/>
                    <a:lstStyle/>
                    <a:p>
                      <a:r>
                        <a:rPr sz="800" b="0">
                          <a:solidFill>
                            <a:srgbClr val="C0392B"/>
                          </a:solidFill>
                          <a:latin typeface="Calibri"/>
                        </a:rPr>
                        <a:t>-3.3%</a:t>
                      </a:r>
                    </a:p>
                  </a:txBody>
                  <a:tcPr>
                    <a:solidFill>
                      <a:srgbClr val="FFFFFF"/>
                    </a:solidFill>
                  </a:tcPr>
                </a:tc>
                <a:tc>
                  <a:txBody>
                    <a:bodyPr/>
                    <a:lstStyle/>
                    <a:p>
                      <a:r>
                        <a:rPr sz="800" b="0">
                          <a:solidFill>
                            <a:srgbClr val="6B7280"/>
                          </a:solidFill>
                          <a:latin typeface="Calibri"/>
                        </a:rPr>
                        <a:t>4,214</a:t>
                      </a:r>
                    </a:p>
                  </a:txBody>
                  <a:tcPr>
                    <a:solidFill>
                      <a:srgbClr val="FFFFFF"/>
                    </a:solidFill>
                  </a:tcPr>
                </a:tc>
                <a:tc>
                  <a:txBody>
                    <a:bodyPr/>
                    <a:lstStyle/>
                    <a:p>
                      <a:r>
                        <a:rPr sz="800" b="0">
                          <a:solidFill>
                            <a:srgbClr val="C0392B"/>
                          </a:solidFill>
                          <a:latin typeface="Calibri"/>
                        </a:rPr>
                        <a:t>-5.8%</a:t>
                      </a:r>
                    </a:p>
                  </a:txBody>
                  <a:tcPr>
                    <a:solidFill>
                      <a:srgbClr val="FFFFFF"/>
                    </a:solidFill>
                  </a:tcPr>
                </a:tc>
                <a:tc>
                  <a:txBody>
                    <a:bodyPr/>
                    <a:lstStyle/>
                    <a:p>
                      <a:r>
                        <a:rPr sz="800" b="0">
                          <a:solidFill>
                            <a:srgbClr val="6B7280"/>
                          </a:solidFill>
                          <a:latin typeface="Calibri"/>
                        </a:rPr>
                        <a:t>3,011</a:t>
                      </a:r>
                    </a:p>
                  </a:txBody>
                  <a:tcPr>
                    <a:solidFill>
                      <a:srgbClr val="FFFFFF"/>
                    </a:solidFill>
                  </a:tcPr>
                </a:tc>
                <a:tc>
                  <a:txBody>
                    <a:bodyPr/>
                    <a:lstStyle/>
                    <a:p>
                      <a:r>
                        <a:rPr sz="800" b="0" dirty="0">
                          <a:solidFill>
                            <a:srgbClr val="C0392B"/>
                          </a:solidFill>
                          <a:latin typeface="Calibri"/>
                        </a:rPr>
                        <a:t>-8.9%</a:t>
                      </a:r>
                    </a:p>
                  </a:txBody>
                  <a:tcPr>
                    <a:solidFill>
                      <a:srgbClr val="FFFFFF"/>
                    </a:solidFill>
                  </a:tcPr>
                </a:tc>
                <a:extLst>
                  <a:ext uri="{0D108BD9-81ED-4DB2-BD59-A6C34878D82A}">
                    <a16:rowId xmlns:a16="http://schemas.microsoft.com/office/drawing/2014/main" val="10002"/>
                  </a:ext>
                </a:extLst>
              </a:tr>
            </a:tbl>
          </a:graphicData>
        </a:graphic>
      </p:graphicFrame>
      <p:sp>
        <p:nvSpPr>
          <p:cNvPr id="21" name="Rectangle 20">
            <a:extLst>
              <a:ext uri="{FF2B5EF4-FFF2-40B4-BE49-F238E27FC236}">
                <a16:creationId xmlns:a16="http://schemas.microsoft.com/office/drawing/2014/main" id="{F57ED365-6DDA-DCF0-69C7-5C3A3B0C0D13}"/>
              </a:ext>
            </a:extLst>
          </p:cNvPr>
          <p:cNvSpPr/>
          <p:nvPr/>
        </p:nvSpPr>
        <p:spPr>
          <a:xfrm>
            <a:off x="7970919" y="5431536"/>
            <a:ext cx="3864065" cy="1261872"/>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i="1" dirty="0">
                <a:solidFill>
                  <a:sysClr val="windowText" lastClr="000000"/>
                </a:solidFill>
                <a:latin typeface="Calibri" pitchFamily="34" charset="0"/>
                <a:ea typeface="Calibri" pitchFamily="34" charset="-122"/>
                <a:cs typeface="Calibri" pitchFamily="34" charset="-120"/>
              </a:rPr>
              <a:t>Key takeaway: SP was ahead of budget in the Jan–Feb high season and broadly on plan in Mar–Jun</a:t>
            </a:r>
          </a:p>
          <a:p>
            <a:endParaRPr lang="en-US" sz="1200" i="1" dirty="0">
              <a:solidFill>
                <a:schemeClr val="bg1"/>
              </a:solidFill>
              <a:latin typeface="Calibri" pitchFamily="34" charset="0"/>
              <a:ea typeface="Calibri" pitchFamily="34" charset="-122"/>
              <a:cs typeface="Calibri" pitchFamily="34" charset="-120"/>
            </a:endParaRPr>
          </a:p>
          <a:p>
            <a:r>
              <a:rPr lang="en-US" sz="1200" i="1" dirty="0">
                <a:solidFill>
                  <a:schemeClr val="bg1"/>
                </a:solidFill>
                <a:latin typeface="Calibri" pitchFamily="34" charset="0"/>
                <a:ea typeface="Calibri" pitchFamily="34" charset="-122"/>
                <a:cs typeface="Calibri" pitchFamily="34" charset="-120"/>
              </a:rPr>
              <a:t>Vs LY. +5.3% on occ and </a:t>
            </a:r>
            <a:r>
              <a:rPr lang="en-US" sz="1200" i="1" dirty="0" err="1">
                <a:solidFill>
                  <a:schemeClr val="bg1"/>
                </a:solidFill>
                <a:latin typeface="Calibri" pitchFamily="34" charset="0"/>
                <a:ea typeface="Calibri" pitchFamily="34" charset="-122"/>
                <a:cs typeface="Calibri" pitchFamily="34" charset="-120"/>
              </a:rPr>
              <a:t>Revpar</a:t>
            </a:r>
            <a:r>
              <a:rPr lang="en-US" sz="1200" i="1" dirty="0">
                <a:solidFill>
                  <a:schemeClr val="bg1"/>
                </a:solidFill>
                <a:latin typeface="Calibri" pitchFamily="34" charset="0"/>
                <a:ea typeface="Calibri" pitchFamily="34" charset="-122"/>
                <a:cs typeface="Calibri" pitchFamily="34" charset="-120"/>
              </a:rPr>
              <a:t> similar to LY.</a:t>
            </a:r>
          </a:p>
          <a:p>
            <a:r>
              <a:rPr lang="en-US" sz="1200" i="1" dirty="0">
                <a:solidFill>
                  <a:schemeClr val="bg1"/>
                </a:solidFill>
                <a:latin typeface="Calibri" pitchFamily="34" charset="0"/>
                <a:ea typeface="Calibri" pitchFamily="34" charset="-122"/>
                <a:cs typeface="Calibri" pitchFamily="34" charset="-120"/>
              </a:rPr>
              <a:t>Vs BG +0.2% from BG and </a:t>
            </a:r>
            <a:r>
              <a:rPr lang="en-US" sz="1200" i="1" dirty="0" err="1">
                <a:solidFill>
                  <a:schemeClr val="bg1"/>
                </a:solidFill>
                <a:latin typeface="Calibri" pitchFamily="34" charset="0"/>
                <a:ea typeface="Calibri" pitchFamily="34" charset="-122"/>
                <a:cs typeface="Calibri" pitchFamily="34" charset="-120"/>
              </a:rPr>
              <a:t>revpar</a:t>
            </a:r>
            <a:r>
              <a:rPr lang="en-US" sz="1200" i="1" dirty="0">
                <a:solidFill>
                  <a:schemeClr val="bg1"/>
                </a:solidFill>
                <a:latin typeface="Calibri" pitchFamily="34" charset="0"/>
                <a:ea typeface="Calibri" pitchFamily="34" charset="-122"/>
                <a:cs typeface="Calibri" pitchFamily="34" charset="-120"/>
              </a:rPr>
              <a:t> -3.5% due to cannot yield the ADR as expected</a:t>
            </a:r>
          </a:p>
          <a:p>
            <a:endParaRPr lang="en-US" sz="800" dirty="0">
              <a:solidFill>
                <a:sysClr val="windowText" lastClr="000000"/>
              </a:solidFill>
            </a:endParaRPr>
          </a:p>
        </p:txBody>
      </p:sp>
      <p:sp>
        <p:nvSpPr>
          <p:cNvPr id="23" name="Star: 5 Points 22">
            <a:extLst>
              <a:ext uri="{FF2B5EF4-FFF2-40B4-BE49-F238E27FC236}">
                <a16:creationId xmlns:a16="http://schemas.microsoft.com/office/drawing/2014/main" id="{55E50704-22E1-8877-4752-4E965043C5AE}"/>
              </a:ext>
            </a:extLst>
          </p:cNvPr>
          <p:cNvSpPr/>
          <p:nvPr/>
        </p:nvSpPr>
        <p:spPr>
          <a:xfrm>
            <a:off x="2360519" y="2066004"/>
            <a:ext cx="117761" cy="123258"/>
          </a:xfrm>
          <a:prstGeom prst="star5">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F2F822C5-D574-4395-6623-DF5CFB1ED427}"/>
              </a:ext>
            </a:extLst>
          </p:cNvPr>
          <p:cNvSpPr txBox="1"/>
          <p:nvPr/>
        </p:nvSpPr>
        <p:spPr>
          <a:xfrm>
            <a:off x="2422733" y="2019092"/>
            <a:ext cx="982766" cy="261610"/>
          </a:xfrm>
          <a:prstGeom prst="rect">
            <a:avLst/>
          </a:prstGeom>
          <a:noFill/>
        </p:spPr>
        <p:txBody>
          <a:bodyPr wrap="square" rtlCol="0">
            <a:spAutoFit/>
          </a:bodyPr>
          <a:lstStyle/>
          <a:p>
            <a:r>
              <a:rPr lang="en-US" sz="1100">
                <a:solidFill>
                  <a:srgbClr val="FF0000"/>
                </a:solidFill>
              </a:rPr>
              <a:t>CNY</a:t>
            </a:r>
            <a:endParaRPr lang="en-US">
              <a:solidFill>
                <a:srgbClr val="FF0000"/>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7 · SOMERSET PATTAYA (SP)</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Pattaya (SP) — RN and ADR by nationality (H1)</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Top 10 nationalities · H1 room nights 26 vs 25 (chart) · table: room nights + ADR (RN-weighted H1) with change</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37360"/>
          <a:ext cx="5029200" cy="44348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00" name="Table 0"/>
          <p:cNvGraphicFramePr>
            <a:graphicFrameLocks noGrp="1"/>
          </p:cNvGraphicFramePr>
          <p:nvPr>
            <p:extLst>
              <p:ext uri="{D42A27DB-BD31-4B8C-83A1-F6EECF244321}">
                <p14:modId xmlns:p14="http://schemas.microsoft.com/office/powerpoint/2010/main" val="1313468013"/>
              </p:ext>
            </p:extLst>
          </p:nvPr>
        </p:nvGraphicFramePr>
        <p:xfrm>
          <a:off x="5623560" y="1649387"/>
          <a:ext cx="6144768" cy="3072384"/>
        </p:xfrm>
        <a:graphic>
          <a:graphicData uri="http://schemas.openxmlformats.org/drawingml/2006/table">
            <a:tbl>
              <a:tblPr/>
              <a:tblGrid>
                <a:gridCol w="1170432">
                  <a:extLst>
                    <a:ext uri="{9D8B030D-6E8A-4147-A177-3AD203B41FA5}">
                      <a16:colId xmlns:a16="http://schemas.microsoft.com/office/drawing/2014/main" val="20000"/>
                    </a:ext>
                  </a:extLst>
                </a:gridCol>
                <a:gridCol w="676656">
                  <a:extLst>
                    <a:ext uri="{9D8B030D-6E8A-4147-A177-3AD203B41FA5}">
                      <a16:colId xmlns:a16="http://schemas.microsoft.com/office/drawing/2014/main" val="20001"/>
                    </a:ext>
                  </a:extLst>
                </a:gridCol>
                <a:gridCol w="676656">
                  <a:extLst>
                    <a:ext uri="{9D8B030D-6E8A-4147-A177-3AD203B41FA5}">
                      <a16:colId xmlns:a16="http://schemas.microsoft.com/office/drawing/2014/main" val="20002"/>
                    </a:ext>
                  </a:extLst>
                </a:gridCol>
                <a:gridCol w="621792">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676656">
                  <a:extLst>
                    <a:ext uri="{9D8B030D-6E8A-4147-A177-3AD203B41FA5}">
                      <a16:colId xmlns:a16="http://schemas.microsoft.com/office/drawing/2014/main" val="900053"/>
                    </a:ext>
                  </a:extLst>
                </a:gridCol>
                <a:gridCol w="676656">
                  <a:extLst>
                    <a:ext uri="{9D8B030D-6E8A-4147-A177-3AD203B41FA5}">
                      <a16:colId xmlns:a16="http://schemas.microsoft.com/office/drawing/2014/main" val="900054"/>
                    </a:ext>
                  </a:extLst>
                </a:gridCol>
                <a:gridCol w="640080">
                  <a:extLst>
                    <a:ext uri="{9D8B030D-6E8A-4147-A177-3AD203B41FA5}">
                      <a16:colId xmlns:a16="http://schemas.microsoft.com/office/drawing/2014/main" val="950004"/>
                    </a:ext>
                  </a:extLst>
                </a:gridCol>
                <a:gridCol w="530352">
                  <a:extLst>
                    <a:ext uri="{9D8B030D-6E8A-4147-A177-3AD203B41FA5}">
                      <a16:colId xmlns:a16="http://schemas.microsoft.com/office/drawing/2014/main" val="900055"/>
                    </a:ext>
                  </a:extLst>
                </a:gridCol>
              </a:tblGrid>
              <a:tr h="256032">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Nationality</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RN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Chg</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ADR %</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China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9,640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10,445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+805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3,504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3,107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-397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India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4,218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3,764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3,631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3,645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Thailand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2,963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3,622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+659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+22%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4,447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3,264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-1,183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850" b="1" dirty="0">
                          <a:solidFill>
                            <a:srgbClr val="26292E"/>
                          </a:solidFill>
                          <a:latin typeface="Calibri" pitchFamily="34" charset="0"/>
                          <a:ea typeface="Calibri" pitchFamily="34" charset="-122"/>
                          <a:cs typeface="Calibri" pitchFamily="34" charset="-120"/>
                        </a:rPr>
                        <a:t>Israel</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2,509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3,148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+639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4,034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3,754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-280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United States</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3,346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2,381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-965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-29%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4,314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4,370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+57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7AE60"/>
                          </a:solidFill>
                          <a:latin typeface="Calibri" pitchFamily="34" charset="0"/>
                          <a:ea typeface="Calibri" pitchFamily="34" charset="-122"/>
                          <a:cs typeface="Calibri" pitchFamily="34" charset="-120"/>
                        </a:rPr>
                        <a:t>+1%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Russia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2,030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2,295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2E7D32"/>
                          </a:solidFill>
                          <a:latin typeface="Calibri" pitchFamily="34" charset="0"/>
                          <a:ea typeface="Calibri" pitchFamily="34" charset="-122"/>
                          <a:cs typeface="Calibri" pitchFamily="34" charset="-120"/>
                        </a:rPr>
                        <a:t>+265</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3,488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3,380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-109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Taiwan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2,369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2,175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-194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3,388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2,886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-501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Republic of Korea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2,040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1,950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-90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3,677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3,182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-495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8"/>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Australia</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1,310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1,882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+572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E7D32"/>
                          </a:solidFill>
                          <a:latin typeface="Calibri" pitchFamily="34" charset="0"/>
                          <a:ea typeface="Calibri" pitchFamily="34" charset="-122"/>
                          <a:cs typeface="Calibri" pitchFamily="34" charset="-120"/>
                        </a:rPr>
                        <a:t>+44%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4,362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4,184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-178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850" b="1">
                          <a:solidFill>
                            <a:srgbClr val="26292E"/>
                          </a:solidFill>
                          <a:latin typeface="Calibri" pitchFamily="34" charset="0"/>
                          <a:ea typeface="Calibri" pitchFamily="34" charset="-122"/>
                          <a:cs typeface="Calibri" pitchFamily="34" charset="-120"/>
                        </a:rPr>
                        <a:t>Japan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1,663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1,620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-43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3,929</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3,516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-413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C0392B"/>
                          </a:solidFill>
                          <a:latin typeface="Calibri" pitchFamily="34" charset="0"/>
                          <a:ea typeface="Calibri" pitchFamily="34" charset="-122"/>
                          <a:cs typeface="Calibri" pitchFamily="34" charset="-120"/>
                        </a:rPr>
                        <a:t>-11%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256032">
                <a:tc>
                  <a:txBody>
                    <a:bodyPr/>
                    <a:lstStyle/>
                    <a:p>
                      <a:pPr marL="0" indent="0">
                        <a:buNone/>
                      </a:pPr>
                      <a:r>
                        <a:rPr lang="en-US" sz="850" b="1">
                          <a:solidFill>
                            <a:srgbClr val="1E2761"/>
                          </a:solidFill>
                          <a:latin typeface="Calibri" pitchFamily="34" charset="0"/>
                          <a:ea typeface="Calibri" pitchFamily="34" charset="-122"/>
                          <a:cs typeface="Calibri" pitchFamily="34" charset="-120"/>
                        </a:rPr>
                        <a:t>Top-10 total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32,088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33,282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+1,194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6B7280"/>
                          </a:solidFill>
                          <a:latin typeface="Calibri" pitchFamily="34" charset="0"/>
                          <a:ea typeface="Calibri" pitchFamily="34" charset="-122"/>
                          <a:cs typeface="Calibri" pitchFamily="34" charset="-120"/>
                        </a:rPr>
                        <a:t>3,792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3,426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-366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E2E7F2"/>
                    </a:solidFill>
                  </a:tcPr>
                </a:tc>
                <a:extLst>
                  <a:ext uri="{0D108BD9-81ED-4DB2-BD59-A6C34878D82A}">
                    <a16:rowId xmlns:a16="http://schemas.microsoft.com/office/drawing/2014/main" val="10011"/>
                  </a:ext>
                </a:extLst>
              </a:tr>
            </a:tbl>
          </a:graphicData>
        </a:graphic>
      </p:graphicFrame>
      <p:sp>
        <p:nvSpPr>
          <p:cNvPr id="8" name="Rectangle 7">
            <a:extLst>
              <a:ext uri="{FF2B5EF4-FFF2-40B4-BE49-F238E27FC236}">
                <a16:creationId xmlns:a16="http://schemas.microsoft.com/office/drawing/2014/main" id="{C9C7DA9E-C2B9-74A4-27CD-55B766BD75B7}"/>
              </a:ext>
            </a:extLst>
          </p:cNvPr>
          <p:cNvSpPr/>
          <p:nvPr/>
        </p:nvSpPr>
        <p:spPr>
          <a:xfrm>
            <a:off x="5623560" y="5017846"/>
            <a:ext cx="6144768" cy="870205"/>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ysClr val="windowText" lastClr="000000"/>
                </a:solidFill>
              </a:rPr>
              <a:t>Top nationality : China (+805 RN) Thailand (+639 RN) Israel (+639 RN) Russia and Aus</a:t>
            </a:r>
          </a:p>
          <a:p>
            <a:pPr marL="171450" indent="-171450">
              <a:buFont typeface="Arial" panose="020B0604020202020204" pitchFamily="34" charset="0"/>
              <a:buChar char="•"/>
            </a:pPr>
            <a:r>
              <a:rPr lang="en-US" sz="1200" dirty="0">
                <a:solidFill>
                  <a:sysClr val="windowText" lastClr="000000"/>
                </a:solidFill>
              </a:rPr>
              <a:t>Biggest H1 gain: China (+805 RN)</a:t>
            </a:r>
          </a:p>
          <a:p>
            <a:pPr marL="171450" indent="-171450">
              <a:buFont typeface="Arial" panose="020B0604020202020204" pitchFamily="34" charset="0"/>
              <a:buChar char="•"/>
            </a:pPr>
            <a:r>
              <a:rPr lang="en-US" sz="1200" dirty="0">
                <a:solidFill>
                  <a:sysClr val="windowText" lastClr="000000"/>
                </a:solidFill>
              </a:rPr>
              <a:t>biggest decline: United States (-965 RN)</a:t>
            </a:r>
          </a:p>
          <a:p>
            <a:pPr marL="171450" indent="-171450">
              <a:buFont typeface="Arial" panose="020B0604020202020204" pitchFamily="34" charset="0"/>
              <a:buChar char="•"/>
            </a:pPr>
            <a:r>
              <a:rPr lang="en-US" sz="1200" dirty="0">
                <a:solidFill>
                  <a:sysClr val="windowText" lastClr="000000"/>
                </a:solidFill>
              </a:rPr>
              <a:t>ADR improved India and US</a:t>
            </a:r>
          </a:p>
        </p:txBody>
      </p:sp>
      <p:sp>
        <p:nvSpPr>
          <p:cNvPr id="9" name="TextBox 8">
            <a:extLst>
              <a:ext uri="{FF2B5EF4-FFF2-40B4-BE49-F238E27FC236}">
                <a16:creationId xmlns:a16="http://schemas.microsoft.com/office/drawing/2014/main" id="{D74E4D1E-69B7-E433-D597-328D5366FC59}"/>
              </a:ext>
            </a:extLst>
          </p:cNvPr>
          <p:cNvSpPr txBox="1"/>
          <p:nvPr/>
        </p:nvSpPr>
        <p:spPr>
          <a:xfrm>
            <a:off x="9902952" y="1266441"/>
            <a:ext cx="784098" cy="369332"/>
          </a:xfrm>
          <a:prstGeom prst="rect">
            <a:avLst/>
          </a:prstGeom>
          <a:noFill/>
        </p:spPr>
        <p:txBody>
          <a:bodyPr wrap="square" rtlCol="0">
            <a:spAutoFit/>
          </a:bodyPr>
          <a:lstStyle/>
          <a:p>
            <a:r>
              <a:rPr lang="en-US" sz="900">
                <a:solidFill>
                  <a:srgbClr val="FF0000"/>
                </a:solidFill>
              </a:rPr>
              <a:t>*Not included BF</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7 · SOMERSET PATTAYA (SP)</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Pattaya (SP) — RN and ADR by segment</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Monthly mix 2026 (left) · YTD share (right) · table: H1 room nights and ADR, 2026 vs 2025</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600200"/>
          <a:ext cx="6675120" cy="2514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nvGraphicFramePr>
        <p:xfrm>
          <a:off x="7635240" y="1600200"/>
          <a:ext cx="4023360" cy="25146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825608273"/>
              </p:ext>
            </p:extLst>
          </p:nvPr>
        </p:nvGraphicFramePr>
        <p:xfrm>
          <a:off x="548639" y="4203192"/>
          <a:ext cx="11091671" cy="1359408"/>
        </p:xfrm>
        <a:graphic>
          <a:graphicData uri="http://schemas.openxmlformats.org/drawingml/2006/table">
            <a:tbl>
              <a:tblPr>
                <a:tableStyleId>{5C22544A-7EE6-4342-B048-85BDC9FD1C3A}</a:tableStyleId>
              </a:tblPr>
              <a:tblGrid>
                <a:gridCol w="2011725">
                  <a:extLst>
                    <a:ext uri="{9D8B030D-6E8A-4147-A177-3AD203B41FA5}">
                      <a16:colId xmlns:a16="http://schemas.microsoft.com/office/drawing/2014/main" val="20000"/>
                    </a:ext>
                  </a:extLst>
                </a:gridCol>
                <a:gridCol w="1413644">
                  <a:extLst>
                    <a:ext uri="{9D8B030D-6E8A-4147-A177-3AD203B41FA5}">
                      <a16:colId xmlns:a16="http://schemas.microsoft.com/office/drawing/2014/main" val="20001"/>
                    </a:ext>
                  </a:extLst>
                </a:gridCol>
                <a:gridCol w="1413644">
                  <a:extLst>
                    <a:ext uri="{9D8B030D-6E8A-4147-A177-3AD203B41FA5}">
                      <a16:colId xmlns:a16="http://schemas.microsoft.com/office/drawing/2014/main" val="20002"/>
                    </a:ext>
                  </a:extLst>
                </a:gridCol>
                <a:gridCol w="1196161">
                  <a:extLst>
                    <a:ext uri="{9D8B030D-6E8A-4147-A177-3AD203B41FA5}">
                      <a16:colId xmlns:a16="http://schemas.microsoft.com/office/drawing/2014/main" val="20003"/>
                    </a:ext>
                  </a:extLst>
                </a:gridCol>
                <a:gridCol w="1033048">
                  <a:extLst>
                    <a:ext uri="{9D8B030D-6E8A-4147-A177-3AD203B41FA5}">
                      <a16:colId xmlns:a16="http://schemas.microsoft.com/office/drawing/2014/main" val="20004"/>
                    </a:ext>
                  </a:extLst>
                </a:gridCol>
                <a:gridCol w="1413644">
                  <a:extLst>
                    <a:ext uri="{9D8B030D-6E8A-4147-A177-3AD203B41FA5}">
                      <a16:colId xmlns:a16="http://schemas.microsoft.com/office/drawing/2014/main" val="20005"/>
                    </a:ext>
                  </a:extLst>
                </a:gridCol>
                <a:gridCol w="1413644">
                  <a:extLst>
                    <a:ext uri="{9D8B030D-6E8A-4147-A177-3AD203B41FA5}">
                      <a16:colId xmlns:a16="http://schemas.microsoft.com/office/drawing/2014/main" val="20006"/>
                    </a:ext>
                  </a:extLst>
                </a:gridCol>
                <a:gridCol w="1196161">
                  <a:extLst>
                    <a:ext uri="{9D8B030D-6E8A-4147-A177-3AD203B41FA5}">
                      <a16:colId xmlns:a16="http://schemas.microsoft.com/office/drawing/2014/main" val="20007"/>
                    </a:ext>
                  </a:extLst>
                </a:gridCol>
              </a:tblGrid>
              <a:tr h="164592">
                <a:tc>
                  <a:txBody>
                    <a:bodyPr/>
                    <a:lstStyle/>
                    <a:p>
                      <a:pPr algn="l"/>
                      <a:r>
                        <a:rPr sz="950" b="1">
                          <a:solidFill>
                            <a:srgbClr val="FFFFFF"/>
                          </a:solidFill>
                          <a:latin typeface="Calibri"/>
                        </a:rPr>
                        <a:t>Segment (H1)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RN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Mix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’25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tc>
                  <a:txBody>
                    <a:bodyPr/>
                    <a:lstStyle/>
                    <a:p>
                      <a:pPr algn="r"/>
                      <a:r>
                        <a:rPr sz="950" b="1">
                          <a:solidFill>
                            <a:srgbClr val="FFFFFF"/>
                          </a:solidFill>
                          <a:latin typeface="Calibri"/>
                        </a:rPr>
                        <a:t>ADR Chg %</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1E2761"/>
                    </a:solidFill>
                  </a:tcPr>
                </a:tc>
                <a:extLst>
                  <a:ext uri="{0D108BD9-81ED-4DB2-BD59-A6C34878D82A}">
                    <a16:rowId xmlns:a16="http://schemas.microsoft.com/office/drawing/2014/main" val="10000"/>
                  </a:ext>
                </a:extLst>
              </a:tr>
              <a:tr h="164592">
                <a:tc>
                  <a:txBody>
                    <a:bodyPr/>
                    <a:lstStyle/>
                    <a:p>
                      <a:pPr algn="l"/>
                      <a:r>
                        <a:rPr sz="1000" b="0">
                          <a:solidFill>
                            <a:srgbClr val="26292E"/>
                          </a:solidFill>
                          <a:latin typeface="Calibri"/>
                        </a:rPr>
                        <a:t>Corporate SS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1,386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1,879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3,493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3,570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+2.2%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1"/>
                  </a:ext>
                </a:extLst>
              </a:tr>
              <a:tr h="164592">
                <a:tc>
                  <a:txBody>
                    <a:bodyPr/>
                    <a:lstStyle/>
                    <a:p>
                      <a:pPr algn="l"/>
                      <a:r>
                        <a:rPr sz="1000" b="0">
                          <a:solidFill>
                            <a:srgbClr val="26292E"/>
                          </a:solidFill>
                          <a:latin typeface="Calibri"/>
                        </a:rPr>
                        <a:t>Corporate LS</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2,270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1,986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2,643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3,155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+19.4%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2"/>
                  </a:ext>
                </a:extLst>
              </a:tr>
              <a:tr h="164592">
                <a:tc>
                  <a:txBody>
                    <a:bodyPr/>
                    <a:lstStyle/>
                    <a:p>
                      <a:pPr algn="l"/>
                      <a:r>
                        <a:rPr sz="1000" b="1">
                          <a:solidFill>
                            <a:srgbClr val="26292E"/>
                          </a:solidFill>
                          <a:latin typeface="Calibri"/>
                        </a:rPr>
                        <a:t>Online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12,400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12,744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29%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4,940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4,145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-16.1%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3"/>
                  </a:ext>
                </a:extLst>
              </a:tr>
              <a:tr h="164592">
                <a:tc>
                  <a:txBody>
                    <a:bodyPr/>
                    <a:lstStyle/>
                    <a:p>
                      <a:pPr algn="l"/>
                      <a:r>
                        <a:rPr sz="1000" b="0">
                          <a:solidFill>
                            <a:srgbClr val="26292E"/>
                          </a:solidFill>
                          <a:latin typeface="Calibri"/>
                        </a:rPr>
                        <a:t>ASR</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4,567</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6,426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+41%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15%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4,640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4,382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-5.5%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4"/>
                  </a:ext>
                </a:extLst>
              </a:tr>
              <a:tr h="164592">
                <a:tc>
                  <a:txBody>
                    <a:bodyPr/>
                    <a:lstStyle/>
                    <a:p>
                      <a:pPr algn="l"/>
                      <a:r>
                        <a:rPr sz="1000" b="0">
                          <a:solidFill>
                            <a:srgbClr val="26292E"/>
                          </a:solidFill>
                          <a:latin typeface="Calibri"/>
                        </a:rPr>
                        <a:t>Wholesale</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19,078</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19,526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45%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3,323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2,954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-11.1%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5"/>
                  </a:ext>
                </a:extLst>
              </a:tr>
              <a:tr h="164592">
                <a:tc>
                  <a:txBody>
                    <a:bodyPr/>
                    <a:lstStyle/>
                    <a:p>
                      <a:pPr algn="l"/>
                      <a:r>
                        <a:rPr sz="1000" b="0">
                          <a:solidFill>
                            <a:srgbClr val="26292E"/>
                          </a:solidFill>
                          <a:latin typeface="Calibri"/>
                        </a:rPr>
                        <a:t>Group</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1,221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684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-44%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2%</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595959"/>
                          </a:solidFill>
                          <a:latin typeface="Calibri"/>
                        </a:rPr>
                        <a:t>3,671</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2,533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-31.0%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6"/>
                  </a:ext>
                </a:extLst>
              </a:tr>
              <a:tr h="164592">
                <a:tc>
                  <a:txBody>
                    <a:bodyPr/>
                    <a:lstStyle/>
                    <a:p>
                      <a:pPr algn="l"/>
                      <a:r>
                        <a:rPr sz="1000" b="1">
                          <a:solidFill>
                            <a:srgbClr val="26292E"/>
                          </a:solidFill>
                          <a:latin typeface="Calibri"/>
                        </a:rPr>
                        <a:t>Total</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595959"/>
                          </a:solidFill>
                          <a:latin typeface="Calibri"/>
                        </a:rPr>
                        <a:t>40,993</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43,294</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1E7B34"/>
                          </a:solidFill>
                          <a:latin typeface="Calibri"/>
                        </a:rPr>
                        <a:t>+6%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0">
                          <a:solidFill>
                            <a:srgbClr val="26292E"/>
                          </a:solidFill>
                          <a:latin typeface="Calibri"/>
                        </a:rPr>
                        <a:t>100%</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595959"/>
                          </a:solidFill>
                          <a:latin typeface="Calibri"/>
                        </a:rPr>
                        <a:t>3,936</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26292E"/>
                          </a:solidFill>
                          <a:latin typeface="Calibri"/>
                        </a:rPr>
                        <a:t>3,545</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tc>
                  <a:txBody>
                    <a:bodyPr/>
                    <a:lstStyle/>
                    <a:p>
                      <a:pPr algn="r"/>
                      <a:r>
                        <a:rPr sz="1000" b="1">
                          <a:solidFill>
                            <a:srgbClr val="C62828"/>
                          </a:solidFill>
                          <a:latin typeface="Calibri"/>
                        </a:rPr>
                        <a:t>-9.9%</a:t>
                      </a:r>
                    </a:p>
                  </a:txBody>
                  <a:tcPr marL="45720" marR="45720" marT="9144" marB="9144" anchor="ctr">
                    <a:lnL w="6350">
                      <a:solidFill>
                        <a:srgbClr val="E2E7F2"/>
                      </a:solidFill>
                    </a:lnL>
                    <a:lnR w="6350">
                      <a:solidFill>
                        <a:srgbClr val="E2E7F2"/>
                      </a:solidFill>
                    </a:lnR>
                    <a:lnT w="6350">
                      <a:solidFill>
                        <a:srgbClr val="E2E7F2"/>
                      </a:solidFill>
                    </a:lnT>
                    <a:lnB w="6350">
                      <a:solidFill>
                        <a:srgbClr val="E2E7F2"/>
                      </a:solidFill>
                    </a:lnB>
                    <a:solidFill>
                      <a:srgbClr val="FFFFFF"/>
                    </a:solidFill>
                  </a:tcPr>
                </a:tc>
                <a:extLst>
                  <a:ext uri="{0D108BD9-81ED-4DB2-BD59-A6C34878D82A}">
                    <a16:rowId xmlns:a16="http://schemas.microsoft.com/office/drawing/2014/main" val="10007"/>
                  </a:ext>
                </a:extLst>
              </a:tr>
            </a:tbl>
          </a:graphicData>
        </a:graphic>
      </p:graphicFrame>
      <p:sp>
        <p:nvSpPr>
          <p:cNvPr id="10" name="Rectangle 9">
            <a:extLst>
              <a:ext uri="{FF2B5EF4-FFF2-40B4-BE49-F238E27FC236}">
                <a16:creationId xmlns:a16="http://schemas.microsoft.com/office/drawing/2014/main" id="{11B85CAA-8BB5-CE77-F0F1-5557DEC5E4DA}"/>
              </a:ext>
            </a:extLst>
          </p:cNvPr>
          <p:cNvSpPr/>
          <p:nvPr/>
        </p:nvSpPr>
        <p:spPr>
          <a:xfrm>
            <a:off x="548639" y="5645229"/>
            <a:ext cx="11117579" cy="709851"/>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i="1" dirty="0">
                <a:solidFill>
                  <a:schemeClr val="tx1"/>
                </a:solidFill>
                <a:latin typeface="Calibri" pitchFamily="34" charset="0"/>
                <a:ea typeface="Calibri" pitchFamily="34" charset="-122"/>
                <a:cs typeface="Calibri" pitchFamily="34" charset="-120"/>
              </a:rPr>
              <a:t>Largest segment YTD: Wholesale (42% of room nights)</a:t>
            </a:r>
          </a:p>
          <a:p>
            <a:pPr marL="171450" indent="-171450">
              <a:buFont typeface="Arial" panose="020B0604020202020204" pitchFamily="34" charset="0"/>
              <a:buChar char="•"/>
            </a:pPr>
            <a:r>
              <a:rPr lang="en-US" sz="1200" dirty="0">
                <a:solidFill>
                  <a:schemeClr val="tx1"/>
                </a:solidFill>
              </a:rPr>
              <a:t>ASR is increasing — Ascott seems to be </a:t>
            </a:r>
            <a:r>
              <a:rPr lang="en-US" sz="1200" dirty="0" err="1">
                <a:solidFill>
                  <a:schemeClr val="tx1"/>
                </a:solidFill>
              </a:rPr>
              <a:t>emphasising</a:t>
            </a:r>
            <a:r>
              <a:rPr lang="en-US" sz="1200" dirty="0">
                <a:solidFill>
                  <a:schemeClr val="tx1"/>
                </a:solidFill>
              </a:rPr>
              <a:t> its leisure brand, promoting leisure properties like SP more.</a:t>
            </a:r>
          </a:p>
          <a:p>
            <a:pPr marL="171450" indent="-171450">
              <a:buFont typeface="Arial" panose="020B0604020202020204" pitchFamily="34" charset="0"/>
              <a:buChar char="•"/>
            </a:pPr>
            <a:r>
              <a:rPr lang="en-US" sz="1200" dirty="0">
                <a:solidFill>
                  <a:schemeClr val="tx1"/>
                </a:solidFill>
              </a:rPr>
              <a:t>Corporate SS bookings are also +36% with ADR above LY, showing real demand for corporate short-stay.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200">
                <a:solidFill>
                  <a:srgbClr val="D9A441"/>
                </a:solidFill>
                <a:latin typeface="Calibri" pitchFamily="34" charset="0"/>
                <a:ea typeface="Calibri" pitchFamily="34" charset="-122"/>
                <a:cs typeface="Calibri" pitchFamily="34" charset="-120"/>
              </a:rPr>
              <a:t>SECTION 7 · SOMERSET PATTAYA (SP)</a:t>
            </a:r>
            <a:endParaRPr lang="en-US" sz="1100"/>
          </a:p>
        </p:txBody>
      </p:sp>
      <p:sp>
        <p:nvSpPr>
          <p:cNvPr id="3" name="Text 1"/>
          <p:cNvSpPr/>
          <p:nvPr/>
        </p:nvSpPr>
        <p:spPr>
          <a:xfrm>
            <a:off x="548640" y="502920"/>
            <a:ext cx="11091672" cy="566928"/>
          </a:xfrm>
          <a:prstGeom prst="rect">
            <a:avLst/>
          </a:prstGeom>
          <a:noFill/>
          <a:ln/>
        </p:spPr>
        <p:txBody>
          <a:bodyPr wrap="square" lIns="0" tIns="0" rIns="0" bIns="0" rtlCol="0" anchor="ctr"/>
          <a:lstStyle/>
          <a:p>
            <a:pPr marL="0" indent="0">
              <a:buNone/>
            </a:pPr>
            <a:r>
              <a:rPr lang="en-US" sz="2800" b="1">
                <a:solidFill>
                  <a:srgbClr val="1E2761"/>
                </a:solidFill>
                <a:latin typeface="Calibri" pitchFamily="34" charset="0"/>
                <a:ea typeface="Calibri" pitchFamily="34" charset="-122"/>
                <a:cs typeface="Calibri" pitchFamily="34" charset="-120"/>
              </a:rPr>
              <a:t>Somerset Pattaya (SP) — P&amp;L, H1 2026</a:t>
            </a:r>
            <a:endParaRPr lang="en-US" sz="2800"/>
          </a:p>
        </p:txBody>
      </p:sp>
      <p:sp>
        <p:nvSpPr>
          <p:cNvPr id="4" name="Text 2"/>
          <p:cNvSpPr/>
          <p:nvPr/>
        </p:nvSpPr>
        <p:spPr>
          <a:xfrm>
            <a:off x="548640" y="1060704"/>
            <a:ext cx="11091672" cy="292608"/>
          </a:xfrm>
          <a:prstGeom prst="rect">
            <a:avLst/>
          </a:prstGeom>
          <a:noFill/>
          <a:ln/>
        </p:spPr>
        <p:txBody>
          <a:bodyPr wrap="square" lIns="0" tIns="0" rIns="0" bIns="0" rtlCol="0" anchor="ctr"/>
          <a:lstStyle/>
          <a:p>
            <a:pPr marL="0" indent="0">
              <a:buNone/>
            </a:pPr>
            <a:r>
              <a:rPr lang="en-US" sz="1250">
                <a:solidFill>
                  <a:srgbClr val="6B7280"/>
                </a:solidFill>
                <a:latin typeface="Calibri" pitchFamily="34" charset="0"/>
                <a:ea typeface="Calibri" pitchFamily="34" charset="-122"/>
                <a:cs typeface="Calibri" pitchFamily="34" charset="-120"/>
              </a:rPr>
              <a:t>YTD Jan–Jun vs MF budget · monthly P&amp;L: actual 2026 vs Budget (MF) and actual 2025 · ฿M</a:t>
            </a:r>
            <a:endParaRPr lang="en-US" sz="1250"/>
          </a:p>
        </p:txBody>
      </p:sp>
      <p:sp>
        <p:nvSpPr>
          <p:cNvPr id="5" name="Text 3"/>
          <p:cNvSpPr/>
          <p:nvPr/>
        </p:nvSpPr>
        <p:spPr>
          <a:xfrm>
            <a:off x="8165592" y="310896"/>
            <a:ext cx="3474720" cy="274320"/>
          </a:xfrm>
          <a:prstGeom prst="rect">
            <a:avLst/>
          </a:prstGeom>
          <a:noFill/>
          <a:ln/>
        </p:spPr>
        <p:txBody>
          <a:bodyPr wrap="square" lIns="0" tIns="0" rIns="0" bIns="0" rtlCol="0" anchor="ctr"/>
          <a:lstStyle/>
          <a:p>
            <a:pPr marL="0" indent="0" algn="r">
              <a:buNone/>
            </a:pPr>
            <a:r>
              <a:rPr lang="en-US" sz="900">
                <a:solidFill>
                  <a:srgbClr val="6B7280"/>
                </a:solidFill>
                <a:latin typeface="Calibri" pitchFamily="34" charset="0"/>
                <a:ea typeface="Calibri" pitchFamily="34" charset="-122"/>
                <a:cs typeface="Calibri" pitchFamily="34" charset="-120"/>
              </a:rPr>
              <a:t>Mitsui Thailand Portfolio · H1 2026</a:t>
            </a:r>
            <a:endParaRPr lang="en-US" sz="900"/>
          </a:p>
        </p:txBody>
      </p:sp>
      <p:graphicFrame>
        <p:nvGraphicFramePr>
          <p:cNvPr id="6" name="Chart 0"/>
          <p:cNvGraphicFramePr/>
          <p:nvPr/>
        </p:nvGraphicFramePr>
        <p:xfrm>
          <a:off x="548640" y="1783080"/>
          <a:ext cx="539496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1" name="Table 0"/>
          <p:cNvGraphicFramePr>
            <a:graphicFrameLocks noGrp="1"/>
          </p:cNvGraphicFramePr>
          <p:nvPr>
            <p:extLst>
              <p:ext uri="{D42A27DB-BD31-4B8C-83A1-F6EECF244321}">
                <p14:modId xmlns:p14="http://schemas.microsoft.com/office/powerpoint/2010/main" val="2247913622"/>
              </p:ext>
            </p:extLst>
          </p:nvPr>
        </p:nvGraphicFramePr>
        <p:xfrm>
          <a:off x="548640" y="3886200"/>
          <a:ext cx="5394960" cy="2460244"/>
        </p:xfrm>
        <a:graphic>
          <a:graphicData uri="http://schemas.openxmlformats.org/drawingml/2006/table">
            <a:tbl>
              <a:tblPr/>
              <a:tblGrid>
                <a:gridCol w="932688">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841248">
                  <a:extLst>
                    <a:ext uri="{9D8B030D-6E8A-4147-A177-3AD203B41FA5}">
                      <a16:colId xmlns:a16="http://schemas.microsoft.com/office/drawing/2014/main" val="20007"/>
                    </a:ext>
                  </a:extLst>
                </a:gridCol>
              </a:tblGrid>
              <a:tr h="150876">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Jan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Feb</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Apr</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May</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Jun</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750" b="1">
                          <a:solidFill>
                            <a:srgbClr val="FFFFFF"/>
                          </a:solidFill>
                          <a:latin typeface="Calibri" pitchFamily="34" charset="0"/>
                          <a:ea typeface="Calibri" pitchFamily="34" charset="-122"/>
                          <a:cs typeface="Calibri" pitchFamily="34" charset="-120"/>
                        </a:rPr>
                        <a:t>H1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Revenue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40.6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25.5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27.1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19.4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167.4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dirty="0">
                          <a:solidFill>
                            <a:srgbClr val="6B7280"/>
                          </a:solidFill>
                          <a:latin typeface="Calibri" pitchFamily="34" charset="0"/>
                          <a:ea typeface="Calibri" pitchFamily="34" charset="-122"/>
                          <a:cs typeface="Calibri" pitchFamily="34" charset="-120"/>
                        </a:rPr>
                        <a:t>Revenue </a:t>
                      </a:r>
                      <a:r>
                        <a:rPr lang="en-US" sz="750" b="0" dirty="0">
                          <a:solidFill>
                            <a:srgbClr val="6B7280"/>
                          </a:solidFill>
                          <a:latin typeface="Calibri" pitchFamily="34" charset="0"/>
                          <a:ea typeface="Calibri" pitchFamily="34" charset="-122"/>
                          <a:cs typeface="Calibri" pitchFamily="34" charset="-120"/>
                        </a:rPr>
                        <a:t>Budget</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37.4</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37.0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28.8</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30.8</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26.0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23.1</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183.1</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4158716961"/>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Revenue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36.7</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28.0</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25.8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21.1</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166.4</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0876">
                <a:tc>
                  <a:txBody>
                    <a:bodyPr/>
                    <a:lstStyle/>
                    <a:p>
                      <a:pPr marL="0" indent="0">
                        <a:buNone/>
                      </a:pPr>
                      <a:r>
                        <a:rPr lang="en-US" sz="750" dirty="0">
                          <a:solidFill>
                            <a:srgbClr val="6B7280"/>
                          </a:solidFill>
                          <a:latin typeface="Calibri" pitchFamily="34" charset="0"/>
                          <a:ea typeface="Calibri" pitchFamily="34" charset="-122"/>
                          <a:cs typeface="Calibri" pitchFamily="34" charset="-120"/>
                        </a:rPr>
                        <a:t>OPEX ’25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-11.1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-11.5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-75.1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56"/>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OPEX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-82.4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5"/>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OPEX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-74.4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18.8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14.4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92.3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900057"/>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GOP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6B7280"/>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16.9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100.7</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GOP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22.9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19.6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9.3</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92.1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17.4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2.0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53.1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900058"/>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EBIT Budget</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15.1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8.4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10.0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6.4</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4.1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59.1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1"/>
                  </a:ext>
                </a:extLst>
              </a:tr>
              <a:tr h="150876">
                <a:tc>
                  <a:txBody>
                    <a:bodyPr/>
                    <a:lstStyle/>
                    <a:p>
                      <a:pPr marL="0" indent="0">
                        <a:buNone/>
                      </a:pPr>
                      <a:r>
                        <a:rPr lang="en-US" sz="750" b="1">
                          <a:solidFill>
                            <a:srgbClr val="26292E"/>
                          </a:solidFill>
                          <a:latin typeface="Calibri" pitchFamily="34" charset="0"/>
                          <a:ea typeface="Calibri" pitchFamily="34" charset="-122"/>
                          <a:cs typeface="Calibri" pitchFamily="34" charset="-120"/>
                        </a:rPr>
                        <a:t>EBIT ’26</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15.0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13.0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6.9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4.9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3.5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750" b="1">
                          <a:solidFill>
                            <a:srgbClr val="1E2761"/>
                          </a:solidFill>
                          <a:latin typeface="Calibri" pitchFamily="34" charset="0"/>
                          <a:ea typeface="Calibri" pitchFamily="34" charset="-122"/>
                          <a:cs typeface="Calibri" pitchFamily="34" charset="-120"/>
                        </a:rPr>
                        <a:t>52.2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10"/>
                  </a:ext>
                </a:extLst>
              </a:tr>
              <a:tr h="150876">
                <a:tc>
                  <a:txBody>
                    <a:bodyPr/>
                    <a:lstStyle/>
                    <a:p>
                      <a:pPr marL="0" indent="0">
                        <a:buNone/>
                      </a:pPr>
                      <a:r>
                        <a:rPr lang="en-US" sz="750">
                          <a:solidFill>
                            <a:srgbClr val="6B7280"/>
                          </a:solidFill>
                          <a:latin typeface="Calibri" pitchFamily="34" charset="0"/>
                          <a:ea typeface="Calibri" pitchFamily="34" charset="-122"/>
                          <a:cs typeface="Calibri" pitchFamily="34" charset="-120"/>
                        </a:rPr>
                        <a:t>NPAT ’25</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9.9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7.1</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3.9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0.9</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6B7280"/>
                          </a:solidFill>
                          <a:latin typeface="Calibri" pitchFamily="34" charset="0"/>
                          <a:ea typeface="Calibri" pitchFamily="34" charset="-122"/>
                          <a:cs typeface="Calibri" pitchFamily="34" charset="-120"/>
                        </a:rPr>
                        <a:t>-1.2</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a:solidFill>
                            <a:srgbClr val="6B7280"/>
                          </a:solidFill>
                          <a:latin typeface="Calibri" pitchFamily="34" charset="0"/>
                          <a:ea typeface="Calibri" pitchFamily="34" charset="-122"/>
                          <a:cs typeface="Calibri" pitchFamily="34" charset="-120"/>
                        </a:rPr>
                        <a:t>23.8</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150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50" b="0" dirty="0">
                          <a:solidFill>
                            <a:srgbClr val="26292E"/>
                          </a:solidFill>
                          <a:latin typeface="Calibri" pitchFamily="34" charset="0"/>
                          <a:ea typeface="Calibri" pitchFamily="34" charset="-122"/>
                          <a:cs typeface="Calibri" pitchFamily="34" charset="-120"/>
                        </a:rPr>
                        <a:t>NPAT </a:t>
                      </a:r>
                      <a:r>
                        <a:rPr lang="en-US" sz="750" b="0" dirty="0">
                          <a:solidFill>
                            <a:srgbClr val="6B7280"/>
                          </a:solidFill>
                          <a:latin typeface="Calibri" pitchFamily="34" charset="0"/>
                          <a:ea typeface="Calibri" pitchFamily="34" charset="-122"/>
                          <a:cs typeface="Calibri" pitchFamily="34" charset="-120"/>
                        </a:rPr>
                        <a:t>Budget</a:t>
                      </a:r>
                      <a:endParaRPr lang="en-US" sz="750" b="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9.3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9.6</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4.0</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5.3</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2.4</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a:solidFill>
                            <a:srgbClr val="000000"/>
                          </a:solidFill>
                          <a:effectLst/>
                          <a:latin typeface="Aptos Narrow" panose="020B0004020202020204" pitchFamily="34" charset="0"/>
                        </a:rPr>
                        <a:t>0.6</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algn="r" fontAlgn="b">
                        <a:buNone/>
                      </a:pPr>
                      <a:r>
                        <a:rPr lang="en-US" sz="1100" b="0" i="0" u="none" strike="noStrike" dirty="0">
                          <a:solidFill>
                            <a:srgbClr val="000000"/>
                          </a:solidFill>
                          <a:effectLst/>
                          <a:latin typeface="Aptos Narrow" panose="020B0004020202020204" pitchFamily="34" charset="0"/>
                        </a:rPr>
                        <a:t>31.1</a:t>
                      </a:r>
                    </a:p>
                  </a:txBody>
                  <a:tcPr marL="6350" marR="6350" marT="6350" marB="0" anchor="b">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574959654"/>
                  </a:ext>
                </a:extLst>
              </a:tr>
              <a:tr h="150876">
                <a:tc>
                  <a:txBody>
                    <a:bodyPr/>
                    <a:lstStyle/>
                    <a:p>
                      <a:pPr marL="0" indent="0">
                        <a:buNone/>
                      </a:pPr>
                      <a:r>
                        <a:rPr lang="en-US" sz="750" b="1" dirty="0">
                          <a:solidFill>
                            <a:srgbClr val="26292E"/>
                          </a:solidFill>
                          <a:latin typeface="Calibri" pitchFamily="34" charset="0"/>
                          <a:ea typeface="Calibri" pitchFamily="34" charset="-122"/>
                          <a:cs typeface="Calibri" pitchFamily="34" charset="-120"/>
                        </a:rPr>
                        <a:t>NPAT ’26</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9.3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a:solidFill>
                            <a:srgbClr val="26292E"/>
                          </a:solidFill>
                          <a:latin typeface="Calibri" pitchFamily="34" charset="0"/>
                          <a:ea typeface="Calibri" pitchFamily="34" charset="-122"/>
                          <a:cs typeface="Calibri" pitchFamily="34" charset="-120"/>
                        </a:rPr>
                        <a:t>8.0</a:t>
                      </a:r>
                      <a:endParaRPr lang="en-US" sz="75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4.3</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2.9</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1.1</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dirty="0">
                          <a:solidFill>
                            <a:srgbClr val="26292E"/>
                          </a:solidFill>
                          <a:latin typeface="Calibri" pitchFamily="34" charset="0"/>
                          <a:ea typeface="Calibri" pitchFamily="34" charset="-122"/>
                          <a:cs typeface="Calibri" pitchFamily="34" charset="-120"/>
                        </a:rPr>
                        <a:t>0.2</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750" b="1" dirty="0">
                          <a:solidFill>
                            <a:srgbClr val="1E2761"/>
                          </a:solidFill>
                          <a:latin typeface="Calibri" pitchFamily="34" charset="0"/>
                          <a:ea typeface="Calibri" pitchFamily="34" charset="-122"/>
                          <a:cs typeface="Calibri" pitchFamily="34" charset="-120"/>
                        </a:rPr>
                        <a:t>25.7</a:t>
                      </a:r>
                      <a:endParaRPr lang="en-US" sz="750" dirty="0">
                        <a:latin typeface="Calibri" charset="0"/>
                        <a:ea typeface="Calibri" charset="0"/>
                        <a:cs typeface="Calibri" charset="0"/>
                      </a:endParaRPr>
                    </a:p>
                  </a:txBody>
                  <a:tcPr marL="27432" marR="27432" marT="9144" marB="9144"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261494740"/>
              </p:ext>
            </p:extLst>
          </p:nvPr>
        </p:nvGraphicFramePr>
        <p:xfrm>
          <a:off x="6126481" y="1442089"/>
          <a:ext cx="5513832" cy="2224112"/>
        </p:xfrm>
        <a:graphic>
          <a:graphicData uri="http://schemas.openxmlformats.org/drawingml/2006/table">
            <a:tbl>
              <a:tblPr/>
              <a:tblGrid>
                <a:gridCol w="983358">
                  <a:extLst>
                    <a:ext uri="{9D8B030D-6E8A-4147-A177-3AD203B41FA5}">
                      <a16:colId xmlns:a16="http://schemas.microsoft.com/office/drawing/2014/main" val="20000"/>
                    </a:ext>
                  </a:extLst>
                </a:gridCol>
                <a:gridCol w="667279">
                  <a:extLst>
                    <a:ext uri="{9D8B030D-6E8A-4147-A177-3AD203B41FA5}">
                      <a16:colId xmlns:a16="http://schemas.microsoft.com/office/drawing/2014/main" val="20001"/>
                    </a:ext>
                  </a:extLst>
                </a:gridCol>
                <a:gridCol w="667279">
                  <a:extLst>
                    <a:ext uri="{9D8B030D-6E8A-4147-A177-3AD203B41FA5}">
                      <a16:colId xmlns:a16="http://schemas.microsoft.com/office/drawing/2014/main" val="20002"/>
                    </a:ext>
                  </a:extLst>
                </a:gridCol>
                <a:gridCol w="702399">
                  <a:extLst>
                    <a:ext uri="{9D8B030D-6E8A-4147-A177-3AD203B41FA5}">
                      <a16:colId xmlns:a16="http://schemas.microsoft.com/office/drawing/2014/main" val="20003"/>
                    </a:ext>
                  </a:extLst>
                </a:gridCol>
                <a:gridCol w="632159">
                  <a:extLst>
                    <a:ext uri="{9D8B030D-6E8A-4147-A177-3AD203B41FA5}">
                      <a16:colId xmlns:a16="http://schemas.microsoft.com/office/drawing/2014/main" val="20004"/>
                    </a:ext>
                  </a:extLst>
                </a:gridCol>
                <a:gridCol w="649719">
                  <a:extLst>
                    <a:ext uri="{9D8B030D-6E8A-4147-A177-3AD203B41FA5}">
                      <a16:colId xmlns:a16="http://schemas.microsoft.com/office/drawing/2014/main" val="20005"/>
                    </a:ext>
                  </a:extLst>
                </a:gridCol>
                <a:gridCol w="597040">
                  <a:extLst>
                    <a:ext uri="{9D8B030D-6E8A-4147-A177-3AD203B41FA5}">
                      <a16:colId xmlns:a16="http://schemas.microsoft.com/office/drawing/2014/main" val="20006"/>
                    </a:ext>
                  </a:extLst>
                </a:gridCol>
                <a:gridCol w="614599">
                  <a:extLst>
                    <a:ext uri="{9D8B030D-6E8A-4147-A177-3AD203B41FA5}">
                      <a16:colId xmlns:a16="http://schemas.microsoft.com/office/drawing/2014/main" val="20007"/>
                    </a:ext>
                  </a:extLst>
                </a:gridCol>
              </a:tblGrid>
              <a:tr h="330973">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2026 (YTD)</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Actual</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MF budget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H1 2024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tc>
                  <a:txBody>
                    <a:bodyPr/>
                    <a:lstStyle/>
                    <a:p>
                      <a:pPr marL="0" indent="0" algn="ctr">
                        <a:buNone/>
                      </a:pPr>
                      <a:r>
                        <a:rPr lang="en-US" sz="850" b="1">
                          <a:solidFill>
                            <a:srgbClr val="FFFFFF"/>
                          </a:solidFill>
                          <a:latin typeface="Calibri" pitchFamily="34" charset="0"/>
                          <a:ea typeface="Calibri" pitchFamily="34" charset="-122"/>
                          <a:cs typeface="Calibri" pitchFamily="34" charset="-120"/>
                        </a:rPr>
                        <a:t>vs H1 24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Revenue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฿166.4M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฿183.1M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-9.1%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฿167.4M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-0.6%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฿182.4M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-8.8%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OPEX</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−฿74.4M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−฿82.4M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-9.8%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−฿75.1M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-1.0%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−฿75.9M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-2.0%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GOP</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฿92.1M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฿100.7M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-8.5%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฿92.3M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-0.2%</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฿106.6M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-13.6%</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GOP margin</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55.3%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55.0%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+0.5%</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55.1%</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+0.4%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58.4%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-5.3%</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JV expense</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−฿39.9M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−฿41.6M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-4.0%</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−฿39.2M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−฿41.0M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E7D32"/>
                          </a:solidFill>
                          <a:latin typeface="Calibri" pitchFamily="34" charset="0"/>
                          <a:ea typeface="Calibri" pitchFamily="34" charset="-122"/>
                          <a:cs typeface="Calibri" pitchFamily="34" charset="-120"/>
                        </a:rPr>
                        <a:t>-2.7%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EBIT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1E2761"/>
                          </a:solidFill>
                          <a:latin typeface="Calibri" pitchFamily="34" charset="0"/>
                          <a:ea typeface="Calibri" pitchFamily="34" charset="-122"/>
                          <a:cs typeface="Calibri" pitchFamily="34" charset="-120"/>
                        </a:rPr>
                        <a:t>฿52.2M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dirty="0">
                          <a:solidFill>
                            <a:srgbClr val="26292E"/>
                          </a:solidFill>
                          <a:latin typeface="Calibri" pitchFamily="34" charset="0"/>
                          <a:ea typeface="Calibri" pitchFamily="34" charset="-122"/>
                          <a:cs typeface="Calibri" pitchFamily="34" charset="-120"/>
                        </a:rPr>
                        <a:t>฿59.1M</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฿53.1M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฿65.5M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-20.4%</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4F6FB"/>
                    </a:solidFill>
                  </a:tcPr>
                </a:tc>
                <a:extLst>
                  <a:ext uri="{0D108BD9-81ED-4DB2-BD59-A6C34878D82A}">
                    <a16:rowId xmlns:a16="http://schemas.microsoft.com/office/drawing/2014/main" val="10006"/>
                  </a:ext>
                </a:extLst>
              </a:tr>
              <a:tr h="267656">
                <a:tc>
                  <a:txBody>
                    <a:bodyPr/>
                    <a:lstStyle/>
                    <a:p>
                      <a:pPr marL="0" indent="0">
                        <a:buNone/>
                      </a:pPr>
                      <a:r>
                        <a:rPr lang="en-US" sz="850" b="1">
                          <a:solidFill>
                            <a:srgbClr val="26292E"/>
                          </a:solidFill>
                          <a:latin typeface="Calibri" pitchFamily="34" charset="0"/>
                          <a:ea typeface="Calibri" pitchFamily="34" charset="-122"/>
                          <a:cs typeface="Calibri" pitchFamily="34" charset="-120"/>
                        </a:rPr>
                        <a:t>NPAT</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1E2761"/>
                          </a:solidFill>
                          <a:latin typeface="Calibri" pitchFamily="34" charset="0"/>
                          <a:ea typeface="Calibri" pitchFamily="34" charset="-122"/>
                          <a:cs typeface="Calibri" pitchFamily="34" charset="-120"/>
                        </a:rPr>
                        <a:t>฿25.7M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฿31.1M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C0392B"/>
                          </a:solidFill>
                          <a:latin typeface="Calibri" pitchFamily="34" charset="0"/>
                          <a:ea typeface="Calibri" pitchFamily="34" charset="-122"/>
                          <a:cs typeface="Calibri" pitchFamily="34" charset="-120"/>
                        </a:rPr>
                        <a:t>-17%</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26292E"/>
                          </a:solidFill>
                          <a:latin typeface="Calibri" pitchFamily="34" charset="0"/>
                          <a:ea typeface="Calibri" pitchFamily="34" charset="-122"/>
                          <a:cs typeface="Calibri" pitchFamily="34" charset="-120"/>
                        </a:rPr>
                        <a:t>฿23.8M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a:solidFill>
                            <a:srgbClr val="27AE60"/>
                          </a:solidFill>
                          <a:latin typeface="Calibri" pitchFamily="34" charset="0"/>
                          <a:ea typeface="Calibri" pitchFamily="34" charset="-122"/>
                          <a:cs typeface="Calibri" pitchFamily="34" charset="-120"/>
                        </a:rPr>
                        <a:t>+8%</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a:solidFill>
                            <a:srgbClr val="6B7280"/>
                          </a:solidFill>
                          <a:latin typeface="Calibri" pitchFamily="34" charset="0"/>
                          <a:ea typeface="Calibri" pitchFamily="34" charset="-122"/>
                          <a:cs typeface="Calibri" pitchFamily="34" charset="-120"/>
                        </a:rPr>
                        <a:t>฿28.2M</a:t>
                      </a:r>
                      <a:endParaRPr lang="en-US" sz="85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tc>
                  <a:txBody>
                    <a:bodyPr/>
                    <a:lstStyle/>
                    <a:p>
                      <a:pPr marL="0" indent="0" algn="r">
                        <a:buNone/>
                      </a:pPr>
                      <a:r>
                        <a:rPr lang="en-US" sz="850" b="1" dirty="0">
                          <a:solidFill>
                            <a:srgbClr val="C0392B"/>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anchor="ctr">
                    <a:lnL w="6350" cap="flat" cmpd="sng" algn="ctr">
                      <a:solidFill>
                        <a:srgbClr val="E2E7F2"/>
                      </a:solidFill>
                      <a:prstDash val="solid"/>
                      <a:round/>
                      <a:headEnd type="none" w="med" len="med"/>
                      <a:tailEnd type="none" w="med" len="med"/>
                    </a:lnL>
                    <a:lnR w="6350" cap="flat" cmpd="sng" algn="ctr">
                      <a:solidFill>
                        <a:srgbClr val="E2E7F2"/>
                      </a:solidFill>
                      <a:prstDash val="solid"/>
                      <a:round/>
                      <a:headEnd type="none" w="med" len="med"/>
                      <a:tailEnd type="none" w="med" len="med"/>
                    </a:lnR>
                    <a:lnT w="6350" cap="flat" cmpd="sng" algn="ctr">
                      <a:solidFill>
                        <a:srgbClr val="E2E7F2"/>
                      </a:solidFill>
                      <a:prstDash val="solid"/>
                      <a:round/>
                      <a:headEnd type="none" w="med" len="med"/>
                      <a:tailEnd type="none" w="med" len="med"/>
                    </a:lnT>
                    <a:lnB w="6350" cap="flat" cmpd="sng" algn="ctr">
                      <a:solidFill>
                        <a:srgbClr val="E2E7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4"/>
          <p:cNvSpPr/>
          <p:nvPr/>
        </p:nvSpPr>
        <p:spPr>
          <a:xfrm>
            <a:off x="6126480" y="3785616"/>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0" name="Text 5"/>
          <p:cNvSpPr/>
          <p:nvPr/>
        </p:nvSpPr>
        <p:spPr>
          <a:xfrm>
            <a:off x="6272784" y="3877056"/>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REVENUE H1 2026</a:t>
            </a:r>
            <a:endParaRPr lang="en-US" sz="1050"/>
          </a:p>
        </p:txBody>
      </p:sp>
      <p:sp>
        <p:nvSpPr>
          <p:cNvPr id="11" name="Text 6"/>
          <p:cNvSpPr/>
          <p:nvPr/>
        </p:nvSpPr>
        <p:spPr>
          <a:xfrm>
            <a:off x="6272784" y="4096512"/>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฿166.4M</a:t>
            </a:r>
            <a:endParaRPr lang="en-US" sz="2400"/>
          </a:p>
        </p:txBody>
      </p:sp>
      <p:sp>
        <p:nvSpPr>
          <p:cNvPr id="12" name="Text 7"/>
          <p:cNvSpPr/>
          <p:nvPr/>
        </p:nvSpPr>
        <p:spPr>
          <a:xfrm>
            <a:off x="6272784" y="4553712"/>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-0.6% vs H1 2025</a:t>
            </a:r>
            <a:endParaRPr lang="en-US" sz="1050"/>
          </a:p>
        </p:txBody>
      </p:sp>
      <p:sp>
        <p:nvSpPr>
          <p:cNvPr id="13" name="Shape 8"/>
          <p:cNvSpPr/>
          <p:nvPr/>
        </p:nvSpPr>
        <p:spPr>
          <a:xfrm>
            <a:off x="8988552" y="3785616"/>
            <a:ext cx="2651760" cy="1207008"/>
          </a:xfrm>
          <a:prstGeom prst="roundRect">
            <a:avLst>
              <a:gd name="adj" fmla="val 4545"/>
            </a:avLst>
          </a:prstGeom>
          <a:solidFill>
            <a:srgbClr val="F4F6FB"/>
          </a:solidFill>
          <a:ln w="9525">
            <a:solidFill>
              <a:srgbClr val="E2E7F2"/>
            </a:solidFill>
            <a:prstDash val="solid"/>
          </a:ln>
        </p:spPr>
        <p:txBody>
          <a:bodyPr/>
          <a:lstStyle/>
          <a:p>
            <a:endParaRPr lang="en-US"/>
          </a:p>
        </p:txBody>
      </p:sp>
      <p:sp>
        <p:nvSpPr>
          <p:cNvPr id="14" name="Text 9"/>
          <p:cNvSpPr/>
          <p:nvPr/>
        </p:nvSpPr>
        <p:spPr>
          <a:xfrm>
            <a:off x="9134856" y="3877056"/>
            <a:ext cx="2359152" cy="274320"/>
          </a:xfrm>
          <a:prstGeom prst="rect">
            <a:avLst/>
          </a:prstGeom>
          <a:noFill/>
          <a:ln/>
        </p:spPr>
        <p:txBody>
          <a:bodyPr wrap="square" lIns="0" tIns="0" rIns="0" bIns="0" rtlCol="0" anchor="ctr"/>
          <a:lstStyle/>
          <a:p>
            <a:pPr marL="0" indent="0">
              <a:buNone/>
            </a:pPr>
            <a:r>
              <a:rPr lang="en-US" sz="1050" b="1">
                <a:solidFill>
                  <a:srgbClr val="6B7280"/>
                </a:solidFill>
                <a:latin typeface="Calibri" pitchFamily="34" charset="0"/>
                <a:ea typeface="Calibri" pitchFamily="34" charset="-122"/>
                <a:cs typeface="Calibri" pitchFamily="34" charset="-120"/>
              </a:rPr>
              <a:t>EBIT H1 2026</a:t>
            </a:r>
            <a:endParaRPr lang="en-US" sz="1050"/>
          </a:p>
        </p:txBody>
      </p:sp>
      <p:sp>
        <p:nvSpPr>
          <p:cNvPr id="15" name="Text 10"/>
          <p:cNvSpPr/>
          <p:nvPr/>
        </p:nvSpPr>
        <p:spPr>
          <a:xfrm>
            <a:off x="9134856" y="4096512"/>
            <a:ext cx="2359152" cy="475488"/>
          </a:xfrm>
          <a:prstGeom prst="rect">
            <a:avLst/>
          </a:prstGeom>
          <a:noFill/>
          <a:ln/>
        </p:spPr>
        <p:txBody>
          <a:bodyPr wrap="square" lIns="0" tIns="0" rIns="0" bIns="0" rtlCol="0" anchor="ctr"/>
          <a:lstStyle/>
          <a:p>
            <a:pPr marL="0" indent="0">
              <a:buNone/>
            </a:pPr>
            <a:r>
              <a:rPr lang="en-US" sz="2400" b="1">
                <a:solidFill>
                  <a:srgbClr val="1E2761"/>
                </a:solidFill>
                <a:latin typeface="Calibri" pitchFamily="34" charset="0"/>
                <a:ea typeface="Calibri" pitchFamily="34" charset="-122"/>
                <a:cs typeface="Calibri" pitchFamily="34" charset="-120"/>
              </a:rPr>
              <a:t>฿52.2M</a:t>
            </a:r>
            <a:endParaRPr lang="en-US" sz="2400"/>
          </a:p>
        </p:txBody>
      </p:sp>
      <p:sp>
        <p:nvSpPr>
          <p:cNvPr id="16" name="Text 11"/>
          <p:cNvSpPr/>
          <p:nvPr/>
        </p:nvSpPr>
        <p:spPr>
          <a:xfrm>
            <a:off x="9134856" y="4553712"/>
            <a:ext cx="2359152" cy="384048"/>
          </a:xfrm>
          <a:prstGeom prst="rect">
            <a:avLst/>
          </a:prstGeom>
          <a:noFill/>
          <a:ln/>
        </p:spPr>
        <p:txBody>
          <a:bodyPr wrap="square" lIns="0" tIns="0" rIns="0" bIns="0" rtlCol="0" anchor="ctr"/>
          <a:lstStyle/>
          <a:p>
            <a:pPr marL="0" indent="0">
              <a:buNone/>
            </a:pPr>
            <a:r>
              <a:rPr lang="en-US" sz="1050">
                <a:solidFill>
                  <a:srgbClr val="C0392B"/>
                </a:solidFill>
                <a:latin typeface="Calibri" pitchFamily="34" charset="0"/>
                <a:ea typeface="Calibri" pitchFamily="34" charset="-122"/>
                <a:cs typeface="Calibri" pitchFamily="34" charset="-120"/>
              </a:rPr>
              <a:t>−฿0.9M vs H1 2025 (฿53.1M)</a:t>
            </a:r>
            <a:endParaRPr lang="en-US" sz="1050"/>
          </a:p>
        </p:txBody>
      </p:sp>
      <p:sp>
        <p:nvSpPr>
          <p:cNvPr id="8" name="Rectangle 7">
            <a:extLst>
              <a:ext uri="{FF2B5EF4-FFF2-40B4-BE49-F238E27FC236}">
                <a16:creationId xmlns:a16="http://schemas.microsoft.com/office/drawing/2014/main" id="{145CC5E7-EBE5-6B3E-61A8-7E1250831288}"/>
              </a:ext>
            </a:extLst>
          </p:cNvPr>
          <p:cNvSpPr/>
          <p:nvPr/>
        </p:nvSpPr>
        <p:spPr>
          <a:xfrm>
            <a:off x="6126479" y="5112038"/>
            <a:ext cx="5513833" cy="1243042"/>
          </a:xfrm>
          <a:prstGeom prst="rect">
            <a:avLst/>
          </a:prstGeom>
          <a:solidFill>
            <a:schemeClr val="accent1">
              <a:lumMod val="40000"/>
              <a:lumOff val="6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200" dirty="0">
                <a:solidFill>
                  <a:schemeClr val="tx1"/>
                </a:solidFill>
              </a:rPr>
              <a:t>Vs BG &gt;&gt;Shortfall in the revenue, </a:t>
            </a:r>
            <a:r>
              <a:rPr lang="en-US" sz="1200" dirty="0" err="1">
                <a:solidFill>
                  <a:schemeClr val="tx1"/>
                </a:solidFill>
              </a:rPr>
              <a:t>Opex</a:t>
            </a:r>
            <a:r>
              <a:rPr lang="en-US" sz="1200" dirty="0">
                <a:solidFill>
                  <a:schemeClr val="tx1"/>
                </a:solidFill>
              </a:rPr>
              <a:t> can manage better from </a:t>
            </a:r>
            <a:r>
              <a:rPr lang="en-US" sz="1200" dirty="0" err="1">
                <a:solidFill>
                  <a:schemeClr val="tx1"/>
                </a:solidFill>
              </a:rPr>
              <a:t>bg</a:t>
            </a:r>
            <a:r>
              <a:rPr lang="en-US" sz="1200" dirty="0">
                <a:solidFill>
                  <a:schemeClr val="tx1"/>
                </a:solidFill>
              </a:rPr>
              <a:t> -9.8%. But due to low rev make Gop still short from MF. JV expense also manage better than </a:t>
            </a:r>
            <a:r>
              <a:rPr lang="en-US" sz="1200" dirty="0" err="1">
                <a:solidFill>
                  <a:schemeClr val="tx1"/>
                </a:solidFill>
              </a:rPr>
              <a:t>bg</a:t>
            </a:r>
            <a:r>
              <a:rPr lang="en-US" sz="1200" dirty="0">
                <a:solidFill>
                  <a:schemeClr val="tx1"/>
                </a:solidFill>
              </a:rPr>
              <a:t> -4.0%. However due to the shortfall on rev make the EBIT and NPAT still short.</a:t>
            </a:r>
          </a:p>
          <a:p>
            <a:pPr marL="171450" indent="-171450">
              <a:buFont typeface="Arial" panose="020B0604020202020204" pitchFamily="34" charset="0"/>
              <a:buChar char="•"/>
            </a:pPr>
            <a:r>
              <a:rPr lang="en-US" sz="1200" dirty="0">
                <a:solidFill>
                  <a:schemeClr val="tx1"/>
                </a:solidFill>
              </a:rPr>
              <a:t>Vs LY Revenue is similar to last year and OPEX is managed slightly better, but JV expense is higher than last year, which makes EBIT lower. NPAT improves because of no more bank loan in H1 compare to LY H1</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a:extLst>
              <a:ext uri="{FF2B5EF4-FFF2-40B4-BE49-F238E27FC236}">
                <a16:creationId xmlns:a16="http://schemas.microsoft.com/office/drawing/2014/main" id="{6DD7B280-FDD1-D9D8-D92B-43DD8A8103BB}"/>
              </a:ext>
            </a:extLst>
          </p:cNvPr>
          <p:cNvSpPr/>
          <p:nvPr/>
        </p:nvSpPr>
        <p:spPr>
          <a:xfrm>
            <a:off x="548640" y="6172200"/>
            <a:ext cx="5486400" cy="274320"/>
          </a:xfrm>
          <a:prstGeom prst="rect">
            <a:avLst/>
          </a:prstGeom>
          <a:noFill/>
          <a:ln/>
        </p:spPr>
        <p:txBody>
          <a:bodyPr wrap="square" lIns="0" tIns="0" rIns="0" bIns="0" rtlCol="0" anchor="ctr"/>
          <a:lstStyle/>
          <a:p>
            <a:pPr marL="0" indent="0">
              <a:buNone/>
            </a:pPr>
            <a:r>
              <a:rPr lang="en-US" sz="1000">
                <a:solidFill>
                  <a:srgbClr val="7C8BC0"/>
                </a:solidFill>
                <a:latin typeface="Calibri" pitchFamily="34" charset="0"/>
                <a:ea typeface="Calibri" pitchFamily="34" charset="-122"/>
                <a:cs typeface="Calibri" pitchFamily="34" charset="-120"/>
              </a:rPr>
              <a:t>Mitsui Thailand Portfolio · H1 2026</a:t>
            </a:r>
            <a:endParaRPr lang="en-US" sz="1000"/>
          </a:p>
        </p:txBody>
      </p:sp>
      <p:sp>
        <p:nvSpPr>
          <p:cNvPr id="6" name="TextBox 5"/>
          <p:cNvSpPr txBox="1"/>
          <p:nvPr/>
        </p:nvSpPr>
        <p:spPr>
          <a:xfrm>
            <a:off x="548640" y="1353979"/>
            <a:ext cx="766364" cy="246221"/>
          </a:xfrm>
          <a:prstGeom prst="rect">
            <a:avLst/>
          </a:prstGeom>
          <a:noFill/>
        </p:spPr>
        <p:txBody>
          <a:bodyPr wrap="none" lIns="0" tIns="0">
            <a:spAutoFit/>
          </a:bodyPr>
          <a:lstStyle/>
          <a:p>
            <a:r>
              <a:rPr sz="1300" b="1">
                <a:solidFill>
                  <a:srgbClr val="1E2761"/>
                </a:solidFill>
                <a:latin typeface="Calibri"/>
              </a:rPr>
              <a:t>ARRIVALS</a:t>
            </a:r>
          </a:p>
        </p:txBody>
      </p:sp>
      <p:sp>
        <p:nvSpPr>
          <p:cNvPr id="7" name="TextBox 6"/>
          <p:cNvSpPr txBox="1"/>
          <p:nvPr/>
        </p:nvSpPr>
        <p:spPr>
          <a:xfrm>
            <a:off x="548640" y="1765459"/>
            <a:ext cx="5440680" cy="782265"/>
          </a:xfrm>
          <a:prstGeom prst="rect">
            <a:avLst/>
          </a:prstGeom>
          <a:noFill/>
        </p:spPr>
        <p:txBody>
          <a:bodyPr wrap="square" lIns="0" tIns="0">
            <a:spAutoFit/>
          </a:bodyPr>
          <a:lstStyle/>
          <a:p>
            <a:pPr>
              <a:spcAft>
                <a:spcPts val="700"/>
              </a:spcAft>
            </a:pPr>
            <a:r>
              <a:rPr sz="1050" dirty="0">
                <a:solidFill>
                  <a:srgbClr val="26292E"/>
                </a:solidFill>
                <a:latin typeface="Calibri"/>
              </a:rPr>
              <a:t>• Thailand H1 arrivals: 15.87M reported, −4.9% vs 2025 — adding back the MOTS 4-day June data loss, the estimate is 16.16M = −3.2%: soft, but not a collapse.</a:t>
            </a:r>
          </a:p>
          <a:p>
            <a:pPr>
              <a:spcAft>
                <a:spcPts val="700"/>
              </a:spcAft>
            </a:pPr>
            <a:r>
              <a:rPr sz="1050" dirty="0">
                <a:solidFill>
                  <a:srgbClr val="26292E"/>
                </a:solidFill>
                <a:latin typeface="Calibri"/>
              </a:rPr>
              <a:t>• Middle East fell hardest in %: −28.5% vs LY, collapsing from February onward (the war broke out at the end of January) — Feb −52%, Apr −57%.</a:t>
            </a:r>
          </a:p>
        </p:txBody>
      </p:sp>
      <p:sp>
        <p:nvSpPr>
          <p:cNvPr id="8" name="TextBox 7"/>
          <p:cNvSpPr txBox="1"/>
          <p:nvPr/>
        </p:nvSpPr>
        <p:spPr>
          <a:xfrm>
            <a:off x="548640" y="2705291"/>
            <a:ext cx="2664319" cy="246221"/>
          </a:xfrm>
          <a:prstGeom prst="rect">
            <a:avLst/>
          </a:prstGeom>
          <a:noFill/>
        </p:spPr>
        <p:txBody>
          <a:bodyPr wrap="none" lIns="0" tIns="0">
            <a:spAutoFit/>
          </a:bodyPr>
          <a:lstStyle/>
          <a:p>
            <a:r>
              <a:rPr lang="en-US" sz="1300" b="1">
                <a:solidFill>
                  <a:srgbClr val="1E2761"/>
                </a:solidFill>
                <a:latin typeface="Calibri"/>
              </a:rPr>
              <a:t>THE </a:t>
            </a:r>
            <a:r>
              <a:rPr sz="1300" b="1">
                <a:solidFill>
                  <a:srgbClr val="1E2761"/>
                </a:solidFill>
                <a:latin typeface="Calibri"/>
              </a:rPr>
              <a:t>MARKETS</a:t>
            </a:r>
            <a:r>
              <a:rPr lang="en-US" sz="1300" b="1">
                <a:solidFill>
                  <a:srgbClr val="1E2761"/>
                </a:solidFill>
                <a:latin typeface="Calibri"/>
              </a:rPr>
              <a:t> AND OUR PROPERTIES</a:t>
            </a:r>
            <a:endParaRPr sz="1300" b="1">
              <a:solidFill>
                <a:srgbClr val="1E2761"/>
              </a:solidFill>
              <a:latin typeface="Calibri"/>
            </a:endParaRPr>
          </a:p>
        </p:txBody>
      </p:sp>
      <p:sp>
        <p:nvSpPr>
          <p:cNvPr id="9" name="TextBox 8"/>
          <p:cNvSpPr txBox="1"/>
          <p:nvPr/>
        </p:nvSpPr>
        <p:spPr>
          <a:xfrm>
            <a:off x="548640" y="3116771"/>
            <a:ext cx="5440680" cy="1033616"/>
          </a:xfrm>
          <a:prstGeom prst="rect">
            <a:avLst/>
          </a:prstGeom>
          <a:noFill/>
        </p:spPr>
        <p:txBody>
          <a:bodyPr wrap="square" lIns="0" tIns="0">
            <a:spAutoFit/>
          </a:bodyPr>
          <a:lstStyle/>
          <a:p>
            <a:pPr>
              <a:spcAft>
                <a:spcPts val="700"/>
              </a:spcAft>
            </a:pPr>
            <a:r>
              <a:rPr sz="1050" dirty="0">
                <a:solidFill>
                  <a:srgbClr val="26292E"/>
                </a:solidFill>
                <a:latin typeface="Calibri"/>
              </a:rPr>
              <a:t>• That is exactly what STR shows for Bangkok: occupancy UP (+2.3%) but ADR DOWN (−1.4%).</a:t>
            </a:r>
          </a:p>
          <a:p>
            <a:pPr>
              <a:spcAft>
                <a:spcPts val="700"/>
              </a:spcAft>
            </a:pPr>
            <a:r>
              <a:rPr sz="1050" dirty="0">
                <a:solidFill>
                  <a:srgbClr val="26292E"/>
                </a:solidFill>
                <a:latin typeface="Calibri"/>
              </a:rPr>
              <a:t>• By class, only Luxury held rate (+1.1% ADR); every other class traded rate for occupancy — and our portfolio competes in those classes. That is why yielding ADR is this year’s challenge.</a:t>
            </a:r>
          </a:p>
          <a:p>
            <a:pPr>
              <a:spcAft>
                <a:spcPts val="700"/>
              </a:spcAft>
            </a:pPr>
            <a:r>
              <a:rPr sz="1050" dirty="0">
                <a:solidFill>
                  <a:srgbClr val="26292E"/>
                </a:solidFill>
                <a:latin typeface="Calibri"/>
              </a:rPr>
              <a:t>• Pattaya: arrivals below LY (−2.7%) and market RevPAR −2.3% — yet SP outperformed its market (Occ +5.3%, RevPAR +0.2% vs LY).</a:t>
            </a:r>
          </a:p>
        </p:txBody>
      </p:sp>
      <p:sp>
        <p:nvSpPr>
          <p:cNvPr id="3" name="TextBox 2">
            <a:extLst>
              <a:ext uri="{FF2B5EF4-FFF2-40B4-BE49-F238E27FC236}">
                <a16:creationId xmlns:a16="http://schemas.microsoft.com/office/drawing/2014/main" id="{BB89A2F7-AAFF-4D60-CE37-A169F9AF336E}"/>
              </a:ext>
            </a:extLst>
          </p:cNvPr>
          <p:cNvSpPr txBox="1"/>
          <p:nvPr/>
        </p:nvSpPr>
        <p:spPr>
          <a:xfrm>
            <a:off x="548640" y="746198"/>
            <a:ext cx="6097554" cy="523220"/>
          </a:xfrm>
          <a:prstGeom prst="rect">
            <a:avLst/>
          </a:prstGeom>
          <a:noFill/>
        </p:spPr>
        <p:txBody>
          <a:bodyPr wrap="square">
            <a:spAutoFit/>
          </a:bodyPr>
          <a:lstStyle/>
          <a:p>
            <a:pPr marL="0" indent="0">
              <a:buNone/>
            </a:pPr>
            <a:r>
              <a:rPr lang="en-US" sz="2800" b="1">
                <a:solidFill>
                  <a:srgbClr val="1E2761"/>
                </a:solidFill>
                <a:latin typeface="Calibri" pitchFamily="34" charset="0"/>
                <a:ea typeface="Calibri" pitchFamily="34" charset="-122"/>
                <a:cs typeface="Calibri" pitchFamily="34" charset="-120"/>
              </a:rPr>
              <a:t>Key takeaway</a:t>
            </a:r>
            <a:endParaRPr lang="en-US" sz="2800"/>
          </a:p>
        </p:txBody>
      </p:sp>
      <p:sp>
        <p:nvSpPr>
          <p:cNvPr id="2" name="TextBox 1">
            <a:extLst>
              <a:ext uri="{FF2B5EF4-FFF2-40B4-BE49-F238E27FC236}">
                <a16:creationId xmlns:a16="http://schemas.microsoft.com/office/drawing/2014/main" id="{59E0171A-59D5-0060-907E-965A38D946E2}"/>
              </a:ext>
            </a:extLst>
          </p:cNvPr>
          <p:cNvSpPr txBox="1"/>
          <p:nvPr/>
        </p:nvSpPr>
        <p:spPr>
          <a:xfrm>
            <a:off x="6537483" y="746198"/>
            <a:ext cx="5204586" cy="523220"/>
          </a:xfrm>
          <a:prstGeom prst="rect">
            <a:avLst/>
          </a:prstGeom>
          <a:noFill/>
        </p:spPr>
        <p:txBody>
          <a:bodyPr wrap="square" lIns="91440" tIns="45720" rIns="91440" bIns="45720" anchor="t">
            <a:spAutoFit/>
          </a:bodyPr>
          <a:lstStyle/>
          <a:p>
            <a:pPr marL="0" indent="0">
              <a:buNone/>
            </a:pPr>
            <a:r>
              <a:rPr lang="en-US" sz="2800" b="1">
                <a:solidFill>
                  <a:srgbClr val="1E2761"/>
                </a:solidFill>
                <a:latin typeface="Calibri"/>
                <a:ea typeface="Calibri"/>
                <a:cs typeface="Calibri"/>
              </a:rPr>
              <a:t>Recommendation</a:t>
            </a:r>
            <a:endParaRPr lang="en-US" err="1"/>
          </a:p>
        </p:txBody>
      </p:sp>
      <p:sp>
        <p:nvSpPr>
          <p:cNvPr id="12" name="TextBox 11">
            <a:extLst>
              <a:ext uri="{FF2B5EF4-FFF2-40B4-BE49-F238E27FC236}">
                <a16:creationId xmlns:a16="http://schemas.microsoft.com/office/drawing/2014/main" id="{006F37F4-0918-5BE3-7988-46313A3A22FF}"/>
              </a:ext>
            </a:extLst>
          </p:cNvPr>
          <p:cNvSpPr txBox="1"/>
          <p:nvPr/>
        </p:nvSpPr>
        <p:spPr>
          <a:xfrm>
            <a:off x="6422571" y="1600200"/>
            <a:ext cx="5127172" cy="3062377"/>
          </a:xfrm>
          <a:prstGeom prst="rect">
            <a:avLst/>
          </a:prstGeom>
          <a:noFill/>
        </p:spPr>
        <p:txBody>
          <a:bodyPr wrap="square" lIns="0" tIns="0">
            <a:spAutoFit/>
          </a:bodyPr>
          <a:lstStyle/>
          <a:p>
            <a:r>
              <a:rPr lang="en-US" sz="1400" dirty="0"/>
              <a:t>• </a:t>
            </a:r>
            <a:r>
              <a:rPr lang="en-US" sz="1400" b="1" dirty="0"/>
              <a:t>Push rate only in high season (Q4–Q1)</a:t>
            </a:r>
            <a:r>
              <a:rPr lang="en-US" sz="1400" dirty="0"/>
              <a:t> — Q2–Q3 demand shifts </a:t>
            </a:r>
            <a:r>
              <a:rPr lang="en-US" sz="1400" dirty="0" err="1"/>
              <a:t>leisure→corporate</a:t>
            </a:r>
            <a:r>
              <a:rPr lang="en-US" sz="1400" dirty="0"/>
              <a:t>; raising ADR there just loses traffic.</a:t>
            </a:r>
          </a:p>
          <a:p>
            <a:r>
              <a:rPr lang="en-US" sz="1400" dirty="0"/>
              <a:t>• </a:t>
            </a:r>
            <a:r>
              <a:rPr lang="en-US" sz="1400" b="1" dirty="0"/>
              <a:t>Reduce the China reliance</a:t>
            </a:r>
            <a:r>
              <a:rPr lang="en-US" sz="1400" dirty="0"/>
              <a:t> — it now dominates our mix but books below-average rates, capping ADR.</a:t>
            </a:r>
          </a:p>
          <a:p>
            <a:r>
              <a:rPr lang="en-US" sz="1400" dirty="0"/>
              <a:t>• </a:t>
            </a:r>
            <a:r>
              <a:rPr lang="en-US" sz="1400" b="1" dirty="0"/>
              <a:t>Rebalance toward higher-ADR guests</a:t>
            </a:r>
            <a:r>
              <a:rPr lang="en-US" sz="1400" dirty="0"/>
              <a:t> — long-haul (EU/USA) is at record levels; set a nationality-mix target with Ascott, not just a rate target.</a:t>
            </a:r>
          </a:p>
          <a:p>
            <a:r>
              <a:rPr lang="en-US" sz="1400" dirty="0"/>
              <a:t>• </a:t>
            </a:r>
            <a:r>
              <a:rPr lang="en-US" sz="1400" b="1" dirty="0"/>
              <a:t>Keep the cost discipline</a:t>
            </a:r>
            <a:r>
              <a:rPr lang="en-US" sz="1400" dirty="0"/>
              <a:t> — revenue missed budget by −9.7%, yet portfolio NPAT is still on plan thanks to OPEX control; make protecting this a standing order for H2.</a:t>
            </a:r>
          </a:p>
          <a:p>
            <a:r>
              <a:rPr lang="en-US" sz="1400" dirty="0"/>
              <a:t>• </a:t>
            </a:r>
            <a:r>
              <a:rPr lang="en-US" sz="1400" b="1" dirty="0"/>
              <a:t>Review low-rate wholesale deals</a:t>
            </a:r>
            <a:r>
              <a:rPr lang="en-US" sz="1400" dirty="0"/>
              <a:t> — AES's Finland case (55 → 2,922 room nights at half the rate) shows how these deals buy occupancy at the cost of ADR; every property should review such contracts before renewal.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570ce379-ef9e-488e-8e74-44d887057c0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B95B0B08412A849A5A64508D0AA5F92" ma:contentTypeVersion="9" ma:contentTypeDescription="Create a new document." ma:contentTypeScope="" ma:versionID="4787747963eddd222ebc2112c47bd42e">
  <xsd:schema xmlns:xsd="http://www.w3.org/2001/XMLSchema" xmlns:xs="http://www.w3.org/2001/XMLSchema" xmlns:p="http://schemas.microsoft.com/office/2006/metadata/properties" xmlns:ns3="570ce379-ef9e-488e-8e74-44d887057c06" targetNamespace="http://schemas.microsoft.com/office/2006/metadata/properties" ma:root="true" ma:fieldsID="6f05b7aeef960c0d17e92540f6e08c72" ns3:_="">
    <xsd:import namespace="570ce379-ef9e-488e-8e74-44d887057c06"/>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0ce379-ef9e-488e-8e74-44d887057c06"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B789EF4-9820-4A59-9D05-AF608D83E433}">
  <ds:schemaRefs>
    <ds:schemaRef ds:uri="http://schemas.microsoft.com/office/2006/documentManagement/types"/>
    <ds:schemaRef ds:uri="http://schemas.microsoft.com/office/infopath/2007/PartnerControls"/>
    <ds:schemaRef ds:uri="http://purl.org/dc/terms/"/>
    <ds:schemaRef ds:uri="http://purl.org/dc/elements/1.1/"/>
    <ds:schemaRef ds:uri="http://schemas.openxmlformats.org/package/2006/metadata/core-properties"/>
    <ds:schemaRef ds:uri="http://purl.org/dc/dcmitype/"/>
    <ds:schemaRef ds:uri="570ce379-ef9e-488e-8e74-44d887057c06"/>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BF51FCA5-1E74-4B12-B3EA-47FCB2B44557}">
  <ds:schemaRefs>
    <ds:schemaRef ds:uri="http://schemas.microsoft.com/sharepoint/v3/contenttype/forms"/>
  </ds:schemaRefs>
</ds:datastoreItem>
</file>

<file path=customXml/itemProps3.xml><?xml version="1.0" encoding="utf-8"?>
<ds:datastoreItem xmlns:ds="http://schemas.openxmlformats.org/officeDocument/2006/customXml" ds:itemID="{EDB74C21-A0DA-4EDB-999A-8BD9B5CF7863}">
  <ds:schemaRefs>
    <ds:schemaRef ds:uri="570ce379-ef9e-488e-8e74-44d887057c0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8694</Words>
  <Application>Microsoft Office PowerPoint</Application>
  <PresentationFormat>Widescreen</PresentationFormat>
  <Paragraphs>2890</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 Narrow</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Ariya Ariyachotima</cp:lastModifiedBy>
  <cp:revision>2</cp:revision>
  <dcterms:created xsi:type="dcterms:W3CDTF">2026-07-24T09:01:49Z</dcterms:created>
  <dcterms:modified xsi:type="dcterms:W3CDTF">2026-08-19T01:55:50Z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0x010100BB95B0B08412A849A5A64508D0AA5F92</vt:lpwstr>
  </property>
</Properties>
</file>