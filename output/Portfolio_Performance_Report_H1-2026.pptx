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6.xml" ContentType="application/vnd.openxmlformats-officedocument.drawingml.chart+xml"/>
  <Override PartName="/ppt/notesSlides/notesSlide8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0.xml" ContentType="application/vnd.openxmlformats-officedocument.drawingml.chart+xml"/>
  <Override PartName="/ppt/notesSlides/notesSlide11.xml" ContentType="application/vnd.openxmlformats-officedocument.presentationml.notes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4.xml" ContentType="application/vnd.openxmlformats-officedocument.drawingml.chart+xml"/>
  <Override PartName="/ppt/notesSlides/notesSlide14.xml" ContentType="application/vnd.openxmlformats-officedocument.presentationml.notesSlide+xml"/>
  <Override PartName="/ppt/charts/chart15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6.xml" ContentType="application/vnd.openxmlformats-officedocument.drawingml.chart+xml"/>
  <Override PartName="/ppt/notesSlides/notesSlide17.xml" ContentType="application/vnd.openxmlformats-officedocument.presentationml.notesSlide+xml"/>
  <Override PartName="/ppt/charts/chart17.xml" ContentType="application/vnd.openxmlformats-officedocument.drawingml.chart+xml"/>
  <Override PartName="/ppt/notesSlides/notesSlide18.xml" ContentType="application/vnd.openxmlformats-officedocument.presentationml.notes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notesSlides/notesSlide19.xml" ContentType="application/vnd.openxmlformats-officedocument.presentationml.notesSlide+xml"/>
  <Override PartName="/ppt/charts/chart20.xml" ContentType="application/vnd.openxmlformats-officedocument.drawingml.chart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rts/chart21.xml" ContentType="application/vnd.openxmlformats-officedocument.drawingml.chart+xml"/>
  <Override PartName="/ppt/notesSlides/notesSlide22.xml" ContentType="application/vnd.openxmlformats-officedocument.presentationml.notesSlide+xml"/>
  <Override PartName="/ppt/charts/chart22.xml" ContentType="application/vnd.openxmlformats-officedocument.drawingml.chart+xml"/>
  <Override PartName="/ppt/notesSlides/notesSlide23.xml" ContentType="application/vnd.openxmlformats-officedocument.presentationml.notesSlide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notesSlides/notesSlide24.xml" ContentType="application/vnd.openxmlformats-officedocument.presentationml.notesSlide+xml"/>
  <Override PartName="/ppt/charts/chart25.xml" ContentType="application/vnd.openxmlformats-officedocument.drawingml.chart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rts/chart26.xml" ContentType="application/vnd.openxmlformats-officedocument.drawingml.chart+xml"/>
  <Override PartName="/ppt/notesSlides/notesSlide27.xml" ContentType="application/vnd.openxmlformats-officedocument.presentationml.notesSlide+xml"/>
  <Override PartName="/ppt/charts/chart27.xml" ContentType="application/vnd.openxmlformats-officedocument.drawingml.chart+xml"/>
  <Override PartName="/ppt/notesSlides/notesSlide28.xml" ContentType="application/vnd.openxmlformats-officedocument.presentationml.notesSlide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notesSlides/notesSlide29.xml" ContentType="application/vnd.openxmlformats-officedocument.presentationml.notesSlide+xml"/>
  <Override PartName="/ppt/charts/chart30.xml" ContentType="application/vnd.openxmlformats-officedocument.drawingml.chart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rts/chart31.xml" ContentType="application/vnd.openxmlformats-officedocument.drawingml.chart+xml"/>
  <Override PartName="/ppt/notesSlides/notesSlide32.xml" ContentType="application/vnd.openxmlformats-officedocument.presentationml.notesSlide+xml"/>
  <Override PartName="/ppt/charts/chart32.xml" ContentType="application/vnd.openxmlformats-officedocument.drawingml.chart+xml"/>
  <Override PartName="/ppt/notesSlides/notesSlide33.xml" ContentType="application/vnd.openxmlformats-officedocument.presentationml.notesSlide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notesSlides/notesSlide34.xml" ContentType="application/vnd.openxmlformats-officedocument.presentationml.notesSlide+xml"/>
  <Override PartName="/ppt/charts/chart35.xml" ContentType="application/vnd.openxmlformats-officedocument.drawingml.chart+xml"/>
  <Override PartName="/ppt/notesSlides/notesSlide3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0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308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7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409C20-A998-4A5C-B625-CA10EEA2B52C}" v="50" dt="2026-08-19T01:55:04.009"/>
  </p1510:revLst>
</p1510:revInfo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6247" autoAdjust="0"/>
  </p:normalViewPr>
  <p:slideViewPr>
    <p:cSldViewPr snapToGrid="0">
      <p:cViewPr varScale="1">
        <p:scale>
          <a:sx n="64" d="100"/>
          <a:sy n="64" d="100"/>
        </p:scale>
        <p:origin x="96" y="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notesMaster" Target="notesMasters/notesMaster1.xml"/><Relationship Id="rId45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20" Type="http://schemas.openxmlformats.org/officeDocument/2006/relationships/slide" Target="slides/slide16.xml"/><Relationship Id="rId41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79.13</c:v>
                </c:pt>
                <c:pt idx="1">
                  <c:v>73.86</c:v>
                </c:pt>
                <c:pt idx="2">
                  <c:v>68.069999999999993</c:v>
                </c:pt>
                <c:pt idx="3">
                  <c:v>63.24</c:v>
                </c:pt>
                <c:pt idx="4">
                  <c:v>58.23</c:v>
                </c:pt>
                <c:pt idx="5">
                  <c:v>53.87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74.349999999999994</c:v>
                </c:pt>
                <c:pt idx="1">
                  <c:v>74.62</c:v>
                </c:pt>
                <c:pt idx="2">
                  <c:v>69.349999999999994</c:v>
                </c:pt>
                <c:pt idx="3">
                  <c:v>63.76</c:v>
                </c:pt>
                <c:pt idx="4">
                  <c:v>53.65</c:v>
                </c:pt>
                <c:pt idx="5">
                  <c:v>51.55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3952.41</c:v>
                </c:pt>
                <c:pt idx="1">
                  <c:v>3536.96</c:v>
                </c:pt>
                <c:pt idx="2">
                  <c:v>3302.88</c:v>
                </c:pt>
                <c:pt idx="3">
                  <c:v>3505.45</c:v>
                </c:pt>
                <c:pt idx="4">
                  <c:v>3251.06</c:v>
                </c:pt>
                <c:pt idx="5">
                  <c:v>3010.59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3734.91</c:v>
                </c:pt>
                <c:pt idx="1">
                  <c:v>3933.56</c:v>
                </c:pt>
                <c:pt idx="2">
                  <c:v>3342.78</c:v>
                </c:pt>
                <c:pt idx="3">
                  <c:v>3511.78</c:v>
                </c:pt>
                <c:pt idx="4">
                  <c:v>3116.64</c:v>
                </c:pt>
                <c:pt idx="5">
                  <c:v>2908.52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3127.51</c:v>
                </c:pt>
                <c:pt idx="1">
                  <c:v>2612.2600000000002</c:v>
                </c:pt>
                <c:pt idx="2">
                  <c:v>2248.3200000000002</c:v>
                </c:pt>
                <c:pt idx="3">
                  <c:v>2217</c:v>
                </c:pt>
                <c:pt idx="4">
                  <c:v>1893.05</c:v>
                </c:pt>
                <c:pt idx="5">
                  <c:v>1621.68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2776.79</c:v>
                </c:pt>
                <c:pt idx="1">
                  <c:v>2935.37</c:v>
                </c:pt>
                <c:pt idx="2">
                  <c:v>2318.34</c:v>
                </c:pt>
                <c:pt idx="3">
                  <c:v>2239.14</c:v>
                </c:pt>
                <c:pt idx="4">
                  <c:v>1671.95</c:v>
                </c:pt>
                <c:pt idx="5">
                  <c:v>1499.42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55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1153</c:v>
                </c:pt>
                <c:pt idx="8">
                  <c:v>2214</c:v>
                </c:pt>
                <c:pt idx="9">
                  <c:v>1426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740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403-4B99-ABE6-54DA220BB5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403-4B99-ABE6-54DA220BB51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In this year, Number of arrival drop around -3.2% with the estimation data or around -500k ppl in first h1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down in the </a:t>
            </a:r>
            <a:r>
              <a:rPr lang="en-US" dirty="0" err="1"/>
              <a:t>nationaliy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We can see the recover from </a:t>
            </a:r>
            <a:r>
              <a:rPr lang="en-US" dirty="0" err="1"/>
              <a:t>china</a:t>
            </a:r>
            <a:r>
              <a:rPr lang="en-US" dirty="0"/>
              <a:t> around +14.8% compare to last year.</a:t>
            </a:r>
          </a:p>
          <a:p>
            <a:pPr marL="171450" indent="-171450">
              <a:buFontTx/>
              <a:buChar char="-"/>
            </a:pPr>
            <a:r>
              <a:rPr lang="en-US" dirty="0"/>
              <a:t>For </a:t>
            </a:r>
            <a:r>
              <a:rPr lang="en-US" dirty="0" err="1"/>
              <a:t>india</a:t>
            </a:r>
            <a:r>
              <a:rPr lang="en-US" dirty="0"/>
              <a:t>, which may not a really our major group of guest but it is quite interesting growth. We can see the continue growth in India</a:t>
            </a:r>
            <a:r>
              <a:rPr lang="th-TH" dirty="0"/>
              <a:t> </a:t>
            </a:r>
            <a:r>
              <a:rPr lang="en-US" dirty="0"/>
              <a:t>in past 3 years.</a:t>
            </a:r>
          </a:p>
          <a:p>
            <a:pPr marL="171450" indent="-171450">
              <a:buFontTx/>
              <a:buChar char="-"/>
            </a:pPr>
            <a:endParaRPr lang="th-T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Middle east may not the major top nationality in </a:t>
            </a:r>
            <a:r>
              <a:rPr lang="en-US" dirty="0" err="1"/>
              <a:t>arraivel</a:t>
            </a:r>
            <a:r>
              <a:rPr lang="en-US" dirty="0"/>
              <a:t> of Thailand but this arrival can effected our ADR spending power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After middle east religion war, the number of middle east got lower </a:t>
            </a:r>
            <a:r>
              <a:rPr lang="en-US" dirty="0" err="1"/>
              <a:t>accumtilate</a:t>
            </a:r>
            <a:r>
              <a:rPr lang="en-US" dirty="0"/>
              <a:t> -30% from Feb. Even in June that we may can see the coming back of ME, but it cannot reach the same as </a:t>
            </a:r>
            <a:r>
              <a:rPr lang="en-US" dirty="0" err="1"/>
              <a:t>ly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For the long </a:t>
            </a:r>
            <a:r>
              <a:rPr lang="en-US" dirty="0" err="1"/>
              <a:t>hual</a:t>
            </a:r>
            <a:r>
              <a:rPr lang="en-US" dirty="0"/>
              <a:t> and EU that tensing to have more </a:t>
            </a:r>
            <a:r>
              <a:rPr lang="en-US" dirty="0" err="1"/>
              <a:t>spendn</a:t>
            </a:r>
            <a:r>
              <a:rPr lang="en-US" dirty="0"/>
              <a:t> </a:t>
            </a:r>
            <a:r>
              <a:rPr lang="en-US" dirty="0" err="1"/>
              <a:t>pwer</a:t>
            </a:r>
            <a:r>
              <a:rPr lang="en-US" dirty="0"/>
              <a:t>, also arrival decrease -1.2%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Moving to Bangkok area.</a:t>
            </a:r>
          </a:p>
          <a:p>
            <a:r>
              <a:rPr lang="en-US" dirty="0"/>
              <a:t>Even the number Thailand arrival is decrease but in term of Bangkok tourist arrival. The number of total arrival is increase by 3.3% which domestic +6.2% but foreigner quite similar to last year.</a:t>
            </a:r>
          </a:p>
          <a:p>
            <a:r>
              <a:rPr lang="en-US" dirty="0"/>
              <a:t>The number of </a:t>
            </a:r>
            <a:r>
              <a:rPr lang="en-US" dirty="0" err="1"/>
              <a:t>thai</a:t>
            </a:r>
            <a:r>
              <a:rPr lang="en-US" dirty="0"/>
              <a:t> ppl visitor is more than foreigner can be another factor that the price on hotel could be sensitive to our domestic </a:t>
            </a:r>
            <a:r>
              <a:rPr lang="en-US" dirty="0" err="1"/>
              <a:t>travaler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Moving to Bangkok hotel STR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 to last year due to growth on the arrival, so we can see the Occ that got higher this H1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 to Class segment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Due to we may rely on the Domestic demand as priority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Moving to Pattaya area.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- The arrival is lower</a:t>
            </a:r>
            <a:r>
              <a:rPr lang="th-TH" dirty="0"/>
              <a:t> </a:t>
            </a:r>
            <a:r>
              <a:rPr lang="en-US" dirty="0"/>
              <a:t>-2.7% mostly come from international arrival -5.4%</a:t>
            </a:r>
          </a:p>
        </p:txBody>
      </p:sp>
    </p:spTree>
    <p:extLst>
      <p:ext uri="{BB962C8B-B14F-4D97-AF65-F5344CB8AC3E}">
        <p14:creationId xmlns:p14="http://schemas.microsoft.com/office/powerpoint/2010/main" val="6973069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the demand 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(arrivals −2.7%) → market gave up occupancy (−2.6%) but held rate</a:t>
            </a:r>
          </a:p>
          <a:p>
            <a:r>
              <a:rPr lang="en-US" dirty="0"/>
              <a:t>Look at the segment 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Upscale &amp; Upper Midscale which is very near to SP</a:t>
            </a:r>
            <a:endParaRPr lang="en-US" dirty="0"/>
          </a:p>
          <a:p>
            <a:r>
              <a:rPr lang="en-US" dirty="0"/>
              <a:t>We can see that the ADR drop -2% in first half year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Portfolio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i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MOTS Korea H12026−22.7%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dirty="0"/>
              <a:t>DTA write off will reflect Q2 and Q4</a:t>
            </a:r>
          </a:p>
          <a:p>
            <a:pPr marL="171450" indent="-171450">
              <a:buFont typeface="Arial"/>
              <a:buChar char="•"/>
            </a:pPr>
            <a:r>
              <a:rPr lang="en-US" dirty="0" err="1"/>
              <a:t>Npat</a:t>
            </a:r>
            <a:r>
              <a:rPr lang="en-US" dirty="0"/>
              <a:t> will effect next 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29252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9.xml"/><Relationship Id="rId4" Type="http://schemas.openxmlformats.org/officeDocument/2006/relationships/chart" Target="../charts/char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3.xml"/><Relationship Id="rId4" Type="http://schemas.openxmlformats.org/officeDocument/2006/relationships/chart" Target="../charts/char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2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3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6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7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1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2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5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MOTS. June 2026 lost 4 days to a system error; "+Jun est." adds the pro-rated estimate (June ≈ 2.12M, H1 ≈ 16.16M = −3.2% vs 2025) from the workbook audit sheet.</a:t>
            </a:r>
            <a:endParaRPr lang="en-US" sz="10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26505" y="2601108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>
                <a:solidFill>
                  <a:srgbClr val="26292E"/>
                </a:solidFill>
                <a:latin typeface="Calibri"/>
              </a:rPr>
              <a:t>(Estimate + actual)</a:t>
            </a:r>
            <a:endParaRPr lang="en-US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572000"/>
          <a:ext cx="7406640" cy="15233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26 +Jun est.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2,124,867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16,157,516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26 (Est.) vs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673683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673683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6949774"/>
              </p:ext>
            </p:extLst>
          </p:nvPr>
        </p:nvGraphicFramePr>
        <p:xfrm>
          <a:off x="548640" y="4466798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1051871"/>
              </p:ext>
            </p:extLst>
          </p:nvPr>
        </p:nvGraphicFramePr>
        <p:xfrm>
          <a:off x="6291072" y="4466798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/>
              <a:t>60 days free</a:t>
            </a:r>
          </a:p>
          <a:p>
            <a:pPr algn="ctr"/>
            <a:r>
              <a:rPr lang="en-US" sz="110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065445-756C-C8A8-A2BF-4AEA75A407AB}"/>
              </a:ext>
            </a:extLst>
          </p:cNvPr>
          <p:cNvSpPr/>
          <p:nvPr/>
        </p:nvSpPr>
        <p:spPr>
          <a:xfrm>
            <a:off x="548640" y="5948003"/>
            <a:ext cx="11198601" cy="7334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is recovering vs 2025 (+14.8%), but is still only ~46% of pre-COVID.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India is the strongest growth market — +24% in January and a record H1.</a:t>
            </a:r>
          </a:p>
          <a:p>
            <a:r>
              <a:rPr sz="1100" dirty="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39" name="TextBox 938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2744270" y="3223812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58251" y="582832"/>
            <a:ext cx="233078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7237A0-6123-FB7D-6AC5-4DB03ACBE352}"/>
              </a:ext>
            </a:extLst>
          </p:cNvPr>
          <p:cNvSpPr/>
          <p:nvPr/>
        </p:nvSpPr>
        <p:spPr>
          <a:xfrm>
            <a:off x="548639" y="5907461"/>
            <a:ext cx="11198601" cy="77399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the regional war effect.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Long-haul held up but showed no growth vs 2025: a strong Jan–Feb offset a softer April (higher airfares from rerouting).</a:t>
            </a:r>
          </a:p>
          <a:p>
            <a:r>
              <a:rPr sz="1200" dirty="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84018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44607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B4C631-256A-E482-091B-E208689D6F7D}"/>
              </a:ext>
            </a:extLst>
          </p:cNvPr>
          <p:cNvSpPr/>
          <p:nvPr/>
        </p:nvSpPr>
        <p:spPr>
          <a:xfrm>
            <a:off x="563880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though total arrivals are −3%, international arrivals in Bangkok are similar to LY (−0.1%) — the overall drop came from Phuket and Pattaya, not Bangkok.</a:t>
            </a:r>
          </a:p>
          <a:p>
            <a:r>
              <a:rPr lang="en-US" sz="1200" dirty="0"/>
              <a:t>***June carries the MOTS 4-day data-loss gap.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31584"/>
            <a:ext cx="1122627" cy="2308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815B0B-BC00-C025-DD96-B1438FFEF390}"/>
              </a:ext>
            </a:extLst>
          </p:cNvPr>
          <p:cNvSpPr/>
          <p:nvPr/>
        </p:nvSpPr>
        <p:spPr>
          <a:xfrm>
            <a:off x="548639" y="5699282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Bangkok hotel market runs Occ +2.3%, ADR −1.3% → RevPAR +0.9%; the rise in visitors explains the higher occupancy.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By class, Luxury is the only one holding rate (+1.1%)</a:t>
            </a:r>
            <a:endParaRPr lang="en-US" sz="1200" dirty="0">
              <a:solidFill>
                <a:schemeClr val="tx1"/>
              </a:solidFill>
              <a:latin typeface="Calibri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Every class below it cut price — and the lower the tier, the deeper the ADR cut.</a:t>
            </a:r>
            <a:endParaRPr lang="en-US" sz="1200" dirty="0">
              <a:solidFill>
                <a:schemeClr val="tx1"/>
              </a:solidFill>
              <a:latin typeface="Calibri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07F377-B864-8A75-9010-6B3D75EB0330}"/>
              </a:ext>
            </a:extLst>
          </p:cNvPr>
          <p:cNvCxnSpPr/>
          <p:nvPr/>
        </p:nvCxnSpPr>
        <p:spPr>
          <a:xfrm>
            <a:off x="441789" y="4849402"/>
            <a:ext cx="0" cy="682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50CA16F-327B-15B2-0F7D-EDD0D9EF3335}"/>
              </a:ext>
            </a:extLst>
          </p:cNvPr>
          <p:cNvSpPr txBox="1"/>
          <p:nvPr/>
        </p:nvSpPr>
        <p:spPr>
          <a:xfrm rot="16200000">
            <a:off x="-234940" y="5075345"/>
            <a:ext cx="1122627" cy="2308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Our portfolio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/>
          </a:p>
          <a:p>
            <a:pPr marL="0" indent="0">
              <a:buNone/>
            </a:pPr>
            <a:endParaRPr lang="en-US" sz="4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364258"/>
              </p:ext>
            </p:extLst>
          </p:nvPr>
        </p:nvGraphicFramePr>
        <p:xfrm>
          <a:off x="548640" y="1600200"/>
          <a:ext cx="11064240" cy="22253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459513"/>
              </p:ext>
            </p:extLst>
          </p:nvPr>
        </p:nvGraphicFramePr>
        <p:xfrm>
          <a:off x="548640" y="3895639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95997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2EA17F-8A49-A763-07C3-906307D99AB6}"/>
              </a:ext>
            </a:extLst>
          </p:cNvPr>
          <p:cNvSpPr/>
          <p:nvPr/>
        </p:nvSpPr>
        <p:spPr>
          <a:xfrm>
            <a:off x="548639" y="5797296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Pattaya area, arrivals are −2.7% vs LY — mostly from foreigners (−5.4% vs LY).</a:t>
            </a:r>
          </a:p>
          <a:p>
            <a:r>
              <a:rPr lang="en-US" sz="1200" dirty="0"/>
              <a:t>***June carries the MOTS 4-day data-loss gap.</a:t>
            </a:r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submarket (CoStar Standard Monthly, YTD Jun 2026 report) · Jan–Jun monthly,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(CoStar Pattaya submarket):   </a:t>
            </a:r>
            <a:r>
              <a:rPr lang="en-US" sz="125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−2.6%   ·   ADR −0.1%   ·   RevPAR −2.6%</a:t>
            </a:r>
            <a:endParaRPr lang="en-US" sz="125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240872"/>
              </p:ext>
            </p:extLst>
          </p:nvPr>
        </p:nvGraphicFramePr>
        <p:xfrm>
          <a:off x="564330" y="4423054"/>
          <a:ext cx="11075982" cy="475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35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90D37C43-8759-22CB-9FD5-32DB5D8AB134}"/>
              </a:ext>
            </a:extLst>
          </p:cNvPr>
          <p:cNvSpPr/>
          <p:nvPr/>
        </p:nvSpPr>
        <p:spPr>
          <a:xfrm>
            <a:off x="546774" y="5084938"/>
            <a:ext cx="11130970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down (arrivals −2.7%) → market gave up occupancy (−2.6%) but held rate (ADR −0.1% = flat; Jan/Feb swing = CNY timing, May–Jun ADR −3~4%).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Upscale &amp; Upper Midscale set — closest to SP — lost both (Occ −3.0%, ADR −2.0%, RevPAR −5.0%)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4AF44B-EB10-22B1-7043-DDD0D6353B66}"/>
              </a:ext>
            </a:extLst>
          </p:cNvPr>
          <p:cNvSpPr/>
          <p:nvPr/>
        </p:nvSpPr>
        <p:spPr>
          <a:xfrm>
            <a:off x="8092440" y="5056532"/>
            <a:ext cx="3520440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(−1.0%). Vs last year, RevPAR is broadly flat.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050" dirty="0">
                <a:solidFill>
                  <a:schemeClr val="tx1"/>
                </a:solidFill>
                <a:latin typeface="Calibri"/>
              </a:rPr>
              <a:t>April was our softest month — driven by AES (−16% RevPAR vs budget, after the Dubai group moved out) and LYF (occupancy 50% vs the 83% budgeted).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26" cy="2014728"/>
        </p:xfrm>
        <a:graphic>
          <a:graphicData uri="http://schemas.openxmlformats.org/drawingml/2006/table">
            <a:tbl>
              <a:tblPr/>
              <a:tblGrid>
                <a:gridCol w="9230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3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9299">
                  <a:extLst>
                    <a:ext uri="{9D8B030D-6E8A-4147-A177-3AD203B41FA5}">
                      <a16:colId xmlns:a16="http://schemas.microsoft.com/office/drawing/2014/main" val="990001"/>
                    </a:ext>
                  </a:extLst>
                </a:gridCol>
                <a:gridCol w="5933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8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04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7688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−62.8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−263.9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−296.6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−269.4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−285.3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−30.1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−187.1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620FEF-C0EB-9128-141C-3B45B3343636}"/>
              </a:ext>
            </a:extLst>
          </p:cNvPr>
          <p:cNvSpPr/>
          <p:nvPr/>
        </p:nvSpPr>
        <p:spPr>
          <a:xfrm>
            <a:off x="6126480" y="5230367"/>
            <a:ext cx="5541264" cy="89362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budget: revenue is −9.7% below MF budget (฿581.9M vs ฿644.7M) and EBIT −11.0% — but NPAT is on plan (+฿0.2M): cost control and lower interest expense (loan repayment) offset the rate shortfall.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050" dirty="0">
                <a:solidFill>
                  <a:schemeClr val="tx1"/>
                </a:solidFill>
                <a:latin typeface="Calibri"/>
              </a:rPr>
              <a:t>Vs LY: revenue −1.4% and EBIT −2.6% (−฿3.9M); NPAT swings from −฿12.6M last year to +฿7.9M.</a:t>
            </a:r>
            <a:r>
              <a:rPr lang="en-US" sz="1050" dirty="0">
                <a:solidFill>
                  <a:schemeClr val="tx1"/>
                </a:solidFill>
                <a:latin typeface="Calibri"/>
              </a:rPr>
              <a:t> </a:t>
            </a:r>
            <a:r>
              <a:rPr lang="en-US" sz="105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(loan repayment in beginning of 2025 every properties exp. AES)</a:t>
            </a:r>
            <a:endParaRPr sz="1050" dirty="0">
              <a:solidFill>
                <a:schemeClr val="tx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322424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r>
                        <a:rPr lang="th-TH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(Inc. BF)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79738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88882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10828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56548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 vs LY 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0556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29700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51645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297365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13739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05179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3924635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381835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1315661"/>
              </p:ext>
            </p:extLst>
          </p:nvPr>
        </p:nvGraphicFramePr>
        <p:xfrm>
          <a:off x="548640" y="5532391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1" y="5009397"/>
            <a:ext cx="3547872" cy="11648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budget: SR9 runs close to budget for H1 — February outperformed strongly (CNY), May–Jun slightly behind on ADR.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Vs last year, occupancy is +4.8% better, turning RevPAR +1.3% above LY</a:t>
            </a:r>
            <a:r>
              <a:rPr lang="en-US" sz="1200" dirty="0">
                <a:solidFill>
                  <a:schemeClr val="tx1"/>
                </a:solidFill>
                <a:latin typeface="Calibri"/>
              </a:rPr>
              <a:t> even the lower ADR.</a:t>
            </a:r>
            <a:endParaRPr sz="1200" dirty="0">
              <a:solidFill>
                <a:schemeClr val="tx1"/>
              </a:solidFill>
              <a:latin typeface="Calibri"/>
            </a:endParaRP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60533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730325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376672"/>
            <a:ext cx="6144768" cy="6586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gainers are all Asian: China (+1,792 RN), India (+1,219) and Thailand (+762).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Biggest decline: Korea (−757 RN) — in line with the national arrival trends.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E0F99A-07E6-9F3C-B60A-8D2F5720F178}"/>
              </a:ext>
            </a:extLst>
          </p:cNvPr>
          <p:cNvSpPr txBox="1"/>
          <p:nvPr/>
        </p:nvSpPr>
        <p:spPr>
          <a:xfrm>
            <a:off x="9902953" y="4902032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949071" y="5668280"/>
            <a:ext cx="10290810" cy="106051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Around 30% of this property’s mix is corporate booking.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Online bookings also grew this year — and some corporate business is now mixed into OTA, since B2B channels book through the OTA as well.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ASR bookings grew too, but without any growth in ADR.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255576"/>
              </p:ext>
            </p:extLst>
          </p:nvPr>
        </p:nvGraphicFramePr>
        <p:xfrm>
          <a:off x="548640" y="4142232"/>
          <a:ext cx="10290810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928554"/>
              </p:ext>
            </p:extLst>
          </p:nvPr>
        </p:nvGraphicFramePr>
        <p:xfrm>
          <a:off x="548640" y="379476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44.3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35.2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32.7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32.6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214.0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3822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-0.3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-3.9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-4.3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-4.9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-12.6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4022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298128"/>
              </p:ext>
            </p:extLst>
          </p:nvPr>
        </p:nvGraphicFramePr>
        <p:xfrm>
          <a:off x="6094476" y="1441279"/>
          <a:ext cx="5545829" cy="2014728"/>
        </p:xfrm>
        <a:graphic>
          <a:graphicData uri="http://schemas.openxmlformats.org/drawingml/2006/table">
            <a:tbl>
              <a:tblPr/>
              <a:tblGrid>
                <a:gridCol w="8879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5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25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255">
                  <a:extLst>
                    <a:ext uri="{9D8B030D-6E8A-4147-A177-3AD203B41FA5}">
                      <a16:colId xmlns:a16="http://schemas.microsoft.com/office/drawing/2014/main" val="990002"/>
                    </a:ext>
                  </a:extLst>
                </a:gridCol>
                <a:gridCol w="5708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66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91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49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−84.3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−59.0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−61.9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−56.7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−59.3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9041" y="4960620"/>
            <a:ext cx="5541264" cy="122529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sz="1050" dirty="0">
                <a:solidFill>
                  <a:schemeClr val="tx1"/>
                </a:solidFill>
              </a:rPr>
              <a:t>Vs budget: revenue fell short; OPEX was managed −8.7% better, but GOP still missed on the revenue shortfall. EBIT is −11.3% below budget, while NPAT is +฿6.2M better — the MF projection assumed a DTA write-off in Q1–Q2 that has not been booked yet.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Vs LY: revenue is +0.6% better, but OPEX is also +0.6% higher, so GOP is similar to LY. EBIT comes in below LY (−฿1.7M, −3.2%). NPAT, however, beats LY — last year’s H1 carried a write-off.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37979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10605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19749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41695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87415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+3.8%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51423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60567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82513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28233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392241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01385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23330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69050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02653" y="5330586"/>
            <a:ext cx="3700014" cy="1182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last year, AES did well on occupancy (+3.8%) but could not yield ADR, turning RevPAR −2.2% below 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latin typeface="Calibri"/>
              </a:rPr>
              <a:t>Vs the MF budget: occupancy fell −1.7% short and ADR −4.4%, so RevPAR lands −6.0% below budget.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449107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8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24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8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4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+2,867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+5213%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4,730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-2,326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-49%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4,407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31,893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+4,050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839513"/>
            <a:ext cx="6144768" cy="95778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three: China, Japan and Finland — AES is diversifying its guest mix into new nationalities.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Biggest H1 gain: Finland (+2,867 RN, from just 55 last year); biggest decline: Korea (−910 RN).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3BDAA7-0CA8-D415-B5EB-F239636C9D48}"/>
              </a:ext>
            </a:extLst>
          </p:cNvPr>
          <p:cNvSpPr txBox="1"/>
          <p:nvPr/>
        </p:nvSpPr>
        <p:spPr>
          <a:xfrm>
            <a:off x="9800316" y="1128135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183636"/>
              </p:ext>
            </p:extLst>
          </p:nvPr>
        </p:nvGraphicFramePr>
        <p:xfrm>
          <a:off x="606668" y="4169663"/>
          <a:ext cx="11033643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67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21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121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328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599049" y="5695293"/>
            <a:ext cx="11117579" cy="8518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 Corporate LS/SS has grown 30–40% vs H1 last year and group bookings are +185% — AES is clearly shifting to secure group business, which can pull the rate down.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ASR bookings grew +50% (Ascott is pushing ASR) but still fall short on rate.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Wholesale cannot be grown: leisure retail prices in this area are low and rate-cutting competition is intense.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922159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3087451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30.9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33.7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204.0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55693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-0.4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-1.7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453427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827674"/>
              </p:ext>
            </p:extLst>
          </p:nvPr>
        </p:nvGraphicFramePr>
        <p:xfrm>
          <a:off x="6096000" y="1444752"/>
          <a:ext cx="5544308" cy="2014728"/>
        </p:xfrm>
        <a:graphic>
          <a:graphicData uri="http://schemas.openxmlformats.org/drawingml/2006/table">
            <a:tbl>
              <a:tblPr/>
              <a:tblGrid>
                <a:gridCol w="887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2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061">
                  <a:extLst>
                    <a:ext uri="{9D8B030D-6E8A-4147-A177-3AD203B41FA5}">
                      <a16:colId xmlns:a16="http://schemas.microsoft.com/office/drawing/2014/main" val="990003"/>
                    </a:ext>
                  </a:extLst>
                </a:gridCol>
                <a:gridCol w="570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65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89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48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−83.6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−89.0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−97.2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−62.1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−69.7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−69.5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099044" y="5143091"/>
            <a:ext cx="5541264" cy="9340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sz="950" dirty="0">
                <a:solidFill>
                  <a:schemeClr val="tx1"/>
                </a:solidFill>
              </a:rPr>
              <a:t>Vs budget: the revenue shortfall is large (−12%), but GOP margin beats budget on OPEX control and JV expense is better — so the EBIT and NPAT gaps end up much smaller.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LY: revenue is down −3.3%, but OPEX is −6.0% better (~฿6M, mainly leasing commission ~฿6.56M), GOP margin improves +2.5%, and JV expense is lower (house &amp; building tax was over-accrued last year; the 2026 tax is already paid) — so EBIT and NPAT both beat LY.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43850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817825"/>
              </p:ext>
            </p:extLst>
          </p:nvPr>
        </p:nvGraphicFramePr>
        <p:xfrm>
          <a:off x="548639" y="5815584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LYF ran a strong Q1 above budget, then April dropped sharply (occupancy 50% vs the 83% budgeted, −39%) — recovering since May.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Overall, LYF misses budget and is softer than last year as well — mostly from the ADR drop.</a:t>
            </a: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104943"/>
            <a:ext cx="6144768" cy="96408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Top nationalities: China, Indonesia, Malaysia and Singapore.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Key gains come from Indonesia (+2,017 RN, +198%) and China (+1,312 RN, +28%), while the USA and UK dropped — the higher-spending nationalities have faded, which helps explain the ADR drop.</a:t>
            </a:r>
          </a:p>
        </p:txBody>
      </p:sp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ECB97440-7C84-E1C3-821B-4672A7CE1D25}"/>
              </a:ext>
            </a:extLst>
          </p:cNvPr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Table 0">
            <a:extLst>
              <a:ext uri="{FF2B5EF4-FFF2-40B4-BE49-F238E27FC236}">
                <a16:creationId xmlns:a16="http://schemas.microsoft.com/office/drawing/2014/main" id="{222B76A0-8DD3-2542-EC9A-D9FAE5428B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280981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18,498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+1,961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934294"/>
              </p:ext>
            </p:extLst>
          </p:nvPr>
        </p:nvGraphicFramePr>
        <p:xfrm>
          <a:off x="548639" y="4120773"/>
          <a:ext cx="10075212" cy="14805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dirty="0"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dirty="0"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40" y="5735503"/>
            <a:ext cx="10075212" cy="7498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Largest segment YTD: Online (66% of room nights). Even as OTA volume grew +3%, the OTA rate itself dropped −8%.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(To verify: could the low rate come from rooms sold into Corporate LS? — LS is only ~0.7% of room nights, so the main driver is the OTA rate itself.)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248437"/>
              </p:ext>
            </p:extLst>
          </p:nvPr>
        </p:nvGraphicFramePr>
        <p:xfrm>
          <a:off x="548640" y="3886200"/>
          <a:ext cx="5394956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8.9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5.7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43.6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51833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-9.2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25286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26" cy="2014728"/>
        </p:xfrm>
        <a:graphic>
          <a:graphicData uri="http://schemas.openxmlformats.org/drawingml/2006/table">
            <a:tbl>
              <a:tblPr/>
              <a:tblGrid>
                <a:gridCol w="88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0178">
                  <a:extLst>
                    <a:ext uri="{9D8B030D-6E8A-4147-A177-3AD203B41FA5}">
                      <a16:colId xmlns:a16="http://schemas.microsoft.com/office/drawing/2014/main" val="990004"/>
                    </a:ext>
                  </a:extLst>
                </a:gridCol>
                <a:gridCol w="567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9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565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14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−22.6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−19.1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66745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58185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3977641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434841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666745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58185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3977641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434841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099048" y="5111496"/>
            <a:ext cx="5541264" cy="9875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sz="950" dirty="0">
                <a:solidFill>
                  <a:schemeClr val="tx1"/>
                </a:solidFill>
              </a:rPr>
              <a:t>Vs budget: revenue −8.4% short, GOP margin −4.6% and EBIT −35% below budget. NPAT is in line with budget (the MF projection carried a ~฿2M interest-and-tax buffer).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LY: revenue is −5.8% and OPEX is higher on marketing (online PR and website costs); GOP is −12% and JV expense is up (house &amp; building tax for three past years) — so EBIT drops on the weak revenue and NPAT is negative.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43481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+5.3%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187895"/>
              </p:ext>
            </p:extLst>
          </p:nvPr>
        </p:nvGraphicFramePr>
        <p:xfrm>
          <a:off x="548639" y="5879592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8092440" y="5431536"/>
            <a:ext cx="3864065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</a:t>
            </a:r>
          </a:p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was ahead of budget in the Jan–Feb high season and broadly on plan in Mar–Jun.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Vs LY: occupancy +5.3% and RevPAR similar to 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Vs budget: occupancy +0.2%, but RevPAR −3.5% — the ADR could not be yielded as planned.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5026900"/>
            <a:ext cx="6144768" cy="8702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Top gainers: China (+805 RN), Thailand (+639) and Israel (+639), with Russia and Australia also up.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Biggest decline: United States (−965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ADR improved for India and the US.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E4D1E-69B7-E433-D597-328D5366FC59}"/>
              </a:ext>
            </a:extLst>
          </p:cNvPr>
          <p:cNvSpPr txBox="1"/>
          <p:nvPr/>
        </p:nvSpPr>
        <p:spPr>
          <a:xfrm>
            <a:off x="9902952" y="1266441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7913622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28.8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30.8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26.0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23.1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183.1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871696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5.3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95965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26" cy="2014728"/>
        </p:xfrm>
        <a:graphic>
          <a:graphicData uri="http://schemas.openxmlformats.org/drawingml/2006/table">
            <a:tbl>
              <a:tblPr/>
              <a:tblGrid>
                <a:gridCol w="8822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0178">
                  <a:extLst>
                    <a:ext uri="{9D8B030D-6E8A-4147-A177-3AD203B41FA5}">
                      <a16:colId xmlns:a16="http://schemas.microsoft.com/office/drawing/2014/main" val="990005"/>
                    </a:ext>
                  </a:extLst>
                </a:gridCol>
                <a:gridCol w="567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9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56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14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−74.4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−75.1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−75.9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−39.9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−41.0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099048" y="5102352"/>
            <a:ext cx="5541264" cy="9875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budget: revenue fell short; OPEX was managed −9.8% better, but GOP still missed on the low revenue. JV expense was −4.0% better than budget; even so, the revenue shortfall leaves EBIT and NPAT below plan.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950" dirty="0">
                <a:solidFill>
                  <a:schemeClr val="tx1"/>
                </a:solidFill>
              </a:rPr>
              <a:t>Vs LY: revenue is similar and OPEX slightly better, but JV expense is higher, making EBIT lower. NPAT improves — no bank loan in H1 this year, unlike last year.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  <p:sp>
        <p:nvSpPr>
          <p:cNvPr id="6" name="TextBox 5"/>
          <p:cNvSpPr txBox="1"/>
          <p:nvPr/>
        </p:nvSpPr>
        <p:spPr>
          <a:xfrm>
            <a:off x="548640" y="1353979"/>
            <a:ext cx="766364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65459"/>
            <a:ext cx="5440680" cy="782265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Thailand H1 arrivals: 15.87M reported, −4.9% vs 2025 — adding back the MOTS 4-day June data loss, the estimate is 16.16M = −3.2%: soft, but not a collapse.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05291"/>
            <a:ext cx="2664319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lang="en-US" sz="1300" b="1">
                <a:solidFill>
                  <a:srgbClr val="1E2761"/>
                </a:solidFill>
                <a:latin typeface="Calibri"/>
              </a:rPr>
              <a:t>THE </a:t>
            </a:r>
            <a:r>
              <a:rPr sz="1300" b="1">
                <a:solidFill>
                  <a:srgbClr val="1E2761"/>
                </a:solidFill>
                <a:latin typeface="Calibri"/>
              </a:rPr>
              <a:t>MARKETS</a:t>
            </a:r>
            <a:r>
              <a:rPr lang="en-US" sz="1300" b="1">
                <a:solidFill>
                  <a:srgbClr val="1E2761"/>
                </a:solidFill>
                <a:latin typeface="Calibri"/>
              </a:rPr>
              <a:t> AND OUR PROPERTIES</a:t>
            </a:r>
            <a:endParaRPr sz="1300" b="1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3116771"/>
            <a:ext cx="5440680" cy="103361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9A2F7-AAFF-4D60-CE37-A169F9AF336E}"/>
              </a:ext>
            </a:extLst>
          </p:cNvPr>
          <p:cNvSpPr txBox="1"/>
          <p:nvPr/>
        </p:nvSpPr>
        <p:spPr>
          <a:xfrm>
            <a:off x="548640" y="746198"/>
            <a:ext cx="60975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2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E0171A-59D5-0060-907E-965A38D946E2}"/>
              </a:ext>
            </a:extLst>
          </p:cNvPr>
          <p:cNvSpPr txBox="1"/>
          <p:nvPr/>
        </p:nvSpPr>
        <p:spPr>
          <a:xfrm>
            <a:off x="6537483" y="746198"/>
            <a:ext cx="5204586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Recommendation</a:t>
            </a:r>
            <a:endParaRPr lang="en-US" err="1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6F37F4-0918-5BE3-7988-46313A3A22FF}"/>
              </a:ext>
            </a:extLst>
          </p:cNvPr>
          <p:cNvSpPr txBox="1"/>
          <p:nvPr/>
        </p:nvSpPr>
        <p:spPr>
          <a:xfrm>
            <a:off x="6419088" y="1764792"/>
            <a:ext cx="5129784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lang="en-US" sz="1050" dirty="0"/>
              <a:t>• </a:t>
            </a:r>
            <a:r>
              <a:rPr lang="en-US" sz="1050" b="1" dirty="0"/>
              <a:t>Push rate only in high season (Q4–Q1)</a:t>
            </a:r>
            <a:r>
              <a:rPr lang="en-US" sz="1050" dirty="0"/>
              <a:t> — Q2–Q3 demand shifts </a:t>
            </a:r>
            <a:r>
              <a:rPr lang="en-US" sz="1050" dirty="0" err="1"/>
              <a:t>leisure→corporate</a:t>
            </a:r>
            <a:r>
              <a:rPr lang="en-US" sz="1050" dirty="0"/>
              <a:t>; raising ADR there just loses traffic.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Reduce the China reliance</a:t>
            </a:r>
            <a:r>
              <a:rPr lang="en-US" sz="1050" dirty="0"/>
              <a:t> — it now dominates our mix but books below-average rates, capping ADR.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Rebalance toward higher-ADR guests</a:t>
            </a:r>
            <a:r>
              <a:rPr lang="en-US" sz="1050" dirty="0"/>
              <a:t> — long-haul (EU/USA) is at record levels; set a nationality-mix target with Ascott, not just a rate target.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Keep the cost discipline</a:t>
            </a:r>
            <a:r>
              <a:rPr lang="en-US" sz="1050" dirty="0"/>
              <a:t> — revenue missed budget by −9.7%, yet portfolio NPAT is still on plan thanks to OPEX control; make protecting this a standing order for H2.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Review low-rate wholesale deals</a:t>
            </a:r>
            <a:r>
              <a:rPr lang="en-US" sz="1050" dirty="0"/>
              <a:t> — AES's Finland case (55 → 2,922 room nights at half the rate) shows how these deals buy occupancy at the cost of ADR; every property should review such contracts before renewal.</a:t>
            </a:r>
          </a:p>
        </p:txBody>
      </p:sp>
      <p:sp>
        <p:nvSpPr>
          <p:cNvPr id="4" name="TextBox 5"/>
          <p:cNvSpPr txBox="1"/>
          <p:nvPr/>
        </p:nvSpPr>
        <p:spPr>
          <a:xfrm>
            <a:off x="6419088" y="1353312"/>
            <a:ext cx="2926080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ACTIONS FOR H2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306824"/>
            <a:ext cx="1828800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P&amp;L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18304"/>
            <a:ext cx="544068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Revenue closed −9.7% below MF budget on the rate shortfall — but OPEX control kept portfolio NPAT on plan (+฿0.3M); EBIT −11.0% vs budget.</a:t>
            </a:r>
          </a:p>
          <a:p>
            <a:r>
              <a:rPr sz="1050">
                <a:solidFill>
                  <a:srgbClr val="26292E"/>
                </a:solidFill>
                <a:latin typeface="Calibri"/>
              </a:rPr>
              <a:t>• Every property missed its revenue budget (−8% to −12%); keeping the H1 cost discipline is what protects the bottom line in H2.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B789EF4-9820-4A59-9D05-AF608D83E433}">
  <ds:schemaRefs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purl.org/dc/elements/1.1/"/>
    <ds:schemaRef ds:uri="http://schemas.openxmlformats.org/package/2006/metadata/core-properties"/>
    <ds:schemaRef ds:uri="http://purl.org/dc/dcmitype/"/>
    <ds:schemaRef ds:uri="570ce379-ef9e-488e-8e74-44d887057c06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DB74C21-A0DA-4EDB-999A-8BD9B5CF7863}">
  <ds:schemaRefs>
    <ds:schemaRef ds:uri="570ce379-ef9e-488e-8e74-44d887057c0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8698</Words>
  <Application>Microsoft Office PowerPoint</Application>
  <PresentationFormat>Widescreen</PresentationFormat>
  <Paragraphs>2923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3</cp:revision>
  <dcterms:created xsi:type="dcterms:W3CDTF">2026-07-24T09:01:49Z</dcterms:created>
  <dcterms:modified xsi:type="dcterms:W3CDTF">2026-08-19T02:46:23Z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