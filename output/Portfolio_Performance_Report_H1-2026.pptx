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notesSlides/notesSlide4.xml" ContentType="application/vnd.openxmlformats-officedocument.presentationml.notes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Slides/notesSlide5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6.xml" ContentType="application/vnd.openxmlformats-officedocument.drawingml.chart+xml"/>
  <Override PartName="/ppt/notesSlides/notesSlide8.xml" ContentType="application/vnd.openxmlformats-officedocument.presentationml.notesSlide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Slides/notesSlide9.xml" ContentType="application/vnd.openxmlformats-officedocument.presentationml.notesSlide+xml"/>
  <Override PartName="/ppt/charts/chart10.xml" ContentType="application/vnd.openxmlformats-officedocument.drawingml.chart+xml"/>
  <Override PartName="/ppt/notesSlides/notesSlide10.xml" ContentType="application/vnd.openxmlformats-officedocument.presentationml.notes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14.xml" ContentType="application/vnd.openxmlformats-officedocument.drawingml.chart+xml"/>
  <Override PartName="/ppt/notesSlides/notesSlide13.xml" ContentType="application/vnd.openxmlformats-officedocument.presentationml.notesSlide+xml"/>
  <Override PartName="/ppt/charts/chart15.xml" ContentType="application/vnd.openxmlformats-officedocument.drawingml.chart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16.xml" ContentType="application/vnd.openxmlformats-officedocument.drawingml.chart+xml"/>
  <Override PartName="/ppt/notesSlides/notesSlide16.xml" ContentType="application/vnd.openxmlformats-officedocument.presentationml.notesSlide+xml"/>
  <Override PartName="/ppt/charts/chart17.xml" ContentType="application/vnd.openxmlformats-officedocument.drawingml.chart+xml"/>
  <Override PartName="/ppt/notesSlides/notesSlide17.xml" ContentType="application/vnd.openxmlformats-officedocument.presentationml.notesSlide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notesSlides/notesSlide18.xml" ContentType="application/vnd.openxmlformats-officedocument.presentationml.notesSlide+xml"/>
  <Override PartName="/ppt/charts/chart20.xml" ContentType="application/vnd.openxmlformats-officedocument.drawingml.chart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rts/chart21.xml" ContentType="application/vnd.openxmlformats-officedocument.drawingml.chart+xml"/>
  <Override PartName="/ppt/notesSlides/notesSlide21.xml" ContentType="application/vnd.openxmlformats-officedocument.presentationml.notesSlide+xml"/>
  <Override PartName="/ppt/charts/chart22.xml" ContentType="application/vnd.openxmlformats-officedocument.drawingml.chart+xml"/>
  <Override PartName="/ppt/notesSlides/notesSlide22.xml" ContentType="application/vnd.openxmlformats-officedocument.presentationml.notesSlide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notesSlides/notesSlide23.xml" ContentType="application/vnd.openxmlformats-officedocument.presentationml.notesSlide+xml"/>
  <Override PartName="/ppt/charts/chart25.xml" ContentType="application/vnd.openxmlformats-officedocument.drawingml.chart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rts/chart26.xml" ContentType="application/vnd.openxmlformats-officedocument.drawingml.chart+xml"/>
  <Override PartName="/ppt/notesSlides/notesSlide26.xml" ContentType="application/vnd.openxmlformats-officedocument.presentationml.notesSlide+xml"/>
  <Override PartName="/ppt/charts/chart27.xml" ContentType="application/vnd.openxmlformats-officedocument.drawingml.chart+xml"/>
  <Override PartName="/ppt/notesSlides/notesSlide27.xml" ContentType="application/vnd.openxmlformats-officedocument.presentationml.notesSlide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notesSlides/notesSlide28.xml" ContentType="application/vnd.openxmlformats-officedocument.presentationml.notesSlide+xml"/>
  <Override PartName="/ppt/charts/chart30.xml" ContentType="application/vnd.openxmlformats-officedocument.drawingml.chart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31.xml" ContentType="application/vnd.openxmlformats-officedocument.drawingml.chart+xml"/>
  <Override PartName="/ppt/notesSlides/notesSlide31.xml" ContentType="application/vnd.openxmlformats-officedocument.presentationml.notesSlide+xml"/>
  <Override PartName="/ppt/charts/chart32.xml" ContentType="application/vnd.openxmlformats-officedocument.drawingml.chart+xml"/>
  <Override PartName="/ppt/notesSlides/notesSlide32.xml" ContentType="application/vnd.openxmlformats-officedocument.presentationml.notesSlide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notesSlides/notesSlide33.xml" ContentType="application/vnd.openxmlformats-officedocument.presentationml.notesSlide+xml"/>
  <Override PartName="/ppt/charts/chart35.xml" ContentType="application/vnd.openxmlformats-officedocument.drawingml.chart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285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6" r:id="rId3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notesMaster" Target="notesMasters/notesMaster1.xml"/><Relationship Id="rId45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4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20" Type="http://schemas.openxmlformats.org/officeDocument/2006/relationships/slide" Target="slides/slide16.xml"/><Relationship Id="rId41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+Estimate data in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จีน โต อนเดียโต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 </a:t>
            </a:r>
            <a:r>
              <a:rPr lang="th-TH" dirty="0"/>
              <a:t>มีผลกระทบที่สำคัญ</a:t>
            </a:r>
          </a:p>
          <a:p>
            <a:r>
              <a:rPr lang="th-TH" dirty="0"/>
              <a:t>ตลาดตกจริงเพราะ</a:t>
            </a:r>
            <a:r>
              <a:rPr lang="en-US" dirty="0"/>
              <a:t>xx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Domestic demand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April </a:t>
            </a:r>
            <a:r>
              <a:rPr lang="th-TH" dirty="0"/>
              <a:t>น้ำมันแพง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r>
              <a:rPr lang="en-US" dirty="0"/>
              <a:t>Pattern same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opex</a:t>
            </a:r>
            <a:r>
              <a:rPr lang="en-US" dirty="0"/>
              <a:t> is good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Soften down lei sure to Corporate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7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9.xml"/><Relationship Id="rId4" Type="http://schemas.openxmlformats.org/officeDocument/2006/relationships/chart" Target="../charts/char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chart" Target="../charts/chart13.xml"/><Relationship Id="rId4" Type="http://schemas.openxmlformats.org/officeDocument/2006/relationships/chart" Target="../charts/char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4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5.xm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6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7.xm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8.xm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0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1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2.xm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3.xm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5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6.xm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7.xm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8.xml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0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2.xm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3.xm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3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5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</a:t>
            </a:r>
            <a:endParaRPr lang="en-US" sz="1050" dirty="0"/>
          </a:p>
        </p:txBody>
      </p:sp>
      <p:graphicFrame>
        <p:nvGraphicFramePr>
          <p:cNvPr id="20" name="Table 1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1204272"/>
              </p:ext>
            </p:extLst>
          </p:nvPr>
        </p:nvGraphicFramePr>
        <p:xfrm>
          <a:off x="678178" y="4663440"/>
          <a:ext cx="7330582" cy="130772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9734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06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964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5364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Year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 (Jan–Jun)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dirty="0">
                          <a:solidFill>
                            <a:srgbClr val="FFFFFF"/>
                          </a:solidFill>
                          <a:latin typeface="Calibri"/>
                        </a:rPr>
                        <a:t>vs prior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5364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dirty="0">
                          <a:solidFill>
                            <a:srgbClr val="26292E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7037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 dirty="0">
                          <a:solidFill>
                            <a:srgbClr val="26292E"/>
                          </a:solidFill>
                          <a:latin typeface="Calibri"/>
                        </a:rPr>
                        <a:t>12,914,691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dirty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5364"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dirty="0">
                          <a:solidFill>
                            <a:srgbClr val="1E7B34"/>
                          </a:solidFill>
                          <a:latin typeface="Calibri"/>
                        </a:rPr>
                        <a:t>+35.5%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5364">
                <a:tc>
                  <a:txBody>
                    <a:bodyPr/>
                    <a:lstStyle/>
                    <a:p>
                      <a:pPr algn="l"/>
                      <a:r>
                        <a:rPr sz="900" b="0" dirty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73872">
                <a:tc>
                  <a:txBody>
                    <a:bodyPr/>
                    <a:lstStyle/>
                    <a:p>
                      <a:pPr algn="l"/>
                      <a:r>
                        <a:rPr sz="900" b="1" dirty="0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dirty="0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00" b="1" dirty="0">
                          <a:solidFill>
                            <a:srgbClr val="C62828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53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+mn-lt"/>
                        </a:rPr>
                        <a:t>2026</a:t>
                      </a:r>
                      <a:r>
                        <a:rPr lang="th-TH" sz="900" b="1" dirty="0">
                          <a:solidFill>
                            <a:srgbClr val="26292E"/>
                          </a:solidFill>
                          <a:latin typeface="Calibri"/>
                        </a:rPr>
                        <a:t> </a:t>
                      </a: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/>
                        </a:rPr>
                        <a:t>(Estimate + actual)</a:t>
                      </a:r>
                      <a:endParaRPr lang="en-US" sz="900" b="1" dirty="0">
                        <a:solidFill>
                          <a:srgbClr val="26292E"/>
                        </a:solidFill>
                        <a:latin typeface="+mn-lt"/>
                      </a:endParaRP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16,157,516</a:t>
                      </a:r>
                    </a:p>
                  </a:txBody>
                  <a:tcPr marL="0" marR="0" marT="0" marB="0" anchor="b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900" b="1" dirty="0">
                          <a:solidFill>
                            <a:srgbClr val="C62828"/>
                          </a:solidFill>
                          <a:latin typeface="+mn-lt"/>
                        </a:rPr>
                        <a:t>-3%</a:t>
                      </a:r>
                    </a:p>
                  </a:txBody>
                  <a:tcPr marL="45720" marR="45720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2994582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43469" y="2743866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26292E"/>
                </a:solidFill>
                <a:latin typeface="Calibri"/>
              </a:rPr>
              <a:t>(Estimate + actual)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is recovering vs a weak 2025 (still ~46% of pre-COVID); India is the strongest growth market — +24% in Jan and a record H1. June carries the MOTS 4-day data gap.</a:t>
            </a:r>
            <a:endParaRPr lang="en-US" sz="1050" dirty="0"/>
          </a:p>
        </p:txBody>
      </p:sp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627632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627632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870448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870448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60 days free</a:t>
            </a:r>
          </a:p>
          <a:p>
            <a:pPr algn="ctr"/>
            <a:r>
              <a:rPr lang="en-US" sz="1100" dirty="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C7FA66A-63D9-510D-080F-A75BC777C4AA}"/>
              </a:ext>
            </a:extLst>
          </p:cNvPr>
          <p:cNvSpPr/>
          <p:nvPr/>
        </p:nvSpPr>
        <p:spPr>
          <a:xfrm>
            <a:off x="6291072" y="5680609"/>
            <a:ext cx="534924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3DD46-7609-7956-8D38-36227600EC9E}"/>
              </a:ext>
            </a:extLst>
          </p:cNvPr>
          <p:cNvSpPr/>
          <p:nvPr/>
        </p:nvSpPr>
        <p:spPr>
          <a:xfrm>
            <a:off x="548640" y="5680609"/>
            <a:ext cx="534924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Long-haul held up — strong Jan–Feb offset a softer April; June carries the MOTS 4-day data gap.</a:t>
            </a:r>
            <a:endParaRPr lang="en-US" sz="1050" dirty="0"/>
          </a:p>
        </p:txBody>
      </p:sp>
      <p:sp>
        <p:nvSpPr>
          <p:cNvPr id="939" name="TextBox 938"/>
          <p:cNvSpPr txBox="1"/>
          <p:nvPr/>
        </p:nvSpPr>
        <p:spPr>
          <a:xfrm>
            <a:off x="548640" y="1508760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87044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508760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87044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1868506" y="3109627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28486" y="553067"/>
            <a:ext cx="292609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068016A-BE69-D249-3422-1A449666B143}"/>
              </a:ext>
            </a:extLst>
          </p:cNvPr>
          <p:cNvSpPr/>
          <p:nvPr/>
        </p:nvSpPr>
        <p:spPr>
          <a:xfrm>
            <a:off x="548640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269870"/>
              </p:ext>
            </p:extLst>
          </p:nvPr>
        </p:nvGraphicFramePr>
        <p:xfrm>
          <a:off x="563880" y="3973560"/>
          <a:ext cx="11064240" cy="156084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5726413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/>
              <a:t>Key takeaway : Even the number arrival total is -3% . Total international arrival </a:t>
            </a:r>
            <a:r>
              <a:rPr lang="en-US" sz="1100" baseline="0" dirty="0"/>
              <a:t>in Bangkok is similar to </a:t>
            </a:r>
            <a:r>
              <a:rPr lang="en-US" sz="1100" dirty="0"/>
              <a:t>LY </a:t>
            </a:r>
            <a:r>
              <a:rPr lang="en-US" sz="1100" baseline="0" dirty="0"/>
              <a:t>(-0.1%)</a:t>
            </a:r>
            <a:endParaRPr lang="en-US" sz="11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/>
              <a:t>BC the drops come from Phuket and Pattaya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5541981-8D5B-7750-A24A-85CC7D50BD24}"/>
              </a:ext>
            </a:extLst>
          </p:cNvPr>
          <p:cNvSpPr/>
          <p:nvPr/>
        </p:nvSpPr>
        <p:spPr>
          <a:xfrm>
            <a:off x="548640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738975"/>
            <a:ext cx="11091672" cy="2308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lang="en-US" sz="1200" dirty="0">
                <a:solidFill>
                  <a:srgbClr val="595959"/>
                </a:solidFill>
                <a:latin typeface="Calibri"/>
              </a:rPr>
              <a:t>Key takeaway : </a:t>
            </a:r>
            <a:r>
              <a:rPr sz="1200" dirty="0">
                <a:solidFill>
                  <a:srgbClr val="595959"/>
                </a:solidFill>
                <a:latin typeface="Calibri"/>
              </a:rPr>
              <a:t>Luxury is the only class holding rate (+1.1%) — every other class cut ADR while occupancy recovered, the market-wide version of the rate-for-volume trade.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66D82F-3185-C779-478F-80FF275E3664}"/>
              </a:ext>
            </a:extLst>
          </p:cNvPr>
          <p:cNvSpPr txBox="1"/>
          <p:nvPr/>
        </p:nvSpPr>
        <p:spPr>
          <a:xfrm>
            <a:off x="7906043" y="984738"/>
            <a:ext cx="19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April??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2281436"/>
              </p:ext>
            </p:extLst>
          </p:nvPr>
        </p:nvGraphicFramePr>
        <p:xfrm>
          <a:off x="548640" y="1600200"/>
          <a:ext cx="11064240" cy="25591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8741768"/>
              </p:ext>
            </p:extLst>
          </p:nvPr>
        </p:nvGraphicFramePr>
        <p:xfrm>
          <a:off x="548640" y="4288536"/>
          <a:ext cx="11064240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DC70740-E16C-CB88-C339-2F29B5B49406}"/>
              </a:ext>
            </a:extLst>
          </p:cNvPr>
          <p:cNvSpPr/>
          <p:nvPr/>
        </p:nvSpPr>
        <p:spPr>
          <a:xfrm>
            <a:off x="2098536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381796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381796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381796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450876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32BB7564-58AA-2AEE-602C-AC8A26BAEE83}"/>
              </a:ext>
            </a:extLst>
          </p:cNvPr>
          <p:cNvSpPr/>
          <p:nvPr/>
        </p:nvSpPr>
        <p:spPr>
          <a:xfrm rot="16200000" flipH="1">
            <a:off x="3178390" y="4337546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4772CB-664C-618C-9066-3FF8AB1F4658}"/>
              </a:ext>
            </a:extLst>
          </p:cNvPr>
          <p:cNvSpPr txBox="1"/>
          <p:nvPr/>
        </p:nvSpPr>
        <p:spPr>
          <a:xfrm>
            <a:off x="2816312" y="5091953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C4BE4FA5-07FC-E10A-A87A-908FF8C5398C}"/>
              </a:ext>
            </a:extLst>
          </p:cNvPr>
          <p:cNvSpPr/>
          <p:nvPr/>
        </p:nvSpPr>
        <p:spPr>
          <a:xfrm rot="16200000" flipH="1">
            <a:off x="7022107" y="4337546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91952B-2203-9840-CF68-263B417CFA7E}"/>
              </a:ext>
            </a:extLst>
          </p:cNvPr>
          <p:cNvSpPr txBox="1"/>
          <p:nvPr/>
        </p:nvSpPr>
        <p:spPr>
          <a:xfrm>
            <a:off x="6660029" y="5091953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B52886D4-588F-DCC0-7649-4AF0656839E6}"/>
              </a:ext>
            </a:extLst>
          </p:cNvPr>
          <p:cNvSpPr/>
          <p:nvPr/>
        </p:nvSpPr>
        <p:spPr>
          <a:xfrm rot="16200000" flipH="1">
            <a:off x="10784905" y="4337547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87CAE3-5CAF-A1F1-B596-5CDFCACEA8E9}"/>
              </a:ext>
            </a:extLst>
          </p:cNvPr>
          <p:cNvSpPr txBox="1"/>
          <p:nvPr/>
        </p:nvSpPr>
        <p:spPr>
          <a:xfrm>
            <a:off x="10422827" y="5091954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018C65-8546-B68B-1416-691D392361BA}"/>
              </a:ext>
            </a:extLst>
          </p:cNvPr>
          <p:cNvSpPr txBox="1"/>
          <p:nvPr/>
        </p:nvSpPr>
        <p:spPr>
          <a:xfrm>
            <a:off x="548640" y="5797221"/>
            <a:ext cx="3997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Segmentation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AF5ED99-9453-143A-EAF7-BD5A3F1F5EA6}"/>
              </a:ext>
            </a:extLst>
          </p:cNvPr>
          <p:cNvSpPr/>
          <p:nvPr/>
        </p:nvSpPr>
        <p:spPr>
          <a:xfrm>
            <a:off x="2098536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8092441" y="5001668"/>
            <a:ext cx="3633986" cy="1261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2309845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1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07181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31673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40817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2763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8483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2491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81635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3580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9300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3308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2452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4398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90118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0" y="5532486"/>
            <a:ext cx="3824905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SR9 runs performance close to budget H1;</a:t>
            </a: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outperformed strongly (CNY), May–Jun slightly behind on rate.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5938143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038345"/>
            <a:ext cx="6144768" cy="7589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India, Thailand, Indonesia, Singapore and China.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Overall ADR from all Nationality is dropped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677334"/>
            <a:ext cx="11347704" cy="5098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324736"/>
              </p:ext>
            </p:extLst>
          </p:nvPr>
        </p:nvGraphicFramePr>
        <p:xfrm>
          <a:off x="548640" y="4142232"/>
          <a:ext cx="11347704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8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767267"/>
              </p:ext>
            </p:extLst>
          </p:nvPr>
        </p:nvGraphicFramePr>
        <p:xfrm>
          <a:off x="338328" y="379476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893664"/>
              </p:ext>
            </p:extLst>
          </p:nvPr>
        </p:nvGraphicFramePr>
        <p:xfrm>
          <a:off x="6094476" y="1560576"/>
          <a:ext cx="5545835" cy="1946205"/>
        </p:xfrm>
        <a:graphic>
          <a:graphicData uri="http://schemas.openxmlformats.org/drawingml/2006/table">
            <a:tbl>
              <a:tblPr/>
              <a:tblGrid>
                <a:gridCol w="989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4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8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5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1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1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4477" y="4942332"/>
            <a:ext cx="5545836" cy="12070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Key takeaway : On revenue, H1 is better than last year, but OPEX is +0.6% vs LY.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GOP beats LY even with the lower ADR, and the margin is about the same.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However, JV expense is higher than LY because </a:t>
            </a:r>
            <a:r>
              <a:rPr lang="en-US" sz="1200" dirty="0">
                <a:solidFill>
                  <a:srgbClr val="FF0000"/>
                </a:solidFill>
              </a:rPr>
              <a:t>[xxx], </a:t>
            </a:r>
            <a:r>
              <a:rPr lang="en-US" sz="1200" dirty="0">
                <a:solidFill>
                  <a:schemeClr val="tx1"/>
                </a:solidFill>
              </a:rPr>
              <a:t>so EBIT comes in below both LY (−฿1.7M) and budget (฿53.0M vs ฿59.7M). NPAT, on the other hand, is better than LY.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 err="1">
                <a:solidFill>
                  <a:schemeClr val="tx1"/>
                </a:solidFill>
              </a:rPr>
              <a:t>Buget</a:t>
            </a:r>
            <a:r>
              <a:rPr lang="en-US" sz="1200" dirty="0">
                <a:solidFill>
                  <a:schemeClr val="tx1"/>
                </a:solidFill>
              </a:rPr>
              <a:t> // LY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294005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AES February was exceptional (92% occupancy, well above budget); April–May fell behind budget in a softer Bangkok market.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752236"/>
            <a:ext cx="6144768" cy="8949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Japan, followed by China. New nationalities this year are the UK, Finland and Taiwan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Diversify other nationalities.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611757"/>
              </p:ext>
            </p:extLst>
          </p:nvPr>
        </p:nvGraphicFramePr>
        <p:xfrm>
          <a:off x="606669" y="4036080"/>
          <a:ext cx="11109959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606669" y="5467116"/>
            <a:ext cx="11117579" cy="8879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group has grown almost 30–40% vs H1 last year, and group bookings are +185% vs LY — implying AES is shifting to secure group business, which can pull the rate down.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Finland Group// Whole sale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Boost LS? Group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997996"/>
              </p:ext>
            </p:extLst>
          </p:nvPr>
        </p:nvGraphicFramePr>
        <p:xfrm>
          <a:off x="6096000" y="1444752"/>
          <a:ext cx="5544314" cy="2293321"/>
        </p:xfrm>
        <a:graphic>
          <a:graphicData uri="http://schemas.openxmlformats.org/drawingml/2006/table">
            <a:tbl>
              <a:tblPr/>
              <a:tblGrid>
                <a:gridCol w="988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2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3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3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799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319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11996780" y="1353312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126479" y="5047487"/>
            <a:ext cx="5513833" cy="1090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down −3.3% vs LY, but OPEX is managed better: −6.0% (about ฿6M). GOP margin improves +1.3 pts and JV expense is better, so EBIT and NPAT both beat LY. The key reason is AES managing OPEX well — and owner expenses are lower because in house and building tax over </a:t>
            </a:r>
            <a:r>
              <a:rPr lang="en-US" sz="1200" dirty="0" err="1">
                <a:solidFill>
                  <a:schemeClr val="tx1"/>
                </a:solidFill>
              </a:rPr>
              <a:t>accured</a:t>
            </a:r>
            <a:r>
              <a:rPr lang="en-US" sz="1200" dirty="0">
                <a:solidFill>
                  <a:schemeClr val="tx1"/>
                </a:solidFill>
              </a:rPr>
              <a:t>. And in 2026 already paid the House and the building tax in month XXX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320236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540161"/>
              </p:ext>
            </p:extLst>
          </p:nvPr>
        </p:nvGraphicFramePr>
        <p:xfrm>
          <a:off x="548640" y="5687568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148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LYF strong Q1 above budget, then April dropped sharply (occupancy −32 pts vs budget) — recovering since May.</a:t>
            </a:r>
          </a:p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Overall, LS 8 Cannot hit the </a:t>
            </a:r>
            <a:r>
              <a:rPr lang="en-US" sz="1200" i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</a:t>
            </a: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perform softer than LY too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27252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063581"/>
            <a:ext cx="6144768" cy="1108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  <a:p>
            <a:pPr algn="ctr"/>
            <a:endParaRPr lang="en-US" sz="12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Mostly we were challenged with ADR ^nationality drop ADR</a:t>
            </a: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Drop </a:t>
            </a:r>
            <a:r>
              <a:rPr lang="en-US" sz="1200" dirty="0" err="1">
                <a:solidFill>
                  <a:sysClr val="windowText" lastClr="000000"/>
                </a:solidFill>
              </a:rPr>
              <a:t>Nationlity</a:t>
            </a:r>
            <a:r>
              <a:rPr lang="en-US" sz="1200" dirty="0">
                <a:solidFill>
                  <a:sysClr val="windowText" lastClr="000000"/>
                </a:solidFill>
              </a:rPr>
              <a:t> High ADR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614388"/>
              </p:ext>
            </p:extLst>
          </p:nvPr>
        </p:nvGraphicFramePr>
        <p:xfrm>
          <a:off x="548639" y="4120773"/>
          <a:ext cx="11109963" cy="14798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3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39" y="5645229"/>
            <a:ext cx="11117579" cy="5868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2277571"/>
        </p:xfrm>
        <a:graphic>
          <a:graphicData uri="http://schemas.openxmlformats.org/drawingml/2006/table">
            <a:tbl>
              <a:tblPr/>
              <a:tblGrid>
                <a:gridCol w="983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04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126479" y="5251797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Revenue is −5.8% vs LY and OPEX is higher — possibly from the shift toward OTA (commissions). GOP is −12% vs last year and JV expense is also higher (Due to House and building tax for 3 </a:t>
            </a:r>
            <a:r>
              <a:rPr lang="en-US" sz="1200" dirty="0" err="1">
                <a:solidFill>
                  <a:schemeClr val="tx1"/>
                </a:solidFill>
              </a:rPr>
              <a:t>yesra</a:t>
            </a:r>
            <a:r>
              <a:rPr lang="en-US" sz="1200" dirty="0">
                <a:solidFill>
                  <a:schemeClr val="tx1"/>
                </a:solidFill>
              </a:rPr>
              <a:t> passed),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36165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606235"/>
              </p:ext>
            </p:extLst>
          </p:nvPr>
        </p:nvGraphicFramePr>
        <p:xfrm>
          <a:off x="548639" y="5724144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SP: ahead of budget in Jan–Feb high season; Mar–Jun broadly on plan — the re-based Pattaya STR shows a level market.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4874319"/>
            <a:ext cx="6144768" cy="6685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Biggest H1 gain: China (+805 RN) · biggest decline: United States (-965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Key %changes come from Australia, Israel and Thailand.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ADR in Pattaya did not increase vs LY for any nationality.</a:t>
            </a:r>
            <a:endParaRPr lang="en-US" sz="1200" dirty="0">
              <a:solidFill>
                <a:sysClr val="windowText" lastClr="000000"/>
              </a:solidFill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 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2224112"/>
        </p:xfrm>
        <a:graphic>
          <a:graphicData uri="http://schemas.openxmlformats.org/drawingml/2006/table">
            <a:tbl>
              <a:tblPr/>
              <a:tblGrid>
                <a:gridCol w="983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0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126479" y="5112039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similar to last year and OPEX is managed slightly better, but JV expense is higher than last year</a:t>
            </a:r>
            <a:r>
              <a:rPr lang="th-TH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bc</a:t>
            </a:r>
            <a:r>
              <a:rPr lang="en-US" sz="1200" dirty="0">
                <a:solidFill>
                  <a:schemeClr val="tx1"/>
                </a:solidFill>
              </a:rPr>
              <a:t> other expense, which makes EBIT lower.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NPAT improves because </a:t>
            </a:r>
            <a:r>
              <a:rPr lang="en-US" sz="1200" dirty="0">
                <a:solidFill>
                  <a:srgbClr val="FF0000"/>
                </a:solidFill>
              </a:rPr>
              <a:t>of no more bank loan ?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6F3A157-32E6-3939-F000-BD929E7F3C7B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1552851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14106</TotalTime>
  <Words>7360</Words>
  <Application>Microsoft Office PowerPoint</Application>
  <PresentationFormat>Widescreen</PresentationFormat>
  <Paragraphs>2697</Paragraphs>
  <Slides>35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 Narrow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10</cp:revision>
  <dcterms:created xsi:type="dcterms:W3CDTF">2026-07-24T09:01:49Z</dcterms:created>
  <dcterms:modified xsi:type="dcterms:W3CDTF">2026-08-04T10:16:41Z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