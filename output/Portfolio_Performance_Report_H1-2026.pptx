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78.5</c:v>
                </c:pt>
                <c:pt idx="1">
                  <c:v>79.3</c:v>
                </c:pt>
                <c:pt idx="2">
                  <c:v>69.5</c:v>
                </c:pt>
                <c:pt idx="3">
                  <c:v>62.4</c:v>
                </c:pt>
                <c:pt idx="4">
                  <c:v>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75.6</c:v>
                </c:pt>
                <c:pt idx="1">
                  <c:v>82.2068</c:v>
                </c:pt>
                <c:pt idx="2">
                  <c:v>73.2</c:v>
                </c:pt>
                <c:pt idx="3">
                  <c:v>64.6437</c:v>
                </c:pt>
                <c:pt idx="4">
                  <c:v>65.7004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4793.19</c:v>
                </c:pt>
                <c:pt idx="1">
                  <c:v>4486.45</c:v>
                </c:pt>
                <c:pt idx="2">
                  <c:v>4027.75</c:v>
                </c:pt>
                <c:pt idx="3">
                  <c:v>4003.5</c:v>
                </c:pt>
                <c:pt idx="4">
                  <c:v>3809.72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4299.53</c:v>
                </c:pt>
                <c:pt idx="1">
                  <c:v>4360.63</c:v>
                </c:pt>
                <c:pt idx="2">
                  <c:v>3948.63</c:v>
                </c:pt>
                <c:pt idx="3">
                  <c:v>3848.0037</c:v>
                </c:pt>
                <c:pt idx="4">
                  <c:v>3657.4802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3764.85</c:v>
                </c:pt>
                <c:pt idx="1">
                  <c:v>3559.08</c:v>
                </c:pt>
                <c:pt idx="2">
                  <c:v>2801.28</c:v>
                </c:pt>
                <c:pt idx="3">
                  <c:v>2500.09</c:v>
                </c:pt>
                <c:pt idx="4">
                  <c:v>2418.1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3251.28</c:v>
                </c:pt>
                <c:pt idx="1">
                  <c:v>3517.92</c:v>
                </c:pt>
                <c:pt idx="2">
                  <c:v>2890.16</c:v>
                </c:pt>
                <c:pt idx="3">
                  <c:v>2487.4915</c:v>
                </c:pt>
                <c:pt idx="4">
                  <c:v>2402.9795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83.1</c:v>
                </c:pt>
                <c:pt idx="1">
                  <c:v>83.4</c:v>
                </c:pt>
                <c:pt idx="2">
                  <c:v>76.7</c:v>
                </c:pt>
                <c:pt idx="3">
                  <c:v>69.5</c:v>
                </c:pt>
                <c:pt idx="4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83.6165</c:v>
                </c:pt>
                <c:pt idx="1">
                  <c:v>86.5197</c:v>
                </c:pt>
                <c:pt idx="2">
                  <c:v>72.5137</c:v>
                </c:pt>
                <c:pt idx="3">
                  <c:v>65.9959</c:v>
                </c:pt>
                <c:pt idx="4">
                  <c:v>62.8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5208.15</c:v>
                </c:pt>
                <c:pt idx="1">
                  <c:v>4612.57</c:v>
                </c:pt>
                <c:pt idx="2">
                  <c:v>4373.66</c:v>
                </c:pt>
                <c:pt idx="3">
                  <c:v>4524.02</c:v>
                </c:pt>
                <c:pt idx="4">
                  <c:v>4053.29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4742.4014</c:v>
                </c:pt>
                <c:pt idx="1">
                  <c:v>4806.2288</c:v>
                </c:pt>
                <c:pt idx="2">
                  <c:v>4125.6256</c:v>
                </c:pt>
                <c:pt idx="3">
                  <c:v>4217.4482</c:v>
                </c:pt>
                <c:pt idx="4">
                  <c:v>3927.9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4328.28</c:v>
                </c:pt>
                <c:pt idx="1">
                  <c:v>3846.54</c:v>
                </c:pt>
                <c:pt idx="2">
                  <c:v>3353.57</c:v>
                </c:pt>
                <c:pt idx="3">
                  <c:v>3144.14</c:v>
                </c:pt>
                <c:pt idx="4">
                  <c:v>2676.56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3965.4312</c:v>
                </c:pt>
                <c:pt idx="1">
                  <c:v>4158.3347</c:v>
                </c:pt>
                <c:pt idx="2">
                  <c:v>2991.6455</c:v>
                </c:pt>
                <c:pt idx="3">
                  <c:v>2783.3424</c:v>
                </c:pt>
                <c:pt idx="4">
                  <c:v>2466.6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2741.09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3058.05</c:v>
                </c:pt>
                <c:pt idx="1">
                  <c:v>2793.58</c:v>
                </c:pt>
                <c:pt idx="2">
                  <c:v>2045.19</c:v>
                </c:pt>
                <c:pt idx="3">
                  <c:v>2131.35</c:v>
                </c:pt>
                <c:pt idx="4">
                  <c:v>1956.58</c:v>
                </c:pt>
                <c:pt idx="5">
                  <c:v>1851.88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2604.8243</c:v>
                </c:pt>
                <c:pt idx="1">
                  <c:v>2840.8008</c:v>
                </c:pt>
                <c:pt idx="2">
                  <c:v>2283.7286</c:v>
                </c:pt>
                <c:pt idx="3">
                  <c:v>2267.7216</c:v>
                </c:pt>
                <c:pt idx="4">
                  <c:v>2029.1881</c:v>
                </c:pt>
                <c:pt idx="5">
                  <c:v>2045.1259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2850.923</c:v>
                </c:pt>
                <c:pt idx="1">
                  <c:v>3468.362</c:v>
                </c:pt>
                <c:pt idx="2">
                  <c:v>2447.0001</c:v>
                </c:pt>
                <c:pt idx="3">
                  <c:v>2181.6408</c:v>
                </c:pt>
                <c:pt idx="4">
                  <c:v>1861.3994</c:v>
                </c:pt>
                <c:pt idx="5">
                  <c:v>1994.0185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3407.283</c:v>
                </c:pt>
                <c:pt idx="1">
                  <c:v>3008.632</c:v>
                </c:pt>
                <c:pt idx="2">
                  <c:v>2031.386</c:v>
                </c:pt>
                <c:pt idx="3">
                  <c:v>2354.076</c:v>
                </c:pt>
                <c:pt idx="4">
                  <c:v>2193.835</c:v>
                </c:pt>
                <c:pt idx="5">
                  <c:v>2097.018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1464.6086</c:v>
                </c:pt>
                <c:pt idx="1">
                  <c:v>1500.0719</c:v>
                </c:pt>
                <c:pt idx="2">
                  <c:v>1132.066</c:v>
                </c:pt>
                <c:pt idx="3">
                  <c:v>731.0159</c:v>
                </c:pt>
                <c:pt idx="4">
                  <c:v>878.973</c:v>
                </c:pt>
                <c:pt idx="5">
                  <c:v>755.5935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1458.114</c:v>
                </c:pt>
                <c:pt idx="2">
                  <c:v>1049.436</c:v>
                </c:pt>
                <c:pt idx="3">
                  <c:v>1022.25</c:v>
                </c:pt>
                <c:pt idx="4">
                  <c:v>912.912</c:v>
                </c:pt>
                <c:pt idx="5">
                  <c:v>843.5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3587.5698</c:v>
                </c:pt>
                <c:pt idx="1">
                  <c:v>3506.1803</c:v>
                </c:pt>
                <c:pt idx="2">
                  <c:v>2721.4802</c:v>
                </c:pt>
                <c:pt idx="3">
                  <c:v>2574.3868</c:v>
                </c:pt>
                <c:pt idx="4">
                  <c:v>2151.6444</c:v>
                </c:pt>
                <c:pt idx="5">
                  <c:v>2109.8639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20607</c:v>
                </c:pt>
                <c:pt idx="1">
                  <c:v>4789</c:v>
                </c:pt>
                <c:pt idx="2">
                  <c:v>1865</c:v>
                </c:pt>
                <c:pt idx="3">
                  <c:v>916</c:v>
                </c:pt>
                <c:pt idx="4">
                  <c:v>1563</c:v>
                </c:pt>
                <c:pt idx="5">
                  <c:v>1591</c:v>
                </c:pt>
                <c:pt idx="6">
                  <c:v>1366</c:v>
                </c:pt>
                <c:pt idx="7">
                  <c:v>2286</c:v>
                </c:pt>
                <c:pt idx="8">
                  <c:v>694</c:v>
                </c:pt>
                <c:pt idx="9">
                  <c:v>743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22631</c:v>
                </c:pt>
                <c:pt idx="1">
                  <c:v>4117</c:v>
                </c:pt>
                <c:pt idx="2">
                  <c:v>2594</c:v>
                </c:pt>
                <c:pt idx="3">
                  <c:v>1494</c:v>
                </c:pt>
                <c:pt idx="4">
                  <c:v>1690</c:v>
                </c:pt>
                <c:pt idx="5">
                  <c:v>1444</c:v>
                </c:pt>
                <c:pt idx="6">
                  <c:v>1465</c:v>
                </c:pt>
                <c:pt idx="7">
                  <c:v>1535</c:v>
                </c:pt>
                <c:pt idx="8">
                  <c:v>810</c:v>
                </c:pt>
                <c:pt idx="9">
                  <c:v>844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11376</c:v>
                </c:pt>
                <c:pt idx="1">
                  <c:v>1887</c:v>
                </c:pt>
                <c:pt idx="2">
                  <c:v>51</c:v>
                </c:pt>
                <c:pt idx="3">
                  <c:v>1500</c:v>
                </c:pt>
                <c:pt idx="4">
                  <c:v>1327</c:v>
                </c:pt>
                <c:pt idx="5">
                  <c:v>926</c:v>
                </c:pt>
                <c:pt idx="6">
                  <c:v>1058</c:v>
                </c:pt>
                <c:pt idx="7">
                  <c:v>997</c:v>
                </c:pt>
                <c:pt idx="8">
                  <c:v>1538</c:v>
                </c:pt>
                <c:pt idx="9">
                  <c:v>1062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12893</c:v>
                </c:pt>
                <c:pt idx="1">
                  <c:v>2576</c:v>
                </c:pt>
                <c:pt idx="2">
                  <c:v>2919</c:v>
                </c:pt>
                <c:pt idx="3">
                  <c:v>1222</c:v>
                </c:pt>
                <c:pt idx="4">
                  <c:v>1237</c:v>
                </c:pt>
                <c:pt idx="5">
                  <c:v>1131</c:v>
                </c:pt>
                <c:pt idx="6">
                  <c:v>1288</c:v>
                </c:pt>
                <c:pt idx="7">
                  <c:v>1088</c:v>
                </c:pt>
                <c:pt idx="8">
                  <c:v>933</c:v>
                </c:pt>
                <c:pt idx="9">
                  <c:v>896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3197</c:v>
                </c:pt>
                <c:pt idx="1">
                  <c:v>599</c:v>
                </c:pt>
                <c:pt idx="2">
                  <c:v>1884</c:v>
                </c:pt>
                <c:pt idx="3">
                  <c:v>1503</c:v>
                </c:pt>
                <c:pt idx="4">
                  <c:v>783</c:v>
                </c:pt>
                <c:pt idx="5">
                  <c:v>1075</c:v>
                </c:pt>
                <c:pt idx="6">
                  <c:v>1611</c:v>
                </c:pt>
                <c:pt idx="7">
                  <c:v>627</c:v>
                </c:pt>
                <c:pt idx="8">
                  <c:v>928</c:v>
                </c:pt>
                <c:pt idx="9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3846</c:v>
                </c:pt>
                <c:pt idx="1">
                  <c:v>1568</c:v>
                </c:pt>
                <c:pt idx="2">
                  <c:v>1693</c:v>
                </c:pt>
                <c:pt idx="3">
                  <c:v>1410</c:v>
                </c:pt>
                <c:pt idx="4">
                  <c:v>1117</c:v>
                </c:pt>
                <c:pt idx="5">
                  <c:v>882</c:v>
                </c:pt>
                <c:pt idx="6">
                  <c:v>1132</c:v>
                </c:pt>
                <c:pt idx="7">
                  <c:v>797</c:v>
                </c:pt>
                <c:pt idx="8">
                  <c:v>634</c:v>
                </c:pt>
                <c:pt idx="9">
                  <c:v>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YTD (Jan–Apr)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7031</c:v>
                </c:pt>
                <c:pt idx="1">
                  <c:v>2029</c:v>
                </c:pt>
                <c:pt idx="2">
                  <c:v>1945</c:v>
                </c:pt>
                <c:pt idx="3">
                  <c:v>1944</c:v>
                </c:pt>
                <c:pt idx="4">
                  <c:v>2759</c:v>
                </c:pt>
                <c:pt idx="5">
                  <c:v>1644</c:v>
                </c:pt>
                <c:pt idx="6">
                  <c:v>1792</c:v>
                </c:pt>
                <c:pt idx="7">
                  <c:v>1529</c:v>
                </c:pt>
                <c:pt idx="8">
                  <c:v>908</c:v>
                </c:pt>
                <c:pt idx="9">
                  <c:v>1175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7375</c:v>
                </c:pt>
                <c:pt idx="1">
                  <c:v>2345</c:v>
                </c:pt>
                <c:pt idx="2">
                  <c:v>2452</c:v>
                </c:pt>
                <c:pt idx="3">
                  <c:v>2356</c:v>
                </c:pt>
                <c:pt idx="4">
                  <c:v>1735</c:v>
                </c:pt>
                <c:pt idx="5">
                  <c:v>1946</c:v>
                </c:pt>
                <c:pt idx="6">
                  <c:v>1571</c:v>
                </c:pt>
                <c:pt idx="7">
                  <c:v>1497</c:v>
                </c:pt>
                <c:pt idx="8">
                  <c:v>1429</c:v>
                </c:pt>
                <c:pt idx="9">
                  <c:v>1180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performance vs budget · Segmentation &amp;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(arrivals &amp; STR through May)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Jan–May vs same period 2025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 · still 48%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OCCUPANCY YTD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YTD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slightly below last year, but China (+18%), India (+8%) and long-haul are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-4.2%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softening — Bangkok and Pattaya compset RevPAR are both below last year — and the portfolio is holding up slightly better than the market (−0.6% vs LY).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data through May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(14.36M)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Jan–May. ‘26 vs 25’ row compares each month; the Total cell compares Jan–May of both years (−2.3%). COVID years 2020–2022 shown for context.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4,813,732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2,911,370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1,958,939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2,318,312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842,580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1,056,729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200,589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149,709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Jan–May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4.67M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 — ADR excludes breakfast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+1.6 pts   ·   ADR -4.8%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market: occupancy holding above last year, but rate is down — the market is buying occupancy with price.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-1.5 pts   ·   ADR -4.2%   ·   RevPAR -5.7%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market: strong high season (Jan–Feb) then softening from March; rates broadly below 2025.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each property — Occ, ADR, RevPAR ·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(Songkran).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pts vs budget · +3.8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 · -3.3%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 vs budget · +1.5%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 pts vs budget · +2.6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 · -5.8%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 vs budget · -2.2%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 pts vs budget · -0.8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 · -5.0%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฿1,074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 · -6.0%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 · +3.8 pts vs 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 · -4.9% vs 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฿2,768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+0.3% vs LY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in a softer Pattaya market.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and guest nationality — each property,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China (+2,024 RN) · biggest decline: Korea (-751 RN).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Finland (+2,868 RN) · biggest decline: Korea (-605 RN).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Indonesia (+969 RN) · biggest decline: USA (-479 RN).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by room nights, YTD Jan–Apr 2026 vs 2025 (left) · monthly share of room nights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5778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YTD gain: Australia (+521 RN) · biggest decline: United States (-1,024 RN).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May.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/ compset: Bangkok and Pattaya competitive-set Occ, ADR, RevPAR from the Compset tab (ADR excludes breakfast).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Summary tab of the reconciled workbook (Segment_Half_year_version_1_ALL-reconciled.xlsx) — actuals, budget (BG rows) and 2025.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nationality: property tabs (2026 Jan–Jun) and Summary-1 top-10 nationality tables (Jan–Apr).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&amp; SP June 2026 revenue estimated from Occ × ADR (source revenue available through May).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2026-07-18T13:37:56Z</dcterms:created>
  <dcterms:modified xsi:type="dcterms:W3CDTF">2026-07-18T13:37:56Z</dcterms:modified>
</cp:coreProperties>
</file>