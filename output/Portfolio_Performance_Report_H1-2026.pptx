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285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6" r:id="rId39"/>
    <p:sldId id="307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052" autoAdjust="0"/>
  </p:normalViewPr>
  <p:slideViewPr>
    <p:cSldViewPr snapToGrid="0" snapToObjects="1">
      <p:cViewPr>
        <p:scale>
          <a:sx n="91" d="100"/>
          <a:sy n="91" d="100"/>
        </p:scale>
        <p:origin x="16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55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1153</c:v>
                </c:pt>
                <c:pt idx="8">
                  <c:v>2214</c:v>
                </c:pt>
                <c:pt idx="9">
                  <c:v>1426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740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+Estimate data in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จีน โต อนเดียโต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 </a:t>
            </a:r>
            <a:r>
              <a:rPr lang="th-TH" dirty="0"/>
              <a:t>มีผลกระทบที่สำคัญ</a:t>
            </a:r>
          </a:p>
          <a:p>
            <a:r>
              <a:rPr lang="th-TH" dirty="0"/>
              <a:t>ตลาดตกจริงเพราะ</a:t>
            </a:r>
            <a:r>
              <a:rPr lang="en-US" dirty="0"/>
              <a:t>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Domestic demand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</a:t>
            </a:r>
            <a:r>
              <a:rPr lang="th-TH" dirty="0"/>
              <a:t>น้ำมันแพง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r>
              <a:rPr lang="en-US" dirty="0"/>
              <a:t>Pattern same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opex</a:t>
            </a:r>
            <a:r>
              <a:rPr lang="en-US" dirty="0"/>
              <a:t> is good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Soften down lei sure to Corporate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26292E"/>
                </a:solidFill>
                <a:latin typeface="Calibri"/>
              </a:rPr>
              <a:t>(Estimate + actual)</a:t>
            </a:r>
            <a:endParaRPr lang="en-US" dirty="0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dirty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60 days free</a:t>
            </a:r>
          </a:p>
          <a:p>
            <a:pPr algn="ctr"/>
            <a:r>
              <a:rPr lang="en-US" sz="1100" dirty="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39" y="599890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China is recovering vs 2025 (+14.8%), but is still only ~46% of pre-COVID.</a:t>
            </a:r>
          </a:p>
          <a:p>
            <a:r>
              <a:rPr sz="1200">
                <a:latin typeface="Calibri"/>
              </a:rPr>
              <a:t>India is the strongest growth market — +24% in January and a record H1.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1868506" y="3109627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28486" y="553067"/>
            <a:ext cx="292609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Middle East volumes dropped sharply from February — the regional war effect.</a:t>
            </a:r>
          </a:p>
          <a:p>
            <a:r>
              <a:rPr sz="1200">
                <a:latin typeface="Calibri"/>
              </a:rPr>
              <a:t>Long-haul held up: a strong Jan–Feb offset a softer April.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26987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Even though total arrivals are −3%, international arrivals in Bangkok are similar to LY (−0.1%) — the overall drop came from Phuket and Pattaya, not Bangkok.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The Bangkok hotel market runs Occ +2.3%, ADR −1.3% → RevPAR +0.9%; the rise in visitors explains the higher occupancy.</a:t>
            </a:r>
          </a:p>
          <a:p>
            <a:r>
              <a:rPr sz="1200">
                <a:latin typeface="Calibri"/>
              </a:rPr>
              <a:t>By class, Luxury is the only one holding rate (+1.1%). Every class below it cut price — and the lower the tier, the deeper the ADR cut.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0744408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In the Pattaya area, arrivals are −2.7% vs LY — mostly from foreigners (−5.4% vs LY).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dirty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demand down (arrivals −2.7%) → market gave up occupancy (−2.6%) but held rate (ADR −0.1% = flat; Jan/Feb swing = CNY timing, May–Jun ADR −3~4%).</a:t>
            </a:r>
          </a:p>
          <a:p>
            <a:endParaRPr lang="en-US" sz="1200" i="1" dirty="0">
              <a:solidFill>
                <a:sysClr val="windowText" lastClr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92440" y="5029874"/>
            <a:ext cx="3804285" cy="142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RevPAR is ~4% behind budget, driven mainly by rate (ADR −3.4%); occupancy is near plan (−1.0%). Vs last year RevPAR is broadly flat. April was the softest month — driven by AES (−16% RevPAR vs budget, about half the gap) and LYF (occupancy 50% vs the 83% budgeted), not really the market: the re-based Bangkok market actually grew RevPAR in April (+3.0%) and Pattaya was level — the April miss was property-specific.</a:t>
            </a:r>
            <a:endParaRPr lang="en-US" sz="1050" dirty="0"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฿644.7M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179987" y="5286106"/>
            <a:ext cx="5460325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revenue is −9.7% vs MF budget, but NPAT is on plan (+฿0.3M) — cost control offset the rate shortfall. EBIT is −11.0% vs budget.</a:t>
            </a:r>
            <a:endParaRPr lang="en-US" sz="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7181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26187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SR9 runs close to budget for H1 — February outperformed strongly (CNY), May–Jun slightly behind on rate.</a:t>
            </a:r>
          </a:p>
          <a:p>
            <a:r>
              <a:rPr sz="1200">
                <a:latin typeface="Calibri"/>
              </a:rPr>
              <a:t>Vs last year, occupancy is +4.8% better, turning RevPAR +1.3% above LY.</a:t>
            </a: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401819"/>
            <a:ext cx="6144768" cy="7589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India, Thailand, Indonesia, Singapore and China.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Overall ADR from all Nationality is dropped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677334"/>
            <a:ext cx="11347704" cy="5098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24736"/>
              </p:ext>
            </p:extLst>
          </p:nvPr>
        </p:nvGraphicFramePr>
        <p:xfrm>
          <a:off x="548640" y="4142232"/>
          <a:ext cx="11347704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67267"/>
              </p:ext>
            </p:extLst>
          </p:nvPr>
        </p:nvGraphicFramePr>
        <p:xfrm>
          <a:off x="338328" y="379476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893664"/>
              </p:ext>
            </p:extLst>
          </p:nvPr>
        </p:nvGraphicFramePr>
        <p:xfrm>
          <a:off x="6094476" y="1560576"/>
          <a:ext cx="5545835" cy="1946205"/>
        </p:xfrm>
        <a:graphic>
          <a:graphicData uri="http://schemas.openxmlformats.org/drawingml/2006/table">
            <a:tbl>
              <a:tblPr/>
              <a:tblGrid>
                <a:gridCol w="989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5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1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1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4477" y="4942332"/>
            <a:ext cx="5545836" cy="12070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Key takeaway : On revenue, H1 is better than last year, but OPEX is +0.6% vs LY.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GOP beats LY even with the lower ADR, and the margin is about the same.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However, JV expense is higher than LY because </a:t>
            </a:r>
            <a:r>
              <a:rPr lang="en-US" sz="1200" dirty="0">
                <a:solidFill>
                  <a:srgbClr val="FF0000"/>
                </a:solidFill>
              </a:rPr>
              <a:t>[xxx], </a:t>
            </a:r>
            <a:r>
              <a:rPr lang="en-US" sz="1200" dirty="0">
                <a:solidFill>
                  <a:schemeClr val="tx1"/>
                </a:solidFill>
              </a:rPr>
              <a:t>so EBIT comes in below both LY (−฿1.7M). NPAT, on the other hand, is better than LY.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Compare to BG </a:t>
            </a:r>
            <a:r>
              <a:rPr lang="en-US" sz="1200" dirty="0" err="1">
                <a:solidFill>
                  <a:schemeClr val="tx1"/>
                </a:solidFill>
              </a:rPr>
              <a:t>Revenure</a:t>
            </a:r>
            <a:r>
              <a:rPr lang="en-US" sz="1200" dirty="0">
                <a:solidFill>
                  <a:schemeClr val="tx1"/>
                </a:solidFill>
              </a:rPr>
              <a:t> side shortfall to BG. EBIT is shortfall -11.3%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But NPAT can +6.2 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60436" y="5467746"/>
            <a:ext cx="3685031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Vs last year, AES did well on occupancy (+3.8%) but could not yield ADR, turning RevPAR −2.2% below LY.</a:t>
            </a:r>
          </a:p>
          <a:p>
            <a:r>
              <a:rPr sz="120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+4,050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752236"/>
            <a:ext cx="6144768" cy="8949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(+2,867 RN, from just 55 last year) · biggest decline: Korea (−910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Japan, followed by China. New nationalities this year are the UK, Finland and Taiwan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Diversify other nationalities.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611757"/>
              </p:ext>
            </p:extLst>
          </p:nvPr>
        </p:nvGraphicFramePr>
        <p:xfrm>
          <a:off x="606669" y="4169663"/>
          <a:ext cx="11109959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2"/>
            <a:ext cx="11117579" cy="946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group has grown almost 30–40% vs H1 last year, and group bookings are +185% vs LY — implying AES is shifting to secure group business both LS and 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Cannot boost the wholesale, due to the low rate and in leisure retail price. High rate cut competition in this area.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997996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988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3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3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79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11996780" y="1353312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79" y="5047487"/>
            <a:ext cx="5513833" cy="171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down −3.3% vs LY, but OPEX is managed better: −6.0% (about ฿6M). GOP margin improves +2.5% and JV expense is better, so EBIT and NPAT both beat LY. The key reason is AES managing OPEX well — and owner expenses are lower because in house and building tax over </a:t>
            </a:r>
            <a:r>
              <a:rPr lang="en-US" sz="1200" dirty="0" err="1">
                <a:solidFill>
                  <a:schemeClr val="tx1"/>
                </a:solidFill>
              </a:rPr>
              <a:t>accured</a:t>
            </a:r>
            <a:r>
              <a:rPr lang="en-US" sz="1200" dirty="0">
                <a:solidFill>
                  <a:schemeClr val="tx1"/>
                </a:solidFill>
              </a:rPr>
              <a:t>. And in 2026 already paid the House and the building tax.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From budget, The high gap rev shortfall about -12%. But in term of GOP margin they can do better than the budget. Also improve in JV expense so NPAT short fall a small gap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540161"/>
              </p:ext>
            </p:extLst>
          </p:nvPr>
        </p:nvGraphicFramePr>
        <p:xfrm>
          <a:off x="548640" y="5687568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148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r>
              <a:rPr sz="1200">
                <a:latin typeface="Calibri"/>
              </a:rPr>
              <a:t>Overall, LYF cannot hit budget and is performing softer than last year as well.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27252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+1,961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063581"/>
            <a:ext cx="6144768" cy="1108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Key changes come from Indonesia (+198%), China, Taiwan and Japan; Germany is flat (740 → 741 RN) — it entered the top-10 only because others fell, while the USA and UK dropped. This helps explain the ADR drop: the higher-spending nationalities have faded, pulling the overall ADR down.</a:t>
            </a:r>
          </a:p>
          <a:p>
            <a:pPr algn="ctr"/>
            <a:endParaRPr lang="en-US" sz="1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Mostly we were challenged with ADR ^nationality drop ADR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Drop </a:t>
            </a:r>
            <a:r>
              <a:rPr lang="en-US" sz="1200" dirty="0" err="1">
                <a:solidFill>
                  <a:sysClr val="windowText" lastClr="000000"/>
                </a:solidFill>
              </a:rPr>
              <a:t>Nationlity</a:t>
            </a:r>
            <a:r>
              <a:rPr lang="en-US" sz="1200" dirty="0">
                <a:solidFill>
                  <a:sysClr val="windowText" lastClr="000000"/>
                </a:solidFill>
              </a:rPr>
              <a:t> High ADR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614388"/>
              </p:ext>
            </p:extLst>
          </p:nvPr>
        </p:nvGraphicFramePr>
        <p:xfrm>
          <a:off x="548639" y="4120773"/>
          <a:ext cx="11109963" cy="14798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3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39" y="5645229"/>
            <a:ext cx="11117579" cy="5868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983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79" y="5251797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Revenue is −5.8% vs LY and OPEX is higher — possibly from the shift toward OTA (commissions). GOP is −12% vs last year and JV expense is also higher (Due to House and building tax for 3 </a:t>
            </a:r>
            <a:r>
              <a:rPr lang="en-US" sz="1200" dirty="0" err="1">
                <a:solidFill>
                  <a:schemeClr val="tx1"/>
                </a:solidFill>
              </a:rPr>
              <a:t>yesra</a:t>
            </a:r>
            <a:r>
              <a:rPr lang="en-US" sz="1200" dirty="0">
                <a:solidFill>
                  <a:schemeClr val="tx1"/>
                </a:solidFill>
              </a:rPr>
              <a:t> passed),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6235"/>
              </p:ext>
            </p:extLst>
          </p:nvPr>
        </p:nvGraphicFramePr>
        <p:xfrm>
          <a:off x="548639" y="5724144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SP was ahead of budget in the Jan–Feb high season and broadly on plan Mar–Jun — the re-based Pattaya STR shows a level market.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4874319"/>
            <a:ext cx="6144768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Biggest H1 gain: China (+805 RN) · biggest decline: United States (-965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Key %changes come from Australia, Israel and Thailand.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ADR in Pattaya did not increase vs LY for any nationality.</a:t>
            </a:r>
            <a:endParaRPr lang="en-US" sz="1200" dirty="0">
              <a:solidFill>
                <a:sysClr val="windowText" lastClr="000000"/>
              </a:solidFill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983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9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similar to last year and OPEX is managed slightly better, but JV expense is higher than last year</a:t>
            </a:r>
            <a:r>
              <a:rPr lang="th-TH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bc</a:t>
            </a:r>
            <a:r>
              <a:rPr lang="en-US" sz="1200" dirty="0">
                <a:solidFill>
                  <a:schemeClr val="tx1"/>
                </a:solidFill>
              </a:rPr>
              <a:t> other expense, which makes EBIT lower.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NPAT improves because </a:t>
            </a:r>
            <a:r>
              <a:rPr lang="en-US" sz="1200" dirty="0">
                <a:solidFill>
                  <a:srgbClr val="FF0000"/>
                </a:solidFill>
              </a:rPr>
              <a:t>of no more bank loan ?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6F3A157-32E6-3939-F000-BD929E7F3C7B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1552851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 —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Fact check — by volume the biggest losses are short-haul: Malaysia −213k, Cambodia −193k, Korea −172k, Laos −127k; the Middle East itself is −81k. China (+379k) and India (+63k) grew.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April was the weakest full-data month: −7.0% vs April 2025 — high fuel prices a possible driver [TBC — not verifiable from our data].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WHAT IT MEANS FOR OUR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−2.6% — yet SP outperformed its market (Occ +5.3%, RevPAR +0.2% vs LY).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14134</TotalTime>
  <Words>8051</Words>
  <Application>Microsoft Office PowerPoint</Application>
  <PresentationFormat>Widescreen</PresentationFormat>
  <Paragraphs>2802</Paragraphs>
  <Slides>36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11</cp:revision>
  <dcterms:created xsi:type="dcterms:W3CDTF">2026-07-24T09:01:49Z</dcterms:created>
  <dcterms:modified xsi:type="dcterms:W3CDTF">2026-08-05T03:16:25Z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