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98" d="100"/>
          <a:sy n="98" d="100"/>
        </p:scale>
        <p:origin x="103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760597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39" y="599890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China is recovering vs 2025 (+14.8%), but is still only ~46% of pre-COVID.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Middle East volumes dropped sharply from February — the regional war effect.</a:t>
            </a:r>
          </a:p>
          <a:p>
            <a:r>
              <a:rPr sz="1200"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The Bangkok hotel market runs Occ +2.3%, ADR −1.3% → RevPAR +0.9%; the rise in visitors explains the higher occupancy.</a:t>
            </a:r>
          </a:p>
          <a:p>
            <a:r>
              <a:rPr sz="120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>
              <a:solidFill>
                <a:schemeClr val="tx1"/>
              </a:solidFill>
              <a:latin typeface="Calibri"/>
            </a:endParaRPr>
          </a:p>
          <a:p>
            <a:r>
              <a:rPr sz="120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In the Pattaya area, arrivals are −2.7% vs LY — mostly from foreigners (−5.4% vs LY).</a:t>
            </a:r>
          </a:p>
          <a:p>
            <a:r>
              <a:rPr lang="en-US" sz="120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demand down (arrivals −2.7%) → market gave up occupancy (−2.6%) but held rate (ADR −0.1% = flat; Jan/Feb swing = CNY timing, May–Jun ADR −3~4%).</a:t>
            </a:r>
          </a:p>
          <a:p>
            <a:endParaRPr lang="en-US" sz="1200" i="1" dirty="0">
              <a:solidFill>
                <a:sysClr val="windowText" lastClr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00809" y="5001668"/>
            <a:ext cx="3804285" cy="16601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RevPAR is ~4% behind budget, driven mainly by rate (ADR −3.4%); occupancy is near plan (−1.0%). Vs last year, RevPAR is broadly flat.</a:t>
            </a:r>
          </a:p>
          <a:p>
            <a:r>
              <a:rPr sz="1050"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฿644.7M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+฿32.7M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−฿30.1M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099048" y="5120640"/>
            <a:ext cx="5541264" cy="16459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Portfolio revenue is −9.7% vs MF budget, but NPAT is on plan (+฿0.3M) —</a:t>
            </a:r>
          </a:p>
          <a:p>
            <a:endParaRPr lang="en-US" sz="1200" i="1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950" i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 offset the rate shortfall (Lower interest expense due to loan repayment). EBIT is −11.0% vs budget.</a:t>
            </a:r>
            <a:endParaRPr lang="en-US" sz="8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SR9 runs close to budget for H1 — February outperformed strongly (CNY), May–Jun slightly behind on ADR.</a:t>
            </a:r>
          </a:p>
          <a:p>
            <a:r>
              <a:rPr sz="1200" dirty="0">
                <a:latin typeface="Calibri"/>
              </a:rPr>
              <a:t>Vs last year, occupancy is +4.8% better, turning RevPAR +1.3% above LY.</a:t>
            </a: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271364"/>
            <a:ext cx="6144768" cy="9008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r>
              <a:rPr sz="1200"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r>
              <a:rPr sz="1200"/>
              <a:t>Online bookings also grew this year — and some corporate business is now mixed into OTA, since B2B channels book through the OTA as well.</a:t>
            </a:r>
          </a:p>
          <a:p>
            <a:r>
              <a:rPr sz="1200"/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35" cy="2011680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623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8" y="4846320"/>
            <a:ext cx="5541264" cy="19385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sz="9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  <a:p>
            <a:r>
              <a:rPr sz="950"/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60437" y="5467746"/>
            <a:ext cx="3520440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Vs last year, AES did well on occupancy (+3.8%) but could not yield ADR, turning RevPAR −2.2% below LY.</a:t>
            </a:r>
          </a:p>
          <a:p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r>
              <a:rPr sz="1200"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2"/>
            <a:ext cx="11117579" cy="9464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r>
              <a:rPr sz="1200"/>
              <a:t>ASR bookings grew +50% (Ascott is pushing ASR) but still fall short on rate.</a:t>
            </a:r>
          </a:p>
          <a:p>
            <a:r>
              <a:rPr sz="1200"/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+฿7.6M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8" y="5001768"/>
            <a:ext cx="5541264" cy="17830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  <a:p>
            <a:r>
              <a:rPr sz="950"/>
              <a:t>Vs budget: the revenue shortfall is large (−12%), but GOP margin beats budget on OPEX control and JV expense is better — so the EBIT and NPAT gaps end up much smaller.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r>
              <a:rPr sz="1200"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nationalities: China, Indonesia, Malaysia and Singapore.</a:t>
            </a:r>
          </a:p>
          <a:p>
            <a:r>
              <a:rPr sz="1200"/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Largest segment YTD: Online (66% of room nights). Even as OTA volume grew +3%, the OTA rate itself dropped −8%.</a:t>
            </a:r>
          </a:p>
          <a:p>
            <a:r>
              <a:rPr sz="1200"/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75504"/>
            <a:ext cx="5541264" cy="16093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  <a:p>
            <a:r>
              <a:rPr sz="950"/>
              <a:t>Vs budget: revenue −8.4% short, GOP margin −4.6% and EBIT −35% below budget. NPAT is in line with budget (the MF projection carried a ~฿2M interest-and-tax buffer).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7970919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SP was ahead of budget in the Jan–Feb high season and broadly on plan in Mar–Jun.</a:t>
            </a:r>
          </a:p>
          <a:p>
            <a:r>
              <a:rPr sz="1200">
                <a:latin typeface="Calibri"/>
              </a:rPr>
              <a:t>Vs LY: occupancy +5.3% and RevPAR similar to LY.</a:t>
            </a:r>
          </a:p>
          <a:p>
            <a:r>
              <a:rPr sz="1200"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17846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Top gainers: China (+805 RN), Thailand (+639) and Israel (+639), with Russia and Australia also up.</a:t>
            </a:r>
          </a:p>
          <a:p>
            <a:r>
              <a:rPr sz="1200"/>
              <a:t>Biggest decline: United States (−965 RN).</a:t>
            </a:r>
          </a:p>
          <a:p>
            <a:r>
              <a:rPr sz="1200"/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6024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−฿16.7M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+฿8.0M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−฿6.9M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฿31.1M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−฿5.4M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4992624"/>
            <a:ext cx="5541264" cy="17922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r>
              <a:rPr sz="950"/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8694</Words>
  <Application>Microsoft Office PowerPoint</Application>
  <PresentationFormat>Widescreen</PresentationFormat>
  <Paragraphs>2890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2</cp:revision>
  <dcterms:created xsi:type="dcterms:W3CDTF">2026-07-24T09:01:49Z</dcterms:created>
  <dcterms:modified xsi:type="dcterms:W3CDTF">2026-08-19T01:55:50Z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