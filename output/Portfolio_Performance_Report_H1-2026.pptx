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9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2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3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9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0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3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6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37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40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77.56</c:v>
                </c:pt>
                <c:pt idx="1">
                  <c:v>78.65</c:v>
                </c:pt>
                <c:pt idx="2">
                  <c:v>68.83</c:v>
                </c:pt>
                <c:pt idx="3">
                  <c:v>62.27</c:v>
                </c:pt>
                <c:pt idx="4">
                  <c:v>63.27</c:v>
                </c:pt>
                <c:pt idx="5">
                  <c:v>63.67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75.84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65.52</c:v>
                </c:pt>
                <c:pt idx="5">
                  <c:v>64.56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4611.84</c:v>
                </c:pt>
                <c:pt idx="1">
                  <c:v>4292.67</c:v>
                </c:pt>
                <c:pt idx="2">
                  <c:v>3896.31</c:v>
                </c:pt>
                <c:pt idx="3">
                  <c:v>3875.18</c:v>
                </c:pt>
                <c:pt idx="4">
                  <c:v>3644.5</c:v>
                </c:pt>
                <c:pt idx="5">
                  <c:v>3576.56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3576.99</c:v>
                </c:pt>
                <c:pt idx="1">
                  <c:v>3376.38</c:v>
                </c:pt>
                <c:pt idx="2">
                  <c:v>2681.76</c:v>
                </c:pt>
                <c:pt idx="3">
                  <c:v>2412.93</c:v>
                </c:pt>
                <c:pt idx="4">
                  <c:v>2305.9</c:v>
                </c:pt>
                <c:pt idx="5">
                  <c:v>2277.27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3251.07</c:v>
                </c:pt>
                <c:pt idx="1">
                  <c:v>3516.32</c:v>
                </c:pt>
                <c:pt idx="2">
                  <c:v>2887.21</c:v>
                </c:pt>
                <c:pt idx="3">
                  <c:v>2484.47</c:v>
                </c:pt>
                <c:pt idx="4">
                  <c:v>2376.68</c:v>
                </c:pt>
                <c:pt idx="5">
                  <c:v>2337.25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79.06</c:v>
                </c:pt>
                <c:pt idx="1">
                  <c:v>73.76</c:v>
                </c:pt>
                <c:pt idx="2">
                  <c:v>67.96</c:v>
                </c:pt>
                <c:pt idx="3">
                  <c:v>63.13</c:v>
                </c:pt>
                <c:pt idx="4">
                  <c:v>58.16</c:v>
                </c:pt>
                <c:pt idx="5">
                  <c:v>53.54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74.53</c:v>
                </c:pt>
                <c:pt idx="1">
                  <c:v>74.62</c:v>
                </c:pt>
                <c:pt idx="2">
                  <c:v>69.35</c:v>
                </c:pt>
                <c:pt idx="3">
                  <c:v>63.76</c:v>
                </c:pt>
                <c:pt idx="4">
                  <c:v>58.67</c:v>
                </c:pt>
                <c:pt idx="5">
                  <c:v>54.97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3970.6</c:v>
                </c:pt>
                <c:pt idx="1">
                  <c:v>3553.85</c:v>
                </c:pt>
                <c:pt idx="2">
                  <c:v>3319.68</c:v>
                </c:pt>
                <c:pt idx="3">
                  <c:v>3523.02</c:v>
                </c:pt>
                <c:pt idx="4">
                  <c:v>3266.75</c:v>
                </c:pt>
                <c:pt idx="5">
                  <c:v>3029.16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3764.51</c:v>
                </c:pt>
                <c:pt idx="1">
                  <c:v>3932.53</c:v>
                </c:pt>
                <c:pt idx="2">
                  <c:v>3341.82</c:v>
                </c:pt>
                <c:pt idx="3">
                  <c:v>3510.72</c:v>
                </c:pt>
                <c:pt idx="4">
                  <c:v>3258.53</c:v>
                </c:pt>
                <c:pt idx="5">
                  <c:v>3149.52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3139.22</c:v>
                </c:pt>
                <c:pt idx="1">
                  <c:v>2621.32</c:v>
                </c:pt>
                <c:pt idx="2">
                  <c:v>2256.2</c:v>
                </c:pt>
                <c:pt idx="3">
                  <c:v>2224.12</c:v>
                </c:pt>
                <c:pt idx="4">
                  <c:v>1899.8</c:v>
                </c:pt>
                <c:pt idx="5">
                  <c:v>1621.91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2805.61</c:v>
                </c:pt>
                <c:pt idx="1">
                  <c:v>2934.6</c:v>
                </c:pt>
                <c:pt idx="2">
                  <c:v>2317.67</c:v>
                </c:pt>
                <c:pt idx="3">
                  <c:v>2238.46</c:v>
                </c:pt>
                <c:pt idx="4">
                  <c:v>1911.68</c:v>
                </c:pt>
                <c:pt idx="5">
                  <c:v>1731.14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</c:v>
                </c:pt>
                <c:pt idx="1">
                  <c:v>126112350.24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96284030.99</c:v>
                </c:pt>
                <c:pt idx="5">
                  <c:v>106385076.2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110119287.82</c:v>
                </c:pt>
                <c:pt idx="2">
                  <c:v>89952687.94999999</c:v>
                </c:pt>
                <c:pt idx="3">
                  <c:v>91434840.56</c:v>
                </c:pt>
                <c:pt idx="4">
                  <c:v>85699029.23</c:v>
                </c:pt>
                <c:pt idx="5">
                  <c:v>79340898.11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99275487.28999999</c:v>
                </c:pt>
                <c:pt idx="3">
                  <c:v>88366637.05</c:v>
                </c:pt>
                <c:pt idx="4">
                  <c:v>80532064.56</c:v>
                </c:pt>
                <c:pt idx="5">
                  <c:v>78588276.85000001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2730.69</c:v>
                </c:pt>
                <c:pt idx="1">
                  <c:v>2982.22</c:v>
                </c:pt>
                <c:pt idx="2">
                  <c:v>2265.6</c:v>
                </c:pt>
                <c:pt idx="3">
                  <c:v>2090.61</c:v>
                </c:pt>
                <c:pt idx="4">
                  <c:v>1841.57</c:v>
                </c:pt>
                <c:pt idx="5">
                  <c:v>1856.98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2832.97</c:v>
                </c:pt>
                <c:pt idx="1">
                  <c:v>2930.29</c:v>
                </c:pt>
                <c:pt idx="2">
                  <c:v>2196.28</c:v>
                </c:pt>
                <c:pt idx="3">
                  <c:v>2340.56</c:v>
                </c:pt>
                <c:pt idx="4">
                  <c:v>2058.18</c:v>
                </c:pt>
                <c:pt idx="5">
                  <c:v>2015.96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3058.54</c:v>
                </c:pt>
                <c:pt idx="1">
                  <c:v>2793.31</c:v>
                </c:pt>
                <c:pt idx="2">
                  <c:v>2045.24</c:v>
                </c:pt>
                <c:pt idx="3">
                  <c:v>2131.01</c:v>
                </c:pt>
                <c:pt idx="4">
                  <c:v>1956.42</c:v>
                </c:pt>
                <c:pt idx="5">
                  <c:v>1852.21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2550.1</c:v>
                </c:pt>
                <c:pt idx="1">
                  <c:v>3094.52</c:v>
                </c:pt>
                <c:pt idx="2">
                  <c:v>2490.98</c:v>
                </c:pt>
                <c:pt idx="3">
                  <c:v>2681.34</c:v>
                </c:pt>
                <c:pt idx="4">
                  <c:v>2184.75</c:v>
                </c:pt>
                <c:pt idx="5">
                  <c:v>2497.49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</c:v>
                </c:pt>
                <c:pt idx="1">
                  <c:v>41472163.59</c:v>
                </c:pt>
                <c:pt idx="2">
                  <c:v>37684641.26</c:v>
                </c:pt>
                <c:pt idx="3">
                  <c:v>37448282.22</c:v>
                </c:pt>
                <c:pt idx="4">
                  <c:v>37081120.26</c:v>
                </c:pt>
                <c:pt idx="5">
                  <c:v>33416187.35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40471406.76</c:v>
                </c:pt>
                <c:pt idx="1">
                  <c:v>35097386</c:v>
                </c:pt>
                <c:pt idx="2">
                  <c:v>31885906.36</c:v>
                </c:pt>
                <c:pt idx="3">
                  <c:v>28944481.79</c:v>
                </c:pt>
                <c:pt idx="4">
                  <c:v>29907879.42</c:v>
                </c:pt>
                <c:pt idx="5">
                  <c:v>28869835.91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</c:v>
                </c:pt>
                <c:pt idx="1">
                  <c:v>36798669.05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</c:v>
                </c:pt>
                <c:pt idx="5">
                  <c:v>28515831.96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2267.74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</c:v>
                </c:pt>
                <c:pt idx="3">
                  <c:v>2663.561</c:v>
                </c:pt>
                <c:pt idx="4">
                  <c:v>2544.7353</c:v>
                </c:pt>
                <c:pt idx="5">
                  <c:v>2399.04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</c:v>
                </c:pt>
                <c:pt idx="1">
                  <c:v>43940128.82</c:v>
                </c:pt>
                <c:pt idx="2">
                  <c:v>36407936.2</c:v>
                </c:pt>
                <c:pt idx="3">
                  <c:v>37521347.82</c:v>
                </c:pt>
                <c:pt idx="4">
                  <c:v>28302837.65</c:v>
                </c:pt>
                <c:pt idx="5">
                  <c:v>37484972.88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</c:v>
                </c:pt>
                <c:pt idx="1">
                  <c:v>34251573.44</c:v>
                </c:pt>
                <c:pt idx="2">
                  <c:v>25843470.18</c:v>
                </c:pt>
                <c:pt idx="3">
                  <c:v>29043750.92</c:v>
                </c:pt>
                <c:pt idx="4">
                  <c:v>27716956.99</c:v>
                </c:pt>
                <c:pt idx="5">
                  <c:v>25848762.56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35431726.37</c:v>
                </c:pt>
                <c:pt idx="1">
                  <c:v>38907552.45</c:v>
                </c:pt>
                <c:pt idx="2">
                  <c:v>30984315.65</c:v>
                </c:pt>
                <c:pt idx="3">
                  <c:v>26245238.56</c:v>
                </c:pt>
                <c:pt idx="4">
                  <c:v>23379075.13</c:v>
                </c:pt>
                <c:pt idx="5">
                  <c:v>24286103.1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3007.4332</c:v>
                </c:pt>
                <c:pt idx="2">
                  <c:v>2031.3738</c:v>
                </c:pt>
                <c:pt idx="3">
                  <c:v>2352.3757</c:v>
                </c:pt>
                <c:pt idx="4">
                  <c:v>2192.6749</c:v>
                </c:pt>
                <c:pt idx="5">
                  <c:v>2097.2766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</c:v>
                </c:pt>
                <c:pt idx="5">
                  <c:v>3085.802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</c:v>
                </c:pt>
                <c:pt idx="1">
                  <c:v>7331522.84</c:v>
                </c:pt>
                <c:pt idx="2">
                  <c:v>6018438.37</c:v>
                </c:pt>
                <c:pt idx="3">
                  <c:v>5676589.57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8360412.34</c:v>
                </c:pt>
                <c:pt idx="2">
                  <c:v>6748527.73</c:v>
                </c:pt>
                <c:pt idx="3">
                  <c:v>6301518.44</c:v>
                </c:pt>
                <c:pt idx="4">
                  <c:v>5674281.38</c:v>
                </c:pt>
                <c:pt idx="5">
                  <c:v>5270669.65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9283927.729999999</c:v>
                </c:pt>
                <c:pt idx="1">
                  <c:v>8589919.69</c:v>
                </c:pt>
                <c:pt idx="2">
                  <c:v>7238468.92</c:v>
                </c:pt>
                <c:pt idx="3">
                  <c:v>4493751.3</c:v>
                </c:pt>
                <c:pt idx="4">
                  <c:v>5625446.319999999</c:v>
                </c:pt>
                <c:pt idx="5">
                  <c:v>4727539.1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1457.736</c:v>
                </c:pt>
                <c:pt idx="2">
                  <c:v>1049.8835</c:v>
                </c:pt>
                <c:pt idx="3">
                  <c:v>1022.25</c:v>
                </c:pt>
                <c:pt idx="4">
                  <c:v>912.912</c:v>
                </c:pt>
                <c:pt idx="5">
                  <c:v>843.7049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</c:v>
                </c:pt>
                <c:pt idx="1">
                  <c:v>1267.7425</c:v>
                </c:pt>
                <c:pt idx="2">
                  <c:v>966.1211</c:v>
                </c:pt>
                <c:pt idx="3">
                  <c:v>938.718</c:v>
                </c:pt>
                <c:pt idx="4">
                  <c:v>762.8859</c:v>
                </c:pt>
                <c:pt idx="5">
                  <c:v>1017.228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</c:v>
                </c:pt>
                <c:pt idx="1">
                  <c:v>33368534.99</c:v>
                </c:pt>
                <c:pt idx="2">
                  <c:v>29666255.15</c:v>
                </c:pt>
                <c:pt idx="3">
                  <c:v>32611947.12</c:v>
                </c:pt>
                <c:pt idx="4">
                  <c:v>26107678.87</c:v>
                </c:pt>
                <c:pt idx="5">
                  <c:v>29352910.22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40587344.04</c:v>
                </c:pt>
                <c:pt idx="1">
                  <c:v>32409916.04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</c:v>
                </c:pt>
                <c:pt idx="5">
                  <c:v>19351629.99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</c:v>
                </c:pt>
                <c:pt idx="1">
                  <c:v>32403885.67</c:v>
                </c:pt>
                <c:pt idx="2">
                  <c:v>28025998.97</c:v>
                </c:pt>
                <c:pt idx="3">
                  <c:v>25796931.44</c:v>
                </c:pt>
                <c:pt idx="4">
                  <c:v>22402015.49</c:v>
                </c:pt>
                <c:pt idx="5">
                  <c:v>21058802.69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</c:v>
                </c:pt>
                <c:pt idx="1">
                  <c:v>3461.5645</c:v>
                </c:pt>
                <c:pt idx="2">
                  <c:v>2875.8486</c:v>
                </c:pt>
                <c:pt idx="3">
                  <c:v>3281.7613</c:v>
                </c:pt>
                <c:pt idx="4">
                  <c:v>2474.738</c:v>
                </c:pt>
                <c:pt idx="5">
                  <c:v>2836.62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chart" Target="/ppt/charts/chart2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chart" Target="/ppt/charts/chart3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15,874,200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29640"/>
                <a:gridCol w="929640"/>
                <a:gridCol w="929640"/>
                <a:gridCol w="929640"/>
                <a:gridCol w="929640"/>
                <a:gridCol w="92964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29640"/>
                <a:gridCol w="929640"/>
                <a:gridCol w="929640"/>
                <a:gridCol w="929640"/>
                <a:gridCol w="929640"/>
                <a:gridCol w="92964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29640"/>
                <a:gridCol w="929640"/>
                <a:gridCol w="929640"/>
                <a:gridCol w="929640"/>
                <a:gridCol w="929640"/>
                <a:gridCol w="92964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61288"/>
                <a:gridCol w="1161288"/>
                <a:gridCol w="1161288"/>
                <a:gridCol w="1161288"/>
                <a:gridCol w="1161288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(STR report):   Occ +2.6%   ·   ADR -1.2%   ·   RevPAR +1.3%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series (CoStar market report, Jun 2026): the broad Bangkok market held rate in H1 (ADR −1.2%) and grew occupancy (+2.6 pts) — the deep discounting sits in our direct serviced-apartment compset, not the whole market. Source: Bangkok STR Jun 2026 (submarket).xls.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(STR report):   Occ -0.1%   ·   ADR +0.9%   ·   RevPAR +0.8%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series (CoStar submarket report, Jun 2026): the Pattaya market is broadly level vs 2025 — occupancy eases through Q2 as normal seasonality, while rate holds (Jun ADR +4.0%). Source: Pattaya STR Jun 2026 (submarket).xls.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H1 ฿3,018: -3.4% vs MF budget and -4.2% vs 2025 — while occupancy is near plan (-0.7 pts).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broad markets HELD rate in H1 — Bangkok ADR -1.2% (occ +2.6 pts), Pattaya ADR +0.9%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direct compsets ALSO held rate (H1 ADR: SR9 set -2.8%, AES set -2.0%, LYF set +1.5%, SP set +0.1%) — while OUR hotels cut ADR -9.0% / -10.0% / -4.9% / -10.0% and won occupancy vs every compset (STR basis, Jan–Jun).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 -28% H1 (a high-rate, long-stay segment) and total arrivals -4.9% vs 2025 (June preliminary).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mix is shifting to price-sensitive source markets: Chinese share of portfolio room nights 36% H1 2026 vs 33% in 2025; SEA share also rising (LYF).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spending power: [TBC — MOTS/BoT average spend per head data to be added]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97280"/>
                <a:gridCol w="1143000"/>
                <a:gridCol w="1325880"/>
                <a:gridCol w="1143000"/>
                <a:gridCol w="1143000"/>
                <a:gridCol w="1325880"/>
                <a:gridCol w="1371600"/>
                <a:gridCol w="1490472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(STR)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฿2,991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฿3,667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฿1,513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฿3,902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2026-07-24T10:20:26Z</dcterms:created>
  <dcterms:modified xsi:type="dcterms:W3CDTF">2026-07-24T10:20:26Z</dcterms:modified>
</cp:coreProperties>
</file>