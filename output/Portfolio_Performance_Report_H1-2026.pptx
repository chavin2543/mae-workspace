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9"/>
  </p:notesMasterIdLst>
  <p:sldIdLst>
    <p:sldId id="256" r:id="rId5"/>
    <p:sldId id="257" r:id="rId6"/>
    <p:sldId id="258" r:id="rId7"/>
    <p:sldId id="259" r:id="rId8"/>
    <p:sldId id="261" r:id="rId10"/>
    <p:sldId id="263" r:id="rId12"/>
    <p:sldId id="302" r:id="rId16"/>
    <p:sldId id="304" r:id="rId17"/>
    <p:sldId id="266" r:id="rId18"/>
    <p:sldId id="303" r:id="rId20"/>
    <p:sldId id="305" r:id="rId21"/>
    <p:sldId id="267" r:id="rId22"/>
    <p:sldId id="270" r:id="rId27"/>
    <p:sldId id="272" r:id="rId28"/>
    <p:sldId id="271" r:id="rId29"/>
    <p:sldId id="273" r:id="rId30"/>
    <p:sldId id="275" r:id="rId31"/>
    <p:sldId id="278" r:id="rId32"/>
    <p:sldId id="276" r:id="rId33"/>
    <p:sldId id="274" r:id="rId36"/>
    <p:sldId id="280" r:id="rId37"/>
    <p:sldId id="282" r:id="rId38"/>
    <p:sldId id="285" r:id="rId39"/>
    <p:sldId id="283" r:id="rId40"/>
    <p:sldId id="281" r:id="rId43"/>
    <p:sldId id="287" r:id="rId44"/>
    <p:sldId id="289" r:id="rId45"/>
    <p:sldId id="292" r:id="rId46"/>
    <p:sldId id="290" r:id="rId47"/>
    <p:sldId id="288" r:id="rId50"/>
    <p:sldId id="294" r:id="rId51"/>
    <p:sldId id="296" r:id="rId52"/>
    <p:sldId id="299" r:id="rId53"/>
    <p:sldId id="297" r:id="rId54"/>
    <p:sldId id="295" r:id="rId57"/>
    <p:sldId id="301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95" d="100"/>
          <a:sy n="95" d="100"/>
        </p:scale>
        <p:origin x="6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3" Type="http://schemas.openxmlformats.org/officeDocument/2006/relationships/slide" Target="slides/slide25.xml"/><Relationship Id="rId44" Type="http://schemas.openxmlformats.org/officeDocument/2006/relationships/slide" Target="slides/slide26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29.xml"/><Relationship Id="rId50" Type="http://schemas.openxmlformats.org/officeDocument/2006/relationships/slide" Target="slides/slide30.xml"/><Relationship Id="rId51" Type="http://schemas.openxmlformats.org/officeDocument/2006/relationships/slide" Target="slides/slide31.xml"/><Relationship Id="rId52" Type="http://schemas.openxmlformats.org/officeDocument/2006/relationships/slide" Target="slides/slide32.xml"/><Relationship Id="rId53" Type="http://schemas.openxmlformats.org/officeDocument/2006/relationships/slide" Target="slides/slide33.xml"/><Relationship Id="rId54" Type="http://schemas.openxmlformats.org/officeDocument/2006/relationships/slide" Target="slides/slide34.xml"/><Relationship Id="rId57" Type="http://schemas.openxmlformats.org/officeDocument/2006/relationships/slide" Target="slides/slide35.xml"/><Relationship Id="rId58" Type="http://schemas.openxmlformats.org/officeDocument/2006/relationships/slide" Target="slides/slide36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68.82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2302.24</c:v>
                </c:pt>
                <c:pt idx="5">
                  <c:v>2273.57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Relationship Id="rId4" Type="http://schemas.openxmlformats.org/officeDocument/2006/relationships/chart" Target="../charts/chart7.xml"/><Relationship Id="rId5" Type="http://schemas.openxmlformats.org/officeDocument/2006/relationships/chart" Target="../charts/chart8.xml"/><Relationship Id="rId6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3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chart" Target="../charts/chart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4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31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33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34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8640" y="4828032"/>
          <a:ext cx="5029200" cy="1234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2011680"/>
                <a:gridCol w="1554480"/>
              </a:tblGrid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(Jan–Jun)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vs prior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12,914,691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+35.5%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a weak 2025 (still ~46% of pre-COVID); India is the strongest growth market — +24% in Jan and a record H1. June carries the MOTS 4-day data gap.</a:t>
            </a:r>
            <a:endParaRPr lang="en-US" sz="1050" dirty="0"/>
          </a:p>
        </p:txBody>
      </p:sp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627632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627632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0149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740664"/>
              </a:tblGrid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8458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740664"/>
              </a:tblGrid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Long-haul held up — strong Jan–Feb offset a softer April; June carries the MOTS 4-day data gap.</a:t>
            </a:r>
            <a:endParaRPr lang="en-US" sz="1050" dirty="0"/>
          </a:p>
        </p:txBody>
      </p:sp>
      <p:sp>
        <p:nvSpPr>
          <p:cNvPr id="939" name="TextBox 938"/>
          <p:cNvSpPr txBox="1"/>
          <p:nvPr/>
        </p:nvSpPr>
        <p:spPr>
          <a:xfrm>
            <a:off x="548640" y="1609344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609344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8458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740664"/>
              </a:tblGrid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8458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740664"/>
              </a:tblGrid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anchor="ctr" marL="27432" marR="27432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1560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·   ADR −1.4%   ·   RevPAR +0.9%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= STR "Bangkok overall" from the STR_Bangkok_by_segment workbook (STR monthly performance reports; 2026 from the YTD Jun 2026 files, H1 figures calculated from monthly data per Mae’s decision).</a:t>
            </a:r>
            <a:endParaRPr lang="en-US" sz="10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43400"/>
          <a:ext cx="9692640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914400"/>
                <a:gridCol w="914400"/>
                <a:gridCol w="822960"/>
                <a:gridCol w="914400"/>
                <a:gridCol w="914400"/>
                <a:gridCol w="822960"/>
                <a:gridCol w="914400"/>
                <a:gridCol w="914400"/>
                <a:gridCol w="822960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623559"/>
            <a:ext cx="1088136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By class (H1 26 vs 25): Luxury is the only class holding rate (+1.1%) — every other class cut ADR while occupancy recovered, the market-wide version of the rate-for-volume trade. Full 2023–2026 series in the STR_Bangkok_by_segment workbook.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80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782252" y="5174901"/>
            <a:ext cx="5647748" cy="921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India, Thailand, Indonesia, Singapore and China.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989320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248402" y="5501640"/>
            <a:ext cx="6561846" cy="1563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 revenue, H1 is better than last year, but OPEX is +0.6% vs LY. GOP beats LY even with the lower ADR, and the margin is about the same. However, JV expense is higher than LY because [xxx], so EBIT comes in below both LY (−฿1.7M) and budget (฿53.0M vs ฿59.7M). NPAT, on the other hand, is better than LY.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2AF8FE-028B-4F43-614D-7712F7EF7868}"/>
              </a:ext>
            </a:extLst>
          </p:cNvPr>
          <p:cNvSpPr/>
          <p:nvPr/>
        </p:nvSpPr>
        <p:spPr>
          <a:xfrm>
            <a:off x="6643396" y="4948210"/>
            <a:ext cx="4786604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Japan, followed by China. New nationalities this year are the UK, Finland and Taiwan; the most significant drop is Korea.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3D8B9-35B7-01F4-9708-B7C5CEA82C84}"/>
              </a:ext>
            </a:extLst>
          </p:cNvPr>
          <p:cNvSpPr/>
          <p:nvPr/>
        </p:nvSpPr>
        <p:spPr>
          <a:xfrm>
            <a:off x="2537510" y="5935109"/>
            <a:ext cx="10881360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Corporate is the largest segment at 36%, followed by online at 24%. Corporate group has grown almost 30–40% vs H1 last year, and group bookings are +185% vs LY — implying AES is shifting to secure group business, which can pull the rate down.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739411-78F9-3CF6-7951-57DA74B37027}"/>
              </a:ext>
            </a:extLst>
          </p:cNvPr>
          <p:cNvSpPr/>
          <p:nvPr/>
        </p:nvSpPr>
        <p:spPr>
          <a:xfrm>
            <a:off x="3246120" y="3460418"/>
            <a:ext cx="7049380" cy="36576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Revenue is down −3.3% vs LY, but OPEX is managed better: −6.0% (about ฿6M). GOP margin improves +1.3 pts and JV expense is better, so EBIT and NPAT both beat LY. The key reason is AES managing OPEX well — and owner expenses are lower because [xxx].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2063981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199686"/>
            <a:ext cx="134582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8636508" y="5522976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224028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74DD1DA7-E131-9AAB-41FC-81A1C4A02C58}"/>
              </a:ext>
            </a:extLst>
          </p:cNvPr>
          <p:cNvSpPr/>
          <p:nvPr/>
        </p:nvSpPr>
        <p:spPr>
          <a:xfrm>
            <a:off x="12087225" y="1353312"/>
            <a:ext cx="5267492" cy="37554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1BA4B2-41AC-258A-E8E0-69FABC268976}"/>
              </a:ext>
            </a:extLst>
          </p:cNvPr>
          <p:cNvSpPr/>
          <p:nvPr/>
        </p:nvSpPr>
        <p:spPr>
          <a:xfrm>
            <a:off x="6362451" y="3758184"/>
            <a:ext cx="5375985" cy="21035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A1E1BA-F75F-BD8C-B7F9-98880F310D58}"/>
              </a:ext>
            </a:extLst>
          </p:cNvPr>
          <p:cNvSpPr/>
          <p:nvPr/>
        </p:nvSpPr>
        <p:spPr>
          <a:xfrm>
            <a:off x="6314986" y="4632960"/>
            <a:ext cx="5535637" cy="21122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−5.8% vs LY and OPEX is higher — possibly from the shift toward OTA (commissions). GOP is −12% vs last year and JV expense is also higher, so EBIT drops on the weak revenue and NPAT is negative.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891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EA02EB18-E0AB-5D60-1913-73E36BECD347}"/>
              </a:ext>
            </a:extLst>
          </p:cNvPr>
          <p:cNvSpPr/>
          <p:nvPr/>
        </p:nvSpPr>
        <p:spPr>
          <a:xfrm>
            <a:off x="5888736" y="4832001"/>
            <a:ext cx="5751576" cy="15230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Australia, Israel and Thailand. ADR in Pattaya did not increase vs LY for any nationality.</a:t>
            </a:r>
            <a:endParaRPr lang="en-US" dirty="0"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DC5836-419B-8C4E-63CD-67EA0F153579}"/>
              </a:ext>
            </a:extLst>
          </p:cNvPr>
          <p:cNvSpPr/>
          <p:nvPr/>
        </p:nvSpPr>
        <p:spPr>
          <a:xfrm>
            <a:off x="12372871" y="1501927"/>
            <a:ext cx="5602726" cy="252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ASR is increasing — Ascott seems to be emphasising its leisure brand, promoting leisure properties like SP more. Corporate SS bookings are also +36% with ADR above LY, showing real demand for corporate short-stay.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79BFC3-8929-9F1D-90E3-08B5032A8251}"/>
              </a:ext>
            </a:extLst>
          </p:cNvPr>
          <p:cNvSpPr/>
          <p:nvPr/>
        </p:nvSpPr>
        <p:spPr>
          <a:xfrm>
            <a:off x="6195562" y="5501640"/>
            <a:ext cx="7414779" cy="14861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similar to last year and OPEX is managed slightly better, but JV expense is higher than last year, which makes EBIT lower. NPAT improves because of [xxx] (interest).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13871</TotalTime>
  <Words>11908</Words>
  <Application>Microsoft Office PowerPoint</Application>
  <PresentationFormat>Widescreen</PresentationFormat>
  <Paragraphs>3931</Paragraphs>
  <Slides>54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8</cp:revision>
  <dcterms:created xsi:type="dcterms:W3CDTF">2026-07-24T09:01:49Z</dcterms:created>
  <dcterms:modified xsi:type="dcterms:W3CDTF">2026-08-03T09:55:13Z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