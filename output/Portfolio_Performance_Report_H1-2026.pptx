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+฿32.7M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−฿30.1M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26480" y="5212079"/>
            <a:ext cx="5742431" cy="890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</a:t>
            </a:r>
          </a:p>
          <a:p>
            <a:endParaRPr lang="en-US" sz="1200" i="1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offset the rate shortfall (Lower interest expense due to loan repayment). EBIT is −11.0% vs budget.</a:t>
            </a:r>
            <a:endParaRPr lang="en-US" sz="8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338328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2011680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623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126481" y="4993265"/>
            <a:ext cx="5545836" cy="17391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  <a:p>
            <a:r>
              <a:rPr sz="120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+฿7.6M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80" y="5058455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  <a:p>
            <a:r>
              <a:rPr sz="1200"/>
              <a:t>Vs budget: the revenue shortfall is large (−12%), but GOP margin beats budget on OPEX control and JV expense is better — so the EBIT and NPAT gaps end up much smaller.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80" y="5317888"/>
            <a:ext cx="5513833" cy="13135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  <a:p>
            <a:r>
              <a:rPr sz="1200"/>
              <a:t>Vs budget: revenue −8.4% short, GOP margin −4.6% and EBIT −35% below budget. NPAT is in line with budget (the MF projection carried a ~฿2M interest-and-tax buffer).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−฿16.7M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8"/>
            <a:ext cx="5513833" cy="124304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120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22571" y="1600200"/>
            <a:ext cx="5127172" cy="30623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400" dirty="0"/>
              <a:t>• </a:t>
            </a:r>
            <a:r>
              <a:rPr lang="en-US" sz="1400" b="1" dirty="0"/>
              <a:t>Push rate only in high season (Q4–Q1)</a:t>
            </a:r>
            <a:r>
              <a:rPr lang="en-US" sz="1400" dirty="0"/>
              <a:t> — Q2–Q3 demand shifts </a:t>
            </a:r>
            <a:r>
              <a:rPr lang="en-US" sz="1400" dirty="0" err="1"/>
              <a:t>leisure→corporate</a:t>
            </a:r>
            <a:r>
              <a:rPr lang="en-US" sz="1400" dirty="0"/>
              <a:t>; raising ADR there just loses traffic.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Reduce the China reliance</a:t>
            </a:r>
            <a:r>
              <a:rPr lang="en-US" sz="1400" dirty="0"/>
              <a:t> — it now dominates our mix but books below-average rates, capping ADR.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Rebalance toward higher-ADR guests</a:t>
            </a:r>
            <a:r>
              <a:rPr lang="en-US" sz="1400" dirty="0"/>
              <a:t> — long-haul (EU/USA) is at record levels; set a nationality-mix target with Ascott, not just a rate target.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Keep the cost discipline</a:t>
            </a:r>
            <a:r>
              <a:rPr lang="en-US" sz="140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Review low-rate wholesale deals</a:t>
            </a:r>
            <a:r>
              <a:rPr lang="en-US" sz="140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