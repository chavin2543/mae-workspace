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68.07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74.35</c:v>
                </c:pt>
                <c:pt idx="1">
                  <c:v>74.62</c:v>
                </c:pt>
                <c:pt idx="2">
                  <c:v>69.35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</c:v>
                </c:pt>
                <c:pt idx="2">
                  <c:v>2248.32</c:v>
                </c:pt>
                <c:pt idx="3">
                  <c:v>2217.0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440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914400"/>
                <a:gridCol w="914400"/>
                <a:gridCol w="914400"/>
                <a:gridCol w="914400"/>
                <a:gridCol w="914400"/>
                <a:gridCol w="914400"/>
                <a:gridCol w="123444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 (-3.2%)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86769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Occ −2.6%   ·   ADR −0.1%   ·   RevPAR −2.6%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Pattaya market H1: demand down (arrivals −2.7%) → market gave up occupancy (−2.6%) but held rate (ADR −0.1% = flat; Jan/Feb swing = CNY timing, watch May–Jun ADR −3~4%). The Upscale &amp; Upper Midscale set — closest to SP — lost both (Occ −3.0%, ADR −2.0%, RevPAR −5.0%). Source: CoStar Pattaya Area YTD Jun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600699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