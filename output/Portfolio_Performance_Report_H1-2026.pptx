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64" d="100"/>
          <a:sy n="64" d="100"/>
        </p:scale>
        <p:origin x="9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2735.54</c:v>
                </c:pt>
                <c:pt idx="1">
                  <c:v>2987.66</c:v>
                </c:pt>
                <c:pt idx="2">
                  <c:v>2269.2</c:v>
                </c:pt>
                <c:pt idx="3">
                  <c:v>2094.18</c:v>
                </c:pt>
                <c:pt idx="4">
                  <c:v>1843.84</c:v>
                </c:pt>
                <c:pt idx="5">
                  <c:v>1859.66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2837.13</c:v>
                </c:pt>
                <c:pt idx="1">
                  <c:v>2935.61</c:v>
                </c:pt>
                <c:pt idx="2">
                  <c:v>2199.43</c:v>
                </c:pt>
                <c:pt idx="3">
                  <c:v>2345.0</c:v>
                </c:pt>
                <c:pt idx="4">
                  <c:v>2061.46</c:v>
                </c:pt>
                <c:pt idx="5">
                  <c:v>2018.95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3064.43</c:v>
                </c:pt>
                <c:pt idx="1">
                  <c:v>2798.16</c:v>
                </c:pt>
                <c:pt idx="2">
                  <c:v>2047.74</c:v>
                </c:pt>
                <c:pt idx="3">
                  <c:v>2135.14</c:v>
                </c:pt>
                <c:pt idx="4">
                  <c:v>1959.26</c:v>
                </c:pt>
                <c:pt idx="5">
                  <c:v>1854.45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673683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673683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49774"/>
              </p:ext>
            </p:extLst>
          </p:nvPr>
        </p:nvGraphicFramePr>
        <p:xfrm>
          <a:off x="548640" y="4466798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051871"/>
              </p:ext>
            </p:extLst>
          </p:nvPr>
        </p:nvGraphicFramePr>
        <p:xfrm>
          <a:off x="6291072" y="4466798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40" y="5948003"/>
            <a:ext cx="11198601" cy="7334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2025 (+14.8%), but is still only ~46% of pre-COVID.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100" dirty="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739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the regional war effect.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 dirty="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Bangkok hotel market runs Occ +2.3%, ADR −1.3% → RevPAR +0.9%; the rise in visitors explains the higher occupancy.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 dirty="0">
              <a:solidFill>
                <a:schemeClr val="tx1"/>
              </a:solidFill>
              <a:latin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 dirty="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Pattaya area, arrivals are −2.7% vs LY — mostly from foreigners (−5.4% vs LY).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down (arrivals −2.7%) → market gave up occupancy (−2.6%) but held rate (ADR −0.1% = flat; Jan/Feb swing = CNY timing, May–Jun ADR −3~4%).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(1,358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75.7%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฿3,024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฿2,290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56532"/>
            <a:ext cx="3520440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(−1.0%). Vs last year, RevPAR is broadly flat.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26" cy="2014728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−269.4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−285.3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26480" y="5230367"/>
            <a:ext cx="5541264" cy="893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budget: revenue is −9.7% below MF budget (฿581.9M vs ฿644.7M) and EBIT −11.0% — but NPAT is on plan (+฿0.2M): cost control and lower interest expense (loan repayment) offset the rate shortfall.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  <a:latin typeface="Calibri"/>
              </a:rPr>
              <a:t>Vs LY: revenue −1.4% and EBIT −2.6% (−฿3.9M); NPAT swings from −฿12.6M last year to +฿7.9M.</a:t>
            </a:r>
            <a:r>
              <a:rPr lang="en-US" sz="1050" dirty="0">
                <a:solidFill>
                  <a:schemeClr val="tx1"/>
                </a:solidFill>
                <a:latin typeface="Calibri"/>
              </a:rPr>
              <a:t> </a:t>
            </a: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(loan repayment in beginning of 2025 every properties exp. AES)</a:t>
            </a:r>
            <a:endParaRPr sz="1050" dirty="0">
              <a:solidFill>
                <a:schemeClr val="tx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445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315661"/>
              </p:ext>
            </p:extLst>
          </p:nvPr>
        </p:nvGraphicFramePr>
        <p:xfrm>
          <a:off x="548640" y="5532391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budget: SR9 runs close to budget for H1 — February outperformed strongly (CNY), May–Jun slightly behind on ADR.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last year, occupancy is +4.8% better, turning RevPAR +1.3% above LY</a:t>
            </a:r>
            <a:r>
              <a:rPr lang="en-US" sz="1200" dirty="0">
                <a:solidFill>
                  <a:schemeClr val="tx1"/>
                </a:solidFill>
                <a:latin typeface="Calibri"/>
              </a:rPr>
              <a:t> even the lower ADR.</a:t>
            </a:r>
            <a:endParaRPr sz="12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376672"/>
            <a:ext cx="6144768" cy="658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Online bookings also grew this year — and some corporate business is now mixed into OTA, since B2B channels book through the OTA as well.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29" cy="2014728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−84.3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1" y="4960620"/>
            <a:ext cx="5541264" cy="12252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</a:rPr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10605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19749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41695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87415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51423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60567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82513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28233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92241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01385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23330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69050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02653" y="5330586"/>
            <a:ext cx="3700014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last year, AES did well on occupancy (+3.8%) but could not yield ADR, turning RevPAR −2.2% below 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3"/>
            <a:ext cx="11117579" cy="8518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ASR bookings grew +50% (Ascott is pushing ASR) but still fall short on rate.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08" cy="2014728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−97.2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4" y="5143091"/>
            <a:ext cx="5541264" cy="9340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budget: the revenue shortfall is large (−12%), but GOP margin beats budget on OPEX control and JV expense is better — so the EBIT and NPAT gaps end up much smaller.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Top nationalities: China, Indonesia, Malaysia and Singapore.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Largest segment YTD: Online (66% of room nights). Even as OTA volume grew +3%, the OTA rate itself dropped −8%.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26" cy="2014728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66745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58185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77641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434841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66745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58185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77641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434841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11496"/>
            <a:ext cx="5541264" cy="9875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budget: revenue −8.4% short, GOP margin −4.6% and EBIT −35% below budget. NPAT is in line with budget (the MF projection carried a ~฿2M interest-and-tax buffer).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was ahead of budget in the Jan–Feb high season and broadly on plan in Mar–Jun.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LY: occupancy +5.3% and RevPAR similar to 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26900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Top gainers: China (+805 RN), Thailand (+639) and Israel (+639), with Russia and Australia also 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Biggest decline: United States (−965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26" cy="2014728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−74.4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5102352"/>
            <a:ext cx="5541264" cy="9875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4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8698</Words>
  <Application>Microsoft Office PowerPoint</Application>
  <PresentationFormat>Widescreen</PresentationFormat>
  <Paragraphs>2923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2026-08-19T02:46:23Z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