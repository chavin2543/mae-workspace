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303" r:id="rId16"/>
    <p:sldId id="305" r:id="rId17"/>
    <p:sldId id="265" r:id="rId18"/>
    <p:sldId id="266" r:id="rId19"/>
    <p:sldId id="267" r:id="rId20"/>
    <p:sldId id="269" r:id="rId21"/>
    <p:sldId id="268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3" d="100"/>
          <a:sy n="93" d="100"/>
        </p:scale>
        <p:origin x="1248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3869.0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74.6</c:v>
                </c:pt>
                <c:pt idx="2">
                  <c:v>69.4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3733.0</c:v>
                </c:pt>
                <c:pt idx="1">
                  <c:v>3932.0</c:v>
                </c:pt>
                <c:pt idx="2">
                  <c:v>3341.0</c:v>
                </c:pt>
                <c:pt idx="3">
                  <c:v>3510.0</c:v>
                </c:pt>
                <c:pt idx="4">
                  <c:v>3115.0</c:v>
                </c:pt>
                <c:pt idx="5">
                  <c:v>2921.0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2252.43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854-4B4A-86A2-2B732C9F1C0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854-4B4A-86A2-2B732C9F1C0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854-4B4A-86A2-2B732C9F1C0D}"/>
              </c:ext>
            </c:extLst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854-4B4A-86A2-2B732C9F1C0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854-4B4A-86A2-2B732C9F1C0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854-4B4A-86A2-2B732C9F1C0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854-4B4A-86A2-2B732C9F1C0D}"/>
              </c:ext>
            </c:extLst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854-4B4A-86A2-2B732C9F1C0D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854-4B4A-86A2-2B732C9F1C0D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854-4B4A-86A2-2B732C9F1C0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854-4B4A-86A2-2B732C9F1C0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854-4B4A-86A2-2B732C9F1C0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854-4B4A-86A2-2B732C9F1C0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854-4B4A-86A2-2B732C9F1C0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854-4B4A-86A2-2B732C9F1C0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854-4B4A-86A2-2B732C9F1C0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854-4B4A-86A2-2B732C9F1C0D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854-4B4A-86A2-2B732C9F1C0D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854-4B4A-86A2-2B732C9F1C0D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854-4B4A-86A2-2B732C9F1C0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854-4B4A-86A2-2B732C9F1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04D-4E9A-B8A7-135446A19AA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4D-4E9A-B8A7-135446A19AA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4D-4E9A-B8A7-135446A19AA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04D-4E9A-B8A7-135446A19AA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04D-4E9A-B8A7-135446A19AA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04D-4E9A-B8A7-135446A19AA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04D-4E9A-B8A7-135446A19AA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04D-4E9A-B8A7-135446A19AA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04D-4E9A-B8A7-135446A19AA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04D-4E9A-B8A7-135446A19AA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4D-4E9A-B8A7-135446A19AA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4D-4E9A-B8A7-135446A19AA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4D-4E9A-B8A7-135446A19AA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4D-4E9A-B8A7-135446A19AA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04D-4E9A-B8A7-135446A19AA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04D-4E9A-B8A7-135446A19AA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04D-4E9A-B8A7-135446A19AA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04D-4E9A-B8A7-135446A19AA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04D-4E9A-B8A7-135446A19AA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04D-4E9A-B8A7-135446A19A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04D-4E9A-B8A7-135446A19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CB-4FE8-8405-8F7ACABA4BD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CB-4FE8-8405-8F7ACABA4BDB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0CB-4FE8-8405-8F7ACABA4BDB}"/>
              </c:ext>
            </c:extLst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0CB-4FE8-8405-8F7ACABA4BDB}"/>
              </c:ext>
            </c:extLst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0CB-4FE8-8405-8F7ACABA4BDB}"/>
              </c:ext>
            </c:extLst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0CB-4FE8-8405-8F7ACABA4BDB}"/>
              </c:ext>
            </c:extLst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0CB-4FE8-8405-8F7ACABA4BDB}"/>
              </c:ext>
            </c:extLst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0CB-4FE8-8405-8F7ACABA4BDB}"/>
              </c:ext>
            </c:extLst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0CB-4FE8-8405-8F7ACABA4BDB}"/>
              </c:ext>
            </c:extLst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0CB-4FE8-8405-8F7ACABA4BD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0CB-4FE8-8405-8F7ACABA4BD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0CB-4FE8-8405-8F7ACABA4BD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0CB-4FE8-8405-8F7ACABA4BD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0CB-4FE8-8405-8F7ACABA4BD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0CB-4FE8-8405-8F7ACABA4BD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0CB-4FE8-8405-8F7ACABA4BD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0CB-4FE8-8405-8F7ACABA4BD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0CB-4FE8-8405-8F7ACABA4BD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0CB-4FE8-8405-8F7ACABA4BD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0CB-4FE8-8405-8F7ACABA4B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0CB-4FE8-8405-8F7ACABA4B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8DF-498B-BB5B-BC01AA448DF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8DF-498B-BB5B-BC01AA448DF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8DF-498B-BB5B-BC01AA448DF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8DF-498B-BB5B-BC01AA448DF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8DF-498B-BB5B-BC01AA448DF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8DF-498B-BB5B-BC01AA448DF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8DF-498B-BB5B-BC01AA448DF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8DF-498B-BB5B-BC01AA448DF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8DF-498B-BB5B-BC01AA448DF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8DF-498B-BB5B-BC01AA448DF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DF-498B-BB5B-BC01AA448DF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8DF-498B-BB5B-BC01AA448DF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8DF-498B-BB5B-BC01AA448DF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8DF-498B-BB5B-BC01AA448DF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8DF-498B-BB5B-BC01AA448DF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8DF-498B-BB5B-BC01AA448DF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8DF-498B-BB5B-BC01AA448DF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DF-498B-BB5B-BC01AA448DF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8DF-498B-BB5B-BC01AA448DF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8DF-498B-BB5B-BC01AA448D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8DF-498B-BB5B-BC01AA448D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292-41FC-8A7E-79F1562EBA5F}"/>
              </c:ext>
            </c:extLst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292-41FC-8A7E-79F1562EBA5F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292-41FC-8A7E-79F1562EBA5F}"/>
              </c:ext>
            </c:extLst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292-41FC-8A7E-79F1562EBA5F}"/>
              </c:ext>
            </c:extLst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292-41FC-8A7E-79F1562EBA5F}"/>
              </c:ext>
            </c:extLst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292-41FC-8A7E-79F1562EBA5F}"/>
              </c:ext>
            </c:extLst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292-41FC-8A7E-79F1562EBA5F}"/>
              </c:ext>
            </c:extLst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292-41FC-8A7E-79F1562EBA5F}"/>
              </c:ext>
            </c:extLst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0292-41FC-8A7E-79F1562EBA5F}"/>
              </c:ext>
            </c:extLst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0292-41FC-8A7E-79F1562EBA5F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292-41FC-8A7E-79F1562EBA5F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292-41FC-8A7E-79F1562EBA5F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292-41FC-8A7E-79F1562EBA5F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292-41FC-8A7E-79F1562EBA5F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292-41FC-8A7E-79F1562EBA5F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292-41FC-8A7E-79F1562EBA5F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292-41FC-8A7E-79F1562EBA5F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292-41FC-8A7E-79F1562EBA5F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0292-41FC-8A7E-79F1562EBA5F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0292-41FC-8A7E-79F1562EBA5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292-41FC-8A7E-79F1562EBA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C6F-4E40-ACB1-DD19A7B8BA4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6F-4E40-ACB1-DD19A7B8BA4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6F-4E40-ACB1-DD19A7B8BA4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6F-4E40-ACB1-DD19A7B8BA4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C6F-4E40-ACB1-DD19A7B8BA4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C6F-4E40-ACB1-DD19A7B8BA4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C6F-4E40-ACB1-DD19A7B8BA4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C6F-4E40-ACB1-DD19A7B8BA4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C6F-4E40-ACB1-DD19A7B8BA4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C6F-4E40-ACB1-DD19A7B8BA4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C6F-4E40-ACB1-DD19A7B8BA4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C6F-4E40-ACB1-DD19A7B8BA4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C6F-4E40-ACB1-DD19A7B8BA4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C6F-4E40-ACB1-DD19A7B8BA4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C6F-4E40-ACB1-DD19A7B8BA4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C6F-4E40-ACB1-DD19A7B8BA4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C6F-4E40-ACB1-DD19A7B8BA4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C6F-4E40-ACB1-DD19A7B8BA4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C6F-4E40-ACB1-DD19A7B8BA4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C6F-4E40-ACB1-DD19A7B8BA4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C6F-4E40-ACB1-DD19A7B8BA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F52-40E1-B98F-12976C9A66D2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F52-40E1-B98F-12976C9A66D2}"/>
              </c:ext>
            </c:extLst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F52-40E1-B98F-12976C9A66D2}"/>
              </c:ext>
            </c:extLst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52-40E1-B98F-12976C9A66D2}"/>
              </c:ext>
            </c:extLst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F52-40E1-B98F-12976C9A66D2}"/>
              </c:ext>
            </c:extLst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F52-40E1-B98F-12976C9A66D2}"/>
              </c:ext>
            </c:extLst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F52-40E1-B98F-12976C9A66D2}"/>
              </c:ext>
            </c:extLst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F52-40E1-B98F-12976C9A66D2}"/>
              </c:ext>
            </c:extLst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2F52-40E1-B98F-12976C9A66D2}"/>
              </c:ext>
            </c:extLst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2F52-40E1-B98F-12976C9A66D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52-40E1-B98F-12976C9A66D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52-40E1-B98F-12976C9A66D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52-40E1-B98F-12976C9A66D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52-40E1-B98F-12976C9A66D2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52-40E1-B98F-12976C9A66D2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52-40E1-B98F-12976C9A66D2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52-40E1-B98F-12976C9A66D2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F52-40E1-B98F-12976C9A66D2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F52-40E1-B98F-12976C9A66D2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F52-40E1-B98F-12976C9A66D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2F52-40E1-B98F-12976C9A66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175-473F-98C1-EEA717B74CC3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5-473F-98C1-EEA717B74CC3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5-473F-98C1-EEA717B74CC3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5-473F-98C1-EEA717B74CC3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5-473F-98C1-EEA717B74CC3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175-473F-98C1-EEA717B74CC3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B175-473F-98C1-EEA717B74CC3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B175-473F-98C1-EEA717B74CC3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B175-473F-98C1-EEA717B74CC3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B175-473F-98C1-EEA717B74C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175-473F-98C1-EEA717B74C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175-473F-98C1-EEA717B74C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175-473F-98C1-EEA717B74C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175-473F-98C1-EEA717B74CC3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175-473F-98C1-EEA717B74CC3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175-473F-98C1-EEA717B74CC3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175-473F-98C1-EEA717B74CC3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175-473F-98C1-EEA717B74CC3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175-473F-98C1-EEA717B74CC3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175-473F-98C1-EEA717B74C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B175-473F-98C1-EEA717B74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Visitors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15.61759</c:v>
                </c:pt>
                <c:pt idx="1">
                  <c:v>14.82773</c:v>
                </c:pt>
                <c:pt idx="2">
                  <c:v>14.547001</c:v>
                </c:pt>
                <c:pt idx="3">
                  <c:v>15.44509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11.615539</c:v>
                </c:pt>
                <c:pt idx="1">
                  <c:v>13.493325</c:v>
                </c:pt>
                <c:pt idx="2">
                  <c:v>12.43225</c:v>
                </c:pt>
                <c:pt idx="3">
                  <c:v>12.418947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Visitors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7.12104</c:v>
                </c:pt>
                <c:pt idx="1">
                  <c:v>7.566661</c:v>
                </c:pt>
                <c:pt idx="2">
                  <c:v>8.453199</c:v>
                </c:pt>
                <c:pt idx="3">
                  <c:v>8.376278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4.698326</c:v>
                </c:pt>
                <c:pt idx="1">
                  <c:v>5.780252</c:v>
                </c:pt>
                <c:pt idx="2">
                  <c:v>5.421691</c:v>
                </c:pt>
                <c:pt idx="3">
                  <c:v>5.130334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</c:v>
                </c:pt>
                <c:pt idx="1">
                  <c:v>326.1</c:v>
                </c:pt>
                <c:pt idx="2">
                  <c:v>304.0</c:v>
                </c:pt>
                <c:pt idx="3">
                  <c:v>311.5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8.45</c:v>
                </c:pt>
                <c:pt idx="3">
                  <c:v>8.38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3.xml"/><Relationship Id="rId3" Type="http://schemas.openxmlformats.org/officeDocument/2006/relationships/chart" Target="../charts/chart45.xml"/><Relationship Id="rId4" Type="http://schemas.openxmlformats.org/officeDocument/2006/relationships/chart" Target="../charts/chart4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4.xml"/><Relationship Id="rId3" Type="http://schemas.openxmlformats.org/officeDocument/2006/relationships/chart" Target="../charts/chart47.xml"/><Relationship Id="rId4" Type="http://schemas.openxmlformats.org/officeDocument/2006/relationships/chart" Target="../charts/chart4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4.xml"/><Relationship Id="rId4" Type="http://schemas.openxmlformats.org/officeDocument/2006/relationships/chart" Target="../charts/chart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1.xml"/><Relationship Id="rId4" Type="http://schemas.openxmlformats.org/officeDocument/2006/relationships/chart" Target="../charts/chart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chart" Target="../charts/chart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2286000"/>
            <a:ext cx="694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  <a:endParaRPr lang="en-US" sz="4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A7CEE0D-3D35-82DE-03ED-0E3986E87329}"/>
              </a:ext>
            </a:extLst>
          </p:cNvPr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880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663440"/>
          <a:ext cx="110642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E2761"/>
                </a:solidFill>
                <a:latin typeface="Calibri"/>
              </a:rPr>
              <a:t>Takeaway: Bangkok total revenue reached ฿444.8bn H1 (+4.3% vs LY) on flat international arrivals — spend per head keeps rising (฿25.1k intl, +2.6% vs LY).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2286000"/>
            <a:ext cx="595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  <a:endParaRPr lang="en-US" sz="4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974A1B-FDE2-84D3-7777-37BD93B1CDFC}"/>
              </a:ext>
            </a:extLst>
          </p:cNvPr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880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663440"/>
          <a:ext cx="110642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E2761"/>
                </a:solidFill>
                <a:latin typeface="Calibri"/>
              </a:rPr>
              <a:t>Takeaway: Pattaya total revenue ฿170.2bn H1 (−3.2% vs LY) as international arrivals fell −5.4%; domestic visitors (62% of arrivals) cushion the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Market (STR)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· Pattaya compset — Occ, ADR, RevPAR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ADR -1.1%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-2.0 pts   ·   ADR -0.3%   ·   RevPAR -3.3%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397764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compset held its rate (−2.8% to +1.5%) — our four hotels cut ADR −4.9% to −10.0%.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exchange we won occupancy: all four hotels grew occupancy faster than (or held above) their compsets — SR9 ranks 2/6, AES 2/6, LYF 2/5, SP 3/6.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H1 rate loss was OUR trade, not market-forced — the discussion for H2 is whether to defend the occupancy or rebuild the rate.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783080"/>
          <a:ext cx="1109167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143000"/>
                <a:gridCol w="1143000"/>
                <a:gridCol w="1234440"/>
                <a:gridCol w="1417320"/>
                <a:gridCol w="1234440"/>
                <a:gridCol w="1536192"/>
                <a:gridCol w="123444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SR9  (occ rank 2 of 6)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Us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80.9%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-9.0%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2,420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76.8%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+0.3%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2,593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-2.8%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1,991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-2.5%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AES  (occ rank 2 of 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3,667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-10.0%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2,582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LYF  (occ rank 2 of 5)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Us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1,513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1,182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-6.0%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67.1%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-0.7%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1,898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1,273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SP  (occ rank 3 of 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3,902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-10.0%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2,879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71.3%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4,213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280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186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8466</TotalTime>
  <Words>9375</Words>
  <Application>Microsoft Office PowerPoint</Application>
  <PresentationFormat>Widescreen</PresentationFormat>
  <Paragraphs>3308</Paragraphs>
  <Slides>50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3</cp:revision>
  <dcterms:created xsi:type="dcterms:W3CDTF">2026-07-24T09:01:49Z</dcterms:created>
  <dcterms:modified xsi:type="dcterms:W3CDTF">2026-07-30T06:52:16Z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