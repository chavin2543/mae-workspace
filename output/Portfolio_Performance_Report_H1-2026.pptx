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8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6" r:id="rId18"/>
    <p:sldId id="303" r:id="rId19"/>
    <p:sldId id="305" r:id="rId20"/>
    <p:sldId id="267" r:id="rId21"/>
    <p:sldId id="308" r:id="rId22"/>
    <p:sldId id="307" r:id="rId23"/>
    <p:sldId id="265" r:id="rId24"/>
    <p:sldId id="268" r:id="rId25"/>
    <p:sldId id="270" r:id="rId26"/>
    <p:sldId id="272" r:id="rId27"/>
    <p:sldId id="271" r:id="rId28"/>
    <p:sldId id="273" r:id="rId29"/>
    <p:sldId id="275" r:id="rId30"/>
    <p:sldId id="276" r:id="rId31"/>
    <p:sldId id="277" r:id="rId32"/>
    <p:sldId id="278" r:id="rId33"/>
    <p:sldId id="279" r:id="rId34"/>
    <p:sldId id="274" r:id="rId35"/>
    <p:sldId id="280" r:id="rId36"/>
    <p:sldId id="282" r:id="rId37"/>
    <p:sldId id="283" r:id="rId38"/>
    <p:sldId id="284" r:id="rId39"/>
    <p:sldId id="285" r:id="rId40"/>
    <p:sldId id="286" r:id="rId41"/>
    <p:sldId id="281" r:id="rId42"/>
    <p:sldId id="287" r:id="rId43"/>
    <p:sldId id="289" r:id="rId44"/>
    <p:sldId id="290" r:id="rId45"/>
    <p:sldId id="291" r:id="rId46"/>
    <p:sldId id="292" r:id="rId47"/>
    <p:sldId id="293" r:id="rId48"/>
    <p:sldId id="288" r:id="rId49"/>
    <p:sldId id="294" r:id="rId50"/>
    <p:sldId id="296" r:id="rId51"/>
    <p:sldId id="297" r:id="rId52"/>
    <p:sldId id="298" r:id="rId53"/>
    <p:sldId id="299" r:id="rId54"/>
    <p:sldId id="300" r:id="rId55"/>
    <p:sldId id="295" r:id="rId56"/>
    <p:sldId id="301" r:id="rId5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0.xml"/><Relationship Id="rId4" Type="http://schemas.openxmlformats.org/officeDocument/2006/relationships/chart" Target="../charts/chart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chart" Target="../charts/chart44.xml"/><Relationship Id="rId4" Type="http://schemas.openxmlformats.org/officeDocument/2006/relationships/chart" Target="../charts/chart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6908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ADR -1.1%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2356" y="4087368"/>
            <a:ext cx="11064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83080"/>
          <a:ext cx="1109167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325880"/>
                <a:gridCol w="960120"/>
                <a:gridCol w="1143000"/>
                <a:gridCol w="1188720"/>
                <a:gridCol w="1097280"/>
                <a:gridCol w="1325880"/>
                <a:gridCol w="1325880"/>
                <a:gridCol w="1581912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(Rachada)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7E9A5E-D737-42E8-9032-A60597F8D42A}"/>
              </a:ext>
            </a:extLst>
          </p:cNvPr>
          <p:cNvSpPr/>
          <p:nvPr/>
        </p:nvSpPr>
        <p:spPr>
          <a:xfrm>
            <a:off x="5697453" y="385762"/>
            <a:ext cx="5353050" cy="60864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Key Takeaway — Bangkok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Total arrivals in Bangkok are +3.3% vs 2025 — but foreign arrivals are flat (−0.1%).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Revenue from foreign visitors is up about +2.5% vs 2025, even with 4 days of June data missing.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Bangkok STR market: occupancy +3%, ADR −1% vs 2025 — turning RevPAR +2% vs last year.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SR9: occupancy +3.7 pts vs LY, ADR −3.3% — turning RevPAR +1.3% vs 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Rama 9 (Ratchada) market: occupancy +1% vs LY, but ADR far below last year (−19%) — RevPAR −17%.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Conclusion: SR9 is performing well ahead of its own market.</a:t>
            </a:r>
          </a:p>
        </p:txBody>
      </p:sp>
    </p:spTree>
    <p:extLst>
      <p:ext uri="{BB962C8B-B14F-4D97-AF65-F5344CB8AC3E}">
        <p14:creationId xmlns:p14="http://schemas.microsoft.com/office/powerpoint/2010/main" val="213089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06908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2011680"/>
                <a:gridCol w="2011680"/>
                <a:gridCol w="2011680"/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-2.0 pts   ·   ADR -0.3%   ·   RevPAR -3.3%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65E2FF1-C1E7-3EF5-CA78-AB0A9B82A60E}"/>
              </a:ext>
            </a:extLst>
          </p:cNvPr>
          <p:cNvSpPr/>
          <p:nvPr/>
        </p:nvSpPr>
        <p:spPr>
          <a:xfrm>
            <a:off x="548640" y="2595731"/>
            <a:ext cx="11064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783080"/>
          <a:ext cx="11091672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325880"/>
                <a:gridCol w="960120"/>
                <a:gridCol w="1143000"/>
                <a:gridCol w="1188720"/>
                <a:gridCol w="1097280"/>
                <a:gridCol w="1325880"/>
                <a:gridCol w="1325880"/>
                <a:gridCol w="1490472"/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42B809-6BD9-4579-8B4D-6060C6B6EC14}"/>
              </a:ext>
            </a:extLst>
          </p:cNvPr>
          <p:cNvSpPr/>
          <p:nvPr/>
        </p:nvSpPr>
        <p:spPr>
          <a:xfrm>
            <a:off x="7561748" y="632634"/>
            <a:ext cx="3699809" cy="559273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Our property (SP): occupancy +3.7 pts vs LY, ADR −4.9% — RevPAR +0.2% vs 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6292E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3469821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SR9 (primary): Jubilee Prestige Hotel Ratchadapisek, Grand Mercure Bangkok Atrium, Centara Grand at Central Plaza Ladprao Bangkok, Avani Ratchada Bangkok Hotel, Lancaster Bangkok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LYF (primary): ibis Bangkok Sukhumvit 4, Hotel Graand Swiss Bangkok, TRIBE Living Bangkok Sukhumvit 39, Ruamchitt Hotel</a:t>
            </a:r>
          </a:p>
          <a:p>
            <a:r>
              <a:rPr sz="105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8499</TotalTime>
  <Words>10106</Words>
  <Application>Microsoft Office PowerPoint</Application>
  <PresentationFormat>Widescreen</PresentationFormat>
  <Paragraphs>3399</Paragraphs>
  <Slides>53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4</cp:revision>
  <dcterms:created xsi:type="dcterms:W3CDTF">2026-07-24T09:01:49Z</dcterms:created>
  <dcterms:modified xsi:type="dcterms:W3CDTF">2026-07-30T08:15:37Z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