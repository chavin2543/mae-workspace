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>
              <a:solidFill>
                <a:schemeClr val="tx1"/>
              </a:solidFill>
              <a:latin typeface="Calibri"/>
            </a:endParaRPr>
          </a:p>
          <a:p>
            <a:r>
              <a:rPr sz="120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  <a:p>
            <a:r>
              <a:rPr lang="en-US" sz="120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00809" y="5001668"/>
            <a:ext cx="3804285" cy="16601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year, RevPAR is broadly flat.</a:t>
            </a:r>
          </a:p>
          <a:p>
            <a:r>
              <a:rPr sz="1050"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1901952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−269.4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−285.3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099048" y="5120640"/>
            <a:ext cx="5541264" cy="16459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</a:t>
            </a:r>
          </a:p>
          <a:p>
            <a:endParaRPr lang="en-US" sz="1200" i="1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offset the rate shortfall (Lower interest expense due to loan repayment). EBIT is −11.0% vs budget.</a:t>
            </a:r>
            <a:endParaRPr lang="en-US" sz="8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ADR.</a:t>
            </a:r>
          </a:p>
          <a:p>
            <a:r>
              <a:rPr sz="1200" dirty="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271364"/>
            <a:ext cx="6144768" cy="9008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r>
              <a:rPr sz="1200"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r>
              <a:rPr sz="1200"/>
              <a:t>Online bookings also grew this year — and some corporate business is now mixed into OTA, since B2B channels book through the OTA as well.</a:t>
            </a:r>
          </a:p>
          <a:p>
            <a:r>
              <a:rPr sz="1200"/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35" cy="1901952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−84.3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8" y="4846320"/>
            <a:ext cx="5541264" cy="1938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9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  <a:p>
            <a:r>
              <a:rPr sz="950"/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7" y="5467746"/>
            <a:ext cx="3520440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r>
              <a:rPr sz="1200"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r>
              <a:rPr sz="1200"/>
              <a:t>ASR bookings grew +50% (Ascott is pushing ASR) but still fall short on rate.</a:t>
            </a:r>
          </a:p>
          <a:p>
            <a:r>
              <a:rPr sz="1200"/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14" cy="1901952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−97.2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8" y="5001768"/>
            <a:ext cx="5541264" cy="17830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  <a:p>
            <a:r>
              <a:rPr sz="950"/>
              <a:t>Vs budget: the revenue shortfall is large (−12%), but GOP margin beats budget on OPEX control and JV expense is better — so the EBIT and NPAT gaps end up much smaller.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nationalities: China, Indonesia, Malaysia and Singapore.</a:t>
            </a:r>
          </a:p>
          <a:p>
            <a:r>
              <a:rPr sz="1200"/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Largest segment YTD: Online (66% of room nights). Even as OTA volume grew +3%, the OTA rate itself dropped −8%.</a:t>
            </a:r>
          </a:p>
          <a:p>
            <a:r>
              <a:rPr sz="1200"/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1901952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75504"/>
            <a:ext cx="5541264" cy="16093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  <a:p>
            <a:r>
              <a:rPr sz="950"/>
              <a:t>Vs budget: revenue −8.4% short, GOP margin −4.6% and EBIT −35% below budget. NPAT is in line with budget (the MF projection carried a ~฿2M interest-and-tax buffer).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7970919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in Mar–Jun.</a:t>
            </a:r>
          </a:p>
          <a:p>
            <a:r>
              <a:rPr sz="1200">
                <a:latin typeface="Calibri"/>
              </a:rPr>
              <a:t>Vs LY: occupancy +5.3% and RevPAR similar to LY.</a:t>
            </a:r>
          </a:p>
          <a:p>
            <a:r>
              <a:rPr sz="1200"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17846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gainers: China (+805 RN), Thailand (+639) and Israel (+639), with Russia and Australia also up.</a:t>
            </a:r>
          </a:p>
          <a:p>
            <a:r>
              <a:rPr sz="1200"/>
              <a:t>Biggest decline: United States (−965 RN).</a:t>
            </a:r>
          </a:p>
          <a:p>
            <a:r>
              <a:rPr sz="1200"/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1901952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−74.4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4992624"/>
            <a:ext cx="5541264" cy="17922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r>
              <a:rPr sz="950"/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8694</Words>
  <Application>Microsoft Office PowerPoint</Application>
  <PresentationFormat>Widescreen</PresentationFormat>
  <Paragraphs>2890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2</cp:revision>
  <dcterms:created xsi:type="dcterms:W3CDTF">2026-07-24T09:01:49Z</dcterms:created>
  <dcterms:modified xsi:type="dcterms:W3CDTF">2026-08-19T01:55:50Z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